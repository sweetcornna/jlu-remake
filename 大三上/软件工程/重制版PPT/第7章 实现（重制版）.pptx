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e_ch07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e_ch07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37b8f82f7da9af7.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05c546f593c5cad.png"/>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e5567ad34fb4ae3.png"/>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1852041" cy="3437763"/>
            <a:chOff x="666750" y="1619250"/>
            <a:chExt cx="1852041" cy="3437763"/>
          </a:xfrm>
        </p:grpSpPr>
        <p:sp>
          <p:nvSpPr>
            <p:cNvPr id="4" name="Rectangle 4"/>
            <p:cNvSpPr/>
            <p:nvPr/>
          </p:nvSpPr>
          <p:spPr>
            <a:xfrm>
              <a:off x="685800" y="1619250"/>
              <a:ext cx="1593532" cy="342900"/>
            </a:xfrm>
            <a:prstGeom prst="roundRect">
              <a:avLst>
                <a:gd name="adj" fmla="val 50000"/>
              </a:avLst>
            </a:prstGeom>
            <a:solidFill>
              <a:srgbClr val="E7EDF3"/>
            </a:solidFill>
            <a:ln>
              <a:noFill/>
            </a:ln>
          </p:spPr>
        </p:sp>
        <p:sp>
          <p:nvSpPr>
            <p:cNvPr id="5" name="TextBox 5"/>
            <p:cNvSpPr txBox="1"/>
            <p:nvPr/>
          </p:nvSpPr>
          <p:spPr>
            <a:xfrm>
              <a:off x="814010" y="1718310"/>
              <a:ext cx="1338064" cy="234696"/>
            </a:xfrm>
            <a:prstGeom prst="rect">
              <a:avLst/>
            </a:prstGeom>
            <a:noFill/>
            <a:ln>
              <a:noFill/>
            </a:ln>
          </p:spPr>
          <p:txBody>
            <a:bodyPr wrap="none" lIns="0" tIns="0" rIns="0" bIns="0" anchor="t" anchorCtr="0">
              <a:spAutoFit/>
            </a:bodyPr>
            <a:lstStyle/>
            <a:p>
              <a:pPr algn="ctr"/>
              <a:r>
                <a:rPr lang="zh-CN" sz="1200" b="1" dirty="0">
                  <a:solidFill>
                    <a:srgbClr val="334E68"/>
                  </a:solidFill>
                  <a:latin typeface="+mn-lt"/>
                  <a:ea typeface="+mn-ea"/>
                  <a:cs typeface="+mn-cs"/>
                </a:rPr>
                <a:t>软件工程 · 第七章</a:t>
              </a:r>
            </a:p>
          </p:txBody>
        </p:sp>
        <p:sp>
          <p:nvSpPr>
            <p:cNvPr id="6" name="TextBox 6"/>
            <p:cNvSpPr txBox="1"/>
            <p:nvPr/>
          </p:nvSpPr>
          <p:spPr>
            <a:xfrm>
              <a:off x="666750" y="2407920"/>
              <a:ext cx="1168908"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实现</a:t>
              </a:r>
            </a:p>
          </p:txBody>
        </p:sp>
        <p:sp>
          <p:nvSpPr>
            <p:cNvPr id="7" name="Rectangle 7"/>
            <p:cNvSpPr/>
            <p:nvPr/>
          </p:nvSpPr>
          <p:spPr>
            <a:xfrm>
              <a:off x="685800" y="3147060"/>
              <a:ext cx="990600" cy="57150"/>
            </a:xfrm>
            <a:prstGeom prst="roundRect">
              <a:avLst>
                <a:gd name="adj" fmla="val 50000"/>
              </a:avLst>
            </a:prstGeom>
            <a:gradFill>
              <a:gsLst>
                <a:gs pos="0">
                  <a:srgbClr val="334E68"/>
                </a:gs>
                <a:gs pos="100000">
                  <a:srgbClr val="F26B3A"/>
                </a:gs>
              </a:gsLst>
              <a:lin ang="0" scaled="1"/>
            </a:gradFill>
            <a:ln>
              <a:noFill/>
            </a:ln>
          </p:spPr>
        </p:sp>
        <p:sp>
          <p:nvSpPr>
            <p:cNvPr id="8" name="TextBox 8"/>
            <p:cNvSpPr txBox="1"/>
            <p:nvPr/>
          </p:nvSpPr>
          <p:spPr>
            <a:xfrm>
              <a:off x="676656" y="3467100"/>
              <a:ext cx="1714500"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编码与软件测试</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编码风格与代码质量</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测试基础与四个步骤</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白盒与黑盒测试技术</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1467612"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调试与软件可靠性</a:t>
              </a:r>
            </a:p>
          </p:txBody>
        </p:sp>
      </p:grpSp>
      <p:grpSp>
        <p:nvGrpSpPr>
          <p:cNvPr id="19" name="cover-credit"/>
          <p:cNvGrpSpPr/>
          <p:nvPr/>
        </p:nvGrpSpPr>
        <p:grpSpPr>
          <a:xfrm>
            <a:off x="680466" y="6192202"/>
            <a:ext cx="6894462" cy="205359"/>
            <a:chOff x="680466" y="6192202"/>
            <a:chExt cx="6894462" cy="205359"/>
          </a:xfrm>
        </p:grpSpPr>
        <p:sp>
          <p:nvSpPr>
            <p:cNvPr id="18" name="TextBox 18"/>
            <p:cNvSpPr txBox="1"/>
            <p:nvPr/>
          </p:nvSpPr>
          <p:spPr>
            <a:xfrm>
              <a:off x="680466" y="6192202"/>
              <a:ext cx="689446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自学复习版｜据吉林大学《软件工程》第七章课件整理，教材为张海藩《软件工程导论》（第6版）</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本章学习路线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0" name="c1-agenda-1"/>
          <p:cNvGrpSpPr/>
          <p:nvPr/>
        </p:nvGrpSpPr>
        <p:grpSpPr>
          <a:xfrm>
            <a:off x="521970" y="1515428"/>
            <a:ext cx="6287453" cy="4461795"/>
            <a:chOff x="521970" y="1515428"/>
            <a:chExt cx="6287453" cy="4461795"/>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01</a:t>
              </a:r>
            </a:p>
          </p:txBody>
        </p:sp>
        <p:sp>
          <p:nvSpPr>
            <p:cNvPr id="8" name="TextBox 8"/>
            <p:cNvSpPr txBox="1"/>
            <p:nvPr/>
          </p:nvSpPr>
          <p:spPr>
            <a:xfrm>
              <a:off x="1065086" y="1551622"/>
              <a:ext cx="461010"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编码</a:t>
              </a:r>
            </a:p>
          </p:txBody>
        </p:sp>
        <p:sp>
          <p:nvSpPr>
            <p:cNvPr id="9" name="TextBox 9"/>
            <p:cNvSpPr txBox="1"/>
            <p:nvPr/>
          </p:nvSpPr>
          <p:spPr>
            <a:xfrm>
              <a:off x="1066990" y="1868329"/>
              <a:ext cx="5354676"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语言选择的实用标准、编码风格的五个着眼点、一段坏代码的两次重构</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02</a:t>
              </a:r>
            </a:p>
          </p:txBody>
        </p:sp>
        <p:sp>
          <p:nvSpPr>
            <p:cNvPr id="12" name="TextBox 12"/>
            <p:cNvSpPr txBox="1"/>
            <p:nvPr/>
          </p:nvSpPr>
          <p:spPr>
            <a:xfrm>
              <a:off x="1065086" y="2323148"/>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软件测试基础</a:t>
              </a:r>
            </a:p>
          </p:txBody>
        </p:sp>
        <p:sp>
          <p:nvSpPr>
            <p:cNvPr id="13" name="TextBox 13"/>
            <p:cNvSpPr txBox="1"/>
            <p:nvPr/>
          </p:nvSpPr>
          <p:spPr>
            <a:xfrm>
              <a:off x="1066990" y="2639854"/>
              <a:ext cx="4320794"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测试目标与准则、黑盒与白盒、四个测试步骤与信息流程</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03</a:t>
              </a:r>
            </a:p>
          </p:txBody>
        </p:sp>
        <p:sp>
          <p:nvSpPr>
            <p:cNvPr id="16" name="TextBox 16"/>
            <p:cNvSpPr txBox="1"/>
            <p:nvPr/>
          </p:nvSpPr>
          <p:spPr>
            <a:xfrm>
              <a:off x="1065086" y="3094673"/>
              <a:ext cx="2015871"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单元测试与集成测试</a:t>
              </a:r>
            </a:p>
          </p:txBody>
        </p:sp>
        <p:sp>
          <p:nvSpPr>
            <p:cNvPr id="17" name="TextBox 17"/>
            <p:cNvSpPr txBox="1"/>
            <p:nvPr/>
          </p:nvSpPr>
          <p:spPr>
            <a:xfrm>
              <a:off x="1066990" y="3412331"/>
              <a:ext cx="414848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五个测试重点、代码审查、驱动与存根、四种集成策略</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04</a:t>
              </a:r>
            </a:p>
          </p:txBody>
        </p:sp>
        <p:sp>
          <p:nvSpPr>
            <p:cNvPr id="20" name="TextBox 20"/>
            <p:cNvSpPr txBox="1"/>
            <p:nvPr/>
          </p:nvSpPr>
          <p:spPr>
            <a:xfrm>
              <a:off x="1065086" y="3867150"/>
              <a:ext cx="905256"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确认测试</a:t>
              </a:r>
            </a:p>
          </p:txBody>
        </p:sp>
        <p:sp>
          <p:nvSpPr>
            <p:cNvPr id="21" name="TextBox 21"/>
            <p:cNvSpPr txBox="1"/>
            <p:nvPr/>
          </p:nvSpPr>
          <p:spPr>
            <a:xfrm>
              <a:off x="1066990" y="4183856"/>
              <a:ext cx="3747217"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软件有效性、配置复查、Alpha 测试与 Beta 测试</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05</a:t>
              </a:r>
            </a:p>
          </p:txBody>
        </p:sp>
        <p:sp>
          <p:nvSpPr>
            <p:cNvPr id="24" name="TextBox 24"/>
            <p:cNvSpPr txBox="1"/>
            <p:nvPr/>
          </p:nvSpPr>
          <p:spPr>
            <a:xfrm>
              <a:off x="1065086" y="4638675"/>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白盒测试技术</a:t>
              </a:r>
            </a:p>
          </p:txBody>
        </p:sp>
        <p:sp>
          <p:nvSpPr>
            <p:cNvPr id="25" name="TextBox 25"/>
            <p:cNvSpPr txBox="1"/>
            <p:nvPr/>
          </p:nvSpPr>
          <p:spPr>
            <a:xfrm>
              <a:off x="1066990" y="4955381"/>
              <a:ext cx="3976167"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六种逻辑覆盖、基本路径测试、条件测试与循环测试</a:t>
              </a:r>
            </a:p>
          </p:txBody>
        </p:sp>
        <p:sp>
          <p:nvSpPr>
            <p:cNvPr id="26" name="Rectangle 26"/>
            <p:cNvSpPr/>
            <p:nvPr/>
          </p:nvSpPr>
          <p:spPr>
            <a:xfrm>
              <a:off x="1073468" y="5269230"/>
              <a:ext cx="5735955" cy="9525"/>
            </a:xfrm>
            <a:prstGeom prst="rect">
              <a:avLst/>
            </a:prstGeom>
            <a:solidFill>
              <a:srgbClr val="D9DFEA"/>
            </a:solidFill>
            <a:ln>
              <a:noFill/>
            </a:ln>
          </p:spPr>
        </p:sp>
        <p:sp>
          <p:nvSpPr>
            <p:cNvPr id="27" name="TextBox 27"/>
            <p:cNvSpPr txBox="1"/>
            <p:nvPr/>
          </p:nvSpPr>
          <p:spPr>
            <a:xfrm>
              <a:off x="521970" y="537495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06</a:t>
              </a:r>
            </a:p>
          </p:txBody>
        </p:sp>
        <p:sp>
          <p:nvSpPr>
            <p:cNvPr id="28" name="TextBox 28"/>
            <p:cNvSpPr txBox="1"/>
            <p:nvPr/>
          </p:nvSpPr>
          <p:spPr>
            <a:xfrm>
              <a:off x="1065086" y="5411152"/>
              <a:ext cx="1793748"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黑盒测试与可靠性</a:t>
              </a:r>
            </a:p>
          </p:txBody>
        </p:sp>
        <p:sp>
          <p:nvSpPr>
            <p:cNvPr id="29" name="TextBox 29"/>
            <p:cNvSpPr txBox="1"/>
            <p:nvPr/>
          </p:nvSpPr>
          <p:spPr>
            <a:xfrm>
              <a:off x="1066990" y="5727859"/>
              <a:ext cx="360618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等价划分、边界值分析、调试方法、MTTF 估算</a:t>
              </a:r>
            </a:p>
          </p:txBody>
        </p:sp>
      </p:grpSp>
      <p:grpSp>
        <p:nvGrpSpPr>
          <p:cNvPr id="45" name="c2-card-1"/>
          <p:cNvGrpSpPr/>
          <p:nvPr/>
        </p:nvGrpSpPr>
        <p:grpSpPr>
          <a:xfrm>
            <a:off x="7114222" y="1524000"/>
            <a:ext cx="4544378" cy="4402455"/>
            <a:chOff x="7114222" y="1524000"/>
            <a:chExt cx="4544378" cy="4402455"/>
          </a:xfrm>
        </p:grpSpPr>
        <p:sp>
          <p:nvSpPr>
            <p:cNvPr id="31" name="Rectangle 31"/>
            <p:cNvSpPr/>
            <p:nvPr/>
          </p:nvSpPr>
          <p:spPr>
            <a:xfrm>
              <a:off x="7114222" y="1524000"/>
              <a:ext cx="4544378" cy="4402455"/>
            </a:xfrm>
            <a:prstGeom prst="roundRect">
              <a:avLst>
                <a:gd name="adj" fmla="val 3029"/>
              </a:avLst>
            </a:prstGeom>
            <a:solidFill>
              <a:srgbClr val="FFFFFF"/>
            </a:solidFill>
            <a:ln w="14288">
              <a:solidFill>
                <a:srgbClr val="D9DFEA"/>
              </a:solidFill>
            </a:ln>
          </p:spPr>
        </p:sp>
        <p:sp>
          <p:nvSpPr>
            <p:cNvPr id="32" name="Rectangle 32"/>
            <p:cNvSpPr/>
            <p:nvPr/>
          </p:nvSpPr>
          <p:spPr>
            <a:xfrm>
              <a:off x="7123748" y="1657350"/>
              <a:ext cx="47625" cy="4135755"/>
            </a:xfrm>
            <a:prstGeom prst="roundRect">
              <a:avLst>
                <a:gd name="adj" fmla="val 50000"/>
              </a:avLst>
            </a:prstGeom>
            <a:solidFill>
              <a:srgbClr val="334E68"/>
            </a:solidFill>
            <a:ln>
              <a:noFill/>
            </a:ln>
          </p:spPr>
        </p:sp>
        <p:sp>
          <p:nvSpPr>
            <p:cNvPr id="33" name="Rectangle 33"/>
            <p:cNvSpPr/>
            <p:nvPr/>
          </p:nvSpPr>
          <p:spPr>
            <a:xfrm>
              <a:off x="7361872" y="1733550"/>
              <a:ext cx="778192" cy="257175"/>
            </a:xfrm>
            <a:prstGeom prst="roundRect">
              <a:avLst>
                <a:gd name="adj" fmla="val 50000"/>
              </a:avLst>
            </a:prstGeom>
            <a:solidFill>
              <a:srgbClr val="E7EDF3"/>
            </a:solidFill>
            <a:ln>
              <a:noFill/>
            </a:ln>
          </p:spPr>
        </p:sp>
        <p:sp>
          <p:nvSpPr>
            <p:cNvPr id="34" name="TextBox 34"/>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学习目标</a:t>
              </a:r>
            </a:p>
          </p:txBody>
        </p:sp>
        <p:sp>
          <p:nvSpPr>
            <p:cNvPr id="35" name="Ellipse 35"/>
            <p:cNvSpPr/>
            <p:nvPr/>
          </p:nvSpPr>
          <p:spPr>
            <a:xfrm>
              <a:off x="7367588" y="2173605"/>
              <a:ext cx="64770" cy="64770"/>
            </a:xfrm>
            <a:prstGeom prst="ellipse">
              <a:avLst/>
            </a:prstGeom>
            <a:solidFill>
              <a:srgbClr val="334E68"/>
            </a:solidFill>
            <a:ln>
              <a:noFill/>
            </a:ln>
          </p:spPr>
        </p:sp>
        <p:sp>
          <p:nvSpPr>
            <p:cNvPr id="36" name="TextBox 36"/>
            <p:cNvSpPr txBox="1"/>
            <p:nvPr/>
          </p:nvSpPr>
          <p:spPr>
            <a:xfrm>
              <a:off x="7525702" y="211074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说出编码风格的五个着眼点，并指出一段代</a:t>
              </a:r>
              <a:br/>
              <a:r>
                <a:rPr lang="zh-CN" sz="1500" dirty="0">
                  <a:solidFill>
                    <a:srgbClr val="1F2937"/>
                  </a:solidFill>
                  <a:latin typeface="+mn-lt"/>
                  <a:ea typeface="+mn-ea"/>
                  <a:cs typeface="+mn-cs"/>
                </a:rPr>
                <a:t>码中违反规则的具体位置</a:t>
              </a:r>
            </a:p>
          </p:txBody>
        </p:sp>
        <p:sp>
          <p:nvSpPr>
            <p:cNvPr id="37" name="Ellipse 37"/>
            <p:cNvSpPr/>
            <p:nvPr/>
          </p:nvSpPr>
          <p:spPr>
            <a:xfrm>
              <a:off x="7367588" y="2794635"/>
              <a:ext cx="64770" cy="64770"/>
            </a:xfrm>
            <a:prstGeom prst="ellipse">
              <a:avLst/>
            </a:prstGeom>
            <a:solidFill>
              <a:srgbClr val="334E68"/>
            </a:solidFill>
            <a:ln>
              <a:noFill/>
            </a:ln>
          </p:spPr>
        </p:sp>
        <p:sp>
          <p:nvSpPr>
            <p:cNvPr id="38" name="TextBox 38"/>
            <p:cNvSpPr txBox="1"/>
            <p:nvPr/>
          </p:nvSpPr>
          <p:spPr>
            <a:xfrm>
              <a:off x="7525702" y="273177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区分黑盒测试与白盒测试，并算出穷举测试</a:t>
              </a:r>
              <a:br/>
              <a:r>
                <a:rPr lang="zh-CN" sz="1500" dirty="0">
                  <a:solidFill>
                    <a:srgbClr val="1F2937"/>
                  </a:solidFill>
                  <a:latin typeface="+mn-lt"/>
                  <a:ea typeface="+mn-ea"/>
                  <a:cs typeface="+mn-cs"/>
                </a:rPr>
                <a:t>为什么做不完</a:t>
              </a:r>
            </a:p>
          </p:txBody>
        </p:sp>
        <p:sp>
          <p:nvSpPr>
            <p:cNvPr id="39" name="Ellipse 39"/>
            <p:cNvSpPr/>
            <p:nvPr/>
          </p:nvSpPr>
          <p:spPr>
            <a:xfrm>
              <a:off x="7367588" y="3415665"/>
              <a:ext cx="64770" cy="64770"/>
            </a:xfrm>
            <a:prstGeom prst="ellipse">
              <a:avLst/>
            </a:prstGeom>
            <a:solidFill>
              <a:srgbClr val="334E68"/>
            </a:solidFill>
            <a:ln>
              <a:noFill/>
            </a:ln>
          </p:spPr>
        </p:sp>
        <p:sp>
          <p:nvSpPr>
            <p:cNvPr id="40" name="TextBox 40"/>
            <p:cNvSpPr txBox="1"/>
            <p:nvPr/>
          </p:nvSpPr>
          <p:spPr>
            <a:xfrm>
              <a:off x="7525702" y="335280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对给定的模块结构图写出四种集成策略各自</a:t>
              </a:r>
              <a:br/>
              <a:r>
                <a:rPr lang="zh-CN" sz="1500" dirty="0">
                  <a:solidFill>
                    <a:srgbClr val="1F2937"/>
                  </a:solidFill>
                  <a:latin typeface="+mn-lt"/>
                  <a:ea typeface="+mn-ea"/>
                  <a:cs typeface="+mn-cs"/>
                </a:rPr>
                <a:t>的组装次序</a:t>
              </a:r>
            </a:p>
          </p:txBody>
        </p:sp>
        <p:sp>
          <p:nvSpPr>
            <p:cNvPr id="41" name="Ellipse 41"/>
            <p:cNvSpPr/>
            <p:nvPr/>
          </p:nvSpPr>
          <p:spPr>
            <a:xfrm>
              <a:off x="7367588" y="4036695"/>
              <a:ext cx="64770" cy="64770"/>
            </a:xfrm>
            <a:prstGeom prst="ellipse">
              <a:avLst/>
            </a:prstGeom>
            <a:solidFill>
              <a:srgbClr val="334E68"/>
            </a:solidFill>
            <a:ln>
              <a:noFill/>
            </a:ln>
          </p:spPr>
        </p:sp>
        <p:sp>
          <p:nvSpPr>
            <p:cNvPr id="42" name="TextBox 42"/>
            <p:cNvSpPr txBox="1"/>
            <p:nvPr/>
          </p:nvSpPr>
          <p:spPr>
            <a:xfrm>
              <a:off x="7525702" y="3973830"/>
              <a:ext cx="3444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为给定程序分别设计满足语句、判定、条</a:t>
              </a:r>
              <a:br/>
              <a:r>
                <a:rPr lang="zh-CN" sz="1500" dirty="0">
                  <a:solidFill>
                    <a:srgbClr val="1F2937"/>
                  </a:solidFill>
                  <a:latin typeface="+mn-lt"/>
                  <a:ea typeface="+mn-ea"/>
                  <a:cs typeface="+mn-cs"/>
                </a:rPr>
                <a:t>件、条件组合覆盖的测试用例</a:t>
              </a:r>
            </a:p>
          </p:txBody>
        </p:sp>
        <p:sp>
          <p:nvSpPr>
            <p:cNvPr id="43" name="Ellipse 43"/>
            <p:cNvSpPr/>
            <p:nvPr/>
          </p:nvSpPr>
          <p:spPr>
            <a:xfrm>
              <a:off x="7367588" y="4657725"/>
              <a:ext cx="64770" cy="64770"/>
            </a:xfrm>
            <a:prstGeom prst="ellipse">
              <a:avLst/>
            </a:prstGeom>
            <a:solidFill>
              <a:srgbClr val="334E68"/>
            </a:solidFill>
            <a:ln>
              <a:noFill/>
            </a:ln>
          </p:spPr>
        </p:sp>
        <p:sp>
          <p:nvSpPr>
            <p:cNvPr id="44" name="TextBox 44"/>
            <p:cNvSpPr txBox="1"/>
            <p:nvPr/>
          </p:nvSpPr>
          <p:spPr>
            <a:xfrm>
              <a:off x="7525702" y="459486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用等价划分和边界值分析设计测试方案，用</a:t>
              </a:r>
              <a:br/>
              <a:r>
                <a:rPr lang="zh-CN" sz="1500" dirty="0">
                  <a:solidFill>
                    <a:srgbClr val="1F2937"/>
                  </a:solidFill>
                  <a:latin typeface="+mn-lt"/>
                  <a:ea typeface="+mn-ea"/>
                  <a:cs typeface="+mn-cs"/>
                </a:rPr>
                <a:t>分别测试法估算 MTTF</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47" name="TextBox 4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6" name="section-title"/>
          <p:cNvGrpSpPr/>
          <p:nvPr/>
        </p:nvGrpSpPr>
        <p:grpSpPr>
          <a:xfrm>
            <a:off x="667512" y="1835468"/>
            <a:ext cx="4469130" cy="2997517"/>
            <a:chOff x="667512" y="1835468"/>
            <a:chExt cx="4469130"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1005840"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编码</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459224"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把设计翻译成程序，风格决定日后能不能读懂</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2667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语言选择的 7 条实用标准</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0648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编码风格的 5 个着眼点</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一段借书代码的两次重构</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实现包含编码和测试两件事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7035089" cy="308039"/>
            <a:chOff x="525399" y="1550194"/>
            <a:chExt cx="7035089" cy="308039"/>
          </a:xfrm>
        </p:grpSpPr>
        <p:sp>
          <p:nvSpPr>
            <p:cNvPr id="7" name="TextBox 7"/>
            <p:cNvSpPr txBox="1"/>
            <p:nvPr/>
          </p:nvSpPr>
          <p:spPr>
            <a:xfrm>
              <a:off x="525399" y="1550194"/>
              <a:ext cx="7035089"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编码把详细设计的伪代码翻译成程序，测试横跨编码和运行维护两个时期。</a:t>
              </a:r>
            </a:p>
          </p:txBody>
        </p:sp>
      </p:grpSp>
      <p:grpSp>
        <p:nvGrpSpPr>
          <p:cNvPr id="22" name="c1-card-1"/>
          <p:cNvGrpSpPr/>
          <p:nvPr/>
        </p:nvGrpSpPr>
        <p:grpSpPr>
          <a:xfrm>
            <a:off x="533400" y="1967865"/>
            <a:ext cx="5626418" cy="2872740"/>
            <a:chOff x="533400" y="1967865"/>
            <a:chExt cx="5626418" cy="2872740"/>
          </a:xfrm>
        </p:grpSpPr>
        <p:sp>
          <p:nvSpPr>
            <p:cNvPr id="9" name="Rectangle 9"/>
            <p:cNvSpPr/>
            <p:nvPr/>
          </p:nvSpPr>
          <p:spPr>
            <a:xfrm>
              <a:off x="533400" y="1967865"/>
              <a:ext cx="5626418" cy="2872740"/>
            </a:xfrm>
            <a:prstGeom prst="roundRect">
              <a:avLst>
                <a:gd name="adj" fmla="val 4642"/>
              </a:avLst>
            </a:prstGeom>
            <a:solidFill>
              <a:srgbClr val="FFFFFF"/>
            </a:solidFill>
            <a:ln w="14288">
              <a:solidFill>
                <a:srgbClr val="D9DFEA"/>
              </a:solidFill>
            </a:ln>
          </p:spPr>
        </p:sp>
        <p:sp>
          <p:nvSpPr>
            <p:cNvPr id="10" name="Rectangle 10"/>
            <p:cNvSpPr/>
            <p:nvPr/>
          </p:nvSpPr>
          <p:spPr>
            <a:xfrm>
              <a:off x="542925" y="2101215"/>
              <a:ext cx="47625" cy="2606040"/>
            </a:xfrm>
            <a:prstGeom prst="roundRect">
              <a:avLst>
                <a:gd name="adj" fmla="val 50000"/>
              </a:avLst>
            </a:prstGeom>
            <a:solidFill>
              <a:srgbClr val="334E68"/>
            </a:solidFill>
            <a:ln>
              <a:noFill/>
            </a:ln>
          </p:spPr>
        </p:sp>
        <p:sp>
          <p:nvSpPr>
            <p:cNvPr id="11" name="Rectangle 11"/>
            <p:cNvSpPr/>
            <p:nvPr/>
          </p:nvSpPr>
          <p:spPr>
            <a:xfrm>
              <a:off x="781050" y="2177415"/>
              <a:ext cx="494348" cy="257175"/>
            </a:xfrm>
            <a:prstGeom prst="roundRect">
              <a:avLst>
                <a:gd name="adj" fmla="val 50000"/>
              </a:avLst>
            </a:prstGeom>
            <a:solidFill>
              <a:srgbClr val="E7EDF3"/>
            </a:solidFill>
            <a:ln>
              <a:noFill/>
            </a:ln>
          </p:spPr>
        </p:sp>
        <p:sp>
          <p:nvSpPr>
            <p:cNvPr id="12" name="TextBox 12"/>
            <p:cNvSpPr txBox="1"/>
            <p:nvPr/>
          </p:nvSpPr>
          <p:spPr>
            <a:xfrm>
              <a:off x="871258" y="221313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概念</a:t>
              </a:r>
            </a:p>
          </p:txBody>
        </p:sp>
        <p:sp>
          <p:nvSpPr>
            <p:cNvPr id="13" name="TextBox 13"/>
            <p:cNvSpPr txBox="1"/>
            <p:nvPr/>
          </p:nvSpPr>
          <p:spPr>
            <a:xfrm>
              <a:off x="1382078" y="2212658"/>
              <a:ext cx="1714481"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实现 = 编码 + 测试</a:t>
              </a:r>
            </a:p>
          </p:txBody>
        </p:sp>
        <p:sp>
          <p:nvSpPr>
            <p:cNvPr id="14" name="TextBox 14"/>
            <p:cNvSpPr txBox="1"/>
            <p:nvPr/>
          </p:nvSpPr>
          <p:spPr>
            <a:xfrm>
              <a:off x="773430" y="2573655"/>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编码就是把软件设计结果翻译成用某种程序设计语言书写的</a:t>
              </a:r>
              <a:br/>
              <a:r>
                <a:rPr lang="zh-CN" sz="1500" dirty="0">
                  <a:solidFill>
                    <a:srgbClr val="1F2937"/>
                  </a:solidFill>
                  <a:latin typeface="+mn-lt"/>
                  <a:ea typeface="+mn-ea"/>
                  <a:cs typeface="+mn-cs"/>
                </a:rPr>
                <a:t>程序。</a:t>
              </a:r>
            </a:p>
          </p:txBody>
        </p:sp>
        <p:sp>
          <p:nvSpPr>
            <p:cNvPr id="15" name="Ellipse 15"/>
            <p:cNvSpPr/>
            <p:nvPr/>
          </p:nvSpPr>
          <p:spPr>
            <a:xfrm>
              <a:off x="786765" y="3257550"/>
              <a:ext cx="64770" cy="64770"/>
            </a:xfrm>
            <a:prstGeom prst="ellipse">
              <a:avLst/>
            </a:prstGeom>
            <a:solidFill>
              <a:srgbClr val="334E68"/>
            </a:solidFill>
            <a:ln>
              <a:noFill/>
            </a:ln>
          </p:spPr>
        </p:sp>
        <p:sp>
          <p:nvSpPr>
            <p:cNvPr id="16" name="TextBox 16"/>
            <p:cNvSpPr txBox="1"/>
            <p:nvPr/>
          </p:nvSpPr>
          <p:spPr>
            <a:xfrm>
              <a:off x="944880" y="3194685"/>
              <a:ext cx="376255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 xml:space="preserve">测试工作量占软件开发总成本的 </a:t>
              </a:r>
              <a:r>
                <a:rPr lang="zh-CN" sz="1500" b="1" dirty="0">
                  <a:solidFill>
                    <a:srgbClr val="C2410C"/>
                  </a:solidFill>
                  <a:latin typeface="+mn-lt"/>
                  <a:ea typeface="+mn-ea"/>
                  <a:cs typeface="+mn-cs"/>
                </a:rPr>
                <a:t>40% 以上</a:t>
              </a:r>
            </a:p>
          </p:txBody>
        </p:sp>
        <p:sp>
          <p:nvSpPr>
            <p:cNvPr id="17" name="Ellipse 17"/>
            <p:cNvSpPr/>
            <p:nvPr/>
          </p:nvSpPr>
          <p:spPr>
            <a:xfrm>
              <a:off x="786765" y="3592830"/>
              <a:ext cx="64770" cy="64770"/>
            </a:xfrm>
            <a:prstGeom prst="ellipse">
              <a:avLst/>
            </a:prstGeom>
            <a:solidFill>
              <a:srgbClr val="334E68"/>
            </a:solidFill>
            <a:ln>
              <a:noFill/>
            </a:ln>
          </p:spPr>
        </p:sp>
        <p:sp>
          <p:nvSpPr>
            <p:cNvPr id="18" name="TextBox 18"/>
            <p:cNvSpPr txBox="1"/>
            <p:nvPr/>
          </p:nvSpPr>
          <p:spPr>
            <a:xfrm>
              <a:off x="944880" y="3529965"/>
              <a:ext cx="48615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测试的目标是发现错误，调试的目标是诊断并改正错误</a:t>
              </a:r>
            </a:p>
          </p:txBody>
        </p:sp>
        <p:sp>
          <p:nvSpPr>
            <p:cNvPr id="19" name="Ellipse 19"/>
            <p:cNvSpPr/>
            <p:nvPr/>
          </p:nvSpPr>
          <p:spPr>
            <a:xfrm>
              <a:off x="786765" y="3928110"/>
              <a:ext cx="64770" cy="64770"/>
            </a:xfrm>
            <a:prstGeom prst="ellipse">
              <a:avLst/>
            </a:prstGeom>
            <a:solidFill>
              <a:srgbClr val="334E68"/>
            </a:solidFill>
            <a:ln>
              <a:noFill/>
            </a:ln>
          </p:spPr>
        </p:sp>
        <p:sp>
          <p:nvSpPr>
            <p:cNvPr id="20" name="TextBox 20"/>
            <p:cNvSpPr txBox="1"/>
            <p:nvPr/>
          </p:nvSpPr>
          <p:spPr>
            <a:xfrm>
              <a:off x="944880" y="3865245"/>
              <a:ext cx="42557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测试收集到的错误数据是建立可靠性模型的依据</a:t>
              </a:r>
            </a:p>
          </p:txBody>
        </p:sp>
        <p:sp>
          <p:nvSpPr>
            <p:cNvPr id="21" name="TextBox 21"/>
            <p:cNvSpPr txBox="1"/>
            <p:nvPr/>
          </p:nvSpPr>
          <p:spPr>
            <a:xfrm>
              <a:off x="774573" y="4196239"/>
              <a:ext cx="48897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程序设计语言的特性和程序设计风格会深刻影响软件的质量和可维护</a:t>
              </a:r>
              <a:br/>
              <a:r>
                <a:rPr lang="zh-CN" sz="1280" dirty="0">
                  <a:solidFill>
                    <a:srgbClr val="5B6475"/>
                  </a:solidFill>
                  <a:latin typeface="+mn-lt"/>
                  <a:ea typeface="+mn-ea"/>
                  <a:cs typeface="+mn-cs"/>
                </a:rPr>
                <a:t>性</a:t>
              </a:r>
            </a:p>
          </p:txBody>
        </p:sp>
      </p:grpSp>
      <p:grpSp>
        <p:nvGrpSpPr>
          <p:cNvPr id="29" name="c1-callout-2"/>
          <p:cNvGrpSpPr/>
          <p:nvPr/>
        </p:nvGrpSpPr>
        <p:grpSpPr>
          <a:xfrm>
            <a:off x="533400" y="5030152"/>
            <a:ext cx="5626418" cy="868680"/>
            <a:chOff x="533400" y="5030152"/>
            <a:chExt cx="5626418" cy="868680"/>
          </a:xfrm>
        </p:grpSpPr>
        <p:sp>
          <p:nvSpPr>
            <p:cNvPr id="23" name="Rectangle 23"/>
            <p:cNvSpPr/>
            <p:nvPr/>
          </p:nvSpPr>
          <p:spPr>
            <a:xfrm>
              <a:off x="533400" y="5030152"/>
              <a:ext cx="5626418" cy="868680"/>
            </a:xfrm>
            <a:prstGeom prst="roundRect">
              <a:avLst>
                <a:gd name="adj" fmla="val 13158"/>
              </a:avLst>
            </a:prstGeom>
            <a:solidFill>
              <a:srgbClr val="FDEEE7"/>
            </a:solidFill>
            <a:ln>
              <a:noFill/>
            </a:ln>
          </p:spPr>
        </p:sp>
        <p:grpSp>
          <p:nvGrpSpPr>
            <p:cNvPr id="27" name="Group 27"/>
            <p:cNvGrpSpPr/>
            <p:nvPr/>
          </p:nvGrpSpPr>
          <p:grpSpPr>
            <a:xfrm>
              <a:off x="738188" y="5364480"/>
              <a:ext cx="200026" cy="200025"/>
              <a:chOff x="738188" y="5364480"/>
              <a:chExt cx="200026" cy="200025"/>
            </a:xfrm>
          </p:grpSpPr>
          <p:sp>
            <p:nvSpPr>
              <p:cNvPr id="24" name="Freeform 24"/>
              <p:cNvSpPr/>
              <p:nvPr/>
            </p:nvSpPr>
            <p:spPr>
              <a:xfrm>
                <a:off x="738188" y="536448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5" name="Freeform 25"/>
              <p:cNvSpPr/>
              <p:nvPr/>
            </p:nvSpPr>
            <p:spPr>
              <a:xfrm>
                <a:off x="777926" y="540893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6" name="Freeform 26"/>
              <p:cNvSpPr/>
              <p:nvPr/>
            </p:nvSpPr>
            <p:spPr>
              <a:xfrm>
                <a:off x="812642" y="552005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8" name="TextBox 28"/>
            <p:cNvSpPr txBox="1"/>
            <p:nvPr/>
          </p:nvSpPr>
          <p:spPr>
            <a:xfrm>
              <a:off x="1040130" y="5221605"/>
              <a:ext cx="4587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编码阶段要交出的不只是能跑的程序，还有结构良好、</a:t>
              </a:r>
              <a:br/>
              <a:r>
                <a:rPr lang="zh-CN" sz="1500" dirty="0">
                  <a:solidFill>
                    <a:srgbClr val="C2410C"/>
                  </a:solidFill>
                  <a:latin typeface="+mn-lt"/>
                  <a:ea typeface="+mn-ea"/>
                  <a:cs typeface="+mn-cs"/>
                </a:rPr>
                <a:t>风格一致、别人能接着改的源程序。</a:t>
              </a:r>
            </a:p>
          </p:txBody>
        </p:sp>
      </p:grpSp>
      <p:grpSp>
        <p:nvGrpSpPr>
          <p:cNvPr id="52" name="c2-bullets-1"/>
          <p:cNvGrpSpPr/>
          <p:nvPr/>
        </p:nvGrpSpPr>
        <p:grpSpPr>
          <a:xfrm>
            <a:off x="6456998" y="1992630"/>
            <a:ext cx="2682230" cy="2716530"/>
            <a:chOff x="6456998" y="1992630"/>
            <a:chExt cx="2682230" cy="2716530"/>
          </a:xfrm>
        </p:grpSpPr>
        <p:sp>
          <p:nvSpPr>
            <p:cNvPr id="30" name="TextBox 30"/>
            <p:cNvSpPr txBox="1"/>
            <p:nvPr/>
          </p:nvSpPr>
          <p:spPr>
            <a:xfrm>
              <a:off x="6456998" y="1992630"/>
              <a:ext cx="268223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选择程序设计语言看这 7 件事</a:t>
              </a:r>
            </a:p>
          </p:txBody>
        </p:sp>
        <p:sp>
          <p:nvSpPr>
            <p:cNvPr id="31" name="Ellipse 31"/>
            <p:cNvSpPr/>
            <p:nvPr/>
          </p:nvSpPr>
          <p:spPr>
            <a:xfrm>
              <a:off x="6464617" y="2333625"/>
              <a:ext cx="213360" cy="213360"/>
            </a:xfrm>
            <a:prstGeom prst="ellipse">
              <a:avLst/>
            </a:prstGeom>
            <a:solidFill>
              <a:srgbClr val="334E68"/>
            </a:solidFill>
            <a:ln>
              <a:noFill/>
            </a:ln>
          </p:spPr>
        </p:sp>
        <p:sp>
          <p:nvSpPr>
            <p:cNvPr id="32" name="TextBox 32"/>
            <p:cNvSpPr txBox="1"/>
            <p:nvPr/>
          </p:nvSpPr>
          <p:spPr>
            <a:xfrm>
              <a:off x="6526467" y="237591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33" name="TextBox 33"/>
            <p:cNvSpPr txBox="1"/>
            <p:nvPr/>
          </p:nvSpPr>
          <p:spPr>
            <a:xfrm>
              <a:off x="6765608" y="2346960"/>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系统用户的要求</a:t>
              </a:r>
            </a:p>
          </p:txBody>
        </p:sp>
        <p:sp>
          <p:nvSpPr>
            <p:cNvPr id="34" name="Ellipse 34"/>
            <p:cNvSpPr/>
            <p:nvPr/>
          </p:nvSpPr>
          <p:spPr>
            <a:xfrm>
              <a:off x="6464617" y="2678430"/>
              <a:ext cx="213360" cy="213360"/>
            </a:xfrm>
            <a:prstGeom prst="ellipse">
              <a:avLst/>
            </a:prstGeom>
            <a:solidFill>
              <a:srgbClr val="334E68"/>
            </a:solidFill>
            <a:ln>
              <a:noFill/>
            </a:ln>
          </p:spPr>
        </p:sp>
        <p:sp>
          <p:nvSpPr>
            <p:cNvPr id="35" name="TextBox 35"/>
            <p:cNvSpPr txBox="1"/>
            <p:nvPr/>
          </p:nvSpPr>
          <p:spPr>
            <a:xfrm>
              <a:off x="6526467" y="272072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36" name="TextBox 36"/>
            <p:cNvSpPr txBox="1"/>
            <p:nvPr/>
          </p:nvSpPr>
          <p:spPr>
            <a:xfrm>
              <a:off x="6765608" y="269176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可以使用的编译程序</a:t>
              </a:r>
            </a:p>
          </p:txBody>
        </p:sp>
        <p:sp>
          <p:nvSpPr>
            <p:cNvPr id="37" name="Ellipse 37"/>
            <p:cNvSpPr/>
            <p:nvPr/>
          </p:nvSpPr>
          <p:spPr>
            <a:xfrm>
              <a:off x="6464617" y="3023235"/>
              <a:ext cx="213360" cy="213360"/>
            </a:xfrm>
            <a:prstGeom prst="ellipse">
              <a:avLst/>
            </a:prstGeom>
            <a:solidFill>
              <a:srgbClr val="334E68"/>
            </a:solidFill>
            <a:ln>
              <a:noFill/>
            </a:ln>
          </p:spPr>
        </p:sp>
        <p:sp>
          <p:nvSpPr>
            <p:cNvPr id="38" name="TextBox 38"/>
            <p:cNvSpPr txBox="1"/>
            <p:nvPr/>
          </p:nvSpPr>
          <p:spPr>
            <a:xfrm>
              <a:off x="6526467" y="306552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39" name="TextBox 39"/>
            <p:cNvSpPr txBox="1"/>
            <p:nvPr/>
          </p:nvSpPr>
          <p:spPr>
            <a:xfrm>
              <a:off x="6765608" y="3036570"/>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可以得到的软件工具</a:t>
              </a:r>
            </a:p>
          </p:txBody>
        </p:sp>
        <p:sp>
          <p:nvSpPr>
            <p:cNvPr id="40" name="Ellipse 40"/>
            <p:cNvSpPr/>
            <p:nvPr/>
          </p:nvSpPr>
          <p:spPr>
            <a:xfrm>
              <a:off x="6464617" y="3368040"/>
              <a:ext cx="213360" cy="213360"/>
            </a:xfrm>
            <a:prstGeom prst="ellipse">
              <a:avLst/>
            </a:prstGeom>
            <a:solidFill>
              <a:srgbClr val="334E68"/>
            </a:solidFill>
            <a:ln>
              <a:noFill/>
            </a:ln>
          </p:spPr>
        </p:sp>
        <p:sp>
          <p:nvSpPr>
            <p:cNvPr id="41" name="TextBox 41"/>
            <p:cNvSpPr txBox="1"/>
            <p:nvPr/>
          </p:nvSpPr>
          <p:spPr>
            <a:xfrm>
              <a:off x="6526467" y="341033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42" name="TextBox 42"/>
            <p:cNvSpPr txBox="1"/>
            <p:nvPr/>
          </p:nvSpPr>
          <p:spPr>
            <a:xfrm>
              <a:off x="6765608" y="338137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工程规模</a:t>
              </a:r>
            </a:p>
          </p:txBody>
        </p:sp>
        <p:sp>
          <p:nvSpPr>
            <p:cNvPr id="43" name="Ellipse 43"/>
            <p:cNvSpPr/>
            <p:nvPr/>
          </p:nvSpPr>
          <p:spPr>
            <a:xfrm>
              <a:off x="6464617" y="3712845"/>
              <a:ext cx="213360" cy="213360"/>
            </a:xfrm>
            <a:prstGeom prst="ellipse">
              <a:avLst/>
            </a:prstGeom>
            <a:solidFill>
              <a:srgbClr val="334E68"/>
            </a:solidFill>
            <a:ln>
              <a:noFill/>
            </a:ln>
          </p:spPr>
        </p:sp>
        <p:sp>
          <p:nvSpPr>
            <p:cNvPr id="44" name="TextBox 44"/>
            <p:cNvSpPr txBox="1"/>
            <p:nvPr/>
          </p:nvSpPr>
          <p:spPr>
            <a:xfrm>
              <a:off x="6526467" y="375513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5</a:t>
              </a:r>
            </a:p>
          </p:txBody>
        </p:sp>
        <p:sp>
          <p:nvSpPr>
            <p:cNvPr id="45" name="TextBox 45"/>
            <p:cNvSpPr txBox="1"/>
            <p:nvPr/>
          </p:nvSpPr>
          <p:spPr>
            <a:xfrm>
              <a:off x="6765608" y="3726180"/>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程序员的知识</a:t>
              </a:r>
            </a:p>
          </p:txBody>
        </p:sp>
        <p:sp>
          <p:nvSpPr>
            <p:cNvPr id="46" name="Ellipse 46"/>
            <p:cNvSpPr/>
            <p:nvPr/>
          </p:nvSpPr>
          <p:spPr>
            <a:xfrm>
              <a:off x="6464617" y="4057650"/>
              <a:ext cx="213360" cy="213360"/>
            </a:xfrm>
            <a:prstGeom prst="ellipse">
              <a:avLst/>
            </a:prstGeom>
            <a:solidFill>
              <a:srgbClr val="334E68"/>
            </a:solidFill>
            <a:ln>
              <a:noFill/>
            </a:ln>
          </p:spPr>
        </p:sp>
        <p:sp>
          <p:nvSpPr>
            <p:cNvPr id="47" name="TextBox 47"/>
            <p:cNvSpPr txBox="1"/>
            <p:nvPr/>
          </p:nvSpPr>
          <p:spPr>
            <a:xfrm>
              <a:off x="6526467" y="409994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6</a:t>
              </a:r>
            </a:p>
          </p:txBody>
        </p:sp>
        <p:sp>
          <p:nvSpPr>
            <p:cNvPr id="48" name="TextBox 48"/>
            <p:cNvSpPr txBox="1"/>
            <p:nvPr/>
          </p:nvSpPr>
          <p:spPr>
            <a:xfrm>
              <a:off x="6765608" y="407098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软件可移植性要求</a:t>
              </a:r>
            </a:p>
          </p:txBody>
        </p:sp>
        <p:sp>
          <p:nvSpPr>
            <p:cNvPr id="49" name="Ellipse 49"/>
            <p:cNvSpPr/>
            <p:nvPr/>
          </p:nvSpPr>
          <p:spPr>
            <a:xfrm>
              <a:off x="6464617" y="4402455"/>
              <a:ext cx="213360" cy="213360"/>
            </a:xfrm>
            <a:prstGeom prst="ellipse">
              <a:avLst/>
            </a:prstGeom>
            <a:solidFill>
              <a:srgbClr val="334E68"/>
            </a:solidFill>
            <a:ln>
              <a:noFill/>
            </a:ln>
          </p:spPr>
        </p:sp>
        <p:sp>
          <p:nvSpPr>
            <p:cNvPr id="50" name="TextBox 50"/>
            <p:cNvSpPr txBox="1"/>
            <p:nvPr/>
          </p:nvSpPr>
          <p:spPr>
            <a:xfrm>
              <a:off x="6526467" y="444474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7</a:t>
              </a:r>
            </a:p>
          </p:txBody>
        </p:sp>
        <p:sp>
          <p:nvSpPr>
            <p:cNvPr id="51" name="TextBox 51"/>
            <p:cNvSpPr txBox="1"/>
            <p:nvPr/>
          </p:nvSpPr>
          <p:spPr>
            <a:xfrm>
              <a:off x="6765608" y="4415790"/>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软件的应用领域</a:t>
              </a:r>
            </a:p>
          </p:txBody>
        </p:sp>
      </p:grpSp>
      <p:grpSp>
        <p:nvGrpSpPr>
          <p:cNvPr id="59" name="c2-callout-2"/>
          <p:cNvGrpSpPr/>
          <p:nvPr/>
        </p:nvGrpSpPr>
        <p:grpSpPr>
          <a:xfrm>
            <a:off x="6464618" y="4840605"/>
            <a:ext cx="5193982" cy="1059180"/>
            <a:chOff x="6464618" y="4840605"/>
            <a:chExt cx="5193982" cy="1059180"/>
          </a:xfrm>
        </p:grpSpPr>
        <p:sp>
          <p:nvSpPr>
            <p:cNvPr id="53" name="Rectangle 53"/>
            <p:cNvSpPr/>
            <p:nvPr/>
          </p:nvSpPr>
          <p:spPr>
            <a:xfrm>
              <a:off x="6464618" y="4840605"/>
              <a:ext cx="5193982" cy="1059180"/>
            </a:xfrm>
            <a:prstGeom prst="roundRect">
              <a:avLst>
                <a:gd name="adj" fmla="val 10791"/>
              </a:avLst>
            </a:prstGeom>
            <a:solidFill>
              <a:srgbClr val="F4F6FB"/>
            </a:solidFill>
            <a:ln>
              <a:noFill/>
            </a:ln>
          </p:spPr>
        </p:sp>
        <p:grpSp>
          <p:nvGrpSpPr>
            <p:cNvPr id="57" name="Group 57"/>
            <p:cNvGrpSpPr/>
            <p:nvPr/>
          </p:nvGrpSpPr>
          <p:grpSpPr>
            <a:xfrm>
              <a:off x="6669405" y="5270183"/>
              <a:ext cx="200026" cy="200026"/>
              <a:chOff x="6669405" y="5270183"/>
              <a:chExt cx="200026" cy="200026"/>
            </a:xfrm>
          </p:grpSpPr>
          <p:sp>
            <p:nvSpPr>
              <p:cNvPr id="54" name="Freeform 54"/>
              <p:cNvSpPr/>
              <p:nvPr/>
            </p:nvSpPr>
            <p:spPr>
              <a:xfrm>
                <a:off x="6669405" y="527018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5" name="Freeform 55"/>
              <p:cNvSpPr/>
              <p:nvPr/>
            </p:nvSpPr>
            <p:spPr>
              <a:xfrm>
                <a:off x="6769418" y="533685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6" name="Freeform 56"/>
              <p:cNvSpPr/>
              <p:nvPr/>
            </p:nvSpPr>
            <p:spPr>
              <a:xfrm>
                <a:off x="6758305" y="537019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8" name="TextBox 58"/>
            <p:cNvSpPr txBox="1"/>
            <p:nvPr/>
          </p:nvSpPr>
          <p:spPr>
            <a:xfrm>
              <a:off x="6971348" y="4989195"/>
              <a:ext cx="42443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前三条是“现在有什么”，后四条是“将来要什么”。</a:t>
              </a:r>
              <a:br/>
              <a:r>
                <a:rPr lang="zh-CN" sz="1500" dirty="0">
                  <a:solidFill>
                    <a:srgbClr val="1F2937"/>
                  </a:solidFill>
                  <a:latin typeface="+mn-lt"/>
                  <a:ea typeface="+mn-ea"/>
                  <a:cs typeface="+mn-cs"/>
                </a:rPr>
                <a:t>工程规模大、维护期长时，可移植性和程序员熟悉</a:t>
              </a:r>
              <a:br/>
              <a:r>
                <a:rPr lang="zh-CN" sz="1500" dirty="0">
                  <a:solidFill>
                    <a:srgbClr val="1F2937"/>
                  </a:solidFill>
                  <a:latin typeface="+mn-lt"/>
                  <a:ea typeface="+mn-ea"/>
                  <a:cs typeface="+mn-cs"/>
                </a:rPr>
                <a:t>程度的权重要往上调。</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1" name="TextBox 61"/>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编码风格的五个着眼点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3844595" cy="308039"/>
            <a:chOff x="525399" y="1550194"/>
            <a:chExt cx="3844595" cy="308039"/>
          </a:xfrm>
        </p:grpSpPr>
        <p:sp>
          <p:nvSpPr>
            <p:cNvPr id="7" name="TextBox 7"/>
            <p:cNvSpPr txBox="1"/>
            <p:nvPr/>
          </p:nvSpPr>
          <p:spPr>
            <a:xfrm>
              <a:off x="525399" y="1550194"/>
              <a:ext cx="3844595"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好程序的代码逻辑简明清晰、易读易懂。</a:t>
              </a:r>
            </a:p>
          </p:txBody>
        </p:sp>
      </p:grpSp>
      <p:grpSp>
        <p:nvGrpSpPr>
          <p:cNvPr id="35" name="c1-tree-1"/>
          <p:cNvGrpSpPr/>
          <p:nvPr/>
        </p:nvGrpSpPr>
        <p:grpSpPr>
          <a:xfrm>
            <a:off x="533400" y="2095500"/>
            <a:ext cx="4328160" cy="4139566"/>
            <a:chOff x="533400" y="2095500"/>
            <a:chExt cx="4328160" cy="4139566"/>
          </a:xfrm>
        </p:grpSpPr>
        <p:sp>
          <p:nvSpPr>
            <p:cNvPr id="9" name="Freeform 9"/>
            <p:cNvSpPr/>
            <p:nvPr/>
          </p:nvSpPr>
          <p:spPr>
            <a:xfrm>
              <a:off x="3333750" y="2281238"/>
              <a:ext cx="419100" cy="627697"/>
            </a:xfrm>
            <a:custGeom>
              <a:avLst/>
              <a:gdLst/>
              <a:ahLst/>
              <a:cxnLst/>
              <a:rect l="l" t="t" r="r" b="b"/>
              <a:pathLst>
                <a:path w="419100" h="627697">
                  <a:moveTo>
                    <a:pt x="0" y="627697"/>
                  </a:moveTo>
                  <a:lnTo>
                    <a:pt x="209550" y="627697"/>
                  </a:lnTo>
                  <a:lnTo>
                    <a:pt x="209550" y="0"/>
                  </a:lnTo>
                  <a:lnTo>
                    <a:pt x="419100" y="0"/>
                  </a:lnTo>
                </a:path>
              </a:pathLst>
            </a:custGeom>
            <a:noFill/>
            <a:ln w="17145">
              <a:solidFill>
                <a:srgbClr val="D9DFEA"/>
              </a:solidFill>
            </a:ln>
          </p:spPr>
        </p:sp>
        <p:sp>
          <p:nvSpPr>
            <p:cNvPr id="10" name="Freeform 10"/>
            <p:cNvSpPr/>
            <p:nvPr/>
          </p:nvSpPr>
          <p:spPr>
            <a:xfrm>
              <a:off x="3333750" y="2908935"/>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1" name="Freeform 11"/>
            <p:cNvSpPr/>
            <p:nvPr/>
          </p:nvSpPr>
          <p:spPr>
            <a:xfrm>
              <a:off x="3333750" y="2908935"/>
              <a:ext cx="419100" cy="628650"/>
            </a:xfrm>
            <a:custGeom>
              <a:avLst/>
              <a:gdLst/>
              <a:ahLst/>
              <a:cxnLst/>
              <a:rect l="l" t="t" r="r" b="b"/>
              <a:pathLst>
                <a:path w="419100" h="628650">
                  <a:moveTo>
                    <a:pt x="0" y="0"/>
                  </a:moveTo>
                  <a:lnTo>
                    <a:pt x="209550" y="0"/>
                  </a:lnTo>
                  <a:lnTo>
                    <a:pt x="209550" y="628650"/>
                  </a:lnTo>
                  <a:lnTo>
                    <a:pt x="419100" y="628650"/>
                  </a:lnTo>
                </a:path>
              </a:pathLst>
            </a:custGeom>
            <a:noFill/>
            <a:ln w="17145">
              <a:solidFill>
                <a:srgbClr val="D9DFEA"/>
              </a:solidFill>
            </a:ln>
          </p:spPr>
        </p:sp>
        <p:sp>
          <p:nvSpPr>
            <p:cNvPr id="12" name="Freeform 12"/>
            <p:cNvSpPr/>
            <p:nvPr/>
          </p:nvSpPr>
          <p:spPr>
            <a:xfrm>
              <a:off x="1480185" y="2908935"/>
              <a:ext cx="419100" cy="1569720"/>
            </a:xfrm>
            <a:custGeom>
              <a:avLst/>
              <a:gdLst/>
              <a:ahLst/>
              <a:cxnLst/>
              <a:rect l="l" t="t" r="r" b="b"/>
              <a:pathLst>
                <a:path w="419100" h="1569720">
                  <a:moveTo>
                    <a:pt x="0" y="1569720"/>
                  </a:moveTo>
                  <a:lnTo>
                    <a:pt x="209550" y="1569720"/>
                  </a:lnTo>
                  <a:lnTo>
                    <a:pt x="209550" y="0"/>
                  </a:lnTo>
                  <a:lnTo>
                    <a:pt x="419100" y="0"/>
                  </a:lnTo>
                </a:path>
              </a:pathLst>
            </a:custGeom>
            <a:noFill/>
            <a:ln w="17145">
              <a:solidFill>
                <a:srgbClr val="D9DFEA"/>
              </a:solidFill>
            </a:ln>
          </p:spPr>
        </p:sp>
        <p:sp>
          <p:nvSpPr>
            <p:cNvPr id="13" name="Freeform 13"/>
            <p:cNvSpPr/>
            <p:nvPr/>
          </p:nvSpPr>
          <p:spPr>
            <a:xfrm>
              <a:off x="1480185" y="4165282"/>
              <a:ext cx="419100" cy="313372"/>
            </a:xfrm>
            <a:custGeom>
              <a:avLst/>
              <a:gdLst/>
              <a:ahLst/>
              <a:cxnLst/>
              <a:rect l="l" t="t" r="r" b="b"/>
              <a:pathLst>
                <a:path w="419100" h="313372">
                  <a:moveTo>
                    <a:pt x="0" y="313372"/>
                  </a:moveTo>
                  <a:lnTo>
                    <a:pt x="209550" y="313372"/>
                  </a:lnTo>
                  <a:lnTo>
                    <a:pt x="209550" y="0"/>
                  </a:lnTo>
                  <a:lnTo>
                    <a:pt x="419100" y="0"/>
                  </a:lnTo>
                </a:path>
              </a:pathLst>
            </a:custGeom>
            <a:noFill/>
            <a:ln w="17145">
              <a:solidFill>
                <a:srgbClr val="D9DFEA"/>
              </a:solidFill>
            </a:ln>
          </p:spPr>
        </p:sp>
        <p:sp>
          <p:nvSpPr>
            <p:cNvPr id="14" name="Freeform 14"/>
            <p:cNvSpPr/>
            <p:nvPr/>
          </p:nvSpPr>
          <p:spPr>
            <a:xfrm>
              <a:off x="1480185" y="4478655"/>
              <a:ext cx="419100" cy="314325"/>
            </a:xfrm>
            <a:custGeom>
              <a:avLst/>
              <a:gdLst/>
              <a:ahLst/>
              <a:cxnLst/>
              <a:rect l="l" t="t" r="r" b="b"/>
              <a:pathLst>
                <a:path w="419100" h="314325">
                  <a:moveTo>
                    <a:pt x="0" y="0"/>
                  </a:moveTo>
                  <a:lnTo>
                    <a:pt x="209550" y="0"/>
                  </a:lnTo>
                  <a:lnTo>
                    <a:pt x="209550" y="314325"/>
                  </a:lnTo>
                  <a:lnTo>
                    <a:pt x="419100" y="314325"/>
                  </a:lnTo>
                </a:path>
              </a:pathLst>
            </a:custGeom>
            <a:noFill/>
            <a:ln w="17145">
              <a:solidFill>
                <a:srgbClr val="D9DFEA"/>
              </a:solidFill>
            </a:ln>
          </p:spPr>
        </p:sp>
        <p:sp>
          <p:nvSpPr>
            <p:cNvPr id="15" name="Freeform 15"/>
            <p:cNvSpPr/>
            <p:nvPr/>
          </p:nvSpPr>
          <p:spPr>
            <a:xfrm>
              <a:off x="1480185" y="4478655"/>
              <a:ext cx="419100" cy="942023"/>
            </a:xfrm>
            <a:custGeom>
              <a:avLst/>
              <a:gdLst/>
              <a:ahLst/>
              <a:cxnLst/>
              <a:rect l="l" t="t" r="r" b="b"/>
              <a:pathLst>
                <a:path w="419100" h="942023">
                  <a:moveTo>
                    <a:pt x="0" y="0"/>
                  </a:moveTo>
                  <a:lnTo>
                    <a:pt x="209550" y="0"/>
                  </a:lnTo>
                  <a:lnTo>
                    <a:pt x="209550" y="942023"/>
                  </a:lnTo>
                  <a:lnTo>
                    <a:pt x="419100" y="942023"/>
                  </a:lnTo>
                </a:path>
              </a:pathLst>
            </a:custGeom>
            <a:noFill/>
            <a:ln w="17145">
              <a:solidFill>
                <a:srgbClr val="D9DFEA"/>
              </a:solidFill>
            </a:ln>
          </p:spPr>
        </p:sp>
        <p:sp>
          <p:nvSpPr>
            <p:cNvPr id="16" name="Freeform 16"/>
            <p:cNvSpPr/>
            <p:nvPr/>
          </p:nvSpPr>
          <p:spPr>
            <a:xfrm>
              <a:off x="1480185" y="4478655"/>
              <a:ext cx="419100" cy="1569720"/>
            </a:xfrm>
            <a:custGeom>
              <a:avLst/>
              <a:gdLst/>
              <a:ahLst/>
              <a:cxnLst/>
              <a:rect l="l" t="t" r="r" b="b"/>
              <a:pathLst>
                <a:path w="419100" h="1569720">
                  <a:moveTo>
                    <a:pt x="0" y="0"/>
                  </a:moveTo>
                  <a:lnTo>
                    <a:pt x="209550" y="0"/>
                  </a:lnTo>
                  <a:lnTo>
                    <a:pt x="209550" y="1569720"/>
                  </a:lnTo>
                  <a:lnTo>
                    <a:pt x="419100" y="1569720"/>
                  </a:lnTo>
                </a:path>
              </a:pathLst>
            </a:custGeom>
            <a:noFill/>
            <a:ln w="17145">
              <a:solidFill>
                <a:srgbClr val="D9DFEA"/>
              </a:solidFill>
            </a:ln>
          </p:spPr>
        </p:sp>
        <p:sp>
          <p:nvSpPr>
            <p:cNvPr id="17" name="Rectangle 17"/>
            <p:cNvSpPr/>
            <p:nvPr/>
          </p:nvSpPr>
          <p:spPr>
            <a:xfrm>
              <a:off x="3752850" y="2095500"/>
              <a:ext cx="1108710" cy="372428"/>
            </a:xfrm>
            <a:prstGeom prst="roundRect">
              <a:avLst>
                <a:gd name="adj" fmla="val 25575"/>
              </a:avLst>
            </a:prstGeom>
            <a:solidFill>
              <a:srgbClr val="FFFFFF"/>
            </a:solidFill>
            <a:ln w="13335">
              <a:solidFill>
                <a:srgbClr val="D9DFEA"/>
              </a:solidFill>
            </a:ln>
          </p:spPr>
        </p:sp>
        <p:sp>
          <p:nvSpPr>
            <p:cNvPr id="18" name="Rectangle 18"/>
            <p:cNvSpPr/>
            <p:nvPr/>
          </p:nvSpPr>
          <p:spPr>
            <a:xfrm>
              <a:off x="3752850" y="2723198"/>
              <a:ext cx="1108710" cy="372428"/>
            </a:xfrm>
            <a:prstGeom prst="roundRect">
              <a:avLst>
                <a:gd name="adj" fmla="val 25575"/>
              </a:avLst>
            </a:prstGeom>
            <a:solidFill>
              <a:srgbClr val="FFFFFF"/>
            </a:solidFill>
            <a:ln w="13335">
              <a:solidFill>
                <a:srgbClr val="D9DFEA"/>
              </a:solidFill>
            </a:ln>
          </p:spPr>
        </p:sp>
        <p:sp>
          <p:nvSpPr>
            <p:cNvPr id="19" name="Rectangle 19"/>
            <p:cNvSpPr/>
            <p:nvPr/>
          </p:nvSpPr>
          <p:spPr>
            <a:xfrm>
              <a:off x="3752850" y="3350895"/>
              <a:ext cx="1108710" cy="372428"/>
            </a:xfrm>
            <a:prstGeom prst="roundRect">
              <a:avLst>
                <a:gd name="adj" fmla="val 25575"/>
              </a:avLst>
            </a:prstGeom>
            <a:solidFill>
              <a:srgbClr val="FFFFFF"/>
            </a:solidFill>
            <a:ln w="13335">
              <a:solidFill>
                <a:srgbClr val="D9DFEA"/>
              </a:solidFill>
            </a:ln>
          </p:spPr>
        </p:sp>
        <p:sp>
          <p:nvSpPr>
            <p:cNvPr id="20" name="Rectangle 20"/>
            <p:cNvSpPr/>
            <p:nvPr/>
          </p:nvSpPr>
          <p:spPr>
            <a:xfrm>
              <a:off x="1899285" y="2723198"/>
              <a:ext cx="1434465" cy="372428"/>
            </a:xfrm>
            <a:prstGeom prst="roundRect">
              <a:avLst>
                <a:gd name="adj" fmla="val 25575"/>
              </a:avLst>
            </a:prstGeom>
            <a:solidFill>
              <a:srgbClr val="E7EDF3"/>
            </a:solidFill>
            <a:ln>
              <a:noFill/>
            </a:ln>
          </p:spPr>
        </p:sp>
        <p:sp>
          <p:nvSpPr>
            <p:cNvPr id="21" name="Rectangle 21"/>
            <p:cNvSpPr/>
            <p:nvPr/>
          </p:nvSpPr>
          <p:spPr>
            <a:xfrm>
              <a:off x="1899285" y="3978592"/>
              <a:ext cx="1434465" cy="372428"/>
            </a:xfrm>
            <a:prstGeom prst="roundRect">
              <a:avLst>
                <a:gd name="adj" fmla="val 25575"/>
              </a:avLst>
            </a:prstGeom>
            <a:solidFill>
              <a:srgbClr val="FFFFFF"/>
            </a:solidFill>
            <a:ln w="13335">
              <a:solidFill>
                <a:srgbClr val="D9DFEA"/>
              </a:solidFill>
            </a:ln>
          </p:spPr>
        </p:sp>
        <p:sp>
          <p:nvSpPr>
            <p:cNvPr id="22" name="Rectangle 22"/>
            <p:cNvSpPr/>
            <p:nvPr/>
          </p:nvSpPr>
          <p:spPr>
            <a:xfrm>
              <a:off x="1899285" y="4606290"/>
              <a:ext cx="1434465" cy="372428"/>
            </a:xfrm>
            <a:prstGeom prst="roundRect">
              <a:avLst>
                <a:gd name="adj" fmla="val 25575"/>
              </a:avLst>
            </a:prstGeom>
            <a:solidFill>
              <a:srgbClr val="FFFFFF"/>
            </a:solidFill>
            <a:ln w="13335">
              <a:solidFill>
                <a:srgbClr val="D9DFEA"/>
              </a:solidFill>
            </a:ln>
          </p:spPr>
        </p:sp>
        <p:sp>
          <p:nvSpPr>
            <p:cNvPr id="23" name="Rectangle 23"/>
            <p:cNvSpPr/>
            <p:nvPr/>
          </p:nvSpPr>
          <p:spPr>
            <a:xfrm>
              <a:off x="1899285" y="5234940"/>
              <a:ext cx="1434465" cy="372428"/>
            </a:xfrm>
            <a:prstGeom prst="roundRect">
              <a:avLst>
                <a:gd name="adj" fmla="val 25575"/>
              </a:avLst>
            </a:prstGeom>
            <a:solidFill>
              <a:srgbClr val="FFFFFF"/>
            </a:solidFill>
            <a:ln w="13335">
              <a:solidFill>
                <a:srgbClr val="D9DFEA"/>
              </a:solidFill>
            </a:ln>
          </p:spPr>
        </p:sp>
        <p:sp>
          <p:nvSpPr>
            <p:cNvPr id="24" name="Rectangle 24"/>
            <p:cNvSpPr/>
            <p:nvPr/>
          </p:nvSpPr>
          <p:spPr>
            <a:xfrm>
              <a:off x="1899285" y="5862638"/>
              <a:ext cx="1434465" cy="372428"/>
            </a:xfrm>
            <a:prstGeom prst="roundRect">
              <a:avLst>
                <a:gd name="adj" fmla="val 25575"/>
              </a:avLst>
            </a:prstGeom>
            <a:solidFill>
              <a:srgbClr val="FFFFFF"/>
            </a:solidFill>
            <a:ln w="13335">
              <a:solidFill>
                <a:srgbClr val="D9DFEA"/>
              </a:solidFill>
            </a:ln>
          </p:spPr>
        </p:sp>
        <p:sp>
          <p:nvSpPr>
            <p:cNvPr id="25" name="Rectangle 25"/>
            <p:cNvSpPr/>
            <p:nvPr/>
          </p:nvSpPr>
          <p:spPr>
            <a:xfrm>
              <a:off x="533400" y="4292918"/>
              <a:ext cx="946785" cy="372428"/>
            </a:xfrm>
            <a:prstGeom prst="roundRect">
              <a:avLst>
                <a:gd name="adj" fmla="val 25575"/>
              </a:avLst>
            </a:prstGeom>
            <a:solidFill>
              <a:srgbClr val="334E68"/>
            </a:solidFill>
            <a:ln>
              <a:noFill/>
            </a:ln>
          </p:spPr>
        </p:sp>
        <p:sp>
          <p:nvSpPr>
            <p:cNvPr id="26" name="TextBox 26"/>
            <p:cNvSpPr txBox="1"/>
            <p:nvPr/>
          </p:nvSpPr>
          <p:spPr>
            <a:xfrm>
              <a:off x="3841623" y="2192179"/>
              <a:ext cx="87452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标识符命名</a:t>
              </a:r>
            </a:p>
          </p:txBody>
        </p:sp>
        <p:sp>
          <p:nvSpPr>
            <p:cNvPr id="27" name="TextBox 27"/>
            <p:cNvSpPr txBox="1"/>
            <p:nvPr/>
          </p:nvSpPr>
          <p:spPr>
            <a:xfrm>
              <a:off x="3841623" y="2819876"/>
              <a:ext cx="87452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程序的注解</a:t>
              </a:r>
            </a:p>
          </p:txBody>
        </p:sp>
        <p:sp>
          <p:nvSpPr>
            <p:cNvPr id="28" name="TextBox 28"/>
            <p:cNvSpPr txBox="1"/>
            <p:nvPr/>
          </p:nvSpPr>
          <p:spPr>
            <a:xfrm>
              <a:off x="3841623" y="3448526"/>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视觉组织</a:t>
              </a:r>
            </a:p>
          </p:txBody>
        </p:sp>
        <p:sp>
          <p:nvSpPr>
            <p:cNvPr id="29" name="TextBox 29"/>
            <p:cNvSpPr txBox="1"/>
            <p:nvPr/>
          </p:nvSpPr>
          <p:spPr>
            <a:xfrm>
              <a:off x="1988058" y="2819876"/>
              <a:ext cx="1219149"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程序的内部文档</a:t>
              </a:r>
            </a:p>
          </p:txBody>
        </p:sp>
        <p:sp>
          <p:nvSpPr>
            <p:cNvPr id="30" name="TextBox 30"/>
            <p:cNvSpPr txBox="1"/>
            <p:nvPr/>
          </p:nvSpPr>
          <p:spPr>
            <a:xfrm>
              <a:off x="1988058" y="4076224"/>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数据说明</a:t>
              </a:r>
            </a:p>
          </p:txBody>
        </p:sp>
        <p:sp>
          <p:nvSpPr>
            <p:cNvPr id="31" name="TextBox 31"/>
            <p:cNvSpPr txBox="1"/>
            <p:nvPr/>
          </p:nvSpPr>
          <p:spPr>
            <a:xfrm>
              <a:off x="1988058" y="4703921"/>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语句构造</a:t>
              </a:r>
            </a:p>
          </p:txBody>
        </p:sp>
        <p:sp>
          <p:nvSpPr>
            <p:cNvPr id="32" name="TextBox 32"/>
            <p:cNvSpPr txBox="1"/>
            <p:nvPr/>
          </p:nvSpPr>
          <p:spPr>
            <a:xfrm>
              <a:off x="1988058" y="5331619"/>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输入／输出方法</a:t>
              </a:r>
            </a:p>
          </p:txBody>
        </p:sp>
        <p:sp>
          <p:nvSpPr>
            <p:cNvPr id="33" name="TextBox 33"/>
            <p:cNvSpPr txBox="1"/>
            <p:nvPr/>
          </p:nvSpPr>
          <p:spPr>
            <a:xfrm>
              <a:off x="1988058" y="5959316"/>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效率问题</a:t>
              </a:r>
            </a:p>
          </p:txBody>
        </p:sp>
        <p:sp>
          <p:nvSpPr>
            <p:cNvPr id="34" name="TextBox 34"/>
            <p:cNvSpPr txBox="1"/>
            <p:nvPr/>
          </p:nvSpPr>
          <p:spPr>
            <a:xfrm>
              <a:off x="622173" y="4389596"/>
              <a:ext cx="702208"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编码风格</a:t>
              </a:r>
            </a:p>
          </p:txBody>
        </p:sp>
      </p:grpSp>
      <p:grpSp>
        <p:nvGrpSpPr>
          <p:cNvPr id="50" name="c2-card-1"/>
          <p:cNvGrpSpPr/>
          <p:nvPr/>
        </p:nvGrpSpPr>
        <p:grpSpPr>
          <a:xfrm>
            <a:off x="5166360" y="1967865"/>
            <a:ext cx="6492240" cy="2962275"/>
            <a:chOff x="5166360" y="1967865"/>
            <a:chExt cx="6492240" cy="2962275"/>
          </a:xfrm>
        </p:grpSpPr>
        <p:sp>
          <p:nvSpPr>
            <p:cNvPr id="36" name="Rectangle 36"/>
            <p:cNvSpPr/>
            <p:nvPr/>
          </p:nvSpPr>
          <p:spPr>
            <a:xfrm>
              <a:off x="5166360" y="1967865"/>
              <a:ext cx="6492240" cy="2962275"/>
            </a:xfrm>
            <a:prstGeom prst="roundRect">
              <a:avLst>
                <a:gd name="adj" fmla="val 4502"/>
              </a:avLst>
            </a:prstGeom>
            <a:solidFill>
              <a:srgbClr val="FFFFFF"/>
            </a:solidFill>
            <a:ln w="14288">
              <a:solidFill>
                <a:srgbClr val="D9DFEA"/>
              </a:solidFill>
            </a:ln>
          </p:spPr>
        </p:sp>
        <p:sp>
          <p:nvSpPr>
            <p:cNvPr id="37" name="Rectangle 37"/>
            <p:cNvSpPr/>
            <p:nvPr/>
          </p:nvSpPr>
          <p:spPr>
            <a:xfrm>
              <a:off x="5175885" y="2101215"/>
              <a:ext cx="47625" cy="2695575"/>
            </a:xfrm>
            <a:prstGeom prst="roundRect">
              <a:avLst>
                <a:gd name="adj" fmla="val 50000"/>
              </a:avLst>
            </a:prstGeom>
            <a:solidFill>
              <a:srgbClr val="334E68"/>
            </a:solidFill>
            <a:ln>
              <a:noFill/>
            </a:ln>
          </p:spPr>
        </p:sp>
        <p:sp>
          <p:nvSpPr>
            <p:cNvPr id="38" name="Rectangle 38"/>
            <p:cNvSpPr/>
            <p:nvPr/>
          </p:nvSpPr>
          <p:spPr>
            <a:xfrm>
              <a:off x="5414010" y="2177415"/>
              <a:ext cx="778192" cy="257175"/>
            </a:xfrm>
            <a:prstGeom prst="roundRect">
              <a:avLst>
                <a:gd name="adj" fmla="val 50000"/>
              </a:avLst>
            </a:prstGeom>
            <a:solidFill>
              <a:srgbClr val="E7EDF3"/>
            </a:solidFill>
            <a:ln>
              <a:noFill/>
            </a:ln>
          </p:spPr>
        </p:sp>
        <p:sp>
          <p:nvSpPr>
            <p:cNvPr id="39" name="TextBox 39"/>
            <p:cNvSpPr txBox="1"/>
            <p:nvPr/>
          </p:nvSpPr>
          <p:spPr>
            <a:xfrm>
              <a:off x="5496319" y="2213134"/>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内部文档</a:t>
              </a:r>
            </a:p>
          </p:txBody>
        </p:sp>
        <p:sp>
          <p:nvSpPr>
            <p:cNvPr id="40" name="TextBox 40"/>
            <p:cNvSpPr txBox="1"/>
            <p:nvPr/>
          </p:nvSpPr>
          <p:spPr>
            <a:xfrm>
              <a:off x="6298883" y="2212658"/>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标识符的命名</a:t>
              </a:r>
            </a:p>
          </p:txBody>
        </p:sp>
        <p:sp>
          <p:nvSpPr>
            <p:cNvPr id="41" name="TextBox 41"/>
            <p:cNvSpPr txBox="1"/>
            <p:nvPr/>
          </p:nvSpPr>
          <p:spPr>
            <a:xfrm>
              <a:off x="5406390" y="2573655"/>
              <a:ext cx="553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标识符即符号名，包括模块名、变量名、常量名、标号名、子程序</a:t>
              </a:r>
              <a:br/>
              <a:r>
                <a:rPr lang="zh-CN" sz="1500" dirty="0">
                  <a:solidFill>
                    <a:srgbClr val="1F2937"/>
                  </a:solidFill>
                  <a:latin typeface="+mn-lt"/>
                  <a:ea typeface="+mn-ea"/>
                  <a:cs typeface="+mn-cs"/>
                </a:rPr>
                <a:t>名、数据区名以及缓冲区名。</a:t>
              </a:r>
            </a:p>
          </p:txBody>
        </p:sp>
        <p:sp>
          <p:nvSpPr>
            <p:cNvPr id="42" name="Ellipse 42"/>
            <p:cNvSpPr/>
            <p:nvPr/>
          </p:nvSpPr>
          <p:spPr>
            <a:xfrm>
              <a:off x="5419725" y="3257550"/>
              <a:ext cx="64770" cy="64770"/>
            </a:xfrm>
            <a:prstGeom prst="ellipse">
              <a:avLst/>
            </a:prstGeom>
            <a:solidFill>
              <a:srgbClr val="334E68"/>
            </a:solidFill>
            <a:ln>
              <a:noFill/>
            </a:ln>
          </p:spPr>
        </p:sp>
        <p:sp>
          <p:nvSpPr>
            <p:cNvPr id="43" name="TextBox 43"/>
            <p:cNvSpPr txBox="1"/>
            <p:nvPr/>
          </p:nvSpPr>
          <p:spPr>
            <a:xfrm>
              <a:off x="5577840" y="3194685"/>
              <a:ext cx="55016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名字要能反映它代表的实际东西：次数用 </a:t>
              </a:r>
              <a:r>
                <a:rPr lang="en-US" sz="1500" dirty="0">
                  <a:solidFill>
                    <a:srgbClr val="243B53"/>
                  </a:solidFill>
                  <a:latin typeface="+mn-lt"/>
                  <a:ea typeface="+mn-ea"/>
                  <a:cs typeface="+mn-cs"/>
                </a:rPr>
                <a:t>Times</a:t>
              </a:r>
              <a:r>
                <a:rPr lang="zh-CN" sz="1500" dirty="0">
                  <a:solidFill>
                    <a:srgbClr val="1F2937"/>
                  </a:solidFill>
                  <a:latin typeface="+mn-lt"/>
                  <a:ea typeface="+mn-ea"/>
                  <a:cs typeface="+mn-cs"/>
                </a:rPr>
                <a:t xml:space="preserve">、总量用 </a:t>
              </a:r>
              <a:r>
                <a:rPr lang="en-US" sz="1500" dirty="0">
                  <a:solidFill>
                    <a:srgbClr val="243B53"/>
                  </a:solidFill>
                  <a:latin typeface="+mn-lt"/>
                  <a:ea typeface="+mn-ea"/>
                  <a:cs typeface="+mn-cs"/>
                </a:rPr>
                <a:t>Total</a:t>
              </a:r>
              <a:r>
                <a:rPr lang="zh-CN" sz="1500" dirty="0">
                  <a:solidFill>
                    <a:srgbClr val="1F2937"/>
                  </a:solidFill>
                  <a:latin typeface="+mn-lt"/>
                  <a:ea typeface="+mn-ea"/>
                  <a:cs typeface="+mn-cs"/>
                </a:rPr>
                <a:t>、</a:t>
              </a:r>
              <a:br/>
              <a:r>
                <a:rPr lang="zh-CN" sz="1500" dirty="0">
                  <a:solidFill>
                    <a:srgbClr val="1F2937"/>
                  </a:solidFill>
                  <a:latin typeface="+mn-lt"/>
                  <a:ea typeface="+mn-ea"/>
                  <a:cs typeface="+mn-cs"/>
                </a:rPr>
                <a:t xml:space="preserve">平均值用 </a:t>
              </a:r>
              <a:r>
                <a:rPr lang="en-US" sz="1500" dirty="0">
                  <a:solidFill>
                    <a:srgbClr val="243B53"/>
                  </a:solidFill>
                  <a:latin typeface="+mn-lt"/>
                  <a:ea typeface="+mn-ea"/>
                  <a:cs typeface="+mn-cs"/>
                </a:rPr>
                <a:t>Average</a:t>
              </a:r>
              <a:r>
                <a:rPr lang="zh-CN" sz="1500" dirty="0">
                  <a:solidFill>
                    <a:srgbClr val="1F2937"/>
                  </a:solidFill>
                  <a:latin typeface="+mn-lt"/>
                  <a:ea typeface="+mn-ea"/>
                  <a:cs typeface="+mn-cs"/>
                </a:rPr>
                <a:t xml:space="preserve">、和用 </a:t>
              </a:r>
              <a:r>
                <a:rPr lang="en-US" sz="1500" dirty="0">
                  <a:solidFill>
                    <a:srgbClr val="243B53"/>
                  </a:solidFill>
                  <a:latin typeface="+mn-lt"/>
                  <a:ea typeface="+mn-ea"/>
                  <a:cs typeface="+mn-cs"/>
                </a:rPr>
                <a:t>Sum</a:t>
              </a:r>
            </a:p>
          </p:txBody>
        </p:sp>
        <p:sp>
          <p:nvSpPr>
            <p:cNvPr id="44" name="Ellipse 44"/>
            <p:cNvSpPr/>
            <p:nvPr/>
          </p:nvSpPr>
          <p:spPr>
            <a:xfrm>
              <a:off x="5419725" y="3878580"/>
              <a:ext cx="64770" cy="64770"/>
            </a:xfrm>
            <a:prstGeom prst="ellipse">
              <a:avLst/>
            </a:prstGeom>
            <a:solidFill>
              <a:srgbClr val="334E68"/>
            </a:solidFill>
            <a:ln>
              <a:noFill/>
            </a:ln>
          </p:spPr>
        </p:sp>
        <p:sp>
          <p:nvSpPr>
            <p:cNvPr id="45" name="TextBox 45"/>
            <p:cNvSpPr txBox="1"/>
            <p:nvPr/>
          </p:nvSpPr>
          <p:spPr>
            <a:xfrm>
              <a:off x="5577840" y="3815715"/>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名字不是越长越好，选精炼而意义明确的</a:t>
              </a:r>
            </a:p>
          </p:txBody>
        </p:sp>
        <p:sp>
          <p:nvSpPr>
            <p:cNvPr id="46" name="Ellipse 46"/>
            <p:cNvSpPr/>
            <p:nvPr/>
          </p:nvSpPr>
          <p:spPr>
            <a:xfrm>
              <a:off x="5419725" y="4213860"/>
              <a:ext cx="64770" cy="64770"/>
            </a:xfrm>
            <a:prstGeom prst="ellipse">
              <a:avLst/>
            </a:prstGeom>
            <a:solidFill>
              <a:srgbClr val="334E68"/>
            </a:solidFill>
            <a:ln>
              <a:noFill/>
            </a:ln>
          </p:spPr>
        </p:sp>
        <p:sp>
          <p:nvSpPr>
            <p:cNvPr id="47" name="TextBox 47"/>
            <p:cNvSpPr txBox="1"/>
            <p:nvPr/>
          </p:nvSpPr>
          <p:spPr>
            <a:xfrm>
              <a:off x="5577840" y="4150995"/>
              <a:ext cx="50634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必要时才用缩写，缩写规则要一致，并给每个名字加注释</a:t>
              </a:r>
            </a:p>
          </p:txBody>
        </p:sp>
        <p:sp>
          <p:nvSpPr>
            <p:cNvPr id="48" name="Ellipse 48"/>
            <p:cNvSpPr/>
            <p:nvPr/>
          </p:nvSpPr>
          <p:spPr>
            <a:xfrm>
              <a:off x="5419725" y="4549140"/>
              <a:ext cx="64770" cy="64770"/>
            </a:xfrm>
            <a:prstGeom prst="ellipse">
              <a:avLst/>
            </a:prstGeom>
            <a:solidFill>
              <a:srgbClr val="334E68"/>
            </a:solidFill>
            <a:ln>
              <a:noFill/>
            </a:ln>
          </p:spPr>
        </p:sp>
        <p:sp>
          <p:nvSpPr>
            <p:cNvPr id="49" name="TextBox 49"/>
            <p:cNvSpPr txBox="1"/>
            <p:nvPr/>
          </p:nvSpPr>
          <p:spPr>
            <a:xfrm>
              <a:off x="5577840" y="4486275"/>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在一个程序中，一个变量只用于一种用途</a:t>
              </a:r>
            </a:p>
          </p:txBody>
        </p:sp>
      </p:grpSp>
      <p:grpSp>
        <p:nvGrpSpPr>
          <p:cNvPr id="56" name="c2-callout-2"/>
          <p:cNvGrpSpPr/>
          <p:nvPr/>
        </p:nvGrpSpPr>
        <p:grpSpPr>
          <a:xfrm>
            <a:off x="5166360" y="5120640"/>
            <a:ext cx="6492240" cy="533400"/>
            <a:chOff x="5166360" y="5120640"/>
            <a:chExt cx="6492240" cy="533400"/>
          </a:xfrm>
        </p:grpSpPr>
        <p:sp>
          <p:nvSpPr>
            <p:cNvPr id="51" name="Rectangle 51"/>
            <p:cNvSpPr/>
            <p:nvPr/>
          </p:nvSpPr>
          <p:spPr>
            <a:xfrm>
              <a:off x="5166360" y="5120640"/>
              <a:ext cx="6492240" cy="533400"/>
            </a:xfrm>
            <a:prstGeom prst="roundRect">
              <a:avLst>
                <a:gd name="adj" fmla="val 21429"/>
              </a:avLst>
            </a:prstGeom>
            <a:solidFill>
              <a:srgbClr val="334E68"/>
            </a:solidFill>
            <a:ln>
              <a:noFill/>
            </a:ln>
          </p:spPr>
        </p:sp>
        <p:grpSp>
          <p:nvGrpSpPr>
            <p:cNvPr id="54" name="Group 54"/>
            <p:cNvGrpSpPr/>
            <p:nvPr/>
          </p:nvGrpSpPr>
          <p:grpSpPr>
            <a:xfrm>
              <a:off x="5371148" y="5287330"/>
              <a:ext cx="200023" cy="200023"/>
              <a:chOff x="5371148" y="5287330"/>
              <a:chExt cx="200023" cy="200023"/>
            </a:xfrm>
          </p:grpSpPr>
          <p:sp>
            <p:nvSpPr>
              <p:cNvPr id="52" name="Freeform 52"/>
              <p:cNvSpPr/>
              <p:nvPr/>
            </p:nvSpPr>
            <p:spPr>
              <a:xfrm>
                <a:off x="5371148" y="528733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3" name="Freeform 53"/>
              <p:cNvSpPr/>
              <p:nvPr/>
            </p:nvSpPr>
            <p:spPr>
              <a:xfrm>
                <a:off x="5504498" y="535400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5" name="TextBox 55"/>
            <p:cNvSpPr txBox="1"/>
            <p:nvPr/>
          </p:nvSpPr>
          <p:spPr>
            <a:xfrm>
              <a:off x="5673090" y="5282565"/>
              <a:ext cx="5285613"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一个变量兼做两件事，是后面所有“改一处崩一片”的开始。</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8" name="TextBox 58"/>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注释分序言性和功能性两种</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6073140" cy="293370"/>
            <a:chOff x="525780" y="1548765"/>
            <a:chExt cx="6073140" cy="293370"/>
          </a:xfrm>
        </p:grpSpPr>
        <p:sp>
          <p:nvSpPr>
            <p:cNvPr id="7" name="TextBox 7"/>
            <p:cNvSpPr txBox="1"/>
            <p:nvPr/>
          </p:nvSpPr>
          <p:spPr>
            <a:xfrm>
              <a:off x="525780" y="1548765"/>
              <a:ext cx="607314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正规的程序文本里，注释行常占整个源程序的三分之一到二分之一。</a:t>
              </a:r>
            </a:p>
          </p:txBody>
        </p:sp>
      </p:grpSp>
      <p:grpSp>
        <p:nvGrpSpPr>
          <p:cNvPr id="35" name="c1-card-1"/>
          <p:cNvGrpSpPr/>
          <p:nvPr/>
        </p:nvGrpSpPr>
        <p:grpSpPr>
          <a:xfrm>
            <a:off x="533400" y="1954530"/>
            <a:ext cx="5410200" cy="4304348"/>
            <a:chOff x="533400" y="1954530"/>
            <a:chExt cx="5410200" cy="4304348"/>
          </a:xfrm>
        </p:grpSpPr>
        <p:sp>
          <p:nvSpPr>
            <p:cNvPr id="9" name="Rectangle 9"/>
            <p:cNvSpPr/>
            <p:nvPr/>
          </p:nvSpPr>
          <p:spPr>
            <a:xfrm>
              <a:off x="533400" y="1954530"/>
              <a:ext cx="5410200" cy="4304348"/>
            </a:xfrm>
            <a:prstGeom prst="roundRect">
              <a:avLst>
                <a:gd name="adj" fmla="val 3098"/>
              </a:avLst>
            </a:prstGeom>
            <a:solidFill>
              <a:srgbClr val="FFFFFF"/>
            </a:solidFill>
            <a:ln w="14288">
              <a:solidFill>
                <a:srgbClr val="D9DFEA"/>
              </a:solidFill>
            </a:ln>
          </p:spPr>
        </p:sp>
        <p:sp>
          <p:nvSpPr>
            <p:cNvPr id="10" name="Rectangle 10"/>
            <p:cNvSpPr/>
            <p:nvPr/>
          </p:nvSpPr>
          <p:spPr>
            <a:xfrm>
              <a:off x="542925" y="2087880"/>
              <a:ext cx="47625" cy="4037648"/>
            </a:xfrm>
            <a:prstGeom prst="roundRect">
              <a:avLst>
                <a:gd name="adj" fmla="val 50000"/>
              </a:avLst>
            </a:prstGeom>
            <a:solidFill>
              <a:srgbClr val="334E68"/>
            </a:solidFill>
            <a:ln>
              <a:noFill/>
            </a:ln>
          </p:spPr>
        </p:sp>
        <p:sp>
          <p:nvSpPr>
            <p:cNvPr id="11" name="Rectangle 11"/>
            <p:cNvSpPr/>
            <p:nvPr/>
          </p:nvSpPr>
          <p:spPr>
            <a:xfrm>
              <a:off x="769620" y="2152650"/>
              <a:ext cx="876300" cy="247650"/>
            </a:xfrm>
            <a:prstGeom prst="roundRect">
              <a:avLst>
                <a:gd name="adj" fmla="val 50000"/>
              </a:avLst>
            </a:prstGeom>
            <a:solidFill>
              <a:srgbClr val="E7EDF3"/>
            </a:solidFill>
            <a:ln>
              <a:noFill/>
            </a:ln>
          </p:spPr>
        </p:sp>
        <p:sp>
          <p:nvSpPr>
            <p:cNvPr id="12" name="TextBox 12"/>
            <p:cNvSpPr txBox="1"/>
            <p:nvPr/>
          </p:nvSpPr>
          <p:spPr>
            <a:xfrm>
              <a:off x="849058" y="2186940"/>
              <a:ext cx="717423"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序言性注释</a:t>
              </a:r>
            </a:p>
          </p:txBody>
        </p:sp>
        <p:sp>
          <p:nvSpPr>
            <p:cNvPr id="13" name="TextBox 13"/>
            <p:cNvSpPr txBox="1"/>
            <p:nvPr/>
          </p:nvSpPr>
          <p:spPr>
            <a:xfrm>
              <a:off x="1752981" y="2187416"/>
              <a:ext cx="249956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放在每个模块开头，说明整体</a:t>
              </a:r>
            </a:p>
          </p:txBody>
        </p:sp>
        <p:sp>
          <p:nvSpPr>
            <p:cNvPr id="14" name="Ellipse 14"/>
            <p:cNvSpPr/>
            <p:nvPr/>
          </p:nvSpPr>
          <p:spPr>
            <a:xfrm>
              <a:off x="769620" y="2519362"/>
              <a:ext cx="201930" cy="201930"/>
            </a:xfrm>
            <a:prstGeom prst="ellipse">
              <a:avLst/>
            </a:prstGeom>
            <a:solidFill>
              <a:srgbClr val="334E68"/>
            </a:solidFill>
            <a:ln>
              <a:noFill/>
            </a:ln>
          </p:spPr>
        </p:sp>
        <p:sp>
          <p:nvSpPr>
            <p:cNvPr id="15" name="TextBox 15"/>
            <p:cNvSpPr txBox="1"/>
            <p:nvPr/>
          </p:nvSpPr>
          <p:spPr>
            <a:xfrm>
              <a:off x="827965" y="255874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6" name="TextBox 16"/>
            <p:cNvSpPr txBox="1"/>
            <p:nvPr/>
          </p:nvSpPr>
          <p:spPr>
            <a:xfrm>
              <a:off x="1060514" y="2531269"/>
              <a:ext cx="77912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程序标题</a:t>
              </a:r>
            </a:p>
          </p:txBody>
        </p:sp>
        <p:sp>
          <p:nvSpPr>
            <p:cNvPr id="17" name="Ellipse 17"/>
            <p:cNvSpPr/>
            <p:nvPr/>
          </p:nvSpPr>
          <p:spPr>
            <a:xfrm>
              <a:off x="769620" y="2836545"/>
              <a:ext cx="201930" cy="201930"/>
            </a:xfrm>
            <a:prstGeom prst="ellipse">
              <a:avLst/>
            </a:prstGeom>
            <a:solidFill>
              <a:srgbClr val="334E68"/>
            </a:solidFill>
            <a:ln>
              <a:noFill/>
            </a:ln>
          </p:spPr>
        </p:sp>
        <p:sp>
          <p:nvSpPr>
            <p:cNvPr id="18" name="TextBox 18"/>
            <p:cNvSpPr txBox="1"/>
            <p:nvPr/>
          </p:nvSpPr>
          <p:spPr>
            <a:xfrm>
              <a:off x="827965" y="287688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9" name="TextBox 19"/>
            <p:cNvSpPr txBox="1"/>
            <p:nvPr/>
          </p:nvSpPr>
          <p:spPr>
            <a:xfrm>
              <a:off x="1060514" y="2849404"/>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本模块的功能和目的</a:t>
              </a:r>
            </a:p>
          </p:txBody>
        </p:sp>
        <p:sp>
          <p:nvSpPr>
            <p:cNvPr id="20" name="Ellipse 20"/>
            <p:cNvSpPr/>
            <p:nvPr/>
          </p:nvSpPr>
          <p:spPr>
            <a:xfrm>
              <a:off x="769620" y="3154680"/>
              <a:ext cx="201930" cy="201930"/>
            </a:xfrm>
            <a:prstGeom prst="ellipse">
              <a:avLst/>
            </a:prstGeom>
            <a:solidFill>
              <a:srgbClr val="334E68"/>
            </a:solidFill>
            <a:ln>
              <a:noFill/>
            </a:ln>
          </p:spPr>
        </p:sp>
        <p:sp>
          <p:nvSpPr>
            <p:cNvPr id="21" name="TextBox 21"/>
            <p:cNvSpPr txBox="1"/>
            <p:nvPr/>
          </p:nvSpPr>
          <p:spPr>
            <a:xfrm>
              <a:off x="827965" y="319406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22" name="TextBox 22"/>
            <p:cNvSpPr txBox="1"/>
            <p:nvPr/>
          </p:nvSpPr>
          <p:spPr>
            <a:xfrm>
              <a:off x="1060514" y="3166586"/>
              <a:ext cx="77912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主要算法</a:t>
              </a:r>
            </a:p>
          </p:txBody>
        </p:sp>
        <p:sp>
          <p:nvSpPr>
            <p:cNvPr id="23" name="Ellipse 23"/>
            <p:cNvSpPr/>
            <p:nvPr/>
          </p:nvSpPr>
          <p:spPr>
            <a:xfrm>
              <a:off x="769620" y="3471862"/>
              <a:ext cx="201930" cy="201930"/>
            </a:xfrm>
            <a:prstGeom prst="ellipse">
              <a:avLst/>
            </a:prstGeom>
            <a:solidFill>
              <a:srgbClr val="334E68"/>
            </a:solidFill>
            <a:ln>
              <a:noFill/>
            </a:ln>
          </p:spPr>
        </p:sp>
        <p:sp>
          <p:nvSpPr>
            <p:cNvPr id="24" name="TextBox 24"/>
            <p:cNvSpPr txBox="1"/>
            <p:nvPr/>
          </p:nvSpPr>
          <p:spPr>
            <a:xfrm>
              <a:off x="827965" y="351220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25" name="TextBox 25"/>
            <p:cNvSpPr txBox="1"/>
            <p:nvPr/>
          </p:nvSpPr>
          <p:spPr>
            <a:xfrm>
              <a:off x="1060514" y="3484721"/>
              <a:ext cx="383768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接口说明：调用形式、参数描述、子程序清单</a:t>
              </a:r>
            </a:p>
          </p:txBody>
        </p:sp>
        <p:sp>
          <p:nvSpPr>
            <p:cNvPr id="26" name="Ellipse 26"/>
            <p:cNvSpPr/>
            <p:nvPr/>
          </p:nvSpPr>
          <p:spPr>
            <a:xfrm>
              <a:off x="769620" y="3789998"/>
              <a:ext cx="201930" cy="201930"/>
            </a:xfrm>
            <a:prstGeom prst="ellipse">
              <a:avLst/>
            </a:prstGeom>
            <a:solidFill>
              <a:srgbClr val="334E68"/>
            </a:solidFill>
            <a:ln>
              <a:noFill/>
            </a:ln>
          </p:spPr>
        </p:sp>
        <p:sp>
          <p:nvSpPr>
            <p:cNvPr id="27" name="TextBox 27"/>
            <p:cNvSpPr txBox="1"/>
            <p:nvPr/>
          </p:nvSpPr>
          <p:spPr>
            <a:xfrm>
              <a:off x="827965" y="383033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5</a:t>
              </a:r>
            </a:p>
          </p:txBody>
        </p:sp>
        <p:sp>
          <p:nvSpPr>
            <p:cNvPr id="28" name="TextBox 28"/>
            <p:cNvSpPr txBox="1"/>
            <p:nvPr/>
          </p:nvSpPr>
          <p:spPr>
            <a:xfrm>
              <a:off x="1060514" y="3801904"/>
              <a:ext cx="402884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数据描述：重要变量及其用途、约束或限制条件</a:t>
              </a:r>
            </a:p>
          </p:txBody>
        </p:sp>
        <p:sp>
          <p:nvSpPr>
            <p:cNvPr id="29" name="Ellipse 29"/>
            <p:cNvSpPr/>
            <p:nvPr/>
          </p:nvSpPr>
          <p:spPr>
            <a:xfrm>
              <a:off x="769620" y="4108132"/>
              <a:ext cx="201930" cy="201930"/>
            </a:xfrm>
            <a:prstGeom prst="ellipse">
              <a:avLst/>
            </a:prstGeom>
            <a:solidFill>
              <a:srgbClr val="334E68"/>
            </a:solidFill>
            <a:ln>
              <a:noFill/>
            </a:ln>
          </p:spPr>
        </p:sp>
        <p:sp>
          <p:nvSpPr>
            <p:cNvPr id="30" name="TextBox 30"/>
            <p:cNvSpPr txBox="1"/>
            <p:nvPr/>
          </p:nvSpPr>
          <p:spPr>
            <a:xfrm>
              <a:off x="827965" y="414751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6</a:t>
              </a:r>
            </a:p>
          </p:txBody>
        </p:sp>
        <p:sp>
          <p:nvSpPr>
            <p:cNvPr id="31" name="TextBox 31"/>
            <p:cNvSpPr txBox="1"/>
            <p:nvPr/>
          </p:nvSpPr>
          <p:spPr>
            <a:xfrm>
              <a:off x="1060514" y="4120039"/>
              <a:ext cx="422000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模块位置：在哪个源文件中，或隶属于哪个软件包</a:t>
              </a:r>
            </a:p>
          </p:txBody>
        </p:sp>
        <p:sp>
          <p:nvSpPr>
            <p:cNvPr id="32" name="Ellipse 32"/>
            <p:cNvSpPr/>
            <p:nvPr/>
          </p:nvSpPr>
          <p:spPr>
            <a:xfrm>
              <a:off x="769620" y="4425315"/>
              <a:ext cx="201930" cy="201930"/>
            </a:xfrm>
            <a:prstGeom prst="ellipse">
              <a:avLst/>
            </a:prstGeom>
            <a:solidFill>
              <a:srgbClr val="334E68"/>
            </a:solidFill>
            <a:ln>
              <a:noFill/>
            </a:ln>
          </p:spPr>
        </p:sp>
        <p:sp>
          <p:nvSpPr>
            <p:cNvPr id="33" name="TextBox 33"/>
            <p:cNvSpPr txBox="1"/>
            <p:nvPr/>
          </p:nvSpPr>
          <p:spPr>
            <a:xfrm>
              <a:off x="827965" y="446565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7</a:t>
              </a:r>
            </a:p>
          </p:txBody>
        </p:sp>
        <p:sp>
          <p:nvSpPr>
            <p:cNvPr id="34" name="TextBox 34"/>
            <p:cNvSpPr txBox="1"/>
            <p:nvPr/>
          </p:nvSpPr>
          <p:spPr>
            <a:xfrm>
              <a:off x="1060514" y="4438174"/>
              <a:ext cx="422000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开发简历：设计者、复审者、复审日期、修改日期</a:t>
              </a:r>
            </a:p>
          </p:txBody>
        </p:sp>
      </p:grpSp>
      <p:grpSp>
        <p:nvGrpSpPr>
          <p:cNvPr id="43" name="c2-card-1"/>
          <p:cNvGrpSpPr/>
          <p:nvPr/>
        </p:nvGrpSpPr>
        <p:grpSpPr>
          <a:xfrm>
            <a:off x="6248400" y="1954530"/>
            <a:ext cx="5410200" cy="1547812"/>
            <a:chOff x="6248400" y="1954530"/>
            <a:chExt cx="5410200" cy="1547812"/>
          </a:xfrm>
        </p:grpSpPr>
        <p:sp>
          <p:nvSpPr>
            <p:cNvPr id="36" name="Rectangle 36"/>
            <p:cNvSpPr/>
            <p:nvPr/>
          </p:nvSpPr>
          <p:spPr>
            <a:xfrm>
              <a:off x="6248400" y="1954530"/>
              <a:ext cx="5410200" cy="1547812"/>
            </a:xfrm>
            <a:prstGeom prst="roundRect">
              <a:avLst>
                <a:gd name="adj" fmla="val 8615"/>
              </a:avLst>
            </a:prstGeom>
            <a:solidFill>
              <a:srgbClr val="FFFFFF"/>
            </a:solidFill>
            <a:ln w="14288">
              <a:solidFill>
                <a:srgbClr val="D9DFEA"/>
              </a:solidFill>
            </a:ln>
          </p:spPr>
        </p:sp>
        <p:sp>
          <p:nvSpPr>
            <p:cNvPr id="37" name="Rectangle 37"/>
            <p:cNvSpPr/>
            <p:nvPr/>
          </p:nvSpPr>
          <p:spPr>
            <a:xfrm>
              <a:off x="6257925" y="2087880"/>
              <a:ext cx="47625" cy="1281112"/>
            </a:xfrm>
            <a:prstGeom prst="roundRect">
              <a:avLst>
                <a:gd name="adj" fmla="val 50000"/>
              </a:avLst>
            </a:prstGeom>
            <a:solidFill>
              <a:srgbClr val="334E68"/>
            </a:solidFill>
            <a:ln>
              <a:noFill/>
            </a:ln>
          </p:spPr>
        </p:sp>
        <p:sp>
          <p:nvSpPr>
            <p:cNvPr id="38" name="Rectangle 38"/>
            <p:cNvSpPr/>
            <p:nvPr/>
          </p:nvSpPr>
          <p:spPr>
            <a:xfrm>
              <a:off x="6484620" y="2152650"/>
              <a:ext cx="876300" cy="247650"/>
            </a:xfrm>
            <a:prstGeom prst="roundRect">
              <a:avLst>
                <a:gd name="adj" fmla="val 50000"/>
              </a:avLst>
            </a:prstGeom>
            <a:solidFill>
              <a:srgbClr val="E7EDF3"/>
            </a:solidFill>
            <a:ln>
              <a:noFill/>
            </a:ln>
          </p:spPr>
        </p:sp>
        <p:sp>
          <p:nvSpPr>
            <p:cNvPr id="39" name="TextBox 39"/>
            <p:cNvSpPr txBox="1"/>
            <p:nvPr/>
          </p:nvSpPr>
          <p:spPr>
            <a:xfrm>
              <a:off x="6564058" y="2186940"/>
              <a:ext cx="717423"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功能性注释</a:t>
              </a:r>
            </a:p>
          </p:txBody>
        </p:sp>
        <p:sp>
          <p:nvSpPr>
            <p:cNvPr id="40" name="TextBox 40"/>
            <p:cNvSpPr txBox="1"/>
            <p:nvPr/>
          </p:nvSpPr>
          <p:spPr>
            <a:xfrm>
              <a:off x="7467981" y="2187416"/>
              <a:ext cx="307304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嵌在程序体中，说明这一段在做什么</a:t>
              </a:r>
            </a:p>
          </p:txBody>
        </p:sp>
        <p:sp>
          <p:nvSpPr>
            <p:cNvPr id="41" name="TextBox 41"/>
            <p:cNvSpPr txBox="1"/>
            <p:nvPr/>
          </p:nvSpPr>
          <p:spPr>
            <a:xfrm>
              <a:off x="6477381" y="253126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描述其后的语句或程序段在做什么工作，或者执行完会得到</a:t>
              </a:r>
              <a:br/>
              <a:r>
                <a:rPr lang="zh-CN" sz="1420" dirty="0">
                  <a:solidFill>
                    <a:srgbClr val="1F2937"/>
                  </a:solidFill>
                  <a:latin typeface="+mn-lt"/>
                  <a:ea typeface="+mn-ea"/>
                  <a:cs typeface="+mn-cs"/>
                </a:rPr>
                <a:t>什么结果。</a:t>
              </a:r>
            </a:p>
          </p:txBody>
        </p:sp>
        <p:sp>
          <p:nvSpPr>
            <p:cNvPr id="42" name="TextBox 42"/>
            <p:cNvSpPr txBox="1"/>
            <p:nvPr/>
          </p:nvSpPr>
          <p:spPr>
            <a:xfrm>
              <a:off x="6478524" y="3116580"/>
              <a:ext cx="2919984"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不要解释下面怎么做，那是代码本身的事</a:t>
              </a:r>
            </a:p>
          </p:txBody>
        </p:sp>
      </p:grpSp>
      <p:grpSp>
        <p:nvGrpSpPr>
          <p:cNvPr id="47" name="c2-code-2"/>
          <p:cNvGrpSpPr/>
          <p:nvPr/>
        </p:nvGrpSpPr>
        <p:grpSpPr>
          <a:xfrm>
            <a:off x="6248400" y="3682365"/>
            <a:ext cx="5410200" cy="1640205"/>
            <a:chOff x="6248400" y="3682365"/>
            <a:chExt cx="5410200" cy="1640205"/>
          </a:xfrm>
        </p:grpSpPr>
        <p:sp>
          <p:nvSpPr>
            <p:cNvPr id="44" name="Rectangle 44"/>
            <p:cNvSpPr/>
            <p:nvPr/>
          </p:nvSpPr>
          <p:spPr>
            <a:xfrm>
              <a:off x="6248400" y="3682365"/>
              <a:ext cx="5410200" cy="1640205"/>
            </a:xfrm>
            <a:prstGeom prst="roundRect">
              <a:avLst>
                <a:gd name="adj" fmla="val 5807"/>
              </a:avLst>
            </a:prstGeom>
            <a:solidFill>
              <a:srgbClr val="F6F8FA"/>
            </a:solidFill>
            <a:ln w="11430">
              <a:solidFill>
                <a:srgbClr val="D9DFEA"/>
              </a:solidFill>
            </a:ln>
          </p:spPr>
        </p:sp>
        <p:sp>
          <p:nvSpPr>
            <p:cNvPr id="45" name="TextBox 45"/>
            <p:cNvSpPr txBox="1"/>
            <p:nvPr/>
          </p:nvSpPr>
          <p:spPr>
            <a:xfrm>
              <a:off x="6376797" y="3834289"/>
              <a:ext cx="1329182"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同一段代码的两种注释</a:t>
              </a:r>
            </a:p>
          </p:txBody>
        </p:sp>
        <p:sp>
          <p:nvSpPr>
            <p:cNvPr id="46" name="TextBox 46"/>
            <p:cNvSpPr txBox="1"/>
            <p:nvPr/>
          </p:nvSpPr>
          <p:spPr>
            <a:xfrm>
              <a:off x="6376416" y="4095750"/>
              <a:ext cx="2430971" cy="1153096"/>
            </a:xfrm>
            <a:prstGeom prst="rect">
              <a:avLst/>
            </a:prstGeom>
            <a:noFill/>
            <a:ln>
              <a:noFill/>
            </a:ln>
          </p:spPr>
          <p:txBody>
            <a:bodyPr wrap="none" lIns="0" tIns="0" rIns="0" bIns="0" anchor="t" anchorCtr="0">
              <a:spAutoFit/>
            </a:bodyPr>
            <a:lstStyle/>
            <a:p>
              <a:pPr algn="l">
                <a:lnSpc>
                  <a:spcPts val="1492"/>
                </a:lnSpc>
              </a:pPr>
              <a:r>
                <a:rPr lang="zh-CN" sz="1050" dirty="0">
                  <a:solidFill>
                    <a:srgbClr val="0F7A68"/>
                  </a:solidFill>
                  <a:latin typeface="Consolas"/>
                  <a:ea typeface="Microsoft YaHei"/>
                  <a:cs typeface="Consolas"/>
                </a:rPr>
                <a:t>/* 差：逐句复述代码 */</a:t>
              </a:r>
              <a:br/>
              <a:r>
                <a:rPr lang="en-US" sz="1050" dirty="0">
                  <a:solidFill>
                    <a:srgbClr val="1F2937"/>
                  </a:solidFill>
                  <a:latin typeface="Consolas"/>
                  <a:ea typeface="Consolas"/>
                  <a:cs typeface="Consolas"/>
                </a:rPr>
                <a:t xml:space="preserve">i = i + 1;      </a:t>
              </a:r>
              <a:r>
                <a:rPr lang="zh-CN" sz="1050" dirty="0">
                  <a:solidFill>
                    <a:srgbClr val="0F7A68"/>
                  </a:solidFill>
                  <a:latin typeface="Consolas"/>
                  <a:ea typeface="Microsoft YaHei"/>
                  <a:cs typeface="Consolas"/>
                </a:rPr>
                <a:t>/* i 加一 */</a:t>
              </a:r>
              <a:br/>
              <a:r>
                <a:rPr lang="zh-CN" sz="1050" dirty="0">
                  <a:solidFill>
                    <a:srgbClr val="1F2937"/>
                  </a:solidFill>
                  <a:latin typeface="Consolas"/>
                  <a:ea typeface="Consolas"/>
                  <a:cs typeface="Consolas"/>
                </a:rPr>
                <a:t xml:space="preserve"> </a:t>
              </a:r>
              <a:br/>
              <a:r>
                <a:rPr lang="zh-CN" sz="1050" dirty="0">
                  <a:solidFill>
                    <a:srgbClr val="0F7A68"/>
                  </a:solidFill>
                  <a:latin typeface="Consolas"/>
                  <a:ea typeface="Microsoft YaHei"/>
                  <a:cs typeface="Consolas"/>
                </a:rPr>
                <a:t>/* 好：说明这一段的作用 */</a:t>
              </a:r>
              <a:br/>
              <a:r>
                <a:rPr lang="zh-CN" sz="1050" dirty="0">
                  <a:solidFill>
                    <a:srgbClr val="0F7A68"/>
                  </a:solidFill>
                  <a:latin typeface="Consolas"/>
                  <a:ea typeface="Microsoft YaHei"/>
                  <a:cs typeface="Consolas"/>
                </a:rPr>
                <a:t>/* 跳过输入行开头的所有空格 */</a:t>
              </a:r>
              <a:br/>
              <a:r>
                <a:rPr lang="en-US" sz="1050" b="1" dirty="0">
                  <a:solidFill>
                    <a:srgbClr val="334E68"/>
                  </a:solidFill>
                  <a:latin typeface="Consolas"/>
                  <a:ea typeface="Consolas"/>
                  <a:cs typeface="Consolas"/>
                </a:rPr>
                <a:t>while</a:t>
              </a:r>
              <a:r>
                <a:rPr lang="en-US" sz="1050" dirty="0">
                  <a:solidFill>
                    <a:srgbClr val="1F2937"/>
                  </a:solidFill>
                  <a:latin typeface="Consolas"/>
                  <a:ea typeface="Consolas"/>
                  <a:cs typeface="Consolas"/>
                </a:rPr>
                <a:t xml:space="preserve"> (line[i] == </a:t>
              </a:r>
              <a:r>
                <a:rPr lang="zh-CN" sz="1050" dirty="0">
                  <a:solidFill>
                    <a:srgbClr val="C2410C"/>
                  </a:solidFill>
                  <a:latin typeface="Consolas"/>
                  <a:ea typeface="Consolas"/>
                  <a:cs typeface="Consolas"/>
                </a:rPr>
                <a:t>' '</a:t>
              </a:r>
              <a:r>
                <a:rPr lang="en-US" sz="1050" dirty="0">
                  <a:solidFill>
                    <a:srgbClr val="1F2937"/>
                  </a:solidFill>
                  <a:latin typeface="Consolas"/>
                  <a:ea typeface="Consolas"/>
                  <a:cs typeface="Consolas"/>
                </a:rPr>
                <a:t>) i = i + 1;</a:t>
              </a:r>
            </a:p>
          </p:txBody>
        </p:sp>
      </p:grpSp>
      <p:grpSp>
        <p:nvGrpSpPr>
          <p:cNvPr id="54" name="c2-callout-3"/>
          <p:cNvGrpSpPr/>
          <p:nvPr/>
        </p:nvGrpSpPr>
        <p:grpSpPr>
          <a:xfrm>
            <a:off x="6248400" y="5502592"/>
            <a:ext cx="5410200" cy="756285"/>
            <a:chOff x="6248400" y="5502592"/>
            <a:chExt cx="5410200" cy="756285"/>
          </a:xfrm>
        </p:grpSpPr>
        <p:sp>
          <p:nvSpPr>
            <p:cNvPr id="48" name="Rectangle 48"/>
            <p:cNvSpPr/>
            <p:nvPr/>
          </p:nvSpPr>
          <p:spPr>
            <a:xfrm>
              <a:off x="6248400" y="5502592"/>
              <a:ext cx="5410200" cy="756285"/>
            </a:xfrm>
            <a:prstGeom prst="roundRect">
              <a:avLst>
                <a:gd name="adj" fmla="val 15113"/>
              </a:avLst>
            </a:prstGeom>
            <a:solidFill>
              <a:srgbClr val="FDECEA"/>
            </a:solidFill>
            <a:ln>
              <a:noFill/>
            </a:ln>
          </p:spPr>
        </p:sp>
        <p:grpSp>
          <p:nvGrpSpPr>
            <p:cNvPr id="52" name="Group 52"/>
            <p:cNvGrpSpPr/>
            <p:nvPr/>
          </p:nvGrpSpPr>
          <p:grpSpPr>
            <a:xfrm>
              <a:off x="6441129" y="5777031"/>
              <a:ext cx="224134" cy="192560"/>
              <a:chOff x="6441129" y="5777031"/>
              <a:chExt cx="224134" cy="192560"/>
            </a:xfrm>
          </p:grpSpPr>
          <p:sp>
            <p:nvSpPr>
              <p:cNvPr id="49" name="Freeform 49"/>
              <p:cNvSpPr/>
              <p:nvPr/>
            </p:nvSpPr>
            <p:spPr>
              <a:xfrm>
                <a:off x="6553200" y="5847398"/>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0" name="Freeform 50"/>
              <p:cNvSpPr/>
              <p:nvPr/>
            </p:nvSpPr>
            <p:spPr>
              <a:xfrm>
                <a:off x="6441129" y="5777031"/>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1" name="Freeform 51"/>
              <p:cNvSpPr/>
              <p:nvPr/>
            </p:nvSpPr>
            <p:spPr>
              <a:xfrm>
                <a:off x="6553200" y="5925186"/>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3" name="TextBox 53"/>
            <p:cNvSpPr txBox="1"/>
            <p:nvPr/>
          </p:nvSpPr>
          <p:spPr>
            <a:xfrm>
              <a:off x="6755511" y="5650706"/>
              <a:ext cx="4360672"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B42318"/>
                  </a:solidFill>
                  <a:latin typeface="+mn-lt"/>
                  <a:ea typeface="+mn-ea"/>
                  <a:cs typeface="+mn-cs"/>
                </a:rPr>
                <a:t>注释决不是可有可无的。代码说明“怎么做”，注释补上</a:t>
              </a:r>
              <a:br/>
              <a:r>
                <a:rPr lang="zh-CN" sz="1420" dirty="0">
                  <a:solidFill>
                    <a:srgbClr val="B42318"/>
                  </a:solidFill>
                  <a:latin typeface="+mn-lt"/>
                  <a:ea typeface="+mn-ea"/>
                  <a:cs typeface="+mn-cs"/>
                </a:rPr>
                <a:t>“为什么这么做”。</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6" name="TextBox 56"/>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115437" cy="909257"/>
            <a:chOff x="520446" y="342900"/>
            <a:chExt cx="3115437"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视觉组织与数据说明</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0" name="c1-card-1"/>
          <p:cNvGrpSpPr/>
          <p:nvPr/>
        </p:nvGrpSpPr>
        <p:grpSpPr>
          <a:xfrm>
            <a:off x="533400" y="1524000"/>
            <a:ext cx="5410200" cy="1845945"/>
            <a:chOff x="533400" y="1524000"/>
            <a:chExt cx="5410200" cy="1845945"/>
          </a:xfrm>
        </p:grpSpPr>
        <p:sp>
          <p:nvSpPr>
            <p:cNvPr id="7" name="Rectangle 7"/>
            <p:cNvSpPr/>
            <p:nvPr/>
          </p:nvSpPr>
          <p:spPr>
            <a:xfrm>
              <a:off x="533400" y="1524000"/>
              <a:ext cx="5410200" cy="1845945"/>
            </a:xfrm>
            <a:prstGeom prst="roundRect">
              <a:avLst>
                <a:gd name="adj" fmla="val 7224"/>
              </a:avLst>
            </a:prstGeom>
            <a:solidFill>
              <a:srgbClr val="FFFFFF"/>
            </a:solidFill>
            <a:ln w="14288">
              <a:solidFill>
                <a:srgbClr val="D9DFEA"/>
              </a:solidFill>
            </a:ln>
          </p:spPr>
        </p:sp>
        <p:sp>
          <p:nvSpPr>
            <p:cNvPr id="8" name="Rectangle 8"/>
            <p:cNvSpPr/>
            <p:nvPr/>
          </p:nvSpPr>
          <p:spPr>
            <a:xfrm>
              <a:off x="542925" y="1657350"/>
              <a:ext cx="47625" cy="1579245"/>
            </a:xfrm>
            <a:prstGeom prst="roundRect">
              <a:avLst>
                <a:gd name="adj" fmla="val 50000"/>
              </a:avLst>
            </a:prstGeom>
            <a:solidFill>
              <a:srgbClr val="D97706"/>
            </a:solidFill>
            <a:ln>
              <a:noFill/>
            </a:ln>
          </p:spPr>
        </p:sp>
        <p:sp>
          <p:nvSpPr>
            <p:cNvPr id="9" name="Rectangle 9"/>
            <p:cNvSpPr/>
            <p:nvPr/>
          </p:nvSpPr>
          <p:spPr>
            <a:xfrm>
              <a:off x="758190" y="1710690"/>
              <a:ext cx="707708" cy="238125"/>
            </a:xfrm>
            <a:prstGeom prst="roundRect">
              <a:avLst>
                <a:gd name="adj" fmla="val 50000"/>
              </a:avLst>
            </a:prstGeom>
            <a:solidFill>
              <a:srgbClr val="FEF3C7"/>
            </a:solidFill>
            <a:ln>
              <a:noFill/>
            </a:ln>
          </p:spPr>
        </p:sp>
        <p:sp>
          <p:nvSpPr>
            <p:cNvPr id="10" name="TextBox 10"/>
            <p:cNvSpPr txBox="1"/>
            <p:nvPr/>
          </p:nvSpPr>
          <p:spPr>
            <a:xfrm>
              <a:off x="842759" y="1743551"/>
              <a:ext cx="537616"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视觉组织</a:t>
              </a:r>
            </a:p>
          </p:txBody>
        </p:sp>
        <p:sp>
          <p:nvSpPr>
            <p:cNvPr id="11" name="TextBox 11"/>
            <p:cNvSpPr txBox="1"/>
            <p:nvPr/>
          </p:nvSpPr>
          <p:spPr>
            <a:xfrm>
              <a:off x="1573340" y="1745932"/>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用空格、空行和缩进分出层次</a:t>
              </a:r>
            </a:p>
          </p:txBody>
        </p:sp>
        <p:sp>
          <p:nvSpPr>
            <p:cNvPr id="12" name="Ellipse 12"/>
            <p:cNvSpPr/>
            <p:nvPr/>
          </p:nvSpPr>
          <p:spPr>
            <a:xfrm>
              <a:off x="766762" y="2127885"/>
              <a:ext cx="59055" cy="59055"/>
            </a:xfrm>
            <a:prstGeom prst="ellipse">
              <a:avLst/>
            </a:prstGeom>
            <a:solidFill>
              <a:srgbClr val="334E68"/>
            </a:solidFill>
            <a:ln>
              <a:noFill/>
            </a:ln>
          </p:spPr>
        </p:sp>
        <p:sp>
          <p:nvSpPr>
            <p:cNvPr id="13" name="TextBox 13"/>
            <p:cNvSpPr txBox="1"/>
            <p:nvPr/>
          </p:nvSpPr>
          <p:spPr>
            <a:xfrm>
              <a:off x="922782" y="2071688"/>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恰当地利用空格，可以突出运算的优先性</a:t>
              </a:r>
            </a:p>
          </p:txBody>
        </p:sp>
        <p:sp>
          <p:nvSpPr>
            <p:cNvPr id="14" name="Ellipse 14"/>
            <p:cNvSpPr/>
            <p:nvPr/>
          </p:nvSpPr>
          <p:spPr>
            <a:xfrm>
              <a:off x="766762" y="2427922"/>
              <a:ext cx="59055" cy="59055"/>
            </a:xfrm>
            <a:prstGeom prst="ellipse">
              <a:avLst/>
            </a:prstGeom>
            <a:solidFill>
              <a:srgbClr val="334E68"/>
            </a:solidFill>
            <a:ln>
              <a:noFill/>
            </a:ln>
          </p:spPr>
        </p:sp>
        <p:sp>
          <p:nvSpPr>
            <p:cNvPr id="15" name="TextBox 15"/>
            <p:cNvSpPr txBox="1"/>
            <p:nvPr/>
          </p:nvSpPr>
          <p:spPr>
            <a:xfrm>
              <a:off x="922782" y="2371725"/>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自然的程序段之间用空行隔开</a:t>
              </a:r>
            </a:p>
          </p:txBody>
        </p:sp>
        <p:sp>
          <p:nvSpPr>
            <p:cNvPr id="16" name="Ellipse 16"/>
            <p:cNvSpPr/>
            <p:nvPr/>
          </p:nvSpPr>
          <p:spPr>
            <a:xfrm>
              <a:off x="766762" y="2727960"/>
              <a:ext cx="59055" cy="59055"/>
            </a:xfrm>
            <a:prstGeom prst="ellipse">
              <a:avLst/>
            </a:prstGeom>
            <a:solidFill>
              <a:srgbClr val="334E68"/>
            </a:solidFill>
            <a:ln>
              <a:noFill/>
            </a:ln>
          </p:spPr>
        </p:sp>
        <p:sp>
          <p:nvSpPr>
            <p:cNvPr id="17" name="TextBox 17"/>
            <p:cNvSpPr txBox="1"/>
            <p:nvPr/>
          </p:nvSpPr>
          <p:spPr>
            <a:xfrm>
              <a:off x="922782" y="2671762"/>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缩进（向右缩格、移行）让各行不必都在左端对齐</a:t>
              </a:r>
            </a:p>
          </p:txBody>
        </p:sp>
        <p:sp>
          <p:nvSpPr>
            <p:cNvPr id="18" name="Ellipse 18"/>
            <p:cNvSpPr/>
            <p:nvPr/>
          </p:nvSpPr>
          <p:spPr>
            <a:xfrm>
              <a:off x="766762" y="3028950"/>
              <a:ext cx="59055" cy="59055"/>
            </a:xfrm>
            <a:prstGeom prst="ellipse">
              <a:avLst/>
            </a:prstGeom>
            <a:solidFill>
              <a:srgbClr val="334E68"/>
            </a:solidFill>
            <a:ln>
              <a:noFill/>
            </a:ln>
          </p:spPr>
        </p:sp>
        <p:sp>
          <p:nvSpPr>
            <p:cNvPr id="19" name="TextBox 19"/>
            <p:cNvSpPr txBox="1"/>
            <p:nvPr/>
          </p:nvSpPr>
          <p:spPr>
            <a:xfrm>
              <a:off x="922782" y="2972752"/>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选择语句和循环语句的内部语句向右做阶梯式移行</a:t>
              </a:r>
            </a:p>
          </p:txBody>
        </p:sp>
      </p:grpSp>
      <p:grpSp>
        <p:nvGrpSpPr>
          <p:cNvPr id="24" name="c1-code-2"/>
          <p:cNvGrpSpPr/>
          <p:nvPr/>
        </p:nvGrpSpPr>
        <p:grpSpPr>
          <a:xfrm>
            <a:off x="533400" y="3539490"/>
            <a:ext cx="5410200" cy="1737360"/>
            <a:chOff x="533400" y="3539490"/>
            <a:chExt cx="5410200" cy="1737360"/>
          </a:xfrm>
        </p:grpSpPr>
        <p:sp>
          <p:nvSpPr>
            <p:cNvPr id="21" name="Rectangle 21"/>
            <p:cNvSpPr/>
            <p:nvPr/>
          </p:nvSpPr>
          <p:spPr>
            <a:xfrm>
              <a:off x="533400" y="3539490"/>
              <a:ext cx="5410200" cy="1737360"/>
            </a:xfrm>
            <a:prstGeom prst="roundRect">
              <a:avLst>
                <a:gd name="adj" fmla="val 5482"/>
              </a:avLst>
            </a:prstGeom>
            <a:solidFill>
              <a:srgbClr val="F6F8FA"/>
            </a:solidFill>
            <a:ln w="11430">
              <a:solidFill>
                <a:srgbClr val="D9DFEA"/>
              </a:solidFill>
            </a:ln>
          </p:spPr>
        </p:sp>
        <p:sp>
          <p:nvSpPr>
            <p:cNvPr id="22" name="TextBox 22"/>
            <p:cNvSpPr txBox="1"/>
            <p:nvPr/>
          </p:nvSpPr>
          <p:spPr>
            <a:xfrm>
              <a:off x="661797" y="3691414"/>
              <a:ext cx="1461110"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缩进让控制结构一眼可见</a:t>
              </a:r>
            </a:p>
          </p:txBody>
        </p:sp>
        <p:sp>
          <p:nvSpPr>
            <p:cNvPr id="23" name="TextBox 23"/>
            <p:cNvSpPr txBox="1"/>
            <p:nvPr/>
          </p:nvSpPr>
          <p:spPr>
            <a:xfrm>
              <a:off x="661797" y="3952399"/>
              <a:ext cx="1105154" cy="1247966"/>
            </a:xfrm>
            <a:prstGeom prst="rect">
              <a:avLst/>
            </a:prstGeom>
            <a:noFill/>
            <a:ln>
              <a:noFill/>
            </a:ln>
          </p:spPr>
          <p:txBody>
            <a:bodyPr wrap="none" lIns="0" tIns="0" rIns="0" bIns="0" anchor="t" anchorCtr="0">
              <a:spAutoFit/>
            </a:bodyPr>
            <a:lstStyle/>
            <a:p>
              <a:pPr algn="l">
                <a:lnSpc>
                  <a:spcPts val="1388"/>
                </a:lnSpc>
              </a:pP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(a &gt; b)</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if</a:t>
              </a:r>
              <a:r>
                <a:rPr lang="en-US" sz="980" dirty="0">
                  <a:solidFill>
                    <a:srgbClr val="1F2937"/>
                  </a:solidFill>
                  <a:latin typeface="Consolas"/>
                  <a:ea typeface="Consolas"/>
                  <a:cs typeface="Consolas"/>
                </a:rPr>
                <a:t xml:space="preserve"> (c &gt; d)</a:t>
              </a:r>
              <a:br/>
              <a:r>
                <a:rPr lang="en-US" sz="980" dirty="0">
                  <a:solidFill>
                    <a:srgbClr val="1F2937"/>
                  </a:solidFill>
                  <a:latin typeface="Consolas"/>
                  <a:ea typeface="Consolas"/>
                  <a:cs typeface="Consolas"/>
                </a:rPr>
                <a:t xml:space="preserve">        max = c;</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else</a:t>
              </a:r>
              <a:br/>
              <a:r>
                <a:rPr lang="en-US" sz="980" dirty="0">
                  <a:solidFill>
                    <a:srgbClr val="1F2937"/>
                  </a:solidFill>
                  <a:latin typeface="Consolas"/>
                  <a:ea typeface="Consolas"/>
                  <a:cs typeface="Consolas"/>
                </a:rPr>
                <a:t xml:space="preserve">        max = d;</a:t>
              </a:r>
              <a:br/>
              <a:r>
                <a:rPr lang="en-US" sz="980" b="1" dirty="0">
                  <a:solidFill>
                    <a:srgbClr val="334E68"/>
                  </a:solidFill>
                  <a:latin typeface="Consolas"/>
                  <a:ea typeface="Consolas"/>
                  <a:cs typeface="Consolas"/>
                </a:rPr>
                <a:t>else</a:t>
              </a:r>
              <a:br/>
              <a:r>
                <a:rPr lang="en-US" sz="980" dirty="0">
                  <a:solidFill>
                    <a:srgbClr val="1F2937"/>
                  </a:solidFill>
                  <a:latin typeface="Consolas"/>
                  <a:ea typeface="Consolas"/>
                  <a:cs typeface="Consolas"/>
                </a:rPr>
                <a:t xml:space="preserve">    max = b;</a:t>
              </a:r>
            </a:p>
          </p:txBody>
        </p:sp>
      </p:grpSp>
      <p:grpSp>
        <p:nvGrpSpPr>
          <p:cNvPr id="39" name="c2-card-1"/>
          <p:cNvGrpSpPr/>
          <p:nvPr/>
        </p:nvGrpSpPr>
        <p:grpSpPr>
          <a:xfrm>
            <a:off x="6248400" y="1524000"/>
            <a:ext cx="5410200" cy="2317432"/>
            <a:chOff x="6248400" y="1524000"/>
            <a:chExt cx="5410200" cy="2317432"/>
          </a:xfrm>
        </p:grpSpPr>
        <p:sp>
          <p:nvSpPr>
            <p:cNvPr id="25" name="Rectangle 25"/>
            <p:cNvSpPr/>
            <p:nvPr/>
          </p:nvSpPr>
          <p:spPr>
            <a:xfrm>
              <a:off x="6248400" y="1524000"/>
              <a:ext cx="5410200" cy="2317432"/>
            </a:xfrm>
            <a:prstGeom prst="roundRect">
              <a:avLst>
                <a:gd name="adj" fmla="val 5754"/>
              </a:avLst>
            </a:prstGeom>
            <a:solidFill>
              <a:srgbClr val="FFFFFF"/>
            </a:solidFill>
            <a:ln w="14288">
              <a:solidFill>
                <a:srgbClr val="D9DFEA"/>
              </a:solidFill>
            </a:ln>
          </p:spPr>
        </p:sp>
        <p:sp>
          <p:nvSpPr>
            <p:cNvPr id="26" name="Rectangle 26"/>
            <p:cNvSpPr/>
            <p:nvPr/>
          </p:nvSpPr>
          <p:spPr>
            <a:xfrm>
              <a:off x="6257925" y="1657350"/>
              <a:ext cx="47625" cy="2050732"/>
            </a:xfrm>
            <a:prstGeom prst="roundRect">
              <a:avLst>
                <a:gd name="adj" fmla="val 50000"/>
              </a:avLst>
            </a:prstGeom>
            <a:solidFill>
              <a:srgbClr val="334E68"/>
            </a:solidFill>
            <a:ln>
              <a:noFill/>
            </a:ln>
          </p:spPr>
        </p:sp>
        <p:sp>
          <p:nvSpPr>
            <p:cNvPr id="27" name="Rectangle 27"/>
            <p:cNvSpPr/>
            <p:nvPr/>
          </p:nvSpPr>
          <p:spPr>
            <a:xfrm>
              <a:off x="6473190" y="1710690"/>
              <a:ext cx="707708" cy="238125"/>
            </a:xfrm>
            <a:prstGeom prst="roundRect">
              <a:avLst>
                <a:gd name="adj" fmla="val 50000"/>
              </a:avLst>
            </a:prstGeom>
            <a:solidFill>
              <a:srgbClr val="E7EDF3"/>
            </a:solidFill>
            <a:ln>
              <a:noFill/>
            </a:ln>
          </p:spPr>
        </p:sp>
        <p:sp>
          <p:nvSpPr>
            <p:cNvPr id="28" name="TextBox 28"/>
            <p:cNvSpPr txBox="1"/>
            <p:nvPr/>
          </p:nvSpPr>
          <p:spPr>
            <a:xfrm>
              <a:off x="6557759" y="1743551"/>
              <a:ext cx="537616"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数据说明</a:t>
              </a:r>
            </a:p>
          </p:txBody>
        </p:sp>
        <p:sp>
          <p:nvSpPr>
            <p:cNvPr id="29" name="TextBox 29"/>
            <p:cNvSpPr txBox="1"/>
            <p:nvPr/>
          </p:nvSpPr>
          <p:spPr>
            <a:xfrm>
              <a:off x="7288339" y="1745932"/>
              <a:ext cx="383019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数据结构在设计阶段定，说明风格在编码阶段定</a:t>
              </a:r>
            </a:p>
          </p:txBody>
        </p:sp>
        <p:sp>
          <p:nvSpPr>
            <p:cNvPr id="30" name="Ellipse 30"/>
            <p:cNvSpPr/>
            <p:nvPr/>
          </p:nvSpPr>
          <p:spPr>
            <a:xfrm>
              <a:off x="6473190" y="2059305"/>
              <a:ext cx="192405" cy="192405"/>
            </a:xfrm>
            <a:prstGeom prst="ellipse">
              <a:avLst/>
            </a:prstGeom>
            <a:solidFill>
              <a:srgbClr val="334E68"/>
            </a:solidFill>
            <a:ln>
              <a:noFill/>
            </a:ln>
          </p:spPr>
        </p:sp>
        <p:sp>
          <p:nvSpPr>
            <p:cNvPr id="31" name="TextBox 31"/>
            <p:cNvSpPr txBox="1"/>
            <p:nvPr/>
          </p:nvSpPr>
          <p:spPr>
            <a:xfrm>
              <a:off x="6528868" y="209769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2" name="TextBox 32"/>
            <p:cNvSpPr txBox="1"/>
            <p:nvPr/>
          </p:nvSpPr>
          <p:spPr>
            <a:xfrm>
              <a:off x="6753987" y="2071688"/>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数据说明的次序应当规范化：例如按整型量、实型量、字符</a:t>
              </a:r>
              <a:br/>
              <a:r>
                <a:rPr lang="zh-CN" sz="1350" dirty="0">
                  <a:solidFill>
                    <a:srgbClr val="1F2937"/>
                  </a:solidFill>
                  <a:latin typeface="+mn-lt"/>
                  <a:ea typeface="+mn-ea"/>
                  <a:cs typeface="+mn-cs"/>
                </a:rPr>
                <a:t>量、逻辑量的固定顺序排列</a:t>
              </a:r>
            </a:p>
          </p:txBody>
        </p:sp>
        <p:sp>
          <p:nvSpPr>
            <p:cNvPr id="33" name="Ellipse 33"/>
            <p:cNvSpPr/>
            <p:nvPr/>
          </p:nvSpPr>
          <p:spPr>
            <a:xfrm>
              <a:off x="6473190" y="2616518"/>
              <a:ext cx="192405" cy="192405"/>
            </a:xfrm>
            <a:prstGeom prst="ellipse">
              <a:avLst/>
            </a:prstGeom>
            <a:solidFill>
              <a:srgbClr val="334E68"/>
            </a:solidFill>
            <a:ln>
              <a:noFill/>
            </a:ln>
          </p:spPr>
        </p:sp>
        <p:sp>
          <p:nvSpPr>
            <p:cNvPr id="34" name="TextBox 34"/>
            <p:cNvSpPr txBox="1"/>
            <p:nvPr/>
          </p:nvSpPr>
          <p:spPr>
            <a:xfrm>
              <a:off x="6528868" y="265585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5" name="TextBox 35"/>
            <p:cNvSpPr txBox="1"/>
            <p:nvPr/>
          </p:nvSpPr>
          <p:spPr>
            <a:xfrm>
              <a:off x="6753987" y="2628900"/>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说明语句中变量安排有序化：同一条说明语句里的多个变量</a:t>
              </a:r>
              <a:br/>
              <a:r>
                <a:rPr lang="zh-CN" sz="1350" dirty="0">
                  <a:solidFill>
                    <a:srgbClr val="1F2937"/>
                  </a:solidFill>
                  <a:latin typeface="+mn-lt"/>
                  <a:ea typeface="+mn-ea"/>
                  <a:cs typeface="+mn-cs"/>
                </a:rPr>
                <a:t>按字母顺序排</a:t>
              </a:r>
            </a:p>
          </p:txBody>
        </p:sp>
        <p:sp>
          <p:nvSpPr>
            <p:cNvPr id="36" name="Ellipse 36"/>
            <p:cNvSpPr/>
            <p:nvPr/>
          </p:nvSpPr>
          <p:spPr>
            <a:xfrm>
              <a:off x="6473190" y="3174682"/>
              <a:ext cx="192405" cy="192405"/>
            </a:xfrm>
            <a:prstGeom prst="ellipse">
              <a:avLst/>
            </a:prstGeom>
            <a:solidFill>
              <a:srgbClr val="334E68"/>
            </a:solidFill>
            <a:ln>
              <a:noFill/>
            </a:ln>
          </p:spPr>
        </p:sp>
        <p:sp>
          <p:nvSpPr>
            <p:cNvPr id="37" name="TextBox 37"/>
            <p:cNvSpPr txBox="1"/>
            <p:nvPr/>
          </p:nvSpPr>
          <p:spPr>
            <a:xfrm>
              <a:off x="6528868" y="321306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38" name="TextBox 38"/>
            <p:cNvSpPr txBox="1"/>
            <p:nvPr/>
          </p:nvSpPr>
          <p:spPr>
            <a:xfrm>
              <a:off x="6753987" y="3186112"/>
              <a:ext cx="450570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使用注释说明复杂数据结构：C 的链表、Pascal 的自定义类</a:t>
              </a:r>
              <a:br/>
              <a:r>
                <a:rPr lang="zh-CN" sz="1350" dirty="0">
                  <a:solidFill>
                    <a:srgbClr val="1F2937"/>
                  </a:solidFill>
                  <a:latin typeface="+mn-lt"/>
                  <a:ea typeface="+mn-ea"/>
                  <a:cs typeface="+mn-cs"/>
                </a:rPr>
                <a:t>型都要补充说明</a:t>
              </a:r>
            </a:p>
          </p:txBody>
        </p:sp>
      </p:grpSp>
      <p:grpSp>
        <p:nvGrpSpPr>
          <p:cNvPr id="43" name="c2-code-2"/>
          <p:cNvGrpSpPr/>
          <p:nvPr/>
        </p:nvGrpSpPr>
        <p:grpSpPr>
          <a:xfrm>
            <a:off x="6248400" y="4010978"/>
            <a:ext cx="5410200" cy="1384935"/>
            <a:chOff x="6248400" y="4010978"/>
            <a:chExt cx="5410200" cy="1384935"/>
          </a:xfrm>
        </p:grpSpPr>
        <p:sp>
          <p:nvSpPr>
            <p:cNvPr id="40" name="Rectangle 40"/>
            <p:cNvSpPr/>
            <p:nvPr/>
          </p:nvSpPr>
          <p:spPr>
            <a:xfrm>
              <a:off x="6248400" y="4010978"/>
              <a:ext cx="5410200" cy="1384935"/>
            </a:xfrm>
            <a:prstGeom prst="roundRect">
              <a:avLst>
                <a:gd name="adj" fmla="val 6878"/>
              </a:avLst>
            </a:prstGeom>
            <a:solidFill>
              <a:srgbClr val="F6F8FA"/>
            </a:solidFill>
            <a:ln w="11430">
              <a:solidFill>
                <a:srgbClr val="D9DFEA"/>
              </a:solidFill>
            </a:ln>
          </p:spPr>
        </p:sp>
        <p:sp>
          <p:nvSpPr>
            <p:cNvPr id="41" name="TextBox 41"/>
            <p:cNvSpPr txBox="1"/>
            <p:nvPr/>
          </p:nvSpPr>
          <p:spPr>
            <a:xfrm>
              <a:off x="6376797" y="4162901"/>
              <a:ext cx="1724965"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同一条说明语句里按字母排序</a:t>
              </a:r>
            </a:p>
          </p:txBody>
        </p:sp>
        <p:sp>
          <p:nvSpPr>
            <p:cNvPr id="42" name="TextBox 42"/>
            <p:cNvSpPr txBox="1"/>
            <p:nvPr/>
          </p:nvSpPr>
          <p:spPr>
            <a:xfrm>
              <a:off x="6376797" y="4423886"/>
              <a:ext cx="2816479" cy="895540"/>
            </a:xfrm>
            <a:prstGeom prst="rect">
              <a:avLst/>
            </a:prstGeom>
            <a:noFill/>
            <a:ln>
              <a:noFill/>
            </a:ln>
          </p:spPr>
          <p:txBody>
            <a:bodyPr wrap="none" lIns="0" tIns="0" rIns="0" bIns="0" anchor="t" anchorCtr="0">
              <a:spAutoFit/>
            </a:bodyPr>
            <a:lstStyle/>
            <a:p>
              <a:pPr algn="l">
                <a:lnSpc>
                  <a:spcPts val="1388"/>
                </a:lnSpc>
              </a:pPr>
              <a:r>
                <a:rPr lang="zh-CN" sz="980" dirty="0">
                  <a:solidFill>
                    <a:srgbClr val="0F7A68"/>
                  </a:solidFill>
                  <a:latin typeface="Consolas"/>
                  <a:ea typeface="Microsoft YaHei"/>
                  <a:cs typeface="Consolas"/>
                </a:rPr>
                <a:t>/* 差 */</a:t>
              </a:r>
              <a:br/>
              <a:r>
                <a:rPr lang="en-US" sz="980" dirty="0">
                  <a:solidFill>
                    <a:srgbClr val="1F2937"/>
                  </a:solidFill>
                  <a:latin typeface="Consolas"/>
                  <a:ea typeface="Consolas"/>
                  <a:cs typeface="Consolas"/>
                </a:rPr>
                <a:t>integer size, length, width, cost, price;</a:t>
              </a:r>
              <a:br/>
              <a:r>
                <a:rPr lang="zh-CN" sz="980" dirty="0">
                  <a:solidFill>
                    <a:srgbClr val="1F2937"/>
                  </a:solidFill>
                  <a:latin typeface="Consolas"/>
                  <a:ea typeface="Consolas"/>
                  <a:cs typeface="Consolas"/>
                </a:rPr>
                <a:t xml:space="preserve"> </a:t>
              </a:r>
              <a:br/>
              <a:r>
                <a:rPr lang="zh-CN" sz="980" dirty="0">
                  <a:solidFill>
                    <a:srgbClr val="0F7A68"/>
                  </a:solidFill>
                  <a:latin typeface="Consolas"/>
                  <a:ea typeface="Microsoft YaHei"/>
                  <a:cs typeface="Consolas"/>
                </a:rPr>
                <a:t>/* 好 */</a:t>
              </a:r>
              <a:br/>
              <a:r>
                <a:rPr lang="en-US" sz="980" dirty="0">
                  <a:solidFill>
                    <a:srgbClr val="1F2937"/>
                  </a:solidFill>
                  <a:latin typeface="Consolas"/>
                  <a:ea typeface="Consolas"/>
                  <a:cs typeface="Consolas"/>
                </a:rPr>
                <a:t>integer cost, length, price, size, width;</a:t>
              </a:r>
            </a:p>
          </p:txBody>
        </p:sp>
      </p:grpSp>
      <p:grpSp>
        <p:nvGrpSpPr>
          <p:cNvPr id="50" name="c2-callout-3"/>
          <p:cNvGrpSpPr/>
          <p:nvPr/>
        </p:nvGrpSpPr>
        <p:grpSpPr>
          <a:xfrm>
            <a:off x="6248400" y="5566410"/>
            <a:ext cx="5410200" cy="729615"/>
            <a:chOff x="6248400" y="5566410"/>
            <a:chExt cx="5410200" cy="729615"/>
          </a:xfrm>
        </p:grpSpPr>
        <p:sp>
          <p:nvSpPr>
            <p:cNvPr id="44" name="Rectangle 44"/>
            <p:cNvSpPr/>
            <p:nvPr/>
          </p:nvSpPr>
          <p:spPr>
            <a:xfrm>
              <a:off x="6248400" y="5566410"/>
              <a:ext cx="5410200" cy="729615"/>
            </a:xfrm>
            <a:prstGeom prst="roundRect">
              <a:avLst>
                <a:gd name="adj" fmla="val 15666"/>
              </a:avLst>
            </a:prstGeom>
            <a:solidFill>
              <a:srgbClr val="F4F6FB"/>
            </a:solidFill>
            <a:ln>
              <a:noFill/>
            </a:ln>
          </p:spPr>
        </p:sp>
        <p:grpSp>
          <p:nvGrpSpPr>
            <p:cNvPr id="48" name="Group 48"/>
            <p:cNvGrpSpPr/>
            <p:nvPr/>
          </p:nvGrpSpPr>
          <p:grpSpPr>
            <a:xfrm>
              <a:off x="6453188" y="5831205"/>
              <a:ext cx="200026" cy="200026"/>
              <a:chOff x="6453188" y="5831205"/>
              <a:chExt cx="200026" cy="200026"/>
            </a:xfrm>
          </p:grpSpPr>
          <p:sp>
            <p:nvSpPr>
              <p:cNvPr id="45" name="Freeform 45"/>
              <p:cNvSpPr/>
              <p:nvPr/>
            </p:nvSpPr>
            <p:spPr>
              <a:xfrm>
                <a:off x="6453188" y="583120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6" name="Freeform 46"/>
              <p:cNvSpPr/>
              <p:nvPr/>
            </p:nvSpPr>
            <p:spPr>
              <a:xfrm>
                <a:off x="6553200" y="589788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7" name="Freeform 47"/>
              <p:cNvSpPr/>
              <p:nvPr/>
            </p:nvSpPr>
            <p:spPr>
              <a:xfrm>
                <a:off x="6542088" y="593121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9" name="TextBox 49"/>
            <p:cNvSpPr txBox="1"/>
            <p:nvPr/>
          </p:nvSpPr>
          <p:spPr>
            <a:xfrm>
              <a:off x="6755892" y="5712142"/>
              <a:ext cx="44714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次序规范化对语法没有影响，收益全在查找、测试、排错和</a:t>
              </a:r>
              <a:br/>
              <a:r>
                <a:rPr lang="zh-CN" sz="1350" dirty="0">
                  <a:solidFill>
                    <a:srgbClr val="1F2937"/>
                  </a:solidFill>
                  <a:latin typeface="+mn-lt"/>
                  <a:ea typeface="+mn-ea"/>
                  <a:cs typeface="+mn-cs"/>
                </a:rPr>
                <a:t>维护上。</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2" name="TextBox 52"/>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963341" cy="909257"/>
            <a:chOff x="520446" y="342900"/>
            <a:chExt cx="3963341"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396334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语句构造：16 条经验规则</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5749290" cy="278702"/>
            <a:chOff x="526161" y="1547336"/>
            <a:chExt cx="5749290" cy="278702"/>
          </a:xfrm>
        </p:grpSpPr>
        <p:sp>
          <p:nvSpPr>
            <p:cNvPr id="7" name="TextBox 7"/>
            <p:cNvSpPr txBox="1"/>
            <p:nvPr/>
          </p:nvSpPr>
          <p:spPr>
            <a:xfrm>
              <a:off x="526161" y="1547336"/>
              <a:ext cx="5749290"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语句构造力求简单、直接，不要为了片面追求效率而使语句复杂化。</a:t>
              </a:r>
            </a:p>
          </p:txBody>
        </p:sp>
      </p:grpSp>
      <p:grpSp>
        <p:nvGrpSpPr>
          <p:cNvPr id="30" name="c1-table-1"/>
          <p:cNvGrpSpPr/>
          <p:nvPr/>
        </p:nvGrpSpPr>
        <p:grpSpPr>
          <a:xfrm>
            <a:off x="533400" y="1941195"/>
            <a:ext cx="3505200" cy="2907982"/>
            <a:chOff x="533400" y="1941195"/>
            <a:chExt cx="3505200" cy="2907982"/>
          </a:xfrm>
        </p:grpSpPr>
        <p:sp>
          <p:nvSpPr>
            <p:cNvPr id="9" name="Rectangle 9"/>
            <p:cNvSpPr/>
            <p:nvPr/>
          </p:nvSpPr>
          <p:spPr>
            <a:xfrm>
              <a:off x="533400" y="1941195"/>
              <a:ext cx="3505200" cy="684848"/>
            </a:xfrm>
            <a:prstGeom prst="rect">
              <a:avLst/>
            </a:prstGeom>
            <a:solidFill>
              <a:srgbClr val="334E68"/>
            </a:solidFill>
            <a:ln>
              <a:noFill/>
            </a:ln>
          </p:spPr>
        </p:sp>
        <p:sp>
          <p:nvSpPr>
            <p:cNvPr id="10" name="TextBox 10"/>
            <p:cNvSpPr txBox="1"/>
            <p:nvPr/>
          </p:nvSpPr>
          <p:spPr>
            <a:xfrm>
              <a:off x="720852" y="2069782"/>
              <a:ext cx="185166" cy="504063"/>
            </a:xfrm>
            <a:prstGeom prst="rect">
              <a:avLst/>
            </a:prstGeom>
            <a:noFill/>
            <a:ln>
              <a:noFill/>
            </a:ln>
          </p:spPr>
          <p:txBody>
            <a:bodyPr wrap="none" lIns="0" tIns="0" rIns="0" bIns="0" anchor="t" anchorCtr="0">
              <a:spAutoFit/>
            </a:bodyPr>
            <a:lstStyle/>
            <a:p>
              <a:pPr algn="ctr">
                <a:lnSpc>
                  <a:spcPts val="1890"/>
                </a:lnSpc>
              </a:pPr>
              <a:r>
                <a:rPr lang="zh-CN" sz="1350" b="1" dirty="0">
                  <a:solidFill>
                    <a:srgbClr val="FFFFFF"/>
                  </a:solidFill>
                  <a:latin typeface="+mn-lt"/>
                  <a:ea typeface="+mn-ea"/>
                  <a:cs typeface="+mn-cs"/>
                </a:rPr>
                <a:t>编</a:t>
              </a:r>
              <a:br/>
              <a:r>
                <a:rPr lang="zh-CN" sz="1350" b="1" dirty="0">
                  <a:solidFill>
                    <a:srgbClr val="FFFFFF"/>
                  </a:solidFill>
                  <a:latin typeface="+mn-lt"/>
                  <a:ea typeface="+mn-ea"/>
                  <a:cs typeface="+mn-cs"/>
                </a:rPr>
                <a:t>号</a:t>
              </a:r>
            </a:p>
          </p:txBody>
        </p:sp>
        <p:sp>
          <p:nvSpPr>
            <p:cNvPr id="11" name="TextBox 11"/>
            <p:cNvSpPr txBox="1"/>
            <p:nvPr/>
          </p:nvSpPr>
          <p:spPr>
            <a:xfrm>
              <a:off x="2377440" y="218979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规则</a:t>
              </a:r>
            </a:p>
          </p:txBody>
        </p:sp>
        <p:sp>
          <p:nvSpPr>
            <p:cNvPr id="12" name="TextBox 12"/>
            <p:cNvSpPr txBox="1"/>
            <p:nvPr/>
          </p:nvSpPr>
          <p:spPr>
            <a:xfrm>
              <a:off x="632270" y="275463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a:t>
              </a:r>
            </a:p>
          </p:txBody>
        </p:sp>
        <p:sp>
          <p:nvSpPr>
            <p:cNvPr id="13" name="TextBox 13"/>
            <p:cNvSpPr txBox="1"/>
            <p:nvPr/>
          </p:nvSpPr>
          <p:spPr>
            <a:xfrm>
              <a:off x="1193292" y="2754630"/>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在一行内只写一条语句</a:t>
              </a:r>
            </a:p>
          </p:txBody>
        </p:sp>
        <p:sp>
          <p:nvSpPr>
            <p:cNvPr id="14" name="Rectangle 14"/>
            <p:cNvSpPr/>
            <p:nvPr/>
          </p:nvSpPr>
          <p:spPr>
            <a:xfrm>
              <a:off x="533400" y="3066098"/>
              <a:ext cx="3505200" cy="9525"/>
            </a:xfrm>
            <a:prstGeom prst="rect">
              <a:avLst/>
            </a:prstGeom>
            <a:solidFill>
              <a:srgbClr val="D9DFEA"/>
            </a:solidFill>
            <a:ln>
              <a:noFill/>
            </a:ln>
          </p:spPr>
        </p:sp>
        <p:sp>
          <p:nvSpPr>
            <p:cNvPr id="15" name="Rectangle 15"/>
            <p:cNvSpPr/>
            <p:nvPr/>
          </p:nvSpPr>
          <p:spPr>
            <a:xfrm>
              <a:off x="533400" y="3070860"/>
              <a:ext cx="3505200" cy="444818"/>
            </a:xfrm>
            <a:prstGeom prst="rect">
              <a:avLst/>
            </a:prstGeom>
            <a:solidFill>
              <a:srgbClr val="F4F6FB"/>
            </a:solidFill>
            <a:ln>
              <a:noFill/>
            </a:ln>
          </p:spPr>
        </p:sp>
        <p:sp>
          <p:nvSpPr>
            <p:cNvPr id="16" name="TextBox 16"/>
            <p:cNvSpPr txBox="1"/>
            <p:nvPr/>
          </p:nvSpPr>
          <p:spPr>
            <a:xfrm>
              <a:off x="632270" y="319849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2</a:t>
              </a:r>
            </a:p>
          </p:txBody>
        </p:sp>
        <p:sp>
          <p:nvSpPr>
            <p:cNvPr id="17" name="TextBox 17"/>
            <p:cNvSpPr txBox="1"/>
            <p:nvPr/>
          </p:nvSpPr>
          <p:spPr>
            <a:xfrm>
              <a:off x="1193292" y="3198495"/>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避免过于复杂的条件测试</a:t>
              </a:r>
            </a:p>
          </p:txBody>
        </p:sp>
        <p:sp>
          <p:nvSpPr>
            <p:cNvPr id="18" name="Rectangle 18"/>
            <p:cNvSpPr/>
            <p:nvPr/>
          </p:nvSpPr>
          <p:spPr>
            <a:xfrm>
              <a:off x="533400" y="3510915"/>
              <a:ext cx="3505200" cy="9525"/>
            </a:xfrm>
            <a:prstGeom prst="rect">
              <a:avLst/>
            </a:prstGeom>
            <a:solidFill>
              <a:srgbClr val="D9DFEA"/>
            </a:solidFill>
            <a:ln>
              <a:noFill/>
            </a:ln>
          </p:spPr>
        </p:sp>
        <p:sp>
          <p:nvSpPr>
            <p:cNvPr id="19" name="TextBox 19"/>
            <p:cNvSpPr txBox="1"/>
            <p:nvPr/>
          </p:nvSpPr>
          <p:spPr>
            <a:xfrm>
              <a:off x="632270" y="3643312"/>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3</a:t>
              </a:r>
            </a:p>
          </p:txBody>
        </p:sp>
        <p:sp>
          <p:nvSpPr>
            <p:cNvPr id="20" name="TextBox 20"/>
            <p:cNvSpPr txBox="1"/>
            <p:nvPr/>
          </p:nvSpPr>
          <p:spPr>
            <a:xfrm>
              <a:off x="1193292" y="3643312"/>
              <a:ext cx="20309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尽量减少“非”条件的测试</a:t>
              </a:r>
            </a:p>
          </p:txBody>
        </p:sp>
        <p:sp>
          <p:nvSpPr>
            <p:cNvPr id="21" name="Rectangle 21"/>
            <p:cNvSpPr/>
            <p:nvPr/>
          </p:nvSpPr>
          <p:spPr>
            <a:xfrm>
              <a:off x="533400" y="3955732"/>
              <a:ext cx="3505200" cy="9525"/>
            </a:xfrm>
            <a:prstGeom prst="rect">
              <a:avLst/>
            </a:prstGeom>
            <a:solidFill>
              <a:srgbClr val="D9DFEA"/>
            </a:solidFill>
            <a:ln>
              <a:noFill/>
            </a:ln>
          </p:spPr>
        </p:sp>
        <p:sp>
          <p:nvSpPr>
            <p:cNvPr id="22" name="Rectangle 22"/>
            <p:cNvSpPr/>
            <p:nvPr/>
          </p:nvSpPr>
          <p:spPr>
            <a:xfrm>
              <a:off x="533400" y="3960495"/>
              <a:ext cx="3505200" cy="444818"/>
            </a:xfrm>
            <a:prstGeom prst="rect">
              <a:avLst/>
            </a:prstGeom>
            <a:solidFill>
              <a:srgbClr val="F4F6FB"/>
            </a:solidFill>
            <a:ln>
              <a:noFill/>
            </a:ln>
          </p:spPr>
        </p:sp>
        <p:sp>
          <p:nvSpPr>
            <p:cNvPr id="23" name="TextBox 23"/>
            <p:cNvSpPr txBox="1"/>
            <p:nvPr/>
          </p:nvSpPr>
          <p:spPr>
            <a:xfrm>
              <a:off x="632270" y="408813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4</a:t>
              </a:r>
            </a:p>
          </p:txBody>
        </p:sp>
        <p:sp>
          <p:nvSpPr>
            <p:cNvPr id="24" name="TextBox 24"/>
            <p:cNvSpPr txBox="1"/>
            <p:nvPr/>
          </p:nvSpPr>
          <p:spPr>
            <a:xfrm>
              <a:off x="1193292" y="4088130"/>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避免大量使用循环嵌套和条件嵌套</a:t>
              </a:r>
            </a:p>
          </p:txBody>
        </p:sp>
        <p:sp>
          <p:nvSpPr>
            <p:cNvPr id="25" name="Rectangle 25"/>
            <p:cNvSpPr/>
            <p:nvPr/>
          </p:nvSpPr>
          <p:spPr>
            <a:xfrm>
              <a:off x="533400" y="4399598"/>
              <a:ext cx="3505200" cy="9525"/>
            </a:xfrm>
            <a:prstGeom prst="rect">
              <a:avLst/>
            </a:prstGeom>
            <a:solidFill>
              <a:srgbClr val="D9DFEA"/>
            </a:solidFill>
            <a:ln>
              <a:noFill/>
            </a:ln>
          </p:spPr>
        </p:sp>
        <p:sp>
          <p:nvSpPr>
            <p:cNvPr id="26" name="TextBox 26"/>
            <p:cNvSpPr txBox="1"/>
            <p:nvPr/>
          </p:nvSpPr>
          <p:spPr>
            <a:xfrm>
              <a:off x="632270" y="4532948"/>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5</a:t>
              </a:r>
            </a:p>
          </p:txBody>
        </p:sp>
        <p:sp>
          <p:nvSpPr>
            <p:cNvPr id="27" name="TextBox 27"/>
            <p:cNvSpPr txBox="1"/>
            <p:nvPr/>
          </p:nvSpPr>
          <p:spPr>
            <a:xfrm>
              <a:off x="1193292" y="4532948"/>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用括号使运算次序清晰直观</a:t>
              </a:r>
            </a:p>
          </p:txBody>
        </p:sp>
        <p:sp>
          <p:nvSpPr>
            <p:cNvPr id="28" name="Rectangle 28"/>
            <p:cNvSpPr/>
            <p:nvPr/>
          </p:nvSpPr>
          <p:spPr>
            <a:xfrm>
              <a:off x="533400" y="1941195"/>
              <a:ext cx="3505200" cy="2907982"/>
            </a:xfrm>
            <a:prstGeom prst="rect">
              <a:avLst/>
            </a:prstGeom>
            <a:noFill/>
            <a:ln w="14288">
              <a:solidFill>
                <a:srgbClr val="D9DFEA"/>
              </a:solidFill>
            </a:ln>
          </p:spPr>
        </p:sp>
        <p:sp>
          <p:nvSpPr>
            <p:cNvPr id="29" name="Rectangle 29"/>
            <p:cNvSpPr/>
            <p:nvPr/>
          </p:nvSpPr>
          <p:spPr>
            <a:xfrm>
              <a:off x="1089660" y="1941195"/>
              <a:ext cx="9525" cy="2907982"/>
            </a:xfrm>
            <a:prstGeom prst="rect">
              <a:avLst/>
            </a:prstGeom>
            <a:solidFill>
              <a:srgbClr val="D9DFEA"/>
            </a:solidFill>
            <a:ln>
              <a:noFill/>
            </a:ln>
          </p:spPr>
        </p:sp>
      </p:grpSp>
      <p:grpSp>
        <p:nvGrpSpPr>
          <p:cNvPr id="56" name="c2-table-1"/>
          <p:cNvGrpSpPr/>
          <p:nvPr/>
        </p:nvGrpSpPr>
        <p:grpSpPr>
          <a:xfrm>
            <a:off x="4343400" y="1941195"/>
            <a:ext cx="3505200" cy="3352801"/>
            <a:chOff x="4343400" y="1941195"/>
            <a:chExt cx="3505200" cy="3352801"/>
          </a:xfrm>
        </p:grpSpPr>
        <p:sp>
          <p:nvSpPr>
            <p:cNvPr id="31" name="Rectangle 31"/>
            <p:cNvSpPr/>
            <p:nvPr/>
          </p:nvSpPr>
          <p:spPr>
            <a:xfrm>
              <a:off x="4343400" y="1941195"/>
              <a:ext cx="3505200" cy="684848"/>
            </a:xfrm>
            <a:prstGeom prst="rect">
              <a:avLst/>
            </a:prstGeom>
            <a:solidFill>
              <a:srgbClr val="334E68"/>
            </a:solidFill>
            <a:ln>
              <a:noFill/>
            </a:ln>
          </p:spPr>
        </p:sp>
        <p:sp>
          <p:nvSpPr>
            <p:cNvPr id="32" name="TextBox 32"/>
            <p:cNvSpPr txBox="1"/>
            <p:nvPr/>
          </p:nvSpPr>
          <p:spPr>
            <a:xfrm>
              <a:off x="4530852" y="2069782"/>
              <a:ext cx="185166" cy="504063"/>
            </a:xfrm>
            <a:prstGeom prst="rect">
              <a:avLst/>
            </a:prstGeom>
            <a:noFill/>
            <a:ln>
              <a:noFill/>
            </a:ln>
          </p:spPr>
          <p:txBody>
            <a:bodyPr wrap="none" lIns="0" tIns="0" rIns="0" bIns="0" anchor="t" anchorCtr="0">
              <a:spAutoFit/>
            </a:bodyPr>
            <a:lstStyle/>
            <a:p>
              <a:pPr algn="ctr">
                <a:lnSpc>
                  <a:spcPts val="1890"/>
                </a:lnSpc>
              </a:pPr>
              <a:r>
                <a:rPr lang="zh-CN" sz="1350" b="1" dirty="0">
                  <a:solidFill>
                    <a:srgbClr val="FFFFFF"/>
                  </a:solidFill>
                  <a:latin typeface="+mn-lt"/>
                  <a:ea typeface="+mn-ea"/>
                  <a:cs typeface="+mn-cs"/>
                </a:rPr>
                <a:t>编</a:t>
              </a:r>
              <a:br/>
              <a:r>
                <a:rPr lang="zh-CN" sz="1350" b="1" dirty="0">
                  <a:solidFill>
                    <a:srgbClr val="FFFFFF"/>
                  </a:solidFill>
                  <a:latin typeface="+mn-lt"/>
                  <a:ea typeface="+mn-ea"/>
                  <a:cs typeface="+mn-cs"/>
                </a:rPr>
                <a:t>号</a:t>
              </a:r>
            </a:p>
          </p:txBody>
        </p:sp>
        <p:sp>
          <p:nvSpPr>
            <p:cNvPr id="33" name="TextBox 33"/>
            <p:cNvSpPr txBox="1"/>
            <p:nvPr/>
          </p:nvSpPr>
          <p:spPr>
            <a:xfrm>
              <a:off x="6187440" y="218979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规则</a:t>
              </a:r>
            </a:p>
          </p:txBody>
        </p:sp>
        <p:sp>
          <p:nvSpPr>
            <p:cNvPr id="34" name="TextBox 34"/>
            <p:cNvSpPr txBox="1"/>
            <p:nvPr/>
          </p:nvSpPr>
          <p:spPr>
            <a:xfrm>
              <a:off x="4442270" y="275463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6</a:t>
              </a:r>
            </a:p>
          </p:txBody>
        </p:sp>
        <p:sp>
          <p:nvSpPr>
            <p:cNvPr id="35" name="TextBox 35"/>
            <p:cNvSpPr txBox="1"/>
            <p:nvPr/>
          </p:nvSpPr>
          <p:spPr>
            <a:xfrm>
              <a:off x="5003292" y="2754630"/>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清晰第一、效率第二，效率靠算法</a:t>
              </a:r>
            </a:p>
          </p:txBody>
        </p:sp>
        <p:sp>
          <p:nvSpPr>
            <p:cNvPr id="36" name="Rectangle 36"/>
            <p:cNvSpPr/>
            <p:nvPr/>
          </p:nvSpPr>
          <p:spPr>
            <a:xfrm>
              <a:off x="4343400" y="3066098"/>
              <a:ext cx="3505200" cy="9525"/>
            </a:xfrm>
            <a:prstGeom prst="rect">
              <a:avLst/>
            </a:prstGeom>
            <a:solidFill>
              <a:srgbClr val="D9DFEA"/>
            </a:solidFill>
            <a:ln>
              <a:noFill/>
            </a:ln>
          </p:spPr>
        </p:sp>
        <p:sp>
          <p:nvSpPr>
            <p:cNvPr id="37" name="Rectangle 37"/>
            <p:cNvSpPr/>
            <p:nvPr/>
          </p:nvSpPr>
          <p:spPr>
            <a:xfrm>
              <a:off x="4343400" y="3070860"/>
              <a:ext cx="3505200" cy="444818"/>
            </a:xfrm>
            <a:prstGeom prst="rect">
              <a:avLst/>
            </a:prstGeom>
            <a:solidFill>
              <a:srgbClr val="F4F6FB"/>
            </a:solidFill>
            <a:ln>
              <a:noFill/>
            </a:ln>
          </p:spPr>
        </p:sp>
        <p:sp>
          <p:nvSpPr>
            <p:cNvPr id="38" name="TextBox 38"/>
            <p:cNvSpPr txBox="1"/>
            <p:nvPr/>
          </p:nvSpPr>
          <p:spPr>
            <a:xfrm>
              <a:off x="4442270" y="319849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7</a:t>
              </a:r>
            </a:p>
          </p:txBody>
        </p:sp>
        <p:sp>
          <p:nvSpPr>
            <p:cNvPr id="39" name="TextBox 39"/>
            <p:cNvSpPr txBox="1"/>
            <p:nvPr/>
          </p:nvSpPr>
          <p:spPr>
            <a:xfrm>
              <a:off x="5003292" y="3198495"/>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程序要直截了当说明程序员的用意</a:t>
              </a:r>
            </a:p>
          </p:txBody>
        </p:sp>
        <p:sp>
          <p:nvSpPr>
            <p:cNvPr id="40" name="Rectangle 40"/>
            <p:cNvSpPr/>
            <p:nvPr/>
          </p:nvSpPr>
          <p:spPr>
            <a:xfrm>
              <a:off x="4343400" y="3510915"/>
              <a:ext cx="3505200" cy="9525"/>
            </a:xfrm>
            <a:prstGeom prst="rect">
              <a:avLst/>
            </a:prstGeom>
            <a:solidFill>
              <a:srgbClr val="D9DFEA"/>
            </a:solidFill>
            <a:ln>
              <a:noFill/>
            </a:ln>
          </p:spPr>
        </p:sp>
        <p:sp>
          <p:nvSpPr>
            <p:cNvPr id="41" name="TextBox 41"/>
            <p:cNvSpPr txBox="1"/>
            <p:nvPr/>
          </p:nvSpPr>
          <p:spPr>
            <a:xfrm>
              <a:off x="4442270" y="3643312"/>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8</a:t>
              </a:r>
            </a:p>
          </p:txBody>
        </p:sp>
        <p:sp>
          <p:nvSpPr>
            <p:cNvPr id="42" name="TextBox 42"/>
            <p:cNvSpPr txBox="1"/>
            <p:nvPr/>
          </p:nvSpPr>
          <p:spPr>
            <a:xfrm>
              <a:off x="5003292" y="3643312"/>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先保证程序正确，再要求提高速度</a:t>
              </a:r>
            </a:p>
          </p:txBody>
        </p:sp>
        <p:sp>
          <p:nvSpPr>
            <p:cNvPr id="43" name="Rectangle 43"/>
            <p:cNvSpPr/>
            <p:nvPr/>
          </p:nvSpPr>
          <p:spPr>
            <a:xfrm>
              <a:off x="4343400" y="3955732"/>
              <a:ext cx="3505200" cy="9525"/>
            </a:xfrm>
            <a:prstGeom prst="rect">
              <a:avLst/>
            </a:prstGeom>
            <a:solidFill>
              <a:srgbClr val="D9DFEA"/>
            </a:solidFill>
            <a:ln>
              <a:noFill/>
            </a:ln>
          </p:spPr>
        </p:sp>
        <p:sp>
          <p:nvSpPr>
            <p:cNvPr id="44" name="Rectangle 44"/>
            <p:cNvSpPr/>
            <p:nvPr/>
          </p:nvSpPr>
          <p:spPr>
            <a:xfrm>
              <a:off x="4343400" y="3960495"/>
              <a:ext cx="3505200" cy="444818"/>
            </a:xfrm>
            <a:prstGeom prst="rect">
              <a:avLst/>
            </a:prstGeom>
            <a:solidFill>
              <a:srgbClr val="F4F6FB"/>
            </a:solidFill>
            <a:ln>
              <a:noFill/>
            </a:ln>
          </p:spPr>
        </p:sp>
        <p:sp>
          <p:nvSpPr>
            <p:cNvPr id="45" name="TextBox 45"/>
            <p:cNvSpPr txBox="1"/>
            <p:nvPr/>
          </p:nvSpPr>
          <p:spPr>
            <a:xfrm>
              <a:off x="4442270" y="408813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9</a:t>
              </a:r>
            </a:p>
          </p:txBody>
        </p:sp>
        <p:sp>
          <p:nvSpPr>
            <p:cNvPr id="46" name="TextBox 46"/>
            <p:cNvSpPr txBox="1"/>
            <p:nvPr/>
          </p:nvSpPr>
          <p:spPr>
            <a:xfrm>
              <a:off x="5003292" y="4088130"/>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让编译程序做简单的优化</a:t>
              </a:r>
            </a:p>
          </p:txBody>
        </p:sp>
        <p:sp>
          <p:nvSpPr>
            <p:cNvPr id="47" name="Rectangle 47"/>
            <p:cNvSpPr/>
            <p:nvPr/>
          </p:nvSpPr>
          <p:spPr>
            <a:xfrm>
              <a:off x="4343400" y="4399598"/>
              <a:ext cx="3505200" cy="9525"/>
            </a:xfrm>
            <a:prstGeom prst="rect">
              <a:avLst/>
            </a:prstGeom>
            <a:solidFill>
              <a:srgbClr val="D9DFEA"/>
            </a:solidFill>
            <a:ln>
              <a:noFill/>
            </a:ln>
          </p:spPr>
        </p:sp>
        <p:sp>
          <p:nvSpPr>
            <p:cNvPr id="48" name="TextBox 48"/>
            <p:cNvSpPr txBox="1"/>
            <p:nvPr/>
          </p:nvSpPr>
          <p:spPr>
            <a:xfrm>
              <a:off x="4442270" y="4532948"/>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10</a:t>
              </a:r>
            </a:p>
          </p:txBody>
        </p:sp>
        <p:sp>
          <p:nvSpPr>
            <p:cNvPr id="49" name="TextBox 49"/>
            <p:cNvSpPr txBox="1"/>
            <p:nvPr/>
          </p:nvSpPr>
          <p:spPr>
            <a:xfrm>
              <a:off x="5003292" y="4532948"/>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尽可能使用库函数</a:t>
              </a:r>
            </a:p>
          </p:txBody>
        </p:sp>
        <p:sp>
          <p:nvSpPr>
            <p:cNvPr id="50" name="Rectangle 50"/>
            <p:cNvSpPr/>
            <p:nvPr/>
          </p:nvSpPr>
          <p:spPr>
            <a:xfrm>
              <a:off x="4343400" y="4844415"/>
              <a:ext cx="3505200" cy="9525"/>
            </a:xfrm>
            <a:prstGeom prst="rect">
              <a:avLst/>
            </a:prstGeom>
            <a:solidFill>
              <a:srgbClr val="D9DFEA"/>
            </a:solidFill>
            <a:ln>
              <a:noFill/>
            </a:ln>
          </p:spPr>
        </p:sp>
        <p:sp>
          <p:nvSpPr>
            <p:cNvPr id="51" name="Rectangle 51"/>
            <p:cNvSpPr/>
            <p:nvPr/>
          </p:nvSpPr>
          <p:spPr>
            <a:xfrm>
              <a:off x="4343400" y="4849178"/>
              <a:ext cx="3505200" cy="444818"/>
            </a:xfrm>
            <a:prstGeom prst="rect">
              <a:avLst/>
            </a:prstGeom>
            <a:solidFill>
              <a:srgbClr val="F4F6FB"/>
            </a:solidFill>
            <a:ln>
              <a:noFill/>
            </a:ln>
          </p:spPr>
        </p:sp>
        <p:sp>
          <p:nvSpPr>
            <p:cNvPr id="52" name="TextBox 52"/>
            <p:cNvSpPr txBox="1"/>
            <p:nvPr/>
          </p:nvSpPr>
          <p:spPr>
            <a:xfrm>
              <a:off x="4442270" y="4977765"/>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11</a:t>
              </a:r>
            </a:p>
          </p:txBody>
        </p:sp>
        <p:sp>
          <p:nvSpPr>
            <p:cNvPr id="53" name="TextBox 53"/>
            <p:cNvSpPr txBox="1"/>
            <p:nvPr/>
          </p:nvSpPr>
          <p:spPr>
            <a:xfrm>
              <a:off x="5003292" y="4977765"/>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避免用临时变量降低可读性</a:t>
              </a:r>
            </a:p>
          </p:txBody>
        </p:sp>
        <p:sp>
          <p:nvSpPr>
            <p:cNvPr id="54" name="Rectangle 54"/>
            <p:cNvSpPr/>
            <p:nvPr/>
          </p:nvSpPr>
          <p:spPr>
            <a:xfrm>
              <a:off x="4343400" y="1941195"/>
              <a:ext cx="3505200" cy="3352800"/>
            </a:xfrm>
            <a:prstGeom prst="rect">
              <a:avLst/>
            </a:prstGeom>
            <a:noFill/>
            <a:ln w="14288">
              <a:solidFill>
                <a:srgbClr val="D9DFEA"/>
              </a:solidFill>
            </a:ln>
          </p:spPr>
        </p:sp>
        <p:sp>
          <p:nvSpPr>
            <p:cNvPr id="55" name="Rectangle 55"/>
            <p:cNvSpPr/>
            <p:nvPr/>
          </p:nvSpPr>
          <p:spPr>
            <a:xfrm>
              <a:off x="4899660" y="1941195"/>
              <a:ext cx="9525" cy="3352800"/>
            </a:xfrm>
            <a:prstGeom prst="rect">
              <a:avLst/>
            </a:prstGeom>
            <a:solidFill>
              <a:srgbClr val="D9DFEA"/>
            </a:solidFill>
            <a:ln>
              <a:noFill/>
            </a:ln>
          </p:spPr>
        </p:sp>
      </p:grpSp>
      <p:grpSp>
        <p:nvGrpSpPr>
          <p:cNvPr id="78" name="c3-table-1"/>
          <p:cNvGrpSpPr/>
          <p:nvPr/>
        </p:nvGrpSpPr>
        <p:grpSpPr>
          <a:xfrm>
            <a:off x="8153400" y="1941195"/>
            <a:ext cx="3505200" cy="3388042"/>
            <a:chOff x="8153400" y="1941195"/>
            <a:chExt cx="3505200" cy="3388042"/>
          </a:xfrm>
        </p:grpSpPr>
        <p:sp>
          <p:nvSpPr>
            <p:cNvPr id="57" name="Rectangle 57"/>
            <p:cNvSpPr/>
            <p:nvPr/>
          </p:nvSpPr>
          <p:spPr>
            <a:xfrm>
              <a:off x="8153400" y="1941195"/>
              <a:ext cx="3505200" cy="684848"/>
            </a:xfrm>
            <a:prstGeom prst="rect">
              <a:avLst/>
            </a:prstGeom>
            <a:solidFill>
              <a:srgbClr val="334E68"/>
            </a:solidFill>
            <a:ln>
              <a:noFill/>
            </a:ln>
          </p:spPr>
        </p:sp>
        <p:sp>
          <p:nvSpPr>
            <p:cNvPr id="58" name="TextBox 58"/>
            <p:cNvSpPr txBox="1"/>
            <p:nvPr/>
          </p:nvSpPr>
          <p:spPr>
            <a:xfrm>
              <a:off x="8340852" y="2069782"/>
              <a:ext cx="185166" cy="504063"/>
            </a:xfrm>
            <a:prstGeom prst="rect">
              <a:avLst/>
            </a:prstGeom>
            <a:noFill/>
            <a:ln>
              <a:noFill/>
            </a:ln>
          </p:spPr>
          <p:txBody>
            <a:bodyPr wrap="none" lIns="0" tIns="0" rIns="0" bIns="0" anchor="t" anchorCtr="0">
              <a:spAutoFit/>
            </a:bodyPr>
            <a:lstStyle/>
            <a:p>
              <a:pPr algn="ctr">
                <a:lnSpc>
                  <a:spcPts val="1890"/>
                </a:lnSpc>
              </a:pPr>
              <a:r>
                <a:rPr lang="zh-CN" sz="1350" b="1" dirty="0">
                  <a:solidFill>
                    <a:srgbClr val="FFFFFF"/>
                  </a:solidFill>
                  <a:latin typeface="+mn-lt"/>
                  <a:ea typeface="+mn-ea"/>
                  <a:cs typeface="+mn-cs"/>
                </a:rPr>
                <a:t>编</a:t>
              </a:r>
              <a:br/>
              <a:r>
                <a:rPr lang="zh-CN" sz="1350" b="1" dirty="0">
                  <a:solidFill>
                    <a:srgbClr val="FFFFFF"/>
                  </a:solidFill>
                  <a:latin typeface="+mn-lt"/>
                  <a:ea typeface="+mn-ea"/>
                  <a:cs typeface="+mn-cs"/>
                </a:rPr>
                <a:t>号</a:t>
              </a:r>
            </a:p>
          </p:txBody>
        </p:sp>
        <p:sp>
          <p:nvSpPr>
            <p:cNvPr id="59" name="TextBox 59"/>
            <p:cNvSpPr txBox="1"/>
            <p:nvPr/>
          </p:nvSpPr>
          <p:spPr>
            <a:xfrm>
              <a:off x="9997440" y="2189798"/>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规则</a:t>
              </a:r>
            </a:p>
          </p:txBody>
        </p:sp>
        <p:sp>
          <p:nvSpPr>
            <p:cNvPr id="60" name="TextBox 60"/>
            <p:cNvSpPr txBox="1"/>
            <p:nvPr/>
          </p:nvSpPr>
          <p:spPr>
            <a:xfrm>
              <a:off x="8252270" y="2754630"/>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12</a:t>
              </a:r>
            </a:p>
          </p:txBody>
        </p:sp>
        <p:sp>
          <p:nvSpPr>
            <p:cNvPr id="61" name="TextBox 61"/>
            <p:cNvSpPr txBox="1"/>
            <p:nvPr/>
          </p:nvSpPr>
          <p:spPr>
            <a:xfrm>
              <a:off x="8813292" y="2754630"/>
              <a:ext cx="25696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避免不必要的转移，少用 GOTO</a:t>
              </a:r>
            </a:p>
          </p:txBody>
        </p:sp>
        <p:sp>
          <p:nvSpPr>
            <p:cNvPr id="62" name="Rectangle 62"/>
            <p:cNvSpPr/>
            <p:nvPr/>
          </p:nvSpPr>
          <p:spPr>
            <a:xfrm>
              <a:off x="8153400" y="3066098"/>
              <a:ext cx="3505200" cy="9525"/>
            </a:xfrm>
            <a:prstGeom prst="rect">
              <a:avLst/>
            </a:prstGeom>
            <a:solidFill>
              <a:srgbClr val="D9DFEA"/>
            </a:solidFill>
            <a:ln>
              <a:noFill/>
            </a:ln>
          </p:spPr>
        </p:sp>
        <p:sp>
          <p:nvSpPr>
            <p:cNvPr id="63" name="Rectangle 63"/>
            <p:cNvSpPr/>
            <p:nvPr/>
          </p:nvSpPr>
          <p:spPr>
            <a:xfrm>
              <a:off x="8153400" y="3070860"/>
              <a:ext cx="3505200" cy="444818"/>
            </a:xfrm>
            <a:prstGeom prst="rect">
              <a:avLst/>
            </a:prstGeom>
            <a:solidFill>
              <a:srgbClr val="F4F6FB"/>
            </a:solidFill>
            <a:ln>
              <a:noFill/>
            </a:ln>
          </p:spPr>
        </p:sp>
        <p:sp>
          <p:nvSpPr>
            <p:cNvPr id="64" name="TextBox 64"/>
            <p:cNvSpPr txBox="1"/>
            <p:nvPr/>
          </p:nvSpPr>
          <p:spPr>
            <a:xfrm>
              <a:off x="8252270" y="3198495"/>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13</a:t>
              </a:r>
            </a:p>
          </p:txBody>
        </p:sp>
        <p:sp>
          <p:nvSpPr>
            <p:cNvPr id="65" name="TextBox 65"/>
            <p:cNvSpPr txBox="1"/>
            <p:nvPr/>
          </p:nvSpPr>
          <p:spPr>
            <a:xfrm>
              <a:off x="8813292" y="3198495"/>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尽量只用三种基本控制结构</a:t>
              </a:r>
            </a:p>
          </p:txBody>
        </p:sp>
        <p:sp>
          <p:nvSpPr>
            <p:cNvPr id="66" name="Rectangle 66"/>
            <p:cNvSpPr/>
            <p:nvPr/>
          </p:nvSpPr>
          <p:spPr>
            <a:xfrm>
              <a:off x="8153400" y="3510915"/>
              <a:ext cx="3505200" cy="9525"/>
            </a:xfrm>
            <a:prstGeom prst="rect">
              <a:avLst/>
            </a:prstGeom>
            <a:solidFill>
              <a:srgbClr val="D9DFEA"/>
            </a:solidFill>
            <a:ln>
              <a:noFill/>
            </a:ln>
          </p:spPr>
        </p:sp>
        <p:sp>
          <p:nvSpPr>
            <p:cNvPr id="67" name="TextBox 67"/>
            <p:cNvSpPr txBox="1"/>
            <p:nvPr/>
          </p:nvSpPr>
          <p:spPr>
            <a:xfrm>
              <a:off x="8252270" y="3643312"/>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14</a:t>
              </a:r>
            </a:p>
          </p:txBody>
        </p:sp>
        <p:sp>
          <p:nvSpPr>
            <p:cNvPr id="68" name="TextBox 68"/>
            <p:cNvSpPr txBox="1"/>
            <p:nvPr/>
          </p:nvSpPr>
          <p:spPr>
            <a:xfrm>
              <a:off x="8813292" y="3643312"/>
              <a:ext cx="277474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避免空 ELSE 和 IF…THEN IF… 结构</a:t>
              </a:r>
            </a:p>
          </p:txBody>
        </p:sp>
        <p:sp>
          <p:nvSpPr>
            <p:cNvPr id="69" name="Rectangle 69"/>
            <p:cNvSpPr/>
            <p:nvPr/>
          </p:nvSpPr>
          <p:spPr>
            <a:xfrm>
              <a:off x="8153400" y="3955732"/>
              <a:ext cx="3505200" cy="9525"/>
            </a:xfrm>
            <a:prstGeom prst="rect">
              <a:avLst/>
            </a:prstGeom>
            <a:solidFill>
              <a:srgbClr val="D9DFEA"/>
            </a:solidFill>
            <a:ln>
              <a:noFill/>
            </a:ln>
          </p:spPr>
        </p:sp>
        <p:sp>
          <p:nvSpPr>
            <p:cNvPr id="70" name="Rectangle 70"/>
            <p:cNvSpPr/>
            <p:nvPr/>
          </p:nvSpPr>
          <p:spPr>
            <a:xfrm>
              <a:off x="8153400" y="3960495"/>
              <a:ext cx="3505200" cy="684848"/>
            </a:xfrm>
            <a:prstGeom prst="rect">
              <a:avLst/>
            </a:prstGeom>
            <a:solidFill>
              <a:srgbClr val="F4F6FB"/>
            </a:solidFill>
            <a:ln>
              <a:noFill/>
            </a:ln>
          </p:spPr>
        </p:sp>
        <p:sp>
          <p:nvSpPr>
            <p:cNvPr id="71" name="TextBox 71"/>
            <p:cNvSpPr txBox="1"/>
            <p:nvPr/>
          </p:nvSpPr>
          <p:spPr>
            <a:xfrm>
              <a:off x="8252270" y="4208145"/>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15</a:t>
              </a:r>
            </a:p>
          </p:txBody>
        </p:sp>
        <p:sp>
          <p:nvSpPr>
            <p:cNvPr id="72" name="TextBox 72"/>
            <p:cNvSpPr txBox="1"/>
            <p:nvPr/>
          </p:nvSpPr>
          <p:spPr>
            <a:xfrm>
              <a:off x="8813292" y="4088130"/>
              <a:ext cx="2499741"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浮点数不比相等，改判 |x0-x1| &lt;</a:t>
              </a:r>
              <a:br/>
              <a:r>
                <a:rPr lang="el-GR" sz="1350" dirty="0">
                  <a:solidFill>
                    <a:srgbClr val="1F2937"/>
                  </a:solidFill>
                  <a:latin typeface="+mn-lt"/>
                  <a:ea typeface="+mn-ea"/>
                  <a:cs typeface="+mn-cs"/>
                </a:rPr>
                <a:t>ε</a:t>
              </a:r>
            </a:p>
          </p:txBody>
        </p:sp>
        <p:sp>
          <p:nvSpPr>
            <p:cNvPr id="73" name="Rectangle 73"/>
            <p:cNvSpPr/>
            <p:nvPr/>
          </p:nvSpPr>
          <p:spPr>
            <a:xfrm>
              <a:off x="8153400" y="4639628"/>
              <a:ext cx="3505200" cy="9525"/>
            </a:xfrm>
            <a:prstGeom prst="rect">
              <a:avLst/>
            </a:prstGeom>
            <a:solidFill>
              <a:srgbClr val="D9DFEA"/>
            </a:solidFill>
            <a:ln>
              <a:noFill/>
            </a:ln>
          </p:spPr>
        </p:sp>
        <p:sp>
          <p:nvSpPr>
            <p:cNvPr id="74" name="TextBox 74"/>
            <p:cNvSpPr txBox="1"/>
            <p:nvPr/>
          </p:nvSpPr>
          <p:spPr>
            <a:xfrm>
              <a:off x="8252270" y="4892992"/>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16</a:t>
              </a:r>
            </a:p>
          </p:txBody>
        </p:sp>
        <p:sp>
          <p:nvSpPr>
            <p:cNvPr id="75" name="TextBox 75"/>
            <p:cNvSpPr txBox="1"/>
            <p:nvPr/>
          </p:nvSpPr>
          <p:spPr>
            <a:xfrm>
              <a:off x="8813292" y="4772978"/>
              <a:ext cx="25854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先写伪码描述流程，再翻译成目标</a:t>
              </a:r>
              <a:br/>
              <a:r>
                <a:rPr lang="zh-CN" sz="1350" dirty="0">
                  <a:solidFill>
                    <a:srgbClr val="1F2937"/>
                  </a:solidFill>
                  <a:latin typeface="+mn-lt"/>
                  <a:ea typeface="+mn-ea"/>
                  <a:cs typeface="+mn-cs"/>
                </a:rPr>
                <a:t>语言</a:t>
              </a:r>
            </a:p>
          </p:txBody>
        </p:sp>
        <p:sp>
          <p:nvSpPr>
            <p:cNvPr id="76" name="Rectangle 76"/>
            <p:cNvSpPr/>
            <p:nvPr/>
          </p:nvSpPr>
          <p:spPr>
            <a:xfrm>
              <a:off x="8153400" y="1941195"/>
              <a:ext cx="3505200" cy="3388042"/>
            </a:xfrm>
            <a:prstGeom prst="rect">
              <a:avLst/>
            </a:prstGeom>
            <a:noFill/>
            <a:ln w="14288">
              <a:solidFill>
                <a:srgbClr val="D9DFEA"/>
              </a:solidFill>
            </a:ln>
          </p:spPr>
        </p:sp>
        <p:sp>
          <p:nvSpPr>
            <p:cNvPr id="77" name="Rectangle 77"/>
            <p:cNvSpPr/>
            <p:nvPr/>
          </p:nvSpPr>
          <p:spPr>
            <a:xfrm>
              <a:off x="8709660" y="1941195"/>
              <a:ext cx="9525" cy="3388042"/>
            </a:xfrm>
            <a:prstGeom prst="rect">
              <a:avLst/>
            </a:prstGeom>
            <a:solidFill>
              <a:srgbClr val="D9DFEA"/>
            </a:solidFill>
            <a:ln>
              <a:noFill/>
            </a:ln>
          </p:spPr>
        </p:sp>
      </p:grpSp>
      <p:grpSp>
        <p:nvGrpSpPr>
          <p:cNvPr id="84" name="takeaway"/>
          <p:cNvGrpSpPr/>
          <p:nvPr/>
        </p:nvGrpSpPr>
        <p:grpSpPr>
          <a:xfrm>
            <a:off x="533400" y="5874068"/>
            <a:ext cx="11125200" cy="488632"/>
            <a:chOff x="533400" y="5874068"/>
            <a:chExt cx="11125200" cy="488632"/>
          </a:xfrm>
        </p:grpSpPr>
        <p:sp>
          <p:nvSpPr>
            <p:cNvPr id="79" name="Rectangle 79"/>
            <p:cNvSpPr/>
            <p:nvPr/>
          </p:nvSpPr>
          <p:spPr>
            <a:xfrm>
              <a:off x="533400" y="5874068"/>
              <a:ext cx="11125200" cy="488632"/>
            </a:xfrm>
            <a:prstGeom prst="roundRect">
              <a:avLst>
                <a:gd name="adj" fmla="val 23392"/>
              </a:avLst>
            </a:prstGeom>
            <a:solidFill>
              <a:srgbClr val="334E68"/>
            </a:solidFill>
            <a:ln>
              <a:noFill/>
            </a:ln>
          </p:spPr>
        </p:sp>
        <p:grpSp>
          <p:nvGrpSpPr>
            <p:cNvPr id="82" name="Group 82"/>
            <p:cNvGrpSpPr/>
            <p:nvPr/>
          </p:nvGrpSpPr>
          <p:grpSpPr>
            <a:xfrm>
              <a:off x="738188" y="6017897"/>
              <a:ext cx="200023" cy="200023"/>
              <a:chOff x="738188" y="6017897"/>
              <a:chExt cx="200023" cy="200023"/>
            </a:xfrm>
          </p:grpSpPr>
          <p:sp>
            <p:nvSpPr>
              <p:cNvPr id="80" name="Freeform 80"/>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1" name="Freeform 81"/>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3" name="TextBox 83"/>
            <p:cNvSpPr txBox="1"/>
            <p:nvPr/>
          </p:nvSpPr>
          <p:spPr>
            <a:xfrm>
              <a:off x="1040892" y="6023610"/>
              <a:ext cx="802831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规则背不全也没关系，写完反问一句“如果我不是编码的人，还能看懂它吗”，多数毛病就露出来了。</a:t>
              </a:r>
            </a:p>
          </p:txBody>
        </p:sp>
      </p:grpSp>
      <p:grpSp>
        <p:nvGrpSpPr>
          <p:cNvPr id="87" name="footer"/>
          <p:cNvGrpSpPr/>
          <p:nvPr/>
        </p:nvGrpSpPr>
        <p:grpSpPr>
          <a:xfrm>
            <a:off x="528447" y="6581299"/>
            <a:ext cx="11135106" cy="190690"/>
            <a:chOff x="528447" y="6581299"/>
            <a:chExt cx="11135106" cy="190690"/>
          </a:xfrm>
        </p:grpSpPr>
        <p:sp>
          <p:nvSpPr>
            <p:cNvPr id="85" name="TextBox 8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6" name="TextBox 86"/>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取巧的写法救不了效率，只会让人读不懂</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5410200" cy="858202"/>
            <a:chOff x="533400" y="1524000"/>
            <a:chExt cx="5410200" cy="858202"/>
          </a:xfrm>
        </p:grpSpPr>
        <p:sp>
          <p:nvSpPr>
            <p:cNvPr id="7" name="Rectangle 7"/>
            <p:cNvSpPr/>
            <p:nvPr/>
          </p:nvSpPr>
          <p:spPr>
            <a:xfrm>
              <a:off x="533400" y="1524000"/>
              <a:ext cx="5410200" cy="858202"/>
            </a:xfrm>
            <a:prstGeom prst="roundRect">
              <a:avLst>
                <a:gd name="adj" fmla="val 11099"/>
              </a:avLst>
            </a:prstGeom>
            <a:solidFill>
              <a:srgbClr val="F6F8FA"/>
            </a:solidFill>
            <a:ln w="11430">
              <a:solidFill>
                <a:srgbClr val="D9DFEA"/>
              </a:solidFill>
            </a:ln>
          </p:spPr>
        </p:sp>
        <p:sp>
          <p:nvSpPr>
            <p:cNvPr id="8" name="TextBox 8"/>
            <p:cNvSpPr txBox="1"/>
            <p:nvPr/>
          </p:nvSpPr>
          <p:spPr>
            <a:xfrm>
              <a:off x="661797" y="1675924"/>
              <a:ext cx="1335449"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规则 3　少用“非”条件</a:t>
              </a:r>
            </a:p>
          </p:txBody>
        </p:sp>
        <p:sp>
          <p:nvSpPr>
            <p:cNvPr id="9" name="TextBox 9"/>
            <p:cNvSpPr txBox="1"/>
            <p:nvPr/>
          </p:nvSpPr>
          <p:spPr>
            <a:xfrm>
              <a:off x="661797" y="1935956"/>
              <a:ext cx="3202305" cy="366903"/>
            </a:xfrm>
            <a:prstGeom prst="rect">
              <a:avLst/>
            </a:prstGeom>
            <a:noFill/>
            <a:ln>
              <a:noFill/>
            </a:ln>
          </p:spPr>
          <p:txBody>
            <a:bodyPr wrap="none" lIns="0" tIns="0" rIns="0" bIns="0" anchor="t" anchorCtr="0">
              <a:spAutoFit/>
            </a:bodyPr>
            <a:lstStyle/>
            <a:p>
              <a:pPr algn="l">
                <a:lnSpc>
                  <a:spcPts val="1388"/>
                </a:lnSpc>
              </a:pPr>
              <a:r>
                <a:rPr lang="zh-CN" sz="980" dirty="0">
                  <a:solidFill>
                    <a:srgbClr val="1F2937"/>
                  </a:solidFill>
                  <a:latin typeface="Consolas"/>
                  <a:ea typeface="Microsoft YaHei"/>
                  <a:cs typeface="Consolas"/>
                </a:rPr>
                <a:t>差： IF NOT ((CHAR&lt;</a:t>
              </a:r>
              <a:r>
                <a:rPr lang="zh-CN" sz="980" dirty="0">
                  <a:solidFill>
                    <a:srgbClr val="C2410C"/>
                  </a:solidFill>
                  <a:latin typeface="Consolas"/>
                  <a:ea typeface="Consolas"/>
                  <a:cs typeface="Consolas"/>
                </a:rPr>
                <a:t>'0'</a:t>
              </a:r>
              <a:r>
                <a:rPr lang="en-US" sz="980" dirty="0">
                  <a:solidFill>
                    <a:srgbClr val="1F2937"/>
                  </a:solidFill>
                  <a:latin typeface="Consolas"/>
                  <a:ea typeface="Consolas"/>
                  <a:cs typeface="Consolas"/>
                </a:rPr>
                <a:t>) OR (CHAR&gt;</a:t>
              </a:r>
              <a:r>
                <a:rPr lang="zh-CN" sz="980" dirty="0">
                  <a:solidFill>
                    <a:srgbClr val="C2410C"/>
                  </a:solidFill>
                  <a:latin typeface="Consolas"/>
                  <a:ea typeface="Consolas"/>
                  <a:cs typeface="Consolas"/>
                </a:rPr>
                <a:t>'9'</a:t>
              </a:r>
              <a:r>
                <a:rPr lang="en-US" sz="980" dirty="0">
                  <a:solidFill>
                    <a:srgbClr val="1F2937"/>
                  </a:solidFill>
                  <a:latin typeface="Consolas"/>
                  <a:ea typeface="Consolas"/>
                  <a:cs typeface="Consolas"/>
                </a:rPr>
                <a:t>)) THEN ...</a:t>
              </a:r>
              <a:br/>
              <a:r>
                <a:rPr lang="zh-CN" sz="980" dirty="0">
                  <a:solidFill>
                    <a:srgbClr val="1F2937"/>
                  </a:solidFill>
                  <a:latin typeface="Consolas"/>
                  <a:ea typeface="Microsoft YaHei"/>
                  <a:cs typeface="Consolas"/>
                </a:rPr>
                <a:t>好： IF (CHAR&gt;=</a:t>
              </a:r>
              <a:r>
                <a:rPr lang="zh-CN" sz="980" dirty="0">
                  <a:solidFill>
                    <a:srgbClr val="C2410C"/>
                  </a:solidFill>
                  <a:latin typeface="Consolas"/>
                  <a:ea typeface="Consolas"/>
                  <a:cs typeface="Consolas"/>
                </a:rPr>
                <a:t>'0'</a:t>
              </a:r>
              <a:r>
                <a:rPr lang="en-US" sz="980" dirty="0">
                  <a:solidFill>
                    <a:srgbClr val="1F2937"/>
                  </a:solidFill>
                  <a:latin typeface="Consolas"/>
                  <a:ea typeface="Consolas"/>
                  <a:cs typeface="Consolas"/>
                </a:rPr>
                <a:t>) AND (CHAR&lt;=</a:t>
              </a:r>
              <a:r>
                <a:rPr lang="zh-CN" sz="980" dirty="0">
                  <a:solidFill>
                    <a:srgbClr val="C2410C"/>
                  </a:solidFill>
                  <a:latin typeface="Consolas"/>
                  <a:ea typeface="Consolas"/>
                  <a:cs typeface="Consolas"/>
                </a:rPr>
                <a:t>'9'</a:t>
              </a:r>
              <a:r>
                <a:rPr lang="en-US" sz="980" dirty="0">
                  <a:solidFill>
                    <a:srgbClr val="1F2937"/>
                  </a:solidFill>
                  <a:latin typeface="Consolas"/>
                  <a:ea typeface="Consolas"/>
                  <a:cs typeface="Consolas"/>
                </a:rPr>
                <a:t>)    THEN ...</a:t>
              </a:r>
            </a:p>
          </p:txBody>
        </p:sp>
      </p:grpSp>
      <p:grpSp>
        <p:nvGrpSpPr>
          <p:cNvPr id="14" name="c1-code-2"/>
          <p:cNvGrpSpPr/>
          <p:nvPr/>
        </p:nvGrpSpPr>
        <p:grpSpPr>
          <a:xfrm>
            <a:off x="533400" y="2551748"/>
            <a:ext cx="5410200" cy="2088832"/>
            <a:chOff x="533400" y="2551748"/>
            <a:chExt cx="5410200" cy="2088832"/>
          </a:xfrm>
        </p:grpSpPr>
        <p:sp>
          <p:nvSpPr>
            <p:cNvPr id="11" name="Rectangle 11"/>
            <p:cNvSpPr/>
            <p:nvPr/>
          </p:nvSpPr>
          <p:spPr>
            <a:xfrm>
              <a:off x="533400" y="2551748"/>
              <a:ext cx="5410200" cy="2088832"/>
            </a:xfrm>
            <a:prstGeom prst="roundRect">
              <a:avLst>
                <a:gd name="adj" fmla="val 4560"/>
              </a:avLst>
            </a:prstGeom>
            <a:solidFill>
              <a:srgbClr val="F6F8FA"/>
            </a:solidFill>
            <a:ln w="11430">
              <a:solidFill>
                <a:srgbClr val="D9DFEA"/>
              </a:solidFill>
            </a:ln>
          </p:spPr>
        </p:sp>
        <p:sp>
          <p:nvSpPr>
            <p:cNvPr id="12" name="TextBox 12"/>
            <p:cNvSpPr txBox="1"/>
            <p:nvPr/>
          </p:nvSpPr>
          <p:spPr>
            <a:xfrm>
              <a:off x="661797" y="2703671"/>
              <a:ext cx="1710783"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规则 6　清晰第一，效率第二</a:t>
              </a:r>
            </a:p>
          </p:txBody>
        </p:sp>
        <p:sp>
          <p:nvSpPr>
            <p:cNvPr id="13" name="TextBox 13"/>
            <p:cNvSpPr txBox="1"/>
            <p:nvPr/>
          </p:nvSpPr>
          <p:spPr>
            <a:xfrm>
              <a:off x="661797" y="2963704"/>
              <a:ext cx="2667127" cy="1600390"/>
            </a:xfrm>
            <a:prstGeom prst="rect">
              <a:avLst/>
            </a:prstGeom>
            <a:noFill/>
            <a:ln>
              <a:noFill/>
            </a:ln>
          </p:spPr>
          <p:txBody>
            <a:bodyPr wrap="none" lIns="0" tIns="0" rIns="0" bIns="0" anchor="t" anchorCtr="0">
              <a:spAutoFit/>
            </a:bodyPr>
            <a:lstStyle/>
            <a:p>
              <a:pPr algn="l">
                <a:lnSpc>
                  <a:spcPts val="1388"/>
                </a:lnSpc>
              </a:pPr>
              <a:r>
                <a:rPr lang="zh-CN" sz="980" dirty="0">
                  <a:solidFill>
                    <a:srgbClr val="0F7A68"/>
                  </a:solidFill>
                  <a:latin typeface="Consolas"/>
                  <a:ea typeface="Microsoft YaHei"/>
                  <a:cs typeface="Consolas"/>
                </a:rPr>
                <a:t>/* 取巧：不用中间变量交换 A[I] 与 A[T] */</a:t>
              </a:r>
              <a:br/>
              <a:r>
                <a:rPr lang="en-US" sz="980" dirty="0">
                  <a:solidFill>
                    <a:srgbClr val="1F2937"/>
                  </a:solidFill>
                  <a:latin typeface="Consolas"/>
                  <a:ea typeface="Consolas"/>
                  <a:cs typeface="Consolas"/>
                </a:rPr>
                <a:t>A[I] = A[I] + A[T];</a:t>
              </a:r>
              <a:br/>
              <a:r>
                <a:rPr lang="en-US" sz="980" dirty="0">
                  <a:solidFill>
                    <a:srgbClr val="1F2937"/>
                  </a:solidFill>
                  <a:latin typeface="Consolas"/>
                  <a:ea typeface="Consolas"/>
                  <a:cs typeface="Consolas"/>
                </a:rPr>
                <a:t>A[T] = A[I] - A[T];</a:t>
              </a:r>
              <a:br/>
              <a:r>
                <a:rPr lang="en-US" sz="980" dirty="0">
                  <a:solidFill>
                    <a:srgbClr val="1F2937"/>
                  </a:solidFill>
                  <a:latin typeface="Consolas"/>
                  <a:ea typeface="Consolas"/>
                  <a:cs typeface="Consolas"/>
                </a:rPr>
                <a:t>A[I] = A[I] - A[T];</a:t>
              </a:r>
              <a:br/>
              <a:r>
                <a:rPr lang="zh-CN" sz="980" dirty="0">
                  <a:solidFill>
                    <a:srgbClr val="1F2937"/>
                  </a:solidFill>
                  <a:latin typeface="Consolas"/>
                  <a:ea typeface="Consolas"/>
                  <a:cs typeface="Consolas"/>
                </a:rPr>
                <a:t xml:space="preserve"> </a:t>
              </a:r>
              <a:br/>
              <a:r>
                <a:rPr lang="zh-CN" sz="980" dirty="0">
                  <a:solidFill>
                    <a:srgbClr val="0F7A68"/>
                  </a:solidFill>
                  <a:latin typeface="Consolas"/>
                  <a:ea typeface="Microsoft YaHei"/>
                  <a:cs typeface="Consolas"/>
                </a:rPr>
                <a:t>/* 清楚：用一个临时变量 */</a:t>
              </a:r>
              <a:br/>
              <a:r>
                <a:rPr lang="en-US" sz="980" dirty="0">
                  <a:solidFill>
                    <a:srgbClr val="1F2937"/>
                  </a:solidFill>
                  <a:latin typeface="Consolas"/>
                  <a:ea typeface="Consolas"/>
                  <a:cs typeface="Consolas"/>
                </a:rPr>
                <a:t>WORK = A[T];</a:t>
              </a:r>
              <a:br/>
              <a:r>
                <a:rPr lang="en-US" sz="980" dirty="0">
                  <a:solidFill>
                    <a:srgbClr val="1F2937"/>
                  </a:solidFill>
                  <a:latin typeface="Consolas"/>
                  <a:ea typeface="Consolas"/>
                  <a:cs typeface="Consolas"/>
                </a:rPr>
                <a:t>A[T] = A[I];</a:t>
              </a:r>
              <a:br/>
              <a:r>
                <a:rPr lang="en-US" sz="980" dirty="0">
                  <a:solidFill>
                    <a:srgbClr val="1F2937"/>
                  </a:solidFill>
                  <a:latin typeface="Consolas"/>
                  <a:ea typeface="Consolas"/>
                  <a:cs typeface="Consolas"/>
                </a:rPr>
                <a:t>A[I] = WORK;</a:t>
              </a:r>
            </a:p>
          </p:txBody>
        </p:sp>
      </p:grpSp>
      <p:grpSp>
        <p:nvGrpSpPr>
          <p:cNvPr id="18" name="c1-code-3"/>
          <p:cNvGrpSpPr/>
          <p:nvPr/>
        </p:nvGrpSpPr>
        <p:grpSpPr>
          <a:xfrm>
            <a:off x="533400" y="4810125"/>
            <a:ext cx="5410200" cy="1384935"/>
            <a:chOff x="533400" y="4810125"/>
            <a:chExt cx="5410200" cy="1384935"/>
          </a:xfrm>
        </p:grpSpPr>
        <p:sp>
          <p:nvSpPr>
            <p:cNvPr id="15" name="Rectangle 15"/>
            <p:cNvSpPr/>
            <p:nvPr/>
          </p:nvSpPr>
          <p:spPr>
            <a:xfrm>
              <a:off x="533400" y="4810125"/>
              <a:ext cx="5410200" cy="1384935"/>
            </a:xfrm>
            <a:prstGeom prst="roundRect">
              <a:avLst>
                <a:gd name="adj" fmla="val 6878"/>
              </a:avLst>
            </a:prstGeom>
            <a:solidFill>
              <a:srgbClr val="F6F8FA"/>
            </a:solidFill>
            <a:ln w="11430">
              <a:solidFill>
                <a:srgbClr val="D9DFEA"/>
              </a:solidFill>
            </a:ln>
          </p:spPr>
        </p:sp>
        <p:sp>
          <p:nvSpPr>
            <p:cNvPr id="16" name="TextBox 16"/>
            <p:cNvSpPr txBox="1"/>
            <p:nvPr/>
          </p:nvSpPr>
          <p:spPr>
            <a:xfrm>
              <a:off x="661797" y="4962049"/>
              <a:ext cx="1786971"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规则 11　临时变量别拆散公式</a:t>
              </a:r>
            </a:p>
          </p:txBody>
        </p:sp>
        <p:sp>
          <p:nvSpPr>
            <p:cNvPr id="17" name="TextBox 17"/>
            <p:cNvSpPr txBox="1"/>
            <p:nvPr/>
          </p:nvSpPr>
          <p:spPr>
            <a:xfrm>
              <a:off x="661797" y="5223034"/>
              <a:ext cx="1378966" cy="895540"/>
            </a:xfrm>
            <a:prstGeom prst="rect">
              <a:avLst/>
            </a:prstGeom>
            <a:noFill/>
            <a:ln>
              <a:noFill/>
            </a:ln>
          </p:spPr>
          <p:txBody>
            <a:bodyPr wrap="none" lIns="0" tIns="0" rIns="0" bIns="0" anchor="t" anchorCtr="0">
              <a:spAutoFit/>
            </a:bodyPr>
            <a:lstStyle/>
            <a:p>
              <a:pPr algn="l">
                <a:lnSpc>
                  <a:spcPts val="1388"/>
                </a:lnSpc>
              </a:pPr>
              <a:r>
                <a:rPr lang="zh-CN" sz="980" dirty="0">
                  <a:solidFill>
                    <a:srgbClr val="0F7A68"/>
                  </a:solidFill>
                  <a:latin typeface="Consolas"/>
                  <a:ea typeface="Microsoft YaHei"/>
                  <a:cs typeface="Consolas"/>
                </a:rPr>
                <a:t>/* 差 */</a:t>
              </a:r>
              <a:br/>
              <a:r>
                <a:rPr lang="en-US" sz="980" dirty="0">
                  <a:solidFill>
                    <a:srgbClr val="1F2937"/>
                  </a:solidFill>
                  <a:latin typeface="Consolas"/>
                  <a:ea typeface="Consolas"/>
                  <a:cs typeface="Consolas"/>
                </a:rPr>
                <a:t>AI = A[I];</a:t>
              </a:r>
              <a:br/>
              <a:r>
                <a:rPr lang="en-US" sz="980" dirty="0">
                  <a:solidFill>
                    <a:srgbClr val="1F2937"/>
                  </a:solidFill>
                  <a:latin typeface="Consolas"/>
                  <a:ea typeface="Consolas"/>
                  <a:cs typeface="Consolas"/>
                </a:rPr>
                <a:t>X  = AI + 1 / AI;</a:t>
              </a:r>
              <a:br/>
              <a:r>
                <a:rPr lang="zh-CN" sz="980" dirty="0">
                  <a:solidFill>
                    <a:srgbClr val="0F7A68"/>
                  </a:solidFill>
                  <a:latin typeface="Consolas"/>
                  <a:ea typeface="Microsoft YaHei"/>
                  <a:cs typeface="Consolas"/>
                </a:rPr>
                <a:t>/* 好 */</a:t>
              </a:r>
              <a:br/>
              <a:r>
                <a:rPr lang="en-US" sz="980" dirty="0">
                  <a:solidFill>
                    <a:srgbClr val="1F2937"/>
                  </a:solidFill>
                  <a:latin typeface="Consolas"/>
                  <a:ea typeface="Consolas"/>
                  <a:cs typeface="Consolas"/>
                </a:rPr>
                <a:t>X = A[I] + 1 / A[I];</a:t>
              </a:r>
            </a:p>
          </p:txBody>
        </p:sp>
      </p:grpSp>
      <p:grpSp>
        <p:nvGrpSpPr>
          <p:cNvPr id="22" name="c2-code-1"/>
          <p:cNvGrpSpPr/>
          <p:nvPr/>
        </p:nvGrpSpPr>
        <p:grpSpPr>
          <a:xfrm>
            <a:off x="6248400" y="1524000"/>
            <a:ext cx="5410200" cy="2088832"/>
            <a:chOff x="6248400" y="1524000"/>
            <a:chExt cx="5410200" cy="2088832"/>
          </a:xfrm>
        </p:grpSpPr>
        <p:sp>
          <p:nvSpPr>
            <p:cNvPr id="19" name="Rectangle 19"/>
            <p:cNvSpPr/>
            <p:nvPr/>
          </p:nvSpPr>
          <p:spPr>
            <a:xfrm>
              <a:off x="6248400" y="1524000"/>
              <a:ext cx="5410200" cy="2088832"/>
            </a:xfrm>
            <a:prstGeom prst="roundRect">
              <a:avLst>
                <a:gd name="adj" fmla="val 4560"/>
              </a:avLst>
            </a:prstGeom>
            <a:solidFill>
              <a:srgbClr val="F6F8FA"/>
            </a:solidFill>
            <a:ln w="11430">
              <a:solidFill>
                <a:srgbClr val="D9DFEA"/>
              </a:solidFill>
            </a:ln>
          </p:spPr>
        </p:sp>
        <p:sp>
          <p:nvSpPr>
            <p:cNvPr id="20" name="TextBox 20"/>
            <p:cNvSpPr txBox="1"/>
            <p:nvPr/>
          </p:nvSpPr>
          <p:spPr>
            <a:xfrm>
              <a:off x="6376797" y="1675924"/>
              <a:ext cx="1578855"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规则 7　直截了当说明用意</a:t>
              </a:r>
            </a:p>
          </p:txBody>
        </p:sp>
        <p:sp>
          <p:nvSpPr>
            <p:cNvPr id="21" name="TextBox 21"/>
            <p:cNvSpPr txBox="1"/>
            <p:nvPr/>
          </p:nvSpPr>
          <p:spPr>
            <a:xfrm>
              <a:off x="6376797" y="1935956"/>
              <a:ext cx="2474214" cy="1600390"/>
            </a:xfrm>
            <a:prstGeom prst="rect">
              <a:avLst/>
            </a:prstGeom>
            <a:noFill/>
            <a:ln>
              <a:noFill/>
            </a:ln>
          </p:spPr>
          <p:txBody>
            <a:bodyPr wrap="none" lIns="0" tIns="0" rIns="0" bIns="0" anchor="t" anchorCtr="0">
              <a:spAutoFit/>
            </a:bodyPr>
            <a:lstStyle/>
            <a:p>
              <a:pPr algn="l">
                <a:lnSpc>
                  <a:spcPts val="1388"/>
                </a:lnSpc>
              </a:pPr>
              <a:r>
                <a:rPr lang="zh-CN" sz="980" dirty="0">
                  <a:solidFill>
                    <a:srgbClr val="0F7A68"/>
                  </a:solidFill>
                  <a:latin typeface="Consolas"/>
                  <a:ea typeface="Microsoft YaHei"/>
                  <a:cs typeface="Consolas"/>
                </a:rPr>
                <a:t>/* 取巧：靠整数除法凑出单位矩阵 */</a:t>
              </a:r>
              <a:br/>
              <a:r>
                <a:rPr lang="en-US" sz="980" b="1" dirty="0">
                  <a:solidFill>
                    <a:srgbClr val="334E68"/>
                  </a:solidFill>
                  <a:latin typeface="Consolas"/>
                  <a:ea typeface="Consolas"/>
                  <a:cs typeface="Consolas"/>
                </a:rPr>
                <a:t>for</a:t>
              </a:r>
              <a:r>
                <a:rPr lang="en-US" sz="980" dirty="0">
                  <a:solidFill>
                    <a:srgbClr val="1F2937"/>
                  </a:solidFill>
                  <a:latin typeface="Consolas"/>
                  <a:ea typeface="Consolas"/>
                  <a:cs typeface="Consolas"/>
                </a:rPr>
                <a:t xml:space="preserve"> (i = 1; i &lt;= n; i++)</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for</a:t>
              </a:r>
              <a:r>
                <a:rPr lang="en-US" sz="980" dirty="0">
                  <a:solidFill>
                    <a:srgbClr val="1F2937"/>
                  </a:solidFill>
                  <a:latin typeface="Consolas"/>
                  <a:ea typeface="Consolas"/>
                  <a:cs typeface="Consolas"/>
                </a:rPr>
                <a:t xml:space="preserve"> (j = 1; j &lt;= n; j++)</a:t>
              </a:r>
              <a:br/>
              <a:r>
                <a:rPr lang="en-US" sz="980" dirty="0">
                  <a:solidFill>
                    <a:srgbClr val="1F2937"/>
                  </a:solidFill>
                  <a:latin typeface="Consolas"/>
                  <a:ea typeface="Consolas"/>
                  <a:cs typeface="Consolas"/>
                </a:rPr>
                <a:t xml:space="preserve">        V[i][j] = (i / j) * (j / i);</a:t>
              </a:r>
              <a:br/>
              <a:r>
                <a:rPr lang="zh-CN" sz="980" dirty="0">
                  <a:solidFill>
                    <a:srgbClr val="1F2937"/>
                  </a:solidFill>
                  <a:latin typeface="Consolas"/>
                  <a:ea typeface="Consolas"/>
                  <a:cs typeface="Consolas"/>
                </a:rPr>
                <a:t xml:space="preserve"> </a:t>
              </a:r>
              <a:br/>
              <a:r>
                <a:rPr lang="zh-CN" sz="980" dirty="0">
                  <a:solidFill>
                    <a:srgbClr val="0F7A68"/>
                  </a:solidFill>
                  <a:latin typeface="Consolas"/>
                  <a:ea typeface="Microsoft YaHei"/>
                  <a:cs typeface="Consolas"/>
                </a:rPr>
                <a:t>/* 清楚：直接写出对角线为 1 */</a:t>
              </a:r>
              <a:br/>
              <a:r>
                <a:rPr lang="en-US" sz="980" b="1" dirty="0">
                  <a:solidFill>
                    <a:srgbClr val="334E68"/>
                  </a:solidFill>
                  <a:latin typeface="Consolas"/>
                  <a:ea typeface="Consolas"/>
                  <a:cs typeface="Consolas"/>
                </a:rPr>
                <a:t>for</a:t>
              </a:r>
              <a:r>
                <a:rPr lang="en-US" sz="980" dirty="0">
                  <a:solidFill>
                    <a:srgbClr val="1F2937"/>
                  </a:solidFill>
                  <a:latin typeface="Consolas"/>
                  <a:ea typeface="Consolas"/>
                  <a:cs typeface="Consolas"/>
                </a:rPr>
                <a:t xml:space="preserve"> (i = 1; i &lt;= n; i++)</a:t>
              </a:r>
              <a:br/>
              <a:r>
                <a:rPr lang="zh-CN" sz="980" dirty="0">
                  <a:solidFill>
                    <a:srgbClr val="1F2937"/>
                  </a:solidFill>
                  <a:latin typeface="Consolas"/>
                  <a:ea typeface="Consolas"/>
                  <a:cs typeface="Consolas"/>
                </a:rPr>
                <a:t xml:space="preserve">    </a:t>
              </a:r>
              <a:r>
                <a:rPr lang="en-US" sz="980" b="1" dirty="0">
                  <a:solidFill>
                    <a:srgbClr val="334E68"/>
                  </a:solidFill>
                  <a:latin typeface="Consolas"/>
                  <a:ea typeface="Consolas"/>
                  <a:cs typeface="Consolas"/>
                </a:rPr>
                <a:t>for</a:t>
              </a:r>
              <a:r>
                <a:rPr lang="en-US" sz="980" dirty="0">
                  <a:solidFill>
                    <a:srgbClr val="1F2937"/>
                  </a:solidFill>
                  <a:latin typeface="Consolas"/>
                  <a:ea typeface="Consolas"/>
                  <a:cs typeface="Consolas"/>
                </a:rPr>
                <a:t xml:space="preserve"> (j = 1; j &lt;= n; j++)</a:t>
              </a:r>
              <a:br/>
              <a:r>
                <a:rPr lang="en-US" sz="980" dirty="0">
                  <a:solidFill>
                    <a:srgbClr val="1F2937"/>
                  </a:solidFill>
                  <a:latin typeface="Consolas"/>
                  <a:ea typeface="Consolas"/>
                  <a:cs typeface="Consolas"/>
                </a:rPr>
                <a:t xml:space="preserve">        V[i][j] = (i == j) ? 1 : 0;</a:t>
              </a:r>
            </a:p>
          </p:txBody>
        </p:sp>
      </p:grpSp>
      <p:grpSp>
        <p:nvGrpSpPr>
          <p:cNvPr id="31" name="c2-card-2"/>
          <p:cNvGrpSpPr/>
          <p:nvPr/>
        </p:nvGrpSpPr>
        <p:grpSpPr>
          <a:xfrm>
            <a:off x="6248400" y="3782378"/>
            <a:ext cx="5410200" cy="2412682"/>
            <a:chOff x="6248400" y="3782378"/>
            <a:chExt cx="5410200" cy="2412682"/>
          </a:xfrm>
        </p:grpSpPr>
        <p:sp>
          <p:nvSpPr>
            <p:cNvPr id="23" name="Rectangle 23"/>
            <p:cNvSpPr/>
            <p:nvPr/>
          </p:nvSpPr>
          <p:spPr>
            <a:xfrm>
              <a:off x="6248400" y="3782378"/>
              <a:ext cx="5410200" cy="2412682"/>
            </a:xfrm>
            <a:prstGeom prst="roundRect">
              <a:avLst>
                <a:gd name="adj" fmla="val 5527"/>
              </a:avLst>
            </a:prstGeom>
            <a:solidFill>
              <a:srgbClr val="FFFFFF"/>
            </a:solidFill>
            <a:ln w="14288">
              <a:solidFill>
                <a:srgbClr val="D9DFEA"/>
              </a:solidFill>
            </a:ln>
          </p:spPr>
        </p:sp>
        <p:sp>
          <p:nvSpPr>
            <p:cNvPr id="24" name="Rectangle 24"/>
            <p:cNvSpPr/>
            <p:nvPr/>
          </p:nvSpPr>
          <p:spPr>
            <a:xfrm>
              <a:off x="6257925" y="3915728"/>
              <a:ext cx="47625" cy="2145982"/>
            </a:xfrm>
            <a:prstGeom prst="roundRect">
              <a:avLst>
                <a:gd name="adj" fmla="val 50000"/>
              </a:avLst>
            </a:prstGeom>
            <a:solidFill>
              <a:srgbClr val="5B6475"/>
            </a:solidFill>
            <a:ln>
              <a:noFill/>
            </a:ln>
          </p:spPr>
        </p:sp>
        <p:sp>
          <p:nvSpPr>
            <p:cNvPr id="25" name="Rectangle 25"/>
            <p:cNvSpPr/>
            <p:nvPr/>
          </p:nvSpPr>
          <p:spPr>
            <a:xfrm>
              <a:off x="6473190" y="3969068"/>
              <a:ext cx="458152" cy="238125"/>
            </a:xfrm>
            <a:prstGeom prst="roundRect">
              <a:avLst>
                <a:gd name="adj" fmla="val 50000"/>
              </a:avLst>
            </a:prstGeom>
            <a:solidFill>
              <a:srgbClr val="F4F6FB"/>
            </a:solidFill>
            <a:ln>
              <a:noFill/>
            </a:ln>
          </p:spPr>
        </p:sp>
        <p:sp>
          <p:nvSpPr>
            <p:cNvPr id="26" name="TextBox 26"/>
            <p:cNvSpPr txBox="1"/>
            <p:nvPr/>
          </p:nvSpPr>
          <p:spPr>
            <a:xfrm>
              <a:off x="6565862" y="4001929"/>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复核</a:t>
              </a:r>
            </a:p>
          </p:txBody>
        </p:sp>
        <p:sp>
          <p:nvSpPr>
            <p:cNvPr id="27" name="TextBox 27"/>
            <p:cNvSpPr txBox="1"/>
            <p:nvPr/>
          </p:nvSpPr>
          <p:spPr>
            <a:xfrm>
              <a:off x="7038784" y="4004310"/>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两段取巧代码确实是对的</a:t>
              </a:r>
            </a:p>
          </p:txBody>
        </p:sp>
        <p:sp>
          <p:nvSpPr>
            <p:cNvPr id="28" name="TextBox 28"/>
            <p:cNvSpPr txBox="1"/>
            <p:nvPr/>
          </p:nvSpPr>
          <p:spPr>
            <a:xfrm>
              <a:off x="6466332" y="4330065"/>
              <a:ext cx="471144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交换：设 a = A[I]、b = A[T]。三步后 A[I] = (a+b) - a = b，</a:t>
              </a:r>
              <a:br/>
              <a:r>
                <a:rPr lang="zh-CN" sz="1350" dirty="0">
                  <a:solidFill>
                    <a:srgbClr val="1F2937"/>
                  </a:solidFill>
                  <a:latin typeface="+mn-lt"/>
                  <a:ea typeface="+mn-ea"/>
                  <a:cs typeface="+mn-cs"/>
                </a:rPr>
                <a:t>A[T] = (a+b) - b = a，确实换过来了。</a:t>
              </a:r>
            </a:p>
          </p:txBody>
        </p:sp>
        <p:sp>
          <p:nvSpPr>
            <p:cNvPr id="29" name="TextBox 29"/>
            <p:cNvSpPr txBox="1"/>
            <p:nvPr/>
          </p:nvSpPr>
          <p:spPr>
            <a:xfrm>
              <a:off x="6466332" y="4887278"/>
              <a:ext cx="472001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整除：i ≠ j 时 i/j 与 j/i 必有一个整除结果为 0；i = j 时两者都</a:t>
              </a:r>
              <a:br/>
              <a:r>
                <a:rPr lang="zh-CN" sz="1350" dirty="0">
                  <a:solidFill>
                    <a:srgbClr val="1F2937"/>
                  </a:solidFill>
                  <a:latin typeface="+mn-lt"/>
                  <a:ea typeface="+mn-ea"/>
                  <a:cs typeface="+mn-cs"/>
                </a:rPr>
                <a:t>是 1。</a:t>
              </a:r>
            </a:p>
          </p:txBody>
        </p:sp>
        <p:sp>
          <p:nvSpPr>
            <p:cNvPr id="30" name="TextBox 30"/>
            <p:cNvSpPr txBox="1"/>
            <p:nvPr/>
          </p:nvSpPr>
          <p:spPr>
            <a:xfrm>
              <a:off x="6467475" y="5441156"/>
              <a:ext cx="438388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正确不等于可读。半年后再看左边两段，要在纸上算一遍才敢动。</a:t>
              </a:r>
            </a:p>
          </p:txBody>
        </p:sp>
      </p:grpSp>
      <p:grpSp>
        <p:nvGrpSpPr>
          <p:cNvPr id="34" name="footer"/>
          <p:cNvGrpSpPr/>
          <p:nvPr/>
        </p:nvGrpSpPr>
        <p:grpSpPr>
          <a:xfrm>
            <a:off x="528447" y="6581299"/>
            <a:ext cx="11135106" cy="190690"/>
            <a:chOff x="528447" y="6581299"/>
            <a:chExt cx="11135106" cy="190690"/>
          </a:xfrm>
        </p:grpSpPr>
        <p:sp>
          <p:nvSpPr>
            <p:cNvPr id="32" name="TextBox 32"/>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33" name="TextBox 33"/>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输入输出：先验证，再简化，最后给提示</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2" name="c1-table-1"/>
          <p:cNvGrpSpPr/>
          <p:nvPr/>
        </p:nvGrpSpPr>
        <p:grpSpPr>
          <a:xfrm>
            <a:off x="533400" y="1524000"/>
            <a:ext cx="6276022" cy="4686300"/>
            <a:chOff x="533400" y="1524000"/>
            <a:chExt cx="6276022" cy="4686300"/>
          </a:xfrm>
        </p:grpSpPr>
        <p:sp>
          <p:nvSpPr>
            <p:cNvPr id="7" name="Rectangle 7"/>
            <p:cNvSpPr/>
            <p:nvPr/>
          </p:nvSpPr>
          <p:spPr>
            <a:xfrm>
              <a:off x="533400" y="1524000"/>
              <a:ext cx="6276022" cy="444818"/>
            </a:xfrm>
            <a:prstGeom prst="rect">
              <a:avLst/>
            </a:prstGeom>
            <a:solidFill>
              <a:srgbClr val="334E68"/>
            </a:solidFill>
            <a:ln>
              <a:noFill/>
            </a:ln>
          </p:spPr>
        </p:sp>
        <p:sp>
          <p:nvSpPr>
            <p:cNvPr id="8" name="TextBox 8"/>
            <p:cNvSpPr txBox="1"/>
            <p:nvPr/>
          </p:nvSpPr>
          <p:spPr>
            <a:xfrm>
              <a:off x="721042" y="1651635"/>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编号</a:t>
              </a:r>
            </a:p>
          </p:txBody>
        </p:sp>
        <p:sp>
          <p:nvSpPr>
            <p:cNvPr id="9" name="TextBox 9"/>
            <p:cNvSpPr txBox="1"/>
            <p:nvPr/>
          </p:nvSpPr>
          <p:spPr>
            <a:xfrm>
              <a:off x="3132582" y="1651635"/>
              <a:ext cx="1831086"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输入／输出的启发规则</a:t>
              </a:r>
            </a:p>
          </p:txBody>
        </p:sp>
        <p:sp>
          <p:nvSpPr>
            <p:cNvPr id="10" name="TextBox 10"/>
            <p:cNvSpPr txBox="1"/>
            <p:nvPr/>
          </p:nvSpPr>
          <p:spPr>
            <a:xfrm>
              <a:off x="632270" y="2096452"/>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a:t>
              </a:r>
            </a:p>
          </p:txBody>
        </p:sp>
        <p:sp>
          <p:nvSpPr>
            <p:cNvPr id="11" name="TextBox 11"/>
            <p:cNvSpPr txBox="1"/>
            <p:nvPr/>
          </p:nvSpPr>
          <p:spPr>
            <a:xfrm>
              <a:off x="1385697" y="2096452"/>
              <a:ext cx="510235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对所有输入数据都要检验，识别错误的输入，保证每个数据有效</a:t>
              </a:r>
            </a:p>
          </p:txBody>
        </p:sp>
        <p:sp>
          <p:nvSpPr>
            <p:cNvPr id="12" name="Rectangle 12"/>
            <p:cNvSpPr/>
            <p:nvPr/>
          </p:nvSpPr>
          <p:spPr>
            <a:xfrm>
              <a:off x="533400" y="2408872"/>
              <a:ext cx="6276022" cy="9525"/>
            </a:xfrm>
            <a:prstGeom prst="rect">
              <a:avLst/>
            </a:prstGeom>
            <a:solidFill>
              <a:srgbClr val="D9DFEA"/>
            </a:solidFill>
            <a:ln>
              <a:noFill/>
            </a:ln>
          </p:spPr>
        </p:sp>
        <p:sp>
          <p:nvSpPr>
            <p:cNvPr id="13" name="Rectangle 13"/>
            <p:cNvSpPr/>
            <p:nvPr/>
          </p:nvSpPr>
          <p:spPr>
            <a:xfrm>
              <a:off x="533400" y="2413635"/>
              <a:ext cx="6276022" cy="444818"/>
            </a:xfrm>
            <a:prstGeom prst="rect">
              <a:avLst/>
            </a:prstGeom>
            <a:solidFill>
              <a:srgbClr val="F4F6FB"/>
            </a:solidFill>
            <a:ln>
              <a:noFill/>
            </a:ln>
          </p:spPr>
        </p:sp>
        <p:sp>
          <p:nvSpPr>
            <p:cNvPr id="14" name="TextBox 14"/>
            <p:cNvSpPr txBox="1"/>
            <p:nvPr/>
          </p:nvSpPr>
          <p:spPr>
            <a:xfrm>
              <a:off x="632270" y="254127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2</a:t>
              </a:r>
            </a:p>
          </p:txBody>
        </p:sp>
        <p:sp>
          <p:nvSpPr>
            <p:cNvPr id="15" name="TextBox 15"/>
            <p:cNvSpPr txBox="1"/>
            <p:nvPr/>
          </p:nvSpPr>
          <p:spPr>
            <a:xfrm>
              <a:off x="1385697" y="2541270"/>
              <a:ext cx="492061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检查输入项各种重要组合的合理性，必要时报告输入状态信息</a:t>
              </a:r>
            </a:p>
          </p:txBody>
        </p:sp>
        <p:sp>
          <p:nvSpPr>
            <p:cNvPr id="16" name="Rectangle 16"/>
            <p:cNvSpPr/>
            <p:nvPr/>
          </p:nvSpPr>
          <p:spPr>
            <a:xfrm>
              <a:off x="533400" y="2852738"/>
              <a:ext cx="6276022" cy="9525"/>
            </a:xfrm>
            <a:prstGeom prst="rect">
              <a:avLst/>
            </a:prstGeom>
            <a:solidFill>
              <a:srgbClr val="D9DFEA"/>
            </a:solidFill>
            <a:ln>
              <a:noFill/>
            </a:ln>
          </p:spPr>
        </p:sp>
        <p:sp>
          <p:nvSpPr>
            <p:cNvPr id="17" name="TextBox 17"/>
            <p:cNvSpPr txBox="1"/>
            <p:nvPr/>
          </p:nvSpPr>
          <p:spPr>
            <a:xfrm>
              <a:off x="632270" y="2986088"/>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3</a:t>
              </a:r>
            </a:p>
          </p:txBody>
        </p:sp>
        <p:sp>
          <p:nvSpPr>
            <p:cNvPr id="18" name="TextBox 18"/>
            <p:cNvSpPr txBox="1"/>
            <p:nvPr/>
          </p:nvSpPr>
          <p:spPr>
            <a:xfrm>
              <a:off x="1385697" y="2986088"/>
              <a:ext cx="45571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使输入的步骤和操作尽可能简单，并保持简单的输入格式</a:t>
              </a:r>
            </a:p>
          </p:txBody>
        </p:sp>
        <p:sp>
          <p:nvSpPr>
            <p:cNvPr id="19" name="Rectangle 19"/>
            <p:cNvSpPr/>
            <p:nvPr/>
          </p:nvSpPr>
          <p:spPr>
            <a:xfrm>
              <a:off x="533400" y="3297555"/>
              <a:ext cx="6276022" cy="9525"/>
            </a:xfrm>
            <a:prstGeom prst="rect">
              <a:avLst/>
            </a:prstGeom>
            <a:solidFill>
              <a:srgbClr val="D9DFEA"/>
            </a:solidFill>
            <a:ln>
              <a:noFill/>
            </a:ln>
          </p:spPr>
        </p:sp>
        <p:sp>
          <p:nvSpPr>
            <p:cNvPr id="20" name="Rectangle 20"/>
            <p:cNvSpPr/>
            <p:nvPr/>
          </p:nvSpPr>
          <p:spPr>
            <a:xfrm>
              <a:off x="533400" y="3302318"/>
              <a:ext cx="6276022" cy="444818"/>
            </a:xfrm>
            <a:prstGeom prst="rect">
              <a:avLst/>
            </a:prstGeom>
            <a:solidFill>
              <a:srgbClr val="F4F6FB"/>
            </a:solidFill>
            <a:ln>
              <a:noFill/>
            </a:ln>
          </p:spPr>
        </p:sp>
        <p:sp>
          <p:nvSpPr>
            <p:cNvPr id="21" name="TextBox 21"/>
            <p:cNvSpPr txBox="1"/>
            <p:nvPr/>
          </p:nvSpPr>
          <p:spPr>
            <a:xfrm>
              <a:off x="632270" y="343090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4</a:t>
              </a:r>
            </a:p>
          </p:txBody>
        </p:sp>
        <p:sp>
          <p:nvSpPr>
            <p:cNvPr id="22" name="TextBox 22"/>
            <p:cNvSpPr txBox="1"/>
            <p:nvPr/>
          </p:nvSpPr>
          <p:spPr>
            <a:xfrm>
              <a:off x="1385697" y="3430905"/>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允许使用自由格式输入</a:t>
              </a:r>
            </a:p>
          </p:txBody>
        </p:sp>
        <p:sp>
          <p:nvSpPr>
            <p:cNvPr id="23" name="Rectangle 23"/>
            <p:cNvSpPr/>
            <p:nvPr/>
          </p:nvSpPr>
          <p:spPr>
            <a:xfrm>
              <a:off x="533400" y="3742372"/>
              <a:ext cx="6276022" cy="9525"/>
            </a:xfrm>
            <a:prstGeom prst="rect">
              <a:avLst/>
            </a:prstGeom>
            <a:solidFill>
              <a:srgbClr val="D9DFEA"/>
            </a:solidFill>
            <a:ln>
              <a:noFill/>
            </a:ln>
          </p:spPr>
        </p:sp>
        <p:sp>
          <p:nvSpPr>
            <p:cNvPr id="24" name="TextBox 24"/>
            <p:cNvSpPr txBox="1"/>
            <p:nvPr/>
          </p:nvSpPr>
          <p:spPr>
            <a:xfrm>
              <a:off x="632270" y="387477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5</a:t>
              </a:r>
            </a:p>
          </p:txBody>
        </p:sp>
        <p:sp>
          <p:nvSpPr>
            <p:cNvPr id="25" name="TextBox 25"/>
            <p:cNvSpPr txBox="1"/>
            <p:nvPr/>
          </p:nvSpPr>
          <p:spPr>
            <a:xfrm>
              <a:off x="1385697" y="3874770"/>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允许缺省值</a:t>
              </a:r>
            </a:p>
          </p:txBody>
        </p:sp>
        <p:sp>
          <p:nvSpPr>
            <p:cNvPr id="26" name="Rectangle 26"/>
            <p:cNvSpPr/>
            <p:nvPr/>
          </p:nvSpPr>
          <p:spPr>
            <a:xfrm>
              <a:off x="533400" y="4187190"/>
              <a:ext cx="6276022" cy="9525"/>
            </a:xfrm>
            <a:prstGeom prst="rect">
              <a:avLst/>
            </a:prstGeom>
            <a:solidFill>
              <a:srgbClr val="D9DFEA"/>
            </a:solidFill>
            <a:ln>
              <a:noFill/>
            </a:ln>
          </p:spPr>
        </p:sp>
        <p:sp>
          <p:nvSpPr>
            <p:cNvPr id="27" name="Rectangle 27"/>
            <p:cNvSpPr/>
            <p:nvPr/>
          </p:nvSpPr>
          <p:spPr>
            <a:xfrm>
              <a:off x="533400" y="4191952"/>
              <a:ext cx="6276022" cy="444818"/>
            </a:xfrm>
            <a:prstGeom prst="rect">
              <a:avLst/>
            </a:prstGeom>
            <a:solidFill>
              <a:srgbClr val="F4F6FB"/>
            </a:solidFill>
            <a:ln>
              <a:noFill/>
            </a:ln>
          </p:spPr>
        </p:sp>
        <p:sp>
          <p:nvSpPr>
            <p:cNvPr id="28" name="TextBox 28"/>
            <p:cNvSpPr txBox="1"/>
            <p:nvPr/>
          </p:nvSpPr>
          <p:spPr>
            <a:xfrm>
              <a:off x="632270" y="4319588"/>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6</a:t>
              </a:r>
            </a:p>
          </p:txBody>
        </p:sp>
        <p:sp>
          <p:nvSpPr>
            <p:cNvPr id="29" name="TextBox 29"/>
            <p:cNvSpPr txBox="1"/>
            <p:nvPr/>
          </p:nvSpPr>
          <p:spPr>
            <a:xfrm>
              <a:off x="1385697" y="4319588"/>
              <a:ext cx="510235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输入一批数据时用输入结束标志，不要由用户指定输入数据数目</a:t>
              </a:r>
            </a:p>
          </p:txBody>
        </p:sp>
        <p:sp>
          <p:nvSpPr>
            <p:cNvPr id="30" name="Rectangle 30"/>
            <p:cNvSpPr/>
            <p:nvPr/>
          </p:nvSpPr>
          <p:spPr>
            <a:xfrm>
              <a:off x="533400" y="4632008"/>
              <a:ext cx="6276022" cy="9525"/>
            </a:xfrm>
            <a:prstGeom prst="rect">
              <a:avLst/>
            </a:prstGeom>
            <a:solidFill>
              <a:srgbClr val="D9DFEA"/>
            </a:solidFill>
            <a:ln>
              <a:noFill/>
            </a:ln>
          </p:spPr>
        </p:sp>
        <p:sp>
          <p:nvSpPr>
            <p:cNvPr id="31" name="TextBox 31"/>
            <p:cNvSpPr txBox="1"/>
            <p:nvPr/>
          </p:nvSpPr>
          <p:spPr>
            <a:xfrm>
              <a:off x="632270" y="488442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7</a:t>
              </a:r>
            </a:p>
          </p:txBody>
        </p:sp>
        <p:sp>
          <p:nvSpPr>
            <p:cNvPr id="32" name="TextBox 32"/>
            <p:cNvSpPr txBox="1"/>
            <p:nvPr/>
          </p:nvSpPr>
          <p:spPr>
            <a:xfrm>
              <a:off x="1385697" y="4764405"/>
              <a:ext cx="498576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交互式输入输出时用提示符指明可选项的种类和取值范围，并给出</a:t>
              </a:r>
              <a:br/>
              <a:r>
                <a:rPr lang="zh-CN" sz="1350" dirty="0">
                  <a:solidFill>
                    <a:srgbClr val="1F2937"/>
                  </a:solidFill>
                  <a:latin typeface="+mn-lt"/>
                  <a:ea typeface="+mn-ea"/>
                  <a:cs typeface="+mn-cs"/>
                </a:rPr>
                <a:t>状态信息</a:t>
              </a:r>
            </a:p>
          </p:txBody>
        </p:sp>
        <p:sp>
          <p:nvSpPr>
            <p:cNvPr id="33" name="Rectangle 33"/>
            <p:cNvSpPr/>
            <p:nvPr/>
          </p:nvSpPr>
          <p:spPr>
            <a:xfrm>
              <a:off x="533400" y="5315902"/>
              <a:ext cx="6276022" cy="9525"/>
            </a:xfrm>
            <a:prstGeom prst="rect">
              <a:avLst/>
            </a:prstGeom>
            <a:solidFill>
              <a:srgbClr val="D9DFEA"/>
            </a:solidFill>
            <a:ln>
              <a:noFill/>
            </a:ln>
          </p:spPr>
        </p:sp>
        <p:sp>
          <p:nvSpPr>
            <p:cNvPr id="34" name="Rectangle 34"/>
            <p:cNvSpPr/>
            <p:nvPr/>
          </p:nvSpPr>
          <p:spPr>
            <a:xfrm>
              <a:off x="533400" y="5320665"/>
              <a:ext cx="6276022" cy="444818"/>
            </a:xfrm>
            <a:prstGeom prst="rect">
              <a:avLst/>
            </a:prstGeom>
            <a:solidFill>
              <a:srgbClr val="F4F6FB"/>
            </a:solidFill>
            <a:ln>
              <a:noFill/>
            </a:ln>
          </p:spPr>
        </p:sp>
        <p:sp>
          <p:nvSpPr>
            <p:cNvPr id="35" name="TextBox 35"/>
            <p:cNvSpPr txBox="1"/>
            <p:nvPr/>
          </p:nvSpPr>
          <p:spPr>
            <a:xfrm>
              <a:off x="632270" y="5449252"/>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8</a:t>
              </a:r>
            </a:p>
          </p:txBody>
        </p:sp>
        <p:sp>
          <p:nvSpPr>
            <p:cNvPr id="36" name="TextBox 36"/>
            <p:cNvSpPr txBox="1"/>
            <p:nvPr/>
          </p:nvSpPr>
          <p:spPr>
            <a:xfrm>
              <a:off x="1385697" y="5449252"/>
              <a:ext cx="492061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语言对格式有严格要求时，保持输入格式与输入语句要求一致</a:t>
              </a:r>
            </a:p>
          </p:txBody>
        </p:sp>
        <p:sp>
          <p:nvSpPr>
            <p:cNvPr id="37" name="Rectangle 37"/>
            <p:cNvSpPr/>
            <p:nvPr/>
          </p:nvSpPr>
          <p:spPr>
            <a:xfrm>
              <a:off x="533400" y="5760720"/>
              <a:ext cx="6276022" cy="9525"/>
            </a:xfrm>
            <a:prstGeom prst="rect">
              <a:avLst/>
            </a:prstGeom>
            <a:solidFill>
              <a:srgbClr val="D9DFEA"/>
            </a:solidFill>
            <a:ln>
              <a:noFill/>
            </a:ln>
          </p:spPr>
        </p:sp>
        <p:sp>
          <p:nvSpPr>
            <p:cNvPr id="38" name="TextBox 38"/>
            <p:cNvSpPr txBox="1"/>
            <p:nvPr/>
          </p:nvSpPr>
          <p:spPr>
            <a:xfrm>
              <a:off x="632270" y="589407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9</a:t>
              </a:r>
            </a:p>
          </p:txBody>
        </p:sp>
        <p:sp>
          <p:nvSpPr>
            <p:cNvPr id="39" name="TextBox 39"/>
            <p:cNvSpPr txBox="1"/>
            <p:nvPr/>
          </p:nvSpPr>
          <p:spPr>
            <a:xfrm>
              <a:off x="1385697" y="5894070"/>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给所有输出加注解，并设计输出报表格式</a:t>
              </a:r>
            </a:p>
          </p:txBody>
        </p:sp>
        <p:sp>
          <p:nvSpPr>
            <p:cNvPr id="40" name="Rectangle 40"/>
            <p:cNvSpPr/>
            <p:nvPr/>
          </p:nvSpPr>
          <p:spPr>
            <a:xfrm>
              <a:off x="533400" y="1524000"/>
              <a:ext cx="6276022" cy="4686300"/>
            </a:xfrm>
            <a:prstGeom prst="rect">
              <a:avLst/>
            </a:prstGeom>
            <a:noFill/>
            <a:ln w="14288">
              <a:solidFill>
                <a:srgbClr val="D9DFEA"/>
              </a:solidFill>
            </a:ln>
          </p:spPr>
        </p:sp>
        <p:sp>
          <p:nvSpPr>
            <p:cNvPr id="41" name="Rectangle 41"/>
            <p:cNvSpPr/>
            <p:nvPr/>
          </p:nvSpPr>
          <p:spPr>
            <a:xfrm>
              <a:off x="1282065" y="1524000"/>
              <a:ext cx="9525" cy="4686300"/>
            </a:xfrm>
            <a:prstGeom prst="rect">
              <a:avLst/>
            </a:prstGeom>
            <a:solidFill>
              <a:srgbClr val="D9DFEA"/>
            </a:solidFill>
            <a:ln>
              <a:noFill/>
            </a:ln>
          </p:spPr>
        </p:sp>
      </p:grpSp>
      <p:grpSp>
        <p:nvGrpSpPr>
          <p:cNvPr id="56" name="c2-card-1"/>
          <p:cNvGrpSpPr/>
          <p:nvPr/>
        </p:nvGrpSpPr>
        <p:grpSpPr>
          <a:xfrm>
            <a:off x="7114222" y="1524000"/>
            <a:ext cx="4544378" cy="2391728"/>
            <a:chOff x="7114222" y="1524000"/>
            <a:chExt cx="4544378" cy="2391728"/>
          </a:xfrm>
        </p:grpSpPr>
        <p:sp>
          <p:nvSpPr>
            <p:cNvPr id="43" name="Rectangle 43"/>
            <p:cNvSpPr/>
            <p:nvPr/>
          </p:nvSpPr>
          <p:spPr>
            <a:xfrm>
              <a:off x="7114222" y="1524000"/>
              <a:ext cx="4544378" cy="2391728"/>
            </a:xfrm>
            <a:prstGeom prst="roundRect">
              <a:avLst>
                <a:gd name="adj" fmla="val 5575"/>
              </a:avLst>
            </a:prstGeom>
            <a:solidFill>
              <a:srgbClr val="FFFFFF"/>
            </a:solidFill>
            <a:ln w="14288">
              <a:solidFill>
                <a:srgbClr val="D9DFEA"/>
              </a:solidFill>
            </a:ln>
          </p:spPr>
        </p:sp>
        <p:sp>
          <p:nvSpPr>
            <p:cNvPr id="44" name="Rectangle 44"/>
            <p:cNvSpPr/>
            <p:nvPr/>
          </p:nvSpPr>
          <p:spPr>
            <a:xfrm>
              <a:off x="7123748" y="1657350"/>
              <a:ext cx="47625" cy="2125028"/>
            </a:xfrm>
            <a:prstGeom prst="roundRect">
              <a:avLst>
                <a:gd name="adj" fmla="val 50000"/>
              </a:avLst>
            </a:prstGeom>
            <a:solidFill>
              <a:srgbClr val="D97706"/>
            </a:solidFill>
            <a:ln>
              <a:noFill/>
            </a:ln>
          </p:spPr>
        </p:sp>
        <p:sp>
          <p:nvSpPr>
            <p:cNvPr id="45" name="Rectangle 45"/>
            <p:cNvSpPr/>
            <p:nvPr/>
          </p:nvSpPr>
          <p:spPr>
            <a:xfrm>
              <a:off x="7344728" y="1716405"/>
              <a:ext cx="1009650" cy="247650"/>
            </a:xfrm>
            <a:prstGeom prst="roundRect">
              <a:avLst>
                <a:gd name="adj" fmla="val 50000"/>
              </a:avLst>
            </a:prstGeom>
            <a:solidFill>
              <a:srgbClr val="FEF3C7"/>
            </a:solidFill>
            <a:ln>
              <a:noFill/>
            </a:ln>
          </p:spPr>
        </p:sp>
        <p:sp>
          <p:nvSpPr>
            <p:cNvPr id="46" name="TextBox 46"/>
            <p:cNvSpPr txBox="1"/>
            <p:nvPr/>
          </p:nvSpPr>
          <p:spPr>
            <a:xfrm>
              <a:off x="7420166" y="1750695"/>
              <a:ext cx="858774" cy="205359"/>
            </a:xfrm>
            <a:prstGeom prst="rect">
              <a:avLst/>
            </a:prstGeom>
            <a:noFill/>
            <a:ln>
              <a:noFill/>
            </a:ln>
          </p:spPr>
          <p:txBody>
            <a:bodyPr wrap="none" lIns="0" tIns="0" rIns="0" bIns="0" anchor="t" anchorCtr="0">
              <a:spAutoFit/>
            </a:bodyPr>
            <a:lstStyle/>
            <a:p>
              <a:pPr algn="ctr"/>
              <a:r>
                <a:rPr lang="zh-CN" sz="1050" b="1" dirty="0">
                  <a:solidFill>
                    <a:srgbClr val="92400E"/>
                  </a:solidFill>
                  <a:latin typeface="+mn-lt"/>
                  <a:ea typeface="+mn-ea"/>
                  <a:cs typeface="+mn-cs"/>
                </a:rPr>
                <a:t>输入输出效率</a:t>
              </a:r>
            </a:p>
          </p:txBody>
        </p:sp>
        <p:sp>
          <p:nvSpPr>
            <p:cNvPr id="47" name="TextBox 47"/>
            <p:cNvSpPr txBox="1"/>
            <p:nvPr/>
          </p:nvSpPr>
          <p:spPr>
            <a:xfrm>
              <a:off x="8461820" y="1756410"/>
              <a:ext cx="292150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简单清晰是提高人机通信效率的关键</a:t>
              </a:r>
            </a:p>
          </p:txBody>
        </p:sp>
        <p:sp>
          <p:nvSpPr>
            <p:cNvPr id="48" name="Ellipse 48"/>
            <p:cNvSpPr/>
            <p:nvPr/>
          </p:nvSpPr>
          <p:spPr>
            <a:xfrm>
              <a:off x="7353300" y="2146935"/>
              <a:ext cx="59055" cy="59055"/>
            </a:xfrm>
            <a:prstGeom prst="ellipse">
              <a:avLst/>
            </a:prstGeom>
            <a:solidFill>
              <a:srgbClr val="334E68"/>
            </a:solidFill>
            <a:ln>
              <a:noFill/>
            </a:ln>
          </p:spPr>
        </p:sp>
        <p:sp>
          <p:nvSpPr>
            <p:cNvPr id="49" name="TextBox 49"/>
            <p:cNvSpPr txBox="1"/>
            <p:nvPr/>
          </p:nvSpPr>
          <p:spPr>
            <a:xfrm>
              <a:off x="7509320" y="2090738"/>
              <a:ext cx="37856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所有输入输出都应该有缓冲，以减少用于通信的额</a:t>
              </a:r>
              <a:br/>
              <a:r>
                <a:rPr lang="zh-CN" sz="1350" dirty="0">
                  <a:solidFill>
                    <a:srgbClr val="1F2937"/>
                  </a:solidFill>
                  <a:latin typeface="+mn-lt"/>
                  <a:ea typeface="+mn-ea"/>
                  <a:cs typeface="+mn-cs"/>
                </a:rPr>
                <a:t>外开销</a:t>
              </a:r>
            </a:p>
          </p:txBody>
        </p:sp>
        <p:sp>
          <p:nvSpPr>
            <p:cNvPr id="50" name="Ellipse 50"/>
            <p:cNvSpPr/>
            <p:nvPr/>
          </p:nvSpPr>
          <p:spPr>
            <a:xfrm>
              <a:off x="7353300" y="2706052"/>
              <a:ext cx="59055" cy="59055"/>
            </a:xfrm>
            <a:prstGeom prst="ellipse">
              <a:avLst/>
            </a:prstGeom>
            <a:solidFill>
              <a:srgbClr val="334E68"/>
            </a:solidFill>
            <a:ln>
              <a:noFill/>
            </a:ln>
          </p:spPr>
        </p:sp>
        <p:sp>
          <p:nvSpPr>
            <p:cNvPr id="51" name="TextBox 51"/>
            <p:cNvSpPr txBox="1"/>
            <p:nvPr/>
          </p:nvSpPr>
          <p:spPr>
            <a:xfrm>
              <a:off x="7509320" y="2649855"/>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对二级存储器（如磁盘）选用最简单的访问方法</a:t>
              </a:r>
            </a:p>
          </p:txBody>
        </p:sp>
        <p:sp>
          <p:nvSpPr>
            <p:cNvPr id="52" name="Ellipse 52"/>
            <p:cNvSpPr/>
            <p:nvPr/>
          </p:nvSpPr>
          <p:spPr>
            <a:xfrm>
              <a:off x="7353300" y="3008948"/>
              <a:ext cx="59055" cy="59055"/>
            </a:xfrm>
            <a:prstGeom prst="ellipse">
              <a:avLst/>
            </a:prstGeom>
            <a:solidFill>
              <a:srgbClr val="334E68"/>
            </a:solidFill>
            <a:ln>
              <a:noFill/>
            </a:ln>
          </p:spPr>
        </p:sp>
        <p:sp>
          <p:nvSpPr>
            <p:cNvPr id="53" name="TextBox 53"/>
            <p:cNvSpPr txBox="1"/>
            <p:nvPr/>
          </p:nvSpPr>
          <p:spPr>
            <a:xfrm>
              <a:off x="7509320" y="2952750"/>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二级存储器的输入输出以信息组为单位进行</a:t>
              </a:r>
            </a:p>
          </p:txBody>
        </p:sp>
        <p:sp>
          <p:nvSpPr>
            <p:cNvPr id="54" name="Ellipse 54"/>
            <p:cNvSpPr/>
            <p:nvPr/>
          </p:nvSpPr>
          <p:spPr>
            <a:xfrm>
              <a:off x="7353300" y="3310890"/>
              <a:ext cx="59055" cy="59055"/>
            </a:xfrm>
            <a:prstGeom prst="ellipse">
              <a:avLst/>
            </a:prstGeom>
            <a:solidFill>
              <a:srgbClr val="334E68"/>
            </a:solidFill>
            <a:ln>
              <a:noFill/>
            </a:ln>
          </p:spPr>
        </p:sp>
        <p:sp>
          <p:nvSpPr>
            <p:cNvPr id="55" name="TextBox 55"/>
            <p:cNvSpPr txBox="1"/>
            <p:nvPr/>
          </p:nvSpPr>
          <p:spPr>
            <a:xfrm>
              <a:off x="7509320" y="3254692"/>
              <a:ext cx="380276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如果“超高效的”输入输出很难被人理解，就不该采</a:t>
              </a:r>
              <a:br/>
              <a:r>
                <a:rPr lang="zh-CN" sz="1350" dirty="0">
                  <a:solidFill>
                    <a:srgbClr val="1F2937"/>
                  </a:solidFill>
                  <a:latin typeface="+mn-lt"/>
                  <a:ea typeface="+mn-ea"/>
                  <a:cs typeface="+mn-cs"/>
                </a:rPr>
                <a:t>用</a:t>
              </a:r>
            </a:p>
          </p:txBody>
        </p:sp>
      </p:grpSp>
      <p:grpSp>
        <p:nvGrpSpPr>
          <p:cNvPr id="63" name="c2-callout-2"/>
          <p:cNvGrpSpPr/>
          <p:nvPr/>
        </p:nvGrpSpPr>
        <p:grpSpPr>
          <a:xfrm>
            <a:off x="7114222" y="4090988"/>
            <a:ext cx="4544378" cy="729615"/>
            <a:chOff x="7114222" y="4090988"/>
            <a:chExt cx="4544378" cy="729615"/>
          </a:xfrm>
        </p:grpSpPr>
        <p:sp>
          <p:nvSpPr>
            <p:cNvPr id="57" name="Rectangle 57"/>
            <p:cNvSpPr/>
            <p:nvPr/>
          </p:nvSpPr>
          <p:spPr>
            <a:xfrm>
              <a:off x="7114222" y="4090988"/>
              <a:ext cx="4544378" cy="729615"/>
            </a:xfrm>
            <a:prstGeom prst="roundRect">
              <a:avLst>
                <a:gd name="adj" fmla="val 15666"/>
              </a:avLst>
            </a:prstGeom>
            <a:solidFill>
              <a:srgbClr val="F4F6FB"/>
            </a:solidFill>
            <a:ln>
              <a:noFill/>
            </a:ln>
          </p:spPr>
        </p:sp>
        <p:grpSp>
          <p:nvGrpSpPr>
            <p:cNvPr id="61" name="Group 61"/>
            <p:cNvGrpSpPr/>
            <p:nvPr/>
          </p:nvGrpSpPr>
          <p:grpSpPr>
            <a:xfrm>
              <a:off x="7319010" y="4355783"/>
              <a:ext cx="200026" cy="200026"/>
              <a:chOff x="7319010" y="4355783"/>
              <a:chExt cx="200026" cy="200026"/>
            </a:xfrm>
          </p:grpSpPr>
          <p:sp>
            <p:nvSpPr>
              <p:cNvPr id="58" name="Freeform 58"/>
              <p:cNvSpPr/>
              <p:nvPr/>
            </p:nvSpPr>
            <p:spPr>
              <a:xfrm>
                <a:off x="7319010" y="435578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9" name="Freeform 59"/>
              <p:cNvSpPr/>
              <p:nvPr/>
            </p:nvSpPr>
            <p:spPr>
              <a:xfrm>
                <a:off x="7419023" y="442245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0" name="Freeform 60"/>
              <p:cNvSpPr/>
              <p:nvPr/>
            </p:nvSpPr>
            <p:spPr>
              <a:xfrm>
                <a:off x="7407910" y="445579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2" name="TextBox 62"/>
            <p:cNvSpPr txBox="1"/>
            <p:nvPr/>
          </p:nvSpPr>
          <p:spPr>
            <a:xfrm>
              <a:off x="7621714" y="4236720"/>
              <a:ext cx="36141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输入输出风格还受输入输出设备、用户熟练程度</a:t>
              </a:r>
              <a:br/>
              <a:r>
                <a:rPr lang="zh-CN" sz="1350" dirty="0">
                  <a:solidFill>
                    <a:srgbClr val="1F2937"/>
                  </a:solidFill>
                  <a:latin typeface="+mn-lt"/>
                  <a:ea typeface="+mn-ea"/>
                  <a:cs typeface="+mn-cs"/>
                </a:rPr>
                <a:t>和通信环境的影响，规则要结合场景取舍。</a:t>
              </a:r>
            </a:p>
          </p:txBody>
        </p:sp>
      </p:grpSp>
      <p:grpSp>
        <p:nvGrpSpPr>
          <p:cNvPr id="66" name="footer"/>
          <p:cNvGrpSpPr/>
          <p:nvPr/>
        </p:nvGrpSpPr>
        <p:grpSpPr>
          <a:xfrm>
            <a:off x="528447" y="6581299"/>
            <a:ext cx="11135106" cy="190690"/>
            <a:chOff x="528447" y="6581299"/>
            <a:chExt cx="11135106" cy="190690"/>
          </a:xfrm>
        </p:grpSpPr>
        <p:sp>
          <p:nvSpPr>
            <p:cNvPr id="64" name="TextBox 6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5" name="TextBox 6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效率是性能要求，要在需求分析阶段就定下来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8098587" cy="308039"/>
            <a:chOff x="525399" y="1550194"/>
            <a:chExt cx="8098587" cy="308039"/>
          </a:xfrm>
        </p:grpSpPr>
        <p:sp>
          <p:nvSpPr>
            <p:cNvPr id="7" name="TextBox 7"/>
            <p:cNvSpPr txBox="1"/>
            <p:nvPr/>
          </p:nvSpPr>
          <p:spPr>
            <a:xfrm>
              <a:off x="525399" y="1550194"/>
              <a:ext cx="8098587"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程序效率指程序的运行速度和占用的存储空间，靠好设计提高，而不是靠在代码里抠。</a:t>
              </a:r>
            </a:p>
          </p:txBody>
        </p:sp>
      </p:grpSp>
      <p:grpSp>
        <p:nvGrpSpPr>
          <p:cNvPr id="29" name="c1-card-1"/>
          <p:cNvGrpSpPr/>
          <p:nvPr/>
        </p:nvGrpSpPr>
        <p:grpSpPr>
          <a:xfrm>
            <a:off x="533400" y="1967865"/>
            <a:ext cx="5626418" cy="3501390"/>
            <a:chOff x="533400" y="1967865"/>
            <a:chExt cx="5626418" cy="3501390"/>
          </a:xfrm>
        </p:grpSpPr>
        <p:sp>
          <p:nvSpPr>
            <p:cNvPr id="9" name="Rectangle 9"/>
            <p:cNvSpPr/>
            <p:nvPr/>
          </p:nvSpPr>
          <p:spPr>
            <a:xfrm>
              <a:off x="533400" y="1967865"/>
              <a:ext cx="5626418" cy="3501390"/>
            </a:xfrm>
            <a:prstGeom prst="roundRect">
              <a:avLst>
                <a:gd name="adj" fmla="val 3808"/>
              </a:avLst>
            </a:prstGeom>
            <a:solidFill>
              <a:srgbClr val="FFFFFF"/>
            </a:solidFill>
            <a:ln w="14288">
              <a:solidFill>
                <a:srgbClr val="D9DFEA"/>
              </a:solidFill>
            </a:ln>
          </p:spPr>
        </p:sp>
        <p:sp>
          <p:nvSpPr>
            <p:cNvPr id="10" name="Rectangle 10"/>
            <p:cNvSpPr/>
            <p:nvPr/>
          </p:nvSpPr>
          <p:spPr>
            <a:xfrm>
              <a:off x="542925" y="2101215"/>
              <a:ext cx="47625" cy="3234690"/>
            </a:xfrm>
            <a:prstGeom prst="roundRect">
              <a:avLst>
                <a:gd name="adj" fmla="val 50000"/>
              </a:avLst>
            </a:prstGeom>
            <a:solidFill>
              <a:srgbClr val="334E68"/>
            </a:solidFill>
            <a:ln>
              <a:noFill/>
            </a:ln>
          </p:spPr>
        </p:sp>
        <p:sp>
          <p:nvSpPr>
            <p:cNvPr id="11" name="Rectangle 11"/>
            <p:cNvSpPr/>
            <p:nvPr/>
          </p:nvSpPr>
          <p:spPr>
            <a:xfrm>
              <a:off x="781050" y="2177415"/>
              <a:ext cx="1062990" cy="257175"/>
            </a:xfrm>
            <a:prstGeom prst="roundRect">
              <a:avLst>
                <a:gd name="adj" fmla="val 50000"/>
              </a:avLst>
            </a:prstGeom>
            <a:solidFill>
              <a:srgbClr val="E7EDF3"/>
            </a:solidFill>
            <a:ln>
              <a:noFill/>
            </a:ln>
          </p:spPr>
        </p:sp>
        <p:sp>
          <p:nvSpPr>
            <p:cNvPr id="12" name="TextBox 12"/>
            <p:cNvSpPr txBox="1"/>
            <p:nvPr/>
          </p:nvSpPr>
          <p:spPr>
            <a:xfrm>
              <a:off x="854507" y="2213134"/>
              <a:ext cx="916076"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程序运行时间</a:t>
              </a:r>
            </a:p>
          </p:txBody>
        </p:sp>
        <p:sp>
          <p:nvSpPr>
            <p:cNvPr id="13" name="TextBox 13"/>
            <p:cNvSpPr txBox="1"/>
            <p:nvPr/>
          </p:nvSpPr>
          <p:spPr>
            <a:xfrm>
              <a:off x="1950720" y="2212658"/>
              <a:ext cx="28422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写程序的风格也会影响执行速度</a:t>
              </a:r>
            </a:p>
          </p:txBody>
        </p:sp>
        <p:sp>
          <p:nvSpPr>
            <p:cNvPr id="14" name="TextBox 14"/>
            <p:cNvSpPr txBox="1"/>
            <p:nvPr/>
          </p:nvSpPr>
          <p:spPr>
            <a:xfrm>
              <a:off x="773430" y="2573655"/>
              <a:ext cx="50634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源程序的效率直接由详细设计阶段确定的算法效率决定。</a:t>
              </a:r>
            </a:p>
          </p:txBody>
        </p:sp>
        <p:sp>
          <p:nvSpPr>
            <p:cNvPr id="15" name="Ellipse 15"/>
            <p:cNvSpPr/>
            <p:nvPr/>
          </p:nvSpPr>
          <p:spPr>
            <a:xfrm>
              <a:off x="786765" y="2971800"/>
              <a:ext cx="64770" cy="64770"/>
            </a:xfrm>
            <a:prstGeom prst="ellipse">
              <a:avLst/>
            </a:prstGeom>
            <a:solidFill>
              <a:srgbClr val="334E68"/>
            </a:solidFill>
            <a:ln>
              <a:noFill/>
            </a:ln>
          </p:spPr>
        </p:sp>
        <p:sp>
          <p:nvSpPr>
            <p:cNvPr id="16" name="TextBox 16"/>
            <p:cNvSpPr txBox="1"/>
            <p:nvPr/>
          </p:nvSpPr>
          <p:spPr>
            <a:xfrm>
              <a:off x="944880" y="2908935"/>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写程序之前先简化算术的和逻辑的表达式</a:t>
              </a:r>
            </a:p>
          </p:txBody>
        </p:sp>
        <p:sp>
          <p:nvSpPr>
            <p:cNvPr id="17" name="Ellipse 17"/>
            <p:cNvSpPr/>
            <p:nvPr/>
          </p:nvSpPr>
          <p:spPr>
            <a:xfrm>
              <a:off x="786765" y="3307080"/>
              <a:ext cx="64770" cy="64770"/>
            </a:xfrm>
            <a:prstGeom prst="ellipse">
              <a:avLst/>
            </a:prstGeom>
            <a:solidFill>
              <a:srgbClr val="334E68"/>
            </a:solidFill>
            <a:ln>
              <a:noFill/>
            </a:ln>
          </p:spPr>
        </p:sp>
        <p:sp>
          <p:nvSpPr>
            <p:cNvPr id="18" name="TextBox 18"/>
            <p:cNvSpPr txBox="1"/>
            <p:nvPr/>
          </p:nvSpPr>
          <p:spPr>
            <a:xfrm>
              <a:off x="944880" y="3244215"/>
              <a:ext cx="50634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仔细研究嵌套的循环，确定是否有语句可以从内层往外移</a:t>
              </a:r>
            </a:p>
          </p:txBody>
        </p:sp>
        <p:sp>
          <p:nvSpPr>
            <p:cNvPr id="19" name="Ellipse 19"/>
            <p:cNvSpPr/>
            <p:nvPr/>
          </p:nvSpPr>
          <p:spPr>
            <a:xfrm>
              <a:off x="786765" y="3642360"/>
              <a:ext cx="64770" cy="64770"/>
            </a:xfrm>
            <a:prstGeom prst="ellipse">
              <a:avLst/>
            </a:prstGeom>
            <a:solidFill>
              <a:srgbClr val="334E68"/>
            </a:solidFill>
            <a:ln>
              <a:noFill/>
            </a:ln>
          </p:spPr>
        </p:sp>
        <p:sp>
          <p:nvSpPr>
            <p:cNvPr id="20" name="TextBox 20"/>
            <p:cNvSpPr txBox="1"/>
            <p:nvPr/>
          </p:nvSpPr>
          <p:spPr>
            <a:xfrm>
              <a:off x="944880" y="357949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尽量避免使用多维数组</a:t>
              </a:r>
            </a:p>
          </p:txBody>
        </p:sp>
        <p:sp>
          <p:nvSpPr>
            <p:cNvPr id="21" name="Ellipse 21"/>
            <p:cNvSpPr/>
            <p:nvPr/>
          </p:nvSpPr>
          <p:spPr>
            <a:xfrm>
              <a:off x="786765" y="3977640"/>
              <a:ext cx="64770" cy="64770"/>
            </a:xfrm>
            <a:prstGeom prst="ellipse">
              <a:avLst/>
            </a:prstGeom>
            <a:solidFill>
              <a:srgbClr val="334E68"/>
            </a:solidFill>
            <a:ln>
              <a:noFill/>
            </a:ln>
          </p:spPr>
        </p:sp>
        <p:sp>
          <p:nvSpPr>
            <p:cNvPr id="22" name="TextBox 22"/>
            <p:cNvSpPr txBox="1"/>
            <p:nvPr/>
          </p:nvSpPr>
          <p:spPr>
            <a:xfrm>
              <a:off x="944880" y="391477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尽量避免使用指针和复杂的表</a:t>
              </a:r>
            </a:p>
          </p:txBody>
        </p:sp>
        <p:sp>
          <p:nvSpPr>
            <p:cNvPr id="23" name="Ellipse 23"/>
            <p:cNvSpPr/>
            <p:nvPr/>
          </p:nvSpPr>
          <p:spPr>
            <a:xfrm>
              <a:off x="786765" y="4312920"/>
              <a:ext cx="64770" cy="64770"/>
            </a:xfrm>
            <a:prstGeom prst="ellipse">
              <a:avLst/>
            </a:prstGeom>
            <a:solidFill>
              <a:srgbClr val="334E68"/>
            </a:solidFill>
            <a:ln>
              <a:noFill/>
            </a:ln>
          </p:spPr>
        </p:sp>
        <p:sp>
          <p:nvSpPr>
            <p:cNvPr id="24" name="TextBox 24"/>
            <p:cNvSpPr txBox="1"/>
            <p:nvPr/>
          </p:nvSpPr>
          <p:spPr>
            <a:xfrm>
              <a:off x="944880" y="425005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使用执行时间短的算术运算</a:t>
              </a:r>
            </a:p>
          </p:txBody>
        </p:sp>
        <p:sp>
          <p:nvSpPr>
            <p:cNvPr id="25" name="Ellipse 25"/>
            <p:cNvSpPr/>
            <p:nvPr/>
          </p:nvSpPr>
          <p:spPr>
            <a:xfrm>
              <a:off x="786765" y="4648200"/>
              <a:ext cx="64770" cy="64770"/>
            </a:xfrm>
            <a:prstGeom prst="ellipse">
              <a:avLst/>
            </a:prstGeom>
            <a:solidFill>
              <a:srgbClr val="334E68"/>
            </a:solidFill>
            <a:ln>
              <a:noFill/>
            </a:ln>
          </p:spPr>
        </p:sp>
        <p:sp>
          <p:nvSpPr>
            <p:cNvPr id="26" name="TextBox 26"/>
            <p:cNvSpPr txBox="1"/>
            <p:nvPr/>
          </p:nvSpPr>
          <p:spPr>
            <a:xfrm>
              <a:off x="944880" y="458533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不要混合使用不同的数据类型</a:t>
              </a:r>
            </a:p>
          </p:txBody>
        </p:sp>
        <p:sp>
          <p:nvSpPr>
            <p:cNvPr id="27" name="Ellipse 27"/>
            <p:cNvSpPr/>
            <p:nvPr/>
          </p:nvSpPr>
          <p:spPr>
            <a:xfrm>
              <a:off x="786765" y="4983480"/>
              <a:ext cx="64770" cy="64770"/>
            </a:xfrm>
            <a:prstGeom prst="ellipse">
              <a:avLst/>
            </a:prstGeom>
            <a:solidFill>
              <a:srgbClr val="334E68"/>
            </a:solidFill>
            <a:ln>
              <a:noFill/>
            </a:ln>
          </p:spPr>
        </p:sp>
        <p:sp>
          <p:nvSpPr>
            <p:cNvPr id="28" name="TextBox 28"/>
            <p:cNvSpPr txBox="1"/>
            <p:nvPr/>
          </p:nvSpPr>
          <p:spPr>
            <a:xfrm>
              <a:off x="944880" y="492061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尽量使用整数运算和布尔表达式</a:t>
              </a:r>
            </a:p>
          </p:txBody>
        </p:sp>
      </p:grpSp>
      <p:grpSp>
        <p:nvGrpSpPr>
          <p:cNvPr id="39" name="c2-card-1"/>
          <p:cNvGrpSpPr/>
          <p:nvPr/>
        </p:nvGrpSpPr>
        <p:grpSpPr>
          <a:xfrm>
            <a:off x="6464618" y="1967865"/>
            <a:ext cx="5193982" cy="2527935"/>
            <a:chOff x="6464618" y="1967865"/>
            <a:chExt cx="5193982" cy="2527935"/>
          </a:xfrm>
        </p:grpSpPr>
        <p:sp>
          <p:nvSpPr>
            <p:cNvPr id="30" name="Rectangle 30"/>
            <p:cNvSpPr/>
            <p:nvPr/>
          </p:nvSpPr>
          <p:spPr>
            <a:xfrm>
              <a:off x="6464618" y="1967865"/>
              <a:ext cx="5193982" cy="2527935"/>
            </a:xfrm>
            <a:prstGeom prst="roundRect">
              <a:avLst>
                <a:gd name="adj" fmla="val 5275"/>
              </a:avLst>
            </a:prstGeom>
            <a:solidFill>
              <a:srgbClr val="FFFFFF"/>
            </a:solidFill>
            <a:ln w="14288">
              <a:solidFill>
                <a:srgbClr val="D9DFEA"/>
              </a:solidFill>
            </a:ln>
          </p:spPr>
        </p:sp>
        <p:sp>
          <p:nvSpPr>
            <p:cNvPr id="31" name="Rectangle 31"/>
            <p:cNvSpPr/>
            <p:nvPr/>
          </p:nvSpPr>
          <p:spPr>
            <a:xfrm>
              <a:off x="6474142" y="2101215"/>
              <a:ext cx="47625" cy="2261235"/>
            </a:xfrm>
            <a:prstGeom prst="roundRect">
              <a:avLst>
                <a:gd name="adj" fmla="val 50000"/>
              </a:avLst>
            </a:prstGeom>
            <a:solidFill>
              <a:srgbClr val="334E68"/>
            </a:solidFill>
            <a:ln>
              <a:noFill/>
            </a:ln>
          </p:spPr>
        </p:sp>
        <p:sp>
          <p:nvSpPr>
            <p:cNvPr id="32" name="Rectangle 32"/>
            <p:cNvSpPr/>
            <p:nvPr/>
          </p:nvSpPr>
          <p:spPr>
            <a:xfrm>
              <a:off x="6712268" y="2177415"/>
              <a:ext cx="921068" cy="257175"/>
            </a:xfrm>
            <a:prstGeom prst="roundRect">
              <a:avLst>
                <a:gd name="adj" fmla="val 50000"/>
              </a:avLst>
            </a:prstGeom>
            <a:solidFill>
              <a:srgbClr val="E7EDF3"/>
            </a:solidFill>
            <a:ln>
              <a:noFill/>
            </a:ln>
          </p:spPr>
        </p:sp>
        <p:sp>
          <p:nvSpPr>
            <p:cNvPr id="33" name="TextBox 33"/>
            <p:cNvSpPr txBox="1"/>
            <p:nvPr/>
          </p:nvSpPr>
          <p:spPr>
            <a:xfrm>
              <a:off x="6790626" y="2213134"/>
              <a:ext cx="7653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存储器效率</a:t>
              </a:r>
            </a:p>
          </p:txBody>
        </p:sp>
        <p:sp>
          <p:nvSpPr>
            <p:cNvPr id="34" name="TextBox 34"/>
            <p:cNvSpPr txBox="1"/>
            <p:nvPr/>
          </p:nvSpPr>
          <p:spPr>
            <a:xfrm>
              <a:off x="7740015" y="2212658"/>
              <a:ext cx="28422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让模块大小与存储页容量相匹配</a:t>
              </a:r>
            </a:p>
          </p:txBody>
        </p:sp>
        <p:sp>
          <p:nvSpPr>
            <p:cNvPr id="35" name="Ellipse 35"/>
            <p:cNvSpPr/>
            <p:nvPr/>
          </p:nvSpPr>
          <p:spPr>
            <a:xfrm>
              <a:off x="6717983" y="2636520"/>
              <a:ext cx="64770" cy="64770"/>
            </a:xfrm>
            <a:prstGeom prst="ellipse">
              <a:avLst/>
            </a:prstGeom>
            <a:solidFill>
              <a:srgbClr val="334E68"/>
            </a:solidFill>
            <a:ln>
              <a:noFill/>
            </a:ln>
          </p:spPr>
        </p:sp>
        <p:sp>
          <p:nvSpPr>
            <p:cNvPr id="36" name="TextBox 36"/>
            <p:cNvSpPr txBox="1"/>
            <p:nvPr/>
          </p:nvSpPr>
          <p:spPr>
            <a:xfrm>
              <a:off x="6876098" y="2573655"/>
              <a:ext cx="4396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大中型机要考虑操作系统页式调度：结构化程序设计</a:t>
              </a:r>
              <a:br/>
              <a:r>
                <a:rPr lang="zh-CN" sz="1500" dirty="0">
                  <a:solidFill>
                    <a:srgbClr val="1F2937"/>
                  </a:solidFill>
                  <a:latin typeface="+mn-lt"/>
                  <a:ea typeface="+mn-ea"/>
                  <a:cs typeface="+mn-cs"/>
                </a:rPr>
                <a:t>把功能合理分块，使一个模块或一组密切相关模块的</a:t>
              </a:r>
              <a:br/>
              <a:r>
                <a:rPr lang="zh-CN" sz="1500" dirty="0">
                  <a:solidFill>
                    <a:srgbClr val="1F2937"/>
                  </a:solidFill>
                  <a:latin typeface="+mn-lt"/>
                  <a:ea typeface="+mn-ea"/>
                  <a:cs typeface="+mn-cs"/>
                </a:rPr>
                <a:t>体积与每页容量匹配，可减少页面调度和内外存交换</a:t>
              </a:r>
            </a:p>
          </p:txBody>
        </p:sp>
        <p:sp>
          <p:nvSpPr>
            <p:cNvPr id="37" name="Ellipse 37"/>
            <p:cNvSpPr/>
            <p:nvPr/>
          </p:nvSpPr>
          <p:spPr>
            <a:xfrm>
              <a:off x="6717983" y="3543300"/>
              <a:ext cx="64770" cy="64770"/>
            </a:xfrm>
            <a:prstGeom prst="ellipse">
              <a:avLst/>
            </a:prstGeom>
            <a:solidFill>
              <a:srgbClr val="334E68"/>
            </a:solidFill>
            <a:ln>
              <a:noFill/>
            </a:ln>
          </p:spPr>
        </p:sp>
        <p:sp>
          <p:nvSpPr>
            <p:cNvPr id="38" name="TextBox 38"/>
            <p:cNvSpPr txBox="1"/>
            <p:nvPr/>
          </p:nvSpPr>
          <p:spPr>
            <a:xfrm>
              <a:off x="6876098" y="3480435"/>
              <a:ext cx="4396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微处理机上要求存储单元最少时，选用目标代码短、</a:t>
              </a:r>
              <a:br/>
              <a:r>
                <a:rPr lang="zh-CN" sz="1500" dirty="0">
                  <a:solidFill>
                    <a:srgbClr val="1F2937"/>
                  </a:solidFill>
                  <a:latin typeface="+mn-lt"/>
                  <a:ea typeface="+mn-ea"/>
                  <a:cs typeface="+mn-cs"/>
                </a:rPr>
                <a:t>存储压缩性能好的编译程序，非常必要时才用汇编语</a:t>
              </a:r>
              <a:br/>
              <a:r>
                <a:rPr lang="zh-CN" sz="1500" dirty="0">
                  <a:solidFill>
                    <a:srgbClr val="1F2937"/>
                  </a:solidFill>
                  <a:latin typeface="+mn-lt"/>
                  <a:ea typeface="+mn-ea"/>
                  <a:cs typeface="+mn-cs"/>
                </a:rPr>
                <a:t>言</a:t>
              </a:r>
            </a:p>
          </p:txBody>
        </p:sp>
      </p:grpSp>
      <p:grpSp>
        <p:nvGrpSpPr>
          <p:cNvPr id="45" name="c2-callout-2"/>
          <p:cNvGrpSpPr/>
          <p:nvPr/>
        </p:nvGrpSpPr>
        <p:grpSpPr>
          <a:xfrm>
            <a:off x="6464618" y="4686300"/>
            <a:ext cx="5193982" cy="782955"/>
            <a:chOff x="6464618" y="4686300"/>
            <a:chExt cx="5193982" cy="782955"/>
          </a:xfrm>
        </p:grpSpPr>
        <p:sp>
          <p:nvSpPr>
            <p:cNvPr id="40" name="Rectangle 40"/>
            <p:cNvSpPr/>
            <p:nvPr/>
          </p:nvSpPr>
          <p:spPr>
            <a:xfrm>
              <a:off x="6464618" y="4686300"/>
              <a:ext cx="5193982" cy="782955"/>
            </a:xfrm>
            <a:prstGeom prst="roundRect">
              <a:avLst>
                <a:gd name="adj" fmla="val 14599"/>
              </a:avLst>
            </a:prstGeom>
            <a:solidFill>
              <a:srgbClr val="334E68"/>
            </a:solidFill>
            <a:ln>
              <a:noFill/>
            </a:ln>
          </p:spPr>
        </p:sp>
        <p:grpSp>
          <p:nvGrpSpPr>
            <p:cNvPr id="43" name="Group 43"/>
            <p:cNvGrpSpPr/>
            <p:nvPr/>
          </p:nvGrpSpPr>
          <p:grpSpPr>
            <a:xfrm>
              <a:off x="6669405" y="4977767"/>
              <a:ext cx="200023" cy="200023"/>
              <a:chOff x="6669405" y="4977767"/>
              <a:chExt cx="200023" cy="200023"/>
            </a:xfrm>
          </p:grpSpPr>
          <p:sp>
            <p:nvSpPr>
              <p:cNvPr id="41" name="Freeform 41"/>
              <p:cNvSpPr/>
              <p:nvPr/>
            </p:nvSpPr>
            <p:spPr>
              <a:xfrm>
                <a:off x="6669405" y="497776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2" name="Freeform 42"/>
              <p:cNvSpPr/>
              <p:nvPr/>
            </p:nvSpPr>
            <p:spPr>
              <a:xfrm>
                <a:off x="6802755" y="504444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4" name="TextBox 44"/>
            <p:cNvSpPr txBox="1"/>
            <p:nvPr/>
          </p:nvSpPr>
          <p:spPr>
            <a:xfrm>
              <a:off x="6971348" y="4834890"/>
              <a:ext cx="4206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提高执行效率的技术通常也能提高存储器效率，两</a:t>
              </a:r>
              <a:br/>
              <a:r>
                <a:rPr lang="zh-CN" sz="1500" dirty="0">
                  <a:solidFill>
                    <a:srgbClr val="FFFFFF"/>
                  </a:solidFill>
                  <a:latin typeface="+mn-lt"/>
                  <a:ea typeface="+mn-ea"/>
                  <a:cs typeface="+mn-cs"/>
                </a:rPr>
                <a:t>者的关键同样是“简单”。</a:t>
              </a:r>
            </a:p>
          </p:txBody>
        </p:sp>
      </p:grpSp>
      <p:grpSp>
        <p:nvGrpSpPr>
          <p:cNvPr id="52" name="takeaway"/>
          <p:cNvGrpSpPr/>
          <p:nvPr/>
        </p:nvGrpSpPr>
        <p:grpSpPr>
          <a:xfrm>
            <a:off x="533400" y="5829300"/>
            <a:ext cx="11125200" cy="533400"/>
            <a:chOff x="533400" y="5829300"/>
            <a:chExt cx="11125200" cy="533400"/>
          </a:xfrm>
        </p:grpSpPr>
        <p:sp>
          <p:nvSpPr>
            <p:cNvPr id="46" name="Rectangle 46"/>
            <p:cNvSpPr/>
            <p:nvPr/>
          </p:nvSpPr>
          <p:spPr>
            <a:xfrm>
              <a:off x="533400" y="5829300"/>
              <a:ext cx="11125200" cy="533400"/>
            </a:xfrm>
            <a:prstGeom prst="roundRect">
              <a:avLst>
                <a:gd name="adj" fmla="val 21429"/>
              </a:avLst>
            </a:prstGeom>
            <a:solidFill>
              <a:srgbClr val="FDECEA"/>
            </a:solidFill>
            <a:ln>
              <a:noFill/>
            </a:ln>
          </p:spPr>
        </p:sp>
        <p:grpSp>
          <p:nvGrpSpPr>
            <p:cNvPr id="50" name="Group 50"/>
            <p:cNvGrpSpPr/>
            <p:nvPr/>
          </p:nvGrpSpPr>
          <p:grpSpPr>
            <a:xfrm>
              <a:off x="726129" y="5992296"/>
              <a:ext cx="224134" cy="192560"/>
              <a:chOff x="726129" y="5992296"/>
              <a:chExt cx="224134" cy="192560"/>
            </a:xfrm>
          </p:grpSpPr>
          <p:sp>
            <p:nvSpPr>
              <p:cNvPr id="47" name="Freeform 47"/>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8" name="Freeform 48"/>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9" name="Freeform 49"/>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1" name="TextBox 51"/>
            <p:cNvSpPr txBox="1"/>
            <p:nvPr/>
          </p:nvSpPr>
          <p:spPr>
            <a:xfrm>
              <a:off x="1040130" y="5991225"/>
              <a:ext cx="7890510"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程序的效率和程序的简单程度是一致的，不要牺牲清晰性和可读性去换取不必要的效率。</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案例：这段借书代码有八处毛病</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1" name="c1-code-1"/>
          <p:cNvGrpSpPr/>
          <p:nvPr/>
        </p:nvGrpSpPr>
        <p:grpSpPr>
          <a:xfrm>
            <a:off x="533400" y="1524000"/>
            <a:ext cx="6708458" cy="4153852"/>
            <a:chOff x="533400" y="1524000"/>
            <a:chExt cx="6708458" cy="4153852"/>
          </a:xfrm>
        </p:grpSpPr>
        <p:sp>
          <p:nvSpPr>
            <p:cNvPr id="7" name="Rectangle 7"/>
            <p:cNvSpPr/>
            <p:nvPr/>
          </p:nvSpPr>
          <p:spPr>
            <a:xfrm>
              <a:off x="533400" y="1524000"/>
              <a:ext cx="6708458" cy="4153852"/>
            </a:xfrm>
            <a:prstGeom prst="roundRect">
              <a:avLst>
                <a:gd name="adj" fmla="val 2293"/>
              </a:avLst>
            </a:prstGeom>
            <a:solidFill>
              <a:srgbClr val="F6F8FA"/>
            </a:solidFill>
            <a:ln w="11430">
              <a:solidFill>
                <a:srgbClr val="D9DFEA"/>
              </a:solidFill>
            </a:ln>
          </p:spPr>
        </p:sp>
        <p:sp>
          <p:nvSpPr>
            <p:cNvPr id="8" name="TextBox 8"/>
            <p:cNvSpPr txBox="1"/>
            <p:nvPr/>
          </p:nvSpPr>
          <p:spPr>
            <a:xfrm>
              <a:off x="661797" y="1675924"/>
              <a:ext cx="318971"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Java</a:t>
              </a:r>
            </a:p>
          </p:txBody>
        </p:sp>
        <p:sp>
          <p:nvSpPr>
            <p:cNvPr id="9" name="TextBox 9"/>
            <p:cNvSpPr txBox="1"/>
            <p:nvPr/>
          </p:nvSpPr>
          <p:spPr>
            <a:xfrm>
              <a:off x="679831" y="1937861"/>
              <a:ext cx="167894" cy="3669030"/>
            </a:xfrm>
            <a:prstGeom prst="rect">
              <a:avLst/>
            </a:prstGeom>
            <a:noFill/>
            <a:ln>
              <a:noFill/>
            </a:ln>
          </p:spPr>
          <p:txBody>
            <a:bodyPr wrap="none" lIns="0" tIns="0" rIns="0" bIns="0" anchor="t" anchorCtr="0">
              <a:spAutoFit/>
            </a:bodyPr>
            <a:lstStyle/>
            <a:p>
              <a:pPr algn="r">
                <a:lnSpc>
                  <a:spcPts val="1598"/>
                </a:lnSpc>
              </a:pPr>
              <a:r>
                <a:rPr lang="zh-CN" sz="1120" dirty="0">
                  <a:solidFill>
                    <a:srgbClr val="9AA3B2"/>
                  </a:solidFill>
                  <a:latin typeface="Consolas"/>
                  <a:ea typeface="Consolas"/>
                  <a:cs typeface="Consolas"/>
                </a:rPr>
                <a:t>1</a:t>
              </a:r>
              <a:br/>
              <a:r>
                <a:rPr lang="zh-CN" sz="1120" dirty="0">
                  <a:solidFill>
                    <a:srgbClr val="9AA3B2"/>
                  </a:solidFill>
                  <a:latin typeface="Consolas"/>
                  <a:ea typeface="Consolas"/>
                  <a:cs typeface="Consolas"/>
                </a:rPr>
                <a:t>2</a:t>
              </a:r>
              <a:br/>
              <a:r>
                <a:rPr lang="zh-CN" sz="1120" dirty="0">
                  <a:solidFill>
                    <a:srgbClr val="9AA3B2"/>
                  </a:solidFill>
                  <a:latin typeface="Consolas"/>
                  <a:ea typeface="Consolas"/>
                  <a:cs typeface="Consolas"/>
                </a:rPr>
                <a:t>3</a:t>
              </a:r>
              <a:br/>
              <a:r>
                <a:rPr lang="zh-CN" sz="1120" dirty="0">
                  <a:solidFill>
                    <a:srgbClr val="9AA3B2"/>
                  </a:solidFill>
                  <a:latin typeface="Consolas"/>
                  <a:ea typeface="Consolas"/>
                  <a:cs typeface="Consolas"/>
                </a:rPr>
                <a:t>4</a:t>
              </a:r>
              <a:br/>
              <a:r>
                <a:rPr lang="zh-CN" sz="1120" dirty="0">
                  <a:solidFill>
                    <a:srgbClr val="9AA3B2"/>
                  </a:solidFill>
                  <a:latin typeface="Consolas"/>
                  <a:ea typeface="Consolas"/>
                  <a:cs typeface="Consolas"/>
                </a:rPr>
                <a:t>5</a:t>
              </a:r>
              <a:br/>
              <a:r>
                <a:rPr lang="zh-CN" sz="1120" dirty="0">
                  <a:solidFill>
                    <a:srgbClr val="9AA3B2"/>
                  </a:solidFill>
                  <a:latin typeface="Consolas"/>
                  <a:ea typeface="Consolas"/>
                  <a:cs typeface="Consolas"/>
                </a:rPr>
                <a:t>6</a:t>
              </a:r>
              <a:br/>
              <a:r>
                <a:rPr lang="zh-CN" sz="1120" dirty="0">
                  <a:solidFill>
                    <a:srgbClr val="9AA3B2"/>
                  </a:solidFill>
                  <a:latin typeface="Consolas"/>
                  <a:ea typeface="Consolas"/>
                  <a:cs typeface="Consolas"/>
                </a:rPr>
                <a:t>7</a:t>
              </a:r>
              <a:br/>
              <a:r>
                <a:rPr lang="zh-CN" sz="1120" dirty="0">
                  <a:solidFill>
                    <a:srgbClr val="9AA3B2"/>
                  </a:solidFill>
                  <a:latin typeface="Consolas"/>
                  <a:ea typeface="Consolas"/>
                  <a:cs typeface="Consolas"/>
                </a:rPr>
                <a:t>8</a:t>
              </a:r>
              <a:br/>
              <a:r>
                <a:rPr lang="zh-CN" sz="1120" dirty="0">
                  <a:solidFill>
                    <a:srgbClr val="9AA3B2"/>
                  </a:solidFill>
                  <a:latin typeface="Consolas"/>
                  <a:ea typeface="Consolas"/>
                  <a:cs typeface="Consolas"/>
                </a:rPr>
                <a:t>9</a:t>
              </a:r>
              <a:br/>
              <a:r>
                <a:rPr lang="zh-CN" sz="1120" dirty="0">
                  <a:solidFill>
                    <a:srgbClr val="9AA3B2"/>
                  </a:solidFill>
                  <a:latin typeface="Consolas"/>
                  <a:ea typeface="Consolas"/>
                  <a:cs typeface="Consolas"/>
                </a:rPr>
                <a:t>10</a:t>
              </a:r>
              <a:br/>
              <a:r>
                <a:rPr lang="zh-CN" sz="1120" dirty="0">
                  <a:solidFill>
                    <a:srgbClr val="9AA3B2"/>
                  </a:solidFill>
                  <a:latin typeface="Consolas"/>
                  <a:ea typeface="Consolas"/>
                  <a:cs typeface="Consolas"/>
                </a:rPr>
                <a:t>11</a:t>
              </a:r>
              <a:br/>
              <a:r>
                <a:rPr lang="zh-CN" sz="1120" dirty="0">
                  <a:solidFill>
                    <a:srgbClr val="9AA3B2"/>
                  </a:solidFill>
                  <a:latin typeface="Consolas"/>
                  <a:ea typeface="Consolas"/>
                  <a:cs typeface="Consolas"/>
                </a:rPr>
                <a:t>12</a:t>
              </a:r>
              <a:br/>
              <a:r>
                <a:rPr lang="zh-CN" sz="1120" dirty="0">
                  <a:solidFill>
                    <a:srgbClr val="9AA3B2"/>
                  </a:solidFill>
                  <a:latin typeface="Consolas"/>
                  <a:ea typeface="Consolas"/>
                  <a:cs typeface="Consolas"/>
                </a:rPr>
                <a:t>13</a:t>
              </a:r>
              <a:br/>
              <a:r>
                <a:rPr lang="zh-CN" sz="1120" dirty="0">
                  <a:solidFill>
                    <a:srgbClr val="9AA3B2"/>
                  </a:solidFill>
                  <a:latin typeface="Consolas"/>
                  <a:ea typeface="Consolas"/>
                  <a:cs typeface="Consolas"/>
                </a:rPr>
                <a:t>14</a:t>
              </a:r>
              <a:br/>
              <a:r>
                <a:rPr lang="zh-CN" sz="1120" dirty="0">
                  <a:solidFill>
                    <a:srgbClr val="9AA3B2"/>
                  </a:solidFill>
                  <a:latin typeface="Consolas"/>
                  <a:ea typeface="Consolas"/>
                  <a:cs typeface="Consolas"/>
                </a:rPr>
                <a:t>15</a:t>
              </a:r>
              <a:br/>
              <a:r>
                <a:rPr lang="zh-CN" sz="1120" dirty="0">
                  <a:solidFill>
                    <a:srgbClr val="9AA3B2"/>
                  </a:solidFill>
                  <a:latin typeface="Consolas"/>
                  <a:ea typeface="Consolas"/>
                  <a:cs typeface="Consolas"/>
                </a:rPr>
                <a:t>16</a:t>
              </a:r>
              <a:br/>
              <a:r>
                <a:rPr lang="zh-CN" sz="1120" dirty="0">
                  <a:solidFill>
                    <a:srgbClr val="9AA3B2"/>
                  </a:solidFill>
                  <a:latin typeface="Consolas"/>
                  <a:ea typeface="Consolas"/>
                  <a:cs typeface="Consolas"/>
                </a:rPr>
                <a:t>17</a:t>
              </a:r>
              <a:br/>
              <a:r>
                <a:rPr lang="zh-CN" sz="1120" dirty="0">
                  <a:solidFill>
                    <a:srgbClr val="9AA3B2"/>
                  </a:solidFill>
                  <a:latin typeface="Consolas"/>
                  <a:ea typeface="Consolas"/>
                  <a:cs typeface="Consolas"/>
                </a:rPr>
                <a:t>18</a:t>
              </a:r>
            </a:p>
          </p:txBody>
        </p:sp>
        <p:sp>
          <p:nvSpPr>
            <p:cNvPr id="10" name="TextBox 10"/>
            <p:cNvSpPr txBox="1"/>
            <p:nvPr/>
          </p:nvSpPr>
          <p:spPr>
            <a:xfrm>
              <a:off x="950595" y="1937861"/>
              <a:ext cx="5565902" cy="3669030"/>
            </a:xfrm>
            <a:prstGeom prst="rect">
              <a:avLst/>
            </a:prstGeom>
            <a:noFill/>
            <a:ln>
              <a:noFill/>
            </a:ln>
          </p:spPr>
          <p:txBody>
            <a:bodyPr wrap="none" lIns="0" tIns="0" rIns="0" bIns="0" anchor="t" anchorCtr="0">
              <a:spAutoFit/>
            </a:bodyPr>
            <a:lstStyle/>
            <a:p>
              <a:pPr algn="l">
                <a:lnSpc>
                  <a:spcPts val="1598"/>
                </a:lnSpc>
              </a:pP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void</a:t>
              </a:r>
              <a:r>
                <a:rPr lang="en-US" sz="1120" dirty="0">
                  <a:solidFill>
                    <a:srgbClr val="1F2937"/>
                  </a:solidFill>
                  <a:latin typeface="Consolas"/>
                  <a:ea typeface="Consolas"/>
                  <a:cs typeface="Consolas"/>
                </a:rPr>
                <a:t xml:space="preserve"> borrowBook(String id1, String id2)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if</a:t>
              </a:r>
              <a:r>
                <a:rPr lang="en-US" sz="1120" dirty="0">
                  <a:solidFill>
                    <a:srgbClr val="1F2937"/>
                  </a:solidFill>
                  <a:latin typeface="Consolas"/>
                  <a:ea typeface="Consolas"/>
                  <a:cs typeface="Consolas"/>
                </a:rPr>
                <a:t xml:space="preserve"> (!id1.equals(</a:t>
              </a:r>
              <a:r>
                <a:rPr lang="zh-CN" sz="1120" dirty="0">
                  <a:solidFill>
                    <a:srgbClr val="C2410C"/>
                  </a:solidFill>
                  <a:latin typeface="Consolas"/>
                  <a:ea typeface="Consolas"/>
                  <a:cs typeface="Consolas"/>
                </a:rPr>
                <a:t>""</a:t>
              </a:r>
              <a:r>
                <a:rPr lang="zh-CN" sz="1120" dirty="0">
                  <a:solidFill>
                    <a:srgbClr val="1F2937"/>
                  </a:solidFill>
                  <a:latin typeface="Consolas"/>
                  <a:ea typeface="Consolas"/>
                  <a:cs typeface="Consolas"/>
                </a:rPr>
                <a:t>))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if</a:t>
              </a:r>
              <a:r>
                <a:rPr lang="en-US" sz="1120" dirty="0">
                  <a:solidFill>
                    <a:srgbClr val="1F2937"/>
                  </a:solidFill>
                  <a:latin typeface="Consolas"/>
                  <a:ea typeface="Consolas"/>
                  <a:cs typeface="Consolas"/>
                </a:rPr>
                <a:t xml:space="preserve"> (checkBooks(id1) &lt; 5)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if</a:t>
              </a:r>
              <a:r>
                <a:rPr lang="en-US" sz="1120" dirty="0">
                  <a:solidFill>
                    <a:srgbClr val="1F2937"/>
                  </a:solidFill>
                  <a:latin typeface="Consolas"/>
                  <a:ea typeface="Consolas"/>
                  <a:cs typeface="Consolas"/>
                </a:rPr>
                <a:t xml:space="preserve"> (!hasOverdueBooks(id1))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if</a:t>
              </a:r>
              <a:r>
                <a:rPr lang="en-US" sz="1120" dirty="0">
                  <a:solidFill>
                    <a:srgbClr val="1F2937"/>
                  </a:solidFill>
                  <a:latin typeface="Consolas"/>
                  <a:ea typeface="Consolas"/>
                  <a:cs typeface="Consolas"/>
                </a:rPr>
                <a:t xml:space="preserve"> (!id2.equals(</a:t>
              </a:r>
              <a:r>
                <a:rPr lang="zh-CN" sz="1120" dirty="0">
                  <a:solidFill>
                    <a:srgbClr val="C2410C"/>
                  </a:solidFill>
                  <a:latin typeface="Consolas"/>
                  <a:ea typeface="Consolas"/>
                  <a:cs typeface="Consolas"/>
                </a:rPr>
                <a:t>""</a:t>
              </a:r>
              <a:r>
                <a:rPr lang="zh-CN" sz="1120" dirty="0">
                  <a:solidFill>
                    <a:srgbClr val="1F2937"/>
                  </a:solidFill>
                  <a:latin typeface="Consolas"/>
                  <a:ea typeface="Consolas"/>
                  <a:cs typeface="Consolas"/>
                </a:rPr>
                <a:t>))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if</a:t>
              </a:r>
              <a:r>
                <a:rPr lang="en-US" sz="1120" dirty="0">
                  <a:solidFill>
                    <a:srgbClr val="1F2937"/>
                  </a:solidFill>
                  <a:latin typeface="Consolas"/>
                  <a:ea typeface="Consolas"/>
                  <a:cs typeface="Consolas"/>
                </a:rPr>
                <a:t xml:space="preserve"> (!getBook(id2).isAllOut() &amp;&amp; getBook(id2).blocked())</a:t>
              </a:r>
              <a:br/>
              <a:r>
                <a:rPr lang="en-US" sz="1120" dirty="0">
                  <a:solidFill>
                    <a:srgbClr val="1F2937"/>
                  </a:solidFill>
                  <a:latin typeface="Consolas"/>
                  <a:ea typeface="Consolas"/>
                  <a:cs typeface="Consolas"/>
                </a:rPr>
                <a:t xml:space="preserve">            updateStudentStatus(id1, id2); updateBookStatus(id2, id1);</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throw</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IllegalArgumentException(</a:t>
              </a:r>
              <a:r>
                <a:rPr lang="en-US" sz="1120" dirty="0">
                  <a:solidFill>
                    <a:srgbClr val="C2410C"/>
                  </a:solidFill>
                  <a:latin typeface="Consolas"/>
                  <a:ea typeface="Consolas"/>
                  <a:cs typeface="Consolas"/>
                </a:rPr>
                <a:t>"Book can't be borrowed"</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 </a:t>
              </a:r>
              <a:r>
                <a:rPr lang="en-US" sz="1120" b="1" dirty="0">
                  <a:solidFill>
                    <a:srgbClr val="334E68"/>
                  </a:solidFill>
                  <a:latin typeface="Consolas"/>
                  <a:ea typeface="Consolas"/>
                  <a:cs typeface="Consolas"/>
                </a:rPr>
                <a:t>else</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throw</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IllegalArgumentException(</a:t>
              </a:r>
              <a:r>
                <a:rPr lang="en-US" sz="1120" dirty="0">
                  <a:solidFill>
                    <a:srgbClr val="C2410C"/>
                  </a:solidFill>
                  <a:latin typeface="Consolas"/>
                  <a:ea typeface="Consolas"/>
                  <a:cs typeface="Consolas"/>
                </a:rPr>
                <a:t>"Book id empty"</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else</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throw</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IllegalArgumentException(</a:t>
              </a:r>
              <a:r>
                <a:rPr lang="en-US" sz="1120" dirty="0">
                  <a:solidFill>
                    <a:srgbClr val="C2410C"/>
                  </a:solidFill>
                  <a:latin typeface="Consolas"/>
                  <a:ea typeface="Consolas"/>
                  <a:cs typeface="Consolas"/>
                </a:rPr>
                <a:t>"Overdue books exist"</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 </a:t>
              </a:r>
              <a:r>
                <a:rPr lang="en-US" sz="1120" b="1" dirty="0">
                  <a:solidFill>
                    <a:srgbClr val="334E68"/>
                  </a:solidFill>
                  <a:latin typeface="Consolas"/>
                  <a:ea typeface="Consolas"/>
                  <a:cs typeface="Consolas"/>
                </a:rPr>
                <a:t>else</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throw</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IllegalArgumentException(</a:t>
              </a:r>
              <a:r>
                <a:rPr lang="en-US" sz="1120" dirty="0">
                  <a:solidFill>
                    <a:srgbClr val="C2410C"/>
                  </a:solidFill>
                  <a:latin typeface="Consolas"/>
                  <a:ea typeface="Consolas"/>
                  <a:cs typeface="Consolas"/>
                </a:rPr>
                <a:t>"Borrow limit exceeded"</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 </a:t>
              </a:r>
              <a:r>
                <a:rPr lang="en-US" sz="1120" b="1" dirty="0">
                  <a:solidFill>
                    <a:srgbClr val="334E68"/>
                  </a:solidFill>
                  <a:latin typeface="Consolas"/>
                  <a:ea typeface="Consolas"/>
                  <a:cs typeface="Consolas"/>
                </a:rPr>
                <a:t>else</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throw</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new</a:t>
              </a:r>
              <a:r>
                <a:rPr lang="en-US" sz="1120" dirty="0">
                  <a:solidFill>
                    <a:srgbClr val="1F2937"/>
                  </a:solidFill>
                  <a:latin typeface="Consolas"/>
                  <a:ea typeface="Consolas"/>
                  <a:cs typeface="Consolas"/>
                </a:rPr>
                <a:t xml:space="preserve"> IllegalArgumentException(</a:t>
              </a:r>
              <a:r>
                <a:rPr lang="en-US" sz="1120" dirty="0">
                  <a:solidFill>
                    <a:srgbClr val="C2410C"/>
                  </a:solidFill>
                  <a:latin typeface="Consolas"/>
                  <a:ea typeface="Consolas"/>
                  <a:cs typeface="Consolas"/>
                </a:rPr>
                <a:t>"Student id empty"</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a:t>
              </a:r>
            </a:p>
          </p:txBody>
        </p:sp>
      </p:grpSp>
      <p:grpSp>
        <p:nvGrpSpPr>
          <p:cNvPr id="29" name="c2-bullets-1"/>
          <p:cNvGrpSpPr/>
          <p:nvPr/>
        </p:nvGrpSpPr>
        <p:grpSpPr>
          <a:xfrm>
            <a:off x="7539038" y="1548765"/>
            <a:ext cx="3690874" cy="2741580"/>
            <a:chOff x="7539038" y="1548765"/>
            <a:chExt cx="3690874" cy="2741580"/>
          </a:xfrm>
        </p:grpSpPr>
        <p:sp>
          <p:nvSpPr>
            <p:cNvPr id="12" name="TextBox 12"/>
            <p:cNvSpPr txBox="1"/>
            <p:nvPr/>
          </p:nvSpPr>
          <p:spPr>
            <a:xfrm>
              <a:off x="7539038" y="1548765"/>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逐条数一遍</a:t>
              </a:r>
            </a:p>
          </p:txBody>
        </p:sp>
        <p:sp>
          <p:nvSpPr>
            <p:cNvPr id="13" name="Freeform 13"/>
            <p:cNvSpPr/>
            <p:nvPr/>
          </p:nvSpPr>
          <p:spPr>
            <a:xfrm>
              <a:off x="7546658" y="1929765"/>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14" name="TextBox 14"/>
            <p:cNvSpPr txBox="1"/>
            <p:nvPr/>
          </p:nvSpPr>
          <p:spPr>
            <a:xfrm>
              <a:off x="7770686" y="1899761"/>
              <a:ext cx="318352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标识符 id1、id2 命名不规范，看不出含义</a:t>
              </a:r>
            </a:p>
          </p:txBody>
        </p:sp>
        <p:sp>
          <p:nvSpPr>
            <p:cNvPr id="15" name="Freeform 15"/>
            <p:cNvSpPr/>
            <p:nvPr/>
          </p:nvSpPr>
          <p:spPr>
            <a:xfrm>
              <a:off x="7546658" y="2236470"/>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16" name="TextBox 16"/>
            <p:cNvSpPr txBox="1"/>
            <p:nvPr/>
          </p:nvSpPr>
          <p:spPr>
            <a:xfrm>
              <a:off x="7770686" y="2205514"/>
              <a:ext cx="254596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没有判断 id1、id2 为 null 的情况</a:t>
              </a:r>
            </a:p>
          </p:txBody>
        </p:sp>
        <p:sp>
          <p:nvSpPr>
            <p:cNvPr id="17" name="Freeform 17"/>
            <p:cNvSpPr/>
            <p:nvPr/>
          </p:nvSpPr>
          <p:spPr>
            <a:xfrm>
              <a:off x="7546658" y="2542222"/>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18" name="TextBox 18"/>
            <p:cNvSpPr txBox="1"/>
            <p:nvPr/>
          </p:nvSpPr>
          <p:spPr>
            <a:xfrm>
              <a:off x="7770686" y="2511266"/>
              <a:ext cx="178778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第 3 行的 5 是魔法数字</a:t>
              </a:r>
            </a:p>
          </p:txBody>
        </p:sp>
        <p:sp>
          <p:nvSpPr>
            <p:cNvPr id="19" name="Freeform 19"/>
            <p:cNvSpPr/>
            <p:nvPr/>
          </p:nvSpPr>
          <p:spPr>
            <a:xfrm>
              <a:off x="7546658" y="2847975"/>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20" name="TextBox 20"/>
            <p:cNvSpPr txBox="1"/>
            <p:nvPr/>
          </p:nvSpPr>
          <p:spPr>
            <a:xfrm>
              <a:off x="7770686" y="2817019"/>
              <a:ext cx="27699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语句缩进排版不规范，容易造成误解</a:t>
              </a:r>
            </a:p>
          </p:txBody>
        </p:sp>
        <p:sp>
          <p:nvSpPr>
            <p:cNvPr id="21" name="Freeform 21"/>
            <p:cNvSpPr/>
            <p:nvPr/>
          </p:nvSpPr>
          <p:spPr>
            <a:xfrm>
              <a:off x="7546658" y="3153728"/>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22" name="TextBox 22"/>
            <p:cNvSpPr txBox="1"/>
            <p:nvPr/>
          </p:nvSpPr>
          <p:spPr>
            <a:xfrm>
              <a:off x="7770686" y="3122771"/>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五层条件语句嵌套，逻辑难以理解</a:t>
              </a:r>
            </a:p>
          </p:txBody>
        </p:sp>
        <p:sp>
          <p:nvSpPr>
            <p:cNvPr id="23" name="Freeform 23"/>
            <p:cNvSpPr/>
            <p:nvPr/>
          </p:nvSpPr>
          <p:spPr>
            <a:xfrm>
              <a:off x="7546658" y="3459480"/>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24" name="TextBox 24"/>
            <p:cNvSpPr txBox="1"/>
            <p:nvPr/>
          </p:nvSpPr>
          <p:spPr>
            <a:xfrm>
              <a:off x="7770686" y="3429476"/>
              <a:ext cx="281305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第 6 行第二个条件少了“非”，写反了</a:t>
              </a:r>
            </a:p>
          </p:txBody>
        </p:sp>
        <p:sp>
          <p:nvSpPr>
            <p:cNvPr id="25" name="Freeform 25"/>
            <p:cNvSpPr/>
            <p:nvPr/>
          </p:nvSpPr>
          <p:spPr>
            <a:xfrm>
              <a:off x="7546658" y="3766185"/>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26" name="TextBox 26"/>
            <p:cNvSpPr txBox="1"/>
            <p:nvPr/>
          </p:nvSpPr>
          <p:spPr>
            <a:xfrm>
              <a:off x="7770686" y="3735229"/>
              <a:ext cx="33816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第 7 行两条语句挤在一行，第 8 行缺少 else</a:t>
              </a:r>
            </a:p>
          </p:txBody>
        </p:sp>
        <p:sp>
          <p:nvSpPr>
            <p:cNvPr id="27" name="Freeform 27"/>
            <p:cNvSpPr/>
            <p:nvPr/>
          </p:nvSpPr>
          <p:spPr>
            <a:xfrm>
              <a:off x="7546658" y="4071938"/>
              <a:ext cx="97155" cy="97155"/>
            </a:xfrm>
            <a:custGeom>
              <a:avLst/>
              <a:gdLst/>
              <a:ahLst/>
              <a:cxnLst/>
              <a:rect l="l" t="t" r="r" b="b"/>
              <a:pathLst>
                <a:path w="97155" h="97155">
                  <a:moveTo>
                    <a:pt x="0" y="0"/>
                  </a:moveTo>
                  <a:lnTo>
                    <a:pt x="97155" y="97155"/>
                  </a:lnTo>
                  <a:moveTo>
                    <a:pt x="97155" y="0"/>
                  </a:moveTo>
                  <a:lnTo>
                    <a:pt x="0" y="97155"/>
                  </a:lnTo>
                </a:path>
              </a:pathLst>
            </a:custGeom>
            <a:noFill/>
            <a:ln w="24765" cap="rnd">
              <a:solidFill>
                <a:srgbClr val="B42318"/>
              </a:solidFill>
            </a:ln>
          </p:spPr>
        </p:sp>
        <p:sp>
          <p:nvSpPr>
            <p:cNvPr id="28" name="TextBox 28"/>
            <p:cNvSpPr txBox="1"/>
            <p:nvPr/>
          </p:nvSpPr>
          <p:spPr>
            <a:xfrm>
              <a:off x="7770686" y="4040981"/>
              <a:ext cx="34592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直接抛通用异常不当，应当用自定义业务异常</a:t>
              </a:r>
            </a:p>
          </p:txBody>
        </p:sp>
      </p:grpSp>
      <p:grpSp>
        <p:nvGrpSpPr>
          <p:cNvPr id="36" name="c2-callout-2"/>
          <p:cNvGrpSpPr/>
          <p:nvPr/>
        </p:nvGrpSpPr>
        <p:grpSpPr>
          <a:xfrm>
            <a:off x="7546658" y="4431030"/>
            <a:ext cx="4111942" cy="1246822"/>
            <a:chOff x="7546658" y="4431030"/>
            <a:chExt cx="4111942" cy="1246822"/>
          </a:xfrm>
        </p:grpSpPr>
        <p:sp>
          <p:nvSpPr>
            <p:cNvPr id="30" name="Rectangle 30"/>
            <p:cNvSpPr/>
            <p:nvPr/>
          </p:nvSpPr>
          <p:spPr>
            <a:xfrm>
              <a:off x="7546658" y="4431030"/>
              <a:ext cx="4111942" cy="1246822"/>
            </a:xfrm>
            <a:prstGeom prst="roundRect">
              <a:avLst>
                <a:gd name="adj" fmla="val 9167"/>
              </a:avLst>
            </a:prstGeom>
            <a:solidFill>
              <a:srgbClr val="F4F6FB"/>
            </a:solidFill>
            <a:ln>
              <a:noFill/>
            </a:ln>
          </p:spPr>
        </p:sp>
        <p:grpSp>
          <p:nvGrpSpPr>
            <p:cNvPr id="34" name="Group 34"/>
            <p:cNvGrpSpPr/>
            <p:nvPr/>
          </p:nvGrpSpPr>
          <p:grpSpPr>
            <a:xfrm>
              <a:off x="7751445" y="4953953"/>
              <a:ext cx="200026" cy="200026"/>
              <a:chOff x="7751445" y="4953953"/>
              <a:chExt cx="200026" cy="200026"/>
            </a:xfrm>
          </p:grpSpPr>
          <p:sp>
            <p:nvSpPr>
              <p:cNvPr id="31" name="Freeform 31"/>
              <p:cNvSpPr/>
              <p:nvPr/>
            </p:nvSpPr>
            <p:spPr>
              <a:xfrm>
                <a:off x="7751445" y="495395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2" name="Freeform 32"/>
              <p:cNvSpPr/>
              <p:nvPr/>
            </p:nvSpPr>
            <p:spPr>
              <a:xfrm>
                <a:off x="7851458" y="502062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3" name="Freeform 33"/>
              <p:cNvSpPr/>
              <p:nvPr/>
            </p:nvSpPr>
            <p:spPr>
              <a:xfrm>
                <a:off x="7840345" y="505396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5" name="TextBox 35"/>
            <p:cNvSpPr txBox="1"/>
            <p:nvPr/>
          </p:nvSpPr>
          <p:spPr>
            <a:xfrm>
              <a:off x="8053388" y="4811078"/>
              <a:ext cx="3253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为排版缩短了异常信息文字，语句结构</a:t>
              </a:r>
              <a:br/>
              <a:r>
                <a:rPr lang="zh-CN" sz="1500" dirty="0">
                  <a:solidFill>
                    <a:srgbClr val="1F2937"/>
                  </a:solidFill>
                  <a:latin typeface="+mn-lt"/>
                  <a:ea typeface="+mn-ea"/>
                  <a:cs typeface="+mn-cs"/>
                </a:rPr>
                <a:t>与原课件一致。</a:t>
              </a:r>
            </a:p>
          </p:txBody>
        </p:sp>
      </p:grpSp>
      <p:grpSp>
        <p:nvGrpSpPr>
          <p:cNvPr id="39" name="footer"/>
          <p:cNvGrpSpPr/>
          <p:nvPr/>
        </p:nvGrpSpPr>
        <p:grpSpPr>
          <a:xfrm>
            <a:off x="528447" y="6581299"/>
            <a:ext cx="11135106" cy="190690"/>
            <a:chOff x="528447" y="6581299"/>
            <a:chExt cx="11135106" cy="190690"/>
          </a:xfrm>
        </p:grpSpPr>
        <p:sp>
          <p:nvSpPr>
            <p:cNvPr id="37" name="TextBox 3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38" name="TextBox 3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第一次改进：用卫语句压平嵌套</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1" name="c1-code-1"/>
          <p:cNvGrpSpPr/>
          <p:nvPr/>
        </p:nvGrpSpPr>
        <p:grpSpPr>
          <a:xfrm>
            <a:off x="533400" y="1524000"/>
            <a:ext cx="6708458" cy="3344228"/>
            <a:chOff x="533400" y="1524000"/>
            <a:chExt cx="6708458" cy="3344228"/>
          </a:xfrm>
        </p:grpSpPr>
        <p:sp>
          <p:nvSpPr>
            <p:cNvPr id="7" name="Rectangle 7"/>
            <p:cNvSpPr/>
            <p:nvPr/>
          </p:nvSpPr>
          <p:spPr>
            <a:xfrm>
              <a:off x="533400" y="1524000"/>
              <a:ext cx="6708458" cy="3344228"/>
            </a:xfrm>
            <a:prstGeom prst="roundRect">
              <a:avLst>
                <a:gd name="adj" fmla="val 2848"/>
              </a:avLst>
            </a:prstGeom>
            <a:solidFill>
              <a:srgbClr val="F6F8FA"/>
            </a:solidFill>
            <a:ln w="11430">
              <a:solidFill>
                <a:srgbClr val="D9DFEA"/>
              </a:solidFill>
            </a:ln>
          </p:spPr>
        </p:sp>
        <p:sp>
          <p:nvSpPr>
            <p:cNvPr id="8" name="TextBox 8"/>
            <p:cNvSpPr txBox="1"/>
            <p:nvPr/>
          </p:nvSpPr>
          <p:spPr>
            <a:xfrm>
              <a:off x="661797" y="1675924"/>
              <a:ext cx="318971"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Java</a:t>
              </a:r>
            </a:p>
          </p:txBody>
        </p:sp>
        <p:sp>
          <p:nvSpPr>
            <p:cNvPr id="9" name="TextBox 9"/>
            <p:cNvSpPr txBox="1"/>
            <p:nvPr/>
          </p:nvSpPr>
          <p:spPr>
            <a:xfrm>
              <a:off x="680466" y="1937385"/>
              <a:ext cx="157353" cy="2859024"/>
            </a:xfrm>
            <a:prstGeom prst="rect">
              <a:avLst/>
            </a:prstGeom>
            <a:noFill/>
            <a:ln>
              <a:noFill/>
            </a:ln>
          </p:spPr>
          <p:txBody>
            <a:bodyPr wrap="none" lIns="0" tIns="0" rIns="0" bIns="0" anchor="t" anchorCtr="0">
              <a:spAutoFit/>
            </a:bodyPr>
            <a:lstStyle/>
            <a:p>
              <a:pPr algn="r">
                <a:lnSpc>
                  <a:spcPts val="1492"/>
                </a:lnSpc>
              </a:pPr>
              <a:r>
                <a:rPr lang="zh-CN" sz="1050" dirty="0">
                  <a:solidFill>
                    <a:srgbClr val="9AA3B2"/>
                  </a:solidFill>
                  <a:latin typeface="Consolas"/>
                  <a:ea typeface="Consolas"/>
                  <a:cs typeface="Consolas"/>
                </a:rPr>
                <a:t>1</a:t>
              </a:r>
              <a:br/>
              <a:r>
                <a:rPr lang="zh-CN" sz="1050" dirty="0">
                  <a:solidFill>
                    <a:srgbClr val="9AA3B2"/>
                  </a:solidFill>
                  <a:latin typeface="Consolas"/>
                  <a:ea typeface="Consolas"/>
                  <a:cs typeface="Consolas"/>
                </a:rPr>
                <a:t>2</a:t>
              </a:r>
              <a:br/>
              <a:r>
                <a:rPr lang="zh-CN" sz="1050" dirty="0">
                  <a:solidFill>
                    <a:srgbClr val="9AA3B2"/>
                  </a:solidFill>
                  <a:latin typeface="Consolas"/>
                  <a:ea typeface="Consolas"/>
                  <a:cs typeface="Consolas"/>
                </a:rPr>
                <a:t>3</a:t>
              </a:r>
              <a:br/>
              <a:r>
                <a:rPr lang="zh-CN" sz="1050" dirty="0">
                  <a:solidFill>
                    <a:srgbClr val="9AA3B2"/>
                  </a:solidFill>
                  <a:latin typeface="Consolas"/>
                  <a:ea typeface="Consolas"/>
                  <a:cs typeface="Consolas"/>
                </a:rPr>
                <a:t>4</a:t>
              </a:r>
              <a:br/>
              <a:r>
                <a:rPr lang="zh-CN" sz="1050" dirty="0">
                  <a:solidFill>
                    <a:srgbClr val="9AA3B2"/>
                  </a:solidFill>
                  <a:latin typeface="Consolas"/>
                  <a:ea typeface="Consolas"/>
                  <a:cs typeface="Consolas"/>
                </a:rPr>
                <a:t>5</a:t>
              </a:r>
              <a:br/>
              <a:r>
                <a:rPr lang="zh-CN" sz="1050" dirty="0">
                  <a:solidFill>
                    <a:srgbClr val="9AA3B2"/>
                  </a:solidFill>
                  <a:latin typeface="Consolas"/>
                  <a:ea typeface="Consolas"/>
                  <a:cs typeface="Consolas"/>
                </a:rPr>
                <a:t>6</a:t>
              </a:r>
              <a:br/>
              <a:r>
                <a:rPr lang="zh-CN" sz="1050" dirty="0">
                  <a:solidFill>
                    <a:srgbClr val="9AA3B2"/>
                  </a:solidFill>
                  <a:latin typeface="Consolas"/>
                  <a:ea typeface="Consolas"/>
                  <a:cs typeface="Consolas"/>
                </a:rPr>
                <a:t>7</a:t>
              </a:r>
              <a:br/>
              <a:r>
                <a:rPr lang="zh-CN" sz="1050" dirty="0">
                  <a:solidFill>
                    <a:srgbClr val="9AA3B2"/>
                  </a:solidFill>
                  <a:latin typeface="Consolas"/>
                  <a:ea typeface="Consolas"/>
                  <a:cs typeface="Consolas"/>
                </a:rPr>
                <a:t>8</a:t>
              </a:r>
              <a:br/>
              <a:r>
                <a:rPr lang="zh-CN" sz="1050" dirty="0">
                  <a:solidFill>
                    <a:srgbClr val="9AA3B2"/>
                  </a:solidFill>
                  <a:latin typeface="Consolas"/>
                  <a:ea typeface="Consolas"/>
                  <a:cs typeface="Consolas"/>
                </a:rPr>
                <a:t>9</a:t>
              </a:r>
              <a:br/>
              <a:r>
                <a:rPr lang="zh-CN" sz="1050" dirty="0">
                  <a:solidFill>
                    <a:srgbClr val="9AA3B2"/>
                  </a:solidFill>
                  <a:latin typeface="Consolas"/>
                  <a:ea typeface="Consolas"/>
                  <a:cs typeface="Consolas"/>
                </a:rPr>
                <a:t>10</a:t>
              </a:r>
              <a:br/>
              <a:r>
                <a:rPr lang="zh-CN" sz="1050" dirty="0">
                  <a:solidFill>
                    <a:srgbClr val="9AA3B2"/>
                  </a:solidFill>
                  <a:latin typeface="Consolas"/>
                  <a:ea typeface="Consolas"/>
                  <a:cs typeface="Consolas"/>
                </a:rPr>
                <a:t>11</a:t>
              </a:r>
              <a:br/>
              <a:r>
                <a:rPr lang="zh-CN" sz="1050" dirty="0">
                  <a:solidFill>
                    <a:srgbClr val="9AA3B2"/>
                  </a:solidFill>
                  <a:latin typeface="Consolas"/>
                  <a:ea typeface="Consolas"/>
                  <a:cs typeface="Consolas"/>
                </a:rPr>
                <a:t>12</a:t>
              </a:r>
              <a:br/>
              <a:r>
                <a:rPr lang="zh-CN" sz="1050" dirty="0">
                  <a:solidFill>
                    <a:srgbClr val="9AA3B2"/>
                  </a:solidFill>
                  <a:latin typeface="Consolas"/>
                  <a:ea typeface="Consolas"/>
                  <a:cs typeface="Consolas"/>
                </a:rPr>
                <a:t>13</a:t>
              </a:r>
              <a:br/>
              <a:r>
                <a:rPr lang="zh-CN" sz="1050" dirty="0">
                  <a:solidFill>
                    <a:srgbClr val="9AA3B2"/>
                  </a:solidFill>
                  <a:latin typeface="Consolas"/>
                  <a:ea typeface="Consolas"/>
                  <a:cs typeface="Consolas"/>
                </a:rPr>
                <a:t>14</a:t>
              </a:r>
              <a:br/>
              <a:r>
                <a:rPr lang="zh-CN" sz="1050" dirty="0">
                  <a:solidFill>
                    <a:srgbClr val="9AA3B2"/>
                  </a:solidFill>
                  <a:latin typeface="Consolas"/>
                  <a:ea typeface="Consolas"/>
                  <a:cs typeface="Consolas"/>
                </a:rPr>
                <a:t>15</a:t>
              </a:r>
            </a:p>
          </p:txBody>
        </p:sp>
        <p:sp>
          <p:nvSpPr>
            <p:cNvPr id="10" name="TextBox 10"/>
            <p:cNvSpPr txBox="1"/>
            <p:nvPr/>
          </p:nvSpPr>
          <p:spPr>
            <a:xfrm>
              <a:off x="941451" y="1937385"/>
              <a:ext cx="4557903" cy="2859024"/>
            </a:xfrm>
            <a:prstGeom prst="rect">
              <a:avLst/>
            </a:prstGeom>
            <a:noFill/>
            <a:ln>
              <a:noFill/>
            </a:ln>
          </p:spPr>
          <p:txBody>
            <a:bodyPr wrap="none" lIns="0" tIns="0" rIns="0" bIns="0" anchor="t" anchorCtr="0">
              <a:spAutoFit/>
            </a:bodyPr>
            <a:lstStyle/>
            <a:p>
              <a:pPr algn="l">
                <a:lnSpc>
                  <a:spcPts val="1492"/>
                </a:lnSpc>
              </a:pPr>
              <a:r>
                <a:rPr lang="en-US" sz="1050" b="1" dirty="0">
                  <a:solidFill>
                    <a:srgbClr val="334E68"/>
                  </a:solidFill>
                  <a:latin typeface="Consolas"/>
                  <a:ea typeface="Consolas"/>
                  <a:cs typeface="Consolas"/>
                </a:rPr>
                <a:t>public</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void</a:t>
              </a:r>
              <a:r>
                <a:rPr lang="en-US" sz="1050" dirty="0">
                  <a:solidFill>
                    <a:srgbClr val="1F2937"/>
                  </a:solidFill>
                  <a:latin typeface="Consolas"/>
                  <a:ea typeface="Consolas"/>
                  <a:cs typeface="Consolas"/>
                </a:rPr>
                <a:t xml:space="preserve"> borrowBook(String studentID, String bookID)</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throws</a:t>
              </a:r>
              <a:r>
                <a:rPr lang="en-US" sz="1050" dirty="0">
                  <a:solidFill>
                    <a:srgbClr val="1F2937"/>
                  </a:solidFill>
                  <a:latin typeface="Consolas"/>
                  <a:ea typeface="Consolas"/>
                  <a:cs typeface="Consolas"/>
                </a:rPr>
                <a:t xml:space="preserve"> ServiceException {</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if</a:t>
              </a:r>
              <a:r>
                <a:rPr lang="en-US" sz="1050" dirty="0">
                  <a:solidFill>
                    <a:srgbClr val="1F2937"/>
                  </a:solidFill>
                  <a:latin typeface="Consolas"/>
                  <a:ea typeface="Consolas"/>
                  <a:cs typeface="Consolas"/>
                </a:rPr>
                <a:t xml:space="preserve"> (studentID == </a:t>
              </a:r>
              <a:r>
                <a:rPr lang="en-US" sz="1050" b="1" dirty="0">
                  <a:solidFill>
                    <a:srgbClr val="334E68"/>
                  </a:solidFill>
                  <a:latin typeface="Consolas"/>
                  <a:ea typeface="Consolas"/>
                  <a:cs typeface="Consolas"/>
                </a:rPr>
                <a:t>null</a:t>
              </a:r>
              <a:r>
                <a:rPr lang="zh-CN" sz="1050" dirty="0">
                  <a:solidFill>
                    <a:srgbClr val="1F2937"/>
                  </a:solidFill>
                  <a:latin typeface="Consolas"/>
                  <a:ea typeface="Consolas"/>
                  <a:cs typeface="Consolas"/>
                </a:rPr>
                <a:t xml:space="preserve"> || </a:t>
              </a:r>
              <a:r>
                <a:rPr lang="zh-CN" sz="1050" dirty="0">
                  <a:solidFill>
                    <a:srgbClr val="C2410C"/>
                  </a:solidFill>
                  <a:latin typeface="Consolas"/>
                  <a:ea typeface="Consolas"/>
                  <a:cs typeface="Consolas"/>
                </a:rPr>
                <a:t>""</a:t>
              </a:r>
              <a:r>
                <a:rPr lang="en-US" sz="1050" dirty="0">
                  <a:solidFill>
                    <a:srgbClr val="1F2937"/>
                  </a:solidFill>
                  <a:latin typeface="Consolas"/>
                  <a:ea typeface="Consolas"/>
                  <a:cs typeface="Consolas"/>
                </a:rPr>
                <a:t>.equals(studentID))</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throw</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StudentIDEmptyException();</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if</a:t>
              </a:r>
              <a:r>
                <a:rPr lang="en-US" sz="1050" dirty="0">
                  <a:solidFill>
                    <a:srgbClr val="1F2937"/>
                  </a:solidFill>
                  <a:latin typeface="Consolas"/>
                  <a:ea typeface="Consolas"/>
                  <a:cs typeface="Consolas"/>
                </a:rPr>
                <a:t xml:space="preserve"> (getBorrowedBookCount(studentID) &gt;= BOOK_BORROW_LIMIT)</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throw</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BookBorrowExceedLimitException();</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if</a:t>
              </a:r>
              <a:r>
                <a:rPr lang="en-US" sz="1050" dirty="0">
                  <a:solidFill>
                    <a:srgbClr val="1F2937"/>
                  </a:solidFill>
                  <a:latin typeface="Consolas"/>
                  <a:ea typeface="Consolas"/>
                  <a:cs typeface="Consolas"/>
                </a:rPr>
                <a:t xml:space="preserve"> (hasOverdueBooks(studentID))</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throw</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OverdueBooksException();</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if</a:t>
              </a:r>
              <a:r>
                <a:rPr lang="en-US" sz="1050" dirty="0">
                  <a:solidFill>
                    <a:srgbClr val="1F2937"/>
                  </a:solidFill>
                  <a:latin typeface="Consolas"/>
                  <a:ea typeface="Consolas"/>
                  <a:cs typeface="Consolas"/>
                </a:rPr>
                <a:t xml:space="preserve"> (bookID == </a:t>
              </a:r>
              <a:r>
                <a:rPr lang="en-US" sz="1050" b="1" dirty="0">
                  <a:solidFill>
                    <a:srgbClr val="334E68"/>
                  </a:solidFill>
                  <a:latin typeface="Consolas"/>
                  <a:ea typeface="Consolas"/>
                  <a:cs typeface="Consolas"/>
                </a:rPr>
                <a:t>null</a:t>
              </a:r>
              <a:r>
                <a:rPr lang="zh-CN" sz="1050" dirty="0">
                  <a:solidFill>
                    <a:srgbClr val="1F2937"/>
                  </a:solidFill>
                  <a:latin typeface="Consolas"/>
                  <a:ea typeface="Consolas"/>
                  <a:cs typeface="Consolas"/>
                </a:rPr>
                <a:t xml:space="preserve"> || </a:t>
              </a:r>
              <a:r>
                <a:rPr lang="zh-CN" sz="1050" dirty="0">
                  <a:solidFill>
                    <a:srgbClr val="C2410C"/>
                  </a:solidFill>
                  <a:latin typeface="Consolas"/>
                  <a:ea typeface="Consolas"/>
                  <a:cs typeface="Consolas"/>
                </a:rPr>
                <a:t>""</a:t>
              </a:r>
              <a:r>
                <a:rPr lang="en-US" sz="1050" dirty="0">
                  <a:solidFill>
                    <a:srgbClr val="1F2937"/>
                  </a:solidFill>
                  <a:latin typeface="Consolas"/>
                  <a:ea typeface="Consolas"/>
                  <a:cs typeface="Consolas"/>
                </a:rPr>
                <a:t>.equals(bookID))</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throw</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BookIDEmptyException();</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if</a:t>
              </a:r>
              <a:r>
                <a:rPr lang="en-US" sz="1050" dirty="0">
                  <a:solidFill>
                    <a:srgbClr val="1F2937"/>
                  </a:solidFill>
                  <a:latin typeface="Consolas"/>
                  <a:ea typeface="Consolas"/>
                  <a:cs typeface="Consolas"/>
                </a:rPr>
                <a:t xml:space="preserve"> (getBook(bookID).isAllOut() || getBook(bookID).blocked())</a:t>
              </a:r>
              <a:b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throw</a:t>
              </a:r>
              <a:r>
                <a:rPr lang="zh-CN" sz="1050" dirty="0">
                  <a:solidFill>
                    <a:srgbClr val="1F2937"/>
                  </a:solidFill>
                  <a:latin typeface="Consolas"/>
                  <a:ea typeface="Consolas"/>
                  <a:cs typeface="Consolas"/>
                </a:rPr>
                <a:t xml:space="preserve"> </a:t>
              </a:r>
              <a:r>
                <a:rPr lang="en-US" sz="1050" b="1" dirty="0">
                  <a:solidFill>
                    <a:srgbClr val="334E68"/>
                  </a:solidFill>
                  <a:latin typeface="Consolas"/>
                  <a:ea typeface="Consolas"/>
                  <a:cs typeface="Consolas"/>
                </a:rPr>
                <a:t>new</a:t>
              </a:r>
              <a:r>
                <a:rPr lang="en-US" sz="1050" dirty="0">
                  <a:solidFill>
                    <a:srgbClr val="1F2937"/>
                  </a:solidFill>
                  <a:latin typeface="Consolas"/>
                  <a:ea typeface="Consolas"/>
                  <a:cs typeface="Consolas"/>
                </a:rPr>
                <a:t xml:space="preserve"> BookUnavailableException();</a:t>
              </a:r>
              <a:br/>
              <a:r>
                <a:rPr lang="en-US" sz="1050" dirty="0">
                  <a:solidFill>
                    <a:srgbClr val="1F2937"/>
                  </a:solidFill>
                  <a:latin typeface="Consolas"/>
                  <a:ea typeface="Consolas"/>
                  <a:cs typeface="Consolas"/>
                </a:rPr>
                <a:t xml:space="preserve">  updateStudentStatus(studentID, bookID);</a:t>
              </a:r>
              <a:br/>
              <a:r>
                <a:rPr lang="en-US" sz="1050" dirty="0">
                  <a:solidFill>
                    <a:srgbClr val="1F2937"/>
                  </a:solidFill>
                  <a:latin typeface="Consolas"/>
                  <a:ea typeface="Consolas"/>
                  <a:cs typeface="Consolas"/>
                </a:rPr>
                <a:t xml:space="preserve">  updateBookStatus(bookID, studentID);</a:t>
              </a:r>
              <a:br/>
              <a:r>
                <a:rPr lang="zh-CN" sz="1050" dirty="0">
                  <a:solidFill>
                    <a:srgbClr val="1F2937"/>
                  </a:solidFill>
                  <a:latin typeface="Consolas"/>
                  <a:ea typeface="Consolas"/>
                  <a:cs typeface="Consolas"/>
                </a:rPr>
                <a:t>}</a:t>
              </a:r>
            </a:p>
          </p:txBody>
        </p:sp>
      </p:grpSp>
      <p:grpSp>
        <p:nvGrpSpPr>
          <p:cNvPr id="18" name="c1-callout-2"/>
          <p:cNvGrpSpPr/>
          <p:nvPr/>
        </p:nvGrpSpPr>
        <p:grpSpPr>
          <a:xfrm>
            <a:off x="533400" y="5043488"/>
            <a:ext cx="6708458" cy="1134428"/>
            <a:chOff x="533400" y="5043488"/>
            <a:chExt cx="6708458" cy="1134428"/>
          </a:xfrm>
        </p:grpSpPr>
        <p:sp>
          <p:nvSpPr>
            <p:cNvPr id="12" name="Rectangle 12"/>
            <p:cNvSpPr/>
            <p:nvPr/>
          </p:nvSpPr>
          <p:spPr>
            <a:xfrm>
              <a:off x="533400" y="5043488"/>
              <a:ext cx="6708458" cy="1134428"/>
            </a:xfrm>
            <a:prstGeom prst="roundRect">
              <a:avLst>
                <a:gd name="adj" fmla="val 10076"/>
              </a:avLst>
            </a:prstGeom>
            <a:solidFill>
              <a:srgbClr val="FDEEE7"/>
            </a:solidFill>
            <a:ln>
              <a:noFill/>
            </a:ln>
          </p:spPr>
        </p:sp>
        <p:grpSp>
          <p:nvGrpSpPr>
            <p:cNvPr id="16" name="Group 16"/>
            <p:cNvGrpSpPr/>
            <p:nvPr/>
          </p:nvGrpSpPr>
          <p:grpSpPr>
            <a:xfrm>
              <a:off x="738188" y="5510213"/>
              <a:ext cx="200026" cy="200025"/>
              <a:chOff x="738188" y="5510213"/>
              <a:chExt cx="200026" cy="200025"/>
            </a:xfrm>
          </p:grpSpPr>
          <p:sp>
            <p:nvSpPr>
              <p:cNvPr id="13" name="Freeform 13"/>
              <p:cNvSpPr/>
              <p:nvPr/>
            </p:nvSpPr>
            <p:spPr>
              <a:xfrm>
                <a:off x="738188" y="551021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14" name="Freeform 14"/>
              <p:cNvSpPr/>
              <p:nvPr/>
            </p:nvSpPr>
            <p:spPr>
              <a:xfrm>
                <a:off x="777926" y="555466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15" name="Freeform 15"/>
              <p:cNvSpPr/>
              <p:nvPr/>
            </p:nvSpPr>
            <p:spPr>
              <a:xfrm>
                <a:off x="812642" y="566578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17" name="TextBox 17"/>
            <p:cNvSpPr txBox="1"/>
            <p:nvPr/>
          </p:nvSpPr>
          <p:spPr>
            <a:xfrm>
              <a:off x="1040892" y="5267325"/>
              <a:ext cx="5500116"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五个判断按“学号 → 借书数量 → 超期记录 → 书号 → 可借状态”的顺序排</a:t>
              </a:r>
              <a:br/>
              <a:r>
                <a:rPr lang="zh-CN" sz="1350" dirty="0">
                  <a:solidFill>
                    <a:srgbClr val="C2410C"/>
                  </a:solidFill>
                  <a:latin typeface="+mn-lt"/>
                  <a:ea typeface="+mn-ea"/>
                  <a:cs typeface="+mn-cs"/>
                </a:rPr>
                <a:t>列，任何一条不满足就立刻抛出对应的业务异常，后面的检查根本不会执</a:t>
              </a:r>
              <a:br/>
              <a:r>
                <a:rPr lang="zh-CN" sz="1350" dirty="0">
                  <a:solidFill>
                    <a:srgbClr val="C2410C"/>
                  </a:solidFill>
                  <a:latin typeface="+mn-lt"/>
                  <a:ea typeface="+mn-ea"/>
                  <a:cs typeface="+mn-cs"/>
                </a:rPr>
                <a:t>行。</a:t>
              </a:r>
            </a:p>
          </p:txBody>
        </p:sp>
      </p:grpSp>
      <p:grpSp>
        <p:nvGrpSpPr>
          <p:cNvPr id="26" name="c2-bullets-1"/>
          <p:cNvGrpSpPr/>
          <p:nvPr/>
        </p:nvGrpSpPr>
        <p:grpSpPr>
          <a:xfrm>
            <a:off x="7539799" y="1545907"/>
            <a:ext cx="4004819" cy="1295877"/>
            <a:chOff x="7539799" y="1545907"/>
            <a:chExt cx="4004819" cy="1295877"/>
          </a:xfrm>
        </p:grpSpPr>
        <p:sp>
          <p:nvSpPr>
            <p:cNvPr id="19" name="TextBox 19"/>
            <p:cNvSpPr txBox="1"/>
            <p:nvPr/>
          </p:nvSpPr>
          <p:spPr>
            <a:xfrm>
              <a:off x="7539799" y="1545907"/>
              <a:ext cx="1104138"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改了哪三件事</a:t>
              </a:r>
            </a:p>
          </p:txBody>
        </p:sp>
        <p:sp>
          <p:nvSpPr>
            <p:cNvPr id="20" name="Freeform 20"/>
            <p:cNvSpPr/>
            <p:nvPr/>
          </p:nvSpPr>
          <p:spPr>
            <a:xfrm>
              <a:off x="7546658" y="1885950"/>
              <a:ext cx="108585" cy="87630"/>
            </a:xfrm>
            <a:custGeom>
              <a:avLst/>
              <a:gdLst/>
              <a:ahLst/>
              <a:cxnLst/>
              <a:rect l="l" t="t" r="r" b="b"/>
              <a:pathLst>
                <a:path w="108585" h="87630">
                  <a:moveTo>
                    <a:pt x="0" y="46673"/>
                  </a:moveTo>
                  <a:lnTo>
                    <a:pt x="40958" y="87630"/>
                  </a:lnTo>
                  <a:lnTo>
                    <a:pt x="108585" y="0"/>
                  </a:lnTo>
                </a:path>
              </a:pathLst>
            </a:custGeom>
            <a:noFill/>
            <a:ln w="24765" cap="rnd">
              <a:solidFill>
                <a:srgbClr val="14A38B"/>
              </a:solidFill>
              <a:round/>
            </a:ln>
          </p:spPr>
        </p:sp>
        <p:sp>
          <p:nvSpPr>
            <p:cNvPr id="21" name="TextBox 21"/>
            <p:cNvSpPr txBox="1"/>
            <p:nvPr/>
          </p:nvSpPr>
          <p:spPr>
            <a:xfrm>
              <a:off x="7763828" y="1862614"/>
              <a:ext cx="3140710" cy="434340"/>
            </a:xfrm>
            <a:prstGeom prst="rect">
              <a:avLst/>
            </a:prstGeom>
            <a:noFill/>
            <a:ln>
              <a:noFill/>
            </a:ln>
          </p:spPr>
          <p:txBody>
            <a:bodyPr wrap="none" lIns="0" tIns="0" rIns="0" bIns="0" anchor="t" anchorCtr="0">
              <a:spAutoFit/>
            </a:bodyPr>
            <a:lstStyle/>
            <a:p>
              <a:pPr algn="l">
                <a:lnSpc>
                  <a:spcPts val="1688"/>
                </a:lnSpc>
              </a:pPr>
              <a:r>
                <a:rPr lang="zh-CN" sz="1120" dirty="0">
                  <a:solidFill>
                    <a:srgbClr val="1F2937"/>
                  </a:solidFill>
                  <a:latin typeface="+mn-lt"/>
                  <a:ea typeface="+mn-ea"/>
                  <a:cs typeface="+mn-cs"/>
                </a:rPr>
                <a:t>标识符规范命名，含义自解释；魔法数字换成常量</a:t>
              </a:r>
              <a:br/>
              <a:r>
                <a:rPr lang="en-US" sz="1120" dirty="0">
                  <a:solidFill>
                    <a:srgbClr val="1F2937"/>
                  </a:solidFill>
                  <a:latin typeface="+mn-lt"/>
                  <a:ea typeface="+mn-ea"/>
                  <a:cs typeface="+mn-cs"/>
                </a:rPr>
                <a:t>BOOK_BORROW_LIMIT</a:t>
              </a:r>
            </a:p>
          </p:txBody>
        </p:sp>
        <p:sp>
          <p:nvSpPr>
            <p:cNvPr id="22" name="Freeform 22"/>
            <p:cNvSpPr/>
            <p:nvPr/>
          </p:nvSpPr>
          <p:spPr>
            <a:xfrm>
              <a:off x="7546658" y="2372678"/>
              <a:ext cx="108585" cy="87630"/>
            </a:xfrm>
            <a:custGeom>
              <a:avLst/>
              <a:gdLst/>
              <a:ahLst/>
              <a:cxnLst/>
              <a:rect l="l" t="t" r="r" b="b"/>
              <a:pathLst>
                <a:path w="108585" h="87630">
                  <a:moveTo>
                    <a:pt x="0" y="46673"/>
                  </a:moveTo>
                  <a:lnTo>
                    <a:pt x="40958" y="87630"/>
                  </a:lnTo>
                  <a:lnTo>
                    <a:pt x="108585" y="0"/>
                  </a:lnTo>
                </a:path>
              </a:pathLst>
            </a:custGeom>
            <a:noFill/>
            <a:ln w="24765" cap="rnd">
              <a:solidFill>
                <a:srgbClr val="14A38B"/>
              </a:solidFill>
              <a:round/>
            </a:ln>
          </p:spPr>
        </p:sp>
        <p:sp>
          <p:nvSpPr>
            <p:cNvPr id="23" name="TextBox 23"/>
            <p:cNvSpPr txBox="1"/>
            <p:nvPr/>
          </p:nvSpPr>
          <p:spPr>
            <a:xfrm>
              <a:off x="7763828" y="2349341"/>
              <a:ext cx="378079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自定义业务异常类，并按具体情况建立异常类的继承层次</a:t>
              </a:r>
            </a:p>
          </p:txBody>
        </p:sp>
        <p:sp>
          <p:nvSpPr>
            <p:cNvPr id="24" name="Freeform 24"/>
            <p:cNvSpPr/>
            <p:nvPr/>
          </p:nvSpPr>
          <p:spPr>
            <a:xfrm>
              <a:off x="7546658" y="2645092"/>
              <a:ext cx="108585" cy="87630"/>
            </a:xfrm>
            <a:custGeom>
              <a:avLst/>
              <a:gdLst/>
              <a:ahLst/>
              <a:cxnLst/>
              <a:rect l="l" t="t" r="r" b="b"/>
              <a:pathLst>
                <a:path w="108585" h="87630">
                  <a:moveTo>
                    <a:pt x="0" y="46673"/>
                  </a:moveTo>
                  <a:lnTo>
                    <a:pt x="40958" y="87630"/>
                  </a:lnTo>
                  <a:lnTo>
                    <a:pt x="108585" y="0"/>
                  </a:lnTo>
                </a:path>
              </a:pathLst>
            </a:custGeom>
            <a:noFill/>
            <a:ln w="24765" cap="rnd">
              <a:solidFill>
                <a:srgbClr val="14A38B"/>
              </a:solidFill>
              <a:round/>
            </a:ln>
          </p:spPr>
        </p:sp>
        <p:sp>
          <p:nvSpPr>
            <p:cNvPr id="25" name="TextBox 25"/>
            <p:cNvSpPr txBox="1"/>
            <p:nvPr/>
          </p:nvSpPr>
          <p:spPr>
            <a:xfrm>
              <a:off x="7763828" y="2621756"/>
              <a:ext cx="29213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对可能为 null 的参数先判断，消除潜在缺陷</a:t>
              </a:r>
            </a:p>
          </p:txBody>
        </p:sp>
      </p:grpSp>
      <p:grpSp>
        <p:nvGrpSpPr>
          <p:cNvPr id="34" name="c2-card-2"/>
          <p:cNvGrpSpPr/>
          <p:nvPr/>
        </p:nvGrpSpPr>
        <p:grpSpPr>
          <a:xfrm>
            <a:off x="7546658" y="2971800"/>
            <a:ext cx="4111942" cy="2301240"/>
            <a:chOff x="7546658" y="2971800"/>
            <a:chExt cx="4111942" cy="2301240"/>
          </a:xfrm>
        </p:grpSpPr>
        <p:sp>
          <p:nvSpPr>
            <p:cNvPr id="27" name="Rectangle 27"/>
            <p:cNvSpPr/>
            <p:nvPr/>
          </p:nvSpPr>
          <p:spPr>
            <a:xfrm>
              <a:off x="7546658" y="2971800"/>
              <a:ext cx="4111942" cy="2301240"/>
            </a:xfrm>
            <a:prstGeom prst="roundRect">
              <a:avLst>
                <a:gd name="adj" fmla="val 5795"/>
              </a:avLst>
            </a:prstGeom>
            <a:solidFill>
              <a:srgbClr val="FFFFFF"/>
            </a:solidFill>
            <a:ln w="14288">
              <a:solidFill>
                <a:srgbClr val="D9DFEA"/>
              </a:solidFill>
            </a:ln>
          </p:spPr>
        </p:sp>
        <p:sp>
          <p:nvSpPr>
            <p:cNvPr id="28" name="Rectangle 28"/>
            <p:cNvSpPr/>
            <p:nvPr/>
          </p:nvSpPr>
          <p:spPr>
            <a:xfrm>
              <a:off x="7556182" y="3105150"/>
              <a:ext cx="47625" cy="2034540"/>
            </a:xfrm>
            <a:prstGeom prst="roundRect">
              <a:avLst>
                <a:gd name="adj" fmla="val 50000"/>
              </a:avLst>
            </a:prstGeom>
            <a:solidFill>
              <a:srgbClr val="5B6475"/>
            </a:solidFill>
            <a:ln>
              <a:noFill/>
            </a:ln>
          </p:spPr>
        </p:sp>
        <p:sp>
          <p:nvSpPr>
            <p:cNvPr id="29" name="Rectangle 29"/>
            <p:cNvSpPr/>
            <p:nvPr/>
          </p:nvSpPr>
          <p:spPr>
            <a:xfrm>
              <a:off x="7777162" y="3164205"/>
              <a:ext cx="476250" cy="247650"/>
            </a:xfrm>
            <a:prstGeom prst="roundRect">
              <a:avLst>
                <a:gd name="adj" fmla="val 50000"/>
              </a:avLst>
            </a:prstGeom>
            <a:solidFill>
              <a:srgbClr val="F4F6FB"/>
            </a:solidFill>
            <a:ln>
              <a:noFill/>
            </a:ln>
          </p:spPr>
        </p:sp>
        <p:sp>
          <p:nvSpPr>
            <p:cNvPr id="30" name="TextBox 30"/>
            <p:cNvSpPr txBox="1"/>
            <p:nvPr/>
          </p:nvSpPr>
          <p:spPr>
            <a:xfrm>
              <a:off x="7868602" y="3198495"/>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31" name="TextBox 31"/>
            <p:cNvSpPr txBox="1"/>
            <p:nvPr/>
          </p:nvSpPr>
          <p:spPr>
            <a:xfrm>
              <a:off x="8360854" y="3204210"/>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原课件的两处笔误</a:t>
              </a:r>
            </a:p>
          </p:txBody>
        </p:sp>
        <p:sp>
          <p:nvSpPr>
            <p:cNvPr id="32" name="TextBox 32"/>
            <p:cNvSpPr txBox="1"/>
            <p:nvPr/>
          </p:nvSpPr>
          <p:spPr>
            <a:xfrm>
              <a:off x="7770304" y="3538538"/>
              <a:ext cx="3451289"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原课件写作 </a:t>
              </a:r>
              <a:r>
                <a:rPr lang="en-US" sz="1350" dirty="0">
                  <a:solidFill>
                    <a:srgbClr val="243B53"/>
                  </a:solidFill>
                  <a:latin typeface="+mn-lt"/>
                  <a:ea typeface="+mn-ea"/>
                  <a:cs typeface="+mn-cs"/>
                </a:rPr>
                <a:t>throw ServiceException</a:t>
              </a:r>
              <a:r>
                <a:rPr lang="zh-CN" sz="1350" dirty="0">
                  <a:solidFill>
                    <a:srgbClr val="1F2937"/>
                  </a:solidFill>
                  <a:latin typeface="+mn-lt"/>
                  <a:ea typeface="+mn-ea"/>
                  <a:cs typeface="+mn-cs"/>
                </a:rPr>
                <a:t>；Java</a:t>
              </a:r>
              <a:br/>
              <a:r>
                <a:rPr lang="zh-CN" sz="1350" dirty="0">
                  <a:solidFill>
                    <a:srgbClr val="1F2937"/>
                  </a:solidFill>
                  <a:latin typeface="+mn-lt"/>
                  <a:ea typeface="+mn-ea"/>
                  <a:cs typeface="+mn-cs"/>
                </a:rPr>
                <a:t xml:space="preserve">里方法签名上声明抛出异常用 </a:t>
              </a:r>
              <a:r>
                <a:rPr lang="en-US" sz="1350" dirty="0">
                  <a:solidFill>
                    <a:srgbClr val="243B53"/>
                  </a:solidFill>
                  <a:latin typeface="+mn-lt"/>
                  <a:ea typeface="+mn-ea"/>
                  <a:cs typeface="+mn-cs"/>
                </a:rPr>
                <a:t>throws</a:t>
              </a:r>
              <a:r>
                <a:rPr lang="zh-CN" sz="1350" dirty="0">
                  <a:solidFill>
                    <a:srgbClr val="1F2937"/>
                  </a:solidFill>
                  <a:latin typeface="+mn-lt"/>
                  <a:ea typeface="+mn-ea"/>
                  <a:cs typeface="+mn-cs"/>
                </a:rPr>
                <a:t>。</a:t>
              </a:r>
            </a:p>
          </p:txBody>
        </p:sp>
        <p:sp>
          <p:nvSpPr>
            <p:cNvPr id="33" name="TextBox 33"/>
            <p:cNvSpPr txBox="1"/>
            <p:nvPr/>
          </p:nvSpPr>
          <p:spPr>
            <a:xfrm>
              <a:off x="7770304" y="4098608"/>
              <a:ext cx="3254121"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原课件的异常类名</a:t>
              </a:r>
              <a:br/>
              <a:r>
                <a:rPr lang="en-US" sz="1350" dirty="0">
                  <a:solidFill>
                    <a:srgbClr val="243B53"/>
                  </a:solidFill>
                  <a:latin typeface="+mn-lt"/>
                  <a:ea typeface="+mn-ea"/>
                  <a:cs typeface="+mn-cs"/>
                </a:rPr>
                <a:t>BookBorrowExeedLimitException</a:t>
              </a:r>
              <a:r>
                <a:rPr lang="zh-CN" sz="1350" dirty="0">
                  <a:solidFill>
                    <a:srgbClr val="1F2937"/>
                  </a:solidFill>
                  <a:latin typeface="+mn-lt"/>
                  <a:ea typeface="+mn-ea"/>
                  <a:cs typeface="+mn-cs"/>
                </a:rPr>
                <a:t xml:space="preserve"> 少一个</a:t>
              </a:r>
              <a:br/>
              <a:r>
                <a:rPr lang="zh-CN" sz="1350" dirty="0">
                  <a:solidFill>
                    <a:srgbClr val="1F2937"/>
                  </a:solidFill>
                  <a:latin typeface="+mn-lt"/>
                  <a:ea typeface="+mn-ea"/>
                  <a:cs typeface="+mn-cs"/>
                </a:rPr>
                <a:t>c，应为</a:t>
              </a:r>
              <a:br/>
              <a:r>
                <a:rPr lang="en-US" sz="1350" dirty="0">
                  <a:solidFill>
                    <a:srgbClr val="243B53"/>
                  </a:solidFill>
                  <a:latin typeface="+mn-lt"/>
                  <a:ea typeface="+mn-ea"/>
                  <a:cs typeface="+mn-cs"/>
                </a:rPr>
                <a:t>BookBorrowExceedLimitException</a:t>
              </a:r>
              <a:r>
                <a:rPr lang="zh-CN" sz="1350" dirty="0">
                  <a:solidFill>
                    <a:srgbClr val="1F2937"/>
                  </a:solidFill>
                  <a:latin typeface="+mn-lt"/>
                  <a:ea typeface="+mn-ea"/>
                  <a:cs typeface="+mn-cs"/>
                </a:rPr>
                <a:t>。</a:t>
              </a:r>
            </a:p>
          </p:txBody>
        </p:sp>
      </p:grpSp>
      <p:grpSp>
        <p:nvGrpSpPr>
          <p:cNvPr id="40" name="c2-callout-3"/>
          <p:cNvGrpSpPr/>
          <p:nvPr/>
        </p:nvGrpSpPr>
        <p:grpSpPr>
          <a:xfrm>
            <a:off x="7546658" y="5448300"/>
            <a:ext cx="4111942" cy="729615"/>
            <a:chOff x="7546658" y="5448300"/>
            <a:chExt cx="4111942" cy="729615"/>
          </a:xfrm>
        </p:grpSpPr>
        <p:sp>
          <p:nvSpPr>
            <p:cNvPr id="35" name="Rectangle 35"/>
            <p:cNvSpPr/>
            <p:nvPr/>
          </p:nvSpPr>
          <p:spPr>
            <a:xfrm>
              <a:off x="7546658" y="5448300"/>
              <a:ext cx="4111942" cy="729615"/>
            </a:xfrm>
            <a:prstGeom prst="roundRect">
              <a:avLst>
                <a:gd name="adj" fmla="val 15666"/>
              </a:avLst>
            </a:prstGeom>
            <a:solidFill>
              <a:srgbClr val="334E68"/>
            </a:solidFill>
            <a:ln>
              <a:noFill/>
            </a:ln>
          </p:spPr>
        </p:sp>
        <p:grpSp>
          <p:nvGrpSpPr>
            <p:cNvPr id="38" name="Group 38"/>
            <p:cNvGrpSpPr/>
            <p:nvPr/>
          </p:nvGrpSpPr>
          <p:grpSpPr>
            <a:xfrm>
              <a:off x="7751445" y="5713097"/>
              <a:ext cx="200023" cy="200023"/>
              <a:chOff x="7751445" y="5713097"/>
              <a:chExt cx="200023" cy="200023"/>
            </a:xfrm>
          </p:grpSpPr>
          <p:sp>
            <p:nvSpPr>
              <p:cNvPr id="36" name="Freeform 36"/>
              <p:cNvSpPr/>
              <p:nvPr/>
            </p:nvSpPr>
            <p:spPr>
              <a:xfrm>
                <a:off x="7751445" y="57130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7" name="Freeform 37"/>
              <p:cNvSpPr/>
              <p:nvPr/>
            </p:nvSpPr>
            <p:spPr>
              <a:xfrm>
                <a:off x="7884795" y="57797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9" name="TextBox 39"/>
            <p:cNvSpPr txBox="1"/>
            <p:nvPr/>
          </p:nvSpPr>
          <p:spPr>
            <a:xfrm>
              <a:off x="8054149" y="5594033"/>
              <a:ext cx="32712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每个条件不成立就立刻抛异常返回，五层嵌</a:t>
              </a:r>
              <a:br/>
              <a:r>
                <a:rPr lang="zh-CN" sz="1350" dirty="0">
                  <a:solidFill>
                    <a:srgbClr val="FFFFFF"/>
                  </a:solidFill>
                  <a:latin typeface="+mn-lt"/>
                  <a:ea typeface="+mn-ea"/>
                  <a:cs typeface="+mn-cs"/>
                </a:rPr>
                <a:t>套被拉成一串平行的检查。</a:t>
              </a:r>
            </a:p>
          </p:txBody>
        </p:sp>
      </p:grpSp>
      <p:grpSp>
        <p:nvGrpSpPr>
          <p:cNvPr id="43" name="footer"/>
          <p:cNvGrpSpPr/>
          <p:nvPr/>
        </p:nvGrpSpPr>
        <p:grpSpPr>
          <a:xfrm>
            <a:off x="528447" y="6581299"/>
            <a:ext cx="11135106" cy="190690"/>
            <a:chOff x="528447" y="6581299"/>
            <a:chExt cx="11135106" cy="190690"/>
          </a:xfrm>
        </p:grpSpPr>
        <p:sp>
          <p:nvSpPr>
            <p:cNvPr id="41" name="TextBox 4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42" name="TextBox 4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1419225" cy="266700"/>
            </a:xfrm>
            <a:prstGeom prst="roundRect">
              <a:avLst>
                <a:gd name="adj" fmla="val 50000"/>
              </a:avLst>
            </a:prstGeom>
            <a:solidFill>
              <a:srgbClr val="E7EDF3"/>
            </a:solidFill>
            <a:ln>
              <a:noFill/>
            </a:ln>
          </p:spPr>
        </p:sp>
        <p:sp>
          <p:nvSpPr>
            <p:cNvPr id="3" name="TextBox 3"/>
            <p:cNvSpPr txBox="1"/>
            <p:nvPr/>
          </p:nvSpPr>
          <p:spPr>
            <a:xfrm>
              <a:off x="626661" y="407194"/>
              <a:ext cx="123270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编码</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第二次改进：把检查和更新各自收进方法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1" name="c1-code-1"/>
          <p:cNvGrpSpPr/>
          <p:nvPr/>
        </p:nvGrpSpPr>
        <p:grpSpPr>
          <a:xfrm>
            <a:off x="533400" y="1524000"/>
            <a:ext cx="5626418" cy="2327910"/>
            <a:chOff x="533400" y="1524000"/>
            <a:chExt cx="5626418" cy="2327910"/>
          </a:xfrm>
        </p:grpSpPr>
        <p:sp>
          <p:nvSpPr>
            <p:cNvPr id="7" name="Rectangle 7"/>
            <p:cNvSpPr/>
            <p:nvPr/>
          </p:nvSpPr>
          <p:spPr>
            <a:xfrm>
              <a:off x="533400" y="1524000"/>
              <a:ext cx="5626418" cy="2327910"/>
            </a:xfrm>
            <a:prstGeom prst="roundRect">
              <a:avLst>
                <a:gd name="adj" fmla="val 4092"/>
              </a:avLst>
            </a:prstGeom>
            <a:solidFill>
              <a:srgbClr val="F6F8FA"/>
            </a:solidFill>
            <a:ln w="11430">
              <a:solidFill>
                <a:srgbClr val="D9DFEA"/>
              </a:solidFill>
            </a:ln>
          </p:spPr>
        </p:sp>
        <p:sp>
          <p:nvSpPr>
            <p:cNvPr id="8" name="TextBox 8"/>
            <p:cNvSpPr txBox="1"/>
            <p:nvPr/>
          </p:nvSpPr>
          <p:spPr>
            <a:xfrm>
              <a:off x="661797" y="1675924"/>
              <a:ext cx="318971"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Java</a:t>
              </a:r>
            </a:p>
          </p:txBody>
        </p:sp>
        <p:sp>
          <p:nvSpPr>
            <p:cNvPr id="9" name="TextBox 9"/>
            <p:cNvSpPr txBox="1"/>
            <p:nvPr/>
          </p:nvSpPr>
          <p:spPr>
            <a:xfrm>
              <a:off x="758063" y="1937861"/>
              <a:ext cx="89662" cy="1843088"/>
            </a:xfrm>
            <a:prstGeom prst="rect">
              <a:avLst/>
            </a:prstGeom>
            <a:noFill/>
            <a:ln>
              <a:noFill/>
            </a:ln>
          </p:spPr>
          <p:txBody>
            <a:bodyPr wrap="none" lIns="0" tIns="0" rIns="0" bIns="0" anchor="t" anchorCtr="0">
              <a:spAutoFit/>
            </a:bodyPr>
            <a:lstStyle/>
            <a:p>
              <a:pPr algn="r">
                <a:lnSpc>
                  <a:spcPts val="1598"/>
                </a:lnSpc>
              </a:pPr>
              <a:r>
                <a:rPr lang="zh-CN" sz="1120" dirty="0">
                  <a:solidFill>
                    <a:srgbClr val="9AA3B2"/>
                  </a:solidFill>
                  <a:latin typeface="Consolas"/>
                  <a:ea typeface="Consolas"/>
                  <a:cs typeface="Consolas"/>
                </a:rPr>
                <a:t>1</a:t>
              </a:r>
              <a:br/>
              <a:r>
                <a:rPr lang="zh-CN" sz="1120" dirty="0">
                  <a:solidFill>
                    <a:srgbClr val="9AA3B2"/>
                  </a:solidFill>
                  <a:latin typeface="Consolas"/>
                  <a:ea typeface="Consolas"/>
                  <a:cs typeface="Consolas"/>
                </a:rPr>
                <a:t>2</a:t>
              </a:r>
              <a:br/>
              <a:r>
                <a:rPr lang="zh-CN" sz="1120" dirty="0">
                  <a:solidFill>
                    <a:srgbClr val="9AA3B2"/>
                  </a:solidFill>
                  <a:latin typeface="Consolas"/>
                  <a:ea typeface="Consolas"/>
                  <a:cs typeface="Consolas"/>
                </a:rPr>
                <a:t>3</a:t>
              </a:r>
              <a:br/>
              <a:r>
                <a:rPr lang="zh-CN" sz="1120" dirty="0">
                  <a:solidFill>
                    <a:srgbClr val="9AA3B2"/>
                  </a:solidFill>
                  <a:latin typeface="Consolas"/>
                  <a:ea typeface="Consolas"/>
                  <a:cs typeface="Consolas"/>
                </a:rPr>
                <a:t>4</a:t>
              </a:r>
              <a:br/>
              <a:r>
                <a:rPr lang="zh-CN" sz="1120" dirty="0">
                  <a:solidFill>
                    <a:srgbClr val="9AA3B2"/>
                  </a:solidFill>
                  <a:latin typeface="Consolas"/>
                  <a:ea typeface="Consolas"/>
                  <a:cs typeface="Consolas"/>
                </a:rPr>
                <a:t>5</a:t>
              </a:r>
              <a:br/>
              <a:r>
                <a:rPr lang="zh-CN" sz="1120" dirty="0">
                  <a:solidFill>
                    <a:srgbClr val="9AA3B2"/>
                  </a:solidFill>
                  <a:latin typeface="Consolas"/>
                  <a:ea typeface="Consolas"/>
                  <a:cs typeface="Consolas"/>
                </a:rPr>
                <a:t>6</a:t>
              </a:r>
              <a:br/>
              <a:r>
                <a:rPr lang="zh-CN" sz="1120" dirty="0">
                  <a:solidFill>
                    <a:srgbClr val="9AA3B2"/>
                  </a:solidFill>
                  <a:latin typeface="Consolas"/>
                  <a:ea typeface="Consolas"/>
                  <a:cs typeface="Consolas"/>
                </a:rPr>
                <a:t>7</a:t>
              </a:r>
              <a:br/>
              <a:r>
                <a:rPr lang="zh-CN" sz="1120" dirty="0">
                  <a:solidFill>
                    <a:srgbClr val="9AA3B2"/>
                  </a:solidFill>
                  <a:latin typeface="Consolas"/>
                  <a:ea typeface="Consolas"/>
                  <a:cs typeface="Consolas"/>
                </a:rPr>
                <a:t>8</a:t>
              </a:r>
              <a:br/>
              <a:r>
                <a:rPr lang="zh-CN" sz="1120" dirty="0">
                  <a:solidFill>
                    <a:srgbClr val="9AA3B2"/>
                  </a:solidFill>
                  <a:latin typeface="Consolas"/>
                  <a:ea typeface="Consolas"/>
                  <a:cs typeface="Consolas"/>
                </a:rPr>
                <a:t>9</a:t>
              </a:r>
            </a:p>
          </p:txBody>
        </p:sp>
        <p:sp>
          <p:nvSpPr>
            <p:cNvPr id="10" name="TextBox 10"/>
            <p:cNvSpPr txBox="1"/>
            <p:nvPr/>
          </p:nvSpPr>
          <p:spPr>
            <a:xfrm>
              <a:off x="950595" y="1937861"/>
              <a:ext cx="4314190" cy="1843088"/>
            </a:xfrm>
            <a:prstGeom prst="rect">
              <a:avLst/>
            </a:prstGeom>
            <a:noFill/>
            <a:ln>
              <a:noFill/>
            </a:ln>
          </p:spPr>
          <p:txBody>
            <a:bodyPr wrap="none" lIns="0" tIns="0" rIns="0" bIns="0" anchor="t" anchorCtr="0">
              <a:spAutoFit/>
            </a:bodyPr>
            <a:lstStyle/>
            <a:p>
              <a:pPr algn="l">
                <a:lnSpc>
                  <a:spcPts val="1598"/>
                </a:lnSpc>
              </a:pPr>
              <a:r>
                <a:rPr lang="en-US" sz="1120" b="1" dirty="0">
                  <a:solidFill>
                    <a:srgbClr val="334E68"/>
                  </a:solidFill>
                  <a:latin typeface="Consolas"/>
                  <a:ea typeface="Consolas"/>
                  <a:cs typeface="Consolas"/>
                </a:rPr>
                <a:t>public</a:t>
              </a: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void</a:t>
              </a:r>
              <a:r>
                <a:rPr lang="en-US" sz="1120" dirty="0">
                  <a:solidFill>
                    <a:srgbClr val="1F2937"/>
                  </a:solidFill>
                  <a:latin typeface="Consolas"/>
                  <a:ea typeface="Consolas"/>
                  <a:cs typeface="Consolas"/>
                </a:rPr>
                <a:t xml:space="preserve"> borrowBook(String studentID, String bookID)</a:t>
              </a:r>
              <a:br/>
              <a:r>
                <a:rPr lang="zh-CN" sz="1120" dirty="0">
                  <a:solidFill>
                    <a:srgbClr val="1F2937"/>
                  </a:solidFill>
                  <a:latin typeface="Consolas"/>
                  <a:ea typeface="Consolas"/>
                  <a:cs typeface="Consolas"/>
                </a:rPr>
                <a:t xml:space="preserve">        </a:t>
              </a:r>
              <a:r>
                <a:rPr lang="en-US" sz="1120" b="1" dirty="0">
                  <a:solidFill>
                    <a:srgbClr val="334E68"/>
                  </a:solidFill>
                  <a:latin typeface="Consolas"/>
                  <a:ea typeface="Consolas"/>
                  <a:cs typeface="Consolas"/>
                </a:rPr>
                <a:t>throws</a:t>
              </a:r>
              <a:r>
                <a:rPr lang="en-US" sz="1120" dirty="0">
                  <a:solidFill>
                    <a:srgbClr val="1F2937"/>
                  </a:solidFill>
                  <a:latin typeface="Consolas"/>
                  <a:ea typeface="Consolas"/>
                  <a:cs typeface="Consolas"/>
                </a:rPr>
                <a:t xml:space="preserve"> ServiceException {</a:t>
              </a:r>
              <a:br/>
              <a:r>
                <a:rPr lang="en-US" sz="1120" dirty="0">
                  <a:solidFill>
                    <a:srgbClr val="1F2937"/>
                  </a:solidFill>
                  <a:latin typeface="Consolas"/>
                  <a:ea typeface="Consolas"/>
                  <a:cs typeface="Consolas"/>
                </a:rPr>
                <a:t xml:space="preserve">  notEmpty(studentID, </a:t>
              </a:r>
              <a:r>
                <a:rPr lang="en-US" sz="1120" dirty="0">
                  <a:solidFill>
                    <a:srgbClr val="C2410C"/>
                  </a:solidFill>
                  <a:latin typeface="Consolas"/>
                  <a:ea typeface="Consolas"/>
                  <a:cs typeface="Consolas"/>
                </a:rPr>
                <a:t>"Student ID can't be empty"</a:t>
              </a:r>
              <a:r>
                <a:rPr lang="zh-CN" sz="1120" dirty="0">
                  <a:solidFill>
                    <a:srgbClr val="1F2937"/>
                  </a:solidFill>
                  <a:latin typeface="Consolas"/>
                  <a:ea typeface="Consolas"/>
                  <a:cs typeface="Consolas"/>
                </a:rPr>
                <a:t>);</a:t>
              </a:r>
              <a:br/>
              <a:r>
                <a:rPr lang="en-US" sz="1120" dirty="0">
                  <a:solidFill>
                    <a:srgbClr val="1F2937"/>
                  </a:solidFill>
                  <a:latin typeface="Consolas"/>
                  <a:ea typeface="Consolas"/>
                  <a:cs typeface="Consolas"/>
                </a:rPr>
                <a:t xml:space="preserve">  notEmpty(bookID, </a:t>
              </a:r>
              <a:r>
                <a:rPr lang="en-US" sz="1120" dirty="0">
                  <a:solidFill>
                    <a:srgbClr val="C2410C"/>
                  </a:solidFill>
                  <a:latin typeface="Consolas"/>
                  <a:ea typeface="Consolas"/>
                  <a:cs typeface="Consolas"/>
                </a:rPr>
                <a:t>"Book ID can't be empty"</a:t>
              </a:r>
              <a:r>
                <a:rPr lang="zh-CN" sz="1120" dirty="0">
                  <a:solidFill>
                    <a:srgbClr val="1F2937"/>
                  </a:solidFill>
                  <a:latin typeface="Consolas"/>
                  <a:ea typeface="Consolas"/>
                  <a:cs typeface="Consolas"/>
                </a:rPr>
                <a:t>);</a:t>
              </a:r>
              <a:br/>
              <a:r>
                <a:rPr lang="zh-CN" sz="1120" dirty="0">
                  <a:solidFill>
                    <a:srgbClr val="1F2937"/>
                  </a:solidFill>
                  <a:latin typeface="Consolas"/>
                  <a:ea typeface="Consolas"/>
                  <a:cs typeface="Consolas"/>
                </a:rPr>
                <a:t xml:space="preserve"> </a:t>
              </a:r>
              <a:br/>
              <a:r>
                <a:rPr lang="en-US" sz="1120" dirty="0">
                  <a:solidFill>
                    <a:srgbClr val="1F2937"/>
                  </a:solidFill>
                  <a:latin typeface="Consolas"/>
                  <a:ea typeface="Consolas"/>
                  <a:cs typeface="Consolas"/>
                </a:rPr>
                <a:t xml:space="preserve">  checkStudentCanBorrowBook(studentID);</a:t>
              </a:r>
              <a:br/>
              <a:r>
                <a:rPr lang="en-US" sz="1120" dirty="0">
                  <a:solidFill>
                    <a:srgbClr val="1F2937"/>
                  </a:solidFill>
                  <a:latin typeface="Consolas"/>
                  <a:ea typeface="Consolas"/>
                  <a:cs typeface="Consolas"/>
                </a:rPr>
                <a:t xml:space="preserve">  checkBookCanBeBorrowed(bookID);</a:t>
              </a:r>
              <a:br/>
              <a:r>
                <a:rPr lang="en-US" sz="1120" dirty="0">
                  <a:solidFill>
                    <a:srgbClr val="1F2937"/>
                  </a:solidFill>
                  <a:latin typeface="Consolas"/>
                  <a:ea typeface="Consolas"/>
                  <a:cs typeface="Consolas"/>
                </a:rPr>
                <a:t xml:space="preserve">  updateBorrowingStatus(studentID, bookID);</a:t>
              </a:r>
              <a:br/>
              <a:r>
                <a:rPr lang="zh-CN" sz="1120" dirty="0">
                  <a:solidFill>
                    <a:srgbClr val="1F2937"/>
                  </a:solidFill>
                  <a:latin typeface="Consolas"/>
                  <a:ea typeface="Consolas"/>
                  <a:cs typeface="Consolas"/>
                </a:rPr>
                <a:t>}</a:t>
              </a:r>
            </a:p>
          </p:txBody>
        </p:sp>
      </p:grpSp>
      <p:grpSp>
        <p:nvGrpSpPr>
          <p:cNvPr id="18" name="c1-bullets-2"/>
          <p:cNvGrpSpPr/>
          <p:nvPr/>
        </p:nvGrpSpPr>
        <p:grpSpPr>
          <a:xfrm>
            <a:off x="533400" y="4063841"/>
            <a:ext cx="5333241" cy="860869"/>
            <a:chOff x="533400" y="4063841"/>
            <a:chExt cx="5333241" cy="860869"/>
          </a:xfrm>
        </p:grpSpPr>
        <p:sp>
          <p:nvSpPr>
            <p:cNvPr id="12" name="Freeform 12"/>
            <p:cNvSpPr/>
            <p:nvPr/>
          </p:nvSpPr>
          <p:spPr>
            <a:xfrm>
              <a:off x="533400" y="4090035"/>
              <a:ext cx="122873" cy="99060"/>
            </a:xfrm>
            <a:custGeom>
              <a:avLst/>
              <a:gdLst/>
              <a:ahLst/>
              <a:cxnLst/>
              <a:rect l="l" t="t" r="r" b="b"/>
              <a:pathLst>
                <a:path w="122873" h="99060">
                  <a:moveTo>
                    <a:pt x="0" y="52388"/>
                  </a:moveTo>
                  <a:lnTo>
                    <a:pt x="46672" y="99060"/>
                  </a:lnTo>
                  <a:lnTo>
                    <a:pt x="122873" y="0"/>
                  </a:lnTo>
                </a:path>
              </a:pathLst>
            </a:custGeom>
            <a:noFill/>
            <a:ln w="24765" cap="rnd">
              <a:solidFill>
                <a:srgbClr val="14A38B"/>
              </a:solidFill>
              <a:round/>
            </a:ln>
          </p:spPr>
        </p:sp>
        <p:sp>
          <p:nvSpPr>
            <p:cNvPr id="13" name="TextBox 13"/>
            <p:cNvSpPr txBox="1"/>
            <p:nvPr/>
          </p:nvSpPr>
          <p:spPr>
            <a:xfrm>
              <a:off x="764096" y="4063841"/>
              <a:ext cx="510254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通用方法 notEmpty 判断字符串是否为空，为 null 或空串就抛异常</a:t>
              </a:r>
            </a:p>
          </p:txBody>
        </p:sp>
        <p:sp>
          <p:nvSpPr>
            <p:cNvPr id="14" name="Freeform 14"/>
            <p:cNvSpPr/>
            <p:nvPr/>
          </p:nvSpPr>
          <p:spPr>
            <a:xfrm>
              <a:off x="533400" y="4396740"/>
              <a:ext cx="122873" cy="99060"/>
            </a:xfrm>
            <a:custGeom>
              <a:avLst/>
              <a:gdLst/>
              <a:ahLst/>
              <a:cxnLst/>
              <a:rect l="l" t="t" r="r" b="b"/>
              <a:pathLst>
                <a:path w="122873" h="99060">
                  <a:moveTo>
                    <a:pt x="0" y="52388"/>
                  </a:moveTo>
                  <a:lnTo>
                    <a:pt x="46672" y="99060"/>
                  </a:lnTo>
                  <a:lnTo>
                    <a:pt x="122873" y="0"/>
                  </a:lnTo>
                </a:path>
              </a:pathLst>
            </a:custGeom>
            <a:noFill/>
            <a:ln w="24765" cap="rnd">
              <a:solidFill>
                <a:srgbClr val="14A38B"/>
              </a:solidFill>
              <a:round/>
            </a:ln>
          </p:spPr>
        </p:sp>
        <p:sp>
          <p:nvSpPr>
            <p:cNvPr id="15" name="TextBox 15"/>
            <p:cNvSpPr txBox="1"/>
            <p:nvPr/>
          </p:nvSpPr>
          <p:spPr>
            <a:xfrm>
              <a:off x="764096" y="4369594"/>
              <a:ext cx="465680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专门的 check 方法做条件检查，update 方法做借书信息更新</a:t>
              </a:r>
            </a:p>
          </p:txBody>
        </p:sp>
        <p:sp>
          <p:nvSpPr>
            <p:cNvPr id="16" name="Freeform 16"/>
            <p:cNvSpPr/>
            <p:nvPr/>
          </p:nvSpPr>
          <p:spPr>
            <a:xfrm>
              <a:off x="533400" y="4702492"/>
              <a:ext cx="122873" cy="99060"/>
            </a:xfrm>
            <a:custGeom>
              <a:avLst/>
              <a:gdLst/>
              <a:ahLst/>
              <a:cxnLst/>
              <a:rect l="l" t="t" r="r" b="b"/>
              <a:pathLst>
                <a:path w="122873" h="99060">
                  <a:moveTo>
                    <a:pt x="0" y="52388"/>
                  </a:moveTo>
                  <a:lnTo>
                    <a:pt x="46672" y="99060"/>
                  </a:lnTo>
                  <a:lnTo>
                    <a:pt x="122873" y="0"/>
                  </a:lnTo>
                </a:path>
              </a:pathLst>
            </a:custGeom>
            <a:noFill/>
            <a:ln w="24765" cap="rnd">
              <a:solidFill>
                <a:srgbClr val="14A38B"/>
              </a:solidFill>
              <a:round/>
            </a:ln>
          </p:spPr>
        </p:sp>
        <p:sp>
          <p:nvSpPr>
            <p:cNvPr id="17" name="TextBox 17"/>
            <p:cNvSpPr txBox="1"/>
            <p:nvPr/>
          </p:nvSpPr>
          <p:spPr>
            <a:xfrm>
              <a:off x="764096" y="4675346"/>
              <a:ext cx="44931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参数名和方法名基本都是自解释的，整段读下来就是一句话</a:t>
              </a:r>
            </a:p>
          </p:txBody>
        </p:sp>
      </p:grpSp>
      <p:grpSp>
        <p:nvGrpSpPr>
          <p:cNvPr id="45" name="c2-table-1"/>
          <p:cNvGrpSpPr/>
          <p:nvPr/>
        </p:nvGrpSpPr>
        <p:grpSpPr>
          <a:xfrm>
            <a:off x="6464618" y="1524000"/>
            <a:ext cx="5193982" cy="1795462"/>
            <a:chOff x="6464618" y="1524000"/>
            <a:chExt cx="5193982" cy="1795462"/>
          </a:xfrm>
        </p:grpSpPr>
        <p:sp>
          <p:nvSpPr>
            <p:cNvPr id="19" name="Rectangle 19"/>
            <p:cNvSpPr/>
            <p:nvPr/>
          </p:nvSpPr>
          <p:spPr>
            <a:xfrm>
              <a:off x="6464618" y="1524000"/>
              <a:ext cx="5193982" cy="448628"/>
            </a:xfrm>
            <a:prstGeom prst="rect">
              <a:avLst/>
            </a:prstGeom>
            <a:solidFill>
              <a:srgbClr val="334E68"/>
            </a:solidFill>
            <a:ln>
              <a:noFill/>
            </a:ln>
          </p:spPr>
        </p:sp>
        <p:sp>
          <p:nvSpPr>
            <p:cNvPr id="20" name="TextBox 20"/>
            <p:cNvSpPr txBox="1"/>
            <p:nvPr/>
          </p:nvSpPr>
          <p:spPr>
            <a:xfrm>
              <a:off x="6853517"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版本</a:t>
              </a:r>
            </a:p>
          </p:txBody>
        </p:sp>
        <p:sp>
          <p:nvSpPr>
            <p:cNvPr id="21" name="TextBox 21"/>
            <p:cNvSpPr txBox="1"/>
            <p:nvPr/>
          </p:nvSpPr>
          <p:spPr>
            <a:xfrm>
              <a:off x="7736573"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最深嵌套</a:t>
              </a:r>
            </a:p>
          </p:txBody>
        </p:sp>
        <p:sp>
          <p:nvSpPr>
            <p:cNvPr id="22" name="TextBox 22"/>
            <p:cNvSpPr txBox="1"/>
            <p:nvPr/>
          </p:nvSpPr>
          <p:spPr>
            <a:xfrm>
              <a:off x="8953868"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异常类型</a:t>
              </a:r>
            </a:p>
          </p:txBody>
        </p:sp>
        <p:sp>
          <p:nvSpPr>
            <p:cNvPr id="23" name="TextBox 23"/>
            <p:cNvSpPr txBox="1"/>
            <p:nvPr/>
          </p:nvSpPr>
          <p:spPr>
            <a:xfrm>
              <a:off x="10151339" y="1659731"/>
              <a:ext cx="1391463"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一眼看得出流程吗</a:t>
              </a:r>
            </a:p>
          </p:txBody>
        </p:sp>
        <p:sp>
          <p:nvSpPr>
            <p:cNvPr id="24" name="TextBox 24"/>
            <p:cNvSpPr txBox="1"/>
            <p:nvPr/>
          </p:nvSpPr>
          <p:spPr>
            <a:xfrm>
              <a:off x="6572441" y="2108359"/>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原始版</a:t>
              </a:r>
            </a:p>
          </p:txBody>
        </p:sp>
        <p:sp>
          <p:nvSpPr>
            <p:cNvPr id="25" name="TextBox 25"/>
            <p:cNvSpPr txBox="1"/>
            <p:nvPr/>
          </p:nvSpPr>
          <p:spPr>
            <a:xfrm>
              <a:off x="7708773" y="2108359"/>
              <a:ext cx="33173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5 层</a:t>
              </a:r>
            </a:p>
          </p:txBody>
        </p:sp>
        <p:sp>
          <p:nvSpPr>
            <p:cNvPr id="26" name="TextBox 26"/>
            <p:cNvSpPr txBox="1"/>
            <p:nvPr/>
          </p:nvSpPr>
          <p:spPr>
            <a:xfrm>
              <a:off x="8682228" y="2108359"/>
              <a:ext cx="70220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通用异常</a:t>
              </a:r>
            </a:p>
          </p:txBody>
        </p:sp>
        <p:sp>
          <p:nvSpPr>
            <p:cNvPr id="27" name="Rectangle 27"/>
            <p:cNvSpPr/>
            <p:nvPr/>
          </p:nvSpPr>
          <p:spPr>
            <a:xfrm>
              <a:off x="10044112" y="1982152"/>
              <a:ext cx="1604962" cy="429578"/>
            </a:xfrm>
            <a:prstGeom prst="rect">
              <a:avLst/>
            </a:prstGeom>
            <a:solidFill>
              <a:srgbClr val="FDECEA"/>
            </a:solidFill>
            <a:ln>
              <a:noFill/>
            </a:ln>
          </p:spPr>
        </p:sp>
        <p:sp>
          <p:nvSpPr>
            <p:cNvPr id="28" name="TextBox 28"/>
            <p:cNvSpPr txBox="1"/>
            <p:nvPr/>
          </p:nvSpPr>
          <p:spPr>
            <a:xfrm>
              <a:off x="10142410" y="2108359"/>
              <a:ext cx="185268" cy="249364"/>
            </a:xfrm>
            <a:prstGeom prst="rect">
              <a:avLst/>
            </a:prstGeom>
            <a:noFill/>
            <a:ln>
              <a:noFill/>
            </a:ln>
          </p:spPr>
          <p:txBody>
            <a:bodyPr wrap="none" lIns="0" tIns="0" rIns="0" bIns="0" anchor="t" anchorCtr="0">
              <a:spAutoFit/>
            </a:bodyPr>
            <a:lstStyle/>
            <a:p>
              <a:pPr algn="l"/>
              <a:r>
                <a:rPr lang="zh-CN" sz="1280" dirty="0">
                  <a:solidFill>
                    <a:srgbClr val="B42318"/>
                  </a:solidFill>
                  <a:latin typeface="+mn-lt"/>
                  <a:ea typeface="+mn-ea"/>
                  <a:cs typeface="+mn-cs"/>
                </a:rPr>
                <a:t>否</a:t>
              </a:r>
            </a:p>
          </p:txBody>
        </p:sp>
        <p:sp>
          <p:nvSpPr>
            <p:cNvPr id="29" name="Rectangle 29"/>
            <p:cNvSpPr/>
            <p:nvPr/>
          </p:nvSpPr>
          <p:spPr>
            <a:xfrm>
              <a:off x="6464618" y="2416492"/>
              <a:ext cx="5193982" cy="9525"/>
            </a:xfrm>
            <a:prstGeom prst="rect">
              <a:avLst/>
            </a:prstGeom>
            <a:solidFill>
              <a:srgbClr val="D9DFEA"/>
            </a:solidFill>
            <a:ln>
              <a:noFill/>
            </a:ln>
          </p:spPr>
        </p:sp>
        <p:sp>
          <p:nvSpPr>
            <p:cNvPr id="30" name="Rectangle 30"/>
            <p:cNvSpPr/>
            <p:nvPr/>
          </p:nvSpPr>
          <p:spPr>
            <a:xfrm>
              <a:off x="6464618" y="2421255"/>
              <a:ext cx="5193982" cy="448628"/>
            </a:xfrm>
            <a:prstGeom prst="rect">
              <a:avLst/>
            </a:prstGeom>
            <a:solidFill>
              <a:srgbClr val="F4F6FB"/>
            </a:solidFill>
            <a:ln>
              <a:noFill/>
            </a:ln>
          </p:spPr>
        </p:sp>
        <p:sp>
          <p:nvSpPr>
            <p:cNvPr id="31" name="TextBox 31"/>
            <p:cNvSpPr txBox="1"/>
            <p:nvPr/>
          </p:nvSpPr>
          <p:spPr>
            <a:xfrm>
              <a:off x="6572441" y="2556986"/>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第一次改进</a:t>
              </a:r>
            </a:p>
          </p:txBody>
        </p:sp>
        <p:sp>
          <p:nvSpPr>
            <p:cNvPr id="32" name="TextBox 32"/>
            <p:cNvSpPr txBox="1"/>
            <p:nvPr/>
          </p:nvSpPr>
          <p:spPr>
            <a:xfrm>
              <a:off x="7708773" y="2556986"/>
              <a:ext cx="33173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 层</a:t>
              </a:r>
            </a:p>
          </p:txBody>
        </p:sp>
        <p:sp>
          <p:nvSpPr>
            <p:cNvPr id="33" name="TextBox 33"/>
            <p:cNvSpPr txBox="1"/>
            <p:nvPr/>
          </p:nvSpPr>
          <p:spPr>
            <a:xfrm>
              <a:off x="8682228" y="2556986"/>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自定义业务异常</a:t>
              </a:r>
            </a:p>
          </p:txBody>
        </p:sp>
        <p:sp>
          <p:nvSpPr>
            <p:cNvPr id="34" name="TextBox 34"/>
            <p:cNvSpPr txBox="1"/>
            <p:nvPr/>
          </p:nvSpPr>
          <p:spPr>
            <a:xfrm>
              <a:off x="10142410" y="2556986"/>
              <a:ext cx="185268" cy="249364"/>
            </a:xfrm>
            <a:prstGeom prst="rect">
              <a:avLst/>
            </a:prstGeom>
            <a:noFill/>
            <a:ln>
              <a:noFill/>
            </a:ln>
          </p:spPr>
          <p:txBody>
            <a:bodyPr wrap="none" lIns="0" tIns="0" rIns="0" bIns="0" anchor="t" anchorCtr="0">
              <a:spAutoFit/>
            </a:bodyPr>
            <a:lstStyle/>
            <a:p>
              <a:pPr algn="l"/>
              <a:r>
                <a:rPr lang="zh-CN" sz="1280" dirty="0">
                  <a:solidFill>
                    <a:srgbClr val="0F7A68"/>
                  </a:solidFill>
                  <a:latin typeface="+mn-lt"/>
                  <a:ea typeface="+mn-ea"/>
                  <a:cs typeface="+mn-cs"/>
                </a:rPr>
                <a:t>是</a:t>
              </a:r>
            </a:p>
          </p:txBody>
        </p:sp>
        <p:sp>
          <p:nvSpPr>
            <p:cNvPr id="35" name="Rectangle 35"/>
            <p:cNvSpPr/>
            <p:nvPr/>
          </p:nvSpPr>
          <p:spPr>
            <a:xfrm>
              <a:off x="6464618" y="2866072"/>
              <a:ext cx="5193982" cy="9525"/>
            </a:xfrm>
            <a:prstGeom prst="rect">
              <a:avLst/>
            </a:prstGeom>
            <a:solidFill>
              <a:srgbClr val="D9DFEA"/>
            </a:solidFill>
            <a:ln>
              <a:noFill/>
            </a:ln>
          </p:spPr>
        </p:sp>
        <p:sp>
          <p:nvSpPr>
            <p:cNvPr id="36" name="TextBox 36"/>
            <p:cNvSpPr txBox="1"/>
            <p:nvPr/>
          </p:nvSpPr>
          <p:spPr>
            <a:xfrm>
              <a:off x="6572441" y="3005614"/>
              <a:ext cx="87452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第二次改进</a:t>
              </a:r>
            </a:p>
          </p:txBody>
        </p:sp>
        <p:sp>
          <p:nvSpPr>
            <p:cNvPr id="37" name="TextBox 37"/>
            <p:cNvSpPr txBox="1"/>
            <p:nvPr/>
          </p:nvSpPr>
          <p:spPr>
            <a:xfrm>
              <a:off x="7708773" y="3005614"/>
              <a:ext cx="33173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0 层</a:t>
              </a:r>
            </a:p>
          </p:txBody>
        </p:sp>
        <p:sp>
          <p:nvSpPr>
            <p:cNvPr id="38" name="TextBox 38"/>
            <p:cNvSpPr txBox="1"/>
            <p:nvPr/>
          </p:nvSpPr>
          <p:spPr>
            <a:xfrm>
              <a:off x="8682228" y="3005614"/>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自定义业务异常</a:t>
              </a:r>
            </a:p>
          </p:txBody>
        </p:sp>
        <p:sp>
          <p:nvSpPr>
            <p:cNvPr id="39" name="Rectangle 39"/>
            <p:cNvSpPr/>
            <p:nvPr/>
          </p:nvSpPr>
          <p:spPr>
            <a:xfrm>
              <a:off x="10044112" y="2880360"/>
              <a:ext cx="1604962" cy="429578"/>
            </a:xfrm>
            <a:prstGeom prst="rect">
              <a:avLst/>
            </a:prstGeom>
            <a:solidFill>
              <a:srgbClr val="E3F5F1"/>
            </a:solidFill>
            <a:ln>
              <a:noFill/>
            </a:ln>
          </p:spPr>
        </p:sp>
        <p:sp>
          <p:nvSpPr>
            <p:cNvPr id="40" name="TextBox 40"/>
            <p:cNvSpPr txBox="1"/>
            <p:nvPr/>
          </p:nvSpPr>
          <p:spPr>
            <a:xfrm>
              <a:off x="10142410" y="3005614"/>
              <a:ext cx="185268" cy="249364"/>
            </a:xfrm>
            <a:prstGeom prst="rect">
              <a:avLst/>
            </a:prstGeom>
            <a:noFill/>
            <a:ln>
              <a:noFill/>
            </a:ln>
          </p:spPr>
          <p:txBody>
            <a:bodyPr wrap="none" lIns="0" tIns="0" rIns="0" bIns="0" anchor="t" anchorCtr="0">
              <a:spAutoFit/>
            </a:bodyPr>
            <a:lstStyle/>
            <a:p>
              <a:pPr algn="l"/>
              <a:r>
                <a:rPr lang="zh-CN" sz="1280" dirty="0">
                  <a:solidFill>
                    <a:srgbClr val="0F7A68"/>
                  </a:solidFill>
                  <a:latin typeface="+mn-lt"/>
                  <a:ea typeface="+mn-ea"/>
                  <a:cs typeface="+mn-cs"/>
                </a:rPr>
                <a:t>是</a:t>
              </a:r>
            </a:p>
          </p:txBody>
        </p:sp>
        <p:sp>
          <p:nvSpPr>
            <p:cNvPr id="41" name="Rectangle 41"/>
            <p:cNvSpPr/>
            <p:nvPr/>
          </p:nvSpPr>
          <p:spPr>
            <a:xfrm>
              <a:off x="6464618" y="1524000"/>
              <a:ext cx="5193982" cy="1795462"/>
            </a:xfrm>
            <a:prstGeom prst="rect">
              <a:avLst/>
            </a:prstGeom>
            <a:noFill/>
            <a:ln w="14288">
              <a:solidFill>
                <a:srgbClr val="D9DFEA"/>
              </a:solidFill>
            </a:ln>
          </p:spPr>
        </p:sp>
        <p:sp>
          <p:nvSpPr>
            <p:cNvPr id="42" name="Rectangle 42"/>
            <p:cNvSpPr/>
            <p:nvPr/>
          </p:nvSpPr>
          <p:spPr>
            <a:xfrm>
              <a:off x="7596188" y="1524000"/>
              <a:ext cx="9525" cy="1795462"/>
            </a:xfrm>
            <a:prstGeom prst="rect">
              <a:avLst/>
            </a:prstGeom>
            <a:solidFill>
              <a:srgbClr val="D9DFEA"/>
            </a:solidFill>
            <a:ln>
              <a:noFill/>
            </a:ln>
          </p:spPr>
        </p:sp>
        <p:sp>
          <p:nvSpPr>
            <p:cNvPr id="43" name="Rectangle 43"/>
            <p:cNvSpPr/>
            <p:nvPr/>
          </p:nvSpPr>
          <p:spPr>
            <a:xfrm>
              <a:off x="8569642" y="1524000"/>
              <a:ext cx="9525" cy="1795462"/>
            </a:xfrm>
            <a:prstGeom prst="rect">
              <a:avLst/>
            </a:prstGeom>
            <a:solidFill>
              <a:srgbClr val="D9DFEA"/>
            </a:solidFill>
            <a:ln>
              <a:noFill/>
            </a:ln>
          </p:spPr>
        </p:sp>
        <p:sp>
          <p:nvSpPr>
            <p:cNvPr id="44" name="Rectangle 44"/>
            <p:cNvSpPr/>
            <p:nvPr/>
          </p:nvSpPr>
          <p:spPr>
            <a:xfrm>
              <a:off x="10029825" y="1524000"/>
              <a:ext cx="9525" cy="1795462"/>
            </a:xfrm>
            <a:prstGeom prst="rect">
              <a:avLst/>
            </a:prstGeom>
            <a:solidFill>
              <a:srgbClr val="D9DFEA"/>
            </a:solidFill>
            <a:ln>
              <a:noFill/>
            </a:ln>
          </p:spPr>
        </p:sp>
      </p:grpSp>
      <p:grpSp>
        <p:nvGrpSpPr>
          <p:cNvPr id="51" name="c2-callout-2"/>
          <p:cNvGrpSpPr/>
          <p:nvPr/>
        </p:nvGrpSpPr>
        <p:grpSpPr>
          <a:xfrm>
            <a:off x="6464618" y="3509962"/>
            <a:ext cx="5193982" cy="1364932"/>
            <a:chOff x="6464618" y="3509962"/>
            <a:chExt cx="5193982" cy="1364932"/>
          </a:xfrm>
        </p:grpSpPr>
        <p:sp>
          <p:nvSpPr>
            <p:cNvPr id="46" name="Rectangle 46"/>
            <p:cNvSpPr/>
            <p:nvPr/>
          </p:nvSpPr>
          <p:spPr>
            <a:xfrm>
              <a:off x="6464618" y="3509962"/>
              <a:ext cx="5193982" cy="1364932"/>
            </a:xfrm>
            <a:prstGeom prst="roundRect">
              <a:avLst>
                <a:gd name="adj" fmla="val 8374"/>
              </a:avLst>
            </a:prstGeom>
            <a:solidFill>
              <a:srgbClr val="334E68"/>
            </a:solidFill>
            <a:ln>
              <a:noFill/>
            </a:ln>
          </p:spPr>
        </p:sp>
        <p:grpSp>
          <p:nvGrpSpPr>
            <p:cNvPr id="49" name="Group 49"/>
            <p:cNvGrpSpPr/>
            <p:nvPr/>
          </p:nvGrpSpPr>
          <p:grpSpPr>
            <a:xfrm>
              <a:off x="6669405" y="4091942"/>
              <a:ext cx="200023" cy="200023"/>
              <a:chOff x="6669405" y="4091942"/>
              <a:chExt cx="200023" cy="200023"/>
            </a:xfrm>
          </p:grpSpPr>
          <p:sp>
            <p:nvSpPr>
              <p:cNvPr id="47" name="Freeform 47"/>
              <p:cNvSpPr/>
              <p:nvPr/>
            </p:nvSpPr>
            <p:spPr>
              <a:xfrm>
                <a:off x="6669405" y="409194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8" name="Freeform 48"/>
              <p:cNvSpPr/>
              <p:nvPr/>
            </p:nvSpPr>
            <p:spPr>
              <a:xfrm>
                <a:off x="6802755" y="415861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0" name="TextBox 50"/>
            <p:cNvSpPr txBox="1"/>
            <p:nvPr/>
          </p:nvSpPr>
          <p:spPr>
            <a:xfrm>
              <a:off x="6971348" y="3672840"/>
              <a:ext cx="4206240" cy="112204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代码结构变清晰之后，各种缺陷也更容易被发现和</a:t>
              </a:r>
              <a:br/>
              <a:r>
                <a:rPr lang="zh-CN" sz="1500" dirty="0">
                  <a:solidFill>
                    <a:srgbClr val="FFFFFF"/>
                  </a:solidFill>
                  <a:latin typeface="+mn-lt"/>
                  <a:ea typeface="+mn-ea"/>
                  <a:cs typeface="+mn-cs"/>
                </a:rPr>
                <a:t>纠正。第一次改进里那个写反的条件，在第二次改</a:t>
              </a:r>
              <a:br/>
              <a:r>
                <a:rPr lang="zh-CN" sz="1500" dirty="0">
                  <a:solidFill>
                    <a:srgbClr val="FFFFFF"/>
                  </a:solidFill>
                  <a:latin typeface="+mn-lt"/>
                  <a:ea typeface="+mn-ea"/>
                  <a:cs typeface="+mn-cs"/>
                </a:rPr>
                <a:t>进的 checkBookCanBeBorrowed 里只剩一行，藏</a:t>
              </a:r>
              <a:br/>
              <a:r>
                <a:rPr lang="zh-CN" sz="1500" dirty="0">
                  <a:solidFill>
                    <a:srgbClr val="FFFFFF"/>
                  </a:solidFill>
                  <a:latin typeface="+mn-lt"/>
                  <a:ea typeface="+mn-ea"/>
                  <a:cs typeface="+mn-cs"/>
                </a:rPr>
                <a:t>不住了。</a:t>
              </a:r>
            </a:p>
          </p:txBody>
        </p:sp>
      </p:grpSp>
      <p:grpSp>
        <p:nvGrpSpPr>
          <p:cNvPr id="58" name="takeaway"/>
          <p:cNvGrpSpPr/>
          <p:nvPr/>
        </p:nvGrpSpPr>
        <p:grpSpPr>
          <a:xfrm>
            <a:off x="533400" y="5579745"/>
            <a:ext cx="11125200" cy="782955"/>
            <a:chOff x="533400" y="5579745"/>
            <a:chExt cx="11125200" cy="782955"/>
          </a:xfrm>
        </p:grpSpPr>
        <p:sp>
          <p:nvSpPr>
            <p:cNvPr id="52" name="Rectangle 52"/>
            <p:cNvSpPr/>
            <p:nvPr/>
          </p:nvSpPr>
          <p:spPr>
            <a:xfrm>
              <a:off x="533400" y="5579745"/>
              <a:ext cx="11125200" cy="782955"/>
            </a:xfrm>
            <a:prstGeom prst="roundRect">
              <a:avLst>
                <a:gd name="adj" fmla="val 14599"/>
              </a:avLst>
            </a:prstGeom>
            <a:solidFill>
              <a:srgbClr val="FDEEE7"/>
            </a:solidFill>
            <a:ln>
              <a:noFill/>
            </a:ln>
          </p:spPr>
        </p:sp>
        <p:grpSp>
          <p:nvGrpSpPr>
            <p:cNvPr id="56" name="Group 56"/>
            <p:cNvGrpSpPr/>
            <p:nvPr/>
          </p:nvGrpSpPr>
          <p:grpSpPr>
            <a:xfrm>
              <a:off x="738188" y="5871210"/>
              <a:ext cx="200026" cy="200025"/>
              <a:chOff x="738188" y="5871210"/>
              <a:chExt cx="200026" cy="200025"/>
            </a:xfrm>
          </p:grpSpPr>
          <p:sp>
            <p:nvSpPr>
              <p:cNvPr id="53" name="Freeform 53"/>
              <p:cNvSpPr/>
              <p:nvPr/>
            </p:nvSpPr>
            <p:spPr>
              <a:xfrm>
                <a:off x="738188" y="587121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4" name="Freeform 54"/>
              <p:cNvSpPr/>
              <p:nvPr/>
            </p:nvSpPr>
            <p:spPr>
              <a:xfrm>
                <a:off x="777926" y="591566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5" name="Freeform 55"/>
              <p:cNvSpPr/>
              <p:nvPr/>
            </p:nvSpPr>
            <p:spPr>
              <a:xfrm>
                <a:off x="812642" y="602678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7" name="TextBox 57"/>
            <p:cNvSpPr txBox="1"/>
            <p:nvPr/>
          </p:nvSpPr>
          <p:spPr>
            <a:xfrm>
              <a:off x="1040130" y="5728335"/>
              <a:ext cx="9921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两次改进用的是同一套办法：先给每个判断配一个有名字的异常，再把同类判断收进一个方法。改完之后主方法只剩五</a:t>
              </a:r>
              <a:br/>
              <a:r>
                <a:rPr lang="zh-CN" sz="1500" dirty="0">
                  <a:solidFill>
                    <a:srgbClr val="C2410C"/>
                  </a:solidFill>
                  <a:latin typeface="+mn-lt"/>
                  <a:ea typeface="+mn-ea"/>
                  <a:cs typeface="+mn-cs"/>
                </a:rPr>
                <a:t>行，任何人接手都能一眼读完。</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16" name="section-title"/>
          <p:cNvGrpSpPr/>
          <p:nvPr/>
        </p:nvGrpSpPr>
        <p:grpSpPr>
          <a:xfrm>
            <a:off x="667512" y="1835468"/>
            <a:ext cx="5801868" cy="2997517"/>
            <a:chOff x="667512" y="1835468"/>
            <a:chExt cx="5801868"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294436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软件测试基础</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5791962"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目标是发现错误，手段是用尽量少的用例发现尽量多的错误</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72853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Myers 的测试目标与 6 条准则</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黑盒与白盒的分工</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四个测试步骤与信息流程</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软件测试基础</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测试的目标是发现错误，不是证明程序没错</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1" name="c1-card-1"/>
          <p:cNvGrpSpPr/>
          <p:nvPr/>
        </p:nvGrpSpPr>
        <p:grpSpPr>
          <a:xfrm>
            <a:off x="533400" y="1524000"/>
            <a:ext cx="4977765" cy="1574482"/>
            <a:chOff x="533400" y="1524000"/>
            <a:chExt cx="4977765" cy="1574482"/>
          </a:xfrm>
        </p:grpSpPr>
        <p:sp>
          <p:nvSpPr>
            <p:cNvPr id="7" name="Rectangle 7"/>
            <p:cNvSpPr/>
            <p:nvPr/>
          </p:nvSpPr>
          <p:spPr>
            <a:xfrm>
              <a:off x="533400" y="1524000"/>
              <a:ext cx="4977765" cy="1574482"/>
            </a:xfrm>
            <a:prstGeom prst="roundRect">
              <a:avLst>
                <a:gd name="adj" fmla="val 8469"/>
              </a:avLst>
            </a:prstGeom>
            <a:solidFill>
              <a:srgbClr val="FFFFFF"/>
            </a:solidFill>
            <a:ln w="14288">
              <a:solidFill>
                <a:srgbClr val="D9DFEA"/>
              </a:solidFill>
            </a:ln>
          </p:spPr>
        </p:sp>
        <p:sp>
          <p:nvSpPr>
            <p:cNvPr id="8" name="Rectangle 8"/>
            <p:cNvSpPr/>
            <p:nvPr/>
          </p:nvSpPr>
          <p:spPr>
            <a:xfrm>
              <a:off x="542925" y="1657350"/>
              <a:ext cx="47625" cy="1307782"/>
            </a:xfrm>
            <a:prstGeom prst="roundRect">
              <a:avLst>
                <a:gd name="adj" fmla="val 50000"/>
              </a:avLst>
            </a:prstGeom>
            <a:solidFill>
              <a:srgbClr val="334E68"/>
            </a:solidFill>
            <a:ln>
              <a:noFill/>
            </a:ln>
          </p:spPr>
        </p:sp>
        <p:sp>
          <p:nvSpPr>
            <p:cNvPr id="9" name="Rectangle 9"/>
            <p:cNvSpPr/>
            <p:nvPr/>
          </p:nvSpPr>
          <p:spPr>
            <a:xfrm>
              <a:off x="763905" y="1716405"/>
              <a:ext cx="622935" cy="247650"/>
            </a:xfrm>
            <a:prstGeom prst="roundRect">
              <a:avLst>
                <a:gd name="adj" fmla="val 50000"/>
              </a:avLst>
            </a:prstGeom>
            <a:solidFill>
              <a:srgbClr val="E7EDF3"/>
            </a:solidFill>
            <a:ln>
              <a:noFill/>
            </a:ln>
          </p:spPr>
        </p:sp>
        <p:sp>
          <p:nvSpPr>
            <p:cNvPr id="10" name="TextBox 10"/>
            <p:cNvSpPr txBox="1"/>
            <p:nvPr/>
          </p:nvSpPr>
          <p:spPr>
            <a:xfrm>
              <a:off x="848643" y="1750695"/>
              <a:ext cx="453459"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Myers</a:t>
              </a:r>
            </a:p>
          </p:txBody>
        </p:sp>
        <p:sp>
          <p:nvSpPr>
            <p:cNvPr id="11" name="TextBox 11"/>
            <p:cNvSpPr txBox="1"/>
            <p:nvPr/>
          </p:nvSpPr>
          <p:spPr>
            <a:xfrm>
              <a:off x="1494282" y="1756410"/>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关于测试的三条规则</a:t>
              </a:r>
            </a:p>
          </p:txBody>
        </p:sp>
        <p:sp>
          <p:nvSpPr>
            <p:cNvPr id="12" name="Ellipse 12"/>
            <p:cNvSpPr/>
            <p:nvPr/>
          </p:nvSpPr>
          <p:spPr>
            <a:xfrm>
              <a:off x="763905" y="2078355"/>
              <a:ext cx="192405" cy="192405"/>
            </a:xfrm>
            <a:prstGeom prst="ellipse">
              <a:avLst/>
            </a:prstGeom>
            <a:solidFill>
              <a:srgbClr val="334E68"/>
            </a:solidFill>
            <a:ln>
              <a:noFill/>
            </a:ln>
          </p:spPr>
        </p:sp>
        <p:sp>
          <p:nvSpPr>
            <p:cNvPr id="13" name="TextBox 13"/>
            <p:cNvSpPr txBox="1"/>
            <p:nvPr/>
          </p:nvSpPr>
          <p:spPr>
            <a:xfrm>
              <a:off x="819583" y="211674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14" name="TextBox 14"/>
            <p:cNvSpPr txBox="1"/>
            <p:nvPr/>
          </p:nvSpPr>
          <p:spPr>
            <a:xfrm>
              <a:off x="1044702" y="2090738"/>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测试是程序的执行过程，目的在于发现错误</a:t>
              </a:r>
            </a:p>
          </p:txBody>
        </p:sp>
        <p:sp>
          <p:nvSpPr>
            <p:cNvPr id="15" name="Ellipse 15"/>
            <p:cNvSpPr/>
            <p:nvPr/>
          </p:nvSpPr>
          <p:spPr>
            <a:xfrm>
              <a:off x="763905" y="2380298"/>
              <a:ext cx="192405" cy="192405"/>
            </a:xfrm>
            <a:prstGeom prst="ellipse">
              <a:avLst/>
            </a:prstGeom>
            <a:solidFill>
              <a:srgbClr val="334E68"/>
            </a:solidFill>
            <a:ln>
              <a:noFill/>
            </a:ln>
          </p:spPr>
        </p:sp>
        <p:sp>
          <p:nvSpPr>
            <p:cNvPr id="16" name="TextBox 16"/>
            <p:cNvSpPr txBox="1"/>
            <p:nvPr/>
          </p:nvSpPr>
          <p:spPr>
            <a:xfrm>
              <a:off x="819583" y="24196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7" name="TextBox 17"/>
            <p:cNvSpPr txBox="1"/>
            <p:nvPr/>
          </p:nvSpPr>
          <p:spPr>
            <a:xfrm>
              <a:off x="1044702" y="2392680"/>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一个好的测试用例在于能发现至今未发现的错误</a:t>
              </a:r>
            </a:p>
          </p:txBody>
        </p:sp>
        <p:sp>
          <p:nvSpPr>
            <p:cNvPr id="18" name="Ellipse 18"/>
            <p:cNvSpPr/>
            <p:nvPr/>
          </p:nvSpPr>
          <p:spPr>
            <a:xfrm>
              <a:off x="763905" y="2683192"/>
              <a:ext cx="192405" cy="192405"/>
            </a:xfrm>
            <a:prstGeom prst="ellipse">
              <a:avLst/>
            </a:prstGeom>
            <a:solidFill>
              <a:srgbClr val="334E68"/>
            </a:solidFill>
            <a:ln>
              <a:noFill/>
            </a:ln>
          </p:spPr>
        </p:sp>
        <p:sp>
          <p:nvSpPr>
            <p:cNvPr id="19" name="TextBox 19"/>
            <p:cNvSpPr txBox="1"/>
            <p:nvPr/>
          </p:nvSpPr>
          <p:spPr>
            <a:xfrm>
              <a:off x="819583" y="272157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20" name="TextBox 20"/>
            <p:cNvSpPr txBox="1"/>
            <p:nvPr/>
          </p:nvSpPr>
          <p:spPr>
            <a:xfrm>
              <a:off x="1044702" y="2695575"/>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一个成功的测试是发现了至今未发现的错误的测试</a:t>
              </a:r>
            </a:p>
          </p:txBody>
        </p:sp>
      </p:grpSp>
      <p:grpSp>
        <p:nvGrpSpPr>
          <p:cNvPr id="28" name="c1-callout-2"/>
          <p:cNvGrpSpPr/>
          <p:nvPr/>
        </p:nvGrpSpPr>
        <p:grpSpPr>
          <a:xfrm>
            <a:off x="533400" y="3273742"/>
            <a:ext cx="4977765" cy="729615"/>
            <a:chOff x="533400" y="3273742"/>
            <a:chExt cx="4977765" cy="729615"/>
          </a:xfrm>
        </p:grpSpPr>
        <p:sp>
          <p:nvSpPr>
            <p:cNvPr id="22" name="Rectangle 22"/>
            <p:cNvSpPr/>
            <p:nvPr/>
          </p:nvSpPr>
          <p:spPr>
            <a:xfrm>
              <a:off x="533400" y="3273742"/>
              <a:ext cx="4977765" cy="729615"/>
            </a:xfrm>
            <a:prstGeom prst="roundRect">
              <a:avLst>
                <a:gd name="adj" fmla="val 15666"/>
              </a:avLst>
            </a:prstGeom>
            <a:solidFill>
              <a:srgbClr val="FDECEA"/>
            </a:solidFill>
            <a:ln>
              <a:noFill/>
            </a:ln>
          </p:spPr>
        </p:sp>
        <p:grpSp>
          <p:nvGrpSpPr>
            <p:cNvPr id="26" name="Group 26"/>
            <p:cNvGrpSpPr/>
            <p:nvPr/>
          </p:nvGrpSpPr>
          <p:grpSpPr>
            <a:xfrm>
              <a:off x="726129" y="3534846"/>
              <a:ext cx="224134" cy="192560"/>
              <a:chOff x="726129" y="3534846"/>
              <a:chExt cx="224134" cy="192560"/>
            </a:xfrm>
          </p:grpSpPr>
          <p:sp>
            <p:nvSpPr>
              <p:cNvPr id="23" name="Freeform 23"/>
              <p:cNvSpPr/>
              <p:nvPr/>
            </p:nvSpPr>
            <p:spPr>
              <a:xfrm>
                <a:off x="838200" y="360521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24" name="Freeform 24"/>
              <p:cNvSpPr/>
              <p:nvPr/>
            </p:nvSpPr>
            <p:spPr>
              <a:xfrm>
                <a:off x="726129" y="353484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25" name="Freeform 25"/>
              <p:cNvSpPr/>
              <p:nvPr/>
            </p:nvSpPr>
            <p:spPr>
              <a:xfrm>
                <a:off x="838200" y="368300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27" name="TextBox 27"/>
            <p:cNvSpPr txBox="1"/>
            <p:nvPr/>
          </p:nvSpPr>
          <p:spPr>
            <a:xfrm>
              <a:off x="1040892" y="3419475"/>
              <a:ext cx="39570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如果测试发现不了错误，可以肯定测试配置考虑得不</a:t>
              </a:r>
              <a:br/>
              <a:r>
                <a:rPr lang="zh-CN" sz="1350" dirty="0">
                  <a:solidFill>
                    <a:srgbClr val="B42318"/>
                  </a:solidFill>
                  <a:latin typeface="+mn-lt"/>
                  <a:ea typeface="+mn-ea"/>
                  <a:cs typeface="+mn-cs"/>
                </a:rPr>
                <a:t>够细致充分，错误仍然潜伏在软件中。</a:t>
              </a:r>
            </a:p>
          </p:txBody>
        </p:sp>
      </p:grpSp>
      <p:grpSp>
        <p:nvGrpSpPr>
          <p:cNvPr id="37" name="c1-card-3"/>
          <p:cNvGrpSpPr/>
          <p:nvPr/>
        </p:nvGrpSpPr>
        <p:grpSpPr>
          <a:xfrm>
            <a:off x="533400" y="4178618"/>
            <a:ext cx="4977765" cy="1511618"/>
            <a:chOff x="533400" y="4178618"/>
            <a:chExt cx="4977765" cy="1511618"/>
          </a:xfrm>
        </p:grpSpPr>
        <p:sp>
          <p:nvSpPr>
            <p:cNvPr id="29" name="Rectangle 29"/>
            <p:cNvSpPr/>
            <p:nvPr/>
          </p:nvSpPr>
          <p:spPr>
            <a:xfrm>
              <a:off x="533400" y="4178618"/>
              <a:ext cx="4977765" cy="1511618"/>
            </a:xfrm>
            <a:prstGeom prst="roundRect">
              <a:avLst>
                <a:gd name="adj" fmla="val 8822"/>
              </a:avLst>
            </a:prstGeom>
            <a:solidFill>
              <a:srgbClr val="FFFFFF"/>
            </a:solidFill>
            <a:ln w="14288">
              <a:solidFill>
                <a:srgbClr val="D9DFEA"/>
              </a:solidFill>
            </a:ln>
          </p:spPr>
        </p:sp>
        <p:sp>
          <p:nvSpPr>
            <p:cNvPr id="30" name="Rectangle 30"/>
            <p:cNvSpPr/>
            <p:nvPr/>
          </p:nvSpPr>
          <p:spPr>
            <a:xfrm>
              <a:off x="542925" y="4311968"/>
              <a:ext cx="47625" cy="1244918"/>
            </a:xfrm>
            <a:prstGeom prst="roundRect">
              <a:avLst>
                <a:gd name="adj" fmla="val 50000"/>
              </a:avLst>
            </a:prstGeom>
            <a:solidFill>
              <a:srgbClr val="14A38B"/>
            </a:solidFill>
            <a:ln>
              <a:noFill/>
            </a:ln>
          </p:spPr>
        </p:sp>
        <p:sp>
          <p:nvSpPr>
            <p:cNvPr id="31" name="Rectangle 31"/>
            <p:cNvSpPr/>
            <p:nvPr/>
          </p:nvSpPr>
          <p:spPr>
            <a:xfrm>
              <a:off x="763905" y="4371022"/>
              <a:ext cx="2289810" cy="247650"/>
            </a:xfrm>
            <a:prstGeom prst="roundRect">
              <a:avLst>
                <a:gd name="adj" fmla="val 50000"/>
              </a:avLst>
            </a:prstGeom>
            <a:solidFill>
              <a:srgbClr val="E3F5F1"/>
            </a:solidFill>
            <a:ln>
              <a:noFill/>
            </a:ln>
          </p:spPr>
        </p:sp>
        <p:sp>
          <p:nvSpPr>
            <p:cNvPr id="32" name="TextBox 32"/>
            <p:cNvSpPr txBox="1"/>
            <p:nvPr/>
          </p:nvSpPr>
          <p:spPr>
            <a:xfrm>
              <a:off x="794671" y="4405312"/>
              <a:ext cx="2228279"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例：测 Java 的 Math.abs(int x)</a:t>
              </a:r>
            </a:p>
          </p:txBody>
        </p:sp>
        <p:sp>
          <p:nvSpPr>
            <p:cNvPr id="33" name="Ellipse 33"/>
            <p:cNvSpPr/>
            <p:nvPr/>
          </p:nvSpPr>
          <p:spPr>
            <a:xfrm>
              <a:off x="772478" y="4783455"/>
              <a:ext cx="59055" cy="59055"/>
            </a:xfrm>
            <a:prstGeom prst="ellipse">
              <a:avLst/>
            </a:prstGeom>
            <a:solidFill>
              <a:srgbClr val="334E68"/>
            </a:solidFill>
            <a:ln>
              <a:noFill/>
            </a:ln>
          </p:spPr>
        </p:sp>
        <p:sp>
          <p:nvSpPr>
            <p:cNvPr id="34" name="TextBox 34"/>
            <p:cNvSpPr txBox="1"/>
            <p:nvPr/>
          </p:nvSpPr>
          <p:spPr>
            <a:xfrm>
              <a:off x="928497" y="4727258"/>
              <a:ext cx="263072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x = 5 得 5，通过，没发现新错误</a:t>
              </a:r>
            </a:p>
          </p:txBody>
        </p:sp>
        <p:sp>
          <p:nvSpPr>
            <p:cNvPr id="35" name="Ellipse 35"/>
            <p:cNvSpPr/>
            <p:nvPr/>
          </p:nvSpPr>
          <p:spPr>
            <a:xfrm>
              <a:off x="772478" y="5086350"/>
              <a:ext cx="59055" cy="59055"/>
            </a:xfrm>
            <a:prstGeom prst="ellipse">
              <a:avLst/>
            </a:prstGeom>
            <a:solidFill>
              <a:srgbClr val="334E68"/>
            </a:solidFill>
            <a:ln>
              <a:noFill/>
            </a:ln>
          </p:spPr>
        </p:sp>
        <p:sp>
          <p:nvSpPr>
            <p:cNvPr id="36" name="TextBox 36"/>
            <p:cNvSpPr txBox="1"/>
            <p:nvPr/>
          </p:nvSpPr>
          <p:spPr>
            <a:xfrm>
              <a:off x="928497" y="5030152"/>
              <a:ext cx="411994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x = −2³¹ 得到的仍是 −2³¹，暴露补码溢出。按 Myers</a:t>
              </a:r>
              <a:br/>
              <a:r>
                <a:rPr lang="zh-CN" sz="1350" dirty="0">
                  <a:solidFill>
                    <a:srgbClr val="1F2937"/>
                  </a:solidFill>
                  <a:latin typeface="+mn-lt"/>
                  <a:ea typeface="+mn-ea"/>
                  <a:cs typeface="+mn-cs"/>
                </a:rPr>
                <a:t>的定义，这条才是成功的用例</a:t>
              </a:r>
            </a:p>
          </p:txBody>
        </p:sp>
      </p:grpSp>
      <p:grpSp>
        <p:nvGrpSpPr>
          <p:cNvPr id="57" name="c2-bullets-1"/>
          <p:cNvGrpSpPr/>
          <p:nvPr/>
        </p:nvGrpSpPr>
        <p:grpSpPr>
          <a:xfrm>
            <a:off x="5809107" y="1545907"/>
            <a:ext cx="5561362" cy="2397634"/>
            <a:chOff x="5809107" y="1545907"/>
            <a:chExt cx="5561362" cy="2397634"/>
          </a:xfrm>
        </p:grpSpPr>
        <p:sp>
          <p:nvSpPr>
            <p:cNvPr id="38" name="TextBox 38"/>
            <p:cNvSpPr txBox="1"/>
            <p:nvPr/>
          </p:nvSpPr>
          <p:spPr>
            <a:xfrm>
              <a:off x="5809107" y="1545907"/>
              <a:ext cx="1687059"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软件测试的 6 条准则</a:t>
              </a:r>
            </a:p>
          </p:txBody>
        </p:sp>
        <p:sp>
          <p:nvSpPr>
            <p:cNvPr id="39" name="Ellipse 39"/>
            <p:cNvSpPr/>
            <p:nvPr/>
          </p:nvSpPr>
          <p:spPr>
            <a:xfrm>
              <a:off x="5815012" y="1853565"/>
              <a:ext cx="192405" cy="192405"/>
            </a:xfrm>
            <a:prstGeom prst="ellipse">
              <a:avLst/>
            </a:prstGeom>
            <a:solidFill>
              <a:srgbClr val="334E68"/>
            </a:solidFill>
            <a:ln>
              <a:noFill/>
            </a:ln>
          </p:spPr>
        </p:sp>
        <p:sp>
          <p:nvSpPr>
            <p:cNvPr id="40" name="TextBox 40"/>
            <p:cNvSpPr txBox="1"/>
            <p:nvPr/>
          </p:nvSpPr>
          <p:spPr>
            <a:xfrm>
              <a:off x="5870691" y="189290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41" name="TextBox 41"/>
            <p:cNvSpPr txBox="1"/>
            <p:nvPr/>
          </p:nvSpPr>
          <p:spPr>
            <a:xfrm>
              <a:off x="6095810" y="1865947"/>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所有测试都应该能追溯到用户需求</a:t>
              </a:r>
            </a:p>
          </p:txBody>
        </p:sp>
        <p:sp>
          <p:nvSpPr>
            <p:cNvPr id="42" name="Ellipse 42"/>
            <p:cNvSpPr/>
            <p:nvPr/>
          </p:nvSpPr>
          <p:spPr>
            <a:xfrm>
              <a:off x="5815012" y="2165032"/>
              <a:ext cx="192405" cy="192405"/>
            </a:xfrm>
            <a:prstGeom prst="ellipse">
              <a:avLst/>
            </a:prstGeom>
            <a:solidFill>
              <a:srgbClr val="334E68"/>
            </a:solidFill>
            <a:ln>
              <a:noFill/>
            </a:ln>
          </p:spPr>
        </p:sp>
        <p:sp>
          <p:nvSpPr>
            <p:cNvPr id="43" name="TextBox 43"/>
            <p:cNvSpPr txBox="1"/>
            <p:nvPr/>
          </p:nvSpPr>
          <p:spPr>
            <a:xfrm>
              <a:off x="5870691" y="220341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44" name="TextBox 44"/>
            <p:cNvSpPr txBox="1"/>
            <p:nvPr/>
          </p:nvSpPr>
          <p:spPr>
            <a:xfrm>
              <a:off x="6095810" y="2177415"/>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应该远在测试开始之前就制定出测试计划</a:t>
              </a:r>
            </a:p>
          </p:txBody>
        </p:sp>
        <p:sp>
          <p:nvSpPr>
            <p:cNvPr id="45" name="Ellipse 45"/>
            <p:cNvSpPr/>
            <p:nvPr/>
          </p:nvSpPr>
          <p:spPr>
            <a:xfrm>
              <a:off x="5815012" y="2476500"/>
              <a:ext cx="192405" cy="192405"/>
            </a:xfrm>
            <a:prstGeom prst="ellipse">
              <a:avLst/>
            </a:prstGeom>
            <a:solidFill>
              <a:srgbClr val="334E68"/>
            </a:solidFill>
            <a:ln>
              <a:noFill/>
            </a:ln>
          </p:spPr>
        </p:sp>
        <p:sp>
          <p:nvSpPr>
            <p:cNvPr id="46" name="TextBox 46"/>
            <p:cNvSpPr txBox="1"/>
            <p:nvPr/>
          </p:nvSpPr>
          <p:spPr>
            <a:xfrm>
              <a:off x="5870691" y="251488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47" name="TextBox 47"/>
            <p:cNvSpPr txBox="1"/>
            <p:nvPr/>
          </p:nvSpPr>
          <p:spPr>
            <a:xfrm>
              <a:off x="6095810" y="2488882"/>
              <a:ext cx="5274659"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把 Pareto 原理用到测试中：发现的错误里 </a:t>
              </a:r>
              <a:r>
                <a:rPr lang="zh-CN" sz="1350" b="1" dirty="0">
                  <a:solidFill>
                    <a:srgbClr val="C2410C"/>
                  </a:solidFill>
                  <a:latin typeface="+mn-lt"/>
                  <a:ea typeface="+mn-ea"/>
                  <a:cs typeface="+mn-cs"/>
                </a:rPr>
                <a:t>80%</a:t>
              </a:r>
              <a:r>
                <a:rPr lang="zh-CN" sz="1350" dirty="0">
                  <a:solidFill>
                    <a:srgbClr val="1F2937"/>
                  </a:solidFill>
                  <a:latin typeface="+mn-lt"/>
                  <a:ea typeface="+mn-ea"/>
                  <a:cs typeface="+mn-cs"/>
                </a:rPr>
                <a:t xml:space="preserve"> 很可能是程序中 </a:t>
              </a:r>
              <a:r>
                <a:rPr lang="zh-CN" sz="1350" b="1" dirty="0">
                  <a:solidFill>
                    <a:srgbClr val="C2410C"/>
                  </a:solidFill>
                  <a:latin typeface="+mn-lt"/>
                  <a:ea typeface="+mn-ea"/>
                  <a:cs typeface="+mn-cs"/>
                </a:rPr>
                <a:t>20%</a:t>
              </a:r>
              <a:br/>
              <a:r>
                <a:rPr lang="zh-CN" sz="1350" dirty="0">
                  <a:solidFill>
                    <a:srgbClr val="1F2937"/>
                  </a:solidFill>
                  <a:latin typeface="+mn-lt"/>
                  <a:ea typeface="+mn-ea"/>
                  <a:cs typeface="+mn-cs"/>
                </a:rPr>
                <a:t>的模块造成的</a:t>
              </a:r>
            </a:p>
          </p:txBody>
        </p:sp>
        <p:sp>
          <p:nvSpPr>
            <p:cNvPr id="48" name="Ellipse 48"/>
            <p:cNvSpPr/>
            <p:nvPr/>
          </p:nvSpPr>
          <p:spPr>
            <a:xfrm>
              <a:off x="5815012" y="3044190"/>
              <a:ext cx="192405" cy="192405"/>
            </a:xfrm>
            <a:prstGeom prst="ellipse">
              <a:avLst/>
            </a:prstGeom>
            <a:solidFill>
              <a:srgbClr val="334E68"/>
            </a:solidFill>
            <a:ln>
              <a:noFill/>
            </a:ln>
          </p:spPr>
        </p:sp>
        <p:sp>
          <p:nvSpPr>
            <p:cNvPr id="49" name="TextBox 49"/>
            <p:cNvSpPr txBox="1"/>
            <p:nvPr/>
          </p:nvSpPr>
          <p:spPr>
            <a:xfrm>
              <a:off x="5870691" y="308352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50" name="TextBox 50"/>
            <p:cNvSpPr txBox="1"/>
            <p:nvPr/>
          </p:nvSpPr>
          <p:spPr>
            <a:xfrm>
              <a:off x="6095810" y="3056572"/>
              <a:ext cx="404827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应该从“小规模”测试开始，逐步进行“大规模”测试</a:t>
              </a:r>
            </a:p>
          </p:txBody>
        </p:sp>
        <p:sp>
          <p:nvSpPr>
            <p:cNvPr id="51" name="Ellipse 51"/>
            <p:cNvSpPr/>
            <p:nvPr/>
          </p:nvSpPr>
          <p:spPr>
            <a:xfrm>
              <a:off x="5815012" y="3355657"/>
              <a:ext cx="192405" cy="192405"/>
            </a:xfrm>
            <a:prstGeom prst="ellipse">
              <a:avLst/>
            </a:prstGeom>
            <a:solidFill>
              <a:srgbClr val="334E68"/>
            </a:solidFill>
            <a:ln>
              <a:noFill/>
            </a:ln>
          </p:spPr>
        </p:sp>
        <p:sp>
          <p:nvSpPr>
            <p:cNvPr id="52" name="TextBox 52"/>
            <p:cNvSpPr txBox="1"/>
            <p:nvPr/>
          </p:nvSpPr>
          <p:spPr>
            <a:xfrm>
              <a:off x="5870691" y="339404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53" name="TextBox 53"/>
            <p:cNvSpPr txBox="1"/>
            <p:nvPr/>
          </p:nvSpPr>
          <p:spPr>
            <a:xfrm>
              <a:off x="6095810" y="3368040"/>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穷举测试是不可能的</a:t>
              </a:r>
            </a:p>
          </p:txBody>
        </p:sp>
        <p:sp>
          <p:nvSpPr>
            <p:cNvPr id="54" name="Ellipse 54"/>
            <p:cNvSpPr/>
            <p:nvPr/>
          </p:nvSpPr>
          <p:spPr>
            <a:xfrm>
              <a:off x="5815012" y="3667125"/>
              <a:ext cx="192405" cy="192405"/>
            </a:xfrm>
            <a:prstGeom prst="ellipse">
              <a:avLst/>
            </a:prstGeom>
            <a:solidFill>
              <a:srgbClr val="334E68"/>
            </a:solidFill>
            <a:ln>
              <a:noFill/>
            </a:ln>
          </p:spPr>
        </p:sp>
        <p:sp>
          <p:nvSpPr>
            <p:cNvPr id="55" name="TextBox 55"/>
            <p:cNvSpPr txBox="1"/>
            <p:nvPr/>
          </p:nvSpPr>
          <p:spPr>
            <a:xfrm>
              <a:off x="5870691" y="370551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6</a:t>
              </a:r>
            </a:p>
          </p:txBody>
        </p:sp>
        <p:sp>
          <p:nvSpPr>
            <p:cNvPr id="56" name="TextBox 56"/>
            <p:cNvSpPr txBox="1"/>
            <p:nvPr/>
          </p:nvSpPr>
          <p:spPr>
            <a:xfrm>
              <a:off x="6095810" y="3679508"/>
              <a:ext cx="492061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为了达到最佳的测试效果，应该由独立的第三方从事测试工作</a:t>
              </a:r>
            </a:p>
          </p:txBody>
        </p:sp>
      </p:grpSp>
      <p:grpSp>
        <p:nvGrpSpPr>
          <p:cNvPr id="72" name="c2-table-2"/>
          <p:cNvGrpSpPr/>
          <p:nvPr/>
        </p:nvGrpSpPr>
        <p:grpSpPr>
          <a:xfrm>
            <a:off x="5815965" y="4065270"/>
            <a:ext cx="5842635" cy="1623060"/>
            <a:chOff x="5815965" y="4065270"/>
            <a:chExt cx="5842635" cy="1623060"/>
          </a:xfrm>
        </p:grpSpPr>
        <p:sp>
          <p:nvSpPr>
            <p:cNvPr id="58" name="Rectangle 58"/>
            <p:cNvSpPr/>
            <p:nvPr/>
          </p:nvSpPr>
          <p:spPr>
            <a:xfrm>
              <a:off x="5815965" y="4065270"/>
              <a:ext cx="5842635" cy="405765"/>
            </a:xfrm>
            <a:prstGeom prst="rect">
              <a:avLst/>
            </a:prstGeom>
            <a:solidFill>
              <a:srgbClr val="334E68"/>
            </a:solidFill>
            <a:ln>
              <a:noFill/>
            </a:ln>
          </p:spPr>
        </p:sp>
        <p:sp>
          <p:nvSpPr>
            <p:cNvPr id="59" name="TextBox 59"/>
            <p:cNvSpPr txBox="1"/>
            <p:nvPr/>
          </p:nvSpPr>
          <p:spPr>
            <a:xfrm>
              <a:off x="6301461" y="418957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准则</a:t>
              </a:r>
            </a:p>
          </p:txBody>
        </p:sp>
        <p:sp>
          <p:nvSpPr>
            <p:cNvPr id="60" name="TextBox 60"/>
            <p:cNvSpPr txBox="1"/>
            <p:nvPr/>
          </p:nvSpPr>
          <p:spPr>
            <a:xfrm>
              <a:off x="8997569" y="4189571"/>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落到做法上</a:t>
              </a:r>
            </a:p>
          </p:txBody>
        </p:sp>
        <p:sp>
          <p:nvSpPr>
            <p:cNvPr id="61" name="TextBox 61"/>
            <p:cNvSpPr txBox="1"/>
            <p:nvPr/>
          </p:nvSpPr>
          <p:spPr>
            <a:xfrm>
              <a:off x="5915978" y="4595336"/>
              <a:ext cx="49503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第 1 条</a:t>
              </a:r>
            </a:p>
          </p:txBody>
        </p:sp>
        <p:sp>
          <p:nvSpPr>
            <p:cNvPr id="62" name="TextBox 62"/>
            <p:cNvSpPr txBox="1"/>
            <p:nvPr/>
          </p:nvSpPr>
          <p:spPr>
            <a:xfrm>
              <a:off x="7200900" y="4595336"/>
              <a:ext cx="317769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用例注明对应的需求，需求改了就知道重跑哪些</a:t>
              </a:r>
            </a:p>
          </p:txBody>
        </p:sp>
        <p:sp>
          <p:nvSpPr>
            <p:cNvPr id="63" name="Rectangle 63"/>
            <p:cNvSpPr/>
            <p:nvPr/>
          </p:nvSpPr>
          <p:spPr>
            <a:xfrm>
              <a:off x="5815965" y="4872038"/>
              <a:ext cx="5842635" cy="9525"/>
            </a:xfrm>
            <a:prstGeom prst="rect">
              <a:avLst/>
            </a:prstGeom>
            <a:solidFill>
              <a:srgbClr val="D9DFEA"/>
            </a:solidFill>
            <a:ln>
              <a:noFill/>
            </a:ln>
          </p:spPr>
        </p:sp>
        <p:sp>
          <p:nvSpPr>
            <p:cNvPr id="64" name="Rectangle 64"/>
            <p:cNvSpPr/>
            <p:nvPr/>
          </p:nvSpPr>
          <p:spPr>
            <a:xfrm>
              <a:off x="5815965" y="4876800"/>
              <a:ext cx="5842635" cy="405765"/>
            </a:xfrm>
            <a:prstGeom prst="rect">
              <a:avLst/>
            </a:prstGeom>
            <a:solidFill>
              <a:srgbClr val="F4F6FB"/>
            </a:solidFill>
            <a:ln>
              <a:noFill/>
            </a:ln>
          </p:spPr>
        </p:sp>
        <p:sp>
          <p:nvSpPr>
            <p:cNvPr id="65" name="TextBox 65"/>
            <p:cNvSpPr txBox="1"/>
            <p:nvPr/>
          </p:nvSpPr>
          <p:spPr>
            <a:xfrm>
              <a:off x="5915978" y="5001101"/>
              <a:ext cx="49503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第 3 条</a:t>
              </a:r>
            </a:p>
          </p:txBody>
        </p:sp>
        <p:sp>
          <p:nvSpPr>
            <p:cNvPr id="66" name="TextBox 66"/>
            <p:cNvSpPr txBox="1"/>
            <p:nvPr/>
          </p:nvSpPr>
          <p:spPr>
            <a:xfrm>
              <a:off x="7200900" y="5001101"/>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已查出错误多的模块，再多安排用例</a:t>
              </a:r>
            </a:p>
          </p:txBody>
        </p:sp>
        <p:sp>
          <p:nvSpPr>
            <p:cNvPr id="67" name="Rectangle 67"/>
            <p:cNvSpPr/>
            <p:nvPr/>
          </p:nvSpPr>
          <p:spPr>
            <a:xfrm>
              <a:off x="5815965" y="5277802"/>
              <a:ext cx="5842635" cy="9525"/>
            </a:xfrm>
            <a:prstGeom prst="rect">
              <a:avLst/>
            </a:prstGeom>
            <a:solidFill>
              <a:srgbClr val="D9DFEA"/>
            </a:solidFill>
            <a:ln>
              <a:noFill/>
            </a:ln>
          </p:spPr>
        </p:sp>
        <p:sp>
          <p:nvSpPr>
            <p:cNvPr id="68" name="TextBox 68"/>
            <p:cNvSpPr txBox="1"/>
            <p:nvPr/>
          </p:nvSpPr>
          <p:spPr>
            <a:xfrm>
              <a:off x="5915978" y="5406866"/>
              <a:ext cx="49503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第 6 条</a:t>
              </a:r>
            </a:p>
          </p:txBody>
        </p:sp>
        <p:sp>
          <p:nvSpPr>
            <p:cNvPr id="69" name="TextBox 69"/>
            <p:cNvSpPr txBox="1"/>
            <p:nvPr/>
          </p:nvSpPr>
          <p:spPr>
            <a:xfrm>
              <a:off x="7200900" y="5406866"/>
              <a:ext cx="317769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开发者不愿否定自己的程序，自测常绕开薄弱处</a:t>
              </a:r>
            </a:p>
          </p:txBody>
        </p:sp>
        <p:sp>
          <p:nvSpPr>
            <p:cNvPr id="70" name="Rectangle 70"/>
            <p:cNvSpPr/>
            <p:nvPr/>
          </p:nvSpPr>
          <p:spPr>
            <a:xfrm>
              <a:off x="5815965" y="4065270"/>
              <a:ext cx="5842635" cy="1623060"/>
            </a:xfrm>
            <a:prstGeom prst="rect">
              <a:avLst/>
            </a:prstGeom>
            <a:noFill/>
            <a:ln w="14288">
              <a:solidFill>
                <a:srgbClr val="D9DFEA"/>
              </a:solidFill>
            </a:ln>
          </p:spPr>
        </p:sp>
        <p:sp>
          <p:nvSpPr>
            <p:cNvPr id="71" name="Rectangle 71"/>
            <p:cNvSpPr/>
            <p:nvPr/>
          </p:nvSpPr>
          <p:spPr>
            <a:xfrm>
              <a:off x="7096125" y="4065270"/>
              <a:ext cx="9525" cy="1623060"/>
            </a:xfrm>
            <a:prstGeom prst="rect">
              <a:avLst/>
            </a:prstGeom>
            <a:solidFill>
              <a:srgbClr val="D9DFEA"/>
            </a:solidFill>
            <a:ln>
              <a:noFill/>
            </a:ln>
          </p:spPr>
        </p:sp>
      </p:grpSp>
      <p:grpSp>
        <p:nvGrpSpPr>
          <p:cNvPr id="78" name="takeaway"/>
          <p:cNvGrpSpPr/>
          <p:nvPr/>
        </p:nvGrpSpPr>
        <p:grpSpPr>
          <a:xfrm>
            <a:off x="533400" y="5874068"/>
            <a:ext cx="11125200" cy="488632"/>
            <a:chOff x="533400" y="5874068"/>
            <a:chExt cx="11125200" cy="488632"/>
          </a:xfrm>
        </p:grpSpPr>
        <p:sp>
          <p:nvSpPr>
            <p:cNvPr id="73" name="Rectangle 73"/>
            <p:cNvSpPr/>
            <p:nvPr/>
          </p:nvSpPr>
          <p:spPr>
            <a:xfrm>
              <a:off x="533400" y="5874068"/>
              <a:ext cx="11125200" cy="488632"/>
            </a:xfrm>
            <a:prstGeom prst="roundRect">
              <a:avLst>
                <a:gd name="adj" fmla="val 23392"/>
              </a:avLst>
            </a:prstGeom>
            <a:solidFill>
              <a:srgbClr val="334E68"/>
            </a:solidFill>
            <a:ln>
              <a:noFill/>
            </a:ln>
          </p:spPr>
        </p:sp>
        <p:grpSp>
          <p:nvGrpSpPr>
            <p:cNvPr id="76" name="Group 76"/>
            <p:cNvGrpSpPr/>
            <p:nvPr/>
          </p:nvGrpSpPr>
          <p:grpSpPr>
            <a:xfrm>
              <a:off x="738188" y="6017897"/>
              <a:ext cx="200023" cy="200023"/>
              <a:chOff x="738188" y="6017897"/>
              <a:chExt cx="200023" cy="200023"/>
            </a:xfrm>
          </p:grpSpPr>
          <p:sp>
            <p:nvSpPr>
              <p:cNvPr id="74" name="Freeform 74"/>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5" name="Freeform 75"/>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7" name="TextBox 77"/>
            <p:cNvSpPr txBox="1"/>
            <p:nvPr/>
          </p:nvSpPr>
          <p:spPr>
            <a:xfrm>
              <a:off x="1040892" y="6023610"/>
              <a:ext cx="71378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测试是“证伪”活动。写用例时先问“这条用例打算逼出哪一类错误”，再问它能不能通过。</a:t>
              </a:r>
            </a:p>
          </p:txBody>
        </p:sp>
      </p:grpSp>
      <p:grpSp>
        <p:nvGrpSpPr>
          <p:cNvPr id="81" name="footer"/>
          <p:cNvGrpSpPr/>
          <p:nvPr/>
        </p:nvGrpSpPr>
        <p:grpSpPr>
          <a:xfrm>
            <a:off x="528447" y="6581299"/>
            <a:ext cx="11135106" cy="190690"/>
            <a:chOff x="528447" y="6581299"/>
            <a:chExt cx="11135106" cy="190690"/>
          </a:xfrm>
        </p:grpSpPr>
        <p:sp>
          <p:nvSpPr>
            <p:cNvPr id="79" name="TextBox 79"/>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0" name="TextBox 8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软件测试基础</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黑盒看功能，白盒看结构，两者互为补充</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1" name="c1-compare-1"/>
          <p:cNvGrpSpPr/>
          <p:nvPr/>
        </p:nvGrpSpPr>
        <p:grpSpPr>
          <a:xfrm>
            <a:off x="533400" y="1524000"/>
            <a:ext cx="5842636" cy="2466975"/>
            <a:chOff x="533400" y="1524000"/>
            <a:chExt cx="5842636" cy="2466975"/>
          </a:xfrm>
        </p:grpSpPr>
        <p:sp>
          <p:nvSpPr>
            <p:cNvPr id="7" name="Rectangle 7"/>
            <p:cNvSpPr/>
            <p:nvPr/>
          </p:nvSpPr>
          <p:spPr>
            <a:xfrm>
              <a:off x="533400" y="1524000"/>
              <a:ext cx="2711768" cy="2466975"/>
            </a:xfrm>
            <a:prstGeom prst="roundRect">
              <a:avLst>
                <a:gd name="adj" fmla="val 5405"/>
              </a:avLst>
            </a:prstGeom>
            <a:solidFill>
              <a:srgbClr val="FFFFFF"/>
            </a:solidFill>
            <a:ln w="14288">
              <a:solidFill>
                <a:srgbClr val="D9DFEA"/>
              </a:solidFill>
            </a:ln>
          </p:spPr>
        </p:sp>
        <p:sp>
          <p:nvSpPr>
            <p:cNvPr id="8" name="Rectangle 8"/>
            <p:cNvSpPr/>
            <p:nvPr/>
          </p:nvSpPr>
          <p:spPr>
            <a:xfrm>
              <a:off x="542925" y="1657350"/>
              <a:ext cx="47625" cy="2200275"/>
            </a:xfrm>
            <a:prstGeom prst="roundRect">
              <a:avLst>
                <a:gd name="adj" fmla="val 50000"/>
              </a:avLst>
            </a:prstGeom>
            <a:solidFill>
              <a:srgbClr val="334E68"/>
            </a:solidFill>
            <a:ln>
              <a:noFill/>
            </a:ln>
          </p:spPr>
        </p:sp>
        <p:sp>
          <p:nvSpPr>
            <p:cNvPr id="9" name="TextBox 9"/>
            <p:cNvSpPr txBox="1"/>
            <p:nvPr/>
          </p:nvSpPr>
          <p:spPr>
            <a:xfrm>
              <a:off x="745998" y="172640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黑盒测试</a:t>
              </a:r>
            </a:p>
          </p:txBody>
        </p:sp>
        <p:sp>
          <p:nvSpPr>
            <p:cNvPr id="10" name="Ellipse 10"/>
            <p:cNvSpPr/>
            <p:nvPr/>
          </p:nvSpPr>
          <p:spPr>
            <a:xfrm>
              <a:off x="762000" y="2079308"/>
              <a:ext cx="57150" cy="57150"/>
            </a:xfrm>
            <a:prstGeom prst="ellipse">
              <a:avLst/>
            </a:prstGeom>
            <a:solidFill>
              <a:srgbClr val="334E68"/>
            </a:solidFill>
            <a:ln>
              <a:noFill/>
            </a:ln>
          </p:spPr>
        </p:sp>
        <p:sp>
          <p:nvSpPr>
            <p:cNvPr id="11" name="TextBox 11"/>
            <p:cNvSpPr txBox="1"/>
            <p:nvPr/>
          </p:nvSpPr>
          <p:spPr>
            <a:xfrm>
              <a:off x="917448" y="2027396"/>
              <a:ext cx="20807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把测试对象看做一个黑盒子</a:t>
              </a:r>
            </a:p>
          </p:txBody>
        </p:sp>
        <p:sp>
          <p:nvSpPr>
            <p:cNvPr id="12" name="Ellipse 12"/>
            <p:cNvSpPr/>
            <p:nvPr/>
          </p:nvSpPr>
          <p:spPr>
            <a:xfrm>
              <a:off x="762000" y="2365058"/>
              <a:ext cx="57150" cy="57150"/>
            </a:xfrm>
            <a:prstGeom prst="ellipse">
              <a:avLst/>
            </a:prstGeom>
            <a:solidFill>
              <a:srgbClr val="334E68"/>
            </a:solidFill>
            <a:ln>
              <a:noFill/>
            </a:ln>
          </p:spPr>
        </p:sp>
        <p:sp>
          <p:nvSpPr>
            <p:cNvPr id="13" name="TextBox 13"/>
            <p:cNvSpPr txBox="1"/>
            <p:nvPr/>
          </p:nvSpPr>
          <p:spPr>
            <a:xfrm>
              <a:off x="917448" y="2312194"/>
              <a:ext cx="19636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不考虑内部逻辑结构，只依</a:t>
              </a:r>
              <a:br/>
              <a:r>
                <a:rPr lang="zh-CN" sz="1280" dirty="0">
                  <a:solidFill>
                    <a:srgbClr val="1F2937"/>
                  </a:solidFill>
                  <a:latin typeface="+mn-lt"/>
                  <a:ea typeface="+mn-ea"/>
                  <a:cs typeface="+mn-cs"/>
                </a:rPr>
                <a:t>据需求规格说明书检查功能</a:t>
              </a:r>
            </a:p>
          </p:txBody>
        </p:sp>
        <p:sp>
          <p:nvSpPr>
            <p:cNvPr id="14" name="Ellipse 14"/>
            <p:cNvSpPr/>
            <p:nvPr/>
          </p:nvSpPr>
          <p:spPr>
            <a:xfrm>
              <a:off x="762000" y="2892742"/>
              <a:ext cx="57150" cy="57150"/>
            </a:xfrm>
            <a:prstGeom prst="ellipse">
              <a:avLst/>
            </a:prstGeom>
            <a:solidFill>
              <a:srgbClr val="334E68"/>
            </a:solidFill>
            <a:ln>
              <a:noFill/>
            </a:ln>
          </p:spPr>
        </p:sp>
        <p:sp>
          <p:nvSpPr>
            <p:cNvPr id="15" name="TextBox 15"/>
            <p:cNvSpPr txBox="1"/>
            <p:nvPr/>
          </p:nvSpPr>
          <p:spPr>
            <a:xfrm>
              <a:off x="917448" y="2839879"/>
              <a:ext cx="19636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又叫功能测试或数据驱动测</a:t>
              </a:r>
              <a:br/>
              <a:r>
                <a:rPr lang="zh-CN" sz="1280" dirty="0">
                  <a:solidFill>
                    <a:srgbClr val="1F2937"/>
                  </a:solidFill>
                  <a:latin typeface="+mn-lt"/>
                  <a:ea typeface="+mn-ea"/>
                  <a:cs typeface="+mn-cs"/>
                </a:rPr>
                <a:t>试</a:t>
              </a:r>
            </a:p>
          </p:txBody>
        </p:sp>
        <p:sp>
          <p:nvSpPr>
            <p:cNvPr id="16" name="Ellipse 16"/>
            <p:cNvSpPr/>
            <p:nvPr/>
          </p:nvSpPr>
          <p:spPr>
            <a:xfrm>
              <a:off x="762000" y="3420428"/>
              <a:ext cx="57150" cy="57150"/>
            </a:xfrm>
            <a:prstGeom prst="ellipse">
              <a:avLst/>
            </a:prstGeom>
            <a:solidFill>
              <a:srgbClr val="334E68"/>
            </a:solidFill>
            <a:ln>
              <a:noFill/>
            </a:ln>
          </p:spPr>
        </p:sp>
        <p:sp>
          <p:nvSpPr>
            <p:cNvPr id="17" name="TextBox 17"/>
            <p:cNvSpPr txBox="1"/>
            <p:nvPr/>
          </p:nvSpPr>
          <p:spPr>
            <a:xfrm>
              <a:off x="917448" y="3367564"/>
              <a:ext cx="1908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主要用于测试过程的后期</a:t>
              </a:r>
            </a:p>
          </p:txBody>
        </p:sp>
        <p:sp>
          <p:nvSpPr>
            <p:cNvPr id="18" name="Rectangle 18"/>
            <p:cNvSpPr/>
            <p:nvPr/>
          </p:nvSpPr>
          <p:spPr>
            <a:xfrm>
              <a:off x="3664268" y="1524000"/>
              <a:ext cx="2711768" cy="2466975"/>
            </a:xfrm>
            <a:prstGeom prst="roundRect">
              <a:avLst>
                <a:gd name="adj" fmla="val 5405"/>
              </a:avLst>
            </a:prstGeom>
            <a:solidFill>
              <a:srgbClr val="FFFFFF"/>
            </a:solidFill>
            <a:ln w="14288">
              <a:solidFill>
                <a:srgbClr val="D9DFEA"/>
              </a:solidFill>
            </a:ln>
          </p:spPr>
        </p:sp>
        <p:sp>
          <p:nvSpPr>
            <p:cNvPr id="19" name="Rectangle 19"/>
            <p:cNvSpPr/>
            <p:nvPr/>
          </p:nvSpPr>
          <p:spPr>
            <a:xfrm>
              <a:off x="3673792" y="1657350"/>
              <a:ext cx="47625" cy="2200275"/>
            </a:xfrm>
            <a:prstGeom prst="roundRect">
              <a:avLst>
                <a:gd name="adj" fmla="val 50000"/>
              </a:avLst>
            </a:prstGeom>
            <a:solidFill>
              <a:srgbClr val="334E68"/>
            </a:solidFill>
            <a:ln>
              <a:noFill/>
            </a:ln>
          </p:spPr>
        </p:sp>
        <p:sp>
          <p:nvSpPr>
            <p:cNvPr id="20" name="TextBox 20"/>
            <p:cNvSpPr txBox="1"/>
            <p:nvPr/>
          </p:nvSpPr>
          <p:spPr>
            <a:xfrm>
              <a:off x="3876866" y="172640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白盒测试</a:t>
              </a:r>
            </a:p>
          </p:txBody>
        </p:sp>
        <p:sp>
          <p:nvSpPr>
            <p:cNvPr id="21" name="Ellipse 21"/>
            <p:cNvSpPr/>
            <p:nvPr/>
          </p:nvSpPr>
          <p:spPr>
            <a:xfrm>
              <a:off x="3892868" y="2079308"/>
              <a:ext cx="57150" cy="57150"/>
            </a:xfrm>
            <a:prstGeom prst="ellipse">
              <a:avLst/>
            </a:prstGeom>
            <a:solidFill>
              <a:srgbClr val="334E68"/>
            </a:solidFill>
            <a:ln>
              <a:noFill/>
            </a:ln>
          </p:spPr>
        </p:sp>
        <p:sp>
          <p:nvSpPr>
            <p:cNvPr id="22" name="TextBox 22"/>
            <p:cNvSpPr txBox="1"/>
            <p:nvPr/>
          </p:nvSpPr>
          <p:spPr>
            <a:xfrm>
              <a:off x="4048316" y="2027396"/>
              <a:ext cx="19636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把测试对象看做一个透明盒</a:t>
              </a:r>
              <a:br/>
              <a:r>
                <a:rPr lang="zh-CN" sz="1280" dirty="0">
                  <a:solidFill>
                    <a:srgbClr val="1F2937"/>
                  </a:solidFill>
                  <a:latin typeface="+mn-lt"/>
                  <a:ea typeface="+mn-ea"/>
                  <a:cs typeface="+mn-cs"/>
                </a:rPr>
                <a:t>子</a:t>
              </a:r>
            </a:p>
          </p:txBody>
        </p:sp>
        <p:sp>
          <p:nvSpPr>
            <p:cNvPr id="23" name="Ellipse 23"/>
            <p:cNvSpPr/>
            <p:nvPr/>
          </p:nvSpPr>
          <p:spPr>
            <a:xfrm>
              <a:off x="3892868" y="2607945"/>
              <a:ext cx="57150" cy="57150"/>
            </a:xfrm>
            <a:prstGeom prst="ellipse">
              <a:avLst/>
            </a:prstGeom>
            <a:solidFill>
              <a:srgbClr val="334E68"/>
            </a:solidFill>
            <a:ln>
              <a:noFill/>
            </a:ln>
          </p:spPr>
        </p:sp>
        <p:sp>
          <p:nvSpPr>
            <p:cNvPr id="24" name="TextBox 24"/>
            <p:cNvSpPr txBox="1"/>
            <p:nvPr/>
          </p:nvSpPr>
          <p:spPr>
            <a:xfrm>
              <a:off x="4048316" y="2555081"/>
              <a:ext cx="19636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利用内部逻辑结构设计用</a:t>
              </a:r>
              <a:br/>
              <a:r>
                <a:rPr lang="zh-CN" sz="1280" dirty="0">
                  <a:solidFill>
                    <a:srgbClr val="1F2937"/>
                  </a:solidFill>
                  <a:latin typeface="+mn-lt"/>
                  <a:ea typeface="+mn-ea"/>
                  <a:cs typeface="+mn-cs"/>
                </a:rPr>
                <a:t>例，在不同点检查程序状态</a:t>
              </a:r>
            </a:p>
          </p:txBody>
        </p:sp>
        <p:sp>
          <p:nvSpPr>
            <p:cNvPr id="25" name="Ellipse 25"/>
            <p:cNvSpPr/>
            <p:nvPr/>
          </p:nvSpPr>
          <p:spPr>
            <a:xfrm>
              <a:off x="3892868" y="3135630"/>
              <a:ext cx="57150" cy="57150"/>
            </a:xfrm>
            <a:prstGeom prst="ellipse">
              <a:avLst/>
            </a:prstGeom>
            <a:solidFill>
              <a:srgbClr val="334E68"/>
            </a:solidFill>
            <a:ln>
              <a:noFill/>
            </a:ln>
          </p:spPr>
        </p:sp>
        <p:sp>
          <p:nvSpPr>
            <p:cNvPr id="26" name="TextBox 26"/>
            <p:cNvSpPr txBox="1"/>
            <p:nvPr/>
          </p:nvSpPr>
          <p:spPr>
            <a:xfrm>
              <a:off x="4048316" y="3082766"/>
              <a:ext cx="196367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又叫结构测试、玻璃盒测试</a:t>
              </a:r>
              <a:br/>
              <a:r>
                <a:rPr lang="zh-CN" sz="1280" dirty="0">
                  <a:solidFill>
                    <a:srgbClr val="1F2937"/>
                  </a:solidFill>
                  <a:latin typeface="+mn-lt"/>
                  <a:ea typeface="+mn-ea"/>
                  <a:cs typeface="+mn-cs"/>
                </a:rPr>
                <a:t>或逻辑驱动测试</a:t>
              </a:r>
            </a:p>
          </p:txBody>
        </p:sp>
        <p:sp>
          <p:nvSpPr>
            <p:cNvPr id="27" name="Ellipse 27"/>
            <p:cNvSpPr/>
            <p:nvPr/>
          </p:nvSpPr>
          <p:spPr>
            <a:xfrm>
              <a:off x="3892868" y="3663315"/>
              <a:ext cx="57150" cy="57150"/>
            </a:xfrm>
            <a:prstGeom prst="ellipse">
              <a:avLst/>
            </a:prstGeom>
            <a:solidFill>
              <a:srgbClr val="334E68"/>
            </a:solidFill>
            <a:ln>
              <a:noFill/>
            </a:ln>
          </p:spPr>
        </p:sp>
        <p:sp>
          <p:nvSpPr>
            <p:cNvPr id="28" name="TextBox 28"/>
            <p:cNvSpPr txBox="1"/>
            <p:nvPr/>
          </p:nvSpPr>
          <p:spPr>
            <a:xfrm>
              <a:off x="4048316" y="3610451"/>
              <a:ext cx="20807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在测试过程的早期阶段进行</a:t>
              </a:r>
            </a:p>
          </p:txBody>
        </p:sp>
        <p:sp>
          <p:nvSpPr>
            <p:cNvPr id="29" name="Ellipse 29"/>
            <p:cNvSpPr/>
            <p:nvPr/>
          </p:nvSpPr>
          <p:spPr>
            <a:xfrm>
              <a:off x="3292792" y="2595562"/>
              <a:ext cx="323850" cy="323850"/>
            </a:xfrm>
            <a:prstGeom prst="ellipse">
              <a:avLst/>
            </a:prstGeom>
            <a:solidFill>
              <a:srgbClr val="F26B3A"/>
            </a:solidFill>
            <a:ln>
              <a:noFill/>
            </a:ln>
          </p:spPr>
        </p:sp>
        <p:sp>
          <p:nvSpPr>
            <p:cNvPr id="30" name="TextBox 30"/>
            <p:cNvSpPr txBox="1"/>
            <p:nvPr/>
          </p:nvSpPr>
          <p:spPr>
            <a:xfrm>
              <a:off x="3376026" y="2701290"/>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VS</a:t>
              </a:r>
            </a:p>
          </p:txBody>
        </p:sp>
      </p:grpSp>
      <p:grpSp>
        <p:nvGrpSpPr>
          <p:cNvPr id="43" name="c1-bullets-2"/>
          <p:cNvGrpSpPr/>
          <p:nvPr/>
        </p:nvGrpSpPr>
        <p:grpSpPr>
          <a:xfrm>
            <a:off x="526923" y="4177189"/>
            <a:ext cx="3010281" cy="1519332"/>
            <a:chOff x="526923" y="4177189"/>
            <a:chExt cx="3010281" cy="1519332"/>
          </a:xfrm>
        </p:grpSpPr>
        <p:sp>
          <p:nvSpPr>
            <p:cNvPr id="32" name="TextBox 32"/>
            <p:cNvSpPr txBox="1"/>
            <p:nvPr/>
          </p:nvSpPr>
          <p:spPr>
            <a:xfrm>
              <a:off x="526923" y="4177189"/>
              <a:ext cx="2597658"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黑盒测试在程序接口上要找的错误</a:t>
              </a:r>
            </a:p>
          </p:txBody>
        </p:sp>
        <p:sp>
          <p:nvSpPr>
            <p:cNvPr id="33" name="Ellipse 33"/>
            <p:cNvSpPr/>
            <p:nvPr/>
          </p:nvSpPr>
          <p:spPr>
            <a:xfrm>
              <a:off x="542925" y="4511992"/>
              <a:ext cx="57150" cy="57150"/>
            </a:xfrm>
            <a:prstGeom prst="ellipse">
              <a:avLst/>
            </a:prstGeom>
            <a:solidFill>
              <a:srgbClr val="334E68"/>
            </a:solidFill>
            <a:ln>
              <a:noFill/>
            </a:ln>
          </p:spPr>
        </p:sp>
        <p:sp>
          <p:nvSpPr>
            <p:cNvPr id="34" name="TextBox 34"/>
            <p:cNvSpPr txBox="1"/>
            <p:nvPr/>
          </p:nvSpPr>
          <p:spPr>
            <a:xfrm>
              <a:off x="699516" y="4473892"/>
              <a:ext cx="1848231"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是否有不正确或遗漏了的功能</a:t>
              </a:r>
            </a:p>
          </p:txBody>
        </p:sp>
        <p:sp>
          <p:nvSpPr>
            <p:cNvPr id="35" name="Ellipse 35"/>
            <p:cNvSpPr/>
            <p:nvPr/>
          </p:nvSpPr>
          <p:spPr>
            <a:xfrm>
              <a:off x="542925" y="4766310"/>
              <a:ext cx="57150" cy="57150"/>
            </a:xfrm>
            <a:prstGeom prst="ellipse">
              <a:avLst/>
            </a:prstGeom>
            <a:solidFill>
              <a:srgbClr val="334E68"/>
            </a:solidFill>
            <a:ln>
              <a:noFill/>
            </a:ln>
          </p:spPr>
        </p:sp>
        <p:sp>
          <p:nvSpPr>
            <p:cNvPr id="36" name="TextBox 36"/>
            <p:cNvSpPr txBox="1"/>
            <p:nvPr/>
          </p:nvSpPr>
          <p:spPr>
            <a:xfrm>
              <a:off x="699516" y="4728210"/>
              <a:ext cx="283768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接口上输入能否正确接受，能否输出正确结果</a:t>
              </a:r>
            </a:p>
          </p:txBody>
        </p:sp>
        <p:sp>
          <p:nvSpPr>
            <p:cNvPr id="37" name="Ellipse 37"/>
            <p:cNvSpPr/>
            <p:nvPr/>
          </p:nvSpPr>
          <p:spPr>
            <a:xfrm>
              <a:off x="542925" y="5020628"/>
              <a:ext cx="57150" cy="57150"/>
            </a:xfrm>
            <a:prstGeom prst="ellipse">
              <a:avLst/>
            </a:prstGeom>
            <a:solidFill>
              <a:srgbClr val="334E68"/>
            </a:solidFill>
            <a:ln>
              <a:noFill/>
            </a:ln>
          </p:spPr>
        </p:sp>
        <p:sp>
          <p:nvSpPr>
            <p:cNvPr id="38" name="TextBox 38"/>
            <p:cNvSpPr txBox="1"/>
            <p:nvPr/>
          </p:nvSpPr>
          <p:spPr>
            <a:xfrm>
              <a:off x="699516" y="4982528"/>
              <a:ext cx="255498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是否有数据结构错误或外部信息访问错误</a:t>
              </a:r>
            </a:p>
          </p:txBody>
        </p:sp>
        <p:sp>
          <p:nvSpPr>
            <p:cNvPr id="39" name="Ellipse 39"/>
            <p:cNvSpPr/>
            <p:nvPr/>
          </p:nvSpPr>
          <p:spPr>
            <a:xfrm>
              <a:off x="542925" y="5274945"/>
              <a:ext cx="57150" cy="57150"/>
            </a:xfrm>
            <a:prstGeom prst="ellipse">
              <a:avLst/>
            </a:prstGeom>
            <a:solidFill>
              <a:srgbClr val="334E68"/>
            </a:solidFill>
            <a:ln>
              <a:noFill/>
            </a:ln>
          </p:spPr>
        </p:sp>
        <p:sp>
          <p:nvSpPr>
            <p:cNvPr id="40" name="TextBox 40"/>
            <p:cNvSpPr txBox="1"/>
            <p:nvPr/>
          </p:nvSpPr>
          <p:spPr>
            <a:xfrm>
              <a:off x="699516" y="5236845"/>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性能上是否能够满足要求</a:t>
              </a:r>
            </a:p>
          </p:txBody>
        </p:sp>
        <p:sp>
          <p:nvSpPr>
            <p:cNvPr id="41" name="Ellipse 41"/>
            <p:cNvSpPr/>
            <p:nvPr/>
          </p:nvSpPr>
          <p:spPr>
            <a:xfrm>
              <a:off x="542925" y="5529262"/>
              <a:ext cx="57150" cy="57150"/>
            </a:xfrm>
            <a:prstGeom prst="ellipse">
              <a:avLst/>
            </a:prstGeom>
            <a:solidFill>
              <a:srgbClr val="334E68"/>
            </a:solidFill>
            <a:ln>
              <a:noFill/>
            </a:ln>
          </p:spPr>
        </p:sp>
        <p:sp>
          <p:nvSpPr>
            <p:cNvPr id="42" name="TextBox 42"/>
            <p:cNvSpPr txBox="1"/>
            <p:nvPr/>
          </p:nvSpPr>
          <p:spPr>
            <a:xfrm>
              <a:off x="699516" y="5491162"/>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是否有初始化或终止性错误</a:t>
              </a:r>
            </a:p>
          </p:txBody>
        </p:sp>
      </p:grpSp>
      <p:grpSp>
        <p:nvGrpSpPr>
          <p:cNvPr id="46" name="c2-image-1"/>
          <p:cNvGrpSpPr/>
          <p:nvPr/>
        </p:nvGrpSpPr>
        <p:grpSpPr>
          <a:xfrm>
            <a:off x="6680835" y="1524000"/>
            <a:ext cx="4977765" cy="2023776"/>
            <a:chOff x="6680835" y="1524000"/>
            <a:chExt cx="4977765" cy="2023776"/>
          </a:xfrm>
        </p:grpSpPr>
        <p:pic>
          <p:nvPicPr>
            <p:cNvPr id="44" name="Image 44"/>
            <p:cNvPicPr>
              <a:picLocks noChangeAspect="1"/>
            </p:cNvPicPr>
            <p:nvPr/>
          </p:nvPicPr>
          <p:blipFill>
            <a:blip r:embed="rId2"/>
            <a:srcRect l="0" t="26680" r="0" b="26681"/>
            <a:stretch>
              <a:fillRect/>
            </a:stretch>
          </p:blipFill>
          <p:spPr>
            <a:xfrm>
              <a:off x="6680835" y="1524000"/>
              <a:ext cx="4977765" cy="1741170"/>
            </a:xfrm>
            <a:prstGeom prst="roundRect">
              <a:avLst>
                <a:gd name="adj" fmla="val 7658"/>
              </a:avLst>
            </a:prstGeom>
          </p:spPr>
        </p:pic>
        <p:sp>
          <p:nvSpPr>
            <p:cNvPr id="45" name="TextBox 45"/>
            <p:cNvSpPr txBox="1"/>
            <p:nvPr/>
          </p:nvSpPr>
          <p:spPr>
            <a:xfrm>
              <a:off x="7581633" y="3357086"/>
              <a:ext cx="3176168"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同一台机器，一个只能看进出，一个能追到每一个齿轮</a:t>
              </a:r>
            </a:p>
          </p:txBody>
        </p:sp>
      </p:grpSp>
      <p:grpSp>
        <p:nvGrpSpPr>
          <p:cNvPr id="56" name="c2-bullets-2"/>
          <p:cNvGrpSpPr/>
          <p:nvPr/>
        </p:nvGrpSpPr>
        <p:grpSpPr>
          <a:xfrm>
            <a:off x="6674358" y="3714274"/>
            <a:ext cx="2586228" cy="1265015"/>
            <a:chOff x="6674358" y="3714274"/>
            <a:chExt cx="2586228" cy="1265015"/>
          </a:xfrm>
        </p:grpSpPr>
        <p:sp>
          <p:nvSpPr>
            <p:cNvPr id="47" name="TextBox 47"/>
            <p:cNvSpPr txBox="1"/>
            <p:nvPr/>
          </p:nvSpPr>
          <p:spPr>
            <a:xfrm>
              <a:off x="6674358" y="3714274"/>
              <a:ext cx="2080717"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白盒测试对模块的四项检查</a:t>
              </a:r>
            </a:p>
          </p:txBody>
        </p:sp>
        <p:sp>
          <p:nvSpPr>
            <p:cNvPr id="48" name="Ellipse 48"/>
            <p:cNvSpPr/>
            <p:nvPr/>
          </p:nvSpPr>
          <p:spPr>
            <a:xfrm>
              <a:off x="6690360" y="4050030"/>
              <a:ext cx="57150" cy="57150"/>
            </a:xfrm>
            <a:prstGeom prst="ellipse">
              <a:avLst/>
            </a:prstGeom>
            <a:solidFill>
              <a:srgbClr val="334E68"/>
            </a:solidFill>
            <a:ln>
              <a:noFill/>
            </a:ln>
          </p:spPr>
        </p:sp>
        <p:sp>
          <p:nvSpPr>
            <p:cNvPr id="49" name="TextBox 49"/>
            <p:cNvSpPr txBox="1"/>
            <p:nvPr/>
          </p:nvSpPr>
          <p:spPr>
            <a:xfrm>
              <a:off x="6846951" y="4011930"/>
              <a:ext cx="213093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所有独立的执行路径至少测试一次</a:t>
              </a:r>
            </a:p>
          </p:txBody>
        </p:sp>
        <p:sp>
          <p:nvSpPr>
            <p:cNvPr id="50" name="Ellipse 50"/>
            <p:cNvSpPr/>
            <p:nvPr/>
          </p:nvSpPr>
          <p:spPr>
            <a:xfrm>
              <a:off x="6690360" y="4304348"/>
              <a:ext cx="57150" cy="57150"/>
            </a:xfrm>
            <a:prstGeom prst="ellipse">
              <a:avLst/>
            </a:prstGeom>
            <a:solidFill>
              <a:srgbClr val="334E68"/>
            </a:solidFill>
            <a:ln>
              <a:noFill/>
            </a:ln>
          </p:spPr>
        </p:sp>
        <p:sp>
          <p:nvSpPr>
            <p:cNvPr id="51" name="TextBox 51"/>
            <p:cNvSpPr txBox="1"/>
            <p:nvPr/>
          </p:nvSpPr>
          <p:spPr>
            <a:xfrm>
              <a:off x="6846951" y="4266248"/>
              <a:ext cx="227228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所有逻辑判定取真和取假各至少一次</a:t>
              </a:r>
            </a:p>
          </p:txBody>
        </p:sp>
        <p:sp>
          <p:nvSpPr>
            <p:cNvPr id="52" name="Ellipse 52"/>
            <p:cNvSpPr/>
            <p:nvPr/>
          </p:nvSpPr>
          <p:spPr>
            <a:xfrm>
              <a:off x="6690360" y="4558665"/>
              <a:ext cx="57150" cy="57150"/>
            </a:xfrm>
            <a:prstGeom prst="ellipse">
              <a:avLst/>
            </a:prstGeom>
            <a:solidFill>
              <a:srgbClr val="334E68"/>
            </a:solidFill>
            <a:ln>
              <a:noFill/>
            </a:ln>
          </p:spPr>
        </p:sp>
        <p:sp>
          <p:nvSpPr>
            <p:cNvPr id="53" name="TextBox 53"/>
            <p:cNvSpPr txBox="1"/>
            <p:nvPr/>
          </p:nvSpPr>
          <p:spPr>
            <a:xfrm>
              <a:off x="6846951" y="4520565"/>
              <a:ext cx="2413635"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在循环的边界和运行界限内执行循环体</a:t>
              </a:r>
            </a:p>
          </p:txBody>
        </p:sp>
        <p:sp>
          <p:nvSpPr>
            <p:cNvPr id="54" name="Ellipse 54"/>
            <p:cNvSpPr/>
            <p:nvPr/>
          </p:nvSpPr>
          <p:spPr>
            <a:xfrm>
              <a:off x="6690360" y="4812030"/>
              <a:ext cx="57150" cy="57150"/>
            </a:xfrm>
            <a:prstGeom prst="ellipse">
              <a:avLst/>
            </a:prstGeom>
            <a:solidFill>
              <a:srgbClr val="334E68"/>
            </a:solidFill>
            <a:ln>
              <a:noFill/>
            </a:ln>
          </p:spPr>
        </p:sp>
        <p:sp>
          <p:nvSpPr>
            <p:cNvPr id="55" name="TextBox 55"/>
            <p:cNvSpPr txBox="1"/>
            <p:nvPr/>
          </p:nvSpPr>
          <p:spPr>
            <a:xfrm>
              <a:off x="6846951" y="4773930"/>
              <a:ext cx="170688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测试内部数据结构的有效性</a:t>
              </a:r>
            </a:p>
          </p:txBody>
        </p:sp>
      </p:grpSp>
      <p:grpSp>
        <p:nvGrpSpPr>
          <p:cNvPr id="62" name="c2-callout-3"/>
          <p:cNvGrpSpPr/>
          <p:nvPr/>
        </p:nvGrpSpPr>
        <p:grpSpPr>
          <a:xfrm>
            <a:off x="6680835" y="5103495"/>
            <a:ext cx="4977765" cy="552450"/>
            <a:chOff x="6680835" y="5103495"/>
            <a:chExt cx="4977765" cy="552450"/>
          </a:xfrm>
        </p:grpSpPr>
        <p:sp>
          <p:nvSpPr>
            <p:cNvPr id="57" name="Rectangle 57"/>
            <p:cNvSpPr/>
            <p:nvPr/>
          </p:nvSpPr>
          <p:spPr>
            <a:xfrm>
              <a:off x="6680835" y="5103495"/>
              <a:ext cx="4977765" cy="552450"/>
            </a:xfrm>
            <a:prstGeom prst="roundRect">
              <a:avLst>
                <a:gd name="adj" fmla="val 20690"/>
              </a:avLst>
            </a:prstGeom>
            <a:solidFill>
              <a:srgbClr val="334E68"/>
            </a:solidFill>
            <a:ln>
              <a:noFill/>
            </a:ln>
          </p:spPr>
        </p:sp>
        <p:grpSp>
          <p:nvGrpSpPr>
            <p:cNvPr id="60" name="Group 60"/>
            <p:cNvGrpSpPr/>
            <p:nvPr/>
          </p:nvGrpSpPr>
          <p:grpSpPr>
            <a:xfrm>
              <a:off x="6885623" y="5278757"/>
              <a:ext cx="200023" cy="200023"/>
              <a:chOff x="6885623" y="5278757"/>
              <a:chExt cx="200023" cy="200023"/>
            </a:xfrm>
          </p:grpSpPr>
          <p:sp>
            <p:nvSpPr>
              <p:cNvPr id="58" name="Freeform 58"/>
              <p:cNvSpPr/>
              <p:nvPr/>
            </p:nvSpPr>
            <p:spPr>
              <a:xfrm>
                <a:off x="6885623" y="527875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9" name="Freeform 59"/>
              <p:cNvSpPr/>
              <p:nvPr/>
            </p:nvSpPr>
            <p:spPr>
              <a:xfrm>
                <a:off x="7018973" y="534543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1" name="TextBox 61"/>
            <p:cNvSpPr txBox="1"/>
            <p:nvPr/>
          </p:nvSpPr>
          <p:spPr>
            <a:xfrm>
              <a:off x="7188708" y="5289709"/>
              <a:ext cx="2769972"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错误潜伏在角落里，聚集在边界上。</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软件测试基础</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穷举测试做不完，所以必须挑用例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5" name="c1-card-1"/>
          <p:cNvGrpSpPr/>
          <p:nvPr/>
        </p:nvGrpSpPr>
        <p:grpSpPr>
          <a:xfrm>
            <a:off x="533400" y="1524000"/>
            <a:ext cx="5410200" cy="1933575"/>
            <a:chOff x="533400" y="1524000"/>
            <a:chExt cx="5410200" cy="1933575"/>
          </a:xfrm>
        </p:grpSpPr>
        <p:sp>
          <p:nvSpPr>
            <p:cNvPr id="7" name="Rectangle 7"/>
            <p:cNvSpPr/>
            <p:nvPr/>
          </p:nvSpPr>
          <p:spPr>
            <a:xfrm>
              <a:off x="533400" y="1524000"/>
              <a:ext cx="5410200" cy="1933575"/>
            </a:xfrm>
            <a:prstGeom prst="roundRect">
              <a:avLst>
                <a:gd name="adj" fmla="val 6897"/>
              </a:avLst>
            </a:prstGeom>
            <a:solidFill>
              <a:srgbClr val="FFFFFF"/>
            </a:solidFill>
            <a:ln w="14288">
              <a:solidFill>
                <a:srgbClr val="D9DFEA"/>
              </a:solidFill>
            </a:ln>
          </p:spPr>
        </p:sp>
        <p:sp>
          <p:nvSpPr>
            <p:cNvPr id="8" name="Rectangle 8"/>
            <p:cNvSpPr/>
            <p:nvPr/>
          </p:nvSpPr>
          <p:spPr>
            <a:xfrm>
              <a:off x="542925" y="1657350"/>
              <a:ext cx="47625" cy="1666875"/>
            </a:xfrm>
            <a:prstGeom prst="roundRect">
              <a:avLst>
                <a:gd name="adj" fmla="val 50000"/>
              </a:avLst>
            </a:prstGeom>
            <a:solidFill>
              <a:srgbClr val="14A38B"/>
            </a:solidFill>
            <a:ln>
              <a:noFill/>
            </a:ln>
          </p:spPr>
        </p:sp>
        <p:sp>
          <p:nvSpPr>
            <p:cNvPr id="9" name="Rectangle 9"/>
            <p:cNvSpPr/>
            <p:nvPr/>
          </p:nvSpPr>
          <p:spPr>
            <a:xfrm>
              <a:off x="775335" y="1727835"/>
              <a:ext cx="621030" cy="257175"/>
            </a:xfrm>
            <a:prstGeom prst="roundRect">
              <a:avLst>
                <a:gd name="adj" fmla="val 50000"/>
              </a:avLst>
            </a:prstGeom>
            <a:solidFill>
              <a:srgbClr val="E3F5F1"/>
            </a:solidFill>
            <a:ln>
              <a:noFill/>
            </a:ln>
          </p:spPr>
        </p:sp>
        <p:sp>
          <p:nvSpPr>
            <p:cNvPr id="10" name="TextBox 10"/>
            <p:cNvSpPr txBox="1"/>
            <p:nvPr/>
          </p:nvSpPr>
          <p:spPr>
            <a:xfrm>
              <a:off x="862078" y="1763554"/>
              <a:ext cx="447545"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算例 1</a:t>
              </a:r>
            </a:p>
          </p:txBody>
        </p:sp>
        <p:sp>
          <p:nvSpPr>
            <p:cNvPr id="11" name="TextBox 11"/>
            <p:cNvSpPr txBox="1"/>
            <p:nvPr/>
          </p:nvSpPr>
          <p:spPr>
            <a:xfrm>
              <a:off x="1503426" y="1767364"/>
              <a:ext cx="264962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黑盒穷举：两个 32 位整数输入</a:t>
              </a:r>
            </a:p>
          </p:txBody>
        </p:sp>
        <p:sp>
          <p:nvSpPr>
            <p:cNvPr id="12" name="TextBox 12"/>
            <p:cNvSpPr txBox="1"/>
            <p:nvPr/>
          </p:nvSpPr>
          <p:spPr>
            <a:xfrm>
              <a:off x="768096" y="2119789"/>
              <a:ext cx="4775454"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程序 P 有输入量 X、Y 和输出量 Z，在字长 32 位的计算机上</a:t>
              </a:r>
              <a:br/>
              <a:r>
                <a:rPr lang="zh-CN" sz="1420" dirty="0">
                  <a:solidFill>
                    <a:srgbClr val="1F2937"/>
                  </a:solidFill>
                  <a:latin typeface="+mn-lt"/>
                  <a:ea typeface="+mn-ea"/>
                  <a:cs typeface="+mn-cs"/>
                </a:rPr>
                <a:t>运行，X、Y 都取整数。</a:t>
              </a:r>
            </a:p>
          </p:txBody>
        </p:sp>
        <p:sp>
          <p:nvSpPr>
            <p:cNvPr id="13" name="TextBox 13"/>
            <p:cNvSpPr txBox="1"/>
            <p:nvPr/>
          </p:nvSpPr>
          <p:spPr>
            <a:xfrm>
              <a:off x="768096" y="2711291"/>
              <a:ext cx="418177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测试数据组数 = 2³² × 2³² = 2⁶⁴ ≈ 1.84×10¹⁹ 组</a:t>
              </a:r>
            </a:p>
          </p:txBody>
        </p:sp>
        <p:sp>
          <p:nvSpPr>
            <p:cNvPr id="14" name="TextBox 14"/>
            <p:cNvSpPr txBox="1"/>
            <p:nvPr/>
          </p:nvSpPr>
          <p:spPr>
            <a:xfrm>
              <a:off x="768096" y="3031331"/>
              <a:ext cx="486947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每组 1 毫秒，一年按 365×24 小时算，需要约 </a:t>
              </a:r>
              <a:r>
                <a:rPr lang="zh-CN" sz="1420" b="1" dirty="0">
                  <a:solidFill>
                    <a:srgbClr val="C2410C"/>
                  </a:solidFill>
                  <a:latin typeface="+mn-lt"/>
                  <a:ea typeface="+mn-ea"/>
                  <a:cs typeface="+mn-cs"/>
                </a:rPr>
                <a:t>5.8 亿年</a:t>
              </a:r>
              <a:r>
                <a:rPr lang="zh-CN" sz="1420" dirty="0">
                  <a:solidFill>
                    <a:srgbClr val="1F2937"/>
                  </a:solidFill>
                  <a:latin typeface="+mn-lt"/>
                  <a:ea typeface="+mn-ea"/>
                  <a:cs typeface="+mn-cs"/>
                </a:rPr>
                <a:t>。</a:t>
              </a:r>
            </a:p>
          </p:txBody>
        </p:sp>
      </p:grpSp>
      <p:grpSp>
        <p:nvGrpSpPr>
          <p:cNvPr id="22" name="c1-card-2"/>
          <p:cNvGrpSpPr/>
          <p:nvPr/>
        </p:nvGrpSpPr>
        <p:grpSpPr>
          <a:xfrm>
            <a:off x="533400" y="3642360"/>
            <a:ext cx="5410200" cy="1613535"/>
            <a:chOff x="533400" y="3642360"/>
            <a:chExt cx="5410200" cy="1613535"/>
          </a:xfrm>
        </p:grpSpPr>
        <p:sp>
          <p:nvSpPr>
            <p:cNvPr id="16" name="Rectangle 16"/>
            <p:cNvSpPr/>
            <p:nvPr/>
          </p:nvSpPr>
          <p:spPr>
            <a:xfrm>
              <a:off x="533400" y="3642360"/>
              <a:ext cx="5410200" cy="1613535"/>
            </a:xfrm>
            <a:prstGeom prst="roundRect">
              <a:avLst>
                <a:gd name="adj" fmla="val 8264"/>
              </a:avLst>
            </a:prstGeom>
            <a:solidFill>
              <a:srgbClr val="FFFFFF"/>
            </a:solidFill>
            <a:ln w="14288">
              <a:solidFill>
                <a:srgbClr val="D9DFEA"/>
              </a:solidFill>
            </a:ln>
          </p:spPr>
        </p:sp>
        <p:sp>
          <p:nvSpPr>
            <p:cNvPr id="17" name="Rectangle 17"/>
            <p:cNvSpPr/>
            <p:nvPr/>
          </p:nvSpPr>
          <p:spPr>
            <a:xfrm>
              <a:off x="542925" y="3775710"/>
              <a:ext cx="47625" cy="1346835"/>
            </a:xfrm>
            <a:prstGeom prst="roundRect">
              <a:avLst>
                <a:gd name="adj" fmla="val 50000"/>
              </a:avLst>
            </a:prstGeom>
            <a:solidFill>
              <a:srgbClr val="5B6475"/>
            </a:solidFill>
            <a:ln>
              <a:noFill/>
            </a:ln>
          </p:spPr>
        </p:sp>
        <p:sp>
          <p:nvSpPr>
            <p:cNvPr id="18" name="Rectangle 18"/>
            <p:cNvSpPr/>
            <p:nvPr/>
          </p:nvSpPr>
          <p:spPr>
            <a:xfrm>
              <a:off x="775335" y="3846195"/>
              <a:ext cx="494348" cy="257175"/>
            </a:xfrm>
            <a:prstGeom prst="roundRect">
              <a:avLst>
                <a:gd name="adj" fmla="val 50000"/>
              </a:avLst>
            </a:prstGeom>
            <a:solidFill>
              <a:srgbClr val="F4F6FB"/>
            </a:solidFill>
            <a:ln>
              <a:noFill/>
            </a:ln>
          </p:spPr>
        </p:sp>
        <p:sp>
          <p:nvSpPr>
            <p:cNvPr id="19" name="TextBox 19"/>
            <p:cNvSpPr txBox="1"/>
            <p:nvPr/>
          </p:nvSpPr>
          <p:spPr>
            <a:xfrm>
              <a:off x="865543" y="3881914"/>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复核</a:t>
              </a:r>
            </a:p>
          </p:txBody>
        </p:sp>
        <p:sp>
          <p:nvSpPr>
            <p:cNvPr id="20" name="TextBox 20"/>
            <p:cNvSpPr txBox="1"/>
            <p:nvPr/>
          </p:nvSpPr>
          <p:spPr>
            <a:xfrm>
              <a:off x="1376744" y="3886676"/>
              <a:ext cx="250864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原课件说“5 亿年”是取整说法</a:t>
              </a:r>
            </a:p>
          </p:txBody>
        </p:sp>
        <p:sp>
          <p:nvSpPr>
            <p:cNvPr id="21" name="TextBox 21"/>
            <p:cNvSpPr txBox="1"/>
            <p:nvPr/>
          </p:nvSpPr>
          <p:spPr>
            <a:xfrm>
              <a:off x="768096" y="4238149"/>
              <a:ext cx="461314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2⁶⁴ 毫秒 = 1.845×10¹⁶ 秒，除以一年的 31 536 000 秒，</a:t>
              </a:r>
              <a:br/>
              <a:r>
                <a:rPr lang="zh-CN" sz="1420" dirty="0">
                  <a:solidFill>
                    <a:srgbClr val="1F2937"/>
                  </a:solidFill>
                  <a:latin typeface="+mn-lt"/>
                  <a:ea typeface="+mn-ea"/>
                  <a:cs typeface="+mn-cs"/>
                </a:rPr>
                <a:t>得 5.85×10⁸ 年。</a:t>
              </a:r>
            </a:p>
          </p:txBody>
        </p:sp>
      </p:grpSp>
      <p:grpSp>
        <p:nvGrpSpPr>
          <p:cNvPr id="31" name="c2-card-1"/>
          <p:cNvGrpSpPr/>
          <p:nvPr/>
        </p:nvGrpSpPr>
        <p:grpSpPr>
          <a:xfrm>
            <a:off x="6248400" y="1524000"/>
            <a:ext cx="5410200" cy="1933575"/>
            <a:chOff x="6248400" y="1524000"/>
            <a:chExt cx="5410200" cy="1933575"/>
          </a:xfrm>
        </p:grpSpPr>
        <p:sp>
          <p:nvSpPr>
            <p:cNvPr id="23" name="Rectangle 23"/>
            <p:cNvSpPr/>
            <p:nvPr/>
          </p:nvSpPr>
          <p:spPr>
            <a:xfrm>
              <a:off x="6248400" y="1524000"/>
              <a:ext cx="5410200" cy="1933575"/>
            </a:xfrm>
            <a:prstGeom prst="roundRect">
              <a:avLst>
                <a:gd name="adj" fmla="val 6897"/>
              </a:avLst>
            </a:prstGeom>
            <a:solidFill>
              <a:srgbClr val="FFFFFF"/>
            </a:solidFill>
            <a:ln w="14288">
              <a:solidFill>
                <a:srgbClr val="D9DFEA"/>
              </a:solidFill>
            </a:ln>
          </p:spPr>
        </p:sp>
        <p:sp>
          <p:nvSpPr>
            <p:cNvPr id="24" name="Rectangle 24"/>
            <p:cNvSpPr/>
            <p:nvPr/>
          </p:nvSpPr>
          <p:spPr>
            <a:xfrm>
              <a:off x="6257925" y="1657350"/>
              <a:ext cx="47625" cy="1666875"/>
            </a:xfrm>
            <a:prstGeom prst="roundRect">
              <a:avLst>
                <a:gd name="adj" fmla="val 50000"/>
              </a:avLst>
            </a:prstGeom>
            <a:solidFill>
              <a:srgbClr val="14A38B"/>
            </a:solidFill>
            <a:ln>
              <a:noFill/>
            </a:ln>
          </p:spPr>
        </p:sp>
        <p:sp>
          <p:nvSpPr>
            <p:cNvPr id="25" name="Rectangle 25"/>
            <p:cNvSpPr/>
            <p:nvPr/>
          </p:nvSpPr>
          <p:spPr>
            <a:xfrm>
              <a:off x="6490335" y="1727835"/>
              <a:ext cx="621030" cy="257175"/>
            </a:xfrm>
            <a:prstGeom prst="roundRect">
              <a:avLst>
                <a:gd name="adj" fmla="val 50000"/>
              </a:avLst>
            </a:prstGeom>
            <a:solidFill>
              <a:srgbClr val="E3F5F1"/>
            </a:solidFill>
            <a:ln>
              <a:noFill/>
            </a:ln>
          </p:spPr>
        </p:sp>
        <p:sp>
          <p:nvSpPr>
            <p:cNvPr id="26" name="TextBox 26"/>
            <p:cNvSpPr txBox="1"/>
            <p:nvPr/>
          </p:nvSpPr>
          <p:spPr>
            <a:xfrm>
              <a:off x="6577078" y="1763554"/>
              <a:ext cx="447545"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算例 2</a:t>
              </a:r>
            </a:p>
          </p:txBody>
        </p:sp>
        <p:sp>
          <p:nvSpPr>
            <p:cNvPr id="27" name="TextBox 27"/>
            <p:cNvSpPr txBox="1"/>
            <p:nvPr/>
          </p:nvSpPr>
          <p:spPr>
            <a:xfrm>
              <a:off x="7218426" y="1767364"/>
              <a:ext cx="322310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白盒穷举：一个含 20 次循环的小程序</a:t>
              </a:r>
            </a:p>
          </p:txBody>
        </p:sp>
        <p:sp>
          <p:nvSpPr>
            <p:cNvPr id="28" name="TextBox 28"/>
            <p:cNvSpPr txBox="1"/>
            <p:nvPr/>
          </p:nvSpPr>
          <p:spPr>
            <a:xfrm>
              <a:off x="6483096" y="2119789"/>
              <a:ext cx="495597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循环体内部有 5 条互不相同的路径，循环最多执行 20 次。</a:t>
              </a:r>
            </a:p>
          </p:txBody>
        </p:sp>
        <p:sp>
          <p:nvSpPr>
            <p:cNvPr id="29" name="TextBox 29"/>
            <p:cNvSpPr txBox="1"/>
            <p:nvPr/>
          </p:nvSpPr>
          <p:spPr>
            <a:xfrm>
              <a:off x="6483096" y="2439829"/>
              <a:ext cx="405752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不同执行路径数 = 5²⁰ = 95 367 431 640 625 条</a:t>
              </a:r>
            </a:p>
          </p:txBody>
        </p:sp>
        <p:sp>
          <p:nvSpPr>
            <p:cNvPr id="30" name="TextBox 30"/>
            <p:cNvSpPr txBox="1"/>
            <p:nvPr/>
          </p:nvSpPr>
          <p:spPr>
            <a:xfrm>
              <a:off x="6483096" y="2759869"/>
              <a:ext cx="4461662"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每条路径 1 毫秒，一年按 365×24 小时算，需要约 </a:t>
              </a:r>
              <a:r>
                <a:rPr lang="zh-CN" sz="1420" b="1" dirty="0">
                  <a:solidFill>
                    <a:srgbClr val="C2410C"/>
                  </a:solidFill>
                  <a:latin typeface="+mn-lt"/>
                  <a:ea typeface="+mn-ea"/>
                  <a:cs typeface="+mn-cs"/>
                </a:rPr>
                <a:t>3024</a:t>
              </a:r>
              <a:br/>
              <a:r>
                <a:rPr lang="zh-CN" sz="1420" b="1" dirty="0">
                  <a:solidFill>
                    <a:srgbClr val="C2410C"/>
                  </a:solidFill>
                  <a:latin typeface="+mn-lt"/>
                  <a:ea typeface="+mn-ea"/>
                  <a:cs typeface="+mn-cs"/>
                </a:rPr>
                <a:t>年</a:t>
              </a:r>
              <a:r>
                <a:rPr lang="zh-CN" sz="1420" dirty="0">
                  <a:solidFill>
                    <a:srgbClr val="1F2937"/>
                  </a:solidFill>
                  <a:latin typeface="+mn-lt"/>
                  <a:ea typeface="+mn-ea"/>
                  <a:cs typeface="+mn-cs"/>
                </a:rPr>
                <a:t>。</a:t>
              </a:r>
            </a:p>
          </p:txBody>
        </p:sp>
      </p:grpSp>
      <p:grpSp>
        <p:nvGrpSpPr>
          <p:cNvPr id="39" name="c2-card-2"/>
          <p:cNvGrpSpPr/>
          <p:nvPr/>
        </p:nvGrpSpPr>
        <p:grpSpPr>
          <a:xfrm>
            <a:off x="6248400" y="3642360"/>
            <a:ext cx="5410200" cy="1613535"/>
            <a:chOff x="6248400" y="3642360"/>
            <a:chExt cx="5410200" cy="1613535"/>
          </a:xfrm>
        </p:grpSpPr>
        <p:sp>
          <p:nvSpPr>
            <p:cNvPr id="32" name="Rectangle 32"/>
            <p:cNvSpPr/>
            <p:nvPr/>
          </p:nvSpPr>
          <p:spPr>
            <a:xfrm>
              <a:off x="6248400" y="3642360"/>
              <a:ext cx="5410200" cy="1613535"/>
            </a:xfrm>
            <a:prstGeom prst="roundRect">
              <a:avLst>
                <a:gd name="adj" fmla="val 8264"/>
              </a:avLst>
            </a:prstGeom>
            <a:solidFill>
              <a:srgbClr val="FFFFFF"/>
            </a:solidFill>
            <a:ln w="14288">
              <a:solidFill>
                <a:srgbClr val="D9DFEA"/>
              </a:solidFill>
            </a:ln>
          </p:spPr>
        </p:sp>
        <p:sp>
          <p:nvSpPr>
            <p:cNvPr id="33" name="Rectangle 33"/>
            <p:cNvSpPr/>
            <p:nvPr/>
          </p:nvSpPr>
          <p:spPr>
            <a:xfrm>
              <a:off x="6257925" y="3775710"/>
              <a:ext cx="47625" cy="1346835"/>
            </a:xfrm>
            <a:prstGeom prst="roundRect">
              <a:avLst>
                <a:gd name="adj" fmla="val 50000"/>
              </a:avLst>
            </a:prstGeom>
            <a:solidFill>
              <a:srgbClr val="5B6475"/>
            </a:solidFill>
            <a:ln>
              <a:noFill/>
            </a:ln>
          </p:spPr>
        </p:sp>
        <p:sp>
          <p:nvSpPr>
            <p:cNvPr id="34" name="Rectangle 34"/>
            <p:cNvSpPr/>
            <p:nvPr/>
          </p:nvSpPr>
          <p:spPr>
            <a:xfrm>
              <a:off x="6490335" y="3846195"/>
              <a:ext cx="494348" cy="257175"/>
            </a:xfrm>
            <a:prstGeom prst="roundRect">
              <a:avLst>
                <a:gd name="adj" fmla="val 50000"/>
              </a:avLst>
            </a:prstGeom>
            <a:solidFill>
              <a:srgbClr val="F4F6FB"/>
            </a:solidFill>
            <a:ln>
              <a:noFill/>
            </a:ln>
          </p:spPr>
        </p:sp>
        <p:sp>
          <p:nvSpPr>
            <p:cNvPr id="35" name="TextBox 35"/>
            <p:cNvSpPr txBox="1"/>
            <p:nvPr/>
          </p:nvSpPr>
          <p:spPr>
            <a:xfrm>
              <a:off x="6580543" y="3881914"/>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更正</a:t>
              </a:r>
            </a:p>
          </p:txBody>
        </p:sp>
        <p:sp>
          <p:nvSpPr>
            <p:cNvPr id="36" name="TextBox 36"/>
            <p:cNvSpPr txBox="1"/>
            <p:nvPr/>
          </p:nvSpPr>
          <p:spPr>
            <a:xfrm>
              <a:off x="7091744" y="3886676"/>
              <a:ext cx="153229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原课件写 3170 年</a:t>
              </a:r>
            </a:p>
          </p:txBody>
        </p:sp>
        <p:sp>
          <p:nvSpPr>
            <p:cNvPr id="37" name="TextBox 37"/>
            <p:cNvSpPr txBox="1"/>
            <p:nvPr/>
          </p:nvSpPr>
          <p:spPr>
            <a:xfrm>
              <a:off x="6483096" y="4238149"/>
              <a:ext cx="4324604"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3170 年是把 5²⁰ 近似成 10¹⁴ 算出来的：10¹⁴ 毫秒 ÷</a:t>
              </a:r>
              <a:br/>
              <a:r>
                <a:rPr lang="zh-CN" sz="1420" dirty="0">
                  <a:solidFill>
                    <a:srgbClr val="1F2937"/>
                  </a:solidFill>
                  <a:latin typeface="+mn-lt"/>
                  <a:ea typeface="+mn-ea"/>
                  <a:cs typeface="+mn-cs"/>
                </a:rPr>
                <a:t>31 536 000 秒 ≈ 3171 年。</a:t>
              </a:r>
            </a:p>
          </p:txBody>
        </p:sp>
        <p:sp>
          <p:nvSpPr>
            <p:cNvPr id="38" name="TextBox 38"/>
            <p:cNvSpPr txBox="1"/>
            <p:nvPr/>
          </p:nvSpPr>
          <p:spPr>
            <a:xfrm>
              <a:off x="6483096" y="4829651"/>
              <a:ext cx="406229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 xml:space="preserve">按 5²⁰ 的精确值算是 </a:t>
              </a:r>
              <a:r>
                <a:rPr lang="zh-CN" sz="1420" b="1" dirty="0">
                  <a:solidFill>
                    <a:srgbClr val="0F7A68"/>
                  </a:solidFill>
                  <a:latin typeface="+mn-lt"/>
                  <a:ea typeface="+mn-ea"/>
                  <a:cs typeface="+mn-cs"/>
                </a:rPr>
                <a:t>3024 年</a:t>
              </a:r>
              <a:r>
                <a:rPr lang="zh-CN" sz="1420" dirty="0">
                  <a:solidFill>
                    <a:srgbClr val="1F2937"/>
                  </a:solidFill>
                  <a:latin typeface="+mn-lt"/>
                  <a:ea typeface="+mn-ea"/>
                  <a:cs typeface="+mn-cs"/>
                </a:rPr>
                <a:t>，量级结论不变。</a:t>
              </a:r>
            </a:p>
          </p:txBody>
        </p:sp>
      </p:grpSp>
      <p:grpSp>
        <p:nvGrpSpPr>
          <p:cNvPr id="45" name="takeaway"/>
          <p:cNvGrpSpPr/>
          <p:nvPr/>
        </p:nvGrpSpPr>
        <p:grpSpPr>
          <a:xfrm>
            <a:off x="533400" y="5844540"/>
            <a:ext cx="11125200" cy="518160"/>
            <a:chOff x="533400" y="5844540"/>
            <a:chExt cx="11125200" cy="518160"/>
          </a:xfrm>
        </p:grpSpPr>
        <p:sp>
          <p:nvSpPr>
            <p:cNvPr id="40" name="Rectangle 40"/>
            <p:cNvSpPr/>
            <p:nvPr/>
          </p:nvSpPr>
          <p:spPr>
            <a:xfrm>
              <a:off x="533400" y="5844540"/>
              <a:ext cx="11125200" cy="518160"/>
            </a:xfrm>
            <a:prstGeom prst="roundRect">
              <a:avLst>
                <a:gd name="adj" fmla="val 22059"/>
              </a:avLst>
            </a:prstGeom>
            <a:solidFill>
              <a:srgbClr val="334E68"/>
            </a:solidFill>
            <a:ln>
              <a:noFill/>
            </a:ln>
          </p:spPr>
        </p:sp>
        <p:grpSp>
          <p:nvGrpSpPr>
            <p:cNvPr id="43" name="Group 43"/>
            <p:cNvGrpSpPr/>
            <p:nvPr/>
          </p:nvGrpSpPr>
          <p:grpSpPr>
            <a:xfrm>
              <a:off x="738188" y="6003610"/>
              <a:ext cx="200023" cy="200023"/>
              <a:chOff x="738188" y="6003610"/>
              <a:chExt cx="200023" cy="200023"/>
            </a:xfrm>
          </p:grpSpPr>
          <p:sp>
            <p:nvSpPr>
              <p:cNvPr id="41" name="Freeform 41"/>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2" name="Freeform 42"/>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4" name="TextBox 44"/>
            <p:cNvSpPr txBox="1"/>
            <p:nvPr/>
          </p:nvSpPr>
          <p:spPr>
            <a:xfrm>
              <a:off x="1040511" y="6004084"/>
              <a:ext cx="6322771"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穷举不可行，测试的全部功夫就在于用有限的用例覆盖尽量多的错误类型。</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软件测试基础</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测试分四步走，每一步找的错误不一样</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5" name="c1-flow-1"/>
          <p:cNvGrpSpPr/>
          <p:nvPr/>
        </p:nvGrpSpPr>
        <p:grpSpPr>
          <a:xfrm>
            <a:off x="836295" y="1723072"/>
            <a:ext cx="3722370" cy="3717608"/>
            <a:chOff x="836295" y="1723072"/>
            <a:chExt cx="3722370" cy="3717608"/>
          </a:xfrm>
        </p:grpSpPr>
        <p:sp>
          <p:nvSpPr>
            <p:cNvPr id="7" name="Freeform 7"/>
            <p:cNvSpPr/>
            <p:nvPr/>
          </p:nvSpPr>
          <p:spPr>
            <a:xfrm>
              <a:off x="2697480" y="2147888"/>
              <a:ext cx="9525" cy="293370"/>
            </a:xfrm>
            <a:custGeom>
              <a:avLst/>
              <a:gdLst/>
              <a:ahLst/>
              <a:cxnLst/>
              <a:rect l="l" t="t" r="r" b="b"/>
              <a:pathLst>
                <a:path w="9525" h="293370">
                  <a:moveTo>
                    <a:pt x="0" y="0"/>
                  </a:moveTo>
                  <a:lnTo>
                    <a:pt x="0" y="293370"/>
                  </a:lnTo>
                </a:path>
              </a:pathLst>
            </a:custGeom>
            <a:noFill/>
            <a:ln w="15240">
              <a:solidFill>
                <a:srgbClr val="5B6475"/>
              </a:solidFill>
            </a:ln>
          </p:spPr>
        </p:sp>
        <p:sp>
          <p:nvSpPr>
            <p:cNvPr id="8" name="Freeform 8"/>
            <p:cNvSpPr/>
            <p:nvPr/>
          </p:nvSpPr>
          <p:spPr>
            <a:xfrm>
              <a:off x="2645092" y="244125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2697480" y="2971800"/>
              <a:ext cx="9525" cy="293370"/>
            </a:xfrm>
            <a:custGeom>
              <a:avLst/>
              <a:gdLst/>
              <a:ahLst/>
              <a:cxnLst/>
              <a:rect l="l" t="t" r="r" b="b"/>
              <a:pathLst>
                <a:path w="9525" h="293370">
                  <a:moveTo>
                    <a:pt x="0" y="0"/>
                  </a:moveTo>
                  <a:lnTo>
                    <a:pt x="0" y="293370"/>
                  </a:lnTo>
                </a:path>
              </a:pathLst>
            </a:custGeom>
            <a:noFill/>
            <a:ln w="15240">
              <a:solidFill>
                <a:srgbClr val="5B6475"/>
              </a:solidFill>
            </a:ln>
          </p:spPr>
        </p:sp>
        <p:sp>
          <p:nvSpPr>
            <p:cNvPr id="10" name="Freeform 10"/>
            <p:cNvSpPr/>
            <p:nvPr/>
          </p:nvSpPr>
          <p:spPr>
            <a:xfrm>
              <a:off x="2645092" y="326517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2697480" y="3794760"/>
              <a:ext cx="9525" cy="293370"/>
            </a:xfrm>
            <a:custGeom>
              <a:avLst/>
              <a:gdLst/>
              <a:ahLst/>
              <a:cxnLst/>
              <a:rect l="l" t="t" r="r" b="b"/>
              <a:pathLst>
                <a:path w="9525" h="293370">
                  <a:moveTo>
                    <a:pt x="0" y="0"/>
                  </a:moveTo>
                  <a:lnTo>
                    <a:pt x="0" y="293370"/>
                  </a:lnTo>
                </a:path>
              </a:pathLst>
            </a:custGeom>
            <a:noFill/>
            <a:ln w="15240">
              <a:solidFill>
                <a:srgbClr val="5B6475"/>
              </a:solidFill>
            </a:ln>
          </p:spPr>
        </p:sp>
        <p:sp>
          <p:nvSpPr>
            <p:cNvPr id="12" name="Freeform 12"/>
            <p:cNvSpPr/>
            <p:nvPr/>
          </p:nvSpPr>
          <p:spPr>
            <a:xfrm>
              <a:off x="2645092" y="408813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2697480" y="4617720"/>
              <a:ext cx="9525" cy="293370"/>
            </a:xfrm>
            <a:custGeom>
              <a:avLst/>
              <a:gdLst/>
              <a:ahLst/>
              <a:cxnLst/>
              <a:rect l="l" t="t" r="r" b="b"/>
              <a:pathLst>
                <a:path w="9525" h="293370">
                  <a:moveTo>
                    <a:pt x="0" y="0"/>
                  </a:moveTo>
                  <a:lnTo>
                    <a:pt x="0" y="293370"/>
                  </a:lnTo>
                </a:path>
              </a:pathLst>
            </a:custGeom>
            <a:noFill/>
            <a:ln w="15240">
              <a:solidFill>
                <a:srgbClr val="5B6475"/>
              </a:solidFill>
            </a:ln>
          </p:spPr>
        </p:sp>
        <p:sp>
          <p:nvSpPr>
            <p:cNvPr id="14" name="Freeform 14"/>
            <p:cNvSpPr/>
            <p:nvPr/>
          </p:nvSpPr>
          <p:spPr>
            <a:xfrm>
              <a:off x="2645092" y="491109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Rectangle 15"/>
            <p:cNvSpPr/>
            <p:nvPr/>
          </p:nvSpPr>
          <p:spPr>
            <a:xfrm>
              <a:off x="836295" y="1723072"/>
              <a:ext cx="3722370" cy="424815"/>
            </a:xfrm>
            <a:prstGeom prst="roundRect">
              <a:avLst>
                <a:gd name="adj" fmla="val 50000"/>
              </a:avLst>
            </a:prstGeom>
            <a:solidFill>
              <a:srgbClr val="334E68"/>
            </a:solidFill>
            <a:ln>
              <a:noFill/>
            </a:ln>
          </p:spPr>
        </p:sp>
        <p:sp>
          <p:nvSpPr>
            <p:cNvPr id="16" name="Rectangle 16"/>
            <p:cNvSpPr/>
            <p:nvPr/>
          </p:nvSpPr>
          <p:spPr>
            <a:xfrm>
              <a:off x="836295" y="2546032"/>
              <a:ext cx="3722370" cy="424815"/>
            </a:xfrm>
            <a:prstGeom prst="roundRect">
              <a:avLst>
                <a:gd name="adj" fmla="val 22422"/>
              </a:avLst>
            </a:prstGeom>
            <a:solidFill>
              <a:srgbClr val="FFFFFF"/>
            </a:solidFill>
            <a:ln w="15240">
              <a:solidFill>
                <a:srgbClr val="334E68"/>
              </a:solidFill>
            </a:ln>
          </p:spPr>
        </p:sp>
        <p:sp>
          <p:nvSpPr>
            <p:cNvPr id="17" name="Rectangle 17"/>
            <p:cNvSpPr/>
            <p:nvPr/>
          </p:nvSpPr>
          <p:spPr>
            <a:xfrm>
              <a:off x="836295" y="3369945"/>
              <a:ext cx="3722370" cy="424815"/>
            </a:xfrm>
            <a:prstGeom prst="roundRect">
              <a:avLst>
                <a:gd name="adj" fmla="val 22422"/>
              </a:avLst>
            </a:prstGeom>
            <a:solidFill>
              <a:srgbClr val="FFFFFF"/>
            </a:solidFill>
            <a:ln w="15240">
              <a:solidFill>
                <a:srgbClr val="334E68"/>
              </a:solidFill>
            </a:ln>
          </p:spPr>
        </p:sp>
        <p:sp>
          <p:nvSpPr>
            <p:cNvPr id="18" name="Rectangle 18"/>
            <p:cNvSpPr/>
            <p:nvPr/>
          </p:nvSpPr>
          <p:spPr>
            <a:xfrm>
              <a:off x="836295" y="4192905"/>
              <a:ext cx="3722370" cy="424815"/>
            </a:xfrm>
            <a:prstGeom prst="roundRect">
              <a:avLst>
                <a:gd name="adj" fmla="val 22422"/>
              </a:avLst>
            </a:prstGeom>
            <a:solidFill>
              <a:srgbClr val="E7EDF3"/>
            </a:solidFill>
            <a:ln w="19050">
              <a:solidFill>
                <a:srgbClr val="334E68"/>
              </a:solidFill>
            </a:ln>
          </p:spPr>
        </p:sp>
        <p:sp>
          <p:nvSpPr>
            <p:cNvPr id="19" name="Rectangle 19"/>
            <p:cNvSpPr/>
            <p:nvPr/>
          </p:nvSpPr>
          <p:spPr>
            <a:xfrm>
              <a:off x="836295" y="5015865"/>
              <a:ext cx="3722370" cy="424815"/>
            </a:xfrm>
            <a:prstGeom prst="roundRect">
              <a:avLst>
                <a:gd name="adj" fmla="val 50000"/>
              </a:avLst>
            </a:prstGeom>
            <a:solidFill>
              <a:srgbClr val="334E68"/>
            </a:solidFill>
            <a:ln>
              <a:noFill/>
            </a:ln>
          </p:spPr>
        </p:sp>
        <p:sp>
          <p:nvSpPr>
            <p:cNvPr id="20" name="TextBox 20"/>
            <p:cNvSpPr txBox="1"/>
            <p:nvPr/>
          </p:nvSpPr>
          <p:spPr>
            <a:xfrm>
              <a:off x="1883664" y="1851660"/>
              <a:ext cx="1627632"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模块测试（单元测试）</a:t>
              </a:r>
            </a:p>
          </p:txBody>
        </p:sp>
        <p:sp>
          <p:nvSpPr>
            <p:cNvPr id="21" name="TextBox 21"/>
            <p:cNvSpPr txBox="1"/>
            <p:nvPr/>
          </p:nvSpPr>
          <p:spPr>
            <a:xfrm>
              <a:off x="1802892" y="2674620"/>
              <a:ext cx="1789176"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子系统测试（集成测试）</a:t>
              </a:r>
            </a:p>
          </p:txBody>
        </p:sp>
        <p:sp>
          <p:nvSpPr>
            <p:cNvPr id="22" name="TextBox 22"/>
            <p:cNvSpPr txBox="1"/>
            <p:nvPr/>
          </p:nvSpPr>
          <p:spPr>
            <a:xfrm>
              <a:off x="1883664" y="3498532"/>
              <a:ext cx="1627632"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系统测试（集成测试）</a:t>
              </a:r>
            </a:p>
          </p:txBody>
        </p:sp>
        <p:sp>
          <p:nvSpPr>
            <p:cNvPr id="23" name="TextBox 23"/>
            <p:cNvSpPr txBox="1"/>
            <p:nvPr/>
          </p:nvSpPr>
          <p:spPr>
            <a:xfrm>
              <a:off x="1883664" y="4321492"/>
              <a:ext cx="1627632"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验收测试（确认测试）</a:t>
              </a:r>
            </a:p>
          </p:txBody>
        </p:sp>
        <p:sp>
          <p:nvSpPr>
            <p:cNvPr id="24" name="TextBox 24"/>
            <p:cNvSpPr txBox="1"/>
            <p:nvPr/>
          </p:nvSpPr>
          <p:spPr>
            <a:xfrm>
              <a:off x="2368296" y="5144452"/>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平行运行</a:t>
              </a:r>
            </a:p>
          </p:txBody>
        </p:sp>
      </p:grpSp>
      <p:grpSp>
        <p:nvGrpSpPr>
          <p:cNvPr id="50" name="c2-table-1"/>
          <p:cNvGrpSpPr/>
          <p:nvPr/>
        </p:nvGrpSpPr>
        <p:grpSpPr>
          <a:xfrm>
            <a:off x="5166360" y="1524000"/>
            <a:ext cx="6492240" cy="2577465"/>
            <a:chOff x="5166360" y="1524000"/>
            <a:chExt cx="6492240" cy="2577465"/>
          </a:xfrm>
        </p:grpSpPr>
        <p:sp>
          <p:nvSpPr>
            <p:cNvPr id="26" name="Rectangle 26"/>
            <p:cNvSpPr/>
            <p:nvPr/>
          </p:nvSpPr>
          <p:spPr>
            <a:xfrm>
              <a:off x="5166360" y="1524000"/>
              <a:ext cx="6492240" cy="430530"/>
            </a:xfrm>
            <a:prstGeom prst="rect">
              <a:avLst/>
            </a:prstGeom>
            <a:solidFill>
              <a:srgbClr val="334E68"/>
            </a:solidFill>
            <a:ln>
              <a:noFill/>
            </a:ln>
          </p:spPr>
        </p:sp>
        <p:sp>
          <p:nvSpPr>
            <p:cNvPr id="27" name="TextBox 27"/>
            <p:cNvSpPr txBox="1"/>
            <p:nvPr/>
          </p:nvSpPr>
          <p:spPr>
            <a:xfrm>
              <a:off x="5492115" y="1655445"/>
              <a:ext cx="33528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步骤</a:t>
              </a:r>
            </a:p>
          </p:txBody>
        </p:sp>
        <p:sp>
          <p:nvSpPr>
            <p:cNvPr id="28" name="TextBox 28"/>
            <p:cNvSpPr txBox="1"/>
            <p:nvPr/>
          </p:nvSpPr>
          <p:spPr>
            <a:xfrm>
              <a:off x="7061073" y="1655445"/>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测什么</a:t>
              </a:r>
            </a:p>
          </p:txBody>
        </p:sp>
        <p:sp>
          <p:nvSpPr>
            <p:cNvPr id="29" name="TextBox 29"/>
            <p:cNvSpPr txBox="1"/>
            <p:nvPr/>
          </p:nvSpPr>
          <p:spPr>
            <a:xfrm>
              <a:off x="9167622" y="1655445"/>
              <a:ext cx="178917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发现的往往是哪一类错误</a:t>
              </a:r>
            </a:p>
          </p:txBody>
        </p:sp>
        <p:sp>
          <p:nvSpPr>
            <p:cNvPr id="30" name="TextBox 30"/>
            <p:cNvSpPr txBox="1"/>
            <p:nvPr/>
          </p:nvSpPr>
          <p:spPr>
            <a:xfrm>
              <a:off x="5271706" y="2085022"/>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单元测试</a:t>
              </a:r>
            </a:p>
          </p:txBody>
        </p:sp>
        <p:sp>
          <p:nvSpPr>
            <p:cNvPr id="31" name="TextBox 31"/>
            <p:cNvSpPr txBox="1"/>
            <p:nvPr/>
          </p:nvSpPr>
          <p:spPr>
            <a:xfrm>
              <a:off x="6259449" y="2085022"/>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每个模块作为单独的实体</a:t>
              </a:r>
            </a:p>
          </p:txBody>
        </p:sp>
        <p:sp>
          <p:nvSpPr>
            <p:cNvPr id="32" name="TextBox 32"/>
            <p:cNvSpPr txBox="1"/>
            <p:nvPr/>
          </p:nvSpPr>
          <p:spPr>
            <a:xfrm>
              <a:off x="8570214" y="2085022"/>
              <a:ext cx="162763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编码和详细设计的错误</a:t>
              </a:r>
            </a:p>
          </p:txBody>
        </p:sp>
        <p:sp>
          <p:nvSpPr>
            <p:cNvPr id="33" name="Rectangle 33"/>
            <p:cNvSpPr/>
            <p:nvPr/>
          </p:nvSpPr>
          <p:spPr>
            <a:xfrm>
              <a:off x="5166360" y="2379345"/>
              <a:ext cx="6492240" cy="9525"/>
            </a:xfrm>
            <a:prstGeom prst="rect">
              <a:avLst/>
            </a:prstGeom>
            <a:solidFill>
              <a:srgbClr val="D9DFEA"/>
            </a:solidFill>
            <a:ln>
              <a:noFill/>
            </a:ln>
          </p:spPr>
        </p:sp>
        <p:sp>
          <p:nvSpPr>
            <p:cNvPr id="34" name="Rectangle 34"/>
            <p:cNvSpPr/>
            <p:nvPr/>
          </p:nvSpPr>
          <p:spPr>
            <a:xfrm>
              <a:off x="5166360" y="2384108"/>
              <a:ext cx="6492240" cy="643890"/>
            </a:xfrm>
            <a:prstGeom prst="rect">
              <a:avLst/>
            </a:prstGeom>
            <a:solidFill>
              <a:srgbClr val="F4F6FB"/>
            </a:solidFill>
            <a:ln>
              <a:noFill/>
            </a:ln>
          </p:spPr>
        </p:sp>
        <p:sp>
          <p:nvSpPr>
            <p:cNvPr id="35" name="TextBox 35"/>
            <p:cNvSpPr txBox="1"/>
            <p:nvPr/>
          </p:nvSpPr>
          <p:spPr>
            <a:xfrm>
              <a:off x="5271706" y="2515552"/>
              <a:ext cx="621792" cy="448056"/>
            </a:xfrm>
            <a:prstGeom prst="rect">
              <a:avLst/>
            </a:prstGeom>
            <a:noFill/>
            <a:ln>
              <a:noFill/>
            </a:ln>
          </p:spPr>
          <p:txBody>
            <a:bodyPr wrap="none" lIns="0" tIns="0" rIns="0" bIns="0" anchor="t" anchorCtr="0">
              <a:spAutoFit/>
            </a:bodyPr>
            <a:lstStyle/>
            <a:p>
              <a:pPr algn="l">
                <a:lnSpc>
                  <a:spcPts val="1680"/>
                </a:lnSpc>
              </a:pPr>
              <a:r>
                <a:rPr lang="zh-CN" sz="1200" b="1" dirty="0">
                  <a:solidFill>
                    <a:srgbClr val="1F2937"/>
                  </a:solidFill>
                  <a:latin typeface="+mn-lt"/>
                  <a:ea typeface="+mn-ea"/>
                  <a:cs typeface="+mn-cs"/>
                </a:rPr>
                <a:t>子系统测</a:t>
              </a:r>
              <a:br/>
              <a:r>
                <a:rPr lang="zh-CN" sz="1200" b="1" dirty="0">
                  <a:solidFill>
                    <a:srgbClr val="1F2937"/>
                  </a:solidFill>
                  <a:latin typeface="+mn-lt"/>
                  <a:ea typeface="+mn-ea"/>
                  <a:cs typeface="+mn-cs"/>
                </a:rPr>
                <a:t>试</a:t>
              </a:r>
            </a:p>
          </p:txBody>
        </p:sp>
        <p:sp>
          <p:nvSpPr>
            <p:cNvPr id="36" name="TextBox 36"/>
            <p:cNvSpPr txBox="1"/>
            <p:nvPr/>
          </p:nvSpPr>
          <p:spPr>
            <a:xfrm>
              <a:off x="6259449" y="2515552"/>
              <a:ext cx="19933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单元测试过的模块组成的子系</a:t>
              </a:r>
              <a:br/>
              <a:r>
                <a:rPr lang="zh-CN" sz="1200" dirty="0">
                  <a:solidFill>
                    <a:srgbClr val="1F2937"/>
                  </a:solidFill>
                  <a:latin typeface="+mn-lt"/>
                  <a:ea typeface="+mn-ea"/>
                  <a:cs typeface="+mn-cs"/>
                </a:rPr>
                <a:t>统</a:t>
              </a:r>
            </a:p>
          </p:txBody>
        </p:sp>
        <p:sp>
          <p:nvSpPr>
            <p:cNvPr id="37" name="TextBox 37"/>
            <p:cNvSpPr txBox="1"/>
            <p:nvPr/>
          </p:nvSpPr>
          <p:spPr>
            <a:xfrm>
              <a:off x="8570214" y="2622232"/>
              <a:ext cx="114300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模块接口的错误</a:t>
              </a:r>
            </a:p>
          </p:txBody>
        </p:sp>
        <p:sp>
          <p:nvSpPr>
            <p:cNvPr id="38" name="Rectangle 38"/>
            <p:cNvSpPr/>
            <p:nvPr/>
          </p:nvSpPr>
          <p:spPr>
            <a:xfrm>
              <a:off x="5166360" y="3023235"/>
              <a:ext cx="6492240" cy="9525"/>
            </a:xfrm>
            <a:prstGeom prst="rect">
              <a:avLst/>
            </a:prstGeom>
            <a:solidFill>
              <a:srgbClr val="D9DFEA"/>
            </a:solidFill>
            <a:ln>
              <a:noFill/>
            </a:ln>
          </p:spPr>
        </p:sp>
        <p:sp>
          <p:nvSpPr>
            <p:cNvPr id="39" name="TextBox 39"/>
            <p:cNvSpPr txBox="1"/>
            <p:nvPr/>
          </p:nvSpPr>
          <p:spPr>
            <a:xfrm>
              <a:off x="5271706" y="3266122"/>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系统测试</a:t>
              </a:r>
            </a:p>
          </p:txBody>
        </p:sp>
        <p:sp>
          <p:nvSpPr>
            <p:cNvPr id="40" name="TextBox 40"/>
            <p:cNvSpPr txBox="1"/>
            <p:nvPr/>
          </p:nvSpPr>
          <p:spPr>
            <a:xfrm>
              <a:off x="6259449" y="3266122"/>
              <a:ext cx="130454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装配成的完整系统</a:t>
              </a:r>
            </a:p>
          </p:txBody>
        </p:sp>
        <p:sp>
          <p:nvSpPr>
            <p:cNvPr id="41" name="TextBox 41"/>
            <p:cNvSpPr txBox="1"/>
            <p:nvPr/>
          </p:nvSpPr>
          <p:spPr>
            <a:xfrm>
              <a:off x="8570214" y="3159442"/>
              <a:ext cx="275539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软件设计的错误，也可能是需求说明中的</a:t>
              </a:r>
              <a:br/>
              <a:r>
                <a:rPr lang="zh-CN" sz="1200" dirty="0">
                  <a:solidFill>
                    <a:srgbClr val="1F2937"/>
                  </a:solidFill>
                  <a:latin typeface="+mn-lt"/>
                  <a:ea typeface="+mn-ea"/>
                  <a:cs typeface="+mn-cs"/>
                </a:rPr>
                <a:t>错误</a:t>
              </a:r>
            </a:p>
          </p:txBody>
        </p:sp>
        <p:sp>
          <p:nvSpPr>
            <p:cNvPr id="42" name="Rectangle 42"/>
            <p:cNvSpPr/>
            <p:nvPr/>
          </p:nvSpPr>
          <p:spPr>
            <a:xfrm>
              <a:off x="5166360" y="3666172"/>
              <a:ext cx="6492240" cy="9525"/>
            </a:xfrm>
            <a:prstGeom prst="rect">
              <a:avLst/>
            </a:prstGeom>
            <a:solidFill>
              <a:srgbClr val="D9DFEA"/>
            </a:solidFill>
            <a:ln>
              <a:noFill/>
            </a:ln>
          </p:spPr>
        </p:sp>
        <p:sp>
          <p:nvSpPr>
            <p:cNvPr id="43" name="Rectangle 43"/>
            <p:cNvSpPr/>
            <p:nvPr/>
          </p:nvSpPr>
          <p:spPr>
            <a:xfrm>
              <a:off x="5166360" y="3670935"/>
              <a:ext cx="6492240" cy="430530"/>
            </a:xfrm>
            <a:prstGeom prst="rect">
              <a:avLst/>
            </a:prstGeom>
            <a:solidFill>
              <a:srgbClr val="F4F6FB"/>
            </a:solidFill>
            <a:ln>
              <a:noFill/>
            </a:ln>
          </p:spPr>
        </p:sp>
        <p:sp>
          <p:nvSpPr>
            <p:cNvPr id="44" name="TextBox 44"/>
            <p:cNvSpPr txBox="1"/>
            <p:nvPr/>
          </p:nvSpPr>
          <p:spPr>
            <a:xfrm>
              <a:off x="5271706" y="380238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验收测试</a:t>
              </a:r>
            </a:p>
          </p:txBody>
        </p:sp>
        <p:sp>
          <p:nvSpPr>
            <p:cNvPr id="45" name="TextBox 45"/>
            <p:cNvSpPr txBox="1"/>
            <p:nvPr/>
          </p:nvSpPr>
          <p:spPr>
            <a:xfrm>
              <a:off x="6259449" y="3802380"/>
              <a:ext cx="178917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作为单一实体的软件系统</a:t>
              </a:r>
            </a:p>
          </p:txBody>
        </p:sp>
        <p:sp>
          <p:nvSpPr>
            <p:cNvPr id="46" name="TextBox 46"/>
            <p:cNvSpPr txBox="1"/>
            <p:nvPr/>
          </p:nvSpPr>
          <p:spPr>
            <a:xfrm>
              <a:off x="8570214" y="3802380"/>
              <a:ext cx="146608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需求说明书中的错误</a:t>
              </a:r>
            </a:p>
          </p:txBody>
        </p:sp>
        <p:sp>
          <p:nvSpPr>
            <p:cNvPr id="47" name="Rectangle 47"/>
            <p:cNvSpPr/>
            <p:nvPr/>
          </p:nvSpPr>
          <p:spPr>
            <a:xfrm>
              <a:off x="5166360" y="1524000"/>
              <a:ext cx="6492240" cy="2577465"/>
            </a:xfrm>
            <a:prstGeom prst="rect">
              <a:avLst/>
            </a:prstGeom>
            <a:noFill/>
            <a:ln w="14288">
              <a:solidFill>
                <a:srgbClr val="D9DFEA"/>
              </a:solidFill>
            </a:ln>
          </p:spPr>
        </p:sp>
        <p:sp>
          <p:nvSpPr>
            <p:cNvPr id="48" name="Rectangle 48"/>
            <p:cNvSpPr/>
            <p:nvPr/>
          </p:nvSpPr>
          <p:spPr>
            <a:xfrm>
              <a:off x="6149340" y="1524000"/>
              <a:ext cx="9525" cy="2577465"/>
            </a:xfrm>
            <a:prstGeom prst="rect">
              <a:avLst/>
            </a:prstGeom>
            <a:solidFill>
              <a:srgbClr val="D9DFEA"/>
            </a:solidFill>
            <a:ln>
              <a:noFill/>
            </a:ln>
          </p:spPr>
        </p:sp>
        <p:sp>
          <p:nvSpPr>
            <p:cNvPr id="49" name="Rectangle 49"/>
            <p:cNvSpPr/>
            <p:nvPr/>
          </p:nvSpPr>
          <p:spPr>
            <a:xfrm>
              <a:off x="8460105" y="1524000"/>
              <a:ext cx="9525" cy="2577465"/>
            </a:xfrm>
            <a:prstGeom prst="rect">
              <a:avLst/>
            </a:prstGeom>
            <a:solidFill>
              <a:srgbClr val="D9DFEA"/>
            </a:solidFill>
            <a:ln>
              <a:noFill/>
            </a:ln>
          </p:spPr>
        </p:sp>
      </p:grpSp>
      <p:grpSp>
        <p:nvGrpSpPr>
          <p:cNvPr id="64" name="c2-card-2"/>
          <p:cNvGrpSpPr/>
          <p:nvPr/>
        </p:nvGrpSpPr>
        <p:grpSpPr>
          <a:xfrm>
            <a:off x="5166360" y="4287202"/>
            <a:ext cx="6492240" cy="1982152"/>
            <a:chOff x="5166360" y="4287202"/>
            <a:chExt cx="6492240" cy="1982152"/>
          </a:xfrm>
        </p:grpSpPr>
        <p:sp>
          <p:nvSpPr>
            <p:cNvPr id="51" name="Rectangle 51"/>
            <p:cNvSpPr/>
            <p:nvPr/>
          </p:nvSpPr>
          <p:spPr>
            <a:xfrm>
              <a:off x="5166360" y="4287202"/>
              <a:ext cx="6492240" cy="1982152"/>
            </a:xfrm>
            <a:prstGeom prst="roundRect">
              <a:avLst>
                <a:gd name="adj" fmla="val 6728"/>
              </a:avLst>
            </a:prstGeom>
            <a:solidFill>
              <a:srgbClr val="FFFFFF"/>
            </a:solidFill>
            <a:ln w="14288">
              <a:solidFill>
                <a:srgbClr val="D9DFEA"/>
              </a:solidFill>
            </a:ln>
          </p:spPr>
        </p:sp>
        <p:sp>
          <p:nvSpPr>
            <p:cNvPr id="52" name="Rectangle 52"/>
            <p:cNvSpPr/>
            <p:nvPr/>
          </p:nvSpPr>
          <p:spPr>
            <a:xfrm>
              <a:off x="5175885" y="4420552"/>
              <a:ext cx="47625" cy="1715452"/>
            </a:xfrm>
            <a:prstGeom prst="roundRect">
              <a:avLst>
                <a:gd name="adj" fmla="val 50000"/>
              </a:avLst>
            </a:prstGeom>
            <a:solidFill>
              <a:srgbClr val="D97706"/>
            </a:solidFill>
            <a:ln>
              <a:noFill/>
            </a:ln>
          </p:spPr>
        </p:sp>
        <p:sp>
          <p:nvSpPr>
            <p:cNvPr id="53" name="Rectangle 53"/>
            <p:cNvSpPr/>
            <p:nvPr/>
          </p:nvSpPr>
          <p:spPr>
            <a:xfrm>
              <a:off x="5408295" y="4491038"/>
              <a:ext cx="778192" cy="257175"/>
            </a:xfrm>
            <a:prstGeom prst="roundRect">
              <a:avLst>
                <a:gd name="adj" fmla="val 50000"/>
              </a:avLst>
            </a:prstGeom>
            <a:solidFill>
              <a:srgbClr val="FEF3C7"/>
            </a:solidFill>
            <a:ln>
              <a:noFill/>
            </a:ln>
          </p:spPr>
        </p:sp>
        <p:sp>
          <p:nvSpPr>
            <p:cNvPr id="54" name="TextBox 54"/>
            <p:cNvSpPr txBox="1"/>
            <p:nvPr/>
          </p:nvSpPr>
          <p:spPr>
            <a:xfrm>
              <a:off x="5490604" y="4526756"/>
              <a:ext cx="614528" cy="220028"/>
            </a:xfrm>
            <a:prstGeom prst="rect">
              <a:avLst/>
            </a:prstGeom>
            <a:noFill/>
            <a:ln>
              <a:noFill/>
            </a:ln>
          </p:spPr>
          <p:txBody>
            <a:bodyPr wrap="none" lIns="0" tIns="0" rIns="0" bIns="0" anchor="t" anchorCtr="0">
              <a:spAutoFit/>
            </a:bodyPr>
            <a:lstStyle/>
            <a:p>
              <a:pPr algn="ctr"/>
              <a:r>
                <a:rPr lang="zh-CN" sz="1120" b="1" dirty="0">
                  <a:solidFill>
                    <a:srgbClr val="92400E"/>
                  </a:solidFill>
                  <a:latin typeface="+mn-lt"/>
                  <a:ea typeface="+mn-ea"/>
                  <a:cs typeface="+mn-cs"/>
                </a:rPr>
                <a:t>平行运行</a:t>
              </a:r>
            </a:p>
          </p:txBody>
        </p:sp>
        <p:sp>
          <p:nvSpPr>
            <p:cNvPr id="55" name="TextBox 55"/>
            <p:cNvSpPr txBox="1"/>
            <p:nvPr/>
          </p:nvSpPr>
          <p:spPr>
            <a:xfrm>
              <a:off x="6293548" y="4530566"/>
              <a:ext cx="307304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新旧两个系统同时跑，比较处理结果</a:t>
              </a:r>
            </a:p>
          </p:txBody>
        </p:sp>
        <p:sp>
          <p:nvSpPr>
            <p:cNvPr id="56" name="Ellipse 56"/>
            <p:cNvSpPr/>
            <p:nvPr/>
          </p:nvSpPr>
          <p:spPr>
            <a:xfrm>
              <a:off x="5415915" y="4942522"/>
              <a:ext cx="60960" cy="60960"/>
            </a:xfrm>
            <a:prstGeom prst="ellipse">
              <a:avLst/>
            </a:prstGeom>
            <a:solidFill>
              <a:srgbClr val="334E68"/>
            </a:solidFill>
            <a:ln>
              <a:noFill/>
            </a:ln>
          </p:spPr>
        </p:sp>
        <p:sp>
          <p:nvSpPr>
            <p:cNvPr id="57" name="TextBox 57"/>
            <p:cNvSpPr txBox="1"/>
            <p:nvPr/>
          </p:nvSpPr>
          <p:spPr>
            <a:xfrm>
              <a:off x="5572506" y="4882039"/>
              <a:ext cx="326420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在准生产环境中运行新系统而不冒风险</a:t>
              </a:r>
            </a:p>
          </p:txBody>
        </p:sp>
        <p:sp>
          <p:nvSpPr>
            <p:cNvPr id="58" name="Ellipse 58"/>
            <p:cNvSpPr/>
            <p:nvPr/>
          </p:nvSpPr>
          <p:spPr>
            <a:xfrm>
              <a:off x="5415915" y="5262562"/>
              <a:ext cx="60960" cy="60960"/>
            </a:xfrm>
            <a:prstGeom prst="ellipse">
              <a:avLst/>
            </a:prstGeom>
            <a:solidFill>
              <a:srgbClr val="334E68"/>
            </a:solidFill>
            <a:ln>
              <a:noFill/>
            </a:ln>
          </p:spPr>
        </p:sp>
        <p:sp>
          <p:nvSpPr>
            <p:cNvPr id="59" name="TextBox 59"/>
            <p:cNvSpPr txBox="1"/>
            <p:nvPr/>
          </p:nvSpPr>
          <p:spPr>
            <a:xfrm>
              <a:off x="5572506" y="5202079"/>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用户有一段熟悉新系统的时间</a:t>
              </a:r>
            </a:p>
          </p:txBody>
        </p:sp>
        <p:sp>
          <p:nvSpPr>
            <p:cNvPr id="60" name="Ellipse 60"/>
            <p:cNvSpPr/>
            <p:nvPr/>
          </p:nvSpPr>
          <p:spPr>
            <a:xfrm>
              <a:off x="5415915" y="5582602"/>
              <a:ext cx="60960" cy="60960"/>
            </a:xfrm>
            <a:prstGeom prst="ellipse">
              <a:avLst/>
            </a:prstGeom>
            <a:solidFill>
              <a:srgbClr val="334E68"/>
            </a:solidFill>
            <a:ln>
              <a:noFill/>
            </a:ln>
          </p:spPr>
        </p:sp>
        <p:sp>
          <p:nvSpPr>
            <p:cNvPr id="61" name="TextBox 61"/>
            <p:cNvSpPr txBox="1"/>
            <p:nvPr/>
          </p:nvSpPr>
          <p:spPr>
            <a:xfrm>
              <a:off x="5572506" y="5522119"/>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可以验证用户指南和使用手册之类的文档</a:t>
              </a:r>
            </a:p>
          </p:txBody>
        </p:sp>
        <p:sp>
          <p:nvSpPr>
            <p:cNvPr id="62" name="Ellipse 62"/>
            <p:cNvSpPr/>
            <p:nvPr/>
          </p:nvSpPr>
          <p:spPr>
            <a:xfrm>
              <a:off x="5415915" y="5902642"/>
              <a:ext cx="60960" cy="60960"/>
            </a:xfrm>
            <a:prstGeom prst="ellipse">
              <a:avLst/>
            </a:prstGeom>
            <a:solidFill>
              <a:srgbClr val="334E68"/>
            </a:solidFill>
            <a:ln>
              <a:noFill/>
            </a:ln>
          </p:spPr>
        </p:sp>
        <p:sp>
          <p:nvSpPr>
            <p:cNvPr id="63" name="TextBox 63"/>
            <p:cNvSpPr txBox="1"/>
            <p:nvPr/>
          </p:nvSpPr>
          <p:spPr>
            <a:xfrm>
              <a:off x="5572506" y="5842159"/>
              <a:ext cx="460232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能以准生产模式全负荷测试，用测试结果验证性能指标</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软件测试基础</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测试与开发过程的对应关系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4908093" cy="308039"/>
            <a:chOff x="525399" y="1550194"/>
            <a:chExt cx="4908093" cy="308039"/>
          </a:xfrm>
        </p:grpSpPr>
        <p:sp>
          <p:nvSpPr>
            <p:cNvPr id="7" name="TextBox 7"/>
            <p:cNvSpPr txBox="1"/>
            <p:nvPr/>
          </p:nvSpPr>
          <p:spPr>
            <a:xfrm>
              <a:off x="525399" y="1550194"/>
              <a:ext cx="4908093"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每一级测试都有一份开发阶段的文档作为它的依据。</a:t>
              </a:r>
            </a:p>
          </p:txBody>
        </p:sp>
      </p:grpSp>
      <p:grpSp>
        <p:nvGrpSpPr>
          <p:cNvPr id="37" name="c1-flow-1"/>
          <p:cNvGrpSpPr/>
          <p:nvPr/>
        </p:nvGrpSpPr>
        <p:grpSpPr>
          <a:xfrm>
            <a:off x="669608" y="2772728"/>
            <a:ext cx="5571172" cy="2486024"/>
            <a:chOff x="669608" y="2772728"/>
            <a:chExt cx="5571172" cy="2486024"/>
          </a:xfrm>
        </p:grpSpPr>
        <p:sp>
          <p:nvSpPr>
            <p:cNvPr id="9" name="Freeform 9"/>
            <p:cNvSpPr/>
            <p:nvPr/>
          </p:nvSpPr>
          <p:spPr>
            <a:xfrm>
              <a:off x="2345055" y="2991802"/>
              <a:ext cx="167640" cy="9525"/>
            </a:xfrm>
            <a:custGeom>
              <a:avLst/>
              <a:gdLst/>
              <a:ahLst/>
              <a:cxnLst/>
              <a:rect l="l" t="t" r="r" b="b"/>
              <a:pathLst>
                <a:path w="167640" h="9525">
                  <a:moveTo>
                    <a:pt x="0" y="0"/>
                  </a:moveTo>
                  <a:lnTo>
                    <a:pt x="167640" y="0"/>
                  </a:lnTo>
                </a:path>
              </a:pathLst>
            </a:custGeom>
            <a:noFill/>
            <a:ln w="15240">
              <a:solidFill>
                <a:srgbClr val="5B6475"/>
              </a:solidFill>
            </a:ln>
          </p:spPr>
        </p:sp>
        <p:sp>
          <p:nvSpPr>
            <p:cNvPr id="10" name="Freeform 10"/>
            <p:cNvSpPr/>
            <p:nvPr/>
          </p:nvSpPr>
          <p:spPr>
            <a:xfrm>
              <a:off x="2512695" y="293941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1" name="Freeform 11"/>
            <p:cNvSpPr/>
            <p:nvPr/>
          </p:nvSpPr>
          <p:spPr>
            <a:xfrm>
              <a:off x="4291965" y="2991802"/>
              <a:ext cx="168592" cy="9525"/>
            </a:xfrm>
            <a:custGeom>
              <a:avLst/>
              <a:gdLst/>
              <a:ahLst/>
              <a:cxnLst/>
              <a:rect l="l" t="t" r="r" b="b"/>
              <a:pathLst>
                <a:path w="168592" h="9525">
                  <a:moveTo>
                    <a:pt x="0" y="0"/>
                  </a:moveTo>
                  <a:lnTo>
                    <a:pt x="168592" y="0"/>
                  </a:lnTo>
                </a:path>
              </a:pathLst>
            </a:custGeom>
            <a:noFill/>
            <a:ln w="15240">
              <a:solidFill>
                <a:srgbClr val="5B6475"/>
              </a:solidFill>
            </a:ln>
          </p:spPr>
        </p:sp>
        <p:sp>
          <p:nvSpPr>
            <p:cNvPr id="12" name="Freeform 12"/>
            <p:cNvSpPr/>
            <p:nvPr/>
          </p:nvSpPr>
          <p:spPr>
            <a:xfrm>
              <a:off x="4460558" y="293941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3" name="Freeform 13"/>
            <p:cNvSpPr/>
            <p:nvPr/>
          </p:nvSpPr>
          <p:spPr>
            <a:xfrm>
              <a:off x="5402580" y="3210878"/>
              <a:ext cx="9525" cy="1504950"/>
            </a:xfrm>
            <a:custGeom>
              <a:avLst/>
              <a:gdLst/>
              <a:ahLst/>
              <a:cxnLst/>
              <a:rect l="l" t="t" r="r" b="b"/>
              <a:pathLst>
                <a:path w="9525" h="1504950">
                  <a:moveTo>
                    <a:pt x="0" y="0"/>
                  </a:moveTo>
                  <a:lnTo>
                    <a:pt x="0" y="1504950"/>
                  </a:lnTo>
                </a:path>
              </a:pathLst>
            </a:custGeom>
            <a:noFill/>
            <a:ln w="15240">
              <a:solidFill>
                <a:srgbClr val="5B6475"/>
              </a:solidFill>
            </a:ln>
          </p:spPr>
        </p:sp>
        <p:sp>
          <p:nvSpPr>
            <p:cNvPr id="14" name="Freeform 14"/>
            <p:cNvSpPr/>
            <p:nvPr/>
          </p:nvSpPr>
          <p:spPr>
            <a:xfrm>
              <a:off x="5350192" y="471582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4396740" y="5039678"/>
              <a:ext cx="168592" cy="9525"/>
            </a:xfrm>
            <a:custGeom>
              <a:avLst/>
              <a:gdLst/>
              <a:ahLst/>
              <a:cxnLst/>
              <a:rect l="l" t="t" r="r" b="b"/>
              <a:pathLst>
                <a:path w="168592" h="9525">
                  <a:moveTo>
                    <a:pt x="168592" y="0"/>
                  </a:moveTo>
                  <a:lnTo>
                    <a:pt x="0" y="0"/>
                  </a:lnTo>
                </a:path>
              </a:pathLst>
            </a:custGeom>
            <a:noFill/>
            <a:ln w="15240">
              <a:solidFill>
                <a:srgbClr val="5B6475"/>
              </a:solidFill>
            </a:ln>
          </p:spPr>
        </p:sp>
        <p:sp>
          <p:nvSpPr>
            <p:cNvPr id="16" name="Freeform 16"/>
            <p:cNvSpPr/>
            <p:nvPr/>
          </p:nvSpPr>
          <p:spPr>
            <a:xfrm>
              <a:off x="4291965" y="4987290"/>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17" name="Freeform 17"/>
            <p:cNvSpPr/>
            <p:nvPr/>
          </p:nvSpPr>
          <p:spPr>
            <a:xfrm>
              <a:off x="2449830" y="5039678"/>
              <a:ext cx="167640" cy="9525"/>
            </a:xfrm>
            <a:custGeom>
              <a:avLst/>
              <a:gdLst/>
              <a:ahLst/>
              <a:cxnLst/>
              <a:rect l="l" t="t" r="r" b="b"/>
              <a:pathLst>
                <a:path w="167640" h="9525">
                  <a:moveTo>
                    <a:pt x="167640" y="0"/>
                  </a:moveTo>
                  <a:lnTo>
                    <a:pt x="0" y="0"/>
                  </a:lnTo>
                </a:path>
              </a:pathLst>
            </a:custGeom>
            <a:noFill/>
            <a:ln w="15240">
              <a:solidFill>
                <a:srgbClr val="5B6475"/>
              </a:solidFill>
            </a:ln>
          </p:spPr>
        </p:sp>
        <p:sp>
          <p:nvSpPr>
            <p:cNvPr id="18" name="Freeform 18"/>
            <p:cNvSpPr/>
            <p:nvPr/>
          </p:nvSpPr>
          <p:spPr>
            <a:xfrm>
              <a:off x="2345055" y="4987290"/>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19" name="Rectangle 19"/>
            <p:cNvSpPr/>
            <p:nvPr/>
          </p:nvSpPr>
          <p:spPr>
            <a:xfrm>
              <a:off x="669608" y="2772728"/>
              <a:ext cx="1675448" cy="438150"/>
            </a:xfrm>
            <a:prstGeom prst="roundRect">
              <a:avLst>
                <a:gd name="adj" fmla="val 50000"/>
              </a:avLst>
            </a:prstGeom>
            <a:solidFill>
              <a:srgbClr val="334E68"/>
            </a:solidFill>
            <a:ln>
              <a:noFill/>
            </a:ln>
          </p:spPr>
        </p:sp>
        <p:sp>
          <p:nvSpPr>
            <p:cNvPr id="20" name="Rectangle 20"/>
            <p:cNvSpPr/>
            <p:nvPr/>
          </p:nvSpPr>
          <p:spPr>
            <a:xfrm>
              <a:off x="2617470" y="2772728"/>
              <a:ext cx="1675448" cy="438150"/>
            </a:xfrm>
            <a:prstGeom prst="roundRect">
              <a:avLst>
                <a:gd name="adj" fmla="val 21739"/>
              </a:avLst>
            </a:prstGeom>
            <a:solidFill>
              <a:srgbClr val="FFFFFF"/>
            </a:solidFill>
            <a:ln w="15240">
              <a:solidFill>
                <a:srgbClr val="334E68"/>
              </a:solidFill>
            </a:ln>
          </p:spPr>
        </p:sp>
        <p:sp>
          <p:nvSpPr>
            <p:cNvPr id="21" name="Rectangle 21"/>
            <p:cNvSpPr/>
            <p:nvPr/>
          </p:nvSpPr>
          <p:spPr>
            <a:xfrm>
              <a:off x="4565332" y="2772728"/>
              <a:ext cx="1675448" cy="438150"/>
            </a:xfrm>
            <a:prstGeom prst="roundRect">
              <a:avLst>
                <a:gd name="adj" fmla="val 21739"/>
              </a:avLst>
            </a:prstGeom>
            <a:solidFill>
              <a:srgbClr val="FFFFFF"/>
            </a:solidFill>
            <a:ln w="15240">
              <a:solidFill>
                <a:srgbClr val="334E68"/>
              </a:solidFill>
            </a:ln>
          </p:spPr>
        </p:sp>
        <p:sp>
          <p:nvSpPr>
            <p:cNvPr id="22" name="Rectangle 22"/>
            <p:cNvSpPr/>
            <p:nvPr/>
          </p:nvSpPr>
          <p:spPr>
            <a:xfrm>
              <a:off x="669608" y="4820602"/>
              <a:ext cx="1675448" cy="438150"/>
            </a:xfrm>
            <a:prstGeom prst="roundRect">
              <a:avLst>
                <a:gd name="adj" fmla="val 50000"/>
              </a:avLst>
            </a:prstGeom>
            <a:solidFill>
              <a:srgbClr val="334E68"/>
            </a:solidFill>
            <a:ln>
              <a:noFill/>
            </a:ln>
          </p:spPr>
        </p:sp>
        <p:sp>
          <p:nvSpPr>
            <p:cNvPr id="23" name="Rectangle 23"/>
            <p:cNvSpPr/>
            <p:nvPr/>
          </p:nvSpPr>
          <p:spPr>
            <a:xfrm>
              <a:off x="2617470" y="4820602"/>
              <a:ext cx="1675448" cy="438150"/>
            </a:xfrm>
            <a:prstGeom prst="roundRect">
              <a:avLst>
                <a:gd name="adj" fmla="val 21739"/>
              </a:avLst>
            </a:prstGeom>
            <a:solidFill>
              <a:srgbClr val="FFFFFF"/>
            </a:solidFill>
            <a:ln w="15240">
              <a:solidFill>
                <a:srgbClr val="334E68"/>
              </a:solidFill>
            </a:ln>
          </p:spPr>
        </p:sp>
        <p:sp>
          <p:nvSpPr>
            <p:cNvPr id="24" name="Rectangle 24"/>
            <p:cNvSpPr/>
            <p:nvPr/>
          </p:nvSpPr>
          <p:spPr>
            <a:xfrm>
              <a:off x="4565332" y="4820602"/>
              <a:ext cx="1675448" cy="438150"/>
            </a:xfrm>
            <a:prstGeom prst="roundRect">
              <a:avLst>
                <a:gd name="adj" fmla="val 21739"/>
              </a:avLst>
            </a:prstGeom>
            <a:solidFill>
              <a:srgbClr val="E7EDF3"/>
            </a:solidFill>
            <a:ln w="19050">
              <a:solidFill>
                <a:srgbClr val="334E68"/>
              </a:solidFill>
            </a:ln>
          </p:spPr>
        </p:sp>
        <p:sp>
          <p:nvSpPr>
            <p:cNvPr id="25" name="TextBox 25"/>
            <p:cNvSpPr txBox="1"/>
            <p:nvPr/>
          </p:nvSpPr>
          <p:spPr>
            <a:xfrm>
              <a:off x="1155751" y="2902744"/>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需求分析</a:t>
              </a:r>
            </a:p>
          </p:txBody>
        </p:sp>
        <p:sp>
          <p:nvSpPr>
            <p:cNvPr id="26" name="TextBox 26"/>
            <p:cNvSpPr txBox="1"/>
            <p:nvPr/>
          </p:nvSpPr>
          <p:spPr>
            <a:xfrm>
              <a:off x="3275927" y="2902744"/>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设计</a:t>
              </a:r>
            </a:p>
          </p:txBody>
        </p:sp>
        <p:sp>
          <p:nvSpPr>
            <p:cNvPr id="27" name="TextBox 27"/>
            <p:cNvSpPr txBox="1"/>
            <p:nvPr/>
          </p:nvSpPr>
          <p:spPr>
            <a:xfrm>
              <a:off x="5223789" y="2902744"/>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编程</a:t>
              </a:r>
            </a:p>
          </p:txBody>
        </p:sp>
        <p:sp>
          <p:nvSpPr>
            <p:cNvPr id="28" name="TextBox 28"/>
            <p:cNvSpPr txBox="1"/>
            <p:nvPr/>
          </p:nvSpPr>
          <p:spPr>
            <a:xfrm>
              <a:off x="1155751" y="4950619"/>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确认测试</a:t>
              </a:r>
            </a:p>
          </p:txBody>
        </p:sp>
        <p:sp>
          <p:nvSpPr>
            <p:cNvPr id="29" name="TextBox 29"/>
            <p:cNvSpPr txBox="1"/>
            <p:nvPr/>
          </p:nvSpPr>
          <p:spPr>
            <a:xfrm>
              <a:off x="3103613" y="4950619"/>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集成测试</a:t>
              </a:r>
            </a:p>
          </p:txBody>
        </p:sp>
        <p:sp>
          <p:nvSpPr>
            <p:cNvPr id="30" name="TextBox 30"/>
            <p:cNvSpPr txBox="1"/>
            <p:nvPr/>
          </p:nvSpPr>
          <p:spPr>
            <a:xfrm>
              <a:off x="5051476" y="4950619"/>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单元测试</a:t>
              </a:r>
            </a:p>
          </p:txBody>
        </p:sp>
        <p:sp>
          <p:nvSpPr>
            <p:cNvPr id="31" name="Rectangle 31"/>
            <p:cNvSpPr/>
            <p:nvPr/>
          </p:nvSpPr>
          <p:spPr>
            <a:xfrm>
              <a:off x="5431155" y="3923348"/>
              <a:ext cx="628650" cy="193358"/>
            </a:xfrm>
            <a:prstGeom prst="roundRect">
              <a:avLst>
                <a:gd name="adj" fmla="val 19704"/>
              </a:avLst>
            </a:prstGeom>
            <a:solidFill>
              <a:srgbClr val="FFFFFF"/>
            </a:solidFill>
            <a:ln>
              <a:noFill/>
            </a:ln>
          </p:spPr>
        </p:sp>
        <p:sp>
          <p:nvSpPr>
            <p:cNvPr id="32" name="TextBox 32"/>
            <p:cNvSpPr txBox="1"/>
            <p:nvPr/>
          </p:nvSpPr>
          <p:spPr>
            <a:xfrm>
              <a:off x="5454396" y="3950018"/>
              <a:ext cx="576072"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交出模块</a:t>
              </a:r>
            </a:p>
          </p:txBody>
        </p:sp>
        <p:sp>
          <p:nvSpPr>
            <p:cNvPr id="33" name="Rectangle 33"/>
            <p:cNvSpPr/>
            <p:nvPr/>
          </p:nvSpPr>
          <p:spPr>
            <a:xfrm>
              <a:off x="4248150" y="4579620"/>
              <a:ext cx="361950" cy="193358"/>
            </a:xfrm>
            <a:prstGeom prst="roundRect">
              <a:avLst>
                <a:gd name="adj" fmla="val 19704"/>
              </a:avLst>
            </a:prstGeom>
            <a:solidFill>
              <a:srgbClr val="FFFFFF"/>
            </a:solidFill>
            <a:ln>
              <a:noFill/>
            </a:ln>
          </p:spPr>
        </p:sp>
        <p:sp>
          <p:nvSpPr>
            <p:cNvPr id="34" name="TextBox 34"/>
            <p:cNvSpPr txBox="1"/>
            <p:nvPr/>
          </p:nvSpPr>
          <p:spPr>
            <a:xfrm>
              <a:off x="4282440" y="4606290"/>
              <a:ext cx="293370"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组装</a:t>
              </a:r>
            </a:p>
          </p:txBody>
        </p:sp>
        <p:sp>
          <p:nvSpPr>
            <p:cNvPr id="35" name="Rectangle 35"/>
            <p:cNvSpPr/>
            <p:nvPr/>
          </p:nvSpPr>
          <p:spPr>
            <a:xfrm>
              <a:off x="2233612" y="4579620"/>
              <a:ext cx="495300" cy="193358"/>
            </a:xfrm>
            <a:prstGeom prst="roundRect">
              <a:avLst>
                <a:gd name="adj" fmla="val 19704"/>
              </a:avLst>
            </a:prstGeom>
            <a:solidFill>
              <a:srgbClr val="FFFFFF"/>
            </a:solidFill>
            <a:ln>
              <a:noFill/>
            </a:ln>
          </p:spPr>
        </p:sp>
        <p:sp>
          <p:nvSpPr>
            <p:cNvPr id="36" name="TextBox 36"/>
            <p:cNvSpPr txBox="1"/>
            <p:nvPr/>
          </p:nvSpPr>
          <p:spPr>
            <a:xfrm>
              <a:off x="2263902" y="4606290"/>
              <a:ext cx="434721"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交付前</a:t>
              </a:r>
            </a:p>
          </p:txBody>
        </p:sp>
      </p:grpSp>
      <p:grpSp>
        <p:nvGrpSpPr>
          <p:cNvPr id="49" name="c2-kv-1"/>
          <p:cNvGrpSpPr/>
          <p:nvPr/>
        </p:nvGrpSpPr>
        <p:grpSpPr>
          <a:xfrm>
            <a:off x="6673215" y="1992630"/>
            <a:ext cx="4985385" cy="1613535"/>
            <a:chOff x="6673215" y="1992630"/>
            <a:chExt cx="4985385" cy="1613535"/>
          </a:xfrm>
        </p:grpSpPr>
        <p:sp>
          <p:nvSpPr>
            <p:cNvPr id="38" name="TextBox 38"/>
            <p:cNvSpPr txBox="1"/>
            <p:nvPr/>
          </p:nvSpPr>
          <p:spPr>
            <a:xfrm>
              <a:off x="6673215" y="1992630"/>
              <a:ext cx="142875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需求分析说明书</a:t>
              </a:r>
            </a:p>
          </p:txBody>
        </p:sp>
        <p:sp>
          <p:nvSpPr>
            <p:cNvPr id="39" name="TextBox 39"/>
            <p:cNvSpPr txBox="1"/>
            <p:nvPr/>
          </p:nvSpPr>
          <p:spPr>
            <a:xfrm>
              <a:off x="8310562" y="1992630"/>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确认测试的依据</a:t>
              </a:r>
            </a:p>
          </p:txBody>
        </p:sp>
        <p:sp>
          <p:nvSpPr>
            <p:cNvPr id="40" name="Rectangle 40"/>
            <p:cNvSpPr/>
            <p:nvPr/>
          </p:nvSpPr>
          <p:spPr>
            <a:xfrm>
              <a:off x="6680835" y="2312670"/>
              <a:ext cx="4977765" cy="9525"/>
            </a:xfrm>
            <a:prstGeom prst="rect">
              <a:avLst/>
            </a:prstGeom>
            <a:solidFill>
              <a:srgbClr val="D9DFEA"/>
            </a:solidFill>
            <a:ln>
              <a:noFill/>
            </a:ln>
          </p:spPr>
        </p:sp>
        <p:sp>
          <p:nvSpPr>
            <p:cNvPr id="41" name="TextBox 41"/>
            <p:cNvSpPr txBox="1"/>
            <p:nvPr/>
          </p:nvSpPr>
          <p:spPr>
            <a:xfrm>
              <a:off x="6673215" y="2432685"/>
              <a:ext cx="142875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概要设计说明书</a:t>
              </a:r>
            </a:p>
          </p:txBody>
        </p:sp>
        <p:sp>
          <p:nvSpPr>
            <p:cNvPr id="42" name="TextBox 42"/>
            <p:cNvSpPr txBox="1"/>
            <p:nvPr/>
          </p:nvSpPr>
          <p:spPr>
            <a:xfrm>
              <a:off x="8310562" y="243268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集成测试的依据</a:t>
              </a:r>
            </a:p>
          </p:txBody>
        </p:sp>
        <p:sp>
          <p:nvSpPr>
            <p:cNvPr id="43" name="Rectangle 43"/>
            <p:cNvSpPr/>
            <p:nvPr/>
          </p:nvSpPr>
          <p:spPr>
            <a:xfrm>
              <a:off x="6680835" y="2752725"/>
              <a:ext cx="4977765" cy="9525"/>
            </a:xfrm>
            <a:prstGeom prst="rect">
              <a:avLst/>
            </a:prstGeom>
            <a:solidFill>
              <a:srgbClr val="D9DFEA"/>
            </a:solidFill>
            <a:ln>
              <a:noFill/>
            </a:ln>
          </p:spPr>
        </p:sp>
        <p:sp>
          <p:nvSpPr>
            <p:cNvPr id="44" name="TextBox 44"/>
            <p:cNvSpPr txBox="1"/>
            <p:nvPr/>
          </p:nvSpPr>
          <p:spPr>
            <a:xfrm>
              <a:off x="6673215" y="2872740"/>
              <a:ext cx="142875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详细设计说明书</a:t>
              </a:r>
            </a:p>
          </p:txBody>
        </p:sp>
        <p:sp>
          <p:nvSpPr>
            <p:cNvPr id="45" name="TextBox 45"/>
            <p:cNvSpPr txBox="1"/>
            <p:nvPr/>
          </p:nvSpPr>
          <p:spPr>
            <a:xfrm>
              <a:off x="8310562" y="2872740"/>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单元测试的依据</a:t>
              </a:r>
            </a:p>
          </p:txBody>
        </p:sp>
        <p:sp>
          <p:nvSpPr>
            <p:cNvPr id="46" name="Rectangle 46"/>
            <p:cNvSpPr/>
            <p:nvPr/>
          </p:nvSpPr>
          <p:spPr>
            <a:xfrm>
              <a:off x="6680835" y="3192780"/>
              <a:ext cx="4977765" cy="9525"/>
            </a:xfrm>
            <a:prstGeom prst="rect">
              <a:avLst/>
            </a:prstGeom>
            <a:solidFill>
              <a:srgbClr val="D9DFEA"/>
            </a:solidFill>
            <a:ln>
              <a:noFill/>
            </a:ln>
          </p:spPr>
        </p:sp>
        <p:sp>
          <p:nvSpPr>
            <p:cNvPr id="47" name="TextBox 47"/>
            <p:cNvSpPr txBox="1"/>
            <p:nvPr/>
          </p:nvSpPr>
          <p:spPr>
            <a:xfrm>
              <a:off x="6673215" y="3312795"/>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源程序代码</a:t>
              </a:r>
            </a:p>
          </p:txBody>
        </p:sp>
        <p:sp>
          <p:nvSpPr>
            <p:cNvPr id="48" name="TextBox 48"/>
            <p:cNvSpPr txBox="1"/>
            <p:nvPr/>
          </p:nvSpPr>
          <p:spPr>
            <a:xfrm>
              <a:off x="8310562" y="331279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白盒测试用例的依据</a:t>
              </a:r>
            </a:p>
          </p:txBody>
        </p:sp>
      </p:grpSp>
      <p:grpSp>
        <p:nvGrpSpPr>
          <p:cNvPr id="55" name="c2-callout-2"/>
          <p:cNvGrpSpPr/>
          <p:nvPr/>
        </p:nvGrpSpPr>
        <p:grpSpPr>
          <a:xfrm>
            <a:off x="6680835" y="3737610"/>
            <a:ext cx="4977765" cy="1059180"/>
            <a:chOff x="6680835" y="3737610"/>
            <a:chExt cx="4977765" cy="1059180"/>
          </a:xfrm>
        </p:grpSpPr>
        <p:sp>
          <p:nvSpPr>
            <p:cNvPr id="50" name="Rectangle 50"/>
            <p:cNvSpPr/>
            <p:nvPr/>
          </p:nvSpPr>
          <p:spPr>
            <a:xfrm>
              <a:off x="6680835" y="3737610"/>
              <a:ext cx="4977765" cy="1059180"/>
            </a:xfrm>
            <a:prstGeom prst="roundRect">
              <a:avLst>
                <a:gd name="adj" fmla="val 10791"/>
              </a:avLst>
            </a:prstGeom>
            <a:solidFill>
              <a:srgbClr val="334E68"/>
            </a:solidFill>
            <a:ln>
              <a:noFill/>
            </a:ln>
          </p:spPr>
        </p:sp>
        <p:grpSp>
          <p:nvGrpSpPr>
            <p:cNvPr id="53" name="Group 53"/>
            <p:cNvGrpSpPr/>
            <p:nvPr/>
          </p:nvGrpSpPr>
          <p:grpSpPr>
            <a:xfrm>
              <a:off x="6885623" y="4167190"/>
              <a:ext cx="200023" cy="200023"/>
              <a:chOff x="6885623" y="4167190"/>
              <a:chExt cx="200023" cy="200023"/>
            </a:xfrm>
          </p:grpSpPr>
          <p:sp>
            <p:nvSpPr>
              <p:cNvPr id="51" name="Freeform 51"/>
              <p:cNvSpPr/>
              <p:nvPr/>
            </p:nvSpPr>
            <p:spPr>
              <a:xfrm>
                <a:off x="6885623" y="41671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2" name="Freeform 52"/>
              <p:cNvSpPr/>
              <p:nvPr/>
            </p:nvSpPr>
            <p:spPr>
              <a:xfrm>
                <a:off x="7018973" y="42338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4" name="TextBox 54"/>
            <p:cNvSpPr txBox="1"/>
            <p:nvPr/>
          </p:nvSpPr>
          <p:spPr>
            <a:xfrm>
              <a:off x="7187565" y="3886200"/>
              <a:ext cx="40157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软件测试在软件生命周期中横跨两个阶段：编码</a:t>
              </a:r>
              <a:br/>
              <a:r>
                <a:rPr lang="zh-CN" sz="1500" dirty="0">
                  <a:solidFill>
                    <a:srgbClr val="FFFFFF"/>
                  </a:solidFill>
                  <a:latin typeface="+mn-lt"/>
                  <a:ea typeface="+mn-ea"/>
                  <a:cs typeface="+mn-cs"/>
                </a:rPr>
                <a:t>完成后的测试，以及运行维护期内每次修改后的</a:t>
              </a:r>
              <a:br/>
              <a:r>
                <a:rPr lang="zh-CN" sz="1500" dirty="0">
                  <a:solidFill>
                    <a:srgbClr val="FFFFFF"/>
                  </a:solidFill>
                  <a:latin typeface="+mn-lt"/>
                  <a:ea typeface="+mn-ea"/>
                  <a:cs typeface="+mn-cs"/>
                </a:rPr>
                <a:t>回归测试。</a:t>
              </a:r>
            </a:p>
          </p:txBody>
        </p:sp>
      </p:grpSp>
      <p:grpSp>
        <p:nvGrpSpPr>
          <p:cNvPr id="62" name="c2-callout-3"/>
          <p:cNvGrpSpPr/>
          <p:nvPr/>
        </p:nvGrpSpPr>
        <p:grpSpPr>
          <a:xfrm>
            <a:off x="6680835" y="4987290"/>
            <a:ext cx="4977765" cy="1076325"/>
            <a:chOff x="6680835" y="4987290"/>
            <a:chExt cx="4977765" cy="1076325"/>
          </a:xfrm>
        </p:grpSpPr>
        <p:sp>
          <p:nvSpPr>
            <p:cNvPr id="56" name="Rectangle 56"/>
            <p:cNvSpPr/>
            <p:nvPr/>
          </p:nvSpPr>
          <p:spPr>
            <a:xfrm>
              <a:off x="6680835" y="4987290"/>
              <a:ext cx="4977765" cy="1076325"/>
            </a:xfrm>
            <a:prstGeom prst="roundRect">
              <a:avLst>
                <a:gd name="adj" fmla="val 10619"/>
              </a:avLst>
            </a:prstGeom>
            <a:solidFill>
              <a:srgbClr val="F4F6FB"/>
            </a:solidFill>
            <a:ln>
              <a:noFill/>
            </a:ln>
          </p:spPr>
        </p:sp>
        <p:grpSp>
          <p:nvGrpSpPr>
            <p:cNvPr id="60" name="Group 60"/>
            <p:cNvGrpSpPr/>
            <p:nvPr/>
          </p:nvGrpSpPr>
          <p:grpSpPr>
            <a:xfrm>
              <a:off x="6885623" y="5425440"/>
              <a:ext cx="200026" cy="200026"/>
              <a:chOff x="6885623" y="5425440"/>
              <a:chExt cx="200026" cy="200026"/>
            </a:xfrm>
          </p:grpSpPr>
          <p:sp>
            <p:nvSpPr>
              <p:cNvPr id="57" name="Freeform 57"/>
              <p:cNvSpPr/>
              <p:nvPr/>
            </p:nvSpPr>
            <p:spPr>
              <a:xfrm>
                <a:off x="6885623" y="542544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8" name="Freeform 58"/>
              <p:cNvSpPr/>
              <p:nvPr/>
            </p:nvSpPr>
            <p:spPr>
              <a:xfrm>
                <a:off x="6985635" y="549211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9" name="Freeform 59"/>
              <p:cNvSpPr/>
              <p:nvPr/>
            </p:nvSpPr>
            <p:spPr>
              <a:xfrm>
                <a:off x="6974523" y="552545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1" name="TextBox 61"/>
            <p:cNvSpPr txBox="1"/>
            <p:nvPr/>
          </p:nvSpPr>
          <p:spPr>
            <a:xfrm>
              <a:off x="7187565" y="5144452"/>
              <a:ext cx="40157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确认测试验证的是需求，集成测试验证的是设</a:t>
              </a:r>
              <a:br/>
              <a:r>
                <a:rPr lang="zh-CN" sz="1500" dirty="0">
                  <a:solidFill>
                    <a:srgbClr val="1F2937"/>
                  </a:solidFill>
                  <a:latin typeface="+mn-lt"/>
                  <a:ea typeface="+mn-ea"/>
                  <a:cs typeface="+mn-cs"/>
                </a:rPr>
                <a:t>计，单元测试验证的是编码与详细设计。测出错</a:t>
              </a:r>
              <a:br/>
              <a:r>
                <a:rPr lang="zh-CN" sz="1500" dirty="0">
                  <a:solidFill>
                    <a:srgbClr val="1F2937"/>
                  </a:solidFill>
                  <a:latin typeface="+mn-lt"/>
                  <a:ea typeface="+mn-ea"/>
                  <a:cs typeface="+mn-cs"/>
                </a:rPr>
                <a:t>误后回溯的方向也照这条对应关系走。</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115437" cy="909257"/>
            <a:chOff x="520446" y="342900"/>
            <a:chExt cx="311543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软件测试基础</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测试阶段的信息流程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7" name="c1-flow-1"/>
          <p:cNvGrpSpPr/>
          <p:nvPr/>
        </p:nvGrpSpPr>
        <p:grpSpPr>
          <a:xfrm>
            <a:off x="666750" y="1559242"/>
            <a:ext cx="6009323" cy="3676650"/>
            <a:chOff x="666750" y="1559242"/>
            <a:chExt cx="6009323" cy="3676650"/>
          </a:xfrm>
        </p:grpSpPr>
        <p:sp>
          <p:nvSpPr>
            <p:cNvPr id="7" name="Freeform 7"/>
            <p:cNvSpPr/>
            <p:nvPr/>
          </p:nvSpPr>
          <p:spPr>
            <a:xfrm>
              <a:off x="1968818" y="2222182"/>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8" name="Freeform 8"/>
            <p:cNvSpPr/>
            <p:nvPr/>
          </p:nvSpPr>
          <p:spPr>
            <a:xfrm>
              <a:off x="2130742" y="216979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9" name="Freeform 9"/>
            <p:cNvSpPr/>
            <p:nvPr/>
          </p:nvSpPr>
          <p:spPr>
            <a:xfrm>
              <a:off x="1318260" y="2546032"/>
              <a:ext cx="1568768" cy="854392"/>
            </a:xfrm>
            <a:custGeom>
              <a:avLst/>
              <a:gdLst/>
              <a:ahLst/>
              <a:cxnLst/>
              <a:rect l="l" t="t" r="r" b="b"/>
              <a:pathLst>
                <a:path w="1568768" h="854392">
                  <a:moveTo>
                    <a:pt x="0" y="854392"/>
                  </a:moveTo>
                  <a:lnTo>
                    <a:pt x="0" y="375285"/>
                  </a:lnTo>
                  <a:lnTo>
                    <a:pt x="1568768" y="375285"/>
                  </a:lnTo>
                  <a:lnTo>
                    <a:pt x="1568768" y="0"/>
                  </a:lnTo>
                </a:path>
              </a:pathLst>
            </a:custGeom>
            <a:noFill/>
            <a:ln w="15240">
              <a:solidFill>
                <a:srgbClr val="5B6475"/>
              </a:solidFill>
            </a:ln>
          </p:spPr>
        </p:sp>
        <p:sp>
          <p:nvSpPr>
            <p:cNvPr id="10" name="Freeform 10"/>
            <p:cNvSpPr/>
            <p:nvPr/>
          </p:nvSpPr>
          <p:spPr>
            <a:xfrm>
              <a:off x="2834640" y="2441258"/>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1" name="Freeform 11"/>
            <p:cNvSpPr/>
            <p:nvPr/>
          </p:nvSpPr>
          <p:spPr>
            <a:xfrm>
              <a:off x="3537585" y="2222182"/>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12" name="Freeform 12"/>
            <p:cNvSpPr/>
            <p:nvPr/>
          </p:nvSpPr>
          <p:spPr>
            <a:xfrm>
              <a:off x="3699510" y="216979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3" name="Freeform 13"/>
            <p:cNvSpPr/>
            <p:nvPr/>
          </p:nvSpPr>
          <p:spPr>
            <a:xfrm>
              <a:off x="4455795" y="2627948"/>
              <a:ext cx="9525" cy="772478"/>
            </a:xfrm>
            <a:custGeom>
              <a:avLst/>
              <a:gdLst/>
              <a:ahLst/>
              <a:cxnLst/>
              <a:rect l="l" t="t" r="r" b="b"/>
              <a:pathLst>
                <a:path w="9525" h="772478">
                  <a:moveTo>
                    <a:pt x="0" y="772478"/>
                  </a:moveTo>
                  <a:lnTo>
                    <a:pt x="0" y="0"/>
                  </a:lnTo>
                </a:path>
              </a:pathLst>
            </a:custGeom>
            <a:noFill/>
            <a:ln w="15240">
              <a:solidFill>
                <a:srgbClr val="5B6475"/>
              </a:solidFill>
            </a:ln>
          </p:spPr>
        </p:sp>
        <p:sp>
          <p:nvSpPr>
            <p:cNvPr id="14" name="Freeform 14"/>
            <p:cNvSpPr/>
            <p:nvPr/>
          </p:nvSpPr>
          <p:spPr>
            <a:xfrm>
              <a:off x="4403408" y="2523172"/>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5" name="Freeform 15"/>
            <p:cNvSpPr/>
            <p:nvPr/>
          </p:nvSpPr>
          <p:spPr>
            <a:xfrm>
              <a:off x="5107305" y="2222182"/>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16" name="Freeform 16"/>
            <p:cNvSpPr/>
            <p:nvPr/>
          </p:nvSpPr>
          <p:spPr>
            <a:xfrm>
              <a:off x="5269230" y="216979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7" name="Freeform 17"/>
            <p:cNvSpPr/>
            <p:nvPr/>
          </p:nvSpPr>
          <p:spPr>
            <a:xfrm>
              <a:off x="4455795" y="2523172"/>
              <a:ext cx="9525" cy="2169795"/>
            </a:xfrm>
            <a:custGeom>
              <a:avLst/>
              <a:gdLst/>
              <a:ahLst/>
              <a:cxnLst/>
              <a:rect l="l" t="t" r="r" b="b"/>
              <a:pathLst>
                <a:path w="9525" h="2169795">
                  <a:moveTo>
                    <a:pt x="0" y="0"/>
                  </a:moveTo>
                  <a:lnTo>
                    <a:pt x="0" y="2169795"/>
                  </a:lnTo>
                </a:path>
              </a:pathLst>
            </a:custGeom>
            <a:noFill/>
            <a:ln w="15240">
              <a:solidFill>
                <a:srgbClr val="5B6475"/>
              </a:solidFill>
            </a:ln>
          </p:spPr>
        </p:sp>
        <p:sp>
          <p:nvSpPr>
            <p:cNvPr id="18" name="Freeform 18"/>
            <p:cNvSpPr/>
            <p:nvPr/>
          </p:nvSpPr>
          <p:spPr>
            <a:xfrm>
              <a:off x="4403408" y="469296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9" name="Freeform 19"/>
            <p:cNvSpPr/>
            <p:nvPr/>
          </p:nvSpPr>
          <p:spPr>
            <a:xfrm>
              <a:off x="5107305" y="5016818"/>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20" name="Freeform 20"/>
            <p:cNvSpPr/>
            <p:nvPr/>
          </p:nvSpPr>
          <p:spPr>
            <a:xfrm>
              <a:off x="5269230" y="496443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1" name="Freeform 21"/>
            <p:cNvSpPr/>
            <p:nvPr/>
          </p:nvSpPr>
          <p:spPr>
            <a:xfrm>
              <a:off x="2887028" y="1775460"/>
              <a:ext cx="3137535" cy="227648"/>
            </a:xfrm>
            <a:custGeom>
              <a:avLst/>
              <a:gdLst/>
              <a:ahLst/>
              <a:cxnLst/>
              <a:rect l="l" t="t" r="r" b="b"/>
              <a:pathLst>
                <a:path w="3137535" h="227648">
                  <a:moveTo>
                    <a:pt x="3137535" y="227648"/>
                  </a:moveTo>
                  <a:lnTo>
                    <a:pt x="3137535" y="18098"/>
                  </a:lnTo>
                  <a:lnTo>
                    <a:pt x="3137535" y="0"/>
                  </a:lnTo>
                  <a:lnTo>
                    <a:pt x="783907" y="0"/>
                  </a:lnTo>
                  <a:lnTo>
                    <a:pt x="0" y="0"/>
                  </a:lnTo>
                  <a:lnTo>
                    <a:pt x="0" y="18098"/>
                  </a:lnTo>
                  <a:lnTo>
                    <a:pt x="0" y="122873"/>
                  </a:lnTo>
                </a:path>
              </a:pathLst>
            </a:custGeom>
            <a:noFill/>
            <a:ln w="15240">
              <a:solidFill>
                <a:srgbClr val="5B6475"/>
              </a:solidFill>
            </a:ln>
          </p:spPr>
        </p:sp>
        <p:sp>
          <p:nvSpPr>
            <p:cNvPr id="22" name="Freeform 22"/>
            <p:cNvSpPr/>
            <p:nvPr/>
          </p:nvSpPr>
          <p:spPr>
            <a:xfrm>
              <a:off x="2834640" y="189833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3" name="Freeform 23"/>
            <p:cNvSpPr/>
            <p:nvPr/>
          </p:nvSpPr>
          <p:spPr>
            <a:xfrm>
              <a:off x="666750" y="2003108"/>
              <a:ext cx="1302068" cy="438150"/>
            </a:xfrm>
            <a:custGeom>
              <a:avLst/>
              <a:gdLst/>
              <a:ahLst/>
              <a:cxnLst/>
              <a:rect l="l" t="t" r="r" b="b"/>
              <a:pathLst>
                <a:path w="1302068" h="438150">
                  <a:moveTo>
                    <a:pt x="133350" y="0"/>
                  </a:moveTo>
                  <a:lnTo>
                    <a:pt x="1302068" y="0"/>
                  </a:lnTo>
                  <a:lnTo>
                    <a:pt x="1168718" y="438150"/>
                  </a:lnTo>
                  <a:lnTo>
                    <a:pt x="0" y="438150"/>
                  </a:lnTo>
                  <a:close/>
                </a:path>
              </a:pathLst>
            </a:custGeom>
            <a:solidFill>
              <a:srgbClr val="E7EDF3"/>
            </a:solidFill>
            <a:ln w="13335">
              <a:solidFill>
                <a:srgbClr val="334E68"/>
              </a:solidFill>
            </a:ln>
          </p:spPr>
        </p:sp>
        <p:sp>
          <p:nvSpPr>
            <p:cNvPr id="24" name="Freeform 24"/>
            <p:cNvSpPr/>
            <p:nvPr/>
          </p:nvSpPr>
          <p:spPr>
            <a:xfrm>
              <a:off x="666750" y="3400425"/>
              <a:ext cx="1302068" cy="438150"/>
            </a:xfrm>
            <a:custGeom>
              <a:avLst/>
              <a:gdLst/>
              <a:ahLst/>
              <a:cxnLst/>
              <a:rect l="l" t="t" r="r" b="b"/>
              <a:pathLst>
                <a:path w="1302068" h="438150">
                  <a:moveTo>
                    <a:pt x="133350" y="0"/>
                  </a:moveTo>
                  <a:lnTo>
                    <a:pt x="1302068" y="0"/>
                  </a:lnTo>
                  <a:lnTo>
                    <a:pt x="1168718" y="438150"/>
                  </a:lnTo>
                  <a:lnTo>
                    <a:pt x="0" y="438150"/>
                  </a:lnTo>
                  <a:close/>
                </a:path>
              </a:pathLst>
            </a:custGeom>
            <a:solidFill>
              <a:srgbClr val="E7EDF3"/>
            </a:solidFill>
            <a:ln w="13335">
              <a:solidFill>
                <a:srgbClr val="334E68"/>
              </a:solidFill>
            </a:ln>
          </p:spPr>
        </p:sp>
        <p:sp>
          <p:nvSpPr>
            <p:cNvPr id="25" name="Rectangle 25"/>
            <p:cNvSpPr/>
            <p:nvPr/>
          </p:nvSpPr>
          <p:spPr>
            <a:xfrm>
              <a:off x="2235518" y="2003108"/>
              <a:ext cx="1302068" cy="438150"/>
            </a:xfrm>
            <a:prstGeom prst="roundRect">
              <a:avLst>
                <a:gd name="adj" fmla="val 21739"/>
              </a:avLst>
            </a:prstGeom>
            <a:solidFill>
              <a:srgbClr val="FFFFFF"/>
            </a:solidFill>
            <a:ln w="15240">
              <a:solidFill>
                <a:srgbClr val="334E68"/>
              </a:solidFill>
            </a:ln>
          </p:spPr>
        </p:sp>
        <p:sp>
          <p:nvSpPr>
            <p:cNvPr id="26" name="Freeform 26"/>
            <p:cNvSpPr/>
            <p:nvPr/>
          </p:nvSpPr>
          <p:spPr>
            <a:xfrm>
              <a:off x="3804285" y="1922145"/>
              <a:ext cx="1303020" cy="601027"/>
            </a:xfrm>
            <a:custGeom>
              <a:avLst/>
              <a:gdLst/>
              <a:ahLst/>
              <a:cxnLst/>
              <a:rect l="l" t="t" r="r" b="b"/>
              <a:pathLst>
                <a:path w="1303020" h="601027">
                  <a:moveTo>
                    <a:pt x="651510" y="0"/>
                  </a:moveTo>
                  <a:lnTo>
                    <a:pt x="1303020" y="300038"/>
                  </a:lnTo>
                  <a:lnTo>
                    <a:pt x="651510" y="601027"/>
                  </a:lnTo>
                  <a:lnTo>
                    <a:pt x="0" y="300038"/>
                  </a:lnTo>
                  <a:close/>
                </a:path>
              </a:pathLst>
            </a:custGeom>
            <a:solidFill>
              <a:srgbClr val="FDEEE7"/>
            </a:solidFill>
            <a:ln w="15240">
              <a:solidFill>
                <a:srgbClr val="F26B3A"/>
              </a:solidFill>
            </a:ln>
          </p:spPr>
        </p:sp>
        <p:sp>
          <p:nvSpPr>
            <p:cNvPr id="27" name="Rectangle 27"/>
            <p:cNvSpPr/>
            <p:nvPr/>
          </p:nvSpPr>
          <p:spPr>
            <a:xfrm>
              <a:off x="5374005" y="2003108"/>
              <a:ext cx="1302068" cy="438150"/>
            </a:xfrm>
            <a:prstGeom prst="roundRect">
              <a:avLst>
                <a:gd name="adj" fmla="val 21739"/>
              </a:avLst>
            </a:prstGeom>
            <a:solidFill>
              <a:srgbClr val="E7EDF3"/>
            </a:solidFill>
            <a:ln w="19050">
              <a:solidFill>
                <a:srgbClr val="334E68"/>
              </a:solidFill>
            </a:ln>
          </p:spPr>
        </p:sp>
        <p:sp>
          <p:nvSpPr>
            <p:cNvPr id="28" name="Freeform 28"/>
            <p:cNvSpPr/>
            <p:nvPr/>
          </p:nvSpPr>
          <p:spPr>
            <a:xfrm>
              <a:off x="3804285" y="3400425"/>
              <a:ext cx="1303020" cy="438150"/>
            </a:xfrm>
            <a:custGeom>
              <a:avLst/>
              <a:gdLst/>
              <a:ahLst/>
              <a:cxnLst/>
              <a:rect l="l" t="t" r="r" b="b"/>
              <a:pathLst>
                <a:path w="1303020" h="438150">
                  <a:moveTo>
                    <a:pt x="133350" y="0"/>
                  </a:moveTo>
                  <a:lnTo>
                    <a:pt x="1303020" y="0"/>
                  </a:lnTo>
                  <a:lnTo>
                    <a:pt x="1169670" y="438150"/>
                  </a:lnTo>
                  <a:lnTo>
                    <a:pt x="0" y="438150"/>
                  </a:lnTo>
                  <a:close/>
                </a:path>
              </a:pathLst>
            </a:custGeom>
            <a:solidFill>
              <a:srgbClr val="E7EDF3"/>
            </a:solidFill>
            <a:ln w="13335">
              <a:solidFill>
                <a:srgbClr val="334E68"/>
              </a:solidFill>
            </a:ln>
          </p:spPr>
        </p:sp>
        <p:sp>
          <p:nvSpPr>
            <p:cNvPr id="29" name="Rectangle 29"/>
            <p:cNvSpPr/>
            <p:nvPr/>
          </p:nvSpPr>
          <p:spPr>
            <a:xfrm>
              <a:off x="3804285" y="4797742"/>
              <a:ext cx="1302068" cy="438150"/>
            </a:xfrm>
            <a:prstGeom prst="roundRect">
              <a:avLst>
                <a:gd name="adj" fmla="val 21739"/>
              </a:avLst>
            </a:prstGeom>
            <a:solidFill>
              <a:srgbClr val="FFFFFF"/>
            </a:solidFill>
            <a:ln w="15240">
              <a:solidFill>
                <a:srgbClr val="334E68"/>
              </a:solidFill>
            </a:ln>
          </p:spPr>
        </p:sp>
        <p:sp>
          <p:nvSpPr>
            <p:cNvPr id="30" name="Rectangle 30"/>
            <p:cNvSpPr/>
            <p:nvPr/>
          </p:nvSpPr>
          <p:spPr>
            <a:xfrm>
              <a:off x="5374005" y="4797742"/>
              <a:ext cx="1302068" cy="438150"/>
            </a:xfrm>
            <a:prstGeom prst="roundRect">
              <a:avLst>
                <a:gd name="adj" fmla="val 50000"/>
              </a:avLst>
            </a:prstGeom>
            <a:solidFill>
              <a:srgbClr val="334E68"/>
            </a:solidFill>
            <a:ln>
              <a:noFill/>
            </a:ln>
          </p:spPr>
        </p:sp>
        <p:sp>
          <p:nvSpPr>
            <p:cNvPr id="31" name="TextBox 31"/>
            <p:cNvSpPr txBox="1"/>
            <p:nvPr/>
          </p:nvSpPr>
          <p:spPr>
            <a:xfrm>
              <a:off x="967156" y="2133124"/>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软件配置</a:t>
              </a:r>
            </a:p>
          </p:txBody>
        </p:sp>
        <p:sp>
          <p:nvSpPr>
            <p:cNvPr id="32" name="TextBox 32"/>
            <p:cNvSpPr txBox="1"/>
            <p:nvPr/>
          </p:nvSpPr>
          <p:spPr>
            <a:xfrm>
              <a:off x="967156" y="3530441"/>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测试配置</a:t>
              </a:r>
            </a:p>
          </p:txBody>
        </p:sp>
        <p:sp>
          <p:nvSpPr>
            <p:cNvPr id="33" name="TextBox 33"/>
            <p:cNvSpPr txBox="1"/>
            <p:nvPr/>
          </p:nvSpPr>
          <p:spPr>
            <a:xfrm>
              <a:off x="2708237" y="2133124"/>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测试</a:t>
              </a:r>
            </a:p>
          </p:txBody>
        </p:sp>
        <p:sp>
          <p:nvSpPr>
            <p:cNvPr id="34" name="TextBox 34"/>
            <p:cNvSpPr txBox="1"/>
            <p:nvPr/>
          </p:nvSpPr>
          <p:spPr>
            <a:xfrm>
              <a:off x="4277004" y="2133124"/>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评价</a:t>
              </a:r>
            </a:p>
          </p:txBody>
        </p:sp>
        <p:sp>
          <p:nvSpPr>
            <p:cNvPr id="35" name="TextBox 35"/>
            <p:cNvSpPr txBox="1"/>
            <p:nvPr/>
          </p:nvSpPr>
          <p:spPr>
            <a:xfrm>
              <a:off x="5845772" y="2133124"/>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排错</a:t>
              </a:r>
            </a:p>
          </p:txBody>
        </p:sp>
        <p:sp>
          <p:nvSpPr>
            <p:cNvPr id="36" name="TextBox 36"/>
            <p:cNvSpPr txBox="1"/>
            <p:nvPr/>
          </p:nvSpPr>
          <p:spPr>
            <a:xfrm>
              <a:off x="4104691" y="3530441"/>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预期结果</a:t>
              </a:r>
            </a:p>
          </p:txBody>
        </p:sp>
        <p:sp>
          <p:nvSpPr>
            <p:cNvPr id="37" name="TextBox 37"/>
            <p:cNvSpPr txBox="1"/>
            <p:nvPr/>
          </p:nvSpPr>
          <p:spPr>
            <a:xfrm>
              <a:off x="4018534" y="4927759"/>
              <a:ext cx="87452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可靠性模型</a:t>
              </a:r>
            </a:p>
          </p:txBody>
        </p:sp>
        <p:sp>
          <p:nvSpPr>
            <p:cNvPr id="38" name="TextBox 38"/>
            <p:cNvSpPr txBox="1"/>
            <p:nvPr/>
          </p:nvSpPr>
          <p:spPr>
            <a:xfrm>
              <a:off x="5587302" y="4927759"/>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可靠性预测</a:t>
              </a:r>
            </a:p>
          </p:txBody>
        </p:sp>
        <p:sp>
          <p:nvSpPr>
            <p:cNvPr id="39" name="Rectangle 39"/>
            <p:cNvSpPr/>
            <p:nvPr/>
          </p:nvSpPr>
          <p:spPr>
            <a:xfrm>
              <a:off x="3356610" y="1681162"/>
              <a:ext cx="628650" cy="193358"/>
            </a:xfrm>
            <a:prstGeom prst="roundRect">
              <a:avLst>
                <a:gd name="adj" fmla="val 19704"/>
              </a:avLst>
            </a:prstGeom>
            <a:solidFill>
              <a:srgbClr val="FFFFFF"/>
            </a:solidFill>
            <a:ln>
              <a:noFill/>
            </a:ln>
          </p:spPr>
        </p:sp>
        <p:sp>
          <p:nvSpPr>
            <p:cNvPr id="40" name="TextBox 40"/>
            <p:cNvSpPr txBox="1"/>
            <p:nvPr/>
          </p:nvSpPr>
          <p:spPr>
            <a:xfrm>
              <a:off x="3382899" y="1707832"/>
              <a:ext cx="576072"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测试结果</a:t>
              </a:r>
            </a:p>
          </p:txBody>
        </p:sp>
        <p:sp>
          <p:nvSpPr>
            <p:cNvPr id="41" name="Rectangle 41"/>
            <p:cNvSpPr/>
            <p:nvPr/>
          </p:nvSpPr>
          <p:spPr>
            <a:xfrm>
              <a:off x="5059680" y="1681162"/>
              <a:ext cx="361950" cy="193358"/>
            </a:xfrm>
            <a:prstGeom prst="roundRect">
              <a:avLst>
                <a:gd name="adj" fmla="val 19704"/>
              </a:avLst>
            </a:prstGeom>
            <a:solidFill>
              <a:srgbClr val="FFFFFF"/>
            </a:solidFill>
            <a:ln>
              <a:noFill/>
            </a:ln>
          </p:spPr>
        </p:sp>
        <p:sp>
          <p:nvSpPr>
            <p:cNvPr id="42" name="TextBox 42"/>
            <p:cNvSpPr txBox="1"/>
            <p:nvPr/>
          </p:nvSpPr>
          <p:spPr>
            <a:xfrm>
              <a:off x="5093970" y="1707832"/>
              <a:ext cx="293370"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错误</a:t>
              </a:r>
            </a:p>
          </p:txBody>
        </p:sp>
        <p:sp>
          <p:nvSpPr>
            <p:cNvPr id="43" name="Rectangle 43"/>
            <p:cNvSpPr/>
            <p:nvPr/>
          </p:nvSpPr>
          <p:spPr>
            <a:xfrm>
              <a:off x="5164455" y="3568065"/>
              <a:ext cx="762000" cy="193358"/>
            </a:xfrm>
            <a:prstGeom prst="roundRect">
              <a:avLst>
                <a:gd name="adj" fmla="val 19704"/>
              </a:avLst>
            </a:prstGeom>
            <a:solidFill>
              <a:srgbClr val="FFFFFF"/>
            </a:solidFill>
            <a:ln>
              <a:noFill/>
            </a:ln>
          </p:spPr>
        </p:sp>
        <p:sp>
          <p:nvSpPr>
            <p:cNvPr id="44" name="TextBox 44"/>
            <p:cNvSpPr txBox="1"/>
            <p:nvPr/>
          </p:nvSpPr>
          <p:spPr>
            <a:xfrm>
              <a:off x="5206746" y="3594735"/>
              <a:ext cx="717423"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错误率数据</a:t>
              </a:r>
            </a:p>
          </p:txBody>
        </p:sp>
        <p:sp>
          <p:nvSpPr>
            <p:cNvPr id="45" name="Rectangle 45"/>
            <p:cNvSpPr/>
            <p:nvPr/>
          </p:nvSpPr>
          <p:spPr>
            <a:xfrm>
              <a:off x="4467225" y="1559242"/>
              <a:ext cx="762000" cy="193358"/>
            </a:xfrm>
            <a:prstGeom prst="roundRect">
              <a:avLst>
                <a:gd name="adj" fmla="val 19704"/>
              </a:avLst>
            </a:prstGeom>
            <a:solidFill>
              <a:srgbClr val="FFFFFF"/>
            </a:solidFill>
            <a:ln>
              <a:noFill/>
            </a:ln>
          </p:spPr>
        </p:sp>
        <p:sp>
          <p:nvSpPr>
            <p:cNvPr id="46" name="TextBox 46"/>
            <p:cNvSpPr txBox="1"/>
            <p:nvPr/>
          </p:nvSpPr>
          <p:spPr>
            <a:xfrm>
              <a:off x="4489514" y="1585912"/>
              <a:ext cx="71742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改正后重测</a:t>
              </a:r>
            </a:p>
          </p:txBody>
        </p:sp>
      </p:grpSp>
      <p:grpSp>
        <p:nvGrpSpPr>
          <p:cNvPr id="59" name="c2-kv-1"/>
          <p:cNvGrpSpPr/>
          <p:nvPr/>
        </p:nvGrpSpPr>
        <p:grpSpPr>
          <a:xfrm>
            <a:off x="7106602" y="1548765"/>
            <a:ext cx="4551998" cy="2459355"/>
            <a:chOff x="7106602" y="1548765"/>
            <a:chExt cx="4551998" cy="2459355"/>
          </a:xfrm>
        </p:grpSpPr>
        <p:sp>
          <p:nvSpPr>
            <p:cNvPr id="48" name="TextBox 48"/>
            <p:cNvSpPr txBox="1"/>
            <p:nvPr/>
          </p:nvSpPr>
          <p:spPr>
            <a:xfrm>
              <a:off x="7106602" y="1548765"/>
              <a:ext cx="82296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软件配置</a:t>
              </a:r>
            </a:p>
          </p:txBody>
        </p:sp>
        <p:sp>
          <p:nvSpPr>
            <p:cNvPr id="49" name="TextBox 49"/>
            <p:cNvSpPr txBox="1"/>
            <p:nvPr/>
          </p:nvSpPr>
          <p:spPr>
            <a:xfrm>
              <a:off x="8544878" y="1548765"/>
              <a:ext cx="2872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软件需求规格说明、软件设计规格</a:t>
              </a:r>
              <a:br/>
              <a:r>
                <a:rPr lang="zh-CN" sz="1500" dirty="0">
                  <a:solidFill>
                    <a:srgbClr val="1F2937"/>
                  </a:solidFill>
                  <a:latin typeface="+mn-lt"/>
                  <a:ea typeface="+mn-ea"/>
                  <a:cs typeface="+mn-cs"/>
                </a:rPr>
                <a:t>说明、源代码等</a:t>
              </a:r>
            </a:p>
          </p:txBody>
        </p:sp>
        <p:sp>
          <p:nvSpPr>
            <p:cNvPr id="50" name="Rectangle 50"/>
            <p:cNvSpPr/>
            <p:nvPr/>
          </p:nvSpPr>
          <p:spPr>
            <a:xfrm>
              <a:off x="7114222" y="2150745"/>
              <a:ext cx="4544378" cy="9525"/>
            </a:xfrm>
            <a:prstGeom prst="rect">
              <a:avLst/>
            </a:prstGeom>
            <a:solidFill>
              <a:srgbClr val="D9DFEA"/>
            </a:solidFill>
            <a:ln>
              <a:noFill/>
            </a:ln>
          </p:spPr>
        </p:sp>
        <p:sp>
          <p:nvSpPr>
            <p:cNvPr id="51" name="TextBox 51"/>
            <p:cNvSpPr txBox="1"/>
            <p:nvPr/>
          </p:nvSpPr>
          <p:spPr>
            <a:xfrm>
              <a:off x="7106602" y="2270760"/>
              <a:ext cx="82296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测试配置</a:t>
              </a:r>
            </a:p>
          </p:txBody>
        </p:sp>
        <p:sp>
          <p:nvSpPr>
            <p:cNvPr id="52" name="TextBox 52"/>
            <p:cNvSpPr txBox="1"/>
            <p:nvPr/>
          </p:nvSpPr>
          <p:spPr>
            <a:xfrm>
              <a:off x="8544878" y="2270760"/>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测试计划、测试方案等</a:t>
              </a:r>
            </a:p>
          </p:txBody>
        </p:sp>
        <p:sp>
          <p:nvSpPr>
            <p:cNvPr id="53" name="Rectangle 53"/>
            <p:cNvSpPr/>
            <p:nvPr/>
          </p:nvSpPr>
          <p:spPr>
            <a:xfrm>
              <a:off x="7114222" y="2590800"/>
              <a:ext cx="4544378" cy="9525"/>
            </a:xfrm>
            <a:prstGeom prst="rect">
              <a:avLst/>
            </a:prstGeom>
            <a:solidFill>
              <a:srgbClr val="D9DFEA"/>
            </a:solidFill>
            <a:ln>
              <a:noFill/>
            </a:ln>
          </p:spPr>
        </p:sp>
        <p:sp>
          <p:nvSpPr>
            <p:cNvPr id="54" name="TextBox 54"/>
            <p:cNvSpPr txBox="1"/>
            <p:nvPr/>
          </p:nvSpPr>
          <p:spPr>
            <a:xfrm>
              <a:off x="7106602" y="2710815"/>
              <a:ext cx="122682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测试结果分析</a:t>
              </a:r>
            </a:p>
          </p:txBody>
        </p:sp>
        <p:sp>
          <p:nvSpPr>
            <p:cNvPr id="55" name="TextBox 55"/>
            <p:cNvSpPr txBox="1"/>
            <p:nvPr/>
          </p:nvSpPr>
          <p:spPr>
            <a:xfrm>
              <a:off x="8544878" y="2710815"/>
              <a:ext cx="2872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比较实测结果与预期结果，评价错</a:t>
              </a:r>
              <a:br/>
              <a:r>
                <a:rPr lang="zh-CN" sz="1500" dirty="0">
                  <a:solidFill>
                    <a:srgbClr val="1F2937"/>
                  </a:solidFill>
                  <a:latin typeface="+mn-lt"/>
                  <a:ea typeface="+mn-ea"/>
                  <a:cs typeface="+mn-cs"/>
                </a:rPr>
                <a:t>误是否发生</a:t>
              </a:r>
            </a:p>
          </p:txBody>
        </p:sp>
        <p:sp>
          <p:nvSpPr>
            <p:cNvPr id="56" name="Rectangle 56"/>
            <p:cNvSpPr/>
            <p:nvPr/>
          </p:nvSpPr>
          <p:spPr>
            <a:xfrm>
              <a:off x="7114222" y="3312795"/>
              <a:ext cx="4544378" cy="9525"/>
            </a:xfrm>
            <a:prstGeom prst="rect">
              <a:avLst/>
            </a:prstGeom>
            <a:solidFill>
              <a:srgbClr val="D9DFEA"/>
            </a:solidFill>
            <a:ln>
              <a:noFill/>
            </a:ln>
          </p:spPr>
        </p:sp>
        <p:sp>
          <p:nvSpPr>
            <p:cNvPr id="57" name="TextBox 57"/>
            <p:cNvSpPr txBox="1"/>
            <p:nvPr/>
          </p:nvSpPr>
          <p:spPr>
            <a:xfrm>
              <a:off x="7106602" y="3432810"/>
              <a:ext cx="122682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排错（调试）</a:t>
              </a:r>
            </a:p>
          </p:txBody>
        </p:sp>
        <p:sp>
          <p:nvSpPr>
            <p:cNvPr id="58" name="TextBox 58"/>
            <p:cNvSpPr txBox="1"/>
            <p:nvPr/>
          </p:nvSpPr>
          <p:spPr>
            <a:xfrm>
              <a:off x="8544878" y="3432810"/>
              <a:ext cx="2872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对已发现的错误定位、确定出错性</a:t>
              </a:r>
              <a:br/>
              <a:r>
                <a:rPr lang="zh-CN" sz="1500" dirty="0">
                  <a:solidFill>
                    <a:srgbClr val="1F2937"/>
                  </a:solidFill>
                  <a:latin typeface="+mn-lt"/>
                  <a:ea typeface="+mn-ea"/>
                  <a:cs typeface="+mn-cs"/>
                </a:rPr>
                <a:t>质并改正，同时修改相关文档</a:t>
              </a:r>
            </a:p>
          </p:txBody>
        </p:sp>
      </p:grpSp>
      <p:grpSp>
        <p:nvGrpSpPr>
          <p:cNvPr id="66" name="c2-callout-2"/>
          <p:cNvGrpSpPr/>
          <p:nvPr/>
        </p:nvGrpSpPr>
        <p:grpSpPr>
          <a:xfrm>
            <a:off x="7114222" y="4139565"/>
            <a:ext cx="4544378" cy="1575435"/>
            <a:chOff x="7114222" y="4139565"/>
            <a:chExt cx="4544378" cy="1575435"/>
          </a:xfrm>
        </p:grpSpPr>
        <p:sp>
          <p:nvSpPr>
            <p:cNvPr id="60" name="Rectangle 60"/>
            <p:cNvSpPr/>
            <p:nvPr/>
          </p:nvSpPr>
          <p:spPr>
            <a:xfrm>
              <a:off x="7114222" y="4139565"/>
              <a:ext cx="4544378" cy="1575435"/>
            </a:xfrm>
            <a:prstGeom prst="roundRect">
              <a:avLst>
                <a:gd name="adj" fmla="val 7255"/>
              </a:avLst>
            </a:prstGeom>
            <a:solidFill>
              <a:srgbClr val="FDEEE7"/>
            </a:solidFill>
            <a:ln>
              <a:noFill/>
            </a:ln>
          </p:spPr>
        </p:sp>
        <p:grpSp>
          <p:nvGrpSpPr>
            <p:cNvPr id="64" name="Group 64"/>
            <p:cNvGrpSpPr/>
            <p:nvPr/>
          </p:nvGrpSpPr>
          <p:grpSpPr>
            <a:xfrm>
              <a:off x="7319010" y="4827270"/>
              <a:ext cx="200026" cy="200025"/>
              <a:chOff x="7319010" y="4827270"/>
              <a:chExt cx="200026" cy="200025"/>
            </a:xfrm>
          </p:grpSpPr>
          <p:sp>
            <p:nvSpPr>
              <p:cNvPr id="61" name="Freeform 61"/>
              <p:cNvSpPr/>
              <p:nvPr/>
            </p:nvSpPr>
            <p:spPr>
              <a:xfrm>
                <a:off x="7319010" y="482727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2" name="Freeform 62"/>
              <p:cNvSpPr/>
              <p:nvPr/>
            </p:nvSpPr>
            <p:spPr>
              <a:xfrm>
                <a:off x="7358749" y="487172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3" name="Freeform 63"/>
              <p:cNvSpPr/>
              <p:nvPr/>
            </p:nvSpPr>
            <p:spPr>
              <a:xfrm>
                <a:off x="7393464" y="498284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5" name="TextBox 65"/>
            <p:cNvSpPr txBox="1"/>
            <p:nvPr/>
          </p:nvSpPr>
          <p:spPr>
            <a:xfrm>
              <a:off x="7620952" y="4546282"/>
              <a:ext cx="36347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收集和分析测试结果数据可以建立可靠性模</a:t>
              </a:r>
              <a:br/>
              <a:r>
                <a:rPr lang="zh-CN" sz="1500" dirty="0">
                  <a:solidFill>
                    <a:srgbClr val="C2410C"/>
                  </a:solidFill>
                  <a:latin typeface="+mn-lt"/>
                  <a:ea typeface="+mn-ea"/>
                  <a:cs typeface="+mn-cs"/>
                </a:rPr>
                <a:t>型，再由可靠性分析判断软件质量是否达到</a:t>
              </a:r>
              <a:br/>
              <a:r>
                <a:rPr lang="zh-CN" sz="1500" dirty="0">
                  <a:solidFill>
                    <a:srgbClr val="C2410C"/>
                  </a:solidFill>
                  <a:latin typeface="+mn-lt"/>
                  <a:ea typeface="+mn-ea"/>
                  <a:cs typeface="+mn-cs"/>
                </a:rPr>
                <a:t>可以接受的程度。</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6" name="section-title"/>
          <p:cNvGrpSpPr/>
          <p:nvPr/>
        </p:nvGrpSpPr>
        <p:grpSpPr>
          <a:xfrm>
            <a:off x="667512" y="1835468"/>
            <a:ext cx="5135499" cy="2997517"/>
            <a:chOff x="667512" y="1835468"/>
            <a:chExt cx="5135499"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单元测试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512559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把每个模块当作单独的实体来测，重点在接口和边界</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五个测试重点</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代码审查与预排</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驱动程序与存根程序</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115437" cy="909257"/>
            <a:chOff x="520446" y="342900"/>
            <a:chExt cx="3115437"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单元测试</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单元测试的五个重点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5410200" cy="1662112"/>
            <a:chOff x="533400" y="1524000"/>
            <a:chExt cx="5410200" cy="1662112"/>
          </a:xfrm>
        </p:grpSpPr>
        <p:sp>
          <p:nvSpPr>
            <p:cNvPr id="7" name="Rectangle 7"/>
            <p:cNvSpPr/>
            <p:nvPr/>
          </p:nvSpPr>
          <p:spPr>
            <a:xfrm>
              <a:off x="533400" y="1524000"/>
              <a:ext cx="5410200" cy="1662112"/>
            </a:xfrm>
            <a:prstGeom prst="roundRect">
              <a:avLst>
                <a:gd name="adj" fmla="val 8023"/>
              </a:avLst>
            </a:prstGeom>
            <a:solidFill>
              <a:srgbClr val="FFFFFF"/>
            </a:solidFill>
            <a:ln w="14288">
              <a:solidFill>
                <a:srgbClr val="D9DFEA"/>
              </a:solidFill>
            </a:ln>
          </p:spPr>
        </p:sp>
        <p:sp>
          <p:nvSpPr>
            <p:cNvPr id="8" name="Rectangle 8"/>
            <p:cNvSpPr/>
            <p:nvPr/>
          </p:nvSpPr>
          <p:spPr>
            <a:xfrm>
              <a:off x="542925" y="1657350"/>
              <a:ext cx="47625" cy="1395412"/>
            </a:xfrm>
            <a:prstGeom prst="roundRect">
              <a:avLst>
                <a:gd name="adj" fmla="val 50000"/>
              </a:avLst>
            </a:prstGeom>
            <a:solidFill>
              <a:srgbClr val="334E68"/>
            </a:solidFill>
            <a:ln>
              <a:noFill/>
            </a:ln>
          </p:spPr>
        </p:sp>
        <p:sp>
          <p:nvSpPr>
            <p:cNvPr id="9" name="Rectangle 9"/>
            <p:cNvSpPr/>
            <p:nvPr/>
          </p:nvSpPr>
          <p:spPr>
            <a:xfrm>
              <a:off x="775335" y="1727835"/>
              <a:ext cx="291465" cy="257175"/>
            </a:xfrm>
            <a:prstGeom prst="roundRect">
              <a:avLst>
                <a:gd name="adj" fmla="val 50000"/>
              </a:avLst>
            </a:prstGeom>
            <a:solidFill>
              <a:srgbClr val="E7EDF3"/>
            </a:solidFill>
            <a:ln>
              <a:noFill/>
            </a:ln>
          </p:spPr>
        </p:sp>
        <p:sp>
          <p:nvSpPr>
            <p:cNvPr id="10" name="TextBox 10"/>
            <p:cNvSpPr txBox="1"/>
            <p:nvPr/>
          </p:nvSpPr>
          <p:spPr>
            <a:xfrm>
              <a:off x="871816" y="1763554"/>
              <a:ext cx="985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1</a:t>
              </a:r>
            </a:p>
          </p:txBody>
        </p:sp>
        <p:sp>
          <p:nvSpPr>
            <p:cNvPr id="11" name="TextBox 11"/>
            <p:cNvSpPr txBox="1"/>
            <p:nvPr/>
          </p:nvSpPr>
          <p:spPr>
            <a:xfrm>
              <a:off x="1173861" y="176736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模块接口</a:t>
              </a:r>
            </a:p>
          </p:txBody>
        </p:sp>
        <p:sp>
          <p:nvSpPr>
            <p:cNvPr id="12" name="Ellipse 12"/>
            <p:cNvSpPr/>
            <p:nvPr/>
          </p:nvSpPr>
          <p:spPr>
            <a:xfrm>
              <a:off x="782955" y="2179320"/>
              <a:ext cx="60960" cy="60960"/>
            </a:xfrm>
            <a:prstGeom prst="ellipse">
              <a:avLst/>
            </a:prstGeom>
            <a:solidFill>
              <a:srgbClr val="334E68"/>
            </a:solidFill>
            <a:ln>
              <a:noFill/>
            </a:ln>
          </p:spPr>
        </p:sp>
        <p:sp>
          <p:nvSpPr>
            <p:cNvPr id="13" name="TextBox 13"/>
            <p:cNvSpPr txBox="1"/>
            <p:nvPr/>
          </p:nvSpPr>
          <p:spPr>
            <a:xfrm>
              <a:off x="939546" y="2119789"/>
              <a:ext cx="441116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参数的数目、次序、属性或单位系统与变元是否一致</a:t>
              </a:r>
            </a:p>
          </p:txBody>
        </p:sp>
        <p:sp>
          <p:nvSpPr>
            <p:cNvPr id="14" name="Ellipse 14"/>
            <p:cNvSpPr/>
            <p:nvPr/>
          </p:nvSpPr>
          <p:spPr>
            <a:xfrm>
              <a:off x="782955" y="2499360"/>
              <a:ext cx="60960" cy="60960"/>
            </a:xfrm>
            <a:prstGeom prst="ellipse">
              <a:avLst/>
            </a:prstGeom>
            <a:solidFill>
              <a:srgbClr val="334E68"/>
            </a:solidFill>
            <a:ln>
              <a:noFill/>
            </a:ln>
          </p:spPr>
        </p:sp>
        <p:sp>
          <p:nvSpPr>
            <p:cNvPr id="15" name="TextBox 15"/>
            <p:cNvSpPr txBox="1"/>
            <p:nvPr/>
          </p:nvSpPr>
          <p:spPr>
            <a:xfrm>
              <a:off x="939546" y="2439829"/>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是否修改了只作输入用的变元</a:t>
              </a:r>
            </a:p>
          </p:txBody>
        </p:sp>
        <p:sp>
          <p:nvSpPr>
            <p:cNvPr id="16" name="Ellipse 16"/>
            <p:cNvSpPr/>
            <p:nvPr/>
          </p:nvSpPr>
          <p:spPr>
            <a:xfrm>
              <a:off x="782955" y="2819400"/>
              <a:ext cx="60960" cy="60960"/>
            </a:xfrm>
            <a:prstGeom prst="ellipse">
              <a:avLst/>
            </a:prstGeom>
            <a:solidFill>
              <a:srgbClr val="334E68"/>
            </a:solidFill>
            <a:ln>
              <a:noFill/>
            </a:ln>
          </p:spPr>
        </p:sp>
        <p:sp>
          <p:nvSpPr>
            <p:cNvPr id="17" name="TextBox 17"/>
            <p:cNvSpPr txBox="1"/>
            <p:nvPr/>
          </p:nvSpPr>
          <p:spPr>
            <a:xfrm>
              <a:off x="939546" y="2759869"/>
              <a:ext cx="383768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全局变量的定义和用法在各个模块中是否一致</a:t>
              </a:r>
            </a:p>
          </p:txBody>
        </p:sp>
      </p:grpSp>
      <p:grpSp>
        <p:nvGrpSpPr>
          <p:cNvPr id="25" name="c1-card-2"/>
          <p:cNvGrpSpPr/>
          <p:nvPr/>
        </p:nvGrpSpPr>
        <p:grpSpPr>
          <a:xfrm>
            <a:off x="533400" y="3370898"/>
            <a:ext cx="5410200" cy="1022032"/>
            <a:chOff x="533400" y="3370898"/>
            <a:chExt cx="5410200" cy="1022032"/>
          </a:xfrm>
        </p:grpSpPr>
        <p:sp>
          <p:nvSpPr>
            <p:cNvPr id="19" name="Rectangle 19"/>
            <p:cNvSpPr/>
            <p:nvPr/>
          </p:nvSpPr>
          <p:spPr>
            <a:xfrm>
              <a:off x="533400" y="3370898"/>
              <a:ext cx="5410200" cy="1022032"/>
            </a:xfrm>
            <a:prstGeom prst="roundRect">
              <a:avLst>
                <a:gd name="adj" fmla="val 13048"/>
              </a:avLst>
            </a:prstGeom>
            <a:solidFill>
              <a:srgbClr val="FFFFFF"/>
            </a:solidFill>
            <a:ln w="14288">
              <a:solidFill>
                <a:srgbClr val="D9DFEA"/>
              </a:solidFill>
            </a:ln>
          </p:spPr>
        </p:sp>
        <p:sp>
          <p:nvSpPr>
            <p:cNvPr id="20" name="Rectangle 20"/>
            <p:cNvSpPr/>
            <p:nvPr/>
          </p:nvSpPr>
          <p:spPr>
            <a:xfrm>
              <a:off x="542925" y="3504248"/>
              <a:ext cx="47625" cy="755332"/>
            </a:xfrm>
            <a:prstGeom prst="roundRect">
              <a:avLst>
                <a:gd name="adj" fmla="val 50000"/>
              </a:avLst>
            </a:prstGeom>
            <a:solidFill>
              <a:srgbClr val="334E68"/>
            </a:solidFill>
            <a:ln>
              <a:noFill/>
            </a:ln>
          </p:spPr>
        </p:sp>
        <p:sp>
          <p:nvSpPr>
            <p:cNvPr id="21" name="Rectangle 21"/>
            <p:cNvSpPr/>
            <p:nvPr/>
          </p:nvSpPr>
          <p:spPr>
            <a:xfrm>
              <a:off x="775335" y="3574732"/>
              <a:ext cx="291465" cy="257175"/>
            </a:xfrm>
            <a:prstGeom prst="roundRect">
              <a:avLst>
                <a:gd name="adj" fmla="val 50000"/>
              </a:avLst>
            </a:prstGeom>
            <a:solidFill>
              <a:srgbClr val="E7EDF3"/>
            </a:solidFill>
            <a:ln>
              <a:noFill/>
            </a:ln>
          </p:spPr>
        </p:sp>
        <p:sp>
          <p:nvSpPr>
            <p:cNvPr id="22" name="TextBox 22"/>
            <p:cNvSpPr txBox="1"/>
            <p:nvPr/>
          </p:nvSpPr>
          <p:spPr>
            <a:xfrm>
              <a:off x="871816" y="3610451"/>
              <a:ext cx="985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2</a:t>
              </a:r>
            </a:p>
          </p:txBody>
        </p:sp>
        <p:sp>
          <p:nvSpPr>
            <p:cNvPr id="23" name="TextBox 23"/>
            <p:cNvSpPr txBox="1"/>
            <p:nvPr/>
          </p:nvSpPr>
          <p:spPr>
            <a:xfrm>
              <a:off x="1173861" y="3615214"/>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局部数据结构</a:t>
              </a:r>
            </a:p>
          </p:txBody>
        </p:sp>
        <p:sp>
          <p:nvSpPr>
            <p:cNvPr id="24" name="TextBox 24"/>
            <p:cNvSpPr txBox="1"/>
            <p:nvPr/>
          </p:nvSpPr>
          <p:spPr>
            <a:xfrm>
              <a:off x="768096" y="3966686"/>
              <a:ext cx="441116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发现局部数据说明、初始化、默认值等方面的错误。</a:t>
              </a:r>
            </a:p>
          </p:txBody>
        </p:sp>
      </p:grpSp>
      <p:grpSp>
        <p:nvGrpSpPr>
          <p:cNvPr id="32" name="c1-card-3"/>
          <p:cNvGrpSpPr/>
          <p:nvPr/>
        </p:nvGrpSpPr>
        <p:grpSpPr>
          <a:xfrm>
            <a:off x="533400" y="4578668"/>
            <a:ext cx="5410200" cy="1045845"/>
            <a:chOff x="533400" y="4578668"/>
            <a:chExt cx="5410200" cy="1045845"/>
          </a:xfrm>
        </p:grpSpPr>
        <p:sp>
          <p:nvSpPr>
            <p:cNvPr id="26" name="Rectangle 26"/>
            <p:cNvSpPr/>
            <p:nvPr/>
          </p:nvSpPr>
          <p:spPr>
            <a:xfrm>
              <a:off x="533400" y="4578668"/>
              <a:ext cx="5410200" cy="1045845"/>
            </a:xfrm>
            <a:prstGeom prst="roundRect">
              <a:avLst>
                <a:gd name="adj" fmla="val 12750"/>
              </a:avLst>
            </a:prstGeom>
            <a:solidFill>
              <a:srgbClr val="FFFFFF"/>
            </a:solidFill>
            <a:ln w="14288">
              <a:solidFill>
                <a:srgbClr val="D9DFEA"/>
              </a:solidFill>
            </a:ln>
          </p:spPr>
        </p:sp>
        <p:sp>
          <p:nvSpPr>
            <p:cNvPr id="27" name="Rectangle 27"/>
            <p:cNvSpPr/>
            <p:nvPr/>
          </p:nvSpPr>
          <p:spPr>
            <a:xfrm>
              <a:off x="542925" y="4712018"/>
              <a:ext cx="47625" cy="779145"/>
            </a:xfrm>
            <a:prstGeom prst="roundRect">
              <a:avLst>
                <a:gd name="adj" fmla="val 50000"/>
              </a:avLst>
            </a:prstGeom>
            <a:solidFill>
              <a:srgbClr val="334E68"/>
            </a:solidFill>
            <a:ln>
              <a:noFill/>
            </a:ln>
          </p:spPr>
        </p:sp>
        <p:sp>
          <p:nvSpPr>
            <p:cNvPr id="28" name="Rectangle 28"/>
            <p:cNvSpPr/>
            <p:nvPr/>
          </p:nvSpPr>
          <p:spPr>
            <a:xfrm>
              <a:off x="775335" y="4782502"/>
              <a:ext cx="291465" cy="257175"/>
            </a:xfrm>
            <a:prstGeom prst="roundRect">
              <a:avLst>
                <a:gd name="adj" fmla="val 50000"/>
              </a:avLst>
            </a:prstGeom>
            <a:solidFill>
              <a:srgbClr val="E7EDF3"/>
            </a:solidFill>
            <a:ln>
              <a:noFill/>
            </a:ln>
          </p:spPr>
        </p:sp>
        <p:sp>
          <p:nvSpPr>
            <p:cNvPr id="29" name="TextBox 29"/>
            <p:cNvSpPr txBox="1"/>
            <p:nvPr/>
          </p:nvSpPr>
          <p:spPr>
            <a:xfrm>
              <a:off x="871816" y="4818221"/>
              <a:ext cx="985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3</a:t>
              </a:r>
            </a:p>
          </p:txBody>
        </p:sp>
        <p:sp>
          <p:nvSpPr>
            <p:cNvPr id="30" name="TextBox 30"/>
            <p:cNvSpPr txBox="1"/>
            <p:nvPr/>
          </p:nvSpPr>
          <p:spPr>
            <a:xfrm>
              <a:off x="1173861" y="4822031"/>
              <a:ext cx="1352601"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重要的执行通路</a:t>
              </a:r>
            </a:p>
          </p:txBody>
        </p:sp>
        <p:sp>
          <p:nvSpPr>
            <p:cNvPr id="31" name="TextBox 31"/>
            <p:cNvSpPr txBox="1"/>
            <p:nvPr/>
          </p:nvSpPr>
          <p:spPr>
            <a:xfrm>
              <a:off x="768096" y="5173504"/>
              <a:ext cx="479348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选择最有代表性、最可能发现错误的执行通路进行测试。</a:t>
              </a:r>
            </a:p>
          </p:txBody>
        </p:sp>
      </p:grpSp>
      <p:grpSp>
        <p:nvGrpSpPr>
          <p:cNvPr id="48" name="c2-card-1"/>
          <p:cNvGrpSpPr/>
          <p:nvPr/>
        </p:nvGrpSpPr>
        <p:grpSpPr>
          <a:xfrm>
            <a:off x="6248400" y="1524000"/>
            <a:ext cx="5410200" cy="2302192"/>
            <a:chOff x="6248400" y="1524000"/>
            <a:chExt cx="5410200" cy="2302192"/>
          </a:xfrm>
        </p:grpSpPr>
        <p:sp>
          <p:nvSpPr>
            <p:cNvPr id="33" name="Rectangle 33"/>
            <p:cNvSpPr/>
            <p:nvPr/>
          </p:nvSpPr>
          <p:spPr>
            <a:xfrm>
              <a:off x="6248400" y="1524000"/>
              <a:ext cx="5410200" cy="2302192"/>
            </a:xfrm>
            <a:prstGeom prst="roundRect">
              <a:avLst>
                <a:gd name="adj" fmla="val 5792"/>
              </a:avLst>
            </a:prstGeom>
            <a:solidFill>
              <a:srgbClr val="FFFFFF"/>
            </a:solidFill>
            <a:ln w="14288">
              <a:solidFill>
                <a:srgbClr val="D9DFEA"/>
              </a:solidFill>
            </a:ln>
          </p:spPr>
        </p:sp>
        <p:sp>
          <p:nvSpPr>
            <p:cNvPr id="34" name="Rectangle 34"/>
            <p:cNvSpPr/>
            <p:nvPr/>
          </p:nvSpPr>
          <p:spPr>
            <a:xfrm>
              <a:off x="6257925" y="1657350"/>
              <a:ext cx="47625" cy="2035492"/>
            </a:xfrm>
            <a:prstGeom prst="roundRect">
              <a:avLst>
                <a:gd name="adj" fmla="val 50000"/>
              </a:avLst>
            </a:prstGeom>
            <a:solidFill>
              <a:srgbClr val="334E68"/>
            </a:solidFill>
            <a:ln>
              <a:noFill/>
            </a:ln>
          </p:spPr>
        </p:sp>
        <p:sp>
          <p:nvSpPr>
            <p:cNvPr id="35" name="Rectangle 35"/>
            <p:cNvSpPr/>
            <p:nvPr/>
          </p:nvSpPr>
          <p:spPr>
            <a:xfrm>
              <a:off x="6490335" y="1727835"/>
              <a:ext cx="291465" cy="257175"/>
            </a:xfrm>
            <a:prstGeom prst="roundRect">
              <a:avLst>
                <a:gd name="adj" fmla="val 50000"/>
              </a:avLst>
            </a:prstGeom>
            <a:solidFill>
              <a:srgbClr val="E7EDF3"/>
            </a:solidFill>
            <a:ln>
              <a:noFill/>
            </a:ln>
          </p:spPr>
        </p:sp>
        <p:sp>
          <p:nvSpPr>
            <p:cNvPr id="36" name="TextBox 36"/>
            <p:cNvSpPr txBox="1"/>
            <p:nvPr/>
          </p:nvSpPr>
          <p:spPr>
            <a:xfrm>
              <a:off x="6586816" y="1763554"/>
              <a:ext cx="985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4</a:t>
              </a:r>
            </a:p>
          </p:txBody>
        </p:sp>
        <p:sp>
          <p:nvSpPr>
            <p:cNvPr id="37" name="TextBox 37"/>
            <p:cNvSpPr txBox="1"/>
            <p:nvPr/>
          </p:nvSpPr>
          <p:spPr>
            <a:xfrm>
              <a:off x="6888861" y="1767364"/>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出错处理通路</a:t>
              </a:r>
            </a:p>
          </p:txBody>
        </p:sp>
        <p:sp>
          <p:nvSpPr>
            <p:cNvPr id="38" name="Ellipse 38"/>
            <p:cNvSpPr/>
            <p:nvPr/>
          </p:nvSpPr>
          <p:spPr>
            <a:xfrm>
              <a:off x="6497955" y="2179320"/>
              <a:ext cx="60960" cy="60960"/>
            </a:xfrm>
            <a:prstGeom prst="ellipse">
              <a:avLst/>
            </a:prstGeom>
            <a:solidFill>
              <a:srgbClr val="334E68"/>
            </a:solidFill>
            <a:ln>
              <a:noFill/>
            </a:ln>
          </p:spPr>
        </p:sp>
        <p:sp>
          <p:nvSpPr>
            <p:cNvPr id="39" name="TextBox 39"/>
            <p:cNvSpPr txBox="1"/>
            <p:nvPr/>
          </p:nvSpPr>
          <p:spPr>
            <a:xfrm>
              <a:off x="6654546" y="2119789"/>
              <a:ext cx="230840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对错误的描述是难以理解的</a:t>
              </a:r>
            </a:p>
          </p:txBody>
        </p:sp>
        <p:sp>
          <p:nvSpPr>
            <p:cNvPr id="40" name="Ellipse 40"/>
            <p:cNvSpPr/>
            <p:nvPr/>
          </p:nvSpPr>
          <p:spPr>
            <a:xfrm>
              <a:off x="6497955" y="2499360"/>
              <a:ext cx="60960" cy="60960"/>
            </a:xfrm>
            <a:prstGeom prst="ellipse">
              <a:avLst/>
            </a:prstGeom>
            <a:solidFill>
              <a:srgbClr val="334E68"/>
            </a:solidFill>
            <a:ln>
              <a:noFill/>
            </a:ln>
          </p:spPr>
        </p:sp>
        <p:sp>
          <p:nvSpPr>
            <p:cNvPr id="41" name="TextBox 41"/>
            <p:cNvSpPr txBox="1"/>
            <p:nvPr/>
          </p:nvSpPr>
          <p:spPr>
            <a:xfrm>
              <a:off x="6654546" y="2439829"/>
              <a:ext cx="288188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记下的错误与实际遇到的错误不同</a:t>
              </a:r>
            </a:p>
          </p:txBody>
        </p:sp>
        <p:sp>
          <p:nvSpPr>
            <p:cNvPr id="42" name="Ellipse 42"/>
            <p:cNvSpPr/>
            <p:nvPr/>
          </p:nvSpPr>
          <p:spPr>
            <a:xfrm>
              <a:off x="6497955" y="2819400"/>
              <a:ext cx="60960" cy="60960"/>
            </a:xfrm>
            <a:prstGeom prst="ellipse">
              <a:avLst/>
            </a:prstGeom>
            <a:solidFill>
              <a:srgbClr val="334E68"/>
            </a:solidFill>
            <a:ln>
              <a:noFill/>
            </a:ln>
          </p:spPr>
        </p:sp>
        <p:sp>
          <p:nvSpPr>
            <p:cNvPr id="43" name="TextBox 43"/>
            <p:cNvSpPr txBox="1"/>
            <p:nvPr/>
          </p:nvSpPr>
          <p:spPr>
            <a:xfrm>
              <a:off x="6654546" y="2759869"/>
              <a:ext cx="441116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在对错误进行处理之前，错误条件已经引起系统干预</a:t>
              </a:r>
            </a:p>
          </p:txBody>
        </p:sp>
        <p:sp>
          <p:nvSpPr>
            <p:cNvPr id="44" name="Ellipse 44"/>
            <p:cNvSpPr/>
            <p:nvPr/>
          </p:nvSpPr>
          <p:spPr>
            <a:xfrm>
              <a:off x="6497955" y="3139440"/>
              <a:ext cx="60960" cy="60960"/>
            </a:xfrm>
            <a:prstGeom prst="ellipse">
              <a:avLst/>
            </a:prstGeom>
            <a:solidFill>
              <a:srgbClr val="334E68"/>
            </a:solidFill>
            <a:ln>
              <a:noFill/>
            </a:ln>
          </p:spPr>
        </p:sp>
        <p:sp>
          <p:nvSpPr>
            <p:cNvPr id="45" name="TextBox 45"/>
            <p:cNvSpPr txBox="1"/>
            <p:nvPr/>
          </p:nvSpPr>
          <p:spPr>
            <a:xfrm>
              <a:off x="6654546" y="3079909"/>
              <a:ext cx="173492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对错误的处理不正确</a:t>
              </a:r>
            </a:p>
          </p:txBody>
        </p:sp>
        <p:sp>
          <p:nvSpPr>
            <p:cNvPr id="46" name="Ellipse 46"/>
            <p:cNvSpPr/>
            <p:nvPr/>
          </p:nvSpPr>
          <p:spPr>
            <a:xfrm>
              <a:off x="6497955" y="3459480"/>
              <a:ext cx="60960" cy="60960"/>
            </a:xfrm>
            <a:prstGeom prst="ellipse">
              <a:avLst/>
            </a:prstGeom>
            <a:solidFill>
              <a:srgbClr val="334E68"/>
            </a:solidFill>
            <a:ln>
              <a:noFill/>
            </a:ln>
          </p:spPr>
        </p:sp>
        <p:sp>
          <p:nvSpPr>
            <p:cNvPr id="47" name="TextBox 47"/>
            <p:cNvSpPr txBox="1"/>
            <p:nvPr/>
          </p:nvSpPr>
          <p:spPr>
            <a:xfrm>
              <a:off x="6654546" y="3399949"/>
              <a:ext cx="402884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描述错误的信息不足以帮助确定造成错误的位置</a:t>
              </a:r>
            </a:p>
          </p:txBody>
        </p:sp>
      </p:grpSp>
      <p:grpSp>
        <p:nvGrpSpPr>
          <p:cNvPr id="57" name="c2-card-2"/>
          <p:cNvGrpSpPr/>
          <p:nvPr/>
        </p:nvGrpSpPr>
        <p:grpSpPr>
          <a:xfrm>
            <a:off x="6248400" y="4010978"/>
            <a:ext cx="5410200" cy="1613535"/>
            <a:chOff x="6248400" y="4010978"/>
            <a:chExt cx="5410200" cy="1613535"/>
          </a:xfrm>
        </p:grpSpPr>
        <p:sp>
          <p:nvSpPr>
            <p:cNvPr id="49" name="Rectangle 49"/>
            <p:cNvSpPr/>
            <p:nvPr/>
          </p:nvSpPr>
          <p:spPr>
            <a:xfrm>
              <a:off x="6248400" y="4010978"/>
              <a:ext cx="5410200" cy="1613535"/>
            </a:xfrm>
            <a:prstGeom prst="roundRect">
              <a:avLst>
                <a:gd name="adj" fmla="val 8264"/>
              </a:avLst>
            </a:prstGeom>
            <a:solidFill>
              <a:srgbClr val="FFFFFF"/>
            </a:solidFill>
            <a:ln w="14288">
              <a:solidFill>
                <a:srgbClr val="D9DFEA"/>
              </a:solidFill>
            </a:ln>
          </p:spPr>
        </p:sp>
        <p:sp>
          <p:nvSpPr>
            <p:cNvPr id="50" name="Rectangle 50"/>
            <p:cNvSpPr/>
            <p:nvPr/>
          </p:nvSpPr>
          <p:spPr>
            <a:xfrm>
              <a:off x="6257925" y="4144328"/>
              <a:ext cx="47625" cy="1346835"/>
            </a:xfrm>
            <a:prstGeom prst="roundRect">
              <a:avLst>
                <a:gd name="adj" fmla="val 50000"/>
              </a:avLst>
            </a:prstGeom>
            <a:solidFill>
              <a:srgbClr val="334E68"/>
            </a:solidFill>
            <a:ln>
              <a:noFill/>
            </a:ln>
          </p:spPr>
        </p:sp>
        <p:sp>
          <p:nvSpPr>
            <p:cNvPr id="51" name="Rectangle 51"/>
            <p:cNvSpPr/>
            <p:nvPr/>
          </p:nvSpPr>
          <p:spPr>
            <a:xfrm>
              <a:off x="6490335" y="4214812"/>
              <a:ext cx="291465" cy="257175"/>
            </a:xfrm>
            <a:prstGeom prst="roundRect">
              <a:avLst>
                <a:gd name="adj" fmla="val 50000"/>
              </a:avLst>
            </a:prstGeom>
            <a:solidFill>
              <a:srgbClr val="E7EDF3"/>
            </a:solidFill>
            <a:ln>
              <a:noFill/>
            </a:ln>
          </p:spPr>
        </p:sp>
        <p:sp>
          <p:nvSpPr>
            <p:cNvPr id="52" name="TextBox 52"/>
            <p:cNvSpPr txBox="1"/>
            <p:nvPr/>
          </p:nvSpPr>
          <p:spPr>
            <a:xfrm>
              <a:off x="6586816" y="4250531"/>
              <a:ext cx="985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5</a:t>
              </a:r>
            </a:p>
          </p:txBody>
        </p:sp>
        <p:sp>
          <p:nvSpPr>
            <p:cNvPr id="53" name="TextBox 53"/>
            <p:cNvSpPr txBox="1"/>
            <p:nvPr/>
          </p:nvSpPr>
          <p:spPr>
            <a:xfrm>
              <a:off x="6888861" y="425529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边界条件</a:t>
              </a:r>
            </a:p>
          </p:txBody>
        </p:sp>
        <p:sp>
          <p:nvSpPr>
            <p:cNvPr id="54" name="TextBox 54"/>
            <p:cNvSpPr txBox="1"/>
            <p:nvPr/>
          </p:nvSpPr>
          <p:spPr>
            <a:xfrm>
              <a:off x="6483096" y="4606766"/>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软件常常在它的边界上失效。</a:t>
              </a:r>
            </a:p>
          </p:txBody>
        </p:sp>
        <p:sp>
          <p:nvSpPr>
            <p:cNvPr id="55" name="Ellipse 55"/>
            <p:cNvSpPr/>
            <p:nvPr/>
          </p:nvSpPr>
          <p:spPr>
            <a:xfrm>
              <a:off x="6497955" y="4987290"/>
              <a:ext cx="60960" cy="60960"/>
            </a:xfrm>
            <a:prstGeom prst="ellipse">
              <a:avLst/>
            </a:prstGeom>
            <a:solidFill>
              <a:srgbClr val="334E68"/>
            </a:solidFill>
            <a:ln>
              <a:noFill/>
            </a:ln>
          </p:spPr>
        </p:sp>
        <p:sp>
          <p:nvSpPr>
            <p:cNvPr id="56" name="TextBox 56"/>
            <p:cNvSpPr txBox="1"/>
            <p:nvPr/>
          </p:nvSpPr>
          <p:spPr>
            <a:xfrm>
              <a:off x="6654546" y="4926806"/>
              <a:ext cx="45229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用刚好小于、刚好等于和刚好大于最大值或最小值的数据</a:t>
              </a:r>
              <a:br/>
              <a:r>
                <a:rPr lang="zh-CN" sz="1420" dirty="0">
                  <a:solidFill>
                    <a:srgbClr val="1F2937"/>
                  </a:solidFill>
                  <a:latin typeface="+mn-lt"/>
                  <a:ea typeface="+mn-ea"/>
                  <a:cs typeface="+mn-cs"/>
                </a:rPr>
                <a:t>来试</a:t>
              </a:r>
            </a:p>
          </p:txBody>
        </p:sp>
      </p:grpSp>
      <p:grpSp>
        <p:nvGrpSpPr>
          <p:cNvPr id="63" name="takeaway"/>
          <p:cNvGrpSpPr/>
          <p:nvPr/>
        </p:nvGrpSpPr>
        <p:grpSpPr>
          <a:xfrm>
            <a:off x="533400" y="5844540"/>
            <a:ext cx="11125200" cy="518160"/>
            <a:chOff x="533400" y="5844540"/>
            <a:chExt cx="11125200" cy="518160"/>
          </a:xfrm>
        </p:grpSpPr>
        <p:sp>
          <p:nvSpPr>
            <p:cNvPr id="58" name="Rectangle 58"/>
            <p:cNvSpPr/>
            <p:nvPr/>
          </p:nvSpPr>
          <p:spPr>
            <a:xfrm>
              <a:off x="533400" y="5844540"/>
              <a:ext cx="11125200" cy="518160"/>
            </a:xfrm>
            <a:prstGeom prst="roundRect">
              <a:avLst>
                <a:gd name="adj" fmla="val 22059"/>
              </a:avLst>
            </a:prstGeom>
            <a:solidFill>
              <a:srgbClr val="334E68"/>
            </a:solidFill>
            <a:ln>
              <a:noFill/>
            </a:ln>
          </p:spPr>
        </p:sp>
        <p:grpSp>
          <p:nvGrpSpPr>
            <p:cNvPr id="61" name="Group 61"/>
            <p:cNvGrpSpPr/>
            <p:nvPr/>
          </p:nvGrpSpPr>
          <p:grpSpPr>
            <a:xfrm>
              <a:off x="738188" y="6003610"/>
              <a:ext cx="200023" cy="200023"/>
              <a:chOff x="738188" y="6003610"/>
              <a:chExt cx="200023" cy="200023"/>
            </a:xfrm>
          </p:grpSpPr>
          <p:sp>
            <p:nvSpPr>
              <p:cNvPr id="59" name="Freeform 59"/>
              <p:cNvSpPr/>
              <p:nvPr/>
            </p:nvSpPr>
            <p:spPr>
              <a:xfrm>
                <a:off x="738188" y="600361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0" name="Freeform 60"/>
              <p:cNvSpPr/>
              <p:nvPr/>
            </p:nvSpPr>
            <p:spPr>
              <a:xfrm>
                <a:off x="871538" y="607028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2" name="TextBox 62"/>
            <p:cNvSpPr txBox="1"/>
            <p:nvPr/>
          </p:nvSpPr>
          <p:spPr>
            <a:xfrm>
              <a:off x="1040511" y="6004084"/>
              <a:ext cx="8616696"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出错处理通路本身也是代码，也会错。写用例时专门构造一批非法输入，看错误信息够不够定位问题。</a:t>
              </a:r>
            </a:p>
          </p:txBody>
        </p:sp>
      </p:grpSp>
      <p:grpSp>
        <p:nvGrpSpPr>
          <p:cNvPr id="66" name="footer"/>
          <p:cNvGrpSpPr/>
          <p:nvPr/>
        </p:nvGrpSpPr>
        <p:grpSpPr>
          <a:xfrm>
            <a:off x="528447" y="6581299"/>
            <a:ext cx="11135106" cy="190690"/>
            <a:chOff x="528447" y="6581299"/>
            <a:chExt cx="11135106" cy="190690"/>
          </a:xfrm>
        </p:grpSpPr>
        <p:sp>
          <p:nvSpPr>
            <p:cNvPr id="64" name="TextBox 6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5" name="TextBox 6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单元测试</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代码审查能查出三成到七成的逻辑设计和编码错误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card-1"/>
          <p:cNvGrpSpPr/>
          <p:nvPr/>
        </p:nvGrpSpPr>
        <p:grpSpPr>
          <a:xfrm>
            <a:off x="533400" y="1524000"/>
            <a:ext cx="4760595" cy="2257425"/>
            <a:chOff x="533400" y="1524000"/>
            <a:chExt cx="4760595" cy="2257425"/>
          </a:xfrm>
        </p:grpSpPr>
        <p:sp>
          <p:nvSpPr>
            <p:cNvPr id="7" name="Rectangle 7"/>
            <p:cNvSpPr/>
            <p:nvPr/>
          </p:nvSpPr>
          <p:spPr>
            <a:xfrm>
              <a:off x="533400" y="1524000"/>
              <a:ext cx="4760595" cy="2257425"/>
            </a:xfrm>
            <a:prstGeom prst="roundRect">
              <a:avLst>
                <a:gd name="adj" fmla="val 5907"/>
              </a:avLst>
            </a:prstGeom>
            <a:solidFill>
              <a:srgbClr val="FFFFFF"/>
            </a:solidFill>
            <a:ln w="14288">
              <a:solidFill>
                <a:srgbClr val="D9DFEA"/>
              </a:solidFill>
            </a:ln>
          </p:spPr>
        </p:sp>
        <p:sp>
          <p:nvSpPr>
            <p:cNvPr id="8" name="Rectangle 8"/>
            <p:cNvSpPr/>
            <p:nvPr/>
          </p:nvSpPr>
          <p:spPr>
            <a:xfrm>
              <a:off x="542925" y="1657350"/>
              <a:ext cx="47625" cy="1990725"/>
            </a:xfrm>
            <a:prstGeom prst="roundRect">
              <a:avLst>
                <a:gd name="adj" fmla="val 50000"/>
              </a:avLst>
            </a:prstGeom>
            <a:solidFill>
              <a:srgbClr val="334E68"/>
            </a:solidFill>
            <a:ln>
              <a:noFill/>
            </a:ln>
          </p:spPr>
        </p:sp>
        <p:sp>
          <p:nvSpPr>
            <p:cNvPr id="9" name="Rectangle 9"/>
            <p:cNvSpPr/>
            <p:nvPr/>
          </p:nvSpPr>
          <p:spPr>
            <a:xfrm>
              <a:off x="763905" y="1716405"/>
              <a:ext cx="476250" cy="247650"/>
            </a:xfrm>
            <a:prstGeom prst="roundRect">
              <a:avLst>
                <a:gd name="adj" fmla="val 50000"/>
              </a:avLst>
            </a:prstGeom>
            <a:solidFill>
              <a:srgbClr val="E7EDF3"/>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47597" y="175641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代码审查</a:t>
              </a:r>
            </a:p>
          </p:txBody>
        </p:sp>
        <p:sp>
          <p:nvSpPr>
            <p:cNvPr id="12" name="TextBox 12"/>
            <p:cNvSpPr txBox="1"/>
            <p:nvPr/>
          </p:nvSpPr>
          <p:spPr>
            <a:xfrm>
              <a:off x="757047" y="2090738"/>
              <a:ext cx="41285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由审查小组对源程序正式进行人工测试，是一种非常有</a:t>
              </a:r>
              <a:br/>
              <a:r>
                <a:rPr lang="zh-CN" sz="1350" dirty="0">
                  <a:solidFill>
                    <a:srgbClr val="1F2937"/>
                  </a:solidFill>
                  <a:latin typeface="+mn-lt"/>
                  <a:ea typeface="+mn-ea"/>
                  <a:cs typeface="+mn-cs"/>
                </a:rPr>
                <a:t>效的程序验证技术。</a:t>
              </a:r>
            </a:p>
          </p:txBody>
        </p:sp>
        <p:sp>
          <p:nvSpPr>
            <p:cNvPr id="13" name="Ellipse 13"/>
            <p:cNvSpPr/>
            <p:nvPr/>
          </p:nvSpPr>
          <p:spPr>
            <a:xfrm>
              <a:off x="772478" y="2706052"/>
              <a:ext cx="59055" cy="59055"/>
            </a:xfrm>
            <a:prstGeom prst="ellipse">
              <a:avLst/>
            </a:prstGeom>
            <a:solidFill>
              <a:srgbClr val="334E68"/>
            </a:solidFill>
            <a:ln>
              <a:noFill/>
            </a:ln>
          </p:spPr>
        </p:sp>
        <p:sp>
          <p:nvSpPr>
            <p:cNvPr id="14" name="TextBox 14"/>
            <p:cNvSpPr txBox="1"/>
            <p:nvPr/>
          </p:nvSpPr>
          <p:spPr>
            <a:xfrm>
              <a:off x="928497" y="2649855"/>
              <a:ext cx="3976783"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对典型的程序可以查出 </a:t>
              </a:r>
              <a:r>
                <a:rPr lang="zh-CN" sz="1350" b="1" dirty="0">
                  <a:solidFill>
                    <a:srgbClr val="C2410C"/>
                  </a:solidFill>
                  <a:latin typeface="+mn-lt"/>
                  <a:ea typeface="+mn-ea"/>
                  <a:cs typeface="+mn-cs"/>
                </a:rPr>
                <a:t>30% 到 70%</a:t>
              </a:r>
              <a:r>
                <a:rPr lang="zh-CN" sz="1350" dirty="0">
                  <a:solidFill>
                    <a:srgbClr val="1F2937"/>
                  </a:solidFill>
                  <a:latin typeface="+mn-lt"/>
                  <a:ea typeface="+mn-ea"/>
                  <a:cs typeface="+mn-cs"/>
                </a:rPr>
                <a:t xml:space="preserve"> 的逻辑设计错误</a:t>
              </a:r>
              <a:br/>
              <a:r>
                <a:rPr lang="zh-CN" sz="1350" dirty="0">
                  <a:solidFill>
                    <a:srgbClr val="1F2937"/>
                  </a:solidFill>
                  <a:latin typeface="+mn-lt"/>
                  <a:ea typeface="+mn-ea"/>
                  <a:cs typeface="+mn-cs"/>
                </a:rPr>
                <a:t>和编码错误</a:t>
              </a:r>
            </a:p>
          </p:txBody>
        </p:sp>
        <p:sp>
          <p:nvSpPr>
            <p:cNvPr id="15" name="TextBox 15"/>
            <p:cNvSpPr txBox="1"/>
            <p:nvPr/>
          </p:nvSpPr>
          <p:spPr>
            <a:xfrm>
              <a:off x="758190" y="3205639"/>
              <a:ext cx="413639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一个人身兼设计者与编写者、或身兼编写者与测试者时，小组中应</a:t>
              </a:r>
              <a:br/>
              <a:r>
                <a:rPr lang="zh-CN" sz="1120" dirty="0">
                  <a:solidFill>
                    <a:srgbClr val="5B6475"/>
                  </a:solidFill>
                  <a:latin typeface="+mn-lt"/>
                  <a:ea typeface="+mn-ea"/>
                  <a:cs typeface="+mn-cs"/>
                </a:rPr>
                <a:t>该再增加一名程序员</a:t>
              </a:r>
            </a:p>
          </p:txBody>
        </p:sp>
      </p:grpSp>
      <p:grpSp>
        <p:nvGrpSpPr>
          <p:cNvPr id="30" name="c1-bullets-2"/>
          <p:cNvGrpSpPr/>
          <p:nvPr/>
        </p:nvGrpSpPr>
        <p:grpSpPr>
          <a:xfrm>
            <a:off x="526542" y="3978592"/>
            <a:ext cx="4481322" cy="1517524"/>
            <a:chOff x="526542" y="3978592"/>
            <a:chExt cx="4481322" cy="1517524"/>
          </a:xfrm>
        </p:grpSpPr>
        <p:sp>
          <p:nvSpPr>
            <p:cNvPr id="17" name="TextBox 17"/>
            <p:cNvSpPr txBox="1"/>
            <p:nvPr/>
          </p:nvSpPr>
          <p:spPr>
            <a:xfrm>
              <a:off x="526542" y="3978592"/>
              <a:ext cx="1687059"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审查小组的 4 名成员</a:t>
              </a:r>
            </a:p>
          </p:txBody>
        </p:sp>
        <p:sp>
          <p:nvSpPr>
            <p:cNvPr id="18" name="Ellipse 18"/>
            <p:cNvSpPr/>
            <p:nvPr/>
          </p:nvSpPr>
          <p:spPr>
            <a:xfrm>
              <a:off x="533400" y="4286250"/>
              <a:ext cx="192405" cy="192405"/>
            </a:xfrm>
            <a:prstGeom prst="ellipse">
              <a:avLst/>
            </a:prstGeom>
            <a:solidFill>
              <a:srgbClr val="334E68"/>
            </a:solidFill>
            <a:ln>
              <a:noFill/>
            </a:ln>
          </p:spPr>
        </p:sp>
        <p:sp>
          <p:nvSpPr>
            <p:cNvPr id="19" name="TextBox 19"/>
            <p:cNvSpPr txBox="1"/>
            <p:nvPr/>
          </p:nvSpPr>
          <p:spPr>
            <a:xfrm>
              <a:off x="589078" y="43246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20" name="TextBox 20"/>
            <p:cNvSpPr txBox="1"/>
            <p:nvPr/>
          </p:nvSpPr>
          <p:spPr>
            <a:xfrm>
              <a:off x="814197" y="4298632"/>
              <a:ext cx="419366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组长（很有能力的程序员，没有直接参与这项工程）</a:t>
              </a:r>
            </a:p>
          </p:txBody>
        </p:sp>
        <p:sp>
          <p:nvSpPr>
            <p:cNvPr id="21" name="Ellipse 21"/>
            <p:cNvSpPr/>
            <p:nvPr/>
          </p:nvSpPr>
          <p:spPr>
            <a:xfrm>
              <a:off x="533400" y="4597718"/>
              <a:ext cx="192405" cy="192405"/>
            </a:xfrm>
            <a:prstGeom prst="ellipse">
              <a:avLst/>
            </a:prstGeom>
            <a:solidFill>
              <a:srgbClr val="334E68"/>
            </a:solidFill>
            <a:ln>
              <a:noFill/>
            </a:ln>
          </p:spPr>
        </p:sp>
        <p:sp>
          <p:nvSpPr>
            <p:cNvPr id="22" name="TextBox 22"/>
            <p:cNvSpPr txBox="1"/>
            <p:nvPr/>
          </p:nvSpPr>
          <p:spPr>
            <a:xfrm>
              <a:off x="589078" y="463610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23" name="TextBox 23"/>
            <p:cNvSpPr txBox="1"/>
            <p:nvPr/>
          </p:nvSpPr>
          <p:spPr>
            <a:xfrm>
              <a:off x="814197" y="4610100"/>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程序的设计者</a:t>
              </a:r>
            </a:p>
          </p:txBody>
        </p:sp>
        <p:sp>
          <p:nvSpPr>
            <p:cNvPr id="24" name="Ellipse 24"/>
            <p:cNvSpPr/>
            <p:nvPr/>
          </p:nvSpPr>
          <p:spPr>
            <a:xfrm>
              <a:off x="533400" y="4909185"/>
              <a:ext cx="192405" cy="192405"/>
            </a:xfrm>
            <a:prstGeom prst="ellipse">
              <a:avLst/>
            </a:prstGeom>
            <a:solidFill>
              <a:srgbClr val="334E68"/>
            </a:solidFill>
            <a:ln>
              <a:noFill/>
            </a:ln>
          </p:spPr>
        </p:sp>
        <p:sp>
          <p:nvSpPr>
            <p:cNvPr id="25" name="TextBox 25"/>
            <p:cNvSpPr txBox="1"/>
            <p:nvPr/>
          </p:nvSpPr>
          <p:spPr>
            <a:xfrm>
              <a:off x="589078" y="494757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26" name="TextBox 26"/>
            <p:cNvSpPr txBox="1"/>
            <p:nvPr/>
          </p:nvSpPr>
          <p:spPr>
            <a:xfrm>
              <a:off x="814197" y="4920615"/>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程序的编写者</a:t>
              </a:r>
            </a:p>
          </p:txBody>
        </p:sp>
        <p:sp>
          <p:nvSpPr>
            <p:cNvPr id="27" name="Ellipse 27"/>
            <p:cNvSpPr/>
            <p:nvPr/>
          </p:nvSpPr>
          <p:spPr>
            <a:xfrm>
              <a:off x="533400" y="5219700"/>
              <a:ext cx="192405" cy="192405"/>
            </a:xfrm>
            <a:prstGeom prst="ellipse">
              <a:avLst/>
            </a:prstGeom>
            <a:solidFill>
              <a:srgbClr val="334E68"/>
            </a:solidFill>
            <a:ln>
              <a:noFill/>
            </a:ln>
          </p:spPr>
        </p:sp>
        <p:sp>
          <p:nvSpPr>
            <p:cNvPr id="28" name="TextBox 28"/>
            <p:cNvSpPr txBox="1"/>
            <p:nvPr/>
          </p:nvSpPr>
          <p:spPr>
            <a:xfrm>
              <a:off x="589078" y="525808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29" name="TextBox 29"/>
            <p:cNvSpPr txBox="1"/>
            <p:nvPr/>
          </p:nvSpPr>
          <p:spPr>
            <a:xfrm>
              <a:off x="814197" y="5232083"/>
              <a:ext cx="110413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程序的测试者</a:t>
              </a:r>
            </a:p>
          </p:txBody>
        </p:sp>
      </p:grpSp>
      <p:grpSp>
        <p:nvGrpSpPr>
          <p:cNvPr id="48" name="c2-steps-1"/>
          <p:cNvGrpSpPr/>
          <p:nvPr/>
        </p:nvGrpSpPr>
        <p:grpSpPr>
          <a:xfrm>
            <a:off x="5598795" y="1533525"/>
            <a:ext cx="5701919" cy="2279809"/>
            <a:chOff x="5598795" y="1533525"/>
            <a:chExt cx="5701919" cy="2279809"/>
          </a:xfrm>
        </p:grpSpPr>
        <p:sp>
          <p:nvSpPr>
            <p:cNvPr id="31" name="Rectangle 31"/>
            <p:cNvSpPr/>
            <p:nvPr/>
          </p:nvSpPr>
          <p:spPr>
            <a:xfrm>
              <a:off x="5732145" y="1676400"/>
              <a:ext cx="19050" cy="1761172"/>
            </a:xfrm>
            <a:prstGeom prst="rect">
              <a:avLst/>
            </a:prstGeom>
            <a:solidFill>
              <a:srgbClr val="D9DFEA"/>
            </a:solidFill>
            <a:ln>
              <a:noFill/>
            </a:ln>
          </p:spPr>
        </p:sp>
        <p:sp>
          <p:nvSpPr>
            <p:cNvPr id="32" name="Ellipse 32"/>
            <p:cNvSpPr/>
            <p:nvPr/>
          </p:nvSpPr>
          <p:spPr>
            <a:xfrm>
              <a:off x="5598795" y="1533525"/>
              <a:ext cx="285750" cy="285750"/>
            </a:xfrm>
            <a:prstGeom prst="ellipse">
              <a:avLst/>
            </a:prstGeom>
            <a:solidFill>
              <a:srgbClr val="334E68"/>
            </a:solidFill>
            <a:ln>
              <a:noFill/>
            </a:ln>
          </p:spPr>
        </p:sp>
        <p:sp>
          <p:nvSpPr>
            <p:cNvPr id="33" name="TextBox 33"/>
            <p:cNvSpPr txBox="1"/>
            <p:nvPr/>
          </p:nvSpPr>
          <p:spPr>
            <a:xfrm>
              <a:off x="5692419"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34" name="Ellipse 34"/>
            <p:cNvSpPr/>
            <p:nvPr/>
          </p:nvSpPr>
          <p:spPr>
            <a:xfrm>
              <a:off x="5598795" y="2120265"/>
              <a:ext cx="285750" cy="285750"/>
            </a:xfrm>
            <a:prstGeom prst="ellipse">
              <a:avLst/>
            </a:prstGeom>
            <a:solidFill>
              <a:srgbClr val="334E68"/>
            </a:solidFill>
            <a:ln>
              <a:noFill/>
            </a:ln>
          </p:spPr>
        </p:sp>
        <p:sp>
          <p:nvSpPr>
            <p:cNvPr id="35" name="TextBox 35"/>
            <p:cNvSpPr txBox="1"/>
            <p:nvPr/>
          </p:nvSpPr>
          <p:spPr>
            <a:xfrm>
              <a:off x="5692419" y="219408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36" name="Ellipse 36"/>
            <p:cNvSpPr/>
            <p:nvPr/>
          </p:nvSpPr>
          <p:spPr>
            <a:xfrm>
              <a:off x="5598795" y="2707005"/>
              <a:ext cx="285750" cy="285750"/>
            </a:xfrm>
            <a:prstGeom prst="ellipse">
              <a:avLst/>
            </a:prstGeom>
            <a:solidFill>
              <a:srgbClr val="334E68"/>
            </a:solidFill>
            <a:ln>
              <a:noFill/>
            </a:ln>
          </p:spPr>
        </p:sp>
        <p:sp>
          <p:nvSpPr>
            <p:cNvPr id="37" name="TextBox 37"/>
            <p:cNvSpPr txBox="1"/>
            <p:nvPr/>
          </p:nvSpPr>
          <p:spPr>
            <a:xfrm>
              <a:off x="5692419" y="278082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38" name="Ellipse 38"/>
            <p:cNvSpPr/>
            <p:nvPr/>
          </p:nvSpPr>
          <p:spPr>
            <a:xfrm>
              <a:off x="5598795" y="3294698"/>
              <a:ext cx="285750" cy="285750"/>
            </a:xfrm>
            <a:prstGeom prst="ellipse">
              <a:avLst/>
            </a:prstGeom>
            <a:solidFill>
              <a:srgbClr val="334E68"/>
            </a:solidFill>
            <a:ln>
              <a:noFill/>
            </a:ln>
          </p:spPr>
        </p:sp>
        <p:sp>
          <p:nvSpPr>
            <p:cNvPr id="39" name="TextBox 39"/>
            <p:cNvSpPr txBox="1"/>
            <p:nvPr/>
          </p:nvSpPr>
          <p:spPr>
            <a:xfrm>
              <a:off x="5692419" y="336851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40" name="TextBox 40"/>
            <p:cNvSpPr txBox="1"/>
            <p:nvPr/>
          </p:nvSpPr>
          <p:spPr>
            <a:xfrm>
              <a:off x="6011037" y="1564957"/>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会前</a:t>
              </a:r>
            </a:p>
          </p:txBody>
        </p:sp>
        <p:sp>
          <p:nvSpPr>
            <p:cNvPr id="41" name="TextBox 41"/>
            <p:cNvSpPr txBox="1"/>
            <p:nvPr/>
          </p:nvSpPr>
          <p:spPr>
            <a:xfrm>
              <a:off x="6012180" y="1833086"/>
              <a:ext cx="317769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小组成员先研究设计说明书，力求理解这个设计</a:t>
              </a:r>
            </a:p>
          </p:txBody>
        </p:sp>
        <p:sp>
          <p:nvSpPr>
            <p:cNvPr id="42" name="TextBox 42"/>
            <p:cNvSpPr txBox="1"/>
            <p:nvPr/>
          </p:nvSpPr>
          <p:spPr>
            <a:xfrm>
              <a:off x="6011037" y="215265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会上讲解</a:t>
              </a:r>
            </a:p>
          </p:txBody>
        </p:sp>
        <p:sp>
          <p:nvSpPr>
            <p:cNvPr id="43" name="TextBox 43"/>
            <p:cNvSpPr txBox="1"/>
            <p:nvPr/>
          </p:nvSpPr>
          <p:spPr>
            <a:xfrm>
              <a:off x="6012180" y="2419826"/>
              <a:ext cx="453466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程序编写者逐个语句讲述程序的逻辑，其他成员倾听并力图发现错误</a:t>
              </a:r>
            </a:p>
          </p:txBody>
        </p:sp>
        <p:sp>
          <p:nvSpPr>
            <p:cNvPr id="44" name="TextBox 44"/>
            <p:cNvSpPr txBox="1"/>
            <p:nvPr/>
          </p:nvSpPr>
          <p:spPr>
            <a:xfrm>
              <a:off x="6011037" y="273939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对照清单</a:t>
              </a:r>
            </a:p>
          </p:txBody>
        </p:sp>
        <p:sp>
          <p:nvSpPr>
            <p:cNvPr id="45" name="TextBox 45"/>
            <p:cNvSpPr txBox="1"/>
            <p:nvPr/>
          </p:nvSpPr>
          <p:spPr>
            <a:xfrm>
              <a:off x="6012180" y="3006566"/>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对照程序设计常见错误清单逐条分析审查</a:t>
              </a:r>
            </a:p>
          </p:txBody>
        </p:sp>
        <p:sp>
          <p:nvSpPr>
            <p:cNvPr id="46" name="TextBox 46"/>
            <p:cNvSpPr txBox="1"/>
            <p:nvPr/>
          </p:nvSpPr>
          <p:spPr>
            <a:xfrm>
              <a:off x="6011037" y="3326130"/>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记录</a:t>
              </a:r>
            </a:p>
          </p:txBody>
        </p:sp>
        <p:sp>
          <p:nvSpPr>
            <p:cNvPr id="47" name="TextBox 47"/>
            <p:cNvSpPr txBox="1"/>
            <p:nvPr/>
          </p:nvSpPr>
          <p:spPr>
            <a:xfrm>
              <a:off x="6012180" y="3593306"/>
              <a:ext cx="528853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组长记下发现的错误，审查会继续进行；小组的任务是发现错误而不是改正错误</a:t>
              </a:r>
            </a:p>
          </p:txBody>
        </p:sp>
      </p:grpSp>
      <p:grpSp>
        <p:nvGrpSpPr>
          <p:cNvPr id="56" name="c2-card-2"/>
          <p:cNvGrpSpPr/>
          <p:nvPr/>
        </p:nvGrpSpPr>
        <p:grpSpPr>
          <a:xfrm>
            <a:off x="5598795" y="3982402"/>
            <a:ext cx="6059805" cy="1697355"/>
            <a:chOff x="5598795" y="3982402"/>
            <a:chExt cx="6059805" cy="1697355"/>
          </a:xfrm>
        </p:grpSpPr>
        <p:sp>
          <p:nvSpPr>
            <p:cNvPr id="49" name="Rectangle 49"/>
            <p:cNvSpPr/>
            <p:nvPr/>
          </p:nvSpPr>
          <p:spPr>
            <a:xfrm>
              <a:off x="5598795" y="3982402"/>
              <a:ext cx="6059805" cy="1697355"/>
            </a:xfrm>
            <a:prstGeom prst="roundRect">
              <a:avLst>
                <a:gd name="adj" fmla="val 7856"/>
              </a:avLst>
            </a:prstGeom>
            <a:solidFill>
              <a:srgbClr val="FFFFFF"/>
            </a:solidFill>
            <a:ln w="14288">
              <a:solidFill>
                <a:srgbClr val="D9DFEA"/>
              </a:solidFill>
            </a:ln>
          </p:spPr>
        </p:sp>
        <p:sp>
          <p:nvSpPr>
            <p:cNvPr id="50" name="Rectangle 50"/>
            <p:cNvSpPr/>
            <p:nvPr/>
          </p:nvSpPr>
          <p:spPr>
            <a:xfrm>
              <a:off x="5608320" y="4115752"/>
              <a:ext cx="47625" cy="1430655"/>
            </a:xfrm>
            <a:prstGeom prst="roundRect">
              <a:avLst>
                <a:gd name="adj" fmla="val 50000"/>
              </a:avLst>
            </a:prstGeom>
            <a:solidFill>
              <a:srgbClr val="D97706"/>
            </a:solidFill>
            <a:ln>
              <a:noFill/>
            </a:ln>
          </p:spPr>
        </p:sp>
        <p:sp>
          <p:nvSpPr>
            <p:cNvPr id="51" name="Rectangle 51"/>
            <p:cNvSpPr/>
            <p:nvPr/>
          </p:nvSpPr>
          <p:spPr>
            <a:xfrm>
              <a:off x="5829300" y="4174808"/>
              <a:ext cx="476250" cy="247650"/>
            </a:xfrm>
            <a:prstGeom prst="roundRect">
              <a:avLst>
                <a:gd name="adj" fmla="val 50000"/>
              </a:avLst>
            </a:prstGeom>
            <a:solidFill>
              <a:srgbClr val="FEF3C7"/>
            </a:solidFill>
            <a:ln>
              <a:noFill/>
            </a:ln>
          </p:spPr>
        </p:sp>
        <p:sp>
          <p:nvSpPr>
            <p:cNvPr id="52" name="TextBox 52"/>
            <p:cNvSpPr txBox="1"/>
            <p:nvPr/>
          </p:nvSpPr>
          <p:spPr>
            <a:xfrm>
              <a:off x="5920740" y="4209098"/>
              <a:ext cx="293370" cy="205359"/>
            </a:xfrm>
            <a:prstGeom prst="rect">
              <a:avLst/>
            </a:prstGeom>
            <a:noFill/>
            <a:ln>
              <a:noFill/>
            </a:ln>
          </p:spPr>
          <p:txBody>
            <a:bodyPr wrap="none" lIns="0" tIns="0" rIns="0" bIns="0" anchor="t" anchorCtr="0">
              <a:spAutoFit/>
            </a:bodyPr>
            <a:lstStyle/>
            <a:p>
              <a:pPr algn="ctr"/>
              <a:r>
                <a:rPr lang="zh-CN" sz="1050" b="1" dirty="0">
                  <a:solidFill>
                    <a:srgbClr val="92400E"/>
                  </a:solidFill>
                  <a:latin typeface="+mn-lt"/>
                  <a:ea typeface="+mn-ea"/>
                  <a:cs typeface="+mn-cs"/>
                </a:rPr>
                <a:t>预排</a:t>
              </a:r>
            </a:p>
          </p:txBody>
        </p:sp>
        <p:sp>
          <p:nvSpPr>
            <p:cNvPr id="53" name="TextBox 53"/>
            <p:cNvSpPr txBox="1"/>
            <p:nvPr/>
          </p:nvSpPr>
          <p:spPr>
            <a:xfrm>
              <a:off x="6412992" y="4214812"/>
              <a:ext cx="352305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一个人扮演“测试者”，其他人扮演“计算机”</a:t>
              </a:r>
            </a:p>
          </p:txBody>
        </p:sp>
        <p:sp>
          <p:nvSpPr>
            <p:cNvPr id="54" name="TextBox 54"/>
            <p:cNvSpPr txBox="1"/>
            <p:nvPr/>
          </p:nvSpPr>
          <p:spPr>
            <a:xfrm>
              <a:off x="5822442" y="4549140"/>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会前由测试者准备测试方案，会上由扮演计算机的成员模拟执行被测程</a:t>
              </a:r>
              <a:br/>
              <a:r>
                <a:rPr lang="zh-CN" sz="1350" dirty="0">
                  <a:solidFill>
                    <a:srgbClr val="1F2937"/>
                  </a:solidFill>
                  <a:latin typeface="+mn-lt"/>
                  <a:ea typeface="+mn-ea"/>
                  <a:cs typeface="+mn-cs"/>
                </a:rPr>
                <a:t>序。</a:t>
              </a:r>
            </a:p>
          </p:txBody>
        </p:sp>
        <p:sp>
          <p:nvSpPr>
            <p:cNvPr id="55" name="TextBox 55"/>
            <p:cNvSpPr txBox="1"/>
            <p:nvPr/>
          </p:nvSpPr>
          <p:spPr>
            <a:xfrm>
              <a:off x="5823585" y="5104924"/>
              <a:ext cx="541655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人执行程序极慢，所以测试数据必须简单、方案数目不能多；方案本身只起促进思考和</a:t>
              </a:r>
              <a:br/>
              <a:r>
                <a:rPr lang="zh-CN" sz="1120" dirty="0">
                  <a:solidFill>
                    <a:srgbClr val="5B6475"/>
                  </a:solidFill>
                  <a:latin typeface="+mn-lt"/>
                  <a:ea typeface="+mn-ea"/>
                  <a:cs typeface="+mn-cs"/>
                </a:rPr>
                <a:t>引起讨论的作用</a:t>
              </a:r>
            </a:p>
          </p:txBody>
        </p:sp>
      </p:grpSp>
      <p:grpSp>
        <p:nvGrpSpPr>
          <p:cNvPr id="62" name="takeaway"/>
          <p:cNvGrpSpPr/>
          <p:nvPr/>
        </p:nvGrpSpPr>
        <p:grpSpPr>
          <a:xfrm>
            <a:off x="533400" y="5874068"/>
            <a:ext cx="11125200" cy="488632"/>
            <a:chOff x="533400" y="5874068"/>
            <a:chExt cx="11125200" cy="488632"/>
          </a:xfrm>
        </p:grpSpPr>
        <p:sp>
          <p:nvSpPr>
            <p:cNvPr id="57" name="Rectangle 57"/>
            <p:cNvSpPr/>
            <p:nvPr/>
          </p:nvSpPr>
          <p:spPr>
            <a:xfrm>
              <a:off x="533400" y="5874068"/>
              <a:ext cx="11125200" cy="488632"/>
            </a:xfrm>
            <a:prstGeom prst="roundRect">
              <a:avLst>
                <a:gd name="adj" fmla="val 23392"/>
              </a:avLst>
            </a:prstGeom>
            <a:solidFill>
              <a:srgbClr val="334E68"/>
            </a:solidFill>
            <a:ln>
              <a:noFill/>
            </a:ln>
          </p:spPr>
        </p:sp>
        <p:grpSp>
          <p:nvGrpSpPr>
            <p:cNvPr id="60" name="Group 60"/>
            <p:cNvGrpSpPr/>
            <p:nvPr/>
          </p:nvGrpSpPr>
          <p:grpSpPr>
            <a:xfrm>
              <a:off x="738188" y="6017897"/>
              <a:ext cx="200023" cy="200023"/>
              <a:chOff x="738188" y="6017897"/>
              <a:chExt cx="200023" cy="200023"/>
            </a:xfrm>
          </p:grpSpPr>
          <p:sp>
            <p:nvSpPr>
              <p:cNvPr id="58" name="Freeform 58"/>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9" name="Freeform 59"/>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1" name="TextBox 61"/>
            <p:cNvSpPr txBox="1"/>
            <p:nvPr/>
          </p:nvSpPr>
          <p:spPr>
            <a:xfrm>
              <a:off x="1040892" y="6023610"/>
              <a:ext cx="855535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一次审查会上可以发现许多错误；用机器测试时通常要先改正一个错误才能继续，错误是一个一个发现的。</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单元测试</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驱动程序在上，存根程序在下，把被测模块架起来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1" name="c1-flow-1"/>
          <p:cNvGrpSpPr/>
          <p:nvPr/>
        </p:nvGrpSpPr>
        <p:grpSpPr>
          <a:xfrm>
            <a:off x="897255" y="1644015"/>
            <a:ext cx="4466272" cy="1639252"/>
            <a:chOff x="897255" y="1644015"/>
            <a:chExt cx="4466272" cy="1639252"/>
          </a:xfrm>
        </p:grpSpPr>
        <p:sp>
          <p:nvSpPr>
            <p:cNvPr id="7" name="Freeform 7"/>
            <p:cNvSpPr/>
            <p:nvPr/>
          </p:nvSpPr>
          <p:spPr>
            <a:xfrm>
              <a:off x="3129915" y="2029778"/>
              <a:ext cx="9525" cy="136208"/>
            </a:xfrm>
            <a:custGeom>
              <a:avLst/>
              <a:gdLst/>
              <a:ahLst/>
              <a:cxnLst/>
              <a:rect l="l" t="t" r="r" b="b"/>
              <a:pathLst>
                <a:path w="9525" h="136208">
                  <a:moveTo>
                    <a:pt x="0" y="0"/>
                  </a:moveTo>
                  <a:lnTo>
                    <a:pt x="0" y="136208"/>
                  </a:lnTo>
                </a:path>
              </a:pathLst>
            </a:custGeom>
            <a:noFill/>
            <a:ln w="15240">
              <a:solidFill>
                <a:srgbClr val="5B6475"/>
              </a:solidFill>
            </a:ln>
          </p:spPr>
        </p:sp>
        <p:sp>
          <p:nvSpPr>
            <p:cNvPr id="8" name="Freeform 8"/>
            <p:cNvSpPr/>
            <p:nvPr/>
          </p:nvSpPr>
          <p:spPr>
            <a:xfrm>
              <a:off x="3077528" y="216598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3129915" y="2656522"/>
              <a:ext cx="9525" cy="136208"/>
            </a:xfrm>
            <a:custGeom>
              <a:avLst/>
              <a:gdLst/>
              <a:ahLst/>
              <a:cxnLst/>
              <a:rect l="l" t="t" r="r" b="b"/>
              <a:pathLst>
                <a:path w="9525" h="136208">
                  <a:moveTo>
                    <a:pt x="0" y="0"/>
                  </a:moveTo>
                  <a:lnTo>
                    <a:pt x="0" y="136208"/>
                  </a:lnTo>
                </a:path>
              </a:pathLst>
            </a:custGeom>
            <a:noFill/>
            <a:ln w="15240">
              <a:solidFill>
                <a:srgbClr val="5B6475"/>
              </a:solidFill>
            </a:ln>
          </p:spPr>
        </p:sp>
        <p:sp>
          <p:nvSpPr>
            <p:cNvPr id="10" name="Freeform 10"/>
            <p:cNvSpPr/>
            <p:nvPr/>
          </p:nvSpPr>
          <p:spPr>
            <a:xfrm>
              <a:off x="3077528" y="279273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Rectangle 11"/>
            <p:cNvSpPr/>
            <p:nvPr/>
          </p:nvSpPr>
          <p:spPr>
            <a:xfrm>
              <a:off x="897255" y="1644015"/>
              <a:ext cx="4466272" cy="385762"/>
            </a:xfrm>
            <a:prstGeom prst="roundRect">
              <a:avLst>
                <a:gd name="adj" fmla="val 49877"/>
              </a:avLst>
            </a:prstGeom>
            <a:solidFill>
              <a:srgbClr val="334E68"/>
            </a:solidFill>
            <a:ln>
              <a:noFill/>
            </a:ln>
          </p:spPr>
        </p:sp>
        <p:sp>
          <p:nvSpPr>
            <p:cNvPr id="12" name="Rectangle 12"/>
            <p:cNvSpPr/>
            <p:nvPr/>
          </p:nvSpPr>
          <p:spPr>
            <a:xfrm>
              <a:off x="897255" y="2270760"/>
              <a:ext cx="4466272" cy="385762"/>
            </a:xfrm>
            <a:prstGeom prst="roundRect">
              <a:avLst>
                <a:gd name="adj" fmla="val 24691"/>
              </a:avLst>
            </a:prstGeom>
            <a:solidFill>
              <a:srgbClr val="E7EDF3"/>
            </a:solidFill>
            <a:ln w="19050">
              <a:solidFill>
                <a:srgbClr val="334E68"/>
              </a:solidFill>
            </a:ln>
          </p:spPr>
        </p:sp>
        <p:sp>
          <p:nvSpPr>
            <p:cNvPr id="13" name="Rectangle 13"/>
            <p:cNvSpPr/>
            <p:nvPr/>
          </p:nvSpPr>
          <p:spPr>
            <a:xfrm>
              <a:off x="897255" y="2897505"/>
              <a:ext cx="4466272" cy="385762"/>
            </a:xfrm>
            <a:prstGeom prst="roundRect">
              <a:avLst>
                <a:gd name="adj" fmla="val 49877"/>
              </a:avLst>
            </a:prstGeom>
            <a:solidFill>
              <a:srgbClr val="334E68"/>
            </a:solidFill>
            <a:ln>
              <a:noFill/>
            </a:ln>
          </p:spPr>
        </p:sp>
        <p:sp>
          <p:nvSpPr>
            <p:cNvPr id="14" name="TextBox 14"/>
            <p:cNvSpPr txBox="1"/>
            <p:nvPr/>
          </p:nvSpPr>
          <p:spPr>
            <a:xfrm>
              <a:off x="2557477" y="1758791"/>
              <a:ext cx="1144877"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驱动程序 driver</a:t>
              </a:r>
            </a:p>
          </p:txBody>
        </p:sp>
        <p:sp>
          <p:nvSpPr>
            <p:cNvPr id="15" name="TextBox 15"/>
            <p:cNvSpPr txBox="1"/>
            <p:nvPr/>
          </p:nvSpPr>
          <p:spPr>
            <a:xfrm>
              <a:off x="2822651" y="2384584"/>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被测模块</a:t>
              </a:r>
            </a:p>
          </p:txBody>
        </p:sp>
        <p:sp>
          <p:nvSpPr>
            <p:cNvPr id="16" name="TextBox 16"/>
            <p:cNvSpPr txBox="1"/>
            <p:nvPr/>
          </p:nvSpPr>
          <p:spPr>
            <a:xfrm>
              <a:off x="2624760" y="3011329"/>
              <a:ext cx="101031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存根程序 stub</a:t>
              </a:r>
            </a:p>
          </p:txBody>
        </p:sp>
        <p:sp>
          <p:nvSpPr>
            <p:cNvPr id="17" name="Rectangle 17"/>
            <p:cNvSpPr/>
            <p:nvPr/>
          </p:nvSpPr>
          <p:spPr>
            <a:xfrm>
              <a:off x="3158490" y="2071688"/>
              <a:ext cx="781050" cy="165735"/>
            </a:xfrm>
            <a:prstGeom prst="roundRect">
              <a:avLst>
                <a:gd name="adj" fmla="val 22989"/>
              </a:avLst>
            </a:prstGeom>
            <a:solidFill>
              <a:srgbClr val="FFFFFF"/>
            </a:solidFill>
            <a:ln>
              <a:noFill/>
            </a:ln>
          </p:spPr>
        </p:sp>
        <p:sp>
          <p:nvSpPr>
            <p:cNvPr id="18" name="TextBox 18"/>
            <p:cNvSpPr txBox="1"/>
            <p:nvPr/>
          </p:nvSpPr>
          <p:spPr>
            <a:xfrm>
              <a:off x="3182302" y="2094548"/>
              <a:ext cx="736473"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送入测试数据</a:t>
              </a:r>
            </a:p>
          </p:txBody>
        </p:sp>
        <p:sp>
          <p:nvSpPr>
            <p:cNvPr id="19" name="Rectangle 19"/>
            <p:cNvSpPr/>
            <p:nvPr/>
          </p:nvSpPr>
          <p:spPr>
            <a:xfrm>
              <a:off x="3158490" y="2698432"/>
              <a:ext cx="552450" cy="165735"/>
            </a:xfrm>
            <a:prstGeom prst="roundRect">
              <a:avLst>
                <a:gd name="adj" fmla="val 22989"/>
              </a:avLst>
            </a:prstGeom>
            <a:solidFill>
              <a:srgbClr val="FFFFFF"/>
            </a:solidFill>
            <a:ln>
              <a:noFill/>
            </a:ln>
          </p:spPr>
        </p:sp>
        <p:sp>
          <p:nvSpPr>
            <p:cNvPr id="20" name="TextBox 20"/>
            <p:cNvSpPr txBox="1"/>
            <p:nvPr/>
          </p:nvSpPr>
          <p:spPr>
            <a:xfrm>
              <a:off x="3182302" y="2721292"/>
              <a:ext cx="494157" cy="176212"/>
            </a:xfrm>
            <a:prstGeom prst="rect">
              <a:avLst/>
            </a:prstGeom>
            <a:noFill/>
            <a:ln>
              <a:noFill/>
            </a:ln>
          </p:spPr>
          <p:txBody>
            <a:bodyPr wrap="none" lIns="0" tIns="0" rIns="0" bIns="0" anchor="t" anchorCtr="0">
              <a:spAutoFit/>
            </a:bodyPr>
            <a:lstStyle/>
            <a:p>
              <a:pPr algn="l"/>
              <a:r>
                <a:rPr lang="zh-CN" sz="900" dirty="0">
                  <a:solidFill>
                    <a:srgbClr val="5B6475"/>
                  </a:solidFill>
                  <a:latin typeface="+mn-lt"/>
                  <a:ea typeface="+mn-ea"/>
                  <a:cs typeface="+mn-cs"/>
                </a:rPr>
                <a:t>调用下层</a:t>
              </a:r>
            </a:p>
          </p:txBody>
        </p:sp>
      </p:grpSp>
      <p:grpSp>
        <p:nvGrpSpPr>
          <p:cNvPr id="27" name="c1-kv-2"/>
          <p:cNvGrpSpPr/>
          <p:nvPr/>
        </p:nvGrpSpPr>
        <p:grpSpPr>
          <a:xfrm>
            <a:off x="526542" y="3595688"/>
            <a:ext cx="5200840" cy="656463"/>
            <a:chOff x="526542" y="3595688"/>
            <a:chExt cx="5200840" cy="656463"/>
          </a:xfrm>
        </p:grpSpPr>
        <p:sp>
          <p:nvSpPr>
            <p:cNvPr id="22" name="TextBox 22"/>
            <p:cNvSpPr txBox="1"/>
            <p:nvPr/>
          </p:nvSpPr>
          <p:spPr>
            <a:xfrm>
              <a:off x="526542" y="3595688"/>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驱动程序</a:t>
              </a:r>
            </a:p>
          </p:txBody>
        </p:sp>
        <p:sp>
          <p:nvSpPr>
            <p:cNvPr id="23" name="TextBox 23"/>
            <p:cNvSpPr txBox="1"/>
            <p:nvPr/>
          </p:nvSpPr>
          <p:spPr>
            <a:xfrm>
              <a:off x="1488567" y="3595688"/>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接收测试数据并传给被测模块，印出结果</a:t>
              </a:r>
            </a:p>
          </p:txBody>
        </p:sp>
        <p:sp>
          <p:nvSpPr>
            <p:cNvPr id="24" name="Rectangle 24"/>
            <p:cNvSpPr/>
            <p:nvPr/>
          </p:nvSpPr>
          <p:spPr>
            <a:xfrm>
              <a:off x="533400" y="3881438"/>
              <a:ext cx="5193982" cy="9525"/>
            </a:xfrm>
            <a:prstGeom prst="rect">
              <a:avLst/>
            </a:prstGeom>
            <a:solidFill>
              <a:srgbClr val="D9DFEA"/>
            </a:solidFill>
            <a:ln>
              <a:noFill/>
            </a:ln>
          </p:spPr>
        </p:sp>
        <p:sp>
          <p:nvSpPr>
            <p:cNvPr id="25" name="TextBox 25"/>
            <p:cNvSpPr txBox="1"/>
            <p:nvPr/>
          </p:nvSpPr>
          <p:spPr>
            <a:xfrm>
              <a:off x="526542" y="3988118"/>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存根程序</a:t>
              </a:r>
            </a:p>
          </p:txBody>
        </p:sp>
        <p:sp>
          <p:nvSpPr>
            <p:cNvPr id="26" name="TextBox 26"/>
            <p:cNvSpPr txBox="1"/>
            <p:nvPr/>
          </p:nvSpPr>
          <p:spPr>
            <a:xfrm>
              <a:off x="1488567" y="3988118"/>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代替被测模块调用的下层模块，印出入口检验结果</a:t>
              </a:r>
            </a:p>
          </p:txBody>
        </p:sp>
      </p:grpSp>
      <p:grpSp>
        <p:nvGrpSpPr>
          <p:cNvPr id="30" name="c1-image-3"/>
          <p:cNvGrpSpPr/>
          <p:nvPr/>
        </p:nvGrpSpPr>
        <p:grpSpPr>
          <a:xfrm>
            <a:off x="533400" y="4369118"/>
            <a:ext cx="5193982" cy="1539906"/>
            <a:chOff x="533400" y="4369118"/>
            <a:chExt cx="5193982" cy="1539906"/>
          </a:xfrm>
        </p:grpSpPr>
        <p:pic>
          <p:nvPicPr>
            <p:cNvPr id="28" name="Image 28"/>
            <p:cNvPicPr>
              <a:picLocks noChangeAspect="1"/>
            </p:cNvPicPr>
            <p:nvPr/>
          </p:nvPicPr>
          <p:blipFill>
            <a:blip r:embed="rId2"/>
            <a:srcRect l="0" t="33862" r="0" b="33862"/>
            <a:stretch>
              <a:fillRect/>
            </a:stretch>
          </p:blipFill>
          <p:spPr>
            <a:xfrm>
              <a:off x="533400" y="4369118"/>
              <a:ext cx="5193982" cy="1257300"/>
            </a:xfrm>
            <a:prstGeom prst="roundRect">
              <a:avLst>
                <a:gd name="adj" fmla="val 10606"/>
              </a:avLst>
            </a:prstGeom>
          </p:spPr>
        </p:pic>
        <p:sp>
          <p:nvSpPr>
            <p:cNvPr id="29" name="TextBox 29"/>
            <p:cNvSpPr txBox="1"/>
            <p:nvPr/>
          </p:nvSpPr>
          <p:spPr>
            <a:xfrm>
              <a:off x="1212012" y="5718334"/>
              <a:ext cx="3835806"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上面吊着加载装置，下面垫着临时木块，中间那道拱才能单独受检</a:t>
              </a:r>
            </a:p>
          </p:txBody>
        </p:sp>
      </p:grpSp>
      <p:grpSp>
        <p:nvGrpSpPr>
          <p:cNvPr id="34" name="c2-code-1"/>
          <p:cNvGrpSpPr/>
          <p:nvPr/>
        </p:nvGrpSpPr>
        <p:grpSpPr>
          <a:xfrm>
            <a:off x="6032182" y="1524000"/>
            <a:ext cx="5626418" cy="2088832"/>
            <a:chOff x="6032182" y="1524000"/>
            <a:chExt cx="5626418" cy="2088832"/>
          </a:xfrm>
        </p:grpSpPr>
        <p:sp>
          <p:nvSpPr>
            <p:cNvPr id="31" name="Rectangle 31"/>
            <p:cNvSpPr/>
            <p:nvPr/>
          </p:nvSpPr>
          <p:spPr>
            <a:xfrm>
              <a:off x="6032182" y="1524000"/>
              <a:ext cx="5626418" cy="2088832"/>
            </a:xfrm>
            <a:prstGeom prst="roundRect">
              <a:avLst>
                <a:gd name="adj" fmla="val 4560"/>
              </a:avLst>
            </a:prstGeom>
            <a:solidFill>
              <a:srgbClr val="F6F8FA"/>
            </a:solidFill>
            <a:ln w="11430">
              <a:solidFill>
                <a:srgbClr val="D9DFEA"/>
              </a:solidFill>
            </a:ln>
          </p:spPr>
        </p:sp>
        <p:sp>
          <p:nvSpPr>
            <p:cNvPr id="32" name="TextBox 32"/>
            <p:cNvSpPr txBox="1"/>
            <p:nvPr/>
          </p:nvSpPr>
          <p:spPr>
            <a:xfrm>
              <a:off x="6160580" y="1675924"/>
              <a:ext cx="3013574"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Ⅰ. TEST STUB（测试正文编辑模块用的存根程序）</a:t>
              </a:r>
            </a:p>
          </p:txBody>
        </p:sp>
        <p:sp>
          <p:nvSpPr>
            <p:cNvPr id="33" name="TextBox 33"/>
            <p:cNvSpPr txBox="1"/>
            <p:nvPr/>
          </p:nvSpPr>
          <p:spPr>
            <a:xfrm>
              <a:off x="6160580" y="1935956"/>
              <a:ext cx="2797810" cy="1600390"/>
            </a:xfrm>
            <a:prstGeom prst="rect">
              <a:avLst/>
            </a:prstGeom>
            <a:noFill/>
            <a:ln>
              <a:noFill/>
            </a:ln>
          </p:spPr>
          <p:txBody>
            <a:bodyPr wrap="none" lIns="0" tIns="0" rIns="0" bIns="0" anchor="t" anchorCtr="0">
              <a:spAutoFit/>
            </a:bodyPr>
            <a:lstStyle/>
            <a:p>
              <a:pPr algn="l">
                <a:lnSpc>
                  <a:spcPts val="1388"/>
                </a:lnSpc>
              </a:pPr>
              <a:r>
                <a:rPr lang="zh-CN" sz="980" dirty="0">
                  <a:solidFill>
                    <a:srgbClr val="1F2937"/>
                  </a:solidFill>
                  <a:latin typeface="Consolas"/>
                  <a:ea typeface="Microsoft YaHei"/>
                  <a:cs typeface="Consolas"/>
                </a:rPr>
                <a:t>初始化;</a:t>
              </a:r>
              <a:br/>
              <a:r>
                <a:rPr lang="zh-CN" sz="980" dirty="0">
                  <a:solidFill>
                    <a:srgbClr val="1F2937"/>
                  </a:solidFill>
                  <a:latin typeface="Consolas"/>
                  <a:ea typeface="Microsoft YaHei"/>
                  <a:cs typeface="Consolas"/>
                </a:rPr>
                <a:t>输出</a:t>
              </a:r>
              <a:r>
                <a:rPr lang="zh-CN" sz="980" dirty="0">
                  <a:solidFill>
                    <a:srgbClr val="C2410C"/>
                  </a:solidFill>
                  <a:latin typeface="Consolas"/>
                  <a:ea typeface="Microsoft YaHei"/>
                  <a:cs typeface="Consolas"/>
                </a:rPr>
                <a:t>"进入了正文编辑程序"</a:t>
              </a:r>
              <a:r>
                <a:rPr lang="zh-CN" sz="980" dirty="0">
                  <a:solidFill>
                    <a:srgbClr val="1F2937"/>
                  </a:solidFill>
                  <a:latin typeface="Consolas"/>
                  <a:ea typeface="Consolas"/>
                  <a:cs typeface="Consolas"/>
                </a:rPr>
                <a:t>;</a:t>
              </a:r>
              <a:br/>
              <a:r>
                <a:rPr lang="zh-CN" sz="980" dirty="0">
                  <a:solidFill>
                    <a:srgbClr val="1F2937"/>
                  </a:solidFill>
                  <a:latin typeface="Consolas"/>
                  <a:ea typeface="Microsoft YaHei"/>
                  <a:cs typeface="Consolas"/>
                </a:rPr>
                <a:t>输出</a:t>
              </a:r>
              <a:r>
                <a:rPr lang="zh-CN" sz="980" dirty="0">
                  <a:solidFill>
                    <a:srgbClr val="C2410C"/>
                  </a:solidFill>
                  <a:latin typeface="Consolas"/>
                  <a:ea typeface="Microsoft YaHei"/>
                  <a:cs typeface="Consolas"/>
                </a:rPr>
                <a:t>"输入的控制信息是"</a:t>
              </a:r>
              <a:r>
                <a:rPr lang="en-US" sz="980" dirty="0">
                  <a:solidFill>
                    <a:srgbClr val="1F2937"/>
                  </a:solidFill>
                  <a:latin typeface="Consolas"/>
                  <a:ea typeface="Consolas"/>
                  <a:cs typeface="Consolas"/>
                </a:rPr>
                <a:t xml:space="preserve"> CFUNCT;</a:t>
              </a:r>
              <a:br/>
              <a:r>
                <a:rPr lang="zh-CN" sz="980" dirty="0">
                  <a:solidFill>
                    <a:srgbClr val="1F2937"/>
                  </a:solidFill>
                  <a:latin typeface="Consolas"/>
                  <a:ea typeface="Microsoft YaHei"/>
                  <a:cs typeface="Consolas"/>
                </a:rPr>
                <a:t>输出缓冲区中的字符串;</a:t>
              </a:r>
              <a:br/>
              <a:r>
                <a:rPr lang="zh-CN" sz="980" dirty="0">
                  <a:solidFill>
                    <a:srgbClr val="1F2937"/>
                  </a:solidFill>
                  <a:latin typeface="Consolas"/>
                  <a:ea typeface="Microsoft YaHei"/>
                  <a:cs typeface="Consolas"/>
                </a:rPr>
                <a:t>IF CFUNCT = CHANGE THEN 把第二个字改为 ***</a:t>
              </a:r>
              <a:br/>
              <a:r>
                <a:rPr lang="zh-CN" sz="980" dirty="0">
                  <a:solidFill>
                    <a:srgbClr val="1F2937"/>
                  </a:solidFill>
                  <a:latin typeface="Consolas"/>
                  <a:ea typeface="Microsoft YaHei"/>
                  <a:cs typeface="Consolas"/>
                </a:rPr>
                <a:t xml:space="preserve">                   ELSE 在尾部加 ???</a:t>
              </a:r>
              <a:br/>
              <a:r>
                <a:rPr lang="en-US" sz="980" dirty="0">
                  <a:solidFill>
                    <a:srgbClr val="1F2937"/>
                  </a:solidFill>
                  <a:latin typeface="Consolas"/>
                  <a:ea typeface="Consolas"/>
                  <a:cs typeface="Consolas"/>
                </a:rPr>
                <a:t>END IF;</a:t>
              </a:r>
              <a:br/>
              <a:r>
                <a:rPr lang="zh-CN" sz="980" dirty="0">
                  <a:solidFill>
                    <a:srgbClr val="1F2937"/>
                  </a:solidFill>
                  <a:latin typeface="Consolas"/>
                  <a:ea typeface="Microsoft YaHei"/>
                  <a:cs typeface="Consolas"/>
                </a:rPr>
                <a:t>输出缓冲区中的新字符串;</a:t>
              </a:r>
              <a:br/>
              <a:r>
                <a:rPr lang="en-US" sz="980" dirty="0">
                  <a:solidFill>
                    <a:srgbClr val="1F2937"/>
                  </a:solidFill>
                  <a:latin typeface="Consolas"/>
                  <a:ea typeface="Consolas"/>
                  <a:cs typeface="Consolas"/>
                </a:rPr>
                <a:t>END TEST STUB</a:t>
              </a:r>
            </a:p>
          </p:txBody>
        </p:sp>
      </p:grpSp>
      <p:grpSp>
        <p:nvGrpSpPr>
          <p:cNvPr id="38" name="c2-code-2"/>
          <p:cNvGrpSpPr/>
          <p:nvPr/>
        </p:nvGrpSpPr>
        <p:grpSpPr>
          <a:xfrm>
            <a:off x="6032182" y="3782378"/>
            <a:ext cx="5626418" cy="1561148"/>
            <a:chOff x="6032182" y="3782378"/>
            <a:chExt cx="5626418" cy="1561148"/>
          </a:xfrm>
        </p:grpSpPr>
        <p:sp>
          <p:nvSpPr>
            <p:cNvPr id="35" name="Rectangle 35"/>
            <p:cNvSpPr/>
            <p:nvPr/>
          </p:nvSpPr>
          <p:spPr>
            <a:xfrm>
              <a:off x="6032182" y="3782378"/>
              <a:ext cx="5626418" cy="1561148"/>
            </a:xfrm>
            <a:prstGeom prst="roundRect">
              <a:avLst>
                <a:gd name="adj" fmla="val 6101"/>
              </a:avLst>
            </a:prstGeom>
            <a:solidFill>
              <a:srgbClr val="F6F8FA"/>
            </a:solidFill>
            <a:ln w="11430">
              <a:solidFill>
                <a:srgbClr val="D9DFEA"/>
              </a:solidFill>
            </a:ln>
          </p:spPr>
        </p:sp>
        <p:sp>
          <p:nvSpPr>
            <p:cNvPr id="36" name="TextBox 36"/>
            <p:cNvSpPr txBox="1"/>
            <p:nvPr/>
          </p:nvSpPr>
          <p:spPr>
            <a:xfrm>
              <a:off x="6160580" y="3934301"/>
              <a:ext cx="3137984"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Ⅱ. TEST DRIVER（测试正文编辑模块用的驱动程序）</a:t>
              </a:r>
            </a:p>
          </p:txBody>
        </p:sp>
        <p:sp>
          <p:nvSpPr>
            <p:cNvPr id="37" name="TextBox 37"/>
            <p:cNvSpPr txBox="1"/>
            <p:nvPr/>
          </p:nvSpPr>
          <p:spPr>
            <a:xfrm>
              <a:off x="6160580" y="4195286"/>
              <a:ext cx="2231517" cy="1071753"/>
            </a:xfrm>
            <a:prstGeom prst="rect">
              <a:avLst/>
            </a:prstGeom>
            <a:noFill/>
            <a:ln>
              <a:noFill/>
            </a:ln>
          </p:spPr>
          <p:txBody>
            <a:bodyPr wrap="none" lIns="0" tIns="0" rIns="0" bIns="0" anchor="t" anchorCtr="0">
              <a:spAutoFit/>
            </a:bodyPr>
            <a:lstStyle/>
            <a:p>
              <a:pPr algn="l">
                <a:lnSpc>
                  <a:spcPts val="1388"/>
                </a:lnSpc>
              </a:pPr>
              <a:r>
                <a:rPr lang="zh-CN" sz="980" dirty="0">
                  <a:solidFill>
                    <a:srgbClr val="1F2937"/>
                  </a:solidFill>
                  <a:latin typeface="Consolas"/>
                  <a:ea typeface="Microsoft YaHei"/>
                  <a:cs typeface="Consolas"/>
                </a:rPr>
                <a:t>说明长度为 2500 个字符的一个缓冲区;</a:t>
              </a:r>
              <a:br/>
              <a:r>
                <a:rPr lang="zh-CN" sz="980" dirty="0">
                  <a:solidFill>
                    <a:srgbClr val="1F2937"/>
                  </a:solidFill>
                  <a:latin typeface="Consolas"/>
                  <a:ea typeface="Microsoft YaHei"/>
                  <a:cs typeface="Consolas"/>
                </a:rPr>
                <a:t>把 CFUNCT 置为希望测试的状态;</a:t>
              </a:r>
              <a:br/>
              <a:r>
                <a:rPr lang="zh-CN" sz="980" dirty="0">
                  <a:solidFill>
                    <a:srgbClr val="1F2937"/>
                  </a:solidFill>
                  <a:latin typeface="Consolas"/>
                  <a:ea typeface="Microsoft YaHei"/>
                  <a:cs typeface="Consolas"/>
                </a:rPr>
                <a:t>输入字符串;</a:t>
              </a:r>
              <a:br/>
              <a:r>
                <a:rPr lang="zh-CN" sz="980" dirty="0">
                  <a:solidFill>
                    <a:srgbClr val="1F2937"/>
                  </a:solidFill>
                  <a:latin typeface="Consolas"/>
                  <a:ea typeface="Microsoft YaHei"/>
                  <a:cs typeface="Consolas"/>
                </a:rPr>
                <a:t>调用正文编辑模块;</a:t>
              </a:r>
              <a:br/>
              <a:r>
                <a:rPr lang="zh-CN" sz="980" dirty="0">
                  <a:solidFill>
                    <a:srgbClr val="1F2937"/>
                  </a:solidFill>
                  <a:latin typeface="Consolas"/>
                  <a:ea typeface="Microsoft YaHei"/>
                  <a:cs typeface="Consolas"/>
                </a:rPr>
                <a:t>停止或再次初启;</a:t>
              </a:r>
              <a:br/>
              <a:r>
                <a:rPr lang="en-US" sz="980" dirty="0">
                  <a:solidFill>
                    <a:srgbClr val="1F2937"/>
                  </a:solidFill>
                  <a:latin typeface="Consolas"/>
                  <a:ea typeface="Consolas"/>
                  <a:cs typeface="Consolas"/>
                </a:rPr>
                <a:t>END TEST DRIVER</a:t>
              </a:r>
            </a:p>
          </p:txBody>
        </p:sp>
      </p:grpSp>
      <p:grpSp>
        <p:nvGrpSpPr>
          <p:cNvPr id="45" name="c2-callout-3"/>
          <p:cNvGrpSpPr/>
          <p:nvPr/>
        </p:nvGrpSpPr>
        <p:grpSpPr>
          <a:xfrm>
            <a:off x="6032182" y="5514022"/>
            <a:ext cx="5626418" cy="729615"/>
            <a:chOff x="6032182" y="5514022"/>
            <a:chExt cx="5626418" cy="729615"/>
          </a:xfrm>
        </p:grpSpPr>
        <p:sp>
          <p:nvSpPr>
            <p:cNvPr id="39" name="Rectangle 39"/>
            <p:cNvSpPr/>
            <p:nvPr/>
          </p:nvSpPr>
          <p:spPr>
            <a:xfrm>
              <a:off x="6032182" y="5514022"/>
              <a:ext cx="5626418" cy="729615"/>
            </a:xfrm>
            <a:prstGeom prst="roundRect">
              <a:avLst>
                <a:gd name="adj" fmla="val 15666"/>
              </a:avLst>
            </a:prstGeom>
            <a:solidFill>
              <a:srgbClr val="FDEEE7"/>
            </a:solidFill>
            <a:ln>
              <a:noFill/>
            </a:ln>
          </p:spPr>
        </p:sp>
        <p:grpSp>
          <p:nvGrpSpPr>
            <p:cNvPr id="43" name="Group 43"/>
            <p:cNvGrpSpPr/>
            <p:nvPr/>
          </p:nvGrpSpPr>
          <p:grpSpPr>
            <a:xfrm>
              <a:off x="6236970" y="5777865"/>
              <a:ext cx="200026" cy="200025"/>
              <a:chOff x="6236970" y="5777865"/>
              <a:chExt cx="200026" cy="200025"/>
            </a:xfrm>
          </p:grpSpPr>
          <p:sp>
            <p:nvSpPr>
              <p:cNvPr id="40" name="Freeform 40"/>
              <p:cNvSpPr/>
              <p:nvPr/>
            </p:nvSpPr>
            <p:spPr>
              <a:xfrm>
                <a:off x="6236970" y="577786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1" name="Freeform 41"/>
              <p:cNvSpPr/>
              <p:nvPr/>
            </p:nvSpPr>
            <p:spPr>
              <a:xfrm>
                <a:off x="6276709" y="582231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2" name="Freeform 42"/>
              <p:cNvSpPr/>
              <p:nvPr/>
            </p:nvSpPr>
            <p:spPr>
              <a:xfrm>
                <a:off x="6311424" y="593344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4" name="TextBox 44"/>
            <p:cNvSpPr txBox="1"/>
            <p:nvPr/>
          </p:nvSpPr>
          <p:spPr>
            <a:xfrm>
              <a:off x="6539674" y="5659755"/>
              <a:ext cx="46428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渐增式测试能在集成过程中顺带完成单元测试，省下一部分驱</a:t>
              </a:r>
              <a:br/>
              <a:r>
                <a:rPr lang="zh-CN" sz="1350" dirty="0">
                  <a:solidFill>
                    <a:srgbClr val="C2410C"/>
                  </a:solidFill>
                  <a:latin typeface="+mn-lt"/>
                  <a:ea typeface="+mn-ea"/>
                  <a:cs typeface="+mn-cs"/>
                </a:rPr>
                <a:t>动和存根的开销；模块内聚度高，单元测试也更好写。</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47" name="TextBox 4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16" name="section-title"/>
          <p:cNvGrpSpPr/>
          <p:nvPr/>
        </p:nvGrpSpPr>
        <p:grpSpPr>
          <a:xfrm>
            <a:off x="667512" y="1835468"/>
            <a:ext cx="4691253" cy="2997517"/>
            <a:chOff x="667512" y="1835468"/>
            <a:chExt cx="4691253"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集成测试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68134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测试和组装软件的系统化技术，着重测模块接口</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非渐增式与渐增式</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四种集成策略的取舍</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回归测试</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集成测试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组装方式只有两类，集成策略有四种</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7" name="c1-compare-1"/>
          <p:cNvGrpSpPr/>
          <p:nvPr/>
        </p:nvGrpSpPr>
        <p:grpSpPr>
          <a:xfrm>
            <a:off x="533400" y="1524000"/>
            <a:ext cx="4760596" cy="2718435"/>
            <a:chOff x="533400" y="1524000"/>
            <a:chExt cx="4760596" cy="2718435"/>
          </a:xfrm>
        </p:grpSpPr>
        <p:sp>
          <p:nvSpPr>
            <p:cNvPr id="7" name="Rectangle 7"/>
            <p:cNvSpPr/>
            <p:nvPr/>
          </p:nvSpPr>
          <p:spPr>
            <a:xfrm>
              <a:off x="533400" y="1524000"/>
              <a:ext cx="2170748" cy="2718435"/>
            </a:xfrm>
            <a:prstGeom prst="roundRect">
              <a:avLst>
                <a:gd name="adj" fmla="val 6143"/>
              </a:avLst>
            </a:prstGeom>
            <a:solidFill>
              <a:srgbClr val="FFFFFF"/>
            </a:solidFill>
            <a:ln w="14288">
              <a:solidFill>
                <a:srgbClr val="D9DFEA"/>
              </a:solidFill>
            </a:ln>
          </p:spPr>
        </p:sp>
        <p:sp>
          <p:nvSpPr>
            <p:cNvPr id="8" name="Rectangle 8"/>
            <p:cNvSpPr/>
            <p:nvPr/>
          </p:nvSpPr>
          <p:spPr>
            <a:xfrm>
              <a:off x="542925" y="1657350"/>
              <a:ext cx="47625" cy="2451735"/>
            </a:xfrm>
            <a:prstGeom prst="roundRect">
              <a:avLst>
                <a:gd name="adj" fmla="val 50000"/>
              </a:avLst>
            </a:prstGeom>
            <a:solidFill>
              <a:srgbClr val="B42318"/>
            </a:solidFill>
            <a:ln>
              <a:noFill/>
            </a:ln>
          </p:spPr>
        </p:sp>
        <p:sp>
          <p:nvSpPr>
            <p:cNvPr id="9" name="TextBox 9"/>
            <p:cNvSpPr txBox="1"/>
            <p:nvPr/>
          </p:nvSpPr>
          <p:spPr>
            <a:xfrm>
              <a:off x="768096" y="1751171"/>
              <a:ext cx="116144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非渐增式测试</a:t>
              </a:r>
            </a:p>
          </p:txBody>
        </p:sp>
        <p:sp>
          <p:nvSpPr>
            <p:cNvPr id="10" name="Ellipse 10"/>
            <p:cNvSpPr/>
            <p:nvPr/>
          </p:nvSpPr>
          <p:spPr>
            <a:xfrm>
              <a:off x="782955" y="2149792"/>
              <a:ext cx="60960" cy="60960"/>
            </a:xfrm>
            <a:prstGeom prst="ellipse">
              <a:avLst/>
            </a:prstGeom>
            <a:solidFill>
              <a:srgbClr val="334E68"/>
            </a:solidFill>
            <a:ln>
              <a:noFill/>
            </a:ln>
          </p:spPr>
        </p:sp>
        <p:sp>
          <p:nvSpPr>
            <p:cNvPr id="11" name="TextBox 11"/>
            <p:cNvSpPr txBox="1"/>
            <p:nvPr/>
          </p:nvSpPr>
          <p:spPr>
            <a:xfrm>
              <a:off x="939546" y="2090261"/>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先分别测试每个模</a:t>
              </a:r>
              <a:br/>
              <a:r>
                <a:rPr lang="zh-CN" sz="1420" dirty="0">
                  <a:solidFill>
                    <a:srgbClr val="1F2937"/>
                  </a:solidFill>
                  <a:latin typeface="+mn-lt"/>
                  <a:ea typeface="+mn-ea"/>
                  <a:cs typeface="+mn-cs"/>
                </a:rPr>
                <a:t>块</a:t>
              </a:r>
            </a:p>
          </p:txBody>
        </p:sp>
        <p:sp>
          <p:nvSpPr>
            <p:cNvPr id="12" name="Ellipse 12"/>
            <p:cNvSpPr/>
            <p:nvPr/>
          </p:nvSpPr>
          <p:spPr>
            <a:xfrm>
              <a:off x="782955" y="2741295"/>
              <a:ext cx="60960" cy="60960"/>
            </a:xfrm>
            <a:prstGeom prst="ellipse">
              <a:avLst/>
            </a:prstGeom>
            <a:solidFill>
              <a:srgbClr val="334E68"/>
            </a:solidFill>
            <a:ln>
              <a:noFill/>
            </a:ln>
          </p:spPr>
        </p:sp>
        <p:sp>
          <p:nvSpPr>
            <p:cNvPr id="13" name="TextBox 13"/>
            <p:cNvSpPr txBox="1"/>
            <p:nvPr/>
          </p:nvSpPr>
          <p:spPr>
            <a:xfrm>
              <a:off x="939546" y="2681764"/>
              <a:ext cx="145719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再一下子把所有模</a:t>
              </a:r>
              <a:br/>
              <a:r>
                <a:rPr lang="zh-CN" sz="1420" dirty="0">
                  <a:solidFill>
                    <a:srgbClr val="1F2937"/>
                  </a:solidFill>
                  <a:latin typeface="+mn-lt"/>
                  <a:ea typeface="+mn-ea"/>
                  <a:cs typeface="+mn-cs"/>
                </a:rPr>
                <a:t>块结合成所要的程</a:t>
              </a:r>
              <a:br/>
              <a:r>
                <a:rPr lang="zh-CN" sz="1420" dirty="0">
                  <a:solidFill>
                    <a:srgbClr val="1F2937"/>
                  </a:solidFill>
                  <a:latin typeface="+mn-lt"/>
                  <a:ea typeface="+mn-ea"/>
                  <a:cs typeface="+mn-cs"/>
                </a:rPr>
                <a:t>序</a:t>
              </a:r>
            </a:p>
          </p:txBody>
        </p:sp>
        <p:sp>
          <p:nvSpPr>
            <p:cNvPr id="14" name="Ellipse 14"/>
            <p:cNvSpPr/>
            <p:nvPr/>
          </p:nvSpPr>
          <p:spPr>
            <a:xfrm>
              <a:off x="782955" y="3604260"/>
              <a:ext cx="60960" cy="60960"/>
            </a:xfrm>
            <a:prstGeom prst="ellipse">
              <a:avLst/>
            </a:prstGeom>
            <a:solidFill>
              <a:srgbClr val="334E68"/>
            </a:solidFill>
            <a:ln>
              <a:noFill/>
            </a:ln>
          </p:spPr>
        </p:sp>
        <p:sp>
          <p:nvSpPr>
            <p:cNvPr id="15" name="TextBox 15"/>
            <p:cNvSpPr txBox="1"/>
            <p:nvPr/>
          </p:nvSpPr>
          <p:spPr>
            <a:xfrm>
              <a:off x="939546" y="3544729"/>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错误一次性全部暴</a:t>
              </a:r>
              <a:br/>
              <a:r>
                <a:rPr lang="zh-CN" sz="1420" dirty="0">
                  <a:solidFill>
                    <a:srgbClr val="1F2937"/>
                  </a:solidFill>
                  <a:latin typeface="+mn-lt"/>
                  <a:ea typeface="+mn-ea"/>
                  <a:cs typeface="+mn-cs"/>
                </a:rPr>
                <a:t>露，难以定位</a:t>
              </a:r>
            </a:p>
          </p:txBody>
        </p:sp>
        <p:sp>
          <p:nvSpPr>
            <p:cNvPr id="16" name="Rectangle 16"/>
            <p:cNvSpPr/>
            <p:nvPr/>
          </p:nvSpPr>
          <p:spPr>
            <a:xfrm>
              <a:off x="3123248" y="1524000"/>
              <a:ext cx="2170748" cy="2718435"/>
            </a:xfrm>
            <a:prstGeom prst="roundRect">
              <a:avLst>
                <a:gd name="adj" fmla="val 6143"/>
              </a:avLst>
            </a:prstGeom>
            <a:solidFill>
              <a:srgbClr val="FFFFFF"/>
            </a:solidFill>
            <a:ln w="14288">
              <a:solidFill>
                <a:srgbClr val="D9DFEA"/>
              </a:solidFill>
            </a:ln>
          </p:spPr>
        </p:sp>
        <p:sp>
          <p:nvSpPr>
            <p:cNvPr id="17" name="Rectangle 17"/>
            <p:cNvSpPr/>
            <p:nvPr/>
          </p:nvSpPr>
          <p:spPr>
            <a:xfrm>
              <a:off x="3132772" y="1657350"/>
              <a:ext cx="47625" cy="2451735"/>
            </a:xfrm>
            <a:prstGeom prst="roundRect">
              <a:avLst>
                <a:gd name="adj" fmla="val 50000"/>
              </a:avLst>
            </a:prstGeom>
            <a:solidFill>
              <a:srgbClr val="14A38B"/>
            </a:solidFill>
            <a:ln>
              <a:noFill/>
            </a:ln>
          </p:spPr>
        </p:sp>
        <p:sp>
          <p:nvSpPr>
            <p:cNvPr id="18" name="TextBox 18"/>
            <p:cNvSpPr txBox="1"/>
            <p:nvPr/>
          </p:nvSpPr>
          <p:spPr>
            <a:xfrm>
              <a:off x="3357944" y="1751171"/>
              <a:ext cx="97028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渐增式测试</a:t>
              </a:r>
            </a:p>
          </p:txBody>
        </p:sp>
        <p:sp>
          <p:nvSpPr>
            <p:cNvPr id="19" name="Ellipse 19"/>
            <p:cNvSpPr/>
            <p:nvPr/>
          </p:nvSpPr>
          <p:spPr>
            <a:xfrm>
              <a:off x="3372802" y="2149792"/>
              <a:ext cx="60960" cy="60960"/>
            </a:xfrm>
            <a:prstGeom prst="ellipse">
              <a:avLst/>
            </a:prstGeom>
            <a:solidFill>
              <a:srgbClr val="334E68"/>
            </a:solidFill>
            <a:ln>
              <a:noFill/>
            </a:ln>
          </p:spPr>
        </p:sp>
        <p:sp>
          <p:nvSpPr>
            <p:cNvPr id="20" name="TextBox 20"/>
            <p:cNvSpPr txBox="1"/>
            <p:nvPr/>
          </p:nvSpPr>
          <p:spPr>
            <a:xfrm>
              <a:off x="3529394" y="2090261"/>
              <a:ext cx="145719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把下一个要测试的</a:t>
              </a:r>
              <a:br/>
              <a:r>
                <a:rPr lang="zh-CN" sz="1420" dirty="0">
                  <a:solidFill>
                    <a:srgbClr val="1F2937"/>
                  </a:solidFill>
                  <a:latin typeface="+mn-lt"/>
                  <a:ea typeface="+mn-ea"/>
                  <a:cs typeface="+mn-cs"/>
                </a:rPr>
                <a:t>模块同已测好的模</a:t>
              </a:r>
              <a:br/>
              <a:r>
                <a:rPr lang="zh-CN" sz="1420" dirty="0">
                  <a:solidFill>
                    <a:srgbClr val="1F2937"/>
                  </a:solidFill>
                  <a:latin typeface="+mn-lt"/>
                  <a:ea typeface="+mn-ea"/>
                  <a:cs typeface="+mn-cs"/>
                </a:rPr>
                <a:t>块结合起来测</a:t>
              </a:r>
            </a:p>
          </p:txBody>
        </p:sp>
        <p:sp>
          <p:nvSpPr>
            <p:cNvPr id="21" name="Ellipse 21"/>
            <p:cNvSpPr/>
            <p:nvPr/>
          </p:nvSpPr>
          <p:spPr>
            <a:xfrm>
              <a:off x="3372802" y="3012758"/>
              <a:ext cx="60960" cy="60960"/>
            </a:xfrm>
            <a:prstGeom prst="ellipse">
              <a:avLst/>
            </a:prstGeom>
            <a:solidFill>
              <a:srgbClr val="334E68"/>
            </a:solidFill>
            <a:ln>
              <a:noFill/>
            </a:ln>
          </p:spPr>
        </p:sp>
        <p:sp>
          <p:nvSpPr>
            <p:cNvPr id="22" name="TextBox 22"/>
            <p:cNvSpPr txBox="1"/>
            <p:nvPr/>
          </p:nvSpPr>
          <p:spPr>
            <a:xfrm>
              <a:off x="3529394" y="2953226"/>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每次只增加一个模</a:t>
              </a:r>
              <a:br/>
              <a:r>
                <a:rPr lang="zh-CN" sz="1420" dirty="0">
                  <a:solidFill>
                    <a:srgbClr val="1F2937"/>
                  </a:solidFill>
                  <a:latin typeface="+mn-lt"/>
                  <a:ea typeface="+mn-ea"/>
                  <a:cs typeface="+mn-cs"/>
                </a:rPr>
                <a:t>块</a:t>
              </a:r>
            </a:p>
          </p:txBody>
        </p:sp>
        <p:sp>
          <p:nvSpPr>
            <p:cNvPr id="23" name="Ellipse 23"/>
            <p:cNvSpPr/>
            <p:nvPr/>
          </p:nvSpPr>
          <p:spPr>
            <a:xfrm>
              <a:off x="3372802" y="3604260"/>
              <a:ext cx="60960" cy="60960"/>
            </a:xfrm>
            <a:prstGeom prst="ellipse">
              <a:avLst/>
            </a:prstGeom>
            <a:solidFill>
              <a:srgbClr val="334E68"/>
            </a:solidFill>
            <a:ln>
              <a:noFill/>
            </a:ln>
          </p:spPr>
        </p:sp>
        <p:sp>
          <p:nvSpPr>
            <p:cNvPr id="24" name="TextBox 24"/>
            <p:cNvSpPr txBox="1"/>
            <p:nvPr/>
          </p:nvSpPr>
          <p:spPr>
            <a:xfrm>
              <a:off x="3529394" y="3544729"/>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实质上同时完成单</a:t>
              </a:r>
              <a:br/>
              <a:r>
                <a:rPr lang="zh-CN" sz="1420" dirty="0">
                  <a:solidFill>
                    <a:srgbClr val="1F2937"/>
                  </a:solidFill>
                  <a:latin typeface="+mn-lt"/>
                  <a:ea typeface="+mn-ea"/>
                  <a:cs typeface="+mn-cs"/>
                </a:rPr>
                <a:t>元测试和集成测试</a:t>
              </a:r>
            </a:p>
          </p:txBody>
        </p:sp>
        <p:sp>
          <p:nvSpPr>
            <p:cNvPr id="25" name="Ellipse 25"/>
            <p:cNvSpPr/>
            <p:nvPr/>
          </p:nvSpPr>
          <p:spPr>
            <a:xfrm>
              <a:off x="2751772" y="2721292"/>
              <a:ext cx="323850" cy="323850"/>
            </a:xfrm>
            <a:prstGeom prst="ellipse">
              <a:avLst/>
            </a:prstGeom>
            <a:solidFill>
              <a:srgbClr val="F26B3A"/>
            </a:solidFill>
            <a:ln>
              <a:noFill/>
            </a:ln>
          </p:spPr>
        </p:sp>
        <p:sp>
          <p:nvSpPr>
            <p:cNvPr id="26" name="TextBox 26"/>
            <p:cNvSpPr txBox="1"/>
            <p:nvPr/>
          </p:nvSpPr>
          <p:spPr>
            <a:xfrm>
              <a:off x="2822113" y="2817495"/>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41" name="c1-bullets-2"/>
          <p:cNvGrpSpPr/>
          <p:nvPr/>
        </p:nvGrpSpPr>
        <p:grpSpPr>
          <a:xfrm>
            <a:off x="526161" y="4451509"/>
            <a:ext cx="1459572" cy="1604582"/>
            <a:chOff x="526161" y="4451509"/>
            <a:chExt cx="1459572" cy="1604582"/>
          </a:xfrm>
        </p:grpSpPr>
        <p:sp>
          <p:nvSpPr>
            <p:cNvPr id="28" name="TextBox 28"/>
            <p:cNvSpPr txBox="1"/>
            <p:nvPr/>
          </p:nvSpPr>
          <p:spPr>
            <a:xfrm>
              <a:off x="526161" y="4451509"/>
              <a:ext cx="116144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四种集成策略</a:t>
              </a:r>
            </a:p>
          </p:txBody>
        </p:sp>
        <p:sp>
          <p:nvSpPr>
            <p:cNvPr id="29" name="Ellipse 29"/>
            <p:cNvSpPr/>
            <p:nvPr/>
          </p:nvSpPr>
          <p:spPr>
            <a:xfrm>
              <a:off x="533400" y="4777740"/>
              <a:ext cx="201930" cy="201930"/>
            </a:xfrm>
            <a:prstGeom prst="ellipse">
              <a:avLst/>
            </a:prstGeom>
            <a:solidFill>
              <a:srgbClr val="334E68"/>
            </a:solidFill>
            <a:ln>
              <a:noFill/>
            </a:ln>
          </p:spPr>
        </p:sp>
        <p:sp>
          <p:nvSpPr>
            <p:cNvPr id="30" name="TextBox 30"/>
            <p:cNvSpPr txBox="1"/>
            <p:nvPr/>
          </p:nvSpPr>
          <p:spPr>
            <a:xfrm>
              <a:off x="591745" y="481712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31" name="TextBox 31"/>
            <p:cNvSpPr txBox="1"/>
            <p:nvPr/>
          </p:nvSpPr>
          <p:spPr>
            <a:xfrm>
              <a:off x="824293" y="4789646"/>
              <a:ext cx="9702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一次性集成</a:t>
              </a:r>
            </a:p>
          </p:txBody>
        </p:sp>
        <p:sp>
          <p:nvSpPr>
            <p:cNvPr id="32" name="Ellipse 32"/>
            <p:cNvSpPr/>
            <p:nvPr/>
          </p:nvSpPr>
          <p:spPr>
            <a:xfrm>
              <a:off x="533400" y="5106352"/>
              <a:ext cx="201930" cy="201930"/>
            </a:xfrm>
            <a:prstGeom prst="ellipse">
              <a:avLst/>
            </a:prstGeom>
            <a:solidFill>
              <a:srgbClr val="334E68"/>
            </a:solidFill>
            <a:ln>
              <a:noFill/>
            </a:ln>
          </p:spPr>
        </p:sp>
        <p:sp>
          <p:nvSpPr>
            <p:cNvPr id="33" name="TextBox 33"/>
            <p:cNvSpPr txBox="1"/>
            <p:nvPr/>
          </p:nvSpPr>
          <p:spPr>
            <a:xfrm>
              <a:off x="591745" y="514669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34" name="TextBox 34"/>
            <p:cNvSpPr txBox="1"/>
            <p:nvPr/>
          </p:nvSpPr>
          <p:spPr>
            <a:xfrm>
              <a:off x="824293" y="5119211"/>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自顶向下集成</a:t>
              </a:r>
            </a:p>
          </p:txBody>
        </p:sp>
        <p:sp>
          <p:nvSpPr>
            <p:cNvPr id="35" name="Ellipse 35"/>
            <p:cNvSpPr/>
            <p:nvPr/>
          </p:nvSpPr>
          <p:spPr>
            <a:xfrm>
              <a:off x="533400" y="5435917"/>
              <a:ext cx="201930" cy="201930"/>
            </a:xfrm>
            <a:prstGeom prst="ellipse">
              <a:avLst/>
            </a:prstGeom>
            <a:solidFill>
              <a:srgbClr val="334E68"/>
            </a:solidFill>
            <a:ln>
              <a:noFill/>
            </a:ln>
          </p:spPr>
        </p:sp>
        <p:sp>
          <p:nvSpPr>
            <p:cNvPr id="36" name="TextBox 36"/>
            <p:cNvSpPr txBox="1"/>
            <p:nvPr/>
          </p:nvSpPr>
          <p:spPr>
            <a:xfrm>
              <a:off x="591745" y="547625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37" name="TextBox 37"/>
            <p:cNvSpPr txBox="1"/>
            <p:nvPr/>
          </p:nvSpPr>
          <p:spPr>
            <a:xfrm>
              <a:off x="824293" y="5447824"/>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自底向上集成</a:t>
              </a:r>
            </a:p>
          </p:txBody>
        </p:sp>
        <p:sp>
          <p:nvSpPr>
            <p:cNvPr id="38" name="Ellipse 38"/>
            <p:cNvSpPr/>
            <p:nvPr/>
          </p:nvSpPr>
          <p:spPr>
            <a:xfrm>
              <a:off x="533400" y="5765482"/>
              <a:ext cx="201930" cy="201930"/>
            </a:xfrm>
            <a:prstGeom prst="ellipse">
              <a:avLst/>
            </a:prstGeom>
            <a:solidFill>
              <a:srgbClr val="334E68"/>
            </a:solidFill>
            <a:ln>
              <a:noFill/>
            </a:ln>
          </p:spPr>
        </p:sp>
        <p:sp>
          <p:nvSpPr>
            <p:cNvPr id="39" name="TextBox 39"/>
            <p:cNvSpPr txBox="1"/>
            <p:nvPr/>
          </p:nvSpPr>
          <p:spPr>
            <a:xfrm>
              <a:off x="591745" y="580486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40" name="TextBox 40"/>
            <p:cNvSpPr txBox="1"/>
            <p:nvPr/>
          </p:nvSpPr>
          <p:spPr>
            <a:xfrm>
              <a:off x="824293" y="5777389"/>
              <a:ext cx="97028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三明治集成</a:t>
              </a:r>
            </a:p>
          </p:txBody>
        </p:sp>
      </p:grpSp>
      <p:grpSp>
        <p:nvGrpSpPr>
          <p:cNvPr id="83" name="c2-flow-1"/>
          <p:cNvGrpSpPr/>
          <p:nvPr/>
        </p:nvGrpSpPr>
        <p:grpSpPr>
          <a:xfrm>
            <a:off x="5732145" y="1870710"/>
            <a:ext cx="5793105" cy="3782377"/>
            <a:chOff x="5732145" y="1870710"/>
            <a:chExt cx="5793105" cy="3782377"/>
          </a:xfrm>
        </p:grpSpPr>
        <p:sp>
          <p:nvSpPr>
            <p:cNvPr id="42" name="Freeform 42"/>
            <p:cNvSpPr/>
            <p:nvPr/>
          </p:nvSpPr>
          <p:spPr>
            <a:xfrm>
              <a:off x="6032182" y="2296478"/>
              <a:ext cx="2596515" cy="693420"/>
            </a:xfrm>
            <a:custGeom>
              <a:avLst/>
              <a:gdLst/>
              <a:ahLst/>
              <a:cxnLst/>
              <a:rect l="l" t="t" r="r" b="b"/>
              <a:pathLst>
                <a:path w="2596515" h="693420">
                  <a:moveTo>
                    <a:pt x="2596515" y="0"/>
                  </a:moveTo>
                  <a:lnTo>
                    <a:pt x="2596515" y="346710"/>
                  </a:lnTo>
                  <a:lnTo>
                    <a:pt x="0" y="346710"/>
                  </a:lnTo>
                  <a:lnTo>
                    <a:pt x="0" y="693420"/>
                  </a:lnTo>
                </a:path>
              </a:pathLst>
            </a:custGeom>
            <a:noFill/>
            <a:ln w="15240">
              <a:solidFill>
                <a:srgbClr val="5B6475"/>
              </a:solidFill>
            </a:ln>
          </p:spPr>
        </p:sp>
        <p:sp>
          <p:nvSpPr>
            <p:cNvPr id="43" name="Freeform 43"/>
            <p:cNvSpPr/>
            <p:nvPr/>
          </p:nvSpPr>
          <p:spPr>
            <a:xfrm>
              <a:off x="6898005" y="2296478"/>
              <a:ext cx="1730692" cy="693420"/>
            </a:xfrm>
            <a:custGeom>
              <a:avLst/>
              <a:gdLst/>
              <a:ahLst/>
              <a:cxnLst/>
              <a:rect l="l" t="t" r="r" b="b"/>
              <a:pathLst>
                <a:path w="1730692" h="693420">
                  <a:moveTo>
                    <a:pt x="1730692" y="0"/>
                  </a:moveTo>
                  <a:lnTo>
                    <a:pt x="1730692" y="346710"/>
                  </a:lnTo>
                  <a:lnTo>
                    <a:pt x="0" y="346710"/>
                  </a:lnTo>
                  <a:lnTo>
                    <a:pt x="0" y="693420"/>
                  </a:lnTo>
                </a:path>
              </a:pathLst>
            </a:custGeom>
            <a:noFill/>
            <a:ln w="15240">
              <a:solidFill>
                <a:srgbClr val="5B6475"/>
              </a:solidFill>
            </a:ln>
          </p:spPr>
        </p:sp>
        <p:sp>
          <p:nvSpPr>
            <p:cNvPr id="44" name="Freeform 44"/>
            <p:cNvSpPr/>
            <p:nvPr/>
          </p:nvSpPr>
          <p:spPr>
            <a:xfrm>
              <a:off x="8628698" y="2296478"/>
              <a:ext cx="9525" cy="693420"/>
            </a:xfrm>
            <a:custGeom>
              <a:avLst/>
              <a:gdLst/>
              <a:ahLst/>
              <a:cxnLst/>
              <a:rect l="l" t="t" r="r" b="b"/>
              <a:pathLst>
                <a:path w="9525" h="693420">
                  <a:moveTo>
                    <a:pt x="0" y="0"/>
                  </a:moveTo>
                  <a:lnTo>
                    <a:pt x="0" y="693420"/>
                  </a:lnTo>
                </a:path>
              </a:pathLst>
            </a:custGeom>
            <a:noFill/>
            <a:ln w="15240">
              <a:solidFill>
                <a:srgbClr val="5B6475"/>
              </a:solidFill>
            </a:ln>
          </p:spPr>
        </p:sp>
        <p:sp>
          <p:nvSpPr>
            <p:cNvPr id="45" name="Freeform 45"/>
            <p:cNvSpPr/>
            <p:nvPr/>
          </p:nvSpPr>
          <p:spPr>
            <a:xfrm>
              <a:off x="8628698" y="2296478"/>
              <a:ext cx="1731645" cy="693420"/>
            </a:xfrm>
            <a:custGeom>
              <a:avLst/>
              <a:gdLst/>
              <a:ahLst/>
              <a:cxnLst/>
              <a:rect l="l" t="t" r="r" b="b"/>
              <a:pathLst>
                <a:path w="1731645" h="693420">
                  <a:moveTo>
                    <a:pt x="0" y="0"/>
                  </a:moveTo>
                  <a:lnTo>
                    <a:pt x="0" y="346710"/>
                  </a:lnTo>
                  <a:lnTo>
                    <a:pt x="1731645" y="346710"/>
                  </a:lnTo>
                  <a:lnTo>
                    <a:pt x="1731645" y="693420"/>
                  </a:lnTo>
                </a:path>
              </a:pathLst>
            </a:custGeom>
            <a:noFill/>
            <a:ln w="15240">
              <a:solidFill>
                <a:srgbClr val="5B6475"/>
              </a:solidFill>
            </a:ln>
          </p:spPr>
        </p:sp>
        <p:sp>
          <p:nvSpPr>
            <p:cNvPr id="46" name="Freeform 46"/>
            <p:cNvSpPr/>
            <p:nvPr/>
          </p:nvSpPr>
          <p:spPr>
            <a:xfrm>
              <a:off x="6032182" y="3414712"/>
              <a:ext cx="9525" cy="694372"/>
            </a:xfrm>
            <a:custGeom>
              <a:avLst/>
              <a:gdLst/>
              <a:ahLst/>
              <a:cxnLst/>
              <a:rect l="l" t="t" r="r" b="b"/>
              <a:pathLst>
                <a:path w="9525" h="694372">
                  <a:moveTo>
                    <a:pt x="0" y="0"/>
                  </a:moveTo>
                  <a:lnTo>
                    <a:pt x="0" y="694372"/>
                  </a:lnTo>
                </a:path>
              </a:pathLst>
            </a:custGeom>
            <a:noFill/>
            <a:ln w="15240">
              <a:solidFill>
                <a:srgbClr val="5B6475"/>
              </a:solidFill>
            </a:ln>
          </p:spPr>
        </p:sp>
        <p:sp>
          <p:nvSpPr>
            <p:cNvPr id="47" name="Freeform 47"/>
            <p:cNvSpPr/>
            <p:nvPr/>
          </p:nvSpPr>
          <p:spPr>
            <a:xfrm>
              <a:off x="6898005" y="3414712"/>
              <a:ext cx="9525" cy="694372"/>
            </a:xfrm>
            <a:custGeom>
              <a:avLst/>
              <a:gdLst/>
              <a:ahLst/>
              <a:cxnLst/>
              <a:rect l="l" t="t" r="r" b="b"/>
              <a:pathLst>
                <a:path w="9525" h="694372">
                  <a:moveTo>
                    <a:pt x="0" y="0"/>
                  </a:moveTo>
                  <a:lnTo>
                    <a:pt x="0" y="694372"/>
                  </a:lnTo>
                </a:path>
              </a:pathLst>
            </a:custGeom>
            <a:noFill/>
            <a:ln w="15240">
              <a:solidFill>
                <a:srgbClr val="5B6475"/>
              </a:solidFill>
            </a:ln>
          </p:spPr>
        </p:sp>
        <p:sp>
          <p:nvSpPr>
            <p:cNvPr id="48" name="Freeform 48"/>
            <p:cNvSpPr/>
            <p:nvPr/>
          </p:nvSpPr>
          <p:spPr>
            <a:xfrm>
              <a:off x="6898005" y="3414712"/>
              <a:ext cx="864870" cy="694372"/>
            </a:xfrm>
            <a:custGeom>
              <a:avLst/>
              <a:gdLst/>
              <a:ahLst/>
              <a:cxnLst/>
              <a:rect l="l" t="t" r="r" b="b"/>
              <a:pathLst>
                <a:path w="864870" h="694372">
                  <a:moveTo>
                    <a:pt x="0" y="0"/>
                  </a:moveTo>
                  <a:lnTo>
                    <a:pt x="0" y="347662"/>
                  </a:lnTo>
                  <a:lnTo>
                    <a:pt x="864870" y="347662"/>
                  </a:lnTo>
                  <a:lnTo>
                    <a:pt x="864870" y="694372"/>
                  </a:lnTo>
                </a:path>
              </a:pathLst>
            </a:custGeom>
            <a:noFill/>
            <a:ln w="15240">
              <a:solidFill>
                <a:srgbClr val="5B6475"/>
              </a:solidFill>
            </a:ln>
          </p:spPr>
        </p:sp>
        <p:sp>
          <p:nvSpPr>
            <p:cNvPr id="49" name="Freeform 49"/>
            <p:cNvSpPr/>
            <p:nvPr/>
          </p:nvSpPr>
          <p:spPr>
            <a:xfrm>
              <a:off x="7762875" y="4533900"/>
              <a:ext cx="9525" cy="694372"/>
            </a:xfrm>
            <a:custGeom>
              <a:avLst/>
              <a:gdLst/>
              <a:ahLst/>
              <a:cxnLst/>
              <a:rect l="l" t="t" r="r" b="b"/>
              <a:pathLst>
                <a:path w="9525" h="694372">
                  <a:moveTo>
                    <a:pt x="0" y="0"/>
                  </a:moveTo>
                  <a:lnTo>
                    <a:pt x="0" y="694372"/>
                  </a:lnTo>
                </a:path>
              </a:pathLst>
            </a:custGeom>
            <a:noFill/>
            <a:ln w="15240">
              <a:solidFill>
                <a:srgbClr val="5B6475"/>
              </a:solidFill>
            </a:ln>
          </p:spPr>
        </p:sp>
        <p:sp>
          <p:nvSpPr>
            <p:cNvPr id="50" name="Freeform 50"/>
            <p:cNvSpPr/>
            <p:nvPr/>
          </p:nvSpPr>
          <p:spPr>
            <a:xfrm>
              <a:off x="9494520" y="3414712"/>
              <a:ext cx="865823" cy="694372"/>
            </a:xfrm>
            <a:custGeom>
              <a:avLst/>
              <a:gdLst/>
              <a:ahLst/>
              <a:cxnLst/>
              <a:rect l="l" t="t" r="r" b="b"/>
              <a:pathLst>
                <a:path w="865823" h="694372">
                  <a:moveTo>
                    <a:pt x="865823" y="0"/>
                  </a:moveTo>
                  <a:lnTo>
                    <a:pt x="865823" y="347662"/>
                  </a:lnTo>
                  <a:lnTo>
                    <a:pt x="0" y="347662"/>
                  </a:lnTo>
                  <a:lnTo>
                    <a:pt x="0" y="694372"/>
                  </a:lnTo>
                </a:path>
              </a:pathLst>
            </a:custGeom>
            <a:noFill/>
            <a:ln w="15240">
              <a:solidFill>
                <a:srgbClr val="5B6475"/>
              </a:solidFill>
            </a:ln>
          </p:spPr>
        </p:sp>
        <p:sp>
          <p:nvSpPr>
            <p:cNvPr id="51" name="Freeform 51"/>
            <p:cNvSpPr/>
            <p:nvPr/>
          </p:nvSpPr>
          <p:spPr>
            <a:xfrm>
              <a:off x="10360342" y="3414712"/>
              <a:ext cx="9525" cy="694372"/>
            </a:xfrm>
            <a:custGeom>
              <a:avLst/>
              <a:gdLst/>
              <a:ahLst/>
              <a:cxnLst/>
              <a:rect l="l" t="t" r="r" b="b"/>
              <a:pathLst>
                <a:path w="9525" h="694372">
                  <a:moveTo>
                    <a:pt x="0" y="0"/>
                  </a:moveTo>
                  <a:lnTo>
                    <a:pt x="0" y="694372"/>
                  </a:lnTo>
                </a:path>
              </a:pathLst>
            </a:custGeom>
            <a:noFill/>
            <a:ln w="15240">
              <a:solidFill>
                <a:srgbClr val="5B6475"/>
              </a:solidFill>
            </a:ln>
          </p:spPr>
        </p:sp>
        <p:sp>
          <p:nvSpPr>
            <p:cNvPr id="52" name="Freeform 52"/>
            <p:cNvSpPr/>
            <p:nvPr/>
          </p:nvSpPr>
          <p:spPr>
            <a:xfrm>
              <a:off x="10360342" y="3414712"/>
              <a:ext cx="865822" cy="694372"/>
            </a:xfrm>
            <a:custGeom>
              <a:avLst/>
              <a:gdLst/>
              <a:ahLst/>
              <a:cxnLst/>
              <a:rect l="l" t="t" r="r" b="b"/>
              <a:pathLst>
                <a:path w="865822" h="694372">
                  <a:moveTo>
                    <a:pt x="0" y="0"/>
                  </a:moveTo>
                  <a:lnTo>
                    <a:pt x="0" y="347662"/>
                  </a:lnTo>
                  <a:lnTo>
                    <a:pt x="865822" y="347662"/>
                  </a:lnTo>
                  <a:lnTo>
                    <a:pt x="865822" y="694372"/>
                  </a:lnTo>
                </a:path>
              </a:pathLst>
            </a:custGeom>
            <a:noFill/>
            <a:ln w="15240">
              <a:solidFill>
                <a:srgbClr val="5B6475"/>
              </a:solidFill>
            </a:ln>
          </p:spPr>
        </p:sp>
        <p:sp>
          <p:nvSpPr>
            <p:cNvPr id="53" name="Freeform 53"/>
            <p:cNvSpPr/>
            <p:nvPr/>
          </p:nvSpPr>
          <p:spPr>
            <a:xfrm>
              <a:off x="9494520" y="4533900"/>
              <a:ext cx="865823" cy="694372"/>
            </a:xfrm>
            <a:custGeom>
              <a:avLst/>
              <a:gdLst/>
              <a:ahLst/>
              <a:cxnLst/>
              <a:rect l="l" t="t" r="r" b="b"/>
              <a:pathLst>
                <a:path w="865823" h="694372">
                  <a:moveTo>
                    <a:pt x="865823" y="0"/>
                  </a:moveTo>
                  <a:lnTo>
                    <a:pt x="865823" y="346710"/>
                  </a:lnTo>
                  <a:lnTo>
                    <a:pt x="0" y="346710"/>
                  </a:lnTo>
                  <a:lnTo>
                    <a:pt x="0" y="694372"/>
                  </a:lnTo>
                </a:path>
              </a:pathLst>
            </a:custGeom>
            <a:noFill/>
            <a:ln w="15240">
              <a:solidFill>
                <a:srgbClr val="5B6475"/>
              </a:solidFill>
            </a:ln>
          </p:spPr>
        </p:sp>
        <p:sp>
          <p:nvSpPr>
            <p:cNvPr id="54" name="Freeform 54"/>
            <p:cNvSpPr/>
            <p:nvPr/>
          </p:nvSpPr>
          <p:spPr>
            <a:xfrm>
              <a:off x="10360342" y="4533900"/>
              <a:ext cx="9525" cy="694372"/>
            </a:xfrm>
            <a:custGeom>
              <a:avLst/>
              <a:gdLst/>
              <a:ahLst/>
              <a:cxnLst/>
              <a:rect l="l" t="t" r="r" b="b"/>
              <a:pathLst>
                <a:path w="9525" h="694372">
                  <a:moveTo>
                    <a:pt x="0" y="0"/>
                  </a:moveTo>
                  <a:lnTo>
                    <a:pt x="0" y="694372"/>
                  </a:lnTo>
                </a:path>
              </a:pathLst>
            </a:custGeom>
            <a:noFill/>
            <a:ln w="15240">
              <a:solidFill>
                <a:srgbClr val="5B6475"/>
              </a:solidFill>
            </a:ln>
          </p:spPr>
        </p:sp>
        <p:sp>
          <p:nvSpPr>
            <p:cNvPr id="55" name="Rectangle 55"/>
            <p:cNvSpPr/>
            <p:nvPr/>
          </p:nvSpPr>
          <p:spPr>
            <a:xfrm>
              <a:off x="8329612" y="1870710"/>
              <a:ext cx="599122" cy="424815"/>
            </a:xfrm>
            <a:prstGeom prst="roundRect">
              <a:avLst>
                <a:gd name="adj" fmla="val 22422"/>
              </a:avLst>
            </a:prstGeom>
            <a:solidFill>
              <a:srgbClr val="E7EDF3"/>
            </a:solidFill>
            <a:ln w="19050">
              <a:solidFill>
                <a:srgbClr val="334E68"/>
              </a:solidFill>
            </a:ln>
          </p:spPr>
        </p:sp>
        <p:sp>
          <p:nvSpPr>
            <p:cNvPr id="56" name="Rectangle 56"/>
            <p:cNvSpPr/>
            <p:nvPr/>
          </p:nvSpPr>
          <p:spPr>
            <a:xfrm>
              <a:off x="5732145" y="2989898"/>
              <a:ext cx="599122" cy="424815"/>
            </a:xfrm>
            <a:prstGeom prst="roundRect">
              <a:avLst>
                <a:gd name="adj" fmla="val 22422"/>
              </a:avLst>
            </a:prstGeom>
            <a:solidFill>
              <a:srgbClr val="FFFFFF"/>
            </a:solidFill>
            <a:ln w="15240">
              <a:solidFill>
                <a:srgbClr val="334E68"/>
              </a:solidFill>
            </a:ln>
          </p:spPr>
        </p:sp>
        <p:sp>
          <p:nvSpPr>
            <p:cNvPr id="57" name="Rectangle 57"/>
            <p:cNvSpPr/>
            <p:nvPr/>
          </p:nvSpPr>
          <p:spPr>
            <a:xfrm>
              <a:off x="6597968" y="2989898"/>
              <a:ext cx="599122" cy="424815"/>
            </a:xfrm>
            <a:prstGeom prst="roundRect">
              <a:avLst>
                <a:gd name="adj" fmla="val 22422"/>
              </a:avLst>
            </a:prstGeom>
            <a:solidFill>
              <a:srgbClr val="FFFFFF"/>
            </a:solidFill>
            <a:ln w="15240">
              <a:solidFill>
                <a:srgbClr val="334E68"/>
              </a:solidFill>
            </a:ln>
          </p:spPr>
        </p:sp>
        <p:sp>
          <p:nvSpPr>
            <p:cNvPr id="58" name="Rectangle 58"/>
            <p:cNvSpPr/>
            <p:nvPr/>
          </p:nvSpPr>
          <p:spPr>
            <a:xfrm>
              <a:off x="8329612" y="2989898"/>
              <a:ext cx="599122" cy="424815"/>
            </a:xfrm>
            <a:prstGeom prst="roundRect">
              <a:avLst>
                <a:gd name="adj" fmla="val 22422"/>
              </a:avLst>
            </a:prstGeom>
            <a:solidFill>
              <a:srgbClr val="FFFFFF"/>
            </a:solidFill>
            <a:ln w="15240">
              <a:solidFill>
                <a:srgbClr val="334E68"/>
              </a:solidFill>
            </a:ln>
          </p:spPr>
        </p:sp>
        <p:sp>
          <p:nvSpPr>
            <p:cNvPr id="59" name="Rectangle 59"/>
            <p:cNvSpPr/>
            <p:nvPr/>
          </p:nvSpPr>
          <p:spPr>
            <a:xfrm>
              <a:off x="10060305" y="2989898"/>
              <a:ext cx="599122" cy="424815"/>
            </a:xfrm>
            <a:prstGeom prst="roundRect">
              <a:avLst>
                <a:gd name="adj" fmla="val 22422"/>
              </a:avLst>
            </a:prstGeom>
            <a:solidFill>
              <a:srgbClr val="FFFFFF"/>
            </a:solidFill>
            <a:ln w="15240">
              <a:solidFill>
                <a:srgbClr val="334E68"/>
              </a:solidFill>
            </a:ln>
          </p:spPr>
        </p:sp>
        <p:sp>
          <p:nvSpPr>
            <p:cNvPr id="60" name="Rectangle 60"/>
            <p:cNvSpPr/>
            <p:nvPr/>
          </p:nvSpPr>
          <p:spPr>
            <a:xfrm>
              <a:off x="5732145" y="4109085"/>
              <a:ext cx="599122" cy="424815"/>
            </a:xfrm>
            <a:prstGeom prst="roundRect">
              <a:avLst>
                <a:gd name="adj" fmla="val 22422"/>
              </a:avLst>
            </a:prstGeom>
            <a:solidFill>
              <a:srgbClr val="FFFFFF"/>
            </a:solidFill>
            <a:ln w="15240">
              <a:solidFill>
                <a:srgbClr val="334E68"/>
              </a:solidFill>
            </a:ln>
          </p:spPr>
        </p:sp>
        <p:sp>
          <p:nvSpPr>
            <p:cNvPr id="61" name="Rectangle 61"/>
            <p:cNvSpPr/>
            <p:nvPr/>
          </p:nvSpPr>
          <p:spPr>
            <a:xfrm>
              <a:off x="6597968" y="4109085"/>
              <a:ext cx="599122" cy="424815"/>
            </a:xfrm>
            <a:prstGeom prst="roundRect">
              <a:avLst>
                <a:gd name="adj" fmla="val 22422"/>
              </a:avLst>
            </a:prstGeom>
            <a:solidFill>
              <a:srgbClr val="FFFFFF"/>
            </a:solidFill>
            <a:ln w="15240">
              <a:solidFill>
                <a:srgbClr val="334E68"/>
              </a:solidFill>
            </a:ln>
          </p:spPr>
        </p:sp>
        <p:sp>
          <p:nvSpPr>
            <p:cNvPr id="62" name="Rectangle 62"/>
            <p:cNvSpPr/>
            <p:nvPr/>
          </p:nvSpPr>
          <p:spPr>
            <a:xfrm>
              <a:off x="7463790" y="4109085"/>
              <a:ext cx="599122" cy="424815"/>
            </a:xfrm>
            <a:prstGeom prst="roundRect">
              <a:avLst>
                <a:gd name="adj" fmla="val 22422"/>
              </a:avLst>
            </a:prstGeom>
            <a:solidFill>
              <a:srgbClr val="FFFFFF"/>
            </a:solidFill>
            <a:ln w="15240">
              <a:solidFill>
                <a:srgbClr val="334E68"/>
              </a:solidFill>
            </a:ln>
          </p:spPr>
        </p:sp>
        <p:sp>
          <p:nvSpPr>
            <p:cNvPr id="63" name="Rectangle 63"/>
            <p:cNvSpPr/>
            <p:nvPr/>
          </p:nvSpPr>
          <p:spPr>
            <a:xfrm>
              <a:off x="9195435" y="4109085"/>
              <a:ext cx="599122" cy="424815"/>
            </a:xfrm>
            <a:prstGeom prst="roundRect">
              <a:avLst>
                <a:gd name="adj" fmla="val 22422"/>
              </a:avLst>
            </a:prstGeom>
            <a:solidFill>
              <a:srgbClr val="FFFFFF"/>
            </a:solidFill>
            <a:ln w="15240">
              <a:solidFill>
                <a:srgbClr val="334E68"/>
              </a:solidFill>
            </a:ln>
          </p:spPr>
        </p:sp>
        <p:sp>
          <p:nvSpPr>
            <p:cNvPr id="64" name="Rectangle 64"/>
            <p:cNvSpPr/>
            <p:nvPr/>
          </p:nvSpPr>
          <p:spPr>
            <a:xfrm>
              <a:off x="10060305" y="4109085"/>
              <a:ext cx="599122" cy="424815"/>
            </a:xfrm>
            <a:prstGeom prst="roundRect">
              <a:avLst>
                <a:gd name="adj" fmla="val 22422"/>
              </a:avLst>
            </a:prstGeom>
            <a:solidFill>
              <a:srgbClr val="FFFFFF"/>
            </a:solidFill>
            <a:ln w="15240">
              <a:solidFill>
                <a:srgbClr val="334E68"/>
              </a:solidFill>
            </a:ln>
          </p:spPr>
        </p:sp>
        <p:sp>
          <p:nvSpPr>
            <p:cNvPr id="65" name="Rectangle 65"/>
            <p:cNvSpPr/>
            <p:nvPr/>
          </p:nvSpPr>
          <p:spPr>
            <a:xfrm>
              <a:off x="10926128" y="4109085"/>
              <a:ext cx="599122" cy="424815"/>
            </a:xfrm>
            <a:prstGeom prst="roundRect">
              <a:avLst>
                <a:gd name="adj" fmla="val 22422"/>
              </a:avLst>
            </a:prstGeom>
            <a:solidFill>
              <a:srgbClr val="FFFFFF"/>
            </a:solidFill>
            <a:ln w="15240">
              <a:solidFill>
                <a:srgbClr val="334E68"/>
              </a:solidFill>
            </a:ln>
          </p:spPr>
        </p:sp>
        <p:sp>
          <p:nvSpPr>
            <p:cNvPr id="66" name="Rectangle 66"/>
            <p:cNvSpPr/>
            <p:nvPr/>
          </p:nvSpPr>
          <p:spPr>
            <a:xfrm>
              <a:off x="7463790" y="5228272"/>
              <a:ext cx="599122" cy="424815"/>
            </a:xfrm>
            <a:prstGeom prst="roundRect">
              <a:avLst>
                <a:gd name="adj" fmla="val 22422"/>
              </a:avLst>
            </a:prstGeom>
            <a:solidFill>
              <a:srgbClr val="FFFFFF"/>
            </a:solidFill>
            <a:ln w="15240">
              <a:solidFill>
                <a:srgbClr val="334E68"/>
              </a:solidFill>
            </a:ln>
          </p:spPr>
        </p:sp>
        <p:sp>
          <p:nvSpPr>
            <p:cNvPr id="67" name="Rectangle 67"/>
            <p:cNvSpPr/>
            <p:nvPr/>
          </p:nvSpPr>
          <p:spPr>
            <a:xfrm>
              <a:off x="9195435" y="5228272"/>
              <a:ext cx="599122" cy="424815"/>
            </a:xfrm>
            <a:prstGeom prst="roundRect">
              <a:avLst>
                <a:gd name="adj" fmla="val 22422"/>
              </a:avLst>
            </a:prstGeom>
            <a:solidFill>
              <a:srgbClr val="FFFFFF"/>
            </a:solidFill>
            <a:ln w="15240">
              <a:solidFill>
                <a:srgbClr val="334E68"/>
              </a:solidFill>
            </a:ln>
          </p:spPr>
        </p:sp>
        <p:sp>
          <p:nvSpPr>
            <p:cNvPr id="68" name="Rectangle 68"/>
            <p:cNvSpPr/>
            <p:nvPr/>
          </p:nvSpPr>
          <p:spPr>
            <a:xfrm>
              <a:off x="10060305" y="5228272"/>
              <a:ext cx="599122" cy="424815"/>
            </a:xfrm>
            <a:prstGeom prst="roundRect">
              <a:avLst>
                <a:gd name="adj" fmla="val 22422"/>
              </a:avLst>
            </a:prstGeom>
            <a:solidFill>
              <a:srgbClr val="FFFFFF"/>
            </a:solidFill>
            <a:ln w="15240">
              <a:solidFill>
                <a:srgbClr val="334E68"/>
              </a:solidFill>
            </a:ln>
          </p:spPr>
        </p:sp>
        <p:sp>
          <p:nvSpPr>
            <p:cNvPr id="69" name="TextBox 69"/>
            <p:cNvSpPr txBox="1"/>
            <p:nvPr/>
          </p:nvSpPr>
          <p:spPr>
            <a:xfrm>
              <a:off x="8575662" y="1999298"/>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a:t>
              </a:r>
            </a:p>
          </p:txBody>
        </p:sp>
        <p:sp>
          <p:nvSpPr>
            <p:cNvPr id="70" name="TextBox 70"/>
            <p:cNvSpPr txBox="1"/>
            <p:nvPr/>
          </p:nvSpPr>
          <p:spPr>
            <a:xfrm>
              <a:off x="5979147" y="3118485"/>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B</a:t>
              </a:r>
            </a:p>
          </p:txBody>
        </p:sp>
        <p:sp>
          <p:nvSpPr>
            <p:cNvPr id="71" name="TextBox 71"/>
            <p:cNvSpPr txBox="1"/>
            <p:nvPr/>
          </p:nvSpPr>
          <p:spPr>
            <a:xfrm>
              <a:off x="6844970" y="3118485"/>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C</a:t>
              </a:r>
            </a:p>
          </p:txBody>
        </p:sp>
        <p:sp>
          <p:nvSpPr>
            <p:cNvPr id="72" name="TextBox 72"/>
            <p:cNvSpPr txBox="1"/>
            <p:nvPr/>
          </p:nvSpPr>
          <p:spPr>
            <a:xfrm>
              <a:off x="8575662" y="3118485"/>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D</a:t>
              </a:r>
            </a:p>
          </p:txBody>
        </p:sp>
        <p:sp>
          <p:nvSpPr>
            <p:cNvPr id="73" name="TextBox 73"/>
            <p:cNvSpPr txBox="1"/>
            <p:nvPr/>
          </p:nvSpPr>
          <p:spPr>
            <a:xfrm>
              <a:off x="10307307" y="3118485"/>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E</a:t>
              </a:r>
            </a:p>
          </p:txBody>
        </p:sp>
        <p:sp>
          <p:nvSpPr>
            <p:cNvPr id="74" name="TextBox 74"/>
            <p:cNvSpPr txBox="1"/>
            <p:nvPr/>
          </p:nvSpPr>
          <p:spPr>
            <a:xfrm>
              <a:off x="5979147" y="423767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F</a:t>
              </a:r>
            </a:p>
          </p:txBody>
        </p:sp>
        <p:sp>
          <p:nvSpPr>
            <p:cNvPr id="75" name="TextBox 75"/>
            <p:cNvSpPr txBox="1"/>
            <p:nvPr/>
          </p:nvSpPr>
          <p:spPr>
            <a:xfrm>
              <a:off x="6844970" y="423767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G</a:t>
              </a:r>
            </a:p>
          </p:txBody>
        </p:sp>
        <p:sp>
          <p:nvSpPr>
            <p:cNvPr id="76" name="TextBox 76"/>
            <p:cNvSpPr txBox="1"/>
            <p:nvPr/>
          </p:nvSpPr>
          <p:spPr>
            <a:xfrm>
              <a:off x="7709840" y="423767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H</a:t>
              </a:r>
            </a:p>
          </p:txBody>
        </p:sp>
        <p:sp>
          <p:nvSpPr>
            <p:cNvPr id="77" name="TextBox 77"/>
            <p:cNvSpPr txBox="1"/>
            <p:nvPr/>
          </p:nvSpPr>
          <p:spPr>
            <a:xfrm>
              <a:off x="9462821" y="4237672"/>
              <a:ext cx="63398"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I</a:t>
              </a:r>
            </a:p>
          </p:txBody>
        </p:sp>
        <p:sp>
          <p:nvSpPr>
            <p:cNvPr id="78" name="TextBox 78"/>
            <p:cNvSpPr txBox="1"/>
            <p:nvPr/>
          </p:nvSpPr>
          <p:spPr>
            <a:xfrm>
              <a:off x="10307307" y="423767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J</a:t>
              </a:r>
            </a:p>
          </p:txBody>
        </p:sp>
        <p:sp>
          <p:nvSpPr>
            <p:cNvPr id="79" name="TextBox 79"/>
            <p:cNvSpPr txBox="1"/>
            <p:nvPr/>
          </p:nvSpPr>
          <p:spPr>
            <a:xfrm>
              <a:off x="11173130" y="423767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K</a:t>
              </a:r>
            </a:p>
          </p:txBody>
        </p:sp>
        <p:sp>
          <p:nvSpPr>
            <p:cNvPr id="80" name="TextBox 80"/>
            <p:cNvSpPr txBox="1"/>
            <p:nvPr/>
          </p:nvSpPr>
          <p:spPr>
            <a:xfrm>
              <a:off x="7709840" y="5356860"/>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L</a:t>
              </a:r>
            </a:p>
          </p:txBody>
        </p:sp>
        <p:sp>
          <p:nvSpPr>
            <p:cNvPr id="81" name="TextBox 81"/>
            <p:cNvSpPr txBox="1"/>
            <p:nvPr/>
          </p:nvSpPr>
          <p:spPr>
            <a:xfrm>
              <a:off x="9424416" y="5356860"/>
              <a:ext cx="140208"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a:t>
              </a:r>
            </a:p>
          </p:txBody>
        </p:sp>
        <p:sp>
          <p:nvSpPr>
            <p:cNvPr id="82" name="TextBox 82"/>
            <p:cNvSpPr txBox="1"/>
            <p:nvPr/>
          </p:nvSpPr>
          <p:spPr>
            <a:xfrm>
              <a:off x="10307307" y="5356860"/>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N</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集成测试</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一次性集成：全部单独测完，再一把合起来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6276022" cy="1335405"/>
            <a:chOff x="533400" y="1524000"/>
            <a:chExt cx="6276022" cy="1335405"/>
          </a:xfrm>
        </p:grpSpPr>
        <p:sp>
          <p:nvSpPr>
            <p:cNvPr id="7" name="Rectangle 7"/>
            <p:cNvSpPr/>
            <p:nvPr/>
          </p:nvSpPr>
          <p:spPr>
            <a:xfrm>
              <a:off x="533400" y="1524000"/>
              <a:ext cx="6276022" cy="1335405"/>
            </a:xfrm>
            <a:prstGeom prst="roundRect">
              <a:avLst>
                <a:gd name="adj" fmla="val 9986"/>
              </a:avLst>
            </a:prstGeom>
            <a:solidFill>
              <a:srgbClr val="FFFFFF"/>
            </a:solidFill>
            <a:ln w="14288">
              <a:solidFill>
                <a:srgbClr val="D9DFEA"/>
              </a:solidFill>
            </a:ln>
          </p:spPr>
        </p:sp>
        <p:sp>
          <p:nvSpPr>
            <p:cNvPr id="8" name="Rectangle 8"/>
            <p:cNvSpPr/>
            <p:nvPr/>
          </p:nvSpPr>
          <p:spPr>
            <a:xfrm>
              <a:off x="542925" y="1657350"/>
              <a:ext cx="47625" cy="1068705"/>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做法</a:t>
              </a:r>
            </a:p>
          </p:txBody>
        </p:sp>
        <p:sp>
          <p:nvSpPr>
            <p:cNvPr id="11" name="TextBox 11"/>
            <p:cNvSpPr txBox="1"/>
            <p:nvPr/>
          </p:nvSpPr>
          <p:spPr>
            <a:xfrm>
              <a:off x="1382078" y="1768792"/>
              <a:ext cx="183261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非渐增式的具体形式</a:t>
              </a:r>
            </a:p>
          </p:txBody>
        </p:sp>
        <p:sp>
          <p:nvSpPr>
            <p:cNvPr id="12" name="TextBox 12"/>
            <p:cNvSpPr txBox="1"/>
            <p:nvPr/>
          </p:nvSpPr>
          <p:spPr>
            <a:xfrm>
              <a:off x="773430" y="2129790"/>
              <a:ext cx="553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当所有组件都单独测试完毕之后，将它们一次性混合起来组成最终</a:t>
              </a:r>
              <a:br/>
              <a:r>
                <a:rPr lang="zh-CN" sz="1500" dirty="0">
                  <a:solidFill>
                    <a:srgbClr val="1F2937"/>
                  </a:solidFill>
                  <a:latin typeface="+mn-lt"/>
                  <a:ea typeface="+mn-ea"/>
                  <a:cs typeface="+mn-cs"/>
                </a:rPr>
                <a:t>的系统，查看能否运行成功。</a:t>
              </a:r>
            </a:p>
          </p:txBody>
        </p:sp>
      </p:grpSp>
      <p:grpSp>
        <p:nvGrpSpPr>
          <p:cNvPr id="72" name="c1-graph-2"/>
          <p:cNvGrpSpPr/>
          <p:nvPr/>
        </p:nvGrpSpPr>
        <p:grpSpPr>
          <a:xfrm>
            <a:off x="820102" y="3097530"/>
            <a:ext cx="5705475" cy="2827401"/>
            <a:chOff x="820102" y="3097530"/>
            <a:chExt cx="5705475" cy="2827401"/>
          </a:xfrm>
        </p:grpSpPr>
        <p:sp>
          <p:nvSpPr>
            <p:cNvPr id="14" name="Freeform 14"/>
            <p:cNvSpPr/>
            <p:nvPr/>
          </p:nvSpPr>
          <p:spPr>
            <a:xfrm>
              <a:off x="1120140" y="3316605"/>
              <a:ext cx="2302192" cy="1048703"/>
            </a:xfrm>
            <a:custGeom>
              <a:avLst/>
              <a:gdLst/>
              <a:ahLst/>
              <a:cxnLst/>
              <a:rect l="l" t="t" r="r" b="b"/>
              <a:pathLst>
                <a:path w="2302192" h="1048703">
                  <a:moveTo>
                    <a:pt x="0" y="0"/>
                  </a:moveTo>
                  <a:lnTo>
                    <a:pt x="2302192" y="1048703"/>
                  </a:lnTo>
                </a:path>
              </a:pathLst>
            </a:custGeom>
            <a:noFill/>
            <a:ln w="17145">
              <a:solidFill>
                <a:srgbClr val="1F2937"/>
              </a:solidFill>
            </a:ln>
          </p:spPr>
        </p:sp>
        <p:sp>
          <p:nvSpPr>
            <p:cNvPr id="15" name="Freeform 15"/>
            <p:cNvSpPr/>
            <p:nvPr/>
          </p:nvSpPr>
          <p:spPr>
            <a:xfrm>
              <a:off x="3403282" y="4322445"/>
              <a:ext cx="105727" cy="86677"/>
            </a:xfrm>
            <a:custGeom>
              <a:avLst/>
              <a:gdLst/>
              <a:ahLst/>
              <a:cxnLst/>
              <a:rect l="l" t="t" r="r" b="b"/>
              <a:pathLst>
                <a:path w="105727" h="86677">
                  <a:moveTo>
                    <a:pt x="105727" y="82867"/>
                  </a:moveTo>
                  <a:lnTo>
                    <a:pt x="0" y="86677"/>
                  </a:lnTo>
                  <a:lnTo>
                    <a:pt x="39052" y="0"/>
                  </a:lnTo>
                  <a:close/>
                </a:path>
              </a:pathLst>
            </a:custGeom>
            <a:solidFill>
              <a:srgbClr val="1F2937"/>
            </a:solidFill>
            <a:ln>
              <a:noFill/>
            </a:ln>
          </p:spPr>
        </p:sp>
        <p:sp>
          <p:nvSpPr>
            <p:cNvPr id="16" name="Freeform 16"/>
            <p:cNvSpPr/>
            <p:nvPr/>
          </p:nvSpPr>
          <p:spPr>
            <a:xfrm>
              <a:off x="1127760" y="3724275"/>
              <a:ext cx="2290762" cy="679133"/>
            </a:xfrm>
            <a:custGeom>
              <a:avLst/>
              <a:gdLst/>
              <a:ahLst/>
              <a:cxnLst/>
              <a:rect l="l" t="t" r="r" b="b"/>
              <a:pathLst>
                <a:path w="2290762" h="679133">
                  <a:moveTo>
                    <a:pt x="0" y="0"/>
                  </a:moveTo>
                  <a:lnTo>
                    <a:pt x="2290762" y="679133"/>
                  </a:lnTo>
                </a:path>
              </a:pathLst>
            </a:custGeom>
            <a:noFill/>
            <a:ln w="17145">
              <a:solidFill>
                <a:srgbClr val="1F2937"/>
              </a:solidFill>
            </a:ln>
          </p:spPr>
        </p:sp>
        <p:sp>
          <p:nvSpPr>
            <p:cNvPr id="17" name="Freeform 17"/>
            <p:cNvSpPr/>
            <p:nvPr/>
          </p:nvSpPr>
          <p:spPr>
            <a:xfrm>
              <a:off x="3404235" y="4357688"/>
              <a:ext cx="104775" cy="91440"/>
            </a:xfrm>
            <a:custGeom>
              <a:avLst/>
              <a:gdLst/>
              <a:ahLst/>
              <a:cxnLst/>
              <a:rect l="l" t="t" r="r" b="b"/>
              <a:pathLst>
                <a:path w="104775" h="91440">
                  <a:moveTo>
                    <a:pt x="104775" y="73342"/>
                  </a:moveTo>
                  <a:lnTo>
                    <a:pt x="0" y="91440"/>
                  </a:lnTo>
                  <a:lnTo>
                    <a:pt x="27623" y="0"/>
                  </a:lnTo>
                  <a:close/>
                </a:path>
              </a:pathLst>
            </a:custGeom>
            <a:solidFill>
              <a:srgbClr val="1F2937"/>
            </a:solidFill>
            <a:ln>
              <a:noFill/>
            </a:ln>
          </p:spPr>
        </p:sp>
        <p:sp>
          <p:nvSpPr>
            <p:cNvPr id="18" name="Freeform 18"/>
            <p:cNvSpPr/>
            <p:nvPr/>
          </p:nvSpPr>
          <p:spPr>
            <a:xfrm>
              <a:off x="1133475" y="4129088"/>
              <a:ext cx="2281238" cy="314325"/>
            </a:xfrm>
            <a:custGeom>
              <a:avLst/>
              <a:gdLst/>
              <a:ahLst/>
              <a:cxnLst/>
              <a:rect l="l" t="t" r="r" b="b"/>
              <a:pathLst>
                <a:path w="2281238" h="314325">
                  <a:moveTo>
                    <a:pt x="0" y="0"/>
                  </a:moveTo>
                  <a:lnTo>
                    <a:pt x="2281238" y="314325"/>
                  </a:lnTo>
                </a:path>
              </a:pathLst>
            </a:custGeom>
            <a:noFill/>
            <a:ln w="17145">
              <a:solidFill>
                <a:srgbClr val="1F2937"/>
              </a:solidFill>
            </a:ln>
          </p:spPr>
        </p:sp>
        <p:sp>
          <p:nvSpPr>
            <p:cNvPr id="19" name="Freeform 19"/>
            <p:cNvSpPr/>
            <p:nvPr/>
          </p:nvSpPr>
          <p:spPr>
            <a:xfrm>
              <a:off x="3408998" y="4395788"/>
              <a:ext cx="100012" cy="94297"/>
            </a:xfrm>
            <a:custGeom>
              <a:avLst/>
              <a:gdLst/>
              <a:ahLst/>
              <a:cxnLst/>
              <a:rect l="l" t="t" r="r" b="b"/>
              <a:pathLst>
                <a:path w="100012" h="94297">
                  <a:moveTo>
                    <a:pt x="100012" y="60960"/>
                  </a:moveTo>
                  <a:lnTo>
                    <a:pt x="0" y="94297"/>
                  </a:lnTo>
                  <a:lnTo>
                    <a:pt x="12383" y="0"/>
                  </a:lnTo>
                  <a:close/>
                </a:path>
              </a:pathLst>
            </a:custGeom>
            <a:solidFill>
              <a:srgbClr val="1F2937"/>
            </a:solidFill>
            <a:ln>
              <a:noFill/>
            </a:ln>
          </p:spPr>
        </p:sp>
        <p:sp>
          <p:nvSpPr>
            <p:cNvPr id="20" name="Freeform 20"/>
            <p:cNvSpPr/>
            <p:nvPr/>
          </p:nvSpPr>
          <p:spPr>
            <a:xfrm>
              <a:off x="1134428" y="4484370"/>
              <a:ext cx="2279332" cy="47625"/>
            </a:xfrm>
            <a:custGeom>
              <a:avLst/>
              <a:gdLst/>
              <a:ahLst/>
              <a:cxnLst/>
              <a:rect l="l" t="t" r="r" b="b"/>
              <a:pathLst>
                <a:path w="2279332" h="47625">
                  <a:moveTo>
                    <a:pt x="0" y="47625"/>
                  </a:moveTo>
                  <a:lnTo>
                    <a:pt x="2279332" y="0"/>
                  </a:lnTo>
                </a:path>
              </a:pathLst>
            </a:custGeom>
            <a:noFill/>
            <a:ln w="17145">
              <a:solidFill>
                <a:srgbClr val="1F2937"/>
              </a:solidFill>
            </a:ln>
          </p:spPr>
        </p:sp>
        <p:sp>
          <p:nvSpPr>
            <p:cNvPr id="21" name="Freeform 21"/>
            <p:cNvSpPr/>
            <p:nvPr/>
          </p:nvSpPr>
          <p:spPr>
            <a:xfrm>
              <a:off x="3412808" y="4436745"/>
              <a:ext cx="96202" cy="95250"/>
            </a:xfrm>
            <a:custGeom>
              <a:avLst/>
              <a:gdLst/>
              <a:ahLst/>
              <a:cxnLst/>
              <a:rect l="l" t="t" r="r" b="b"/>
              <a:pathLst>
                <a:path w="96202" h="95250">
                  <a:moveTo>
                    <a:pt x="96202" y="45720"/>
                  </a:moveTo>
                  <a:lnTo>
                    <a:pt x="1905" y="95250"/>
                  </a:lnTo>
                  <a:lnTo>
                    <a:pt x="0" y="0"/>
                  </a:lnTo>
                  <a:close/>
                </a:path>
              </a:pathLst>
            </a:custGeom>
            <a:solidFill>
              <a:srgbClr val="1F2937"/>
            </a:solidFill>
            <a:ln>
              <a:noFill/>
            </a:ln>
          </p:spPr>
        </p:sp>
        <p:sp>
          <p:nvSpPr>
            <p:cNvPr id="22" name="Freeform 22"/>
            <p:cNvSpPr/>
            <p:nvPr/>
          </p:nvSpPr>
          <p:spPr>
            <a:xfrm>
              <a:off x="1132522" y="4524375"/>
              <a:ext cx="2283142" cy="411480"/>
            </a:xfrm>
            <a:custGeom>
              <a:avLst/>
              <a:gdLst/>
              <a:ahLst/>
              <a:cxnLst/>
              <a:rect l="l" t="t" r="r" b="b"/>
              <a:pathLst>
                <a:path w="2283142" h="411480">
                  <a:moveTo>
                    <a:pt x="0" y="411480"/>
                  </a:moveTo>
                  <a:lnTo>
                    <a:pt x="2283142" y="0"/>
                  </a:lnTo>
                </a:path>
              </a:pathLst>
            </a:custGeom>
            <a:noFill/>
            <a:ln w="17145">
              <a:solidFill>
                <a:srgbClr val="1F2937"/>
              </a:solidFill>
            </a:ln>
          </p:spPr>
        </p:sp>
        <p:sp>
          <p:nvSpPr>
            <p:cNvPr id="23" name="Freeform 23"/>
            <p:cNvSpPr/>
            <p:nvPr/>
          </p:nvSpPr>
          <p:spPr>
            <a:xfrm>
              <a:off x="3407092" y="4477702"/>
              <a:ext cx="101917" cy="94297"/>
            </a:xfrm>
            <a:custGeom>
              <a:avLst/>
              <a:gdLst/>
              <a:ahLst/>
              <a:cxnLst/>
              <a:rect l="l" t="t" r="r" b="b"/>
              <a:pathLst>
                <a:path w="101917" h="94297">
                  <a:moveTo>
                    <a:pt x="101917" y="30480"/>
                  </a:moveTo>
                  <a:lnTo>
                    <a:pt x="17145" y="94297"/>
                  </a:lnTo>
                  <a:lnTo>
                    <a:pt x="0" y="0"/>
                  </a:lnTo>
                  <a:close/>
                </a:path>
              </a:pathLst>
            </a:custGeom>
            <a:solidFill>
              <a:srgbClr val="1F2937"/>
            </a:solidFill>
            <a:ln>
              <a:noFill/>
            </a:ln>
          </p:spPr>
        </p:sp>
        <p:sp>
          <p:nvSpPr>
            <p:cNvPr id="24" name="Freeform 24"/>
            <p:cNvSpPr/>
            <p:nvPr/>
          </p:nvSpPr>
          <p:spPr>
            <a:xfrm>
              <a:off x="1125855" y="4564380"/>
              <a:ext cx="2293620" cy="776288"/>
            </a:xfrm>
            <a:custGeom>
              <a:avLst/>
              <a:gdLst/>
              <a:ahLst/>
              <a:cxnLst/>
              <a:rect l="l" t="t" r="r" b="b"/>
              <a:pathLst>
                <a:path w="2293620" h="776288">
                  <a:moveTo>
                    <a:pt x="0" y="776288"/>
                  </a:moveTo>
                  <a:lnTo>
                    <a:pt x="2293620" y="0"/>
                  </a:lnTo>
                </a:path>
              </a:pathLst>
            </a:custGeom>
            <a:noFill/>
            <a:ln w="17145">
              <a:solidFill>
                <a:srgbClr val="1F2937"/>
              </a:solidFill>
            </a:ln>
          </p:spPr>
        </p:sp>
        <p:sp>
          <p:nvSpPr>
            <p:cNvPr id="25" name="Freeform 25"/>
            <p:cNvSpPr/>
            <p:nvPr/>
          </p:nvSpPr>
          <p:spPr>
            <a:xfrm>
              <a:off x="3404235" y="4518660"/>
              <a:ext cx="104775" cy="90488"/>
            </a:xfrm>
            <a:custGeom>
              <a:avLst/>
              <a:gdLst/>
              <a:ahLst/>
              <a:cxnLst/>
              <a:rect l="l" t="t" r="r" b="b"/>
              <a:pathLst>
                <a:path w="104775" h="90488">
                  <a:moveTo>
                    <a:pt x="104775" y="15240"/>
                  </a:moveTo>
                  <a:lnTo>
                    <a:pt x="30480" y="90488"/>
                  </a:lnTo>
                  <a:lnTo>
                    <a:pt x="0" y="0"/>
                  </a:lnTo>
                  <a:close/>
                </a:path>
              </a:pathLst>
            </a:custGeom>
            <a:solidFill>
              <a:srgbClr val="1F2937"/>
            </a:solidFill>
            <a:ln>
              <a:noFill/>
            </a:ln>
          </p:spPr>
        </p:sp>
        <p:sp>
          <p:nvSpPr>
            <p:cNvPr id="26" name="Freeform 26"/>
            <p:cNvSpPr/>
            <p:nvPr/>
          </p:nvSpPr>
          <p:spPr>
            <a:xfrm>
              <a:off x="1119188" y="4596765"/>
              <a:ext cx="2304098" cy="1098232"/>
            </a:xfrm>
            <a:custGeom>
              <a:avLst/>
              <a:gdLst/>
              <a:ahLst/>
              <a:cxnLst/>
              <a:rect l="l" t="t" r="r" b="b"/>
              <a:pathLst>
                <a:path w="2304098" h="1098232">
                  <a:moveTo>
                    <a:pt x="0" y="1098232"/>
                  </a:moveTo>
                  <a:lnTo>
                    <a:pt x="2304098" y="0"/>
                  </a:lnTo>
                </a:path>
              </a:pathLst>
            </a:custGeom>
            <a:noFill/>
            <a:ln w="17145">
              <a:solidFill>
                <a:srgbClr val="1F2937"/>
              </a:solidFill>
            </a:ln>
          </p:spPr>
        </p:sp>
        <p:sp>
          <p:nvSpPr>
            <p:cNvPr id="27" name="Freeform 27"/>
            <p:cNvSpPr/>
            <p:nvPr/>
          </p:nvSpPr>
          <p:spPr>
            <a:xfrm>
              <a:off x="3403282" y="4553902"/>
              <a:ext cx="105727" cy="85725"/>
            </a:xfrm>
            <a:custGeom>
              <a:avLst/>
              <a:gdLst/>
              <a:ahLst/>
              <a:cxnLst/>
              <a:rect l="l" t="t" r="r" b="b"/>
              <a:pathLst>
                <a:path w="105727" h="85725">
                  <a:moveTo>
                    <a:pt x="105727" y="1905"/>
                  </a:moveTo>
                  <a:lnTo>
                    <a:pt x="40958" y="85725"/>
                  </a:lnTo>
                  <a:lnTo>
                    <a:pt x="0" y="0"/>
                  </a:lnTo>
                  <a:close/>
                </a:path>
              </a:pathLst>
            </a:custGeom>
            <a:solidFill>
              <a:srgbClr val="1F2937"/>
            </a:solidFill>
            <a:ln>
              <a:noFill/>
            </a:ln>
          </p:spPr>
        </p:sp>
        <p:sp>
          <p:nvSpPr>
            <p:cNvPr id="28" name="Freeform 28"/>
            <p:cNvSpPr/>
            <p:nvPr/>
          </p:nvSpPr>
          <p:spPr>
            <a:xfrm>
              <a:off x="3919538" y="3316605"/>
              <a:ext cx="2303145" cy="1048703"/>
            </a:xfrm>
            <a:custGeom>
              <a:avLst/>
              <a:gdLst/>
              <a:ahLst/>
              <a:cxnLst/>
              <a:rect l="l" t="t" r="r" b="b"/>
              <a:pathLst>
                <a:path w="2303145" h="1048703">
                  <a:moveTo>
                    <a:pt x="2303145" y="0"/>
                  </a:moveTo>
                  <a:lnTo>
                    <a:pt x="0" y="1048703"/>
                  </a:lnTo>
                </a:path>
              </a:pathLst>
            </a:custGeom>
            <a:noFill/>
            <a:ln w="17145">
              <a:solidFill>
                <a:srgbClr val="1F2937"/>
              </a:solidFill>
            </a:ln>
          </p:spPr>
        </p:sp>
        <p:sp>
          <p:nvSpPr>
            <p:cNvPr id="29" name="Freeform 29"/>
            <p:cNvSpPr/>
            <p:nvPr/>
          </p:nvSpPr>
          <p:spPr>
            <a:xfrm>
              <a:off x="3832860" y="4322445"/>
              <a:ext cx="106680" cy="86677"/>
            </a:xfrm>
            <a:custGeom>
              <a:avLst/>
              <a:gdLst/>
              <a:ahLst/>
              <a:cxnLst/>
              <a:rect l="l" t="t" r="r" b="b"/>
              <a:pathLst>
                <a:path w="106680" h="86677">
                  <a:moveTo>
                    <a:pt x="0" y="82867"/>
                  </a:moveTo>
                  <a:lnTo>
                    <a:pt x="67628" y="0"/>
                  </a:lnTo>
                  <a:lnTo>
                    <a:pt x="106680" y="86677"/>
                  </a:lnTo>
                  <a:close/>
                </a:path>
              </a:pathLst>
            </a:custGeom>
            <a:solidFill>
              <a:srgbClr val="1F2937"/>
            </a:solidFill>
            <a:ln>
              <a:noFill/>
            </a:ln>
          </p:spPr>
        </p:sp>
        <p:sp>
          <p:nvSpPr>
            <p:cNvPr id="30" name="Freeform 30"/>
            <p:cNvSpPr/>
            <p:nvPr/>
          </p:nvSpPr>
          <p:spPr>
            <a:xfrm>
              <a:off x="3924300" y="3724275"/>
              <a:ext cx="2290762" cy="679133"/>
            </a:xfrm>
            <a:custGeom>
              <a:avLst/>
              <a:gdLst/>
              <a:ahLst/>
              <a:cxnLst/>
              <a:rect l="l" t="t" r="r" b="b"/>
              <a:pathLst>
                <a:path w="2290762" h="679133">
                  <a:moveTo>
                    <a:pt x="2290762" y="0"/>
                  </a:moveTo>
                  <a:lnTo>
                    <a:pt x="0" y="679133"/>
                  </a:lnTo>
                </a:path>
              </a:pathLst>
            </a:custGeom>
            <a:noFill/>
            <a:ln w="17145">
              <a:solidFill>
                <a:srgbClr val="1F2937"/>
              </a:solidFill>
            </a:ln>
          </p:spPr>
        </p:sp>
        <p:sp>
          <p:nvSpPr>
            <p:cNvPr id="31" name="Freeform 31"/>
            <p:cNvSpPr/>
            <p:nvPr/>
          </p:nvSpPr>
          <p:spPr>
            <a:xfrm>
              <a:off x="3832860" y="4357688"/>
              <a:ext cx="104775" cy="91440"/>
            </a:xfrm>
            <a:custGeom>
              <a:avLst/>
              <a:gdLst/>
              <a:ahLst/>
              <a:cxnLst/>
              <a:rect l="l" t="t" r="r" b="b"/>
              <a:pathLst>
                <a:path w="104775" h="91440">
                  <a:moveTo>
                    <a:pt x="0" y="73342"/>
                  </a:moveTo>
                  <a:lnTo>
                    <a:pt x="78105" y="0"/>
                  </a:lnTo>
                  <a:lnTo>
                    <a:pt x="104775" y="91440"/>
                  </a:lnTo>
                  <a:close/>
                </a:path>
              </a:pathLst>
            </a:custGeom>
            <a:solidFill>
              <a:srgbClr val="1F2937"/>
            </a:solidFill>
            <a:ln>
              <a:noFill/>
            </a:ln>
          </p:spPr>
        </p:sp>
        <p:sp>
          <p:nvSpPr>
            <p:cNvPr id="32" name="Freeform 32"/>
            <p:cNvSpPr/>
            <p:nvPr/>
          </p:nvSpPr>
          <p:spPr>
            <a:xfrm>
              <a:off x="3927158" y="4129088"/>
              <a:ext cx="2282190" cy="314325"/>
            </a:xfrm>
            <a:custGeom>
              <a:avLst/>
              <a:gdLst/>
              <a:ahLst/>
              <a:cxnLst/>
              <a:rect l="l" t="t" r="r" b="b"/>
              <a:pathLst>
                <a:path w="2282190" h="314325">
                  <a:moveTo>
                    <a:pt x="2282190" y="0"/>
                  </a:moveTo>
                  <a:lnTo>
                    <a:pt x="0" y="314325"/>
                  </a:lnTo>
                </a:path>
              </a:pathLst>
            </a:custGeom>
            <a:noFill/>
            <a:ln w="17145">
              <a:solidFill>
                <a:srgbClr val="1F2937"/>
              </a:solidFill>
            </a:ln>
          </p:spPr>
        </p:sp>
        <p:sp>
          <p:nvSpPr>
            <p:cNvPr id="33" name="Freeform 33"/>
            <p:cNvSpPr/>
            <p:nvPr/>
          </p:nvSpPr>
          <p:spPr>
            <a:xfrm>
              <a:off x="3832860" y="4395788"/>
              <a:ext cx="100965" cy="94297"/>
            </a:xfrm>
            <a:custGeom>
              <a:avLst/>
              <a:gdLst/>
              <a:ahLst/>
              <a:cxnLst/>
              <a:rect l="l" t="t" r="r" b="b"/>
              <a:pathLst>
                <a:path w="100965" h="94297">
                  <a:moveTo>
                    <a:pt x="0" y="60960"/>
                  </a:moveTo>
                  <a:lnTo>
                    <a:pt x="88583" y="0"/>
                  </a:lnTo>
                  <a:lnTo>
                    <a:pt x="100965" y="94297"/>
                  </a:lnTo>
                  <a:close/>
                </a:path>
              </a:pathLst>
            </a:custGeom>
            <a:solidFill>
              <a:srgbClr val="1F2937"/>
            </a:solidFill>
            <a:ln>
              <a:noFill/>
            </a:ln>
          </p:spPr>
        </p:sp>
        <p:sp>
          <p:nvSpPr>
            <p:cNvPr id="34" name="Freeform 34"/>
            <p:cNvSpPr/>
            <p:nvPr/>
          </p:nvSpPr>
          <p:spPr>
            <a:xfrm>
              <a:off x="3928110" y="4484370"/>
              <a:ext cx="2280285" cy="47625"/>
            </a:xfrm>
            <a:custGeom>
              <a:avLst/>
              <a:gdLst/>
              <a:ahLst/>
              <a:cxnLst/>
              <a:rect l="l" t="t" r="r" b="b"/>
              <a:pathLst>
                <a:path w="2280285" h="47625">
                  <a:moveTo>
                    <a:pt x="2280285" y="47625"/>
                  </a:moveTo>
                  <a:lnTo>
                    <a:pt x="0" y="0"/>
                  </a:lnTo>
                </a:path>
              </a:pathLst>
            </a:custGeom>
            <a:noFill/>
            <a:ln w="17145">
              <a:solidFill>
                <a:srgbClr val="1F2937"/>
              </a:solidFill>
            </a:ln>
          </p:spPr>
        </p:sp>
        <p:sp>
          <p:nvSpPr>
            <p:cNvPr id="35" name="Freeform 35"/>
            <p:cNvSpPr/>
            <p:nvPr/>
          </p:nvSpPr>
          <p:spPr>
            <a:xfrm>
              <a:off x="3832860" y="4436745"/>
              <a:ext cx="96203" cy="95250"/>
            </a:xfrm>
            <a:custGeom>
              <a:avLst/>
              <a:gdLst/>
              <a:ahLst/>
              <a:cxnLst/>
              <a:rect l="l" t="t" r="r" b="b"/>
              <a:pathLst>
                <a:path w="96203" h="95250">
                  <a:moveTo>
                    <a:pt x="0" y="45720"/>
                  </a:moveTo>
                  <a:lnTo>
                    <a:pt x="96203" y="0"/>
                  </a:lnTo>
                  <a:lnTo>
                    <a:pt x="94298" y="95250"/>
                  </a:lnTo>
                  <a:close/>
                </a:path>
              </a:pathLst>
            </a:custGeom>
            <a:solidFill>
              <a:srgbClr val="1F2937"/>
            </a:solidFill>
            <a:ln>
              <a:noFill/>
            </a:ln>
          </p:spPr>
        </p:sp>
        <p:sp>
          <p:nvSpPr>
            <p:cNvPr id="36" name="Freeform 36"/>
            <p:cNvSpPr/>
            <p:nvPr/>
          </p:nvSpPr>
          <p:spPr>
            <a:xfrm>
              <a:off x="3927158" y="4524375"/>
              <a:ext cx="2283142" cy="411480"/>
            </a:xfrm>
            <a:custGeom>
              <a:avLst/>
              <a:gdLst/>
              <a:ahLst/>
              <a:cxnLst/>
              <a:rect l="l" t="t" r="r" b="b"/>
              <a:pathLst>
                <a:path w="2283142" h="411480">
                  <a:moveTo>
                    <a:pt x="2283142" y="411480"/>
                  </a:moveTo>
                  <a:lnTo>
                    <a:pt x="0" y="0"/>
                  </a:lnTo>
                </a:path>
              </a:pathLst>
            </a:custGeom>
            <a:noFill/>
            <a:ln w="17145">
              <a:solidFill>
                <a:srgbClr val="1F2937"/>
              </a:solidFill>
            </a:ln>
          </p:spPr>
        </p:sp>
        <p:sp>
          <p:nvSpPr>
            <p:cNvPr id="37" name="Freeform 37"/>
            <p:cNvSpPr/>
            <p:nvPr/>
          </p:nvSpPr>
          <p:spPr>
            <a:xfrm>
              <a:off x="3832860" y="4477702"/>
              <a:ext cx="102870" cy="94297"/>
            </a:xfrm>
            <a:custGeom>
              <a:avLst/>
              <a:gdLst/>
              <a:ahLst/>
              <a:cxnLst/>
              <a:rect l="l" t="t" r="r" b="b"/>
              <a:pathLst>
                <a:path w="102870" h="94297">
                  <a:moveTo>
                    <a:pt x="0" y="30480"/>
                  </a:moveTo>
                  <a:lnTo>
                    <a:pt x="102870" y="0"/>
                  </a:lnTo>
                  <a:lnTo>
                    <a:pt x="85725" y="94297"/>
                  </a:lnTo>
                  <a:close/>
                </a:path>
              </a:pathLst>
            </a:custGeom>
            <a:solidFill>
              <a:srgbClr val="1F2937"/>
            </a:solidFill>
            <a:ln>
              <a:noFill/>
            </a:ln>
          </p:spPr>
        </p:sp>
        <p:sp>
          <p:nvSpPr>
            <p:cNvPr id="38" name="Freeform 38"/>
            <p:cNvSpPr/>
            <p:nvPr/>
          </p:nvSpPr>
          <p:spPr>
            <a:xfrm>
              <a:off x="3923348" y="4564380"/>
              <a:ext cx="2290762" cy="775335"/>
            </a:xfrm>
            <a:custGeom>
              <a:avLst/>
              <a:gdLst/>
              <a:ahLst/>
              <a:cxnLst/>
              <a:rect l="l" t="t" r="r" b="b"/>
              <a:pathLst>
                <a:path w="2290762" h="775335">
                  <a:moveTo>
                    <a:pt x="2290762" y="775335"/>
                  </a:moveTo>
                  <a:lnTo>
                    <a:pt x="0" y="0"/>
                  </a:lnTo>
                </a:path>
              </a:pathLst>
            </a:custGeom>
            <a:noFill/>
            <a:ln w="17145">
              <a:solidFill>
                <a:srgbClr val="1F2937"/>
              </a:solidFill>
            </a:ln>
          </p:spPr>
        </p:sp>
        <p:sp>
          <p:nvSpPr>
            <p:cNvPr id="39" name="Freeform 39"/>
            <p:cNvSpPr/>
            <p:nvPr/>
          </p:nvSpPr>
          <p:spPr>
            <a:xfrm>
              <a:off x="3832860" y="4518660"/>
              <a:ext cx="105728" cy="90488"/>
            </a:xfrm>
            <a:custGeom>
              <a:avLst/>
              <a:gdLst/>
              <a:ahLst/>
              <a:cxnLst/>
              <a:rect l="l" t="t" r="r" b="b"/>
              <a:pathLst>
                <a:path w="105728" h="90488">
                  <a:moveTo>
                    <a:pt x="0" y="15240"/>
                  </a:moveTo>
                  <a:lnTo>
                    <a:pt x="105728" y="0"/>
                  </a:lnTo>
                  <a:lnTo>
                    <a:pt x="75248" y="90488"/>
                  </a:lnTo>
                  <a:close/>
                </a:path>
              </a:pathLst>
            </a:custGeom>
            <a:solidFill>
              <a:srgbClr val="1F2937"/>
            </a:solidFill>
            <a:ln>
              <a:noFill/>
            </a:ln>
          </p:spPr>
        </p:sp>
        <p:sp>
          <p:nvSpPr>
            <p:cNvPr id="40" name="Freeform 40"/>
            <p:cNvSpPr/>
            <p:nvPr/>
          </p:nvSpPr>
          <p:spPr>
            <a:xfrm>
              <a:off x="3919538" y="4596765"/>
              <a:ext cx="2304098" cy="1098232"/>
            </a:xfrm>
            <a:custGeom>
              <a:avLst/>
              <a:gdLst/>
              <a:ahLst/>
              <a:cxnLst/>
              <a:rect l="l" t="t" r="r" b="b"/>
              <a:pathLst>
                <a:path w="2304098" h="1098232">
                  <a:moveTo>
                    <a:pt x="2304098" y="1098232"/>
                  </a:moveTo>
                  <a:lnTo>
                    <a:pt x="0" y="0"/>
                  </a:lnTo>
                </a:path>
              </a:pathLst>
            </a:custGeom>
            <a:noFill/>
            <a:ln w="17145">
              <a:solidFill>
                <a:srgbClr val="1F2937"/>
              </a:solidFill>
            </a:ln>
          </p:spPr>
        </p:sp>
        <p:sp>
          <p:nvSpPr>
            <p:cNvPr id="41" name="Freeform 41"/>
            <p:cNvSpPr/>
            <p:nvPr/>
          </p:nvSpPr>
          <p:spPr>
            <a:xfrm>
              <a:off x="3832860" y="4553902"/>
              <a:ext cx="106680" cy="85725"/>
            </a:xfrm>
            <a:custGeom>
              <a:avLst/>
              <a:gdLst/>
              <a:ahLst/>
              <a:cxnLst/>
              <a:rect l="l" t="t" r="r" b="b"/>
              <a:pathLst>
                <a:path w="106680" h="85725">
                  <a:moveTo>
                    <a:pt x="0" y="1905"/>
                  </a:moveTo>
                  <a:lnTo>
                    <a:pt x="106680" y="0"/>
                  </a:lnTo>
                  <a:lnTo>
                    <a:pt x="65723" y="85725"/>
                  </a:lnTo>
                  <a:close/>
                </a:path>
              </a:pathLst>
            </a:custGeom>
            <a:solidFill>
              <a:srgbClr val="1F2937"/>
            </a:solidFill>
            <a:ln>
              <a:noFill/>
            </a:ln>
          </p:spPr>
        </p:sp>
        <p:sp>
          <p:nvSpPr>
            <p:cNvPr id="42" name="Ellipse 42"/>
            <p:cNvSpPr/>
            <p:nvPr/>
          </p:nvSpPr>
          <p:spPr>
            <a:xfrm>
              <a:off x="820102" y="3097530"/>
              <a:ext cx="304800" cy="304800"/>
            </a:xfrm>
            <a:prstGeom prst="ellipse">
              <a:avLst/>
            </a:prstGeom>
            <a:solidFill>
              <a:srgbClr val="FFFFFF"/>
            </a:solidFill>
            <a:ln w="17145">
              <a:solidFill>
                <a:srgbClr val="334E68"/>
              </a:solidFill>
            </a:ln>
          </p:spPr>
        </p:sp>
        <p:sp>
          <p:nvSpPr>
            <p:cNvPr id="43" name="Ellipse 43"/>
            <p:cNvSpPr/>
            <p:nvPr/>
          </p:nvSpPr>
          <p:spPr>
            <a:xfrm>
              <a:off x="820102" y="3526155"/>
              <a:ext cx="304800" cy="304800"/>
            </a:xfrm>
            <a:prstGeom prst="ellipse">
              <a:avLst/>
            </a:prstGeom>
            <a:solidFill>
              <a:srgbClr val="FFFFFF"/>
            </a:solidFill>
            <a:ln w="17145">
              <a:solidFill>
                <a:srgbClr val="334E68"/>
              </a:solidFill>
            </a:ln>
          </p:spPr>
        </p:sp>
        <p:sp>
          <p:nvSpPr>
            <p:cNvPr id="44" name="Ellipse 44"/>
            <p:cNvSpPr/>
            <p:nvPr/>
          </p:nvSpPr>
          <p:spPr>
            <a:xfrm>
              <a:off x="820102" y="3954780"/>
              <a:ext cx="304800" cy="304800"/>
            </a:xfrm>
            <a:prstGeom prst="ellipse">
              <a:avLst/>
            </a:prstGeom>
            <a:solidFill>
              <a:srgbClr val="FFFFFF"/>
            </a:solidFill>
            <a:ln w="17145">
              <a:solidFill>
                <a:srgbClr val="334E68"/>
              </a:solidFill>
            </a:ln>
          </p:spPr>
        </p:sp>
        <p:sp>
          <p:nvSpPr>
            <p:cNvPr id="45" name="Ellipse 45"/>
            <p:cNvSpPr/>
            <p:nvPr/>
          </p:nvSpPr>
          <p:spPr>
            <a:xfrm>
              <a:off x="820102" y="4383405"/>
              <a:ext cx="304800" cy="304800"/>
            </a:xfrm>
            <a:prstGeom prst="ellipse">
              <a:avLst/>
            </a:prstGeom>
            <a:solidFill>
              <a:srgbClr val="FFFFFF"/>
            </a:solidFill>
            <a:ln w="17145">
              <a:solidFill>
                <a:srgbClr val="334E68"/>
              </a:solidFill>
            </a:ln>
          </p:spPr>
        </p:sp>
        <p:sp>
          <p:nvSpPr>
            <p:cNvPr id="46" name="Ellipse 46"/>
            <p:cNvSpPr/>
            <p:nvPr/>
          </p:nvSpPr>
          <p:spPr>
            <a:xfrm>
              <a:off x="820102" y="4812030"/>
              <a:ext cx="304800" cy="304800"/>
            </a:xfrm>
            <a:prstGeom prst="ellipse">
              <a:avLst/>
            </a:prstGeom>
            <a:solidFill>
              <a:srgbClr val="FFFFFF"/>
            </a:solidFill>
            <a:ln w="17145">
              <a:solidFill>
                <a:srgbClr val="334E68"/>
              </a:solidFill>
            </a:ln>
          </p:spPr>
        </p:sp>
        <p:sp>
          <p:nvSpPr>
            <p:cNvPr id="47" name="Ellipse 47"/>
            <p:cNvSpPr/>
            <p:nvPr/>
          </p:nvSpPr>
          <p:spPr>
            <a:xfrm>
              <a:off x="820102" y="5240655"/>
              <a:ext cx="304800" cy="304800"/>
            </a:xfrm>
            <a:prstGeom prst="ellipse">
              <a:avLst/>
            </a:prstGeom>
            <a:solidFill>
              <a:srgbClr val="FFFFFF"/>
            </a:solidFill>
            <a:ln w="17145">
              <a:solidFill>
                <a:srgbClr val="334E68"/>
              </a:solidFill>
            </a:ln>
          </p:spPr>
        </p:sp>
        <p:sp>
          <p:nvSpPr>
            <p:cNvPr id="48" name="Ellipse 48"/>
            <p:cNvSpPr/>
            <p:nvPr/>
          </p:nvSpPr>
          <p:spPr>
            <a:xfrm>
              <a:off x="820102" y="5612130"/>
              <a:ext cx="304800" cy="304800"/>
            </a:xfrm>
            <a:prstGeom prst="ellipse">
              <a:avLst/>
            </a:prstGeom>
            <a:solidFill>
              <a:srgbClr val="FFFFFF"/>
            </a:solidFill>
            <a:ln w="17145">
              <a:solidFill>
                <a:srgbClr val="334E68"/>
              </a:solidFill>
            </a:ln>
          </p:spPr>
        </p:sp>
        <p:sp>
          <p:nvSpPr>
            <p:cNvPr id="49" name="Ellipse 49"/>
            <p:cNvSpPr/>
            <p:nvPr/>
          </p:nvSpPr>
          <p:spPr>
            <a:xfrm>
              <a:off x="6217920" y="3097530"/>
              <a:ext cx="304800" cy="304800"/>
            </a:xfrm>
            <a:prstGeom prst="ellipse">
              <a:avLst/>
            </a:prstGeom>
            <a:solidFill>
              <a:srgbClr val="FFFFFF"/>
            </a:solidFill>
            <a:ln w="17145">
              <a:solidFill>
                <a:srgbClr val="334E68"/>
              </a:solidFill>
            </a:ln>
          </p:spPr>
        </p:sp>
        <p:sp>
          <p:nvSpPr>
            <p:cNvPr id="50" name="Ellipse 50"/>
            <p:cNvSpPr/>
            <p:nvPr/>
          </p:nvSpPr>
          <p:spPr>
            <a:xfrm>
              <a:off x="6217920" y="3526155"/>
              <a:ext cx="304800" cy="304800"/>
            </a:xfrm>
            <a:prstGeom prst="ellipse">
              <a:avLst/>
            </a:prstGeom>
            <a:solidFill>
              <a:srgbClr val="FFFFFF"/>
            </a:solidFill>
            <a:ln w="17145">
              <a:solidFill>
                <a:srgbClr val="334E68"/>
              </a:solidFill>
            </a:ln>
          </p:spPr>
        </p:sp>
        <p:sp>
          <p:nvSpPr>
            <p:cNvPr id="51" name="Ellipse 51"/>
            <p:cNvSpPr/>
            <p:nvPr/>
          </p:nvSpPr>
          <p:spPr>
            <a:xfrm>
              <a:off x="6217920" y="3954780"/>
              <a:ext cx="304800" cy="304800"/>
            </a:xfrm>
            <a:prstGeom prst="ellipse">
              <a:avLst/>
            </a:prstGeom>
            <a:solidFill>
              <a:srgbClr val="FFFFFF"/>
            </a:solidFill>
            <a:ln w="17145">
              <a:solidFill>
                <a:srgbClr val="334E68"/>
              </a:solidFill>
            </a:ln>
          </p:spPr>
        </p:sp>
        <p:sp>
          <p:nvSpPr>
            <p:cNvPr id="52" name="Ellipse 52"/>
            <p:cNvSpPr/>
            <p:nvPr/>
          </p:nvSpPr>
          <p:spPr>
            <a:xfrm>
              <a:off x="6217920" y="4383405"/>
              <a:ext cx="304800" cy="304800"/>
            </a:xfrm>
            <a:prstGeom prst="ellipse">
              <a:avLst/>
            </a:prstGeom>
            <a:solidFill>
              <a:srgbClr val="FFFFFF"/>
            </a:solidFill>
            <a:ln w="17145">
              <a:solidFill>
                <a:srgbClr val="334E68"/>
              </a:solidFill>
            </a:ln>
          </p:spPr>
        </p:sp>
        <p:sp>
          <p:nvSpPr>
            <p:cNvPr id="53" name="Ellipse 53"/>
            <p:cNvSpPr/>
            <p:nvPr/>
          </p:nvSpPr>
          <p:spPr>
            <a:xfrm>
              <a:off x="6217920" y="4812030"/>
              <a:ext cx="304800" cy="304800"/>
            </a:xfrm>
            <a:prstGeom prst="ellipse">
              <a:avLst/>
            </a:prstGeom>
            <a:solidFill>
              <a:srgbClr val="FFFFFF"/>
            </a:solidFill>
            <a:ln w="17145">
              <a:solidFill>
                <a:srgbClr val="334E68"/>
              </a:solidFill>
            </a:ln>
          </p:spPr>
        </p:sp>
        <p:sp>
          <p:nvSpPr>
            <p:cNvPr id="54" name="Ellipse 54"/>
            <p:cNvSpPr/>
            <p:nvPr/>
          </p:nvSpPr>
          <p:spPr>
            <a:xfrm>
              <a:off x="6215062" y="5237798"/>
              <a:ext cx="310515" cy="310515"/>
            </a:xfrm>
            <a:prstGeom prst="ellipse">
              <a:avLst/>
            </a:prstGeom>
            <a:solidFill>
              <a:srgbClr val="FFFFFF"/>
            </a:solidFill>
            <a:ln w="17145">
              <a:solidFill>
                <a:srgbClr val="334E68"/>
              </a:solidFill>
            </a:ln>
          </p:spPr>
        </p:sp>
        <p:sp>
          <p:nvSpPr>
            <p:cNvPr id="55" name="Ellipse 55"/>
            <p:cNvSpPr/>
            <p:nvPr/>
          </p:nvSpPr>
          <p:spPr>
            <a:xfrm>
              <a:off x="6217920" y="5612130"/>
              <a:ext cx="304800" cy="304800"/>
            </a:xfrm>
            <a:prstGeom prst="ellipse">
              <a:avLst/>
            </a:prstGeom>
            <a:solidFill>
              <a:srgbClr val="FFFFFF"/>
            </a:solidFill>
            <a:ln w="17145">
              <a:solidFill>
                <a:srgbClr val="334E68"/>
              </a:solidFill>
            </a:ln>
          </p:spPr>
        </p:sp>
        <p:sp>
          <p:nvSpPr>
            <p:cNvPr id="56" name="Rectangle 56"/>
            <p:cNvSpPr/>
            <p:nvPr/>
          </p:nvSpPr>
          <p:spPr>
            <a:xfrm>
              <a:off x="3509010" y="4373880"/>
              <a:ext cx="323850" cy="209550"/>
            </a:xfrm>
            <a:prstGeom prst="roundRect">
              <a:avLst>
                <a:gd name="adj" fmla="val 45455"/>
              </a:avLst>
            </a:prstGeom>
            <a:solidFill>
              <a:srgbClr val="FDEEE7"/>
            </a:solidFill>
            <a:ln w="17145">
              <a:solidFill>
                <a:srgbClr val="F26B3A"/>
              </a:solidFill>
            </a:ln>
          </p:spPr>
        </p:sp>
        <p:sp>
          <p:nvSpPr>
            <p:cNvPr id="57" name="TextBox 57"/>
            <p:cNvSpPr txBox="1"/>
            <p:nvPr/>
          </p:nvSpPr>
          <p:spPr>
            <a:xfrm>
              <a:off x="917120" y="317563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A</a:t>
              </a:r>
            </a:p>
          </p:txBody>
        </p:sp>
        <p:sp>
          <p:nvSpPr>
            <p:cNvPr id="58" name="TextBox 58"/>
            <p:cNvSpPr txBox="1"/>
            <p:nvPr/>
          </p:nvSpPr>
          <p:spPr>
            <a:xfrm>
              <a:off x="917120" y="3604260"/>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B</a:t>
              </a:r>
            </a:p>
          </p:txBody>
        </p:sp>
        <p:sp>
          <p:nvSpPr>
            <p:cNvPr id="59" name="TextBox 59"/>
            <p:cNvSpPr txBox="1"/>
            <p:nvPr/>
          </p:nvSpPr>
          <p:spPr>
            <a:xfrm>
              <a:off x="917120" y="403288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C</a:t>
              </a:r>
            </a:p>
          </p:txBody>
        </p:sp>
        <p:sp>
          <p:nvSpPr>
            <p:cNvPr id="60" name="TextBox 60"/>
            <p:cNvSpPr txBox="1"/>
            <p:nvPr/>
          </p:nvSpPr>
          <p:spPr>
            <a:xfrm>
              <a:off x="917120" y="4461510"/>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D</a:t>
              </a:r>
            </a:p>
          </p:txBody>
        </p:sp>
        <p:sp>
          <p:nvSpPr>
            <p:cNvPr id="61" name="TextBox 61"/>
            <p:cNvSpPr txBox="1"/>
            <p:nvPr/>
          </p:nvSpPr>
          <p:spPr>
            <a:xfrm>
              <a:off x="917120" y="489013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E</a:t>
              </a:r>
            </a:p>
          </p:txBody>
        </p:sp>
        <p:sp>
          <p:nvSpPr>
            <p:cNvPr id="62" name="TextBox 62"/>
            <p:cNvSpPr txBox="1"/>
            <p:nvPr/>
          </p:nvSpPr>
          <p:spPr>
            <a:xfrm>
              <a:off x="917120" y="5318760"/>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F</a:t>
              </a:r>
            </a:p>
          </p:txBody>
        </p:sp>
        <p:sp>
          <p:nvSpPr>
            <p:cNvPr id="63" name="TextBox 63"/>
            <p:cNvSpPr txBox="1"/>
            <p:nvPr/>
          </p:nvSpPr>
          <p:spPr>
            <a:xfrm>
              <a:off x="917120" y="569023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G</a:t>
              </a:r>
            </a:p>
          </p:txBody>
        </p:sp>
        <p:sp>
          <p:nvSpPr>
            <p:cNvPr id="64" name="TextBox 64"/>
            <p:cNvSpPr txBox="1"/>
            <p:nvPr/>
          </p:nvSpPr>
          <p:spPr>
            <a:xfrm>
              <a:off x="6314938" y="317563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H</a:t>
              </a:r>
            </a:p>
          </p:txBody>
        </p:sp>
        <p:sp>
          <p:nvSpPr>
            <p:cNvPr id="65" name="TextBox 65"/>
            <p:cNvSpPr txBox="1"/>
            <p:nvPr/>
          </p:nvSpPr>
          <p:spPr>
            <a:xfrm>
              <a:off x="6337341" y="3604260"/>
              <a:ext cx="65959"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I</a:t>
              </a:r>
            </a:p>
          </p:txBody>
        </p:sp>
        <p:sp>
          <p:nvSpPr>
            <p:cNvPr id="66" name="TextBox 66"/>
            <p:cNvSpPr txBox="1"/>
            <p:nvPr/>
          </p:nvSpPr>
          <p:spPr>
            <a:xfrm>
              <a:off x="6314938" y="403288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J</a:t>
              </a:r>
            </a:p>
          </p:txBody>
        </p:sp>
        <p:sp>
          <p:nvSpPr>
            <p:cNvPr id="67" name="TextBox 67"/>
            <p:cNvSpPr txBox="1"/>
            <p:nvPr/>
          </p:nvSpPr>
          <p:spPr>
            <a:xfrm>
              <a:off x="6314938" y="4461510"/>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K</a:t>
              </a:r>
            </a:p>
          </p:txBody>
        </p:sp>
        <p:sp>
          <p:nvSpPr>
            <p:cNvPr id="68" name="TextBox 68"/>
            <p:cNvSpPr txBox="1"/>
            <p:nvPr/>
          </p:nvSpPr>
          <p:spPr>
            <a:xfrm>
              <a:off x="6314938" y="489013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L</a:t>
              </a:r>
            </a:p>
          </p:txBody>
        </p:sp>
        <p:sp>
          <p:nvSpPr>
            <p:cNvPr id="69" name="TextBox 69"/>
            <p:cNvSpPr txBox="1"/>
            <p:nvPr/>
          </p:nvSpPr>
          <p:spPr>
            <a:xfrm>
              <a:off x="6297016" y="5318760"/>
              <a:ext cx="146609"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M</a:t>
              </a:r>
            </a:p>
          </p:txBody>
        </p:sp>
        <p:sp>
          <p:nvSpPr>
            <p:cNvPr id="70" name="TextBox 70"/>
            <p:cNvSpPr txBox="1"/>
            <p:nvPr/>
          </p:nvSpPr>
          <p:spPr>
            <a:xfrm>
              <a:off x="6314938" y="5690235"/>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N</a:t>
              </a:r>
            </a:p>
          </p:txBody>
        </p:sp>
        <p:sp>
          <p:nvSpPr>
            <p:cNvPr id="71" name="TextBox 71"/>
            <p:cNvSpPr txBox="1"/>
            <p:nvPr/>
          </p:nvSpPr>
          <p:spPr>
            <a:xfrm>
              <a:off x="2338593" y="4404360"/>
              <a:ext cx="266468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A,B,C,D,E,F,G,H,I,J,K,L,M,N</a:t>
              </a:r>
            </a:p>
          </p:txBody>
        </p:sp>
      </p:grpSp>
      <p:grpSp>
        <p:nvGrpSpPr>
          <p:cNvPr id="87" name="c2-card-1"/>
          <p:cNvGrpSpPr/>
          <p:nvPr/>
        </p:nvGrpSpPr>
        <p:grpSpPr>
          <a:xfrm>
            <a:off x="7114222" y="1524000"/>
            <a:ext cx="4544378" cy="2291715"/>
            <a:chOff x="7114222" y="1524000"/>
            <a:chExt cx="4544378" cy="2291715"/>
          </a:xfrm>
        </p:grpSpPr>
        <p:sp>
          <p:nvSpPr>
            <p:cNvPr id="73" name="Rectangle 73"/>
            <p:cNvSpPr/>
            <p:nvPr/>
          </p:nvSpPr>
          <p:spPr>
            <a:xfrm>
              <a:off x="7114222" y="1524000"/>
              <a:ext cx="4544378" cy="2291715"/>
            </a:xfrm>
            <a:prstGeom prst="roundRect">
              <a:avLst>
                <a:gd name="adj" fmla="val 5819"/>
              </a:avLst>
            </a:prstGeom>
            <a:solidFill>
              <a:srgbClr val="FFFFFF"/>
            </a:solidFill>
            <a:ln w="14288">
              <a:solidFill>
                <a:srgbClr val="D9DFEA"/>
              </a:solidFill>
            </a:ln>
          </p:spPr>
        </p:sp>
        <p:sp>
          <p:nvSpPr>
            <p:cNvPr id="74" name="Rectangle 74"/>
            <p:cNvSpPr/>
            <p:nvPr/>
          </p:nvSpPr>
          <p:spPr>
            <a:xfrm>
              <a:off x="7123748" y="1657350"/>
              <a:ext cx="47625" cy="2025015"/>
            </a:xfrm>
            <a:prstGeom prst="roundRect">
              <a:avLst>
                <a:gd name="adj" fmla="val 50000"/>
              </a:avLst>
            </a:prstGeom>
            <a:solidFill>
              <a:srgbClr val="B42318"/>
            </a:solidFill>
            <a:ln>
              <a:noFill/>
            </a:ln>
          </p:spPr>
        </p:sp>
        <p:sp>
          <p:nvSpPr>
            <p:cNvPr id="75" name="Rectangle 75"/>
            <p:cNvSpPr/>
            <p:nvPr/>
          </p:nvSpPr>
          <p:spPr>
            <a:xfrm>
              <a:off x="7361872" y="1733550"/>
              <a:ext cx="494348" cy="257175"/>
            </a:xfrm>
            <a:prstGeom prst="roundRect">
              <a:avLst>
                <a:gd name="adj" fmla="val 50000"/>
              </a:avLst>
            </a:prstGeom>
            <a:solidFill>
              <a:srgbClr val="FDECEA"/>
            </a:solidFill>
            <a:ln>
              <a:noFill/>
            </a:ln>
          </p:spPr>
        </p:sp>
        <p:sp>
          <p:nvSpPr>
            <p:cNvPr id="76" name="TextBox 76"/>
            <p:cNvSpPr txBox="1"/>
            <p:nvPr/>
          </p:nvSpPr>
          <p:spPr>
            <a:xfrm>
              <a:off x="7452081" y="1769269"/>
              <a:ext cx="312979"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缺点</a:t>
              </a:r>
            </a:p>
          </p:txBody>
        </p:sp>
        <p:sp>
          <p:nvSpPr>
            <p:cNvPr id="77" name="TextBox 77"/>
            <p:cNvSpPr txBox="1"/>
            <p:nvPr/>
          </p:nvSpPr>
          <p:spPr>
            <a:xfrm>
              <a:off x="7961948" y="1768792"/>
              <a:ext cx="2065839"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三条都出在“一次性”上</a:t>
              </a:r>
            </a:p>
          </p:txBody>
        </p:sp>
        <p:sp>
          <p:nvSpPr>
            <p:cNvPr id="78" name="Ellipse 78"/>
            <p:cNvSpPr/>
            <p:nvPr/>
          </p:nvSpPr>
          <p:spPr>
            <a:xfrm>
              <a:off x="7361872" y="2116455"/>
              <a:ext cx="213360" cy="213360"/>
            </a:xfrm>
            <a:prstGeom prst="ellipse">
              <a:avLst/>
            </a:prstGeom>
            <a:solidFill>
              <a:srgbClr val="334E68"/>
            </a:solidFill>
            <a:ln>
              <a:noFill/>
            </a:ln>
          </p:spPr>
        </p:sp>
        <p:sp>
          <p:nvSpPr>
            <p:cNvPr id="79" name="TextBox 79"/>
            <p:cNvSpPr txBox="1"/>
            <p:nvPr/>
          </p:nvSpPr>
          <p:spPr>
            <a:xfrm>
              <a:off x="7423722" y="215874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80" name="TextBox 80"/>
            <p:cNvSpPr txBox="1"/>
            <p:nvPr/>
          </p:nvSpPr>
          <p:spPr>
            <a:xfrm>
              <a:off x="7662862" y="212979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需要编写大量存根程序和驱动程序来测试独</a:t>
              </a:r>
              <a:br/>
              <a:r>
                <a:rPr lang="zh-CN" sz="1500" dirty="0">
                  <a:solidFill>
                    <a:srgbClr val="1F2937"/>
                  </a:solidFill>
                  <a:latin typeface="+mn-lt"/>
                  <a:ea typeface="+mn-ea"/>
                  <a:cs typeface="+mn-cs"/>
                </a:rPr>
                <a:t>立的组件</a:t>
              </a:r>
            </a:p>
          </p:txBody>
        </p:sp>
        <p:sp>
          <p:nvSpPr>
            <p:cNvPr id="81" name="Ellipse 81"/>
            <p:cNvSpPr/>
            <p:nvPr/>
          </p:nvSpPr>
          <p:spPr>
            <a:xfrm>
              <a:off x="7361872" y="2737485"/>
              <a:ext cx="213360" cy="213360"/>
            </a:xfrm>
            <a:prstGeom prst="ellipse">
              <a:avLst/>
            </a:prstGeom>
            <a:solidFill>
              <a:srgbClr val="334E68"/>
            </a:solidFill>
            <a:ln>
              <a:noFill/>
            </a:ln>
          </p:spPr>
        </p:sp>
        <p:sp>
          <p:nvSpPr>
            <p:cNvPr id="82" name="TextBox 82"/>
            <p:cNvSpPr txBox="1"/>
            <p:nvPr/>
          </p:nvSpPr>
          <p:spPr>
            <a:xfrm>
              <a:off x="7423722" y="277977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83" name="TextBox 83"/>
            <p:cNvSpPr txBox="1"/>
            <p:nvPr/>
          </p:nvSpPr>
          <p:spPr>
            <a:xfrm>
              <a:off x="7662862" y="275082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所有组件一次合并，很难找出所有错误的原</a:t>
              </a:r>
              <a:br/>
              <a:r>
                <a:rPr lang="zh-CN" sz="1500" dirty="0">
                  <a:solidFill>
                    <a:srgbClr val="1F2937"/>
                  </a:solidFill>
                  <a:latin typeface="+mn-lt"/>
                  <a:ea typeface="+mn-ea"/>
                  <a:cs typeface="+mn-cs"/>
                </a:rPr>
                <a:t>因</a:t>
              </a:r>
            </a:p>
          </p:txBody>
        </p:sp>
        <p:sp>
          <p:nvSpPr>
            <p:cNvPr id="84" name="Ellipse 84"/>
            <p:cNvSpPr/>
            <p:nvPr/>
          </p:nvSpPr>
          <p:spPr>
            <a:xfrm>
              <a:off x="7361872" y="3358515"/>
              <a:ext cx="213360" cy="213360"/>
            </a:xfrm>
            <a:prstGeom prst="ellipse">
              <a:avLst/>
            </a:prstGeom>
            <a:solidFill>
              <a:srgbClr val="334E68"/>
            </a:solidFill>
            <a:ln>
              <a:noFill/>
            </a:ln>
          </p:spPr>
        </p:sp>
        <p:sp>
          <p:nvSpPr>
            <p:cNvPr id="85" name="TextBox 85"/>
            <p:cNvSpPr txBox="1"/>
            <p:nvPr/>
          </p:nvSpPr>
          <p:spPr>
            <a:xfrm>
              <a:off x="7423722" y="340080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86" name="TextBox 86"/>
            <p:cNvSpPr txBox="1"/>
            <p:nvPr/>
          </p:nvSpPr>
          <p:spPr>
            <a:xfrm>
              <a:off x="7662862" y="3371850"/>
              <a:ext cx="34480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不容易区分接口错误与其他类型的错误</a:t>
              </a:r>
            </a:p>
          </p:txBody>
        </p:sp>
      </p:grpSp>
      <p:grpSp>
        <p:nvGrpSpPr>
          <p:cNvPr id="93" name="c2-callout-2"/>
          <p:cNvGrpSpPr/>
          <p:nvPr/>
        </p:nvGrpSpPr>
        <p:grpSpPr>
          <a:xfrm>
            <a:off x="7114222" y="4006215"/>
            <a:ext cx="4544378" cy="1901190"/>
            <a:chOff x="7114222" y="4006215"/>
            <a:chExt cx="4544378" cy="1901190"/>
          </a:xfrm>
        </p:grpSpPr>
        <p:sp>
          <p:nvSpPr>
            <p:cNvPr id="88" name="Rectangle 88"/>
            <p:cNvSpPr/>
            <p:nvPr/>
          </p:nvSpPr>
          <p:spPr>
            <a:xfrm>
              <a:off x="7114222" y="4006215"/>
              <a:ext cx="4544378" cy="1901190"/>
            </a:xfrm>
            <a:prstGeom prst="roundRect">
              <a:avLst>
                <a:gd name="adj" fmla="val 6012"/>
              </a:avLst>
            </a:prstGeom>
            <a:solidFill>
              <a:srgbClr val="334E68"/>
            </a:solidFill>
            <a:ln>
              <a:noFill/>
            </a:ln>
          </p:spPr>
        </p:sp>
        <p:grpSp>
          <p:nvGrpSpPr>
            <p:cNvPr id="91" name="Group 91"/>
            <p:cNvGrpSpPr/>
            <p:nvPr/>
          </p:nvGrpSpPr>
          <p:grpSpPr>
            <a:xfrm>
              <a:off x="7319010" y="4856800"/>
              <a:ext cx="200023" cy="200023"/>
              <a:chOff x="7319010" y="4856800"/>
              <a:chExt cx="200023" cy="200023"/>
            </a:xfrm>
          </p:grpSpPr>
          <p:sp>
            <p:nvSpPr>
              <p:cNvPr id="89" name="Freeform 89"/>
              <p:cNvSpPr/>
              <p:nvPr/>
            </p:nvSpPr>
            <p:spPr>
              <a:xfrm>
                <a:off x="7319010" y="485680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90" name="Freeform 90"/>
              <p:cNvSpPr/>
              <p:nvPr/>
            </p:nvSpPr>
            <p:spPr>
              <a:xfrm>
                <a:off x="7452360" y="492347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92" name="TextBox 92"/>
            <p:cNvSpPr txBox="1"/>
            <p:nvPr/>
          </p:nvSpPr>
          <p:spPr>
            <a:xfrm>
              <a:off x="7620952" y="4713922"/>
              <a:ext cx="3634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组件之间每一条调用关系都要用一对存根和</a:t>
              </a:r>
              <a:br/>
              <a:r>
                <a:rPr lang="zh-CN" sz="1500" dirty="0">
                  <a:solidFill>
                    <a:srgbClr val="FFFFFF"/>
                  </a:solidFill>
                  <a:latin typeface="+mn-lt"/>
                  <a:ea typeface="+mn-ea"/>
                  <a:cs typeface="+mn-cs"/>
                </a:rPr>
                <a:t>驱动替身补上，所以组件越多、开销越大。</a:t>
              </a:r>
            </a:p>
          </p:txBody>
        </p:sp>
      </p:grpSp>
      <p:grpSp>
        <p:nvGrpSpPr>
          <p:cNvPr id="96" name="footer"/>
          <p:cNvGrpSpPr/>
          <p:nvPr/>
        </p:nvGrpSpPr>
        <p:grpSpPr>
          <a:xfrm>
            <a:off x="528447" y="6581299"/>
            <a:ext cx="11135106" cy="190690"/>
            <a:chOff x="528447" y="6581299"/>
            <a:chExt cx="11135106" cy="190690"/>
          </a:xfrm>
        </p:grpSpPr>
        <p:sp>
          <p:nvSpPr>
            <p:cNvPr id="94" name="TextBox 9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95" name="TextBox 9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集成测试</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自顶向下集成：从主控模块沿控制层次往下装</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card-1"/>
          <p:cNvGrpSpPr/>
          <p:nvPr/>
        </p:nvGrpSpPr>
        <p:grpSpPr>
          <a:xfrm>
            <a:off x="533400" y="1524000"/>
            <a:ext cx="4544378" cy="1586865"/>
            <a:chOff x="533400" y="1524000"/>
            <a:chExt cx="4544378" cy="1586865"/>
          </a:xfrm>
        </p:grpSpPr>
        <p:sp>
          <p:nvSpPr>
            <p:cNvPr id="7" name="Rectangle 7"/>
            <p:cNvSpPr/>
            <p:nvPr/>
          </p:nvSpPr>
          <p:spPr>
            <a:xfrm>
              <a:off x="533400" y="1524000"/>
              <a:ext cx="4544378" cy="1586865"/>
            </a:xfrm>
            <a:prstGeom prst="roundRect">
              <a:avLst>
                <a:gd name="adj" fmla="val 8403"/>
              </a:avLst>
            </a:prstGeom>
            <a:solidFill>
              <a:srgbClr val="FFFFFF"/>
            </a:solidFill>
            <a:ln w="14288">
              <a:solidFill>
                <a:srgbClr val="D9DFEA"/>
              </a:solidFill>
            </a:ln>
          </p:spPr>
        </p:sp>
        <p:sp>
          <p:nvSpPr>
            <p:cNvPr id="8" name="Rectangle 8"/>
            <p:cNvSpPr/>
            <p:nvPr/>
          </p:nvSpPr>
          <p:spPr>
            <a:xfrm>
              <a:off x="542925" y="1657350"/>
              <a:ext cx="47625" cy="1320165"/>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做法</a:t>
              </a:r>
            </a:p>
          </p:txBody>
        </p:sp>
        <p:sp>
          <p:nvSpPr>
            <p:cNvPr id="11" name="TextBox 11"/>
            <p:cNvSpPr txBox="1"/>
            <p:nvPr/>
          </p:nvSpPr>
          <p:spPr>
            <a:xfrm>
              <a:off x="1352931" y="1756886"/>
              <a:ext cx="173492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深度优先或宽度优先</a:t>
              </a:r>
            </a:p>
          </p:txBody>
        </p:sp>
        <p:sp>
          <p:nvSpPr>
            <p:cNvPr id="12" name="Ellipse 12"/>
            <p:cNvSpPr/>
            <p:nvPr/>
          </p:nvSpPr>
          <p:spPr>
            <a:xfrm>
              <a:off x="777240" y="2161222"/>
              <a:ext cx="60960" cy="60960"/>
            </a:xfrm>
            <a:prstGeom prst="ellipse">
              <a:avLst/>
            </a:prstGeom>
            <a:solidFill>
              <a:srgbClr val="334E68"/>
            </a:solidFill>
            <a:ln>
              <a:noFill/>
            </a:ln>
          </p:spPr>
        </p:sp>
        <p:sp>
          <p:nvSpPr>
            <p:cNvPr id="13" name="TextBox 13"/>
            <p:cNvSpPr txBox="1"/>
            <p:nvPr/>
          </p:nvSpPr>
          <p:spPr>
            <a:xfrm>
              <a:off x="933831" y="2100739"/>
              <a:ext cx="344093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深度优先：沿一条主控制通路一直往下装到</a:t>
              </a:r>
              <a:br/>
              <a:r>
                <a:rPr lang="zh-CN" sz="1420" dirty="0">
                  <a:solidFill>
                    <a:srgbClr val="1F2937"/>
                  </a:solidFill>
                  <a:latin typeface="+mn-lt"/>
                  <a:ea typeface="+mn-ea"/>
                  <a:cs typeface="+mn-cs"/>
                </a:rPr>
                <a:t>底，再回头装旁支</a:t>
              </a:r>
            </a:p>
          </p:txBody>
        </p:sp>
        <p:sp>
          <p:nvSpPr>
            <p:cNvPr id="14" name="Ellipse 14"/>
            <p:cNvSpPr/>
            <p:nvPr/>
          </p:nvSpPr>
          <p:spPr>
            <a:xfrm>
              <a:off x="777240" y="2749868"/>
              <a:ext cx="60960" cy="60960"/>
            </a:xfrm>
            <a:prstGeom prst="ellipse">
              <a:avLst/>
            </a:prstGeom>
            <a:solidFill>
              <a:srgbClr val="334E68"/>
            </a:solidFill>
            <a:ln>
              <a:noFill/>
            </a:ln>
          </p:spPr>
        </p:sp>
        <p:sp>
          <p:nvSpPr>
            <p:cNvPr id="15" name="TextBox 15"/>
            <p:cNvSpPr txBox="1"/>
            <p:nvPr/>
          </p:nvSpPr>
          <p:spPr>
            <a:xfrm>
              <a:off x="933831" y="2690336"/>
              <a:ext cx="288188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宽度优先：沿水平方向逐层往下装</a:t>
              </a:r>
            </a:p>
          </p:txBody>
        </p:sp>
      </p:grpSp>
      <p:grpSp>
        <p:nvGrpSpPr>
          <p:cNvPr id="40" name="c1-flow-2"/>
          <p:cNvGrpSpPr/>
          <p:nvPr/>
        </p:nvGrpSpPr>
        <p:grpSpPr>
          <a:xfrm>
            <a:off x="666750" y="3369945"/>
            <a:ext cx="4277677" cy="2124075"/>
            <a:chOff x="666750" y="3369945"/>
            <a:chExt cx="4277677" cy="2124075"/>
          </a:xfrm>
        </p:grpSpPr>
        <p:sp>
          <p:nvSpPr>
            <p:cNvPr id="17" name="Freeform 17"/>
            <p:cNvSpPr/>
            <p:nvPr/>
          </p:nvSpPr>
          <p:spPr>
            <a:xfrm>
              <a:off x="1290638" y="3782378"/>
              <a:ext cx="1515428" cy="159067"/>
            </a:xfrm>
            <a:custGeom>
              <a:avLst/>
              <a:gdLst/>
              <a:ahLst/>
              <a:cxnLst/>
              <a:rect l="l" t="t" r="r" b="b"/>
              <a:pathLst>
                <a:path w="1515428" h="159067">
                  <a:moveTo>
                    <a:pt x="1515428" y="0"/>
                  </a:moveTo>
                  <a:lnTo>
                    <a:pt x="1515428" y="79057"/>
                  </a:lnTo>
                  <a:lnTo>
                    <a:pt x="0" y="79057"/>
                  </a:lnTo>
                  <a:lnTo>
                    <a:pt x="0" y="159067"/>
                  </a:lnTo>
                </a:path>
              </a:pathLst>
            </a:custGeom>
            <a:noFill/>
            <a:ln w="15240">
              <a:solidFill>
                <a:srgbClr val="5B6475"/>
              </a:solidFill>
            </a:ln>
          </p:spPr>
        </p:sp>
        <p:sp>
          <p:nvSpPr>
            <p:cNvPr id="18" name="Freeform 18"/>
            <p:cNvSpPr/>
            <p:nvPr/>
          </p:nvSpPr>
          <p:spPr>
            <a:xfrm>
              <a:off x="2806065" y="3782378"/>
              <a:ext cx="9525" cy="159067"/>
            </a:xfrm>
            <a:custGeom>
              <a:avLst/>
              <a:gdLst/>
              <a:ahLst/>
              <a:cxnLst/>
              <a:rect l="l" t="t" r="r" b="b"/>
              <a:pathLst>
                <a:path w="9525" h="159067">
                  <a:moveTo>
                    <a:pt x="0" y="0"/>
                  </a:moveTo>
                  <a:lnTo>
                    <a:pt x="0" y="159067"/>
                  </a:lnTo>
                </a:path>
              </a:pathLst>
            </a:custGeom>
            <a:noFill/>
            <a:ln w="15240">
              <a:solidFill>
                <a:srgbClr val="5B6475"/>
              </a:solidFill>
            </a:ln>
          </p:spPr>
        </p:sp>
        <p:sp>
          <p:nvSpPr>
            <p:cNvPr id="19" name="Freeform 19"/>
            <p:cNvSpPr/>
            <p:nvPr/>
          </p:nvSpPr>
          <p:spPr>
            <a:xfrm>
              <a:off x="2806065" y="3782378"/>
              <a:ext cx="1514475" cy="159067"/>
            </a:xfrm>
            <a:custGeom>
              <a:avLst/>
              <a:gdLst/>
              <a:ahLst/>
              <a:cxnLst/>
              <a:rect l="l" t="t" r="r" b="b"/>
              <a:pathLst>
                <a:path w="1514475" h="159067">
                  <a:moveTo>
                    <a:pt x="0" y="0"/>
                  </a:moveTo>
                  <a:lnTo>
                    <a:pt x="0" y="79057"/>
                  </a:lnTo>
                  <a:lnTo>
                    <a:pt x="1514475" y="79057"/>
                  </a:lnTo>
                  <a:lnTo>
                    <a:pt x="1514475" y="159067"/>
                  </a:lnTo>
                </a:path>
              </a:pathLst>
            </a:custGeom>
            <a:noFill/>
            <a:ln w="15240">
              <a:solidFill>
                <a:srgbClr val="5B6475"/>
              </a:solidFill>
            </a:ln>
          </p:spPr>
        </p:sp>
        <p:sp>
          <p:nvSpPr>
            <p:cNvPr id="20" name="Freeform 20"/>
            <p:cNvSpPr/>
            <p:nvPr/>
          </p:nvSpPr>
          <p:spPr>
            <a:xfrm>
              <a:off x="1290638" y="4352925"/>
              <a:ext cx="9525" cy="159067"/>
            </a:xfrm>
            <a:custGeom>
              <a:avLst/>
              <a:gdLst/>
              <a:ahLst/>
              <a:cxnLst/>
              <a:rect l="l" t="t" r="r" b="b"/>
              <a:pathLst>
                <a:path w="9525" h="159067">
                  <a:moveTo>
                    <a:pt x="0" y="0"/>
                  </a:moveTo>
                  <a:lnTo>
                    <a:pt x="0" y="159067"/>
                  </a:lnTo>
                </a:path>
              </a:pathLst>
            </a:custGeom>
            <a:noFill/>
            <a:ln w="15240">
              <a:solidFill>
                <a:srgbClr val="5B6475"/>
              </a:solidFill>
            </a:ln>
          </p:spPr>
        </p:sp>
        <p:sp>
          <p:nvSpPr>
            <p:cNvPr id="21" name="Freeform 21"/>
            <p:cNvSpPr/>
            <p:nvPr/>
          </p:nvSpPr>
          <p:spPr>
            <a:xfrm>
              <a:off x="1290638" y="4352925"/>
              <a:ext cx="1515428" cy="159067"/>
            </a:xfrm>
            <a:custGeom>
              <a:avLst/>
              <a:gdLst/>
              <a:ahLst/>
              <a:cxnLst/>
              <a:rect l="l" t="t" r="r" b="b"/>
              <a:pathLst>
                <a:path w="1515428" h="159067">
                  <a:moveTo>
                    <a:pt x="0" y="0"/>
                  </a:moveTo>
                  <a:lnTo>
                    <a:pt x="0" y="80010"/>
                  </a:lnTo>
                  <a:lnTo>
                    <a:pt x="1515428" y="80010"/>
                  </a:lnTo>
                  <a:lnTo>
                    <a:pt x="1515428" y="159067"/>
                  </a:lnTo>
                </a:path>
              </a:pathLst>
            </a:custGeom>
            <a:noFill/>
            <a:ln w="15240">
              <a:solidFill>
                <a:srgbClr val="5B6475"/>
              </a:solidFill>
            </a:ln>
          </p:spPr>
        </p:sp>
        <p:sp>
          <p:nvSpPr>
            <p:cNvPr id="22" name="Freeform 22"/>
            <p:cNvSpPr/>
            <p:nvPr/>
          </p:nvSpPr>
          <p:spPr>
            <a:xfrm>
              <a:off x="2806065" y="4352925"/>
              <a:ext cx="1514475" cy="159067"/>
            </a:xfrm>
            <a:custGeom>
              <a:avLst/>
              <a:gdLst/>
              <a:ahLst/>
              <a:cxnLst/>
              <a:rect l="l" t="t" r="r" b="b"/>
              <a:pathLst>
                <a:path w="1514475" h="159067">
                  <a:moveTo>
                    <a:pt x="0" y="0"/>
                  </a:moveTo>
                  <a:lnTo>
                    <a:pt x="0" y="80010"/>
                  </a:lnTo>
                  <a:lnTo>
                    <a:pt x="1514475" y="80010"/>
                  </a:lnTo>
                  <a:lnTo>
                    <a:pt x="1514475" y="159067"/>
                  </a:lnTo>
                </a:path>
              </a:pathLst>
            </a:custGeom>
            <a:noFill/>
            <a:ln w="15240">
              <a:solidFill>
                <a:srgbClr val="5B6475"/>
              </a:solidFill>
            </a:ln>
          </p:spPr>
        </p:sp>
        <p:sp>
          <p:nvSpPr>
            <p:cNvPr id="23" name="Freeform 23"/>
            <p:cNvSpPr/>
            <p:nvPr/>
          </p:nvSpPr>
          <p:spPr>
            <a:xfrm>
              <a:off x="1290638" y="4923472"/>
              <a:ext cx="9525" cy="159068"/>
            </a:xfrm>
            <a:custGeom>
              <a:avLst/>
              <a:gdLst/>
              <a:ahLst/>
              <a:cxnLst/>
              <a:rect l="l" t="t" r="r" b="b"/>
              <a:pathLst>
                <a:path w="9525" h="159068">
                  <a:moveTo>
                    <a:pt x="0" y="0"/>
                  </a:moveTo>
                  <a:lnTo>
                    <a:pt x="0" y="159068"/>
                  </a:lnTo>
                </a:path>
              </a:pathLst>
            </a:custGeom>
            <a:noFill/>
            <a:ln w="15240">
              <a:solidFill>
                <a:srgbClr val="5B6475"/>
              </a:solidFill>
            </a:ln>
          </p:spPr>
        </p:sp>
        <p:sp>
          <p:nvSpPr>
            <p:cNvPr id="24" name="Rectangle 24"/>
            <p:cNvSpPr/>
            <p:nvPr/>
          </p:nvSpPr>
          <p:spPr>
            <a:xfrm>
              <a:off x="2181225" y="3369945"/>
              <a:ext cx="1247775" cy="411480"/>
            </a:xfrm>
            <a:prstGeom prst="roundRect">
              <a:avLst>
                <a:gd name="adj" fmla="val 23148"/>
              </a:avLst>
            </a:prstGeom>
            <a:solidFill>
              <a:srgbClr val="E7EDF3"/>
            </a:solidFill>
            <a:ln w="19050">
              <a:solidFill>
                <a:srgbClr val="334E68"/>
              </a:solidFill>
            </a:ln>
          </p:spPr>
        </p:sp>
        <p:sp>
          <p:nvSpPr>
            <p:cNvPr id="25" name="Rectangle 25"/>
            <p:cNvSpPr/>
            <p:nvPr/>
          </p:nvSpPr>
          <p:spPr>
            <a:xfrm>
              <a:off x="666750" y="3941445"/>
              <a:ext cx="1247775" cy="411480"/>
            </a:xfrm>
            <a:prstGeom prst="roundRect">
              <a:avLst>
                <a:gd name="adj" fmla="val 23148"/>
              </a:avLst>
            </a:prstGeom>
            <a:solidFill>
              <a:srgbClr val="FFFFFF"/>
            </a:solidFill>
            <a:ln w="15240">
              <a:solidFill>
                <a:srgbClr val="334E68"/>
              </a:solidFill>
            </a:ln>
          </p:spPr>
        </p:sp>
        <p:sp>
          <p:nvSpPr>
            <p:cNvPr id="26" name="Rectangle 26"/>
            <p:cNvSpPr/>
            <p:nvPr/>
          </p:nvSpPr>
          <p:spPr>
            <a:xfrm>
              <a:off x="2181225" y="3941445"/>
              <a:ext cx="1247775" cy="411480"/>
            </a:xfrm>
            <a:prstGeom prst="roundRect">
              <a:avLst>
                <a:gd name="adj" fmla="val 23148"/>
              </a:avLst>
            </a:prstGeom>
            <a:solidFill>
              <a:srgbClr val="FFFFFF"/>
            </a:solidFill>
            <a:ln w="15240">
              <a:solidFill>
                <a:srgbClr val="334E68"/>
              </a:solidFill>
            </a:ln>
          </p:spPr>
        </p:sp>
        <p:sp>
          <p:nvSpPr>
            <p:cNvPr id="27" name="Rectangle 27"/>
            <p:cNvSpPr/>
            <p:nvPr/>
          </p:nvSpPr>
          <p:spPr>
            <a:xfrm>
              <a:off x="3696652" y="3941445"/>
              <a:ext cx="1247775" cy="411480"/>
            </a:xfrm>
            <a:prstGeom prst="roundRect">
              <a:avLst>
                <a:gd name="adj" fmla="val 23148"/>
              </a:avLst>
            </a:prstGeom>
            <a:solidFill>
              <a:srgbClr val="FFFFFF"/>
            </a:solidFill>
            <a:ln w="15240">
              <a:solidFill>
                <a:srgbClr val="334E68"/>
              </a:solidFill>
            </a:ln>
          </p:spPr>
        </p:sp>
        <p:sp>
          <p:nvSpPr>
            <p:cNvPr id="28" name="Rectangle 28"/>
            <p:cNvSpPr/>
            <p:nvPr/>
          </p:nvSpPr>
          <p:spPr>
            <a:xfrm>
              <a:off x="666750" y="4511992"/>
              <a:ext cx="1247775" cy="411480"/>
            </a:xfrm>
            <a:prstGeom prst="roundRect">
              <a:avLst>
                <a:gd name="adj" fmla="val 23148"/>
              </a:avLst>
            </a:prstGeom>
            <a:solidFill>
              <a:srgbClr val="FFFFFF"/>
            </a:solidFill>
            <a:ln w="15240">
              <a:solidFill>
                <a:srgbClr val="334E68"/>
              </a:solidFill>
            </a:ln>
          </p:spPr>
        </p:sp>
        <p:sp>
          <p:nvSpPr>
            <p:cNvPr id="29" name="Rectangle 29"/>
            <p:cNvSpPr/>
            <p:nvPr/>
          </p:nvSpPr>
          <p:spPr>
            <a:xfrm>
              <a:off x="2181225" y="4511992"/>
              <a:ext cx="1247775" cy="411480"/>
            </a:xfrm>
            <a:prstGeom prst="roundRect">
              <a:avLst>
                <a:gd name="adj" fmla="val 23148"/>
              </a:avLst>
            </a:prstGeom>
            <a:solidFill>
              <a:srgbClr val="FFFFFF"/>
            </a:solidFill>
            <a:ln w="15240">
              <a:solidFill>
                <a:srgbClr val="334E68"/>
              </a:solidFill>
            </a:ln>
          </p:spPr>
        </p:sp>
        <p:sp>
          <p:nvSpPr>
            <p:cNvPr id="30" name="Rectangle 30"/>
            <p:cNvSpPr/>
            <p:nvPr/>
          </p:nvSpPr>
          <p:spPr>
            <a:xfrm>
              <a:off x="3696652" y="4511992"/>
              <a:ext cx="1247775" cy="411480"/>
            </a:xfrm>
            <a:prstGeom prst="roundRect">
              <a:avLst>
                <a:gd name="adj" fmla="val 23148"/>
              </a:avLst>
            </a:prstGeom>
            <a:solidFill>
              <a:srgbClr val="FFFFFF"/>
            </a:solidFill>
            <a:ln w="15240">
              <a:solidFill>
                <a:srgbClr val="334E68"/>
              </a:solidFill>
            </a:ln>
          </p:spPr>
        </p:sp>
        <p:sp>
          <p:nvSpPr>
            <p:cNvPr id="31" name="Rectangle 31"/>
            <p:cNvSpPr/>
            <p:nvPr/>
          </p:nvSpPr>
          <p:spPr>
            <a:xfrm>
              <a:off x="666750" y="5082540"/>
              <a:ext cx="1247775" cy="411480"/>
            </a:xfrm>
            <a:prstGeom prst="roundRect">
              <a:avLst>
                <a:gd name="adj" fmla="val 23148"/>
              </a:avLst>
            </a:prstGeom>
            <a:solidFill>
              <a:srgbClr val="FFFFFF"/>
            </a:solidFill>
            <a:ln w="15240">
              <a:solidFill>
                <a:srgbClr val="334E68"/>
              </a:solidFill>
            </a:ln>
          </p:spPr>
        </p:sp>
        <p:sp>
          <p:nvSpPr>
            <p:cNvPr id="32" name="TextBox 32"/>
            <p:cNvSpPr txBox="1"/>
            <p:nvPr/>
          </p:nvSpPr>
          <p:spPr>
            <a:xfrm>
              <a:off x="2689022" y="3492818"/>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M₁</a:t>
              </a:r>
            </a:p>
          </p:txBody>
        </p:sp>
        <p:sp>
          <p:nvSpPr>
            <p:cNvPr id="33" name="TextBox 33"/>
            <p:cNvSpPr txBox="1"/>
            <p:nvPr/>
          </p:nvSpPr>
          <p:spPr>
            <a:xfrm>
              <a:off x="1173594" y="4063365"/>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M₂</a:t>
              </a:r>
            </a:p>
          </p:txBody>
        </p:sp>
        <p:sp>
          <p:nvSpPr>
            <p:cNvPr id="34" name="TextBox 34"/>
            <p:cNvSpPr txBox="1"/>
            <p:nvPr/>
          </p:nvSpPr>
          <p:spPr>
            <a:xfrm>
              <a:off x="2689022" y="4063365"/>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M₃</a:t>
              </a:r>
            </a:p>
          </p:txBody>
        </p:sp>
        <p:sp>
          <p:nvSpPr>
            <p:cNvPr id="35" name="TextBox 35"/>
            <p:cNvSpPr txBox="1"/>
            <p:nvPr/>
          </p:nvSpPr>
          <p:spPr>
            <a:xfrm>
              <a:off x="4203497" y="4063365"/>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M₄</a:t>
              </a:r>
            </a:p>
          </p:txBody>
        </p:sp>
        <p:sp>
          <p:nvSpPr>
            <p:cNvPr id="36" name="TextBox 36"/>
            <p:cNvSpPr txBox="1"/>
            <p:nvPr/>
          </p:nvSpPr>
          <p:spPr>
            <a:xfrm>
              <a:off x="1173594" y="4633912"/>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M₅</a:t>
              </a:r>
            </a:p>
          </p:txBody>
        </p:sp>
        <p:sp>
          <p:nvSpPr>
            <p:cNvPr id="37" name="TextBox 37"/>
            <p:cNvSpPr txBox="1"/>
            <p:nvPr/>
          </p:nvSpPr>
          <p:spPr>
            <a:xfrm>
              <a:off x="2689022" y="4633912"/>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M₆</a:t>
              </a:r>
            </a:p>
          </p:txBody>
        </p:sp>
        <p:sp>
          <p:nvSpPr>
            <p:cNvPr id="38" name="TextBox 38"/>
            <p:cNvSpPr txBox="1"/>
            <p:nvPr/>
          </p:nvSpPr>
          <p:spPr>
            <a:xfrm>
              <a:off x="4203497" y="4633912"/>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M₇</a:t>
              </a:r>
            </a:p>
          </p:txBody>
        </p:sp>
        <p:sp>
          <p:nvSpPr>
            <p:cNvPr id="39" name="TextBox 39"/>
            <p:cNvSpPr txBox="1"/>
            <p:nvPr/>
          </p:nvSpPr>
          <p:spPr>
            <a:xfrm>
              <a:off x="1173594" y="5204460"/>
              <a:ext cx="234086"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M₈</a:t>
              </a:r>
            </a:p>
          </p:txBody>
        </p:sp>
      </p:grpSp>
      <p:grpSp>
        <p:nvGrpSpPr>
          <p:cNvPr id="52" name="c2-table-1"/>
          <p:cNvGrpSpPr/>
          <p:nvPr/>
        </p:nvGrpSpPr>
        <p:grpSpPr>
          <a:xfrm>
            <a:off x="5382578" y="1524000"/>
            <a:ext cx="6276022" cy="1273493"/>
            <a:chOff x="5382578" y="1524000"/>
            <a:chExt cx="6276022" cy="1273493"/>
          </a:xfrm>
        </p:grpSpPr>
        <p:sp>
          <p:nvSpPr>
            <p:cNvPr id="41" name="Rectangle 41"/>
            <p:cNvSpPr/>
            <p:nvPr/>
          </p:nvSpPr>
          <p:spPr>
            <a:xfrm>
              <a:off x="5382578" y="1524000"/>
              <a:ext cx="6276022" cy="424815"/>
            </a:xfrm>
            <a:prstGeom prst="rect">
              <a:avLst/>
            </a:prstGeom>
            <a:solidFill>
              <a:srgbClr val="334E68"/>
            </a:solidFill>
            <a:ln>
              <a:noFill/>
            </a:ln>
          </p:spPr>
        </p:sp>
        <p:sp>
          <p:nvSpPr>
            <p:cNvPr id="42" name="TextBox 42"/>
            <p:cNvSpPr txBox="1"/>
            <p:nvPr/>
          </p:nvSpPr>
          <p:spPr>
            <a:xfrm>
              <a:off x="5806821" y="1652588"/>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结合方法</a:t>
              </a:r>
            </a:p>
          </p:txBody>
        </p:sp>
        <p:sp>
          <p:nvSpPr>
            <p:cNvPr id="43" name="TextBox 43"/>
            <p:cNvSpPr txBox="1"/>
            <p:nvPr/>
          </p:nvSpPr>
          <p:spPr>
            <a:xfrm>
              <a:off x="8307385" y="1652588"/>
              <a:ext cx="1932310"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对左图 SC 结构的组装次序</a:t>
              </a:r>
            </a:p>
          </p:txBody>
        </p:sp>
        <p:sp>
          <p:nvSpPr>
            <p:cNvPr id="44" name="TextBox 44"/>
            <p:cNvSpPr txBox="1"/>
            <p:nvPr/>
          </p:nvSpPr>
          <p:spPr>
            <a:xfrm>
              <a:off x="5485066" y="207645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深度优先</a:t>
              </a:r>
            </a:p>
          </p:txBody>
        </p:sp>
        <p:sp>
          <p:nvSpPr>
            <p:cNvPr id="45" name="TextBox 45"/>
            <p:cNvSpPr txBox="1"/>
            <p:nvPr/>
          </p:nvSpPr>
          <p:spPr>
            <a:xfrm>
              <a:off x="6991922" y="2076450"/>
              <a:ext cx="3161386"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M₁ → M₂ → M₅ → M₈ → M₆ → M₃ → M₇ → M₄</a:t>
              </a:r>
            </a:p>
          </p:txBody>
        </p:sp>
        <p:sp>
          <p:nvSpPr>
            <p:cNvPr id="46" name="Rectangle 46"/>
            <p:cNvSpPr/>
            <p:nvPr/>
          </p:nvSpPr>
          <p:spPr>
            <a:xfrm>
              <a:off x="5382578" y="2367915"/>
              <a:ext cx="6276022" cy="9525"/>
            </a:xfrm>
            <a:prstGeom prst="rect">
              <a:avLst/>
            </a:prstGeom>
            <a:solidFill>
              <a:srgbClr val="D9DFEA"/>
            </a:solidFill>
            <a:ln>
              <a:noFill/>
            </a:ln>
          </p:spPr>
        </p:sp>
        <p:sp>
          <p:nvSpPr>
            <p:cNvPr id="47" name="Rectangle 47"/>
            <p:cNvSpPr/>
            <p:nvPr/>
          </p:nvSpPr>
          <p:spPr>
            <a:xfrm>
              <a:off x="5382578" y="2372678"/>
              <a:ext cx="6276022" cy="424815"/>
            </a:xfrm>
            <a:prstGeom prst="rect">
              <a:avLst/>
            </a:prstGeom>
            <a:solidFill>
              <a:srgbClr val="F4F6FB"/>
            </a:solidFill>
            <a:ln>
              <a:noFill/>
            </a:ln>
          </p:spPr>
        </p:sp>
        <p:sp>
          <p:nvSpPr>
            <p:cNvPr id="48" name="TextBox 48"/>
            <p:cNvSpPr txBox="1"/>
            <p:nvPr/>
          </p:nvSpPr>
          <p:spPr>
            <a:xfrm>
              <a:off x="5485066" y="2501265"/>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宽度优先</a:t>
              </a:r>
            </a:p>
          </p:txBody>
        </p:sp>
        <p:sp>
          <p:nvSpPr>
            <p:cNvPr id="49" name="TextBox 49"/>
            <p:cNvSpPr txBox="1"/>
            <p:nvPr/>
          </p:nvSpPr>
          <p:spPr>
            <a:xfrm>
              <a:off x="6991922" y="2501265"/>
              <a:ext cx="3022397"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M₁ → M₂、M₃、M₄ → M₅、M₆、M₇ → M₈</a:t>
              </a:r>
            </a:p>
          </p:txBody>
        </p:sp>
        <p:sp>
          <p:nvSpPr>
            <p:cNvPr id="50" name="Rectangle 50"/>
            <p:cNvSpPr/>
            <p:nvPr/>
          </p:nvSpPr>
          <p:spPr>
            <a:xfrm>
              <a:off x="5382578" y="1524000"/>
              <a:ext cx="6276022" cy="1273492"/>
            </a:xfrm>
            <a:prstGeom prst="rect">
              <a:avLst/>
            </a:prstGeom>
            <a:noFill/>
            <a:ln w="14288">
              <a:solidFill>
                <a:srgbClr val="D9DFEA"/>
              </a:solidFill>
            </a:ln>
          </p:spPr>
        </p:sp>
        <p:sp>
          <p:nvSpPr>
            <p:cNvPr id="51" name="Rectangle 51"/>
            <p:cNvSpPr/>
            <p:nvPr/>
          </p:nvSpPr>
          <p:spPr>
            <a:xfrm>
              <a:off x="6884670" y="1524000"/>
              <a:ext cx="9525" cy="1273492"/>
            </a:xfrm>
            <a:prstGeom prst="rect">
              <a:avLst/>
            </a:prstGeom>
            <a:solidFill>
              <a:srgbClr val="D9DFEA"/>
            </a:solidFill>
            <a:ln>
              <a:noFill/>
            </a:ln>
          </p:spPr>
        </p:sp>
      </p:grpSp>
      <p:grpSp>
        <p:nvGrpSpPr>
          <p:cNvPr id="73" name="c2-compare-2"/>
          <p:cNvGrpSpPr/>
          <p:nvPr/>
        </p:nvGrpSpPr>
        <p:grpSpPr>
          <a:xfrm>
            <a:off x="5382578" y="2977515"/>
            <a:ext cx="6276022" cy="2596515"/>
            <a:chOff x="5382578" y="2977515"/>
            <a:chExt cx="6276022" cy="2596515"/>
          </a:xfrm>
        </p:grpSpPr>
        <p:sp>
          <p:nvSpPr>
            <p:cNvPr id="53" name="Rectangle 53"/>
            <p:cNvSpPr/>
            <p:nvPr/>
          </p:nvSpPr>
          <p:spPr>
            <a:xfrm>
              <a:off x="5382578" y="2977515"/>
              <a:ext cx="2927985" cy="2596515"/>
            </a:xfrm>
            <a:prstGeom prst="roundRect">
              <a:avLst>
                <a:gd name="adj" fmla="val 5136"/>
              </a:avLst>
            </a:prstGeom>
            <a:solidFill>
              <a:srgbClr val="FFFFFF"/>
            </a:solidFill>
            <a:ln w="14288">
              <a:solidFill>
                <a:srgbClr val="D9DFEA"/>
              </a:solidFill>
            </a:ln>
          </p:spPr>
        </p:sp>
        <p:sp>
          <p:nvSpPr>
            <p:cNvPr id="54" name="Rectangle 54"/>
            <p:cNvSpPr/>
            <p:nvPr/>
          </p:nvSpPr>
          <p:spPr>
            <a:xfrm>
              <a:off x="5392102" y="3110865"/>
              <a:ext cx="47625" cy="2329815"/>
            </a:xfrm>
            <a:prstGeom prst="roundRect">
              <a:avLst>
                <a:gd name="adj" fmla="val 50000"/>
              </a:avLst>
            </a:prstGeom>
            <a:solidFill>
              <a:srgbClr val="14A38B"/>
            </a:solidFill>
            <a:ln>
              <a:noFill/>
            </a:ln>
          </p:spPr>
        </p:sp>
        <p:sp>
          <p:nvSpPr>
            <p:cNvPr id="55" name="TextBox 55"/>
            <p:cNvSpPr txBox="1"/>
            <p:nvPr/>
          </p:nvSpPr>
          <p:spPr>
            <a:xfrm>
              <a:off x="5611558" y="3198971"/>
              <a:ext cx="39679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优点</a:t>
              </a:r>
            </a:p>
          </p:txBody>
        </p:sp>
        <p:sp>
          <p:nvSpPr>
            <p:cNvPr id="56" name="Ellipse 56"/>
            <p:cNvSpPr/>
            <p:nvPr/>
          </p:nvSpPr>
          <p:spPr>
            <a:xfrm>
              <a:off x="5626417" y="3594735"/>
              <a:ext cx="60960" cy="60960"/>
            </a:xfrm>
            <a:prstGeom prst="ellipse">
              <a:avLst/>
            </a:prstGeom>
            <a:solidFill>
              <a:srgbClr val="334E68"/>
            </a:solidFill>
            <a:ln>
              <a:noFill/>
            </a:ln>
          </p:spPr>
        </p:sp>
        <p:sp>
          <p:nvSpPr>
            <p:cNvPr id="57" name="TextBox 57"/>
            <p:cNvSpPr txBox="1"/>
            <p:nvPr/>
          </p:nvSpPr>
          <p:spPr>
            <a:xfrm>
              <a:off x="5783008" y="3535204"/>
              <a:ext cx="21785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能在测试早期对主要的控制</a:t>
              </a:r>
              <a:br/>
              <a:r>
                <a:rPr lang="zh-CN" sz="1420" dirty="0">
                  <a:solidFill>
                    <a:srgbClr val="1F2937"/>
                  </a:solidFill>
                  <a:latin typeface="+mn-lt"/>
                  <a:ea typeface="+mn-ea"/>
                  <a:cs typeface="+mn-cs"/>
                </a:rPr>
                <a:t>或关键的抉择进行检验</a:t>
              </a:r>
            </a:p>
          </p:txBody>
        </p:sp>
        <p:sp>
          <p:nvSpPr>
            <p:cNvPr id="58" name="Ellipse 58"/>
            <p:cNvSpPr/>
            <p:nvPr/>
          </p:nvSpPr>
          <p:spPr>
            <a:xfrm>
              <a:off x="5626417" y="4184332"/>
              <a:ext cx="60960" cy="60960"/>
            </a:xfrm>
            <a:prstGeom prst="ellipse">
              <a:avLst/>
            </a:prstGeom>
            <a:solidFill>
              <a:srgbClr val="334E68"/>
            </a:solidFill>
            <a:ln>
              <a:noFill/>
            </a:ln>
          </p:spPr>
        </p:sp>
        <p:sp>
          <p:nvSpPr>
            <p:cNvPr id="59" name="TextBox 59"/>
            <p:cNvSpPr txBox="1"/>
            <p:nvPr/>
          </p:nvSpPr>
          <p:spPr>
            <a:xfrm>
              <a:off x="5783008" y="4123849"/>
              <a:ext cx="135260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不需要驱动程序</a:t>
              </a:r>
            </a:p>
          </p:txBody>
        </p:sp>
        <p:sp>
          <p:nvSpPr>
            <p:cNvPr id="60" name="Ellipse 60"/>
            <p:cNvSpPr/>
            <p:nvPr/>
          </p:nvSpPr>
          <p:spPr>
            <a:xfrm>
              <a:off x="5626417" y="4501515"/>
              <a:ext cx="60960" cy="60960"/>
            </a:xfrm>
            <a:prstGeom prst="ellipse">
              <a:avLst/>
            </a:prstGeom>
            <a:solidFill>
              <a:srgbClr val="334E68"/>
            </a:solidFill>
            <a:ln>
              <a:noFill/>
            </a:ln>
          </p:spPr>
        </p:sp>
        <p:sp>
          <p:nvSpPr>
            <p:cNvPr id="61" name="TextBox 61"/>
            <p:cNvSpPr txBox="1"/>
            <p:nvPr/>
          </p:nvSpPr>
          <p:spPr>
            <a:xfrm>
              <a:off x="5783008" y="4441984"/>
              <a:ext cx="21785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选深度优先时可以早早实现</a:t>
              </a:r>
              <a:br/>
              <a:r>
                <a:rPr lang="zh-CN" sz="1420" dirty="0">
                  <a:solidFill>
                    <a:srgbClr val="1F2937"/>
                  </a:solidFill>
                  <a:latin typeface="+mn-lt"/>
                  <a:ea typeface="+mn-ea"/>
                  <a:cs typeface="+mn-cs"/>
                </a:rPr>
                <a:t>并验证软件的一个完整功能</a:t>
              </a:r>
            </a:p>
          </p:txBody>
        </p:sp>
        <p:sp>
          <p:nvSpPr>
            <p:cNvPr id="62" name="Rectangle 62"/>
            <p:cNvSpPr/>
            <p:nvPr/>
          </p:nvSpPr>
          <p:spPr>
            <a:xfrm>
              <a:off x="8730615" y="2977515"/>
              <a:ext cx="2927985" cy="2596515"/>
            </a:xfrm>
            <a:prstGeom prst="roundRect">
              <a:avLst>
                <a:gd name="adj" fmla="val 5136"/>
              </a:avLst>
            </a:prstGeom>
            <a:solidFill>
              <a:srgbClr val="FFFFFF"/>
            </a:solidFill>
            <a:ln w="14288">
              <a:solidFill>
                <a:srgbClr val="D9DFEA"/>
              </a:solidFill>
            </a:ln>
          </p:spPr>
        </p:sp>
        <p:sp>
          <p:nvSpPr>
            <p:cNvPr id="63" name="Rectangle 63"/>
            <p:cNvSpPr/>
            <p:nvPr/>
          </p:nvSpPr>
          <p:spPr>
            <a:xfrm>
              <a:off x="8740140" y="3110865"/>
              <a:ext cx="47625" cy="2329815"/>
            </a:xfrm>
            <a:prstGeom prst="roundRect">
              <a:avLst>
                <a:gd name="adj" fmla="val 50000"/>
              </a:avLst>
            </a:prstGeom>
            <a:solidFill>
              <a:srgbClr val="B42318"/>
            </a:solidFill>
            <a:ln>
              <a:noFill/>
            </a:ln>
          </p:spPr>
        </p:sp>
        <p:sp>
          <p:nvSpPr>
            <p:cNvPr id="64" name="TextBox 64"/>
            <p:cNvSpPr txBox="1"/>
            <p:nvPr/>
          </p:nvSpPr>
          <p:spPr>
            <a:xfrm>
              <a:off x="8959596" y="3198971"/>
              <a:ext cx="39679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缺点</a:t>
              </a:r>
            </a:p>
          </p:txBody>
        </p:sp>
        <p:sp>
          <p:nvSpPr>
            <p:cNvPr id="65" name="Ellipse 65"/>
            <p:cNvSpPr/>
            <p:nvPr/>
          </p:nvSpPr>
          <p:spPr>
            <a:xfrm>
              <a:off x="8974455" y="3594735"/>
              <a:ext cx="60960" cy="60960"/>
            </a:xfrm>
            <a:prstGeom prst="ellipse">
              <a:avLst/>
            </a:prstGeom>
            <a:solidFill>
              <a:srgbClr val="334E68"/>
            </a:solidFill>
            <a:ln>
              <a:noFill/>
            </a:ln>
          </p:spPr>
        </p:sp>
        <p:sp>
          <p:nvSpPr>
            <p:cNvPr id="66" name="TextBox 66"/>
            <p:cNvSpPr txBox="1"/>
            <p:nvPr/>
          </p:nvSpPr>
          <p:spPr>
            <a:xfrm>
              <a:off x="9131046" y="3535204"/>
              <a:ext cx="21785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需要编写存根程序，数量可</a:t>
              </a:r>
              <a:br/>
              <a:r>
                <a:rPr lang="zh-CN" sz="1420" dirty="0">
                  <a:solidFill>
                    <a:srgbClr val="1F2937"/>
                  </a:solidFill>
                  <a:latin typeface="+mn-lt"/>
                  <a:ea typeface="+mn-ea"/>
                  <a:cs typeface="+mn-cs"/>
                </a:rPr>
                <a:t>能非常大</a:t>
              </a:r>
            </a:p>
          </p:txBody>
        </p:sp>
        <p:sp>
          <p:nvSpPr>
            <p:cNvPr id="67" name="Ellipse 67"/>
            <p:cNvSpPr/>
            <p:nvPr/>
          </p:nvSpPr>
          <p:spPr>
            <a:xfrm>
              <a:off x="8974455" y="4184332"/>
              <a:ext cx="60960" cy="60960"/>
            </a:xfrm>
            <a:prstGeom prst="ellipse">
              <a:avLst/>
            </a:prstGeom>
            <a:solidFill>
              <a:srgbClr val="334E68"/>
            </a:solidFill>
            <a:ln>
              <a:noFill/>
            </a:ln>
          </p:spPr>
        </p:sp>
        <p:sp>
          <p:nvSpPr>
            <p:cNvPr id="68" name="TextBox 68"/>
            <p:cNvSpPr txBox="1"/>
            <p:nvPr/>
          </p:nvSpPr>
          <p:spPr>
            <a:xfrm>
              <a:off x="9131046" y="4123849"/>
              <a:ext cx="21785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要充分测试较高层次，需要</a:t>
              </a:r>
              <a:br/>
              <a:r>
                <a:rPr lang="zh-CN" sz="1420" dirty="0">
                  <a:solidFill>
                    <a:srgbClr val="1F2937"/>
                  </a:solidFill>
                  <a:latin typeface="+mn-lt"/>
                  <a:ea typeface="+mn-ea"/>
                  <a:cs typeface="+mn-cs"/>
                </a:rPr>
                <a:t>低层次上的处理</a:t>
              </a:r>
            </a:p>
          </p:txBody>
        </p:sp>
        <p:sp>
          <p:nvSpPr>
            <p:cNvPr id="69" name="Ellipse 69"/>
            <p:cNvSpPr/>
            <p:nvPr/>
          </p:nvSpPr>
          <p:spPr>
            <a:xfrm>
              <a:off x="8974455" y="4772978"/>
              <a:ext cx="60960" cy="60960"/>
            </a:xfrm>
            <a:prstGeom prst="ellipse">
              <a:avLst/>
            </a:prstGeom>
            <a:solidFill>
              <a:srgbClr val="334E68"/>
            </a:solidFill>
            <a:ln>
              <a:noFill/>
            </a:ln>
          </p:spPr>
        </p:sp>
        <p:sp>
          <p:nvSpPr>
            <p:cNvPr id="70" name="TextBox 70"/>
            <p:cNvSpPr txBox="1"/>
            <p:nvPr/>
          </p:nvSpPr>
          <p:spPr>
            <a:xfrm>
              <a:off x="9131046" y="4713446"/>
              <a:ext cx="21785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测试初期自下往上的重要数</a:t>
              </a:r>
              <a:br/>
              <a:r>
                <a:rPr lang="zh-CN" sz="1420" dirty="0">
                  <a:solidFill>
                    <a:srgbClr val="1F2937"/>
                  </a:solidFill>
                  <a:latin typeface="+mn-lt"/>
                  <a:ea typeface="+mn-ea"/>
                  <a:cs typeface="+mn-cs"/>
                </a:rPr>
                <a:t>据流都缺失了</a:t>
              </a:r>
            </a:p>
          </p:txBody>
        </p:sp>
        <p:sp>
          <p:nvSpPr>
            <p:cNvPr id="71" name="Ellipse 71"/>
            <p:cNvSpPr/>
            <p:nvPr/>
          </p:nvSpPr>
          <p:spPr>
            <a:xfrm>
              <a:off x="8359140" y="4113848"/>
              <a:ext cx="323850" cy="323850"/>
            </a:xfrm>
            <a:prstGeom prst="ellipse">
              <a:avLst/>
            </a:prstGeom>
            <a:solidFill>
              <a:srgbClr val="F26B3A"/>
            </a:solidFill>
            <a:ln>
              <a:noFill/>
            </a:ln>
          </p:spPr>
        </p:sp>
        <p:sp>
          <p:nvSpPr>
            <p:cNvPr id="72" name="TextBox 72"/>
            <p:cNvSpPr txBox="1"/>
            <p:nvPr/>
          </p:nvSpPr>
          <p:spPr>
            <a:xfrm>
              <a:off x="8435611" y="4215289"/>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80" name="takeaway"/>
          <p:cNvGrpSpPr/>
          <p:nvPr/>
        </p:nvGrpSpPr>
        <p:grpSpPr>
          <a:xfrm>
            <a:off x="533400" y="5858828"/>
            <a:ext cx="11125200" cy="503872"/>
            <a:chOff x="533400" y="5858828"/>
            <a:chExt cx="11125200" cy="503872"/>
          </a:xfrm>
        </p:grpSpPr>
        <p:sp>
          <p:nvSpPr>
            <p:cNvPr id="74" name="Rectangle 74"/>
            <p:cNvSpPr/>
            <p:nvPr/>
          </p:nvSpPr>
          <p:spPr>
            <a:xfrm>
              <a:off x="533400" y="5858828"/>
              <a:ext cx="11125200" cy="503872"/>
            </a:xfrm>
            <a:prstGeom prst="roundRect">
              <a:avLst>
                <a:gd name="adj" fmla="val 22684"/>
              </a:avLst>
            </a:prstGeom>
            <a:solidFill>
              <a:srgbClr val="F4F6FB"/>
            </a:solidFill>
            <a:ln>
              <a:noFill/>
            </a:ln>
          </p:spPr>
        </p:sp>
        <p:grpSp>
          <p:nvGrpSpPr>
            <p:cNvPr id="78" name="Group 78"/>
            <p:cNvGrpSpPr/>
            <p:nvPr/>
          </p:nvGrpSpPr>
          <p:grpSpPr>
            <a:xfrm>
              <a:off x="738188" y="6011228"/>
              <a:ext cx="200026" cy="200026"/>
              <a:chOff x="738188" y="6011228"/>
              <a:chExt cx="200026" cy="200026"/>
            </a:xfrm>
          </p:grpSpPr>
          <p:sp>
            <p:nvSpPr>
              <p:cNvPr id="75" name="Freeform 75"/>
              <p:cNvSpPr/>
              <p:nvPr/>
            </p:nvSpPr>
            <p:spPr>
              <a:xfrm>
                <a:off x="738188" y="60112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6" name="Freeform 76"/>
              <p:cNvSpPr/>
              <p:nvPr/>
            </p:nvSpPr>
            <p:spPr>
              <a:xfrm>
                <a:off x="838200" y="60779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7" name="Freeform 77"/>
              <p:cNvSpPr/>
              <p:nvPr/>
            </p:nvSpPr>
            <p:spPr>
              <a:xfrm>
                <a:off x="827088" y="61112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9" name="TextBox 79"/>
            <p:cNvSpPr txBox="1"/>
            <p:nvPr/>
          </p:nvSpPr>
          <p:spPr>
            <a:xfrm>
              <a:off x="1040511" y="6011704"/>
              <a:ext cx="959413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对第 27 页的示例结构，宽度优先的组装次序是 A → A,B,C,D,E → A,B,C,D,E,F,G,H,I,J,K → 全部 14 个模块。</a:t>
              </a:r>
            </a:p>
          </p:txBody>
        </p:sp>
      </p:grpSp>
      <p:grpSp>
        <p:nvGrpSpPr>
          <p:cNvPr id="83" name="footer"/>
          <p:cNvGrpSpPr/>
          <p:nvPr/>
        </p:nvGrpSpPr>
        <p:grpSpPr>
          <a:xfrm>
            <a:off x="528447" y="6581299"/>
            <a:ext cx="11135106" cy="190690"/>
            <a:chOff x="528447" y="6581299"/>
            <a:chExt cx="11135106" cy="190690"/>
          </a:xfrm>
        </p:grpSpPr>
        <p:sp>
          <p:nvSpPr>
            <p:cNvPr id="81" name="TextBox 8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2" name="TextBox 8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914894" cy="909257"/>
            <a:chOff x="520446" y="342900"/>
            <a:chExt cx="5914894"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集成测试</a:t>
              </a:r>
            </a:p>
          </p:txBody>
        </p:sp>
        <p:sp>
          <p:nvSpPr>
            <p:cNvPr id="4" name="TextBox 4"/>
            <p:cNvSpPr txBox="1"/>
            <p:nvPr/>
          </p:nvSpPr>
          <p:spPr>
            <a:xfrm>
              <a:off x="520446" y="753428"/>
              <a:ext cx="59148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自底向上集成：从“原子”模块往上并簇</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11125200" cy="1206818"/>
            <a:chOff x="533400" y="1524000"/>
            <a:chExt cx="11125200" cy="1206818"/>
          </a:xfrm>
        </p:grpSpPr>
        <p:sp>
          <p:nvSpPr>
            <p:cNvPr id="7" name="Rectangle 7"/>
            <p:cNvSpPr/>
            <p:nvPr/>
          </p:nvSpPr>
          <p:spPr>
            <a:xfrm>
              <a:off x="533400" y="1524000"/>
              <a:ext cx="11125200" cy="1206818"/>
            </a:xfrm>
            <a:prstGeom prst="roundRect">
              <a:avLst>
                <a:gd name="adj" fmla="val 11050"/>
              </a:avLst>
            </a:prstGeom>
            <a:solidFill>
              <a:srgbClr val="FFFFFF"/>
            </a:solidFill>
            <a:ln w="14288">
              <a:solidFill>
                <a:srgbClr val="D9DFEA"/>
              </a:solidFill>
            </a:ln>
          </p:spPr>
        </p:sp>
        <p:sp>
          <p:nvSpPr>
            <p:cNvPr id="8" name="Rectangle 8"/>
            <p:cNvSpPr/>
            <p:nvPr/>
          </p:nvSpPr>
          <p:spPr>
            <a:xfrm>
              <a:off x="542925" y="1657350"/>
              <a:ext cx="47625" cy="940118"/>
            </a:xfrm>
            <a:prstGeom prst="roundRect">
              <a:avLst>
                <a:gd name="adj" fmla="val 50000"/>
              </a:avLst>
            </a:prstGeom>
            <a:solidFill>
              <a:srgbClr val="334E68"/>
            </a:solidFill>
            <a:ln>
              <a:noFill/>
            </a:ln>
          </p:spPr>
        </p:sp>
        <p:sp>
          <p:nvSpPr>
            <p:cNvPr id="9" name="Rectangle 9"/>
            <p:cNvSpPr/>
            <p:nvPr/>
          </p:nvSpPr>
          <p:spPr>
            <a:xfrm>
              <a:off x="758190" y="1710690"/>
              <a:ext cx="458152" cy="238125"/>
            </a:xfrm>
            <a:prstGeom prst="roundRect">
              <a:avLst>
                <a:gd name="adj" fmla="val 50000"/>
              </a:avLst>
            </a:prstGeom>
            <a:solidFill>
              <a:srgbClr val="E7EDF3"/>
            </a:solidFill>
            <a:ln>
              <a:noFill/>
            </a:ln>
          </p:spPr>
        </p:sp>
        <p:sp>
          <p:nvSpPr>
            <p:cNvPr id="10" name="TextBox 10"/>
            <p:cNvSpPr txBox="1"/>
            <p:nvPr/>
          </p:nvSpPr>
          <p:spPr>
            <a:xfrm>
              <a:off x="850862" y="1743551"/>
              <a:ext cx="273761"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做法</a:t>
              </a:r>
            </a:p>
          </p:txBody>
        </p:sp>
        <p:sp>
          <p:nvSpPr>
            <p:cNvPr id="11" name="TextBox 11"/>
            <p:cNvSpPr txBox="1"/>
            <p:nvPr/>
          </p:nvSpPr>
          <p:spPr>
            <a:xfrm>
              <a:off x="1323784" y="1745932"/>
              <a:ext cx="473887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从软件结构最低层的模块开始组装和测试，不需要存根程序</a:t>
              </a:r>
            </a:p>
          </p:txBody>
        </p:sp>
        <p:sp>
          <p:nvSpPr>
            <p:cNvPr id="12" name="TextBox 12"/>
            <p:cNvSpPr txBox="1"/>
            <p:nvPr/>
          </p:nvSpPr>
          <p:spPr>
            <a:xfrm>
              <a:off x="751332" y="2071688"/>
              <a:ext cx="1019098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底层有许多公用例程经常被其他组件调用时、设计是面向对象的、或系统由大量孤立的复用组件组成时，自底向上方法很有用。</a:t>
              </a:r>
            </a:p>
          </p:txBody>
        </p:sp>
        <p:sp>
          <p:nvSpPr>
            <p:cNvPr id="13" name="TextBox 13"/>
            <p:cNvSpPr txBox="1"/>
            <p:nvPr/>
          </p:nvSpPr>
          <p:spPr>
            <a:xfrm>
              <a:off x="752475" y="2368391"/>
              <a:ext cx="604240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下图从右往左读：最右是最低层的原子模块，每向左一步就是一次并簇，最左才是完整系统</a:t>
              </a:r>
            </a:p>
          </p:txBody>
        </p:sp>
      </p:grpSp>
      <p:grpSp>
        <p:nvGrpSpPr>
          <p:cNvPr id="56" name="c1-tree-2"/>
          <p:cNvGrpSpPr/>
          <p:nvPr/>
        </p:nvGrpSpPr>
        <p:grpSpPr>
          <a:xfrm>
            <a:off x="533400" y="2837498"/>
            <a:ext cx="11125200" cy="1886902"/>
            <a:chOff x="533400" y="2837498"/>
            <a:chExt cx="11125200" cy="1886902"/>
          </a:xfrm>
        </p:grpSpPr>
        <p:sp>
          <p:nvSpPr>
            <p:cNvPr id="15" name="Freeform 15"/>
            <p:cNvSpPr/>
            <p:nvPr/>
          </p:nvSpPr>
          <p:spPr>
            <a:xfrm>
              <a:off x="6479858" y="3010852"/>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6" name="Freeform 16"/>
            <p:cNvSpPr/>
            <p:nvPr/>
          </p:nvSpPr>
          <p:spPr>
            <a:xfrm>
              <a:off x="9225915" y="3450908"/>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7" name="Freeform 17"/>
            <p:cNvSpPr/>
            <p:nvPr/>
          </p:nvSpPr>
          <p:spPr>
            <a:xfrm>
              <a:off x="6479858" y="3230880"/>
              <a:ext cx="419100" cy="109538"/>
            </a:xfrm>
            <a:custGeom>
              <a:avLst/>
              <a:gdLst/>
              <a:ahLst/>
              <a:cxnLst/>
              <a:rect l="l" t="t" r="r" b="b"/>
              <a:pathLst>
                <a:path w="419100" h="109538">
                  <a:moveTo>
                    <a:pt x="0" y="109538"/>
                  </a:moveTo>
                  <a:lnTo>
                    <a:pt x="209550" y="109538"/>
                  </a:lnTo>
                  <a:lnTo>
                    <a:pt x="209550" y="0"/>
                  </a:lnTo>
                  <a:lnTo>
                    <a:pt x="419100" y="0"/>
                  </a:lnTo>
                </a:path>
              </a:pathLst>
            </a:custGeom>
            <a:noFill/>
            <a:ln w="17145">
              <a:solidFill>
                <a:srgbClr val="D9DFEA"/>
              </a:solidFill>
            </a:ln>
          </p:spPr>
        </p:sp>
        <p:sp>
          <p:nvSpPr>
            <p:cNvPr id="18" name="Freeform 18"/>
            <p:cNvSpPr/>
            <p:nvPr/>
          </p:nvSpPr>
          <p:spPr>
            <a:xfrm>
              <a:off x="6479858" y="3340418"/>
              <a:ext cx="419100" cy="110490"/>
            </a:xfrm>
            <a:custGeom>
              <a:avLst/>
              <a:gdLst/>
              <a:ahLst/>
              <a:cxnLst/>
              <a:rect l="l" t="t" r="r" b="b"/>
              <a:pathLst>
                <a:path w="419100" h="110490">
                  <a:moveTo>
                    <a:pt x="0" y="0"/>
                  </a:moveTo>
                  <a:lnTo>
                    <a:pt x="209550" y="0"/>
                  </a:lnTo>
                  <a:lnTo>
                    <a:pt x="209550" y="110490"/>
                  </a:lnTo>
                  <a:lnTo>
                    <a:pt x="419100" y="110490"/>
                  </a:lnTo>
                </a:path>
              </a:pathLst>
            </a:custGeom>
            <a:noFill/>
            <a:ln w="17145">
              <a:solidFill>
                <a:srgbClr val="D9DFEA"/>
              </a:solidFill>
            </a:ln>
          </p:spPr>
        </p:sp>
        <p:sp>
          <p:nvSpPr>
            <p:cNvPr id="19" name="Freeform 19"/>
            <p:cNvSpPr/>
            <p:nvPr/>
          </p:nvSpPr>
          <p:spPr>
            <a:xfrm>
              <a:off x="9225915" y="4331018"/>
              <a:ext cx="419100" cy="109538"/>
            </a:xfrm>
            <a:custGeom>
              <a:avLst/>
              <a:gdLst/>
              <a:ahLst/>
              <a:cxnLst/>
              <a:rect l="l" t="t" r="r" b="b"/>
              <a:pathLst>
                <a:path w="419100" h="109538">
                  <a:moveTo>
                    <a:pt x="0" y="109538"/>
                  </a:moveTo>
                  <a:lnTo>
                    <a:pt x="209550" y="109538"/>
                  </a:lnTo>
                  <a:lnTo>
                    <a:pt x="209550" y="0"/>
                  </a:lnTo>
                  <a:lnTo>
                    <a:pt x="419100" y="0"/>
                  </a:lnTo>
                </a:path>
              </a:pathLst>
            </a:custGeom>
            <a:noFill/>
            <a:ln w="17145">
              <a:solidFill>
                <a:srgbClr val="D9DFEA"/>
              </a:solidFill>
            </a:ln>
          </p:spPr>
        </p:sp>
        <p:sp>
          <p:nvSpPr>
            <p:cNvPr id="20" name="Freeform 20"/>
            <p:cNvSpPr/>
            <p:nvPr/>
          </p:nvSpPr>
          <p:spPr>
            <a:xfrm>
              <a:off x="9225915" y="4440555"/>
              <a:ext cx="419100" cy="110490"/>
            </a:xfrm>
            <a:custGeom>
              <a:avLst/>
              <a:gdLst/>
              <a:ahLst/>
              <a:cxnLst/>
              <a:rect l="l" t="t" r="r" b="b"/>
              <a:pathLst>
                <a:path w="419100" h="110490">
                  <a:moveTo>
                    <a:pt x="0" y="0"/>
                  </a:moveTo>
                  <a:lnTo>
                    <a:pt x="209550" y="0"/>
                  </a:lnTo>
                  <a:lnTo>
                    <a:pt x="209550" y="110490"/>
                  </a:lnTo>
                  <a:lnTo>
                    <a:pt x="419100" y="110490"/>
                  </a:lnTo>
                </a:path>
              </a:pathLst>
            </a:custGeom>
            <a:noFill/>
            <a:ln w="17145">
              <a:solidFill>
                <a:srgbClr val="D9DFEA"/>
              </a:solidFill>
            </a:ln>
          </p:spPr>
        </p:sp>
        <p:sp>
          <p:nvSpPr>
            <p:cNvPr id="21" name="Freeform 21"/>
            <p:cNvSpPr/>
            <p:nvPr/>
          </p:nvSpPr>
          <p:spPr>
            <a:xfrm>
              <a:off x="6479858" y="3890962"/>
              <a:ext cx="419100" cy="274320"/>
            </a:xfrm>
            <a:custGeom>
              <a:avLst/>
              <a:gdLst/>
              <a:ahLst/>
              <a:cxnLst/>
              <a:rect l="l" t="t" r="r" b="b"/>
              <a:pathLst>
                <a:path w="419100" h="274320">
                  <a:moveTo>
                    <a:pt x="0" y="274320"/>
                  </a:moveTo>
                  <a:lnTo>
                    <a:pt x="209550" y="274320"/>
                  </a:lnTo>
                  <a:lnTo>
                    <a:pt x="209550" y="0"/>
                  </a:lnTo>
                  <a:lnTo>
                    <a:pt x="419100" y="0"/>
                  </a:lnTo>
                </a:path>
              </a:pathLst>
            </a:custGeom>
            <a:noFill/>
            <a:ln w="17145">
              <a:solidFill>
                <a:srgbClr val="D9DFEA"/>
              </a:solidFill>
            </a:ln>
          </p:spPr>
        </p:sp>
        <p:sp>
          <p:nvSpPr>
            <p:cNvPr id="22" name="Freeform 22"/>
            <p:cNvSpPr/>
            <p:nvPr/>
          </p:nvSpPr>
          <p:spPr>
            <a:xfrm>
              <a:off x="6479858" y="4110990"/>
              <a:ext cx="419100" cy="54292"/>
            </a:xfrm>
            <a:custGeom>
              <a:avLst/>
              <a:gdLst/>
              <a:ahLst/>
              <a:cxnLst/>
              <a:rect l="l" t="t" r="r" b="b"/>
              <a:pathLst>
                <a:path w="419100" h="54292">
                  <a:moveTo>
                    <a:pt x="0" y="54292"/>
                  </a:moveTo>
                  <a:lnTo>
                    <a:pt x="209550" y="54292"/>
                  </a:lnTo>
                  <a:lnTo>
                    <a:pt x="209550" y="0"/>
                  </a:lnTo>
                  <a:lnTo>
                    <a:pt x="419100" y="0"/>
                  </a:lnTo>
                </a:path>
              </a:pathLst>
            </a:custGeom>
            <a:noFill/>
            <a:ln w="17145">
              <a:solidFill>
                <a:srgbClr val="D9DFEA"/>
              </a:solidFill>
            </a:ln>
          </p:spPr>
        </p:sp>
        <p:sp>
          <p:nvSpPr>
            <p:cNvPr id="23" name="Freeform 23"/>
            <p:cNvSpPr/>
            <p:nvPr/>
          </p:nvSpPr>
          <p:spPr>
            <a:xfrm>
              <a:off x="6479858" y="4165282"/>
              <a:ext cx="419100" cy="275272"/>
            </a:xfrm>
            <a:custGeom>
              <a:avLst/>
              <a:gdLst/>
              <a:ahLst/>
              <a:cxnLst/>
              <a:rect l="l" t="t" r="r" b="b"/>
              <a:pathLst>
                <a:path w="419100" h="275272">
                  <a:moveTo>
                    <a:pt x="0" y="0"/>
                  </a:moveTo>
                  <a:lnTo>
                    <a:pt x="209550" y="0"/>
                  </a:lnTo>
                  <a:lnTo>
                    <a:pt x="209550" y="275272"/>
                  </a:lnTo>
                  <a:lnTo>
                    <a:pt x="419100" y="275272"/>
                  </a:lnTo>
                </a:path>
              </a:pathLst>
            </a:custGeom>
            <a:noFill/>
            <a:ln w="17145">
              <a:solidFill>
                <a:srgbClr val="D9DFEA"/>
              </a:solidFill>
            </a:ln>
          </p:spPr>
        </p:sp>
        <p:sp>
          <p:nvSpPr>
            <p:cNvPr id="24" name="Freeform 24"/>
            <p:cNvSpPr/>
            <p:nvPr/>
          </p:nvSpPr>
          <p:spPr>
            <a:xfrm>
              <a:off x="3300412" y="3010852"/>
              <a:ext cx="419100" cy="577215"/>
            </a:xfrm>
            <a:custGeom>
              <a:avLst/>
              <a:gdLst/>
              <a:ahLst/>
              <a:cxnLst/>
              <a:rect l="l" t="t" r="r" b="b"/>
              <a:pathLst>
                <a:path w="419100" h="577215">
                  <a:moveTo>
                    <a:pt x="0" y="577215"/>
                  </a:moveTo>
                  <a:lnTo>
                    <a:pt x="209550" y="577215"/>
                  </a:lnTo>
                  <a:lnTo>
                    <a:pt x="209550" y="0"/>
                  </a:lnTo>
                  <a:lnTo>
                    <a:pt x="419100" y="0"/>
                  </a:lnTo>
                </a:path>
              </a:pathLst>
            </a:custGeom>
            <a:noFill/>
            <a:ln w="17145">
              <a:solidFill>
                <a:srgbClr val="D9DFEA"/>
              </a:solidFill>
            </a:ln>
          </p:spPr>
        </p:sp>
        <p:sp>
          <p:nvSpPr>
            <p:cNvPr id="25" name="Freeform 25"/>
            <p:cNvSpPr/>
            <p:nvPr/>
          </p:nvSpPr>
          <p:spPr>
            <a:xfrm>
              <a:off x="3300412" y="3340418"/>
              <a:ext cx="419100" cy="247650"/>
            </a:xfrm>
            <a:custGeom>
              <a:avLst/>
              <a:gdLst/>
              <a:ahLst/>
              <a:cxnLst/>
              <a:rect l="l" t="t" r="r" b="b"/>
              <a:pathLst>
                <a:path w="419100" h="247650">
                  <a:moveTo>
                    <a:pt x="0" y="247650"/>
                  </a:moveTo>
                  <a:lnTo>
                    <a:pt x="209550" y="247650"/>
                  </a:lnTo>
                  <a:lnTo>
                    <a:pt x="209550" y="0"/>
                  </a:lnTo>
                  <a:lnTo>
                    <a:pt x="419100" y="0"/>
                  </a:lnTo>
                </a:path>
              </a:pathLst>
            </a:custGeom>
            <a:noFill/>
            <a:ln w="17145">
              <a:solidFill>
                <a:srgbClr val="D9DFEA"/>
              </a:solidFill>
            </a:ln>
          </p:spPr>
        </p:sp>
        <p:sp>
          <p:nvSpPr>
            <p:cNvPr id="26" name="Freeform 26"/>
            <p:cNvSpPr/>
            <p:nvPr/>
          </p:nvSpPr>
          <p:spPr>
            <a:xfrm>
              <a:off x="3300412" y="3588068"/>
              <a:ext cx="419100" cy="82867"/>
            </a:xfrm>
            <a:custGeom>
              <a:avLst/>
              <a:gdLst/>
              <a:ahLst/>
              <a:cxnLst/>
              <a:rect l="l" t="t" r="r" b="b"/>
              <a:pathLst>
                <a:path w="419100" h="82867">
                  <a:moveTo>
                    <a:pt x="0" y="0"/>
                  </a:moveTo>
                  <a:lnTo>
                    <a:pt x="209550" y="0"/>
                  </a:lnTo>
                  <a:lnTo>
                    <a:pt x="209550" y="82867"/>
                  </a:lnTo>
                  <a:lnTo>
                    <a:pt x="419100" y="82867"/>
                  </a:lnTo>
                </a:path>
              </a:pathLst>
            </a:custGeom>
            <a:noFill/>
            <a:ln w="17145">
              <a:solidFill>
                <a:srgbClr val="D9DFEA"/>
              </a:solidFill>
            </a:ln>
          </p:spPr>
        </p:sp>
        <p:sp>
          <p:nvSpPr>
            <p:cNvPr id="27" name="Freeform 27"/>
            <p:cNvSpPr/>
            <p:nvPr/>
          </p:nvSpPr>
          <p:spPr>
            <a:xfrm>
              <a:off x="3300412" y="3588068"/>
              <a:ext cx="419100" cy="577215"/>
            </a:xfrm>
            <a:custGeom>
              <a:avLst/>
              <a:gdLst/>
              <a:ahLst/>
              <a:cxnLst/>
              <a:rect l="l" t="t" r="r" b="b"/>
              <a:pathLst>
                <a:path w="419100" h="577215">
                  <a:moveTo>
                    <a:pt x="0" y="0"/>
                  </a:moveTo>
                  <a:lnTo>
                    <a:pt x="209550" y="0"/>
                  </a:lnTo>
                  <a:lnTo>
                    <a:pt x="209550" y="577215"/>
                  </a:lnTo>
                  <a:lnTo>
                    <a:pt x="419100" y="577215"/>
                  </a:lnTo>
                </a:path>
              </a:pathLst>
            </a:custGeom>
            <a:noFill/>
            <a:ln w="17145">
              <a:solidFill>
                <a:srgbClr val="D9DFEA"/>
              </a:solidFill>
            </a:ln>
          </p:spPr>
        </p:sp>
        <p:sp>
          <p:nvSpPr>
            <p:cNvPr id="28" name="Rectangle 28"/>
            <p:cNvSpPr/>
            <p:nvPr/>
          </p:nvSpPr>
          <p:spPr>
            <a:xfrm>
              <a:off x="6898958" y="2837498"/>
              <a:ext cx="2326958" cy="346710"/>
            </a:xfrm>
            <a:prstGeom prst="roundRect">
              <a:avLst>
                <a:gd name="adj" fmla="val 27473"/>
              </a:avLst>
            </a:prstGeom>
            <a:solidFill>
              <a:srgbClr val="FFFFFF"/>
            </a:solidFill>
            <a:ln w="13335">
              <a:solidFill>
                <a:srgbClr val="D9DFEA"/>
              </a:solidFill>
            </a:ln>
          </p:spPr>
        </p:sp>
        <p:sp>
          <p:nvSpPr>
            <p:cNvPr id="29" name="Rectangle 29"/>
            <p:cNvSpPr/>
            <p:nvPr/>
          </p:nvSpPr>
          <p:spPr>
            <a:xfrm>
              <a:off x="3719512" y="2837498"/>
              <a:ext cx="2760345" cy="346710"/>
            </a:xfrm>
            <a:prstGeom prst="roundRect">
              <a:avLst>
                <a:gd name="adj" fmla="val 27473"/>
              </a:avLst>
            </a:prstGeom>
            <a:solidFill>
              <a:srgbClr val="E7EDF3"/>
            </a:solidFill>
            <a:ln>
              <a:noFill/>
            </a:ln>
          </p:spPr>
        </p:sp>
        <p:sp>
          <p:nvSpPr>
            <p:cNvPr id="30" name="Rectangle 30"/>
            <p:cNvSpPr/>
            <p:nvPr/>
          </p:nvSpPr>
          <p:spPr>
            <a:xfrm>
              <a:off x="6898958" y="3057525"/>
              <a:ext cx="2326958" cy="346710"/>
            </a:xfrm>
            <a:prstGeom prst="roundRect">
              <a:avLst>
                <a:gd name="adj" fmla="val 27473"/>
              </a:avLst>
            </a:prstGeom>
            <a:solidFill>
              <a:srgbClr val="FFFFFF"/>
            </a:solidFill>
            <a:ln w="13335">
              <a:solidFill>
                <a:srgbClr val="D9DFEA"/>
              </a:solidFill>
            </a:ln>
          </p:spPr>
        </p:sp>
        <p:sp>
          <p:nvSpPr>
            <p:cNvPr id="31" name="Rectangle 31"/>
            <p:cNvSpPr/>
            <p:nvPr/>
          </p:nvSpPr>
          <p:spPr>
            <a:xfrm>
              <a:off x="9645015" y="3277552"/>
              <a:ext cx="2013585" cy="346710"/>
            </a:xfrm>
            <a:prstGeom prst="roundRect">
              <a:avLst>
                <a:gd name="adj" fmla="val 27473"/>
              </a:avLst>
            </a:prstGeom>
            <a:solidFill>
              <a:srgbClr val="FFFFFF"/>
            </a:solidFill>
            <a:ln w="13335">
              <a:solidFill>
                <a:srgbClr val="D9DFEA"/>
              </a:solidFill>
            </a:ln>
          </p:spPr>
        </p:sp>
        <p:sp>
          <p:nvSpPr>
            <p:cNvPr id="32" name="Rectangle 32"/>
            <p:cNvSpPr/>
            <p:nvPr/>
          </p:nvSpPr>
          <p:spPr>
            <a:xfrm>
              <a:off x="6898958" y="3277552"/>
              <a:ext cx="2326958" cy="346710"/>
            </a:xfrm>
            <a:prstGeom prst="roundRect">
              <a:avLst>
                <a:gd name="adj" fmla="val 27473"/>
              </a:avLst>
            </a:prstGeom>
            <a:solidFill>
              <a:srgbClr val="E7EDF3"/>
            </a:solidFill>
            <a:ln>
              <a:noFill/>
            </a:ln>
          </p:spPr>
        </p:sp>
        <p:sp>
          <p:nvSpPr>
            <p:cNvPr id="33" name="Rectangle 33"/>
            <p:cNvSpPr/>
            <p:nvPr/>
          </p:nvSpPr>
          <p:spPr>
            <a:xfrm>
              <a:off x="3719512" y="3167062"/>
              <a:ext cx="2760345" cy="346710"/>
            </a:xfrm>
            <a:prstGeom prst="roundRect">
              <a:avLst>
                <a:gd name="adj" fmla="val 27473"/>
              </a:avLst>
            </a:prstGeom>
            <a:solidFill>
              <a:srgbClr val="E7EDF3"/>
            </a:solidFill>
            <a:ln>
              <a:noFill/>
            </a:ln>
          </p:spPr>
        </p:sp>
        <p:sp>
          <p:nvSpPr>
            <p:cNvPr id="34" name="Rectangle 34"/>
            <p:cNvSpPr/>
            <p:nvPr/>
          </p:nvSpPr>
          <p:spPr>
            <a:xfrm>
              <a:off x="3719512" y="3497580"/>
              <a:ext cx="2760345" cy="346710"/>
            </a:xfrm>
            <a:prstGeom prst="roundRect">
              <a:avLst>
                <a:gd name="adj" fmla="val 27473"/>
              </a:avLst>
            </a:prstGeom>
            <a:solidFill>
              <a:srgbClr val="FFFFFF"/>
            </a:solidFill>
            <a:ln w="13335">
              <a:solidFill>
                <a:srgbClr val="D9DFEA"/>
              </a:solidFill>
            </a:ln>
          </p:spPr>
        </p:sp>
        <p:sp>
          <p:nvSpPr>
            <p:cNvPr id="35" name="Rectangle 35"/>
            <p:cNvSpPr/>
            <p:nvPr/>
          </p:nvSpPr>
          <p:spPr>
            <a:xfrm>
              <a:off x="6898958" y="3717608"/>
              <a:ext cx="2326958" cy="346710"/>
            </a:xfrm>
            <a:prstGeom prst="roundRect">
              <a:avLst>
                <a:gd name="adj" fmla="val 27473"/>
              </a:avLst>
            </a:prstGeom>
            <a:solidFill>
              <a:srgbClr val="FFFFFF"/>
            </a:solidFill>
            <a:ln w="13335">
              <a:solidFill>
                <a:srgbClr val="D9DFEA"/>
              </a:solidFill>
            </a:ln>
          </p:spPr>
        </p:sp>
        <p:sp>
          <p:nvSpPr>
            <p:cNvPr id="36" name="Rectangle 36"/>
            <p:cNvSpPr/>
            <p:nvPr/>
          </p:nvSpPr>
          <p:spPr>
            <a:xfrm>
              <a:off x="6898958" y="3937635"/>
              <a:ext cx="2326958" cy="346710"/>
            </a:xfrm>
            <a:prstGeom prst="roundRect">
              <a:avLst>
                <a:gd name="adj" fmla="val 27473"/>
              </a:avLst>
            </a:prstGeom>
            <a:solidFill>
              <a:srgbClr val="FFFFFF"/>
            </a:solidFill>
            <a:ln w="13335">
              <a:solidFill>
                <a:srgbClr val="D9DFEA"/>
              </a:solidFill>
            </a:ln>
          </p:spPr>
        </p:sp>
        <p:sp>
          <p:nvSpPr>
            <p:cNvPr id="37" name="Rectangle 37"/>
            <p:cNvSpPr/>
            <p:nvPr/>
          </p:nvSpPr>
          <p:spPr>
            <a:xfrm>
              <a:off x="9645015" y="4157662"/>
              <a:ext cx="2013585" cy="346710"/>
            </a:xfrm>
            <a:prstGeom prst="roundRect">
              <a:avLst>
                <a:gd name="adj" fmla="val 27473"/>
              </a:avLst>
            </a:prstGeom>
            <a:solidFill>
              <a:srgbClr val="FFFFFF"/>
            </a:solidFill>
            <a:ln w="13335">
              <a:solidFill>
                <a:srgbClr val="D9DFEA"/>
              </a:solidFill>
            </a:ln>
          </p:spPr>
        </p:sp>
        <p:sp>
          <p:nvSpPr>
            <p:cNvPr id="38" name="Rectangle 38"/>
            <p:cNvSpPr/>
            <p:nvPr/>
          </p:nvSpPr>
          <p:spPr>
            <a:xfrm>
              <a:off x="9645015" y="4377690"/>
              <a:ext cx="2013585" cy="346710"/>
            </a:xfrm>
            <a:prstGeom prst="roundRect">
              <a:avLst>
                <a:gd name="adj" fmla="val 27473"/>
              </a:avLst>
            </a:prstGeom>
            <a:solidFill>
              <a:srgbClr val="FFFFFF"/>
            </a:solidFill>
            <a:ln w="13335">
              <a:solidFill>
                <a:srgbClr val="D9DFEA"/>
              </a:solidFill>
            </a:ln>
          </p:spPr>
        </p:sp>
        <p:sp>
          <p:nvSpPr>
            <p:cNvPr id="39" name="Rectangle 39"/>
            <p:cNvSpPr/>
            <p:nvPr/>
          </p:nvSpPr>
          <p:spPr>
            <a:xfrm>
              <a:off x="6898958" y="4267200"/>
              <a:ext cx="2326958" cy="346710"/>
            </a:xfrm>
            <a:prstGeom prst="roundRect">
              <a:avLst>
                <a:gd name="adj" fmla="val 27473"/>
              </a:avLst>
            </a:prstGeom>
            <a:solidFill>
              <a:srgbClr val="E7EDF3"/>
            </a:solidFill>
            <a:ln>
              <a:noFill/>
            </a:ln>
          </p:spPr>
        </p:sp>
        <p:sp>
          <p:nvSpPr>
            <p:cNvPr id="40" name="Rectangle 40"/>
            <p:cNvSpPr/>
            <p:nvPr/>
          </p:nvSpPr>
          <p:spPr>
            <a:xfrm>
              <a:off x="3719512" y="3991928"/>
              <a:ext cx="2760345" cy="346710"/>
            </a:xfrm>
            <a:prstGeom prst="roundRect">
              <a:avLst>
                <a:gd name="adj" fmla="val 27473"/>
              </a:avLst>
            </a:prstGeom>
            <a:solidFill>
              <a:srgbClr val="E7EDF3"/>
            </a:solidFill>
            <a:ln>
              <a:noFill/>
            </a:ln>
          </p:spPr>
        </p:sp>
        <p:sp>
          <p:nvSpPr>
            <p:cNvPr id="41" name="Rectangle 41"/>
            <p:cNvSpPr/>
            <p:nvPr/>
          </p:nvSpPr>
          <p:spPr>
            <a:xfrm>
              <a:off x="533400" y="3414712"/>
              <a:ext cx="2767012" cy="346710"/>
            </a:xfrm>
            <a:prstGeom prst="roundRect">
              <a:avLst>
                <a:gd name="adj" fmla="val 27473"/>
              </a:avLst>
            </a:prstGeom>
            <a:solidFill>
              <a:srgbClr val="334E68"/>
            </a:solidFill>
            <a:ln>
              <a:noFill/>
            </a:ln>
          </p:spPr>
        </p:sp>
        <p:sp>
          <p:nvSpPr>
            <p:cNvPr id="42" name="TextBox 42"/>
            <p:cNvSpPr txBox="1"/>
            <p:nvPr/>
          </p:nvSpPr>
          <p:spPr>
            <a:xfrm>
              <a:off x="6988492" y="2932271"/>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F</a:t>
              </a:r>
            </a:p>
          </p:txBody>
        </p:sp>
        <p:sp>
          <p:nvSpPr>
            <p:cNvPr id="43" name="TextBox 43"/>
            <p:cNvSpPr txBox="1"/>
            <p:nvPr/>
          </p:nvSpPr>
          <p:spPr>
            <a:xfrm>
              <a:off x="3809048" y="2932271"/>
              <a:ext cx="287432" cy="220028"/>
            </a:xfrm>
            <a:prstGeom prst="rect">
              <a:avLst/>
            </a:prstGeom>
            <a:noFill/>
            <a:ln>
              <a:noFill/>
            </a:ln>
          </p:spPr>
          <p:txBody>
            <a:bodyPr wrap="none" lIns="0" tIns="0" rIns="0" bIns="0" anchor="t" anchorCtr="0">
              <a:spAutoFit/>
            </a:bodyPr>
            <a:lstStyle/>
            <a:p>
              <a:pPr algn="l"/>
              <a:r>
                <a:rPr lang="en-US" sz="1120" b="1" dirty="0">
                  <a:solidFill>
                    <a:srgbClr val="243B53"/>
                  </a:solidFill>
                  <a:latin typeface="+mn-lt"/>
                  <a:ea typeface="+mn-ea"/>
                  <a:cs typeface="+mn-cs"/>
                </a:rPr>
                <a:t>B,F</a:t>
              </a:r>
            </a:p>
          </p:txBody>
        </p:sp>
        <p:sp>
          <p:nvSpPr>
            <p:cNvPr id="44" name="TextBox 44"/>
            <p:cNvSpPr txBox="1"/>
            <p:nvPr/>
          </p:nvSpPr>
          <p:spPr>
            <a:xfrm>
              <a:off x="6988492" y="3152299"/>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G</a:t>
              </a:r>
            </a:p>
          </p:txBody>
        </p:sp>
        <p:sp>
          <p:nvSpPr>
            <p:cNvPr id="45" name="TextBox 45"/>
            <p:cNvSpPr txBox="1"/>
            <p:nvPr/>
          </p:nvSpPr>
          <p:spPr>
            <a:xfrm>
              <a:off x="9734550" y="3372326"/>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L</a:t>
              </a:r>
            </a:p>
          </p:txBody>
        </p:sp>
        <p:sp>
          <p:nvSpPr>
            <p:cNvPr id="46" name="TextBox 46"/>
            <p:cNvSpPr txBox="1"/>
            <p:nvPr/>
          </p:nvSpPr>
          <p:spPr>
            <a:xfrm>
              <a:off x="6988492" y="3372326"/>
              <a:ext cx="287432" cy="220028"/>
            </a:xfrm>
            <a:prstGeom prst="rect">
              <a:avLst/>
            </a:prstGeom>
            <a:noFill/>
            <a:ln>
              <a:noFill/>
            </a:ln>
          </p:spPr>
          <p:txBody>
            <a:bodyPr wrap="none" lIns="0" tIns="0" rIns="0" bIns="0" anchor="t" anchorCtr="0">
              <a:spAutoFit/>
            </a:bodyPr>
            <a:lstStyle/>
            <a:p>
              <a:pPr algn="l"/>
              <a:r>
                <a:rPr lang="en-US" sz="1120" b="1" dirty="0">
                  <a:solidFill>
                    <a:srgbClr val="243B53"/>
                  </a:solidFill>
                  <a:latin typeface="+mn-lt"/>
                  <a:ea typeface="+mn-ea"/>
                  <a:cs typeface="+mn-cs"/>
                </a:rPr>
                <a:t>H,L</a:t>
              </a:r>
            </a:p>
          </p:txBody>
        </p:sp>
        <p:sp>
          <p:nvSpPr>
            <p:cNvPr id="47" name="TextBox 47"/>
            <p:cNvSpPr txBox="1"/>
            <p:nvPr/>
          </p:nvSpPr>
          <p:spPr>
            <a:xfrm>
              <a:off x="3809048" y="3261836"/>
              <a:ext cx="655436" cy="220028"/>
            </a:xfrm>
            <a:prstGeom prst="rect">
              <a:avLst/>
            </a:prstGeom>
            <a:noFill/>
            <a:ln>
              <a:noFill/>
            </a:ln>
          </p:spPr>
          <p:txBody>
            <a:bodyPr wrap="none" lIns="0" tIns="0" rIns="0" bIns="0" anchor="t" anchorCtr="0">
              <a:spAutoFit/>
            </a:bodyPr>
            <a:lstStyle/>
            <a:p>
              <a:pPr algn="l"/>
              <a:r>
                <a:rPr lang="en-US" sz="1120" b="1" dirty="0">
                  <a:solidFill>
                    <a:srgbClr val="243B53"/>
                  </a:solidFill>
                  <a:latin typeface="+mn-lt"/>
                  <a:ea typeface="+mn-ea"/>
                  <a:cs typeface="+mn-cs"/>
                </a:rPr>
                <a:t>C,G,H,L</a:t>
              </a:r>
            </a:p>
          </p:txBody>
        </p:sp>
        <p:sp>
          <p:nvSpPr>
            <p:cNvPr id="48" name="TextBox 48"/>
            <p:cNvSpPr txBox="1"/>
            <p:nvPr/>
          </p:nvSpPr>
          <p:spPr>
            <a:xfrm>
              <a:off x="3809048" y="359235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D</a:t>
              </a:r>
            </a:p>
          </p:txBody>
        </p:sp>
        <p:sp>
          <p:nvSpPr>
            <p:cNvPr id="49" name="TextBox 49"/>
            <p:cNvSpPr txBox="1"/>
            <p:nvPr/>
          </p:nvSpPr>
          <p:spPr>
            <a:xfrm>
              <a:off x="6988492" y="3812381"/>
              <a:ext cx="59223"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I</a:t>
              </a:r>
            </a:p>
          </p:txBody>
        </p:sp>
        <p:sp>
          <p:nvSpPr>
            <p:cNvPr id="50" name="TextBox 50"/>
            <p:cNvSpPr txBox="1"/>
            <p:nvPr/>
          </p:nvSpPr>
          <p:spPr>
            <a:xfrm>
              <a:off x="6988492" y="4032409"/>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K</a:t>
              </a:r>
            </a:p>
          </p:txBody>
        </p:sp>
        <p:sp>
          <p:nvSpPr>
            <p:cNvPr id="51" name="TextBox 51"/>
            <p:cNvSpPr txBox="1"/>
            <p:nvPr/>
          </p:nvSpPr>
          <p:spPr>
            <a:xfrm>
              <a:off x="9734550" y="4252436"/>
              <a:ext cx="13091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M</a:t>
              </a:r>
            </a:p>
          </p:txBody>
        </p:sp>
        <p:sp>
          <p:nvSpPr>
            <p:cNvPr id="52" name="TextBox 52"/>
            <p:cNvSpPr txBox="1"/>
            <p:nvPr/>
          </p:nvSpPr>
          <p:spPr>
            <a:xfrm>
              <a:off x="9734550" y="447246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N</a:t>
              </a:r>
            </a:p>
          </p:txBody>
        </p:sp>
        <p:sp>
          <p:nvSpPr>
            <p:cNvPr id="53" name="TextBox 53"/>
            <p:cNvSpPr txBox="1"/>
            <p:nvPr/>
          </p:nvSpPr>
          <p:spPr>
            <a:xfrm>
              <a:off x="6988492" y="4361974"/>
              <a:ext cx="504889" cy="220028"/>
            </a:xfrm>
            <a:prstGeom prst="rect">
              <a:avLst/>
            </a:prstGeom>
            <a:noFill/>
            <a:ln>
              <a:noFill/>
            </a:ln>
          </p:spPr>
          <p:txBody>
            <a:bodyPr wrap="none" lIns="0" tIns="0" rIns="0" bIns="0" anchor="t" anchorCtr="0">
              <a:spAutoFit/>
            </a:bodyPr>
            <a:lstStyle/>
            <a:p>
              <a:pPr algn="l"/>
              <a:r>
                <a:rPr lang="en-US" sz="1120" b="1" dirty="0">
                  <a:solidFill>
                    <a:srgbClr val="243B53"/>
                  </a:solidFill>
                  <a:latin typeface="+mn-lt"/>
                  <a:ea typeface="+mn-ea"/>
                  <a:cs typeface="+mn-cs"/>
                </a:rPr>
                <a:t>J,M,N</a:t>
              </a:r>
            </a:p>
          </p:txBody>
        </p:sp>
        <p:sp>
          <p:nvSpPr>
            <p:cNvPr id="54" name="TextBox 54"/>
            <p:cNvSpPr txBox="1"/>
            <p:nvPr/>
          </p:nvSpPr>
          <p:spPr>
            <a:xfrm>
              <a:off x="3809048" y="4086701"/>
              <a:ext cx="1015075" cy="220028"/>
            </a:xfrm>
            <a:prstGeom prst="rect">
              <a:avLst/>
            </a:prstGeom>
            <a:noFill/>
            <a:ln>
              <a:noFill/>
            </a:ln>
          </p:spPr>
          <p:txBody>
            <a:bodyPr wrap="none" lIns="0" tIns="0" rIns="0" bIns="0" anchor="t" anchorCtr="0">
              <a:spAutoFit/>
            </a:bodyPr>
            <a:lstStyle/>
            <a:p>
              <a:pPr algn="l"/>
              <a:r>
                <a:rPr lang="en-US" sz="1120" b="1" dirty="0">
                  <a:solidFill>
                    <a:srgbClr val="243B53"/>
                  </a:solidFill>
                  <a:latin typeface="+mn-lt"/>
                  <a:ea typeface="+mn-ea"/>
                  <a:cs typeface="+mn-cs"/>
                </a:rPr>
                <a:t>E,I,J,K,M,N</a:t>
              </a:r>
            </a:p>
          </p:txBody>
        </p:sp>
        <p:sp>
          <p:nvSpPr>
            <p:cNvPr id="55" name="TextBox 55"/>
            <p:cNvSpPr txBox="1"/>
            <p:nvPr/>
          </p:nvSpPr>
          <p:spPr>
            <a:xfrm>
              <a:off x="622935" y="3509486"/>
              <a:ext cx="940712"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mn-lt"/>
                  <a:ea typeface="+mn-ea"/>
                  <a:cs typeface="+mn-cs"/>
                </a:rPr>
                <a:t>A~N 完整系统</a:t>
              </a:r>
            </a:p>
          </p:txBody>
        </p:sp>
      </p:grpSp>
      <p:grpSp>
        <p:nvGrpSpPr>
          <p:cNvPr id="73" name="c1-compare-3"/>
          <p:cNvGrpSpPr/>
          <p:nvPr/>
        </p:nvGrpSpPr>
        <p:grpSpPr>
          <a:xfrm>
            <a:off x="533400" y="4831080"/>
            <a:ext cx="11125200" cy="1531620"/>
            <a:chOff x="533400" y="4831080"/>
            <a:chExt cx="11125200" cy="1531620"/>
          </a:xfrm>
        </p:grpSpPr>
        <p:sp>
          <p:nvSpPr>
            <p:cNvPr id="57" name="Rectangle 57"/>
            <p:cNvSpPr/>
            <p:nvPr/>
          </p:nvSpPr>
          <p:spPr>
            <a:xfrm>
              <a:off x="533400" y="4831080"/>
              <a:ext cx="5353050" cy="1531620"/>
            </a:xfrm>
            <a:prstGeom prst="roundRect">
              <a:avLst>
                <a:gd name="adj" fmla="val 8706"/>
              </a:avLst>
            </a:prstGeom>
            <a:solidFill>
              <a:srgbClr val="FFFFFF"/>
            </a:solidFill>
            <a:ln w="14288">
              <a:solidFill>
                <a:srgbClr val="D9DFEA"/>
              </a:solidFill>
            </a:ln>
          </p:spPr>
        </p:sp>
        <p:sp>
          <p:nvSpPr>
            <p:cNvPr id="58" name="Rectangle 58"/>
            <p:cNvSpPr/>
            <p:nvPr/>
          </p:nvSpPr>
          <p:spPr>
            <a:xfrm>
              <a:off x="542925" y="4964430"/>
              <a:ext cx="47625" cy="1264920"/>
            </a:xfrm>
            <a:prstGeom prst="roundRect">
              <a:avLst>
                <a:gd name="adj" fmla="val 50000"/>
              </a:avLst>
            </a:prstGeom>
            <a:solidFill>
              <a:srgbClr val="14A38B"/>
            </a:solidFill>
            <a:ln>
              <a:noFill/>
            </a:ln>
          </p:spPr>
        </p:sp>
        <p:sp>
          <p:nvSpPr>
            <p:cNvPr id="59" name="TextBox 59"/>
            <p:cNvSpPr txBox="1"/>
            <p:nvPr/>
          </p:nvSpPr>
          <p:spPr>
            <a:xfrm>
              <a:off x="751332" y="5039678"/>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优点</a:t>
              </a:r>
            </a:p>
          </p:txBody>
        </p:sp>
        <p:sp>
          <p:nvSpPr>
            <p:cNvPr id="60" name="Ellipse 60"/>
            <p:cNvSpPr/>
            <p:nvPr/>
          </p:nvSpPr>
          <p:spPr>
            <a:xfrm>
              <a:off x="766762" y="5413058"/>
              <a:ext cx="59055" cy="59055"/>
            </a:xfrm>
            <a:prstGeom prst="ellipse">
              <a:avLst/>
            </a:prstGeom>
            <a:solidFill>
              <a:srgbClr val="334E68"/>
            </a:solidFill>
            <a:ln>
              <a:noFill/>
            </a:ln>
          </p:spPr>
        </p:sp>
        <p:sp>
          <p:nvSpPr>
            <p:cNvPr id="61" name="TextBox 61"/>
            <p:cNvSpPr txBox="1"/>
            <p:nvPr/>
          </p:nvSpPr>
          <p:spPr>
            <a:xfrm>
              <a:off x="922782" y="5356860"/>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不需要编写存根程序</a:t>
              </a:r>
            </a:p>
          </p:txBody>
        </p:sp>
        <p:sp>
          <p:nvSpPr>
            <p:cNvPr id="62" name="Ellipse 62"/>
            <p:cNvSpPr/>
            <p:nvPr/>
          </p:nvSpPr>
          <p:spPr>
            <a:xfrm>
              <a:off x="766762" y="5713095"/>
              <a:ext cx="59055" cy="59055"/>
            </a:xfrm>
            <a:prstGeom prst="ellipse">
              <a:avLst/>
            </a:prstGeom>
            <a:solidFill>
              <a:srgbClr val="334E68"/>
            </a:solidFill>
            <a:ln>
              <a:noFill/>
            </a:ln>
          </p:spPr>
        </p:sp>
        <p:sp>
          <p:nvSpPr>
            <p:cNvPr id="63" name="TextBox 63"/>
            <p:cNvSpPr txBox="1"/>
            <p:nvPr/>
          </p:nvSpPr>
          <p:spPr>
            <a:xfrm>
              <a:off x="922782" y="5656898"/>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测试驱动程序的数目较少</a:t>
              </a:r>
            </a:p>
          </p:txBody>
        </p:sp>
        <p:sp>
          <p:nvSpPr>
            <p:cNvPr id="64" name="Rectangle 64"/>
            <p:cNvSpPr/>
            <p:nvPr/>
          </p:nvSpPr>
          <p:spPr>
            <a:xfrm>
              <a:off x="6305550" y="4831080"/>
              <a:ext cx="5353050" cy="1531620"/>
            </a:xfrm>
            <a:prstGeom prst="roundRect">
              <a:avLst>
                <a:gd name="adj" fmla="val 8706"/>
              </a:avLst>
            </a:prstGeom>
            <a:solidFill>
              <a:srgbClr val="FFFFFF"/>
            </a:solidFill>
            <a:ln w="14288">
              <a:solidFill>
                <a:srgbClr val="D9DFEA"/>
              </a:solidFill>
            </a:ln>
          </p:spPr>
        </p:sp>
        <p:sp>
          <p:nvSpPr>
            <p:cNvPr id="65" name="Rectangle 65"/>
            <p:cNvSpPr/>
            <p:nvPr/>
          </p:nvSpPr>
          <p:spPr>
            <a:xfrm>
              <a:off x="6315075" y="4964430"/>
              <a:ext cx="47625" cy="1264920"/>
            </a:xfrm>
            <a:prstGeom prst="roundRect">
              <a:avLst>
                <a:gd name="adj" fmla="val 50000"/>
              </a:avLst>
            </a:prstGeom>
            <a:solidFill>
              <a:srgbClr val="B42318"/>
            </a:solidFill>
            <a:ln>
              <a:noFill/>
            </a:ln>
          </p:spPr>
        </p:sp>
        <p:sp>
          <p:nvSpPr>
            <p:cNvPr id="66" name="TextBox 66"/>
            <p:cNvSpPr txBox="1"/>
            <p:nvPr/>
          </p:nvSpPr>
          <p:spPr>
            <a:xfrm>
              <a:off x="6523482" y="5039678"/>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缺点</a:t>
              </a:r>
            </a:p>
          </p:txBody>
        </p:sp>
        <p:sp>
          <p:nvSpPr>
            <p:cNvPr id="67" name="Ellipse 67"/>
            <p:cNvSpPr/>
            <p:nvPr/>
          </p:nvSpPr>
          <p:spPr>
            <a:xfrm>
              <a:off x="6538912" y="5413058"/>
              <a:ext cx="59055" cy="59055"/>
            </a:xfrm>
            <a:prstGeom prst="ellipse">
              <a:avLst/>
            </a:prstGeom>
            <a:solidFill>
              <a:srgbClr val="334E68"/>
            </a:solidFill>
            <a:ln>
              <a:noFill/>
            </a:ln>
          </p:spPr>
        </p:sp>
        <p:sp>
          <p:nvSpPr>
            <p:cNvPr id="68" name="TextBox 68"/>
            <p:cNvSpPr txBox="1"/>
            <p:nvPr/>
          </p:nvSpPr>
          <p:spPr>
            <a:xfrm>
              <a:off x="6694932" y="5356860"/>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对顶层组件测试进行得晚，会推迟主要错误的发现</a:t>
              </a:r>
            </a:p>
          </p:txBody>
        </p:sp>
        <p:sp>
          <p:nvSpPr>
            <p:cNvPr id="69" name="Ellipse 69"/>
            <p:cNvSpPr/>
            <p:nvPr/>
          </p:nvSpPr>
          <p:spPr>
            <a:xfrm>
              <a:off x="6538912" y="5713095"/>
              <a:ext cx="59055" cy="59055"/>
            </a:xfrm>
            <a:prstGeom prst="ellipse">
              <a:avLst/>
            </a:prstGeom>
            <a:solidFill>
              <a:srgbClr val="334E68"/>
            </a:solidFill>
            <a:ln>
              <a:noFill/>
            </a:ln>
          </p:spPr>
        </p:sp>
        <p:sp>
          <p:nvSpPr>
            <p:cNvPr id="70" name="TextBox 70"/>
            <p:cNvSpPr txBox="1"/>
            <p:nvPr/>
          </p:nvSpPr>
          <p:spPr>
            <a:xfrm>
              <a:off x="6694932" y="5656898"/>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顶层组件通常控制或影响计时，当大部分处理都依赖计时时</a:t>
              </a:r>
              <a:br/>
              <a:r>
                <a:rPr lang="zh-CN" sz="1350" dirty="0">
                  <a:solidFill>
                    <a:srgbClr val="1F2937"/>
                  </a:solidFill>
                  <a:latin typeface="+mn-lt"/>
                  <a:ea typeface="+mn-ea"/>
                  <a:cs typeface="+mn-cs"/>
                </a:rPr>
                <a:t>很难自底向上测</a:t>
              </a:r>
            </a:p>
          </p:txBody>
        </p:sp>
        <p:sp>
          <p:nvSpPr>
            <p:cNvPr id="71" name="Ellipse 71"/>
            <p:cNvSpPr/>
            <p:nvPr/>
          </p:nvSpPr>
          <p:spPr>
            <a:xfrm>
              <a:off x="5934075" y="5434965"/>
              <a:ext cx="323850" cy="323850"/>
            </a:xfrm>
            <a:prstGeom prst="ellipse">
              <a:avLst/>
            </a:prstGeom>
            <a:solidFill>
              <a:srgbClr val="F26B3A"/>
            </a:solidFill>
            <a:ln>
              <a:noFill/>
            </a:ln>
          </p:spPr>
        </p:sp>
        <p:sp>
          <p:nvSpPr>
            <p:cNvPr id="72" name="TextBox 72"/>
            <p:cNvSpPr txBox="1"/>
            <p:nvPr/>
          </p:nvSpPr>
          <p:spPr>
            <a:xfrm>
              <a:off x="6017308" y="5540692"/>
              <a:ext cx="157383" cy="176212"/>
            </a:xfrm>
            <a:prstGeom prst="rect">
              <a:avLst/>
            </a:prstGeom>
            <a:noFill/>
            <a:ln>
              <a:noFill/>
            </a:ln>
          </p:spPr>
          <p:txBody>
            <a:bodyPr wrap="none" lIns="0" tIns="0" rIns="0" bIns="0" anchor="t" anchorCtr="0">
              <a:spAutoFit/>
            </a:bodyPr>
            <a:lstStyle/>
            <a:p>
              <a:pPr algn="ctr"/>
              <a:r>
                <a:rPr lang="en-US" sz="900" b="1" dirty="0">
                  <a:solidFill>
                    <a:srgbClr val="FFFFFF"/>
                  </a:solidFill>
                  <a:latin typeface="+mn-lt"/>
                  <a:ea typeface="+mn-ea"/>
                  <a:cs typeface="+mn-cs"/>
                </a:rPr>
                <a:t>VS</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集成测试</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三明治集成：选一层作基准，上下各用一种策略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1" name="c1-flow-1"/>
          <p:cNvGrpSpPr/>
          <p:nvPr/>
        </p:nvGrpSpPr>
        <p:grpSpPr>
          <a:xfrm>
            <a:off x="836295" y="1702118"/>
            <a:ext cx="3722370" cy="2025014"/>
            <a:chOff x="836295" y="1702118"/>
            <a:chExt cx="3722370" cy="2025014"/>
          </a:xfrm>
        </p:grpSpPr>
        <p:sp>
          <p:nvSpPr>
            <p:cNvPr id="7" name="Freeform 7"/>
            <p:cNvSpPr/>
            <p:nvPr/>
          </p:nvSpPr>
          <p:spPr>
            <a:xfrm>
              <a:off x="2697480" y="2140268"/>
              <a:ext cx="9525" cy="250508"/>
            </a:xfrm>
            <a:custGeom>
              <a:avLst/>
              <a:gdLst/>
              <a:ahLst/>
              <a:cxnLst/>
              <a:rect l="l" t="t" r="r" b="b"/>
              <a:pathLst>
                <a:path w="9525" h="250508">
                  <a:moveTo>
                    <a:pt x="0" y="0"/>
                  </a:moveTo>
                  <a:lnTo>
                    <a:pt x="0" y="250508"/>
                  </a:lnTo>
                </a:path>
              </a:pathLst>
            </a:custGeom>
            <a:noFill/>
            <a:ln w="15240">
              <a:solidFill>
                <a:srgbClr val="5B6475"/>
              </a:solidFill>
            </a:ln>
          </p:spPr>
        </p:sp>
        <p:sp>
          <p:nvSpPr>
            <p:cNvPr id="8" name="Freeform 8"/>
            <p:cNvSpPr/>
            <p:nvPr/>
          </p:nvSpPr>
          <p:spPr>
            <a:xfrm>
              <a:off x="2645092" y="239077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2697480" y="3038475"/>
              <a:ext cx="9525" cy="250508"/>
            </a:xfrm>
            <a:custGeom>
              <a:avLst/>
              <a:gdLst/>
              <a:ahLst/>
              <a:cxnLst/>
              <a:rect l="l" t="t" r="r" b="b"/>
              <a:pathLst>
                <a:path w="9525" h="250508">
                  <a:moveTo>
                    <a:pt x="0" y="250508"/>
                  </a:moveTo>
                  <a:lnTo>
                    <a:pt x="0" y="0"/>
                  </a:lnTo>
                </a:path>
              </a:pathLst>
            </a:custGeom>
            <a:noFill/>
            <a:ln w="15240">
              <a:solidFill>
                <a:srgbClr val="5B6475"/>
              </a:solidFill>
            </a:ln>
          </p:spPr>
        </p:sp>
        <p:sp>
          <p:nvSpPr>
            <p:cNvPr id="10" name="Freeform 10"/>
            <p:cNvSpPr/>
            <p:nvPr/>
          </p:nvSpPr>
          <p:spPr>
            <a:xfrm>
              <a:off x="2645092" y="2933700"/>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1" name="Rectangle 11"/>
            <p:cNvSpPr/>
            <p:nvPr/>
          </p:nvSpPr>
          <p:spPr>
            <a:xfrm>
              <a:off x="836295" y="1702118"/>
              <a:ext cx="3722370" cy="438150"/>
            </a:xfrm>
            <a:prstGeom prst="roundRect">
              <a:avLst>
                <a:gd name="adj" fmla="val 50000"/>
              </a:avLst>
            </a:prstGeom>
            <a:solidFill>
              <a:srgbClr val="334E68"/>
            </a:solidFill>
            <a:ln>
              <a:noFill/>
            </a:ln>
          </p:spPr>
        </p:sp>
        <p:sp>
          <p:nvSpPr>
            <p:cNvPr id="12" name="Rectangle 12"/>
            <p:cNvSpPr/>
            <p:nvPr/>
          </p:nvSpPr>
          <p:spPr>
            <a:xfrm>
              <a:off x="836295" y="2495550"/>
              <a:ext cx="3722370" cy="438150"/>
            </a:xfrm>
            <a:prstGeom prst="roundRect">
              <a:avLst>
                <a:gd name="adj" fmla="val 21739"/>
              </a:avLst>
            </a:prstGeom>
            <a:solidFill>
              <a:srgbClr val="E7EDF3"/>
            </a:solidFill>
            <a:ln w="19050">
              <a:solidFill>
                <a:srgbClr val="334E68"/>
              </a:solidFill>
            </a:ln>
          </p:spPr>
        </p:sp>
        <p:sp>
          <p:nvSpPr>
            <p:cNvPr id="13" name="Rectangle 13"/>
            <p:cNvSpPr/>
            <p:nvPr/>
          </p:nvSpPr>
          <p:spPr>
            <a:xfrm>
              <a:off x="836295" y="3288982"/>
              <a:ext cx="3722370" cy="438150"/>
            </a:xfrm>
            <a:prstGeom prst="roundRect">
              <a:avLst>
                <a:gd name="adj" fmla="val 50000"/>
              </a:avLst>
            </a:prstGeom>
            <a:solidFill>
              <a:srgbClr val="334E68"/>
            </a:solidFill>
            <a:ln>
              <a:noFill/>
            </a:ln>
          </p:spPr>
        </p:sp>
        <p:sp>
          <p:nvSpPr>
            <p:cNvPr id="14" name="TextBox 14"/>
            <p:cNvSpPr txBox="1"/>
            <p:nvPr/>
          </p:nvSpPr>
          <p:spPr>
            <a:xfrm>
              <a:off x="1829435" y="1832134"/>
              <a:ext cx="173609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基准层以上：自顶向下</a:t>
              </a:r>
            </a:p>
          </p:txBody>
        </p:sp>
        <p:sp>
          <p:nvSpPr>
            <p:cNvPr id="15" name="TextBox 15"/>
            <p:cNvSpPr txBox="1"/>
            <p:nvPr/>
          </p:nvSpPr>
          <p:spPr>
            <a:xfrm>
              <a:off x="2001749" y="2625566"/>
              <a:ext cx="1391463"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基准层（目标层）</a:t>
              </a:r>
            </a:p>
          </p:txBody>
        </p:sp>
        <p:sp>
          <p:nvSpPr>
            <p:cNvPr id="16" name="TextBox 16"/>
            <p:cNvSpPr txBox="1"/>
            <p:nvPr/>
          </p:nvSpPr>
          <p:spPr>
            <a:xfrm>
              <a:off x="1829435" y="3418999"/>
              <a:ext cx="173609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基准层以下：自底向上</a:t>
              </a:r>
            </a:p>
          </p:txBody>
        </p:sp>
        <p:sp>
          <p:nvSpPr>
            <p:cNvPr id="17" name="Rectangle 17"/>
            <p:cNvSpPr/>
            <p:nvPr/>
          </p:nvSpPr>
          <p:spPr>
            <a:xfrm>
              <a:off x="2726055" y="2225992"/>
              <a:ext cx="762000" cy="193358"/>
            </a:xfrm>
            <a:prstGeom prst="roundRect">
              <a:avLst>
                <a:gd name="adj" fmla="val 19704"/>
              </a:avLst>
            </a:prstGeom>
            <a:solidFill>
              <a:srgbClr val="FFFFFF"/>
            </a:solidFill>
            <a:ln>
              <a:noFill/>
            </a:ln>
          </p:spPr>
        </p:sp>
        <p:sp>
          <p:nvSpPr>
            <p:cNvPr id="18" name="TextBox 18"/>
            <p:cNvSpPr txBox="1"/>
            <p:nvPr/>
          </p:nvSpPr>
          <p:spPr>
            <a:xfrm>
              <a:off x="2749296" y="2252662"/>
              <a:ext cx="717423"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向下逐层装</a:t>
              </a:r>
            </a:p>
          </p:txBody>
        </p:sp>
        <p:sp>
          <p:nvSpPr>
            <p:cNvPr id="19" name="Rectangle 19"/>
            <p:cNvSpPr/>
            <p:nvPr/>
          </p:nvSpPr>
          <p:spPr>
            <a:xfrm>
              <a:off x="2726055" y="3019425"/>
              <a:ext cx="895350" cy="193358"/>
            </a:xfrm>
            <a:prstGeom prst="roundRect">
              <a:avLst>
                <a:gd name="adj" fmla="val 19704"/>
              </a:avLst>
            </a:prstGeom>
            <a:solidFill>
              <a:srgbClr val="FFFFFF"/>
            </a:solidFill>
            <a:ln>
              <a:noFill/>
            </a:ln>
          </p:spPr>
        </p:sp>
        <p:sp>
          <p:nvSpPr>
            <p:cNvPr id="20" name="TextBox 20"/>
            <p:cNvSpPr txBox="1"/>
            <p:nvPr/>
          </p:nvSpPr>
          <p:spPr>
            <a:xfrm>
              <a:off x="2749296" y="3046095"/>
              <a:ext cx="858774"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向上逐层并簇</a:t>
              </a:r>
            </a:p>
          </p:txBody>
        </p:sp>
      </p:grpSp>
      <p:grpSp>
        <p:nvGrpSpPr>
          <p:cNvPr id="28" name="c1-card-2"/>
          <p:cNvGrpSpPr/>
          <p:nvPr/>
        </p:nvGrpSpPr>
        <p:grpSpPr>
          <a:xfrm>
            <a:off x="533400" y="4095750"/>
            <a:ext cx="4328160" cy="1956435"/>
            <a:chOff x="533400" y="4095750"/>
            <a:chExt cx="4328160" cy="1956435"/>
          </a:xfrm>
        </p:grpSpPr>
        <p:sp>
          <p:nvSpPr>
            <p:cNvPr id="22" name="Rectangle 22"/>
            <p:cNvSpPr/>
            <p:nvPr/>
          </p:nvSpPr>
          <p:spPr>
            <a:xfrm>
              <a:off x="533400" y="4095750"/>
              <a:ext cx="4328160" cy="1956435"/>
            </a:xfrm>
            <a:prstGeom prst="roundRect">
              <a:avLst>
                <a:gd name="adj" fmla="val 6816"/>
              </a:avLst>
            </a:prstGeom>
            <a:solidFill>
              <a:srgbClr val="FFFFFF"/>
            </a:solidFill>
            <a:ln w="14288">
              <a:solidFill>
                <a:srgbClr val="D9DFEA"/>
              </a:solidFill>
            </a:ln>
          </p:spPr>
        </p:sp>
        <p:sp>
          <p:nvSpPr>
            <p:cNvPr id="23" name="Rectangle 23"/>
            <p:cNvSpPr/>
            <p:nvPr/>
          </p:nvSpPr>
          <p:spPr>
            <a:xfrm>
              <a:off x="542925" y="4229100"/>
              <a:ext cx="47625" cy="1689735"/>
            </a:xfrm>
            <a:prstGeom prst="roundRect">
              <a:avLst>
                <a:gd name="adj" fmla="val 50000"/>
              </a:avLst>
            </a:prstGeom>
            <a:solidFill>
              <a:srgbClr val="334E68"/>
            </a:solidFill>
            <a:ln>
              <a:noFill/>
            </a:ln>
          </p:spPr>
        </p:sp>
        <p:sp>
          <p:nvSpPr>
            <p:cNvPr id="24" name="Rectangle 24"/>
            <p:cNvSpPr/>
            <p:nvPr/>
          </p:nvSpPr>
          <p:spPr>
            <a:xfrm>
              <a:off x="781050" y="4305300"/>
              <a:ext cx="494348" cy="257175"/>
            </a:xfrm>
            <a:prstGeom prst="roundRect">
              <a:avLst>
                <a:gd name="adj" fmla="val 50000"/>
              </a:avLst>
            </a:prstGeom>
            <a:solidFill>
              <a:srgbClr val="E7EDF3"/>
            </a:solidFill>
            <a:ln>
              <a:noFill/>
            </a:ln>
          </p:spPr>
        </p:sp>
        <p:sp>
          <p:nvSpPr>
            <p:cNvPr id="25" name="TextBox 25"/>
            <p:cNvSpPr txBox="1"/>
            <p:nvPr/>
          </p:nvSpPr>
          <p:spPr>
            <a:xfrm>
              <a:off x="871258" y="434101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关键</a:t>
              </a:r>
            </a:p>
          </p:txBody>
        </p:sp>
        <p:sp>
          <p:nvSpPr>
            <p:cNvPr id="26" name="TextBox 26"/>
            <p:cNvSpPr txBox="1"/>
            <p:nvPr/>
          </p:nvSpPr>
          <p:spPr>
            <a:xfrm>
              <a:off x="773430" y="4682490"/>
              <a:ext cx="385191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基准层选在哪里，整个测试活动就完全不同</a:t>
              </a:r>
            </a:p>
          </p:txBody>
        </p:sp>
        <p:sp>
          <p:nvSpPr>
            <p:cNvPr id="27" name="TextBox 27"/>
            <p:cNvSpPr txBox="1"/>
            <p:nvPr/>
          </p:nvSpPr>
          <p:spPr>
            <a:xfrm>
              <a:off x="773430" y="5036820"/>
              <a:ext cx="3634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在其之下的层次采用自底向上方法，为整个</a:t>
              </a:r>
              <a:br/>
              <a:r>
                <a:rPr lang="zh-CN" sz="1500" dirty="0">
                  <a:solidFill>
                    <a:srgbClr val="1F2937"/>
                  </a:solidFill>
                  <a:latin typeface="+mn-lt"/>
                  <a:ea typeface="+mn-ea"/>
                  <a:cs typeface="+mn-cs"/>
                </a:rPr>
                <a:t>测试工作提供坚实的底层基础；在其之上采</a:t>
              </a:r>
              <a:br/>
              <a:r>
                <a:rPr lang="zh-CN" sz="1500" dirty="0">
                  <a:solidFill>
                    <a:srgbClr val="1F2937"/>
                  </a:solidFill>
                  <a:latin typeface="+mn-lt"/>
                  <a:ea typeface="+mn-ea"/>
                  <a:cs typeface="+mn-cs"/>
                </a:rPr>
                <a:t>用自顶向下方法。</a:t>
              </a:r>
            </a:p>
          </p:txBody>
        </p:sp>
      </p:grpSp>
      <p:grpSp>
        <p:nvGrpSpPr>
          <p:cNvPr id="44" name="c2-table-1"/>
          <p:cNvGrpSpPr/>
          <p:nvPr/>
        </p:nvGrpSpPr>
        <p:grpSpPr>
          <a:xfrm>
            <a:off x="5166360" y="1524000"/>
            <a:ext cx="6492240" cy="2026920"/>
            <a:chOff x="5166360" y="1524000"/>
            <a:chExt cx="6492240" cy="2026920"/>
          </a:xfrm>
        </p:grpSpPr>
        <p:sp>
          <p:nvSpPr>
            <p:cNvPr id="29" name="Rectangle 29"/>
            <p:cNvSpPr/>
            <p:nvPr/>
          </p:nvSpPr>
          <p:spPr>
            <a:xfrm>
              <a:off x="5166360" y="1524000"/>
              <a:ext cx="6492240" cy="448628"/>
            </a:xfrm>
            <a:prstGeom prst="rect">
              <a:avLst/>
            </a:prstGeom>
            <a:solidFill>
              <a:srgbClr val="334E68"/>
            </a:solidFill>
            <a:ln>
              <a:noFill/>
            </a:ln>
          </p:spPr>
        </p:sp>
        <p:sp>
          <p:nvSpPr>
            <p:cNvPr id="30" name="TextBox 30"/>
            <p:cNvSpPr txBox="1"/>
            <p:nvPr/>
          </p:nvSpPr>
          <p:spPr>
            <a:xfrm>
              <a:off x="5615788" y="1659731"/>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基准层</a:t>
              </a:r>
            </a:p>
          </p:txBody>
        </p:sp>
        <p:sp>
          <p:nvSpPr>
            <p:cNvPr id="31" name="TextBox 31"/>
            <p:cNvSpPr txBox="1"/>
            <p:nvPr/>
          </p:nvSpPr>
          <p:spPr>
            <a:xfrm>
              <a:off x="7101091" y="1659731"/>
              <a:ext cx="1908404"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基准层以下（自底向上）</a:t>
              </a:r>
            </a:p>
          </p:txBody>
        </p:sp>
        <p:sp>
          <p:nvSpPr>
            <p:cNvPr id="32" name="TextBox 32"/>
            <p:cNvSpPr txBox="1"/>
            <p:nvPr/>
          </p:nvSpPr>
          <p:spPr>
            <a:xfrm>
              <a:off x="9632836" y="1659731"/>
              <a:ext cx="1908404"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基准层以上（自顶向下）</a:t>
              </a:r>
            </a:p>
          </p:txBody>
        </p:sp>
        <p:sp>
          <p:nvSpPr>
            <p:cNvPr id="33" name="TextBox 33"/>
            <p:cNvSpPr txBox="1"/>
            <p:nvPr/>
          </p:nvSpPr>
          <p:spPr>
            <a:xfrm>
              <a:off x="5274183" y="2335054"/>
              <a:ext cx="95047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B、C、D、E</a:t>
              </a:r>
            </a:p>
          </p:txBody>
        </p:sp>
        <p:sp>
          <p:nvSpPr>
            <p:cNvPr id="34" name="TextBox 34"/>
            <p:cNvSpPr txBox="1"/>
            <p:nvPr/>
          </p:nvSpPr>
          <p:spPr>
            <a:xfrm>
              <a:off x="6702933" y="2108359"/>
              <a:ext cx="2483866" cy="702754"/>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F、G、H、I、J、K、L、M、N 先并</a:t>
              </a:r>
              <a:br/>
              <a:r>
                <a:rPr lang="zh-CN" sz="1280" dirty="0">
                  <a:solidFill>
                    <a:srgbClr val="1F2937"/>
                  </a:solidFill>
                  <a:latin typeface="+mn-lt"/>
                  <a:ea typeface="+mn-ea"/>
                  <a:cs typeface="+mn-cs"/>
                </a:rPr>
                <a:t>成 B,F 和 C,G,H,L 和</a:t>
              </a:r>
              <a:br/>
              <a:r>
                <a:rPr lang="en-US" sz="1280" dirty="0">
                  <a:solidFill>
                    <a:srgbClr val="1F2937"/>
                  </a:solidFill>
                  <a:latin typeface="+mn-lt"/>
                  <a:ea typeface="+mn-ea"/>
                  <a:cs typeface="+mn-cs"/>
                </a:rPr>
                <a:t>E,I,J,K,M,N</a:t>
              </a:r>
            </a:p>
          </p:txBody>
        </p:sp>
        <p:sp>
          <p:nvSpPr>
            <p:cNvPr id="35" name="TextBox 35"/>
            <p:cNvSpPr txBox="1"/>
            <p:nvPr/>
          </p:nvSpPr>
          <p:spPr>
            <a:xfrm>
              <a:off x="9624250" y="2335054"/>
              <a:ext cx="125621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最后把 A 装上去</a:t>
              </a:r>
            </a:p>
          </p:txBody>
        </p:sp>
        <p:sp>
          <p:nvSpPr>
            <p:cNvPr id="36" name="Rectangle 36"/>
            <p:cNvSpPr/>
            <p:nvPr/>
          </p:nvSpPr>
          <p:spPr>
            <a:xfrm>
              <a:off x="5166360" y="2869882"/>
              <a:ext cx="6492240" cy="9525"/>
            </a:xfrm>
            <a:prstGeom prst="rect">
              <a:avLst/>
            </a:prstGeom>
            <a:solidFill>
              <a:srgbClr val="D9DFEA"/>
            </a:solidFill>
            <a:ln>
              <a:noFill/>
            </a:ln>
          </p:spPr>
        </p:sp>
        <p:sp>
          <p:nvSpPr>
            <p:cNvPr id="37" name="Rectangle 37"/>
            <p:cNvSpPr/>
            <p:nvPr/>
          </p:nvSpPr>
          <p:spPr>
            <a:xfrm>
              <a:off x="5166360" y="2874645"/>
              <a:ext cx="6492240" cy="675322"/>
            </a:xfrm>
            <a:prstGeom prst="rect">
              <a:avLst/>
            </a:prstGeom>
            <a:solidFill>
              <a:srgbClr val="F4F6FB"/>
            </a:solidFill>
            <a:ln>
              <a:noFill/>
            </a:ln>
          </p:spPr>
        </p:sp>
        <p:sp>
          <p:nvSpPr>
            <p:cNvPr id="38" name="TextBox 38"/>
            <p:cNvSpPr txBox="1"/>
            <p:nvPr/>
          </p:nvSpPr>
          <p:spPr>
            <a:xfrm>
              <a:off x="5274183" y="3010376"/>
              <a:ext cx="996036"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F、G、H、I、</a:t>
              </a:r>
              <a:br/>
              <a:r>
                <a:rPr lang="zh-CN" sz="1280" b="1" dirty="0">
                  <a:solidFill>
                    <a:srgbClr val="1F2937"/>
                  </a:solidFill>
                  <a:latin typeface="+mn-lt"/>
                  <a:ea typeface="+mn-ea"/>
                  <a:cs typeface="+mn-cs"/>
                </a:rPr>
                <a:t>J、K</a:t>
              </a:r>
            </a:p>
          </p:txBody>
        </p:sp>
        <p:sp>
          <p:nvSpPr>
            <p:cNvPr id="39" name="TextBox 39"/>
            <p:cNvSpPr txBox="1"/>
            <p:nvPr/>
          </p:nvSpPr>
          <p:spPr>
            <a:xfrm>
              <a:off x="6702933" y="3123724"/>
              <a:ext cx="266658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只把 L、M、N 并成 H,L 和 J,M,N</a:t>
              </a:r>
            </a:p>
          </p:txBody>
        </p:sp>
        <p:sp>
          <p:nvSpPr>
            <p:cNvPr id="40" name="TextBox 40"/>
            <p:cNvSpPr txBox="1"/>
            <p:nvPr/>
          </p:nvSpPr>
          <p:spPr>
            <a:xfrm>
              <a:off x="9624250" y="3010376"/>
              <a:ext cx="1744218"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A 与 B、C、D、E 先自顶</a:t>
              </a:r>
              <a:br/>
              <a:r>
                <a:rPr lang="zh-CN" sz="1280" dirty="0">
                  <a:solidFill>
                    <a:srgbClr val="1F2937"/>
                  </a:solidFill>
                  <a:latin typeface="+mn-lt"/>
                  <a:ea typeface="+mn-ea"/>
                  <a:cs typeface="+mn-cs"/>
                </a:rPr>
                <a:t>向下集成</a:t>
              </a:r>
            </a:p>
          </p:txBody>
        </p:sp>
        <p:sp>
          <p:nvSpPr>
            <p:cNvPr id="41" name="Rectangle 41"/>
            <p:cNvSpPr/>
            <p:nvPr/>
          </p:nvSpPr>
          <p:spPr>
            <a:xfrm>
              <a:off x="5166360" y="1524000"/>
              <a:ext cx="6492240" cy="2026920"/>
            </a:xfrm>
            <a:prstGeom prst="rect">
              <a:avLst/>
            </a:prstGeom>
            <a:noFill/>
            <a:ln w="14288">
              <a:solidFill>
                <a:srgbClr val="D9DFEA"/>
              </a:solidFill>
            </a:ln>
          </p:spPr>
        </p:sp>
        <p:sp>
          <p:nvSpPr>
            <p:cNvPr id="42" name="Rectangle 42"/>
            <p:cNvSpPr/>
            <p:nvPr/>
          </p:nvSpPr>
          <p:spPr>
            <a:xfrm>
              <a:off x="6590348" y="1524000"/>
              <a:ext cx="9525" cy="2026920"/>
            </a:xfrm>
            <a:prstGeom prst="rect">
              <a:avLst/>
            </a:prstGeom>
            <a:solidFill>
              <a:srgbClr val="D9DFEA"/>
            </a:solidFill>
            <a:ln>
              <a:noFill/>
            </a:ln>
          </p:spPr>
        </p:sp>
        <p:sp>
          <p:nvSpPr>
            <p:cNvPr id="43" name="Rectangle 43"/>
            <p:cNvSpPr/>
            <p:nvPr/>
          </p:nvSpPr>
          <p:spPr>
            <a:xfrm>
              <a:off x="9511665" y="1524000"/>
              <a:ext cx="9525" cy="2026920"/>
            </a:xfrm>
            <a:prstGeom prst="rect">
              <a:avLst/>
            </a:prstGeom>
            <a:solidFill>
              <a:srgbClr val="D9DFEA"/>
            </a:solidFill>
            <a:ln>
              <a:noFill/>
            </a:ln>
          </p:spPr>
        </p:sp>
      </p:grpSp>
      <p:grpSp>
        <p:nvGrpSpPr>
          <p:cNvPr id="59" name="c2-compare-2"/>
          <p:cNvGrpSpPr/>
          <p:nvPr/>
        </p:nvGrpSpPr>
        <p:grpSpPr>
          <a:xfrm>
            <a:off x="5166360" y="3741420"/>
            <a:ext cx="6492240" cy="2310765"/>
            <a:chOff x="5166360" y="3741420"/>
            <a:chExt cx="6492240" cy="2310765"/>
          </a:xfrm>
        </p:grpSpPr>
        <p:sp>
          <p:nvSpPr>
            <p:cNvPr id="45" name="Rectangle 45"/>
            <p:cNvSpPr/>
            <p:nvPr/>
          </p:nvSpPr>
          <p:spPr>
            <a:xfrm>
              <a:off x="5166360" y="3741420"/>
              <a:ext cx="3036570" cy="2310765"/>
            </a:xfrm>
            <a:prstGeom prst="roundRect">
              <a:avLst>
                <a:gd name="adj" fmla="val 5771"/>
              </a:avLst>
            </a:prstGeom>
            <a:solidFill>
              <a:srgbClr val="FFFFFF"/>
            </a:solidFill>
            <a:ln w="14288">
              <a:solidFill>
                <a:srgbClr val="D9DFEA"/>
              </a:solidFill>
            </a:ln>
          </p:spPr>
        </p:sp>
        <p:sp>
          <p:nvSpPr>
            <p:cNvPr id="46" name="Rectangle 46"/>
            <p:cNvSpPr/>
            <p:nvPr/>
          </p:nvSpPr>
          <p:spPr>
            <a:xfrm>
              <a:off x="5175885" y="3874770"/>
              <a:ext cx="47625" cy="2044065"/>
            </a:xfrm>
            <a:prstGeom prst="roundRect">
              <a:avLst>
                <a:gd name="adj" fmla="val 50000"/>
              </a:avLst>
            </a:prstGeom>
            <a:solidFill>
              <a:srgbClr val="14A38B"/>
            </a:solidFill>
            <a:ln>
              <a:noFill/>
            </a:ln>
          </p:spPr>
        </p:sp>
        <p:sp>
          <p:nvSpPr>
            <p:cNvPr id="47" name="TextBox 47"/>
            <p:cNvSpPr txBox="1"/>
            <p:nvPr/>
          </p:nvSpPr>
          <p:spPr>
            <a:xfrm>
              <a:off x="5406390" y="3975735"/>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优点</a:t>
              </a:r>
            </a:p>
          </p:txBody>
        </p:sp>
        <p:sp>
          <p:nvSpPr>
            <p:cNvPr id="48" name="Ellipse 48"/>
            <p:cNvSpPr/>
            <p:nvPr/>
          </p:nvSpPr>
          <p:spPr>
            <a:xfrm>
              <a:off x="5419725" y="4392930"/>
              <a:ext cx="64770" cy="64770"/>
            </a:xfrm>
            <a:prstGeom prst="ellipse">
              <a:avLst/>
            </a:prstGeom>
            <a:solidFill>
              <a:srgbClr val="334E68"/>
            </a:solidFill>
            <a:ln>
              <a:noFill/>
            </a:ln>
          </p:spPr>
        </p:sp>
        <p:sp>
          <p:nvSpPr>
            <p:cNvPr id="49" name="TextBox 49"/>
            <p:cNvSpPr txBox="1"/>
            <p:nvPr/>
          </p:nvSpPr>
          <p:spPr>
            <a:xfrm>
              <a:off x="5577840" y="433006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允许在测试的早期进行集成</a:t>
              </a:r>
              <a:br/>
              <a:r>
                <a:rPr lang="zh-CN" sz="1500" dirty="0">
                  <a:solidFill>
                    <a:srgbClr val="1F2937"/>
                  </a:solidFill>
                  <a:latin typeface="+mn-lt"/>
                  <a:ea typeface="+mn-ea"/>
                  <a:cs typeface="+mn-cs"/>
                </a:rPr>
                <a:t>测试</a:t>
              </a:r>
            </a:p>
          </p:txBody>
        </p:sp>
        <p:sp>
          <p:nvSpPr>
            <p:cNvPr id="50" name="Ellipse 50"/>
            <p:cNvSpPr/>
            <p:nvPr/>
          </p:nvSpPr>
          <p:spPr>
            <a:xfrm>
              <a:off x="5419725" y="5013960"/>
              <a:ext cx="64770" cy="64770"/>
            </a:xfrm>
            <a:prstGeom prst="ellipse">
              <a:avLst/>
            </a:prstGeom>
            <a:solidFill>
              <a:srgbClr val="334E68"/>
            </a:solidFill>
            <a:ln>
              <a:noFill/>
            </a:ln>
          </p:spPr>
        </p:sp>
        <p:sp>
          <p:nvSpPr>
            <p:cNvPr id="51" name="TextBox 51"/>
            <p:cNvSpPr txBox="1"/>
            <p:nvPr/>
          </p:nvSpPr>
          <p:spPr>
            <a:xfrm>
              <a:off x="5577840" y="4951095"/>
              <a:ext cx="2301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结合了自顶向下和自底向上</a:t>
              </a:r>
              <a:br/>
              <a:r>
                <a:rPr lang="zh-CN" sz="1500" dirty="0">
                  <a:solidFill>
                    <a:srgbClr val="1F2937"/>
                  </a:solidFill>
                  <a:latin typeface="+mn-lt"/>
                  <a:ea typeface="+mn-ea"/>
                  <a:cs typeface="+mn-cs"/>
                </a:rPr>
                <a:t>的优点，一开始就对控制和</a:t>
              </a:r>
              <a:br/>
              <a:r>
                <a:rPr lang="zh-CN" sz="1500" dirty="0">
                  <a:solidFill>
                    <a:srgbClr val="1F2937"/>
                  </a:solidFill>
                  <a:latin typeface="+mn-lt"/>
                  <a:ea typeface="+mn-ea"/>
                  <a:cs typeface="+mn-cs"/>
                </a:rPr>
                <a:t>公用程序进行测试</a:t>
              </a:r>
            </a:p>
          </p:txBody>
        </p:sp>
        <p:sp>
          <p:nvSpPr>
            <p:cNvPr id="52" name="Rectangle 52"/>
            <p:cNvSpPr/>
            <p:nvPr/>
          </p:nvSpPr>
          <p:spPr>
            <a:xfrm>
              <a:off x="8622030" y="3741420"/>
              <a:ext cx="3036570" cy="2310765"/>
            </a:xfrm>
            <a:prstGeom prst="roundRect">
              <a:avLst>
                <a:gd name="adj" fmla="val 5771"/>
              </a:avLst>
            </a:prstGeom>
            <a:solidFill>
              <a:srgbClr val="FFFFFF"/>
            </a:solidFill>
            <a:ln w="14288">
              <a:solidFill>
                <a:srgbClr val="D9DFEA"/>
              </a:solidFill>
            </a:ln>
          </p:spPr>
        </p:sp>
        <p:sp>
          <p:nvSpPr>
            <p:cNvPr id="53" name="Rectangle 53"/>
            <p:cNvSpPr/>
            <p:nvPr/>
          </p:nvSpPr>
          <p:spPr>
            <a:xfrm>
              <a:off x="8631555" y="3874770"/>
              <a:ext cx="47625" cy="2044065"/>
            </a:xfrm>
            <a:prstGeom prst="roundRect">
              <a:avLst>
                <a:gd name="adj" fmla="val 50000"/>
              </a:avLst>
            </a:prstGeom>
            <a:solidFill>
              <a:srgbClr val="B42318"/>
            </a:solidFill>
            <a:ln>
              <a:noFill/>
            </a:ln>
          </p:spPr>
        </p:sp>
        <p:sp>
          <p:nvSpPr>
            <p:cNvPr id="54" name="TextBox 54"/>
            <p:cNvSpPr txBox="1"/>
            <p:nvPr/>
          </p:nvSpPr>
          <p:spPr>
            <a:xfrm>
              <a:off x="8862060" y="3975735"/>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缺点</a:t>
              </a:r>
            </a:p>
          </p:txBody>
        </p:sp>
        <p:sp>
          <p:nvSpPr>
            <p:cNvPr id="55" name="Ellipse 55"/>
            <p:cNvSpPr/>
            <p:nvPr/>
          </p:nvSpPr>
          <p:spPr>
            <a:xfrm>
              <a:off x="8875395" y="4392930"/>
              <a:ext cx="64770" cy="64770"/>
            </a:xfrm>
            <a:prstGeom prst="ellipse">
              <a:avLst/>
            </a:prstGeom>
            <a:solidFill>
              <a:srgbClr val="334E68"/>
            </a:solidFill>
            <a:ln>
              <a:noFill/>
            </a:ln>
          </p:spPr>
        </p:sp>
        <p:sp>
          <p:nvSpPr>
            <p:cNvPr id="56" name="TextBox 56"/>
            <p:cNvSpPr txBox="1"/>
            <p:nvPr/>
          </p:nvSpPr>
          <p:spPr>
            <a:xfrm>
              <a:off x="9033510" y="4330065"/>
              <a:ext cx="2301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在集成之前没有彻底地测试</a:t>
              </a:r>
              <a:br/>
              <a:r>
                <a:rPr lang="zh-CN" sz="1500" dirty="0">
                  <a:solidFill>
                    <a:srgbClr val="1F2937"/>
                  </a:solidFill>
                  <a:latin typeface="+mn-lt"/>
                  <a:ea typeface="+mn-ea"/>
                  <a:cs typeface="+mn-cs"/>
                </a:rPr>
                <a:t>单独的组件</a:t>
              </a:r>
            </a:p>
          </p:txBody>
        </p:sp>
        <p:sp>
          <p:nvSpPr>
            <p:cNvPr id="57" name="Ellipse 57"/>
            <p:cNvSpPr/>
            <p:nvPr/>
          </p:nvSpPr>
          <p:spPr>
            <a:xfrm>
              <a:off x="8250555" y="4734878"/>
              <a:ext cx="323850" cy="323850"/>
            </a:xfrm>
            <a:prstGeom prst="ellipse">
              <a:avLst/>
            </a:prstGeom>
            <a:solidFill>
              <a:srgbClr val="F26B3A"/>
            </a:solidFill>
            <a:ln>
              <a:noFill/>
            </a:ln>
          </p:spPr>
        </p:sp>
        <p:sp>
          <p:nvSpPr>
            <p:cNvPr id="58" name="TextBox 58"/>
            <p:cNvSpPr txBox="1"/>
            <p:nvPr/>
          </p:nvSpPr>
          <p:spPr>
            <a:xfrm>
              <a:off x="8320895" y="4831080"/>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集成测试</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四种集成策略的取舍，以及为什么要做回归测试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5" name="c1-table-1"/>
          <p:cNvGrpSpPr/>
          <p:nvPr/>
        </p:nvGrpSpPr>
        <p:grpSpPr>
          <a:xfrm>
            <a:off x="533400" y="1524000"/>
            <a:ext cx="6276022" cy="2428875"/>
            <a:chOff x="533400" y="1524000"/>
            <a:chExt cx="6276022" cy="2428875"/>
          </a:xfrm>
        </p:grpSpPr>
        <p:sp>
          <p:nvSpPr>
            <p:cNvPr id="7" name="Rectangle 7"/>
            <p:cNvSpPr/>
            <p:nvPr/>
          </p:nvSpPr>
          <p:spPr>
            <a:xfrm>
              <a:off x="533400" y="1524000"/>
              <a:ext cx="6276022" cy="405765"/>
            </a:xfrm>
            <a:prstGeom prst="rect">
              <a:avLst/>
            </a:prstGeom>
            <a:solidFill>
              <a:srgbClr val="334E68"/>
            </a:solidFill>
            <a:ln>
              <a:noFill/>
            </a:ln>
          </p:spPr>
        </p:sp>
        <p:sp>
          <p:nvSpPr>
            <p:cNvPr id="8" name="TextBox 8"/>
            <p:cNvSpPr txBox="1"/>
            <p:nvPr/>
          </p:nvSpPr>
          <p:spPr>
            <a:xfrm>
              <a:off x="941743"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策略</a:t>
              </a:r>
            </a:p>
          </p:txBody>
        </p:sp>
        <p:sp>
          <p:nvSpPr>
            <p:cNvPr id="9" name="TextBox 9"/>
            <p:cNvSpPr txBox="1"/>
            <p:nvPr/>
          </p:nvSpPr>
          <p:spPr>
            <a:xfrm>
              <a:off x="1882813"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存根</a:t>
              </a:r>
            </a:p>
          </p:txBody>
        </p:sp>
        <p:sp>
          <p:nvSpPr>
            <p:cNvPr id="10" name="TextBox 10"/>
            <p:cNvSpPr txBox="1"/>
            <p:nvPr/>
          </p:nvSpPr>
          <p:spPr>
            <a:xfrm>
              <a:off x="2636241" y="16483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驱动</a:t>
              </a:r>
            </a:p>
          </p:txBody>
        </p:sp>
        <p:sp>
          <p:nvSpPr>
            <p:cNvPr id="11" name="TextBox 11"/>
            <p:cNvSpPr txBox="1"/>
            <p:nvPr/>
          </p:nvSpPr>
          <p:spPr>
            <a:xfrm>
              <a:off x="3577565" y="1648301"/>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早期能发现什么</a:t>
              </a:r>
            </a:p>
          </p:txBody>
        </p:sp>
        <p:sp>
          <p:nvSpPr>
            <p:cNvPr id="12" name="TextBox 12"/>
            <p:cNvSpPr txBox="1"/>
            <p:nvPr/>
          </p:nvSpPr>
          <p:spPr>
            <a:xfrm>
              <a:off x="5623001" y="1648301"/>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主要代价</a:t>
              </a:r>
            </a:p>
          </p:txBody>
        </p:sp>
        <p:sp>
          <p:nvSpPr>
            <p:cNvPr id="13" name="TextBox 13"/>
            <p:cNvSpPr txBox="1"/>
            <p:nvPr/>
          </p:nvSpPr>
          <p:spPr>
            <a:xfrm>
              <a:off x="633412" y="2054066"/>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一次性集成</a:t>
              </a:r>
            </a:p>
          </p:txBody>
        </p:sp>
        <p:sp>
          <p:nvSpPr>
            <p:cNvPr id="14" name="TextBox 14"/>
            <p:cNvSpPr txBox="1"/>
            <p:nvPr/>
          </p:nvSpPr>
          <p:spPr>
            <a:xfrm>
              <a:off x="1763078" y="205406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大量</a:t>
              </a:r>
            </a:p>
          </p:txBody>
        </p:sp>
        <p:sp>
          <p:nvSpPr>
            <p:cNvPr id="15" name="TextBox 15"/>
            <p:cNvSpPr txBox="1"/>
            <p:nvPr/>
          </p:nvSpPr>
          <p:spPr>
            <a:xfrm>
              <a:off x="2516505" y="205406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大量</a:t>
              </a:r>
            </a:p>
          </p:txBody>
        </p:sp>
        <p:sp>
          <p:nvSpPr>
            <p:cNvPr id="16" name="Rectangle 16"/>
            <p:cNvSpPr/>
            <p:nvPr/>
          </p:nvSpPr>
          <p:spPr>
            <a:xfrm>
              <a:off x="3178492" y="1939290"/>
              <a:ext cx="1864042" cy="386715"/>
            </a:xfrm>
            <a:prstGeom prst="rect">
              <a:avLst/>
            </a:prstGeom>
            <a:solidFill>
              <a:srgbClr val="FDECEA"/>
            </a:solidFill>
            <a:ln>
              <a:noFill/>
            </a:ln>
          </p:spPr>
        </p:sp>
        <p:sp>
          <p:nvSpPr>
            <p:cNvPr id="17" name="TextBox 17"/>
            <p:cNvSpPr txBox="1"/>
            <p:nvPr/>
          </p:nvSpPr>
          <p:spPr>
            <a:xfrm>
              <a:off x="3268980" y="2054066"/>
              <a:ext cx="61452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基本没有</a:t>
              </a:r>
            </a:p>
          </p:txBody>
        </p:sp>
        <p:sp>
          <p:nvSpPr>
            <p:cNvPr id="18" name="TextBox 18"/>
            <p:cNvSpPr txBox="1"/>
            <p:nvPr/>
          </p:nvSpPr>
          <p:spPr>
            <a:xfrm>
              <a:off x="5152072" y="2054066"/>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错误原因难定位</a:t>
              </a:r>
            </a:p>
          </p:txBody>
        </p:sp>
        <p:sp>
          <p:nvSpPr>
            <p:cNvPr id="19" name="Rectangle 19"/>
            <p:cNvSpPr/>
            <p:nvPr/>
          </p:nvSpPr>
          <p:spPr>
            <a:xfrm>
              <a:off x="533400" y="2330768"/>
              <a:ext cx="6276022" cy="9525"/>
            </a:xfrm>
            <a:prstGeom prst="rect">
              <a:avLst/>
            </a:prstGeom>
            <a:solidFill>
              <a:srgbClr val="D9DFEA"/>
            </a:solidFill>
            <a:ln>
              <a:noFill/>
            </a:ln>
          </p:spPr>
        </p:sp>
        <p:sp>
          <p:nvSpPr>
            <p:cNvPr id="20" name="Rectangle 20"/>
            <p:cNvSpPr/>
            <p:nvPr/>
          </p:nvSpPr>
          <p:spPr>
            <a:xfrm>
              <a:off x="533400" y="2335530"/>
              <a:ext cx="6276022" cy="405765"/>
            </a:xfrm>
            <a:prstGeom prst="rect">
              <a:avLst/>
            </a:prstGeom>
            <a:solidFill>
              <a:srgbClr val="F4F6FB"/>
            </a:solidFill>
            <a:ln>
              <a:noFill/>
            </a:ln>
          </p:spPr>
        </p:sp>
        <p:sp>
          <p:nvSpPr>
            <p:cNvPr id="21" name="TextBox 21"/>
            <p:cNvSpPr txBox="1"/>
            <p:nvPr/>
          </p:nvSpPr>
          <p:spPr>
            <a:xfrm>
              <a:off x="633412" y="245983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自顶向下</a:t>
              </a:r>
            </a:p>
          </p:txBody>
        </p:sp>
        <p:sp>
          <p:nvSpPr>
            <p:cNvPr id="22" name="TextBox 22"/>
            <p:cNvSpPr txBox="1"/>
            <p:nvPr/>
          </p:nvSpPr>
          <p:spPr>
            <a:xfrm>
              <a:off x="1763078" y="245983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大量</a:t>
              </a:r>
            </a:p>
          </p:txBody>
        </p:sp>
        <p:sp>
          <p:nvSpPr>
            <p:cNvPr id="23" name="TextBox 23"/>
            <p:cNvSpPr txBox="1"/>
            <p:nvPr/>
          </p:nvSpPr>
          <p:spPr>
            <a:xfrm>
              <a:off x="2516505" y="245983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不需要</a:t>
              </a:r>
            </a:p>
          </p:txBody>
        </p:sp>
        <p:sp>
          <p:nvSpPr>
            <p:cNvPr id="24" name="TextBox 24"/>
            <p:cNvSpPr txBox="1"/>
            <p:nvPr/>
          </p:nvSpPr>
          <p:spPr>
            <a:xfrm>
              <a:off x="3268980" y="2459831"/>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主要控制与关键抉择</a:t>
              </a:r>
            </a:p>
          </p:txBody>
        </p:sp>
        <p:sp>
          <p:nvSpPr>
            <p:cNvPr id="25" name="TextBox 25"/>
            <p:cNvSpPr txBox="1"/>
            <p:nvPr/>
          </p:nvSpPr>
          <p:spPr>
            <a:xfrm>
              <a:off x="5152072" y="2459831"/>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低层数据流缺失</a:t>
              </a:r>
            </a:p>
          </p:txBody>
        </p:sp>
        <p:sp>
          <p:nvSpPr>
            <p:cNvPr id="26" name="Rectangle 26"/>
            <p:cNvSpPr/>
            <p:nvPr/>
          </p:nvSpPr>
          <p:spPr>
            <a:xfrm>
              <a:off x="533400" y="2736532"/>
              <a:ext cx="6276022" cy="9525"/>
            </a:xfrm>
            <a:prstGeom prst="rect">
              <a:avLst/>
            </a:prstGeom>
            <a:solidFill>
              <a:srgbClr val="D9DFEA"/>
            </a:solidFill>
            <a:ln>
              <a:noFill/>
            </a:ln>
          </p:spPr>
        </p:sp>
        <p:sp>
          <p:nvSpPr>
            <p:cNvPr id="27" name="TextBox 27"/>
            <p:cNvSpPr txBox="1"/>
            <p:nvPr/>
          </p:nvSpPr>
          <p:spPr>
            <a:xfrm>
              <a:off x="633412" y="306562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自底向上</a:t>
              </a:r>
            </a:p>
          </p:txBody>
        </p:sp>
        <p:sp>
          <p:nvSpPr>
            <p:cNvPr id="28" name="TextBox 28"/>
            <p:cNvSpPr txBox="1"/>
            <p:nvPr/>
          </p:nvSpPr>
          <p:spPr>
            <a:xfrm>
              <a:off x="1763078" y="3065621"/>
              <a:ext cx="46375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不需要</a:t>
              </a:r>
            </a:p>
          </p:txBody>
        </p:sp>
        <p:sp>
          <p:nvSpPr>
            <p:cNvPr id="29" name="TextBox 29"/>
            <p:cNvSpPr txBox="1"/>
            <p:nvPr/>
          </p:nvSpPr>
          <p:spPr>
            <a:xfrm>
              <a:off x="2516505" y="2865596"/>
              <a:ext cx="295910" cy="620078"/>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需要</a:t>
              </a:r>
              <a:br/>
              <a:r>
                <a:rPr lang="zh-CN" sz="1120" dirty="0">
                  <a:solidFill>
                    <a:srgbClr val="1F2937"/>
                  </a:solidFill>
                  <a:latin typeface="+mn-lt"/>
                  <a:ea typeface="+mn-ea"/>
                  <a:cs typeface="+mn-cs"/>
                </a:rPr>
                <a:t>（较</a:t>
              </a:r>
              <a:br/>
              <a:r>
                <a:rPr lang="zh-CN" sz="1120" dirty="0">
                  <a:solidFill>
                    <a:srgbClr val="1F2937"/>
                  </a:solidFill>
                  <a:latin typeface="+mn-lt"/>
                  <a:ea typeface="+mn-ea"/>
                  <a:cs typeface="+mn-cs"/>
                </a:rPr>
                <a:t>少）</a:t>
              </a:r>
            </a:p>
          </p:txBody>
        </p:sp>
        <p:sp>
          <p:nvSpPr>
            <p:cNvPr id="30" name="TextBox 30"/>
            <p:cNvSpPr txBox="1"/>
            <p:nvPr/>
          </p:nvSpPr>
          <p:spPr>
            <a:xfrm>
              <a:off x="3268980" y="3065621"/>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底层公用模块</a:t>
              </a:r>
            </a:p>
          </p:txBody>
        </p:sp>
        <p:sp>
          <p:nvSpPr>
            <p:cNvPr id="31" name="TextBox 31"/>
            <p:cNvSpPr txBox="1"/>
            <p:nvPr/>
          </p:nvSpPr>
          <p:spPr>
            <a:xfrm>
              <a:off x="5152072" y="3065621"/>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顶层错误发现得晚</a:t>
              </a:r>
            </a:p>
          </p:txBody>
        </p:sp>
        <p:sp>
          <p:nvSpPr>
            <p:cNvPr id="32" name="Rectangle 32"/>
            <p:cNvSpPr/>
            <p:nvPr/>
          </p:nvSpPr>
          <p:spPr>
            <a:xfrm>
              <a:off x="533400" y="3542348"/>
              <a:ext cx="6276022" cy="9525"/>
            </a:xfrm>
            <a:prstGeom prst="rect">
              <a:avLst/>
            </a:prstGeom>
            <a:solidFill>
              <a:srgbClr val="D9DFEA"/>
            </a:solidFill>
            <a:ln>
              <a:noFill/>
            </a:ln>
          </p:spPr>
        </p:sp>
        <p:sp>
          <p:nvSpPr>
            <p:cNvPr id="33" name="Rectangle 33"/>
            <p:cNvSpPr/>
            <p:nvPr/>
          </p:nvSpPr>
          <p:spPr>
            <a:xfrm>
              <a:off x="533400" y="3547110"/>
              <a:ext cx="6276022" cy="405765"/>
            </a:xfrm>
            <a:prstGeom prst="rect">
              <a:avLst/>
            </a:prstGeom>
            <a:solidFill>
              <a:srgbClr val="F4F6FB"/>
            </a:solidFill>
            <a:ln>
              <a:noFill/>
            </a:ln>
          </p:spPr>
        </p:sp>
        <p:sp>
          <p:nvSpPr>
            <p:cNvPr id="34" name="TextBox 34"/>
            <p:cNvSpPr txBox="1"/>
            <p:nvPr/>
          </p:nvSpPr>
          <p:spPr>
            <a:xfrm>
              <a:off x="633412" y="3671411"/>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三明治集成</a:t>
              </a:r>
            </a:p>
          </p:txBody>
        </p:sp>
        <p:sp>
          <p:nvSpPr>
            <p:cNvPr id="35" name="TextBox 35"/>
            <p:cNvSpPr txBox="1"/>
            <p:nvPr/>
          </p:nvSpPr>
          <p:spPr>
            <a:xfrm>
              <a:off x="1763078" y="367141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较少</a:t>
              </a:r>
            </a:p>
          </p:txBody>
        </p:sp>
        <p:sp>
          <p:nvSpPr>
            <p:cNvPr id="36" name="TextBox 36"/>
            <p:cNvSpPr txBox="1"/>
            <p:nvPr/>
          </p:nvSpPr>
          <p:spPr>
            <a:xfrm>
              <a:off x="2516505" y="367141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较少</a:t>
              </a:r>
            </a:p>
          </p:txBody>
        </p:sp>
        <p:sp>
          <p:nvSpPr>
            <p:cNvPr id="37" name="Rectangle 37"/>
            <p:cNvSpPr/>
            <p:nvPr/>
          </p:nvSpPr>
          <p:spPr>
            <a:xfrm>
              <a:off x="3178492" y="3556635"/>
              <a:ext cx="1864042" cy="386715"/>
            </a:xfrm>
            <a:prstGeom prst="rect">
              <a:avLst/>
            </a:prstGeom>
            <a:solidFill>
              <a:srgbClr val="E3F5F1"/>
            </a:solidFill>
            <a:ln>
              <a:noFill/>
            </a:ln>
          </p:spPr>
        </p:sp>
        <p:sp>
          <p:nvSpPr>
            <p:cNvPr id="38" name="TextBox 38"/>
            <p:cNvSpPr txBox="1"/>
            <p:nvPr/>
          </p:nvSpPr>
          <p:spPr>
            <a:xfrm>
              <a:off x="3268980" y="3671411"/>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控制与公用程序</a:t>
              </a:r>
            </a:p>
          </p:txBody>
        </p:sp>
        <p:sp>
          <p:nvSpPr>
            <p:cNvPr id="39" name="TextBox 39"/>
            <p:cNvSpPr txBox="1"/>
            <p:nvPr/>
          </p:nvSpPr>
          <p:spPr>
            <a:xfrm>
              <a:off x="5152072" y="3671411"/>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单独组件未彻底测试</a:t>
              </a:r>
            </a:p>
          </p:txBody>
        </p:sp>
        <p:sp>
          <p:nvSpPr>
            <p:cNvPr id="40" name="Rectangle 40"/>
            <p:cNvSpPr/>
            <p:nvPr/>
          </p:nvSpPr>
          <p:spPr>
            <a:xfrm>
              <a:off x="533400" y="1524000"/>
              <a:ext cx="6276022" cy="2428875"/>
            </a:xfrm>
            <a:prstGeom prst="rect">
              <a:avLst/>
            </a:prstGeom>
            <a:noFill/>
            <a:ln w="14288">
              <a:solidFill>
                <a:srgbClr val="D9DFEA"/>
              </a:solidFill>
            </a:ln>
          </p:spPr>
        </p:sp>
        <p:sp>
          <p:nvSpPr>
            <p:cNvPr id="41" name="Rectangle 41"/>
            <p:cNvSpPr/>
            <p:nvPr/>
          </p:nvSpPr>
          <p:spPr>
            <a:xfrm>
              <a:off x="1658302" y="1524000"/>
              <a:ext cx="9525" cy="2428875"/>
            </a:xfrm>
            <a:prstGeom prst="rect">
              <a:avLst/>
            </a:prstGeom>
            <a:solidFill>
              <a:srgbClr val="D9DFEA"/>
            </a:solidFill>
            <a:ln>
              <a:noFill/>
            </a:ln>
          </p:spPr>
        </p:sp>
        <p:sp>
          <p:nvSpPr>
            <p:cNvPr id="42" name="Rectangle 42"/>
            <p:cNvSpPr/>
            <p:nvPr/>
          </p:nvSpPr>
          <p:spPr>
            <a:xfrm>
              <a:off x="2411730" y="1524000"/>
              <a:ext cx="9525" cy="2428875"/>
            </a:xfrm>
            <a:prstGeom prst="rect">
              <a:avLst/>
            </a:prstGeom>
            <a:solidFill>
              <a:srgbClr val="D9DFEA"/>
            </a:solidFill>
            <a:ln>
              <a:noFill/>
            </a:ln>
          </p:spPr>
        </p:sp>
        <p:sp>
          <p:nvSpPr>
            <p:cNvPr id="43" name="Rectangle 43"/>
            <p:cNvSpPr/>
            <p:nvPr/>
          </p:nvSpPr>
          <p:spPr>
            <a:xfrm>
              <a:off x="3164205" y="1524000"/>
              <a:ext cx="9525" cy="2428875"/>
            </a:xfrm>
            <a:prstGeom prst="rect">
              <a:avLst/>
            </a:prstGeom>
            <a:solidFill>
              <a:srgbClr val="D9DFEA"/>
            </a:solidFill>
            <a:ln>
              <a:noFill/>
            </a:ln>
          </p:spPr>
        </p:sp>
        <p:sp>
          <p:nvSpPr>
            <p:cNvPr id="44" name="Rectangle 44"/>
            <p:cNvSpPr/>
            <p:nvPr/>
          </p:nvSpPr>
          <p:spPr>
            <a:xfrm>
              <a:off x="5047298" y="1524000"/>
              <a:ext cx="9525" cy="2428875"/>
            </a:xfrm>
            <a:prstGeom prst="rect">
              <a:avLst/>
            </a:prstGeom>
            <a:solidFill>
              <a:srgbClr val="D9DFEA"/>
            </a:solidFill>
            <a:ln>
              <a:noFill/>
            </a:ln>
          </p:spPr>
        </p:sp>
      </p:grpSp>
      <p:grpSp>
        <p:nvGrpSpPr>
          <p:cNvPr id="52" name="c1-callout-2"/>
          <p:cNvGrpSpPr/>
          <p:nvPr/>
        </p:nvGrpSpPr>
        <p:grpSpPr>
          <a:xfrm>
            <a:off x="533400" y="4128135"/>
            <a:ext cx="6276022" cy="729615"/>
            <a:chOff x="533400" y="4128135"/>
            <a:chExt cx="6276022" cy="729615"/>
          </a:xfrm>
        </p:grpSpPr>
        <p:sp>
          <p:nvSpPr>
            <p:cNvPr id="46" name="Rectangle 46"/>
            <p:cNvSpPr/>
            <p:nvPr/>
          </p:nvSpPr>
          <p:spPr>
            <a:xfrm>
              <a:off x="533400" y="4128135"/>
              <a:ext cx="6276022" cy="729615"/>
            </a:xfrm>
            <a:prstGeom prst="roundRect">
              <a:avLst>
                <a:gd name="adj" fmla="val 15666"/>
              </a:avLst>
            </a:prstGeom>
            <a:solidFill>
              <a:srgbClr val="FDEEE7"/>
            </a:solidFill>
            <a:ln>
              <a:noFill/>
            </a:ln>
          </p:spPr>
        </p:sp>
        <p:grpSp>
          <p:nvGrpSpPr>
            <p:cNvPr id="50" name="Group 50"/>
            <p:cNvGrpSpPr/>
            <p:nvPr/>
          </p:nvGrpSpPr>
          <p:grpSpPr>
            <a:xfrm>
              <a:off x="738188" y="4392930"/>
              <a:ext cx="200026" cy="200025"/>
              <a:chOff x="738188" y="4392930"/>
              <a:chExt cx="200026" cy="200025"/>
            </a:xfrm>
          </p:grpSpPr>
          <p:sp>
            <p:nvSpPr>
              <p:cNvPr id="47" name="Freeform 47"/>
              <p:cNvSpPr/>
              <p:nvPr/>
            </p:nvSpPr>
            <p:spPr>
              <a:xfrm>
                <a:off x="738188" y="439293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8" name="Freeform 48"/>
              <p:cNvSpPr/>
              <p:nvPr/>
            </p:nvSpPr>
            <p:spPr>
              <a:xfrm>
                <a:off x="777926" y="443738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9" name="Freeform 49"/>
              <p:cNvSpPr/>
              <p:nvPr/>
            </p:nvSpPr>
            <p:spPr>
              <a:xfrm>
                <a:off x="812642" y="454850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1" name="TextBox 51"/>
            <p:cNvSpPr txBox="1"/>
            <p:nvPr/>
          </p:nvSpPr>
          <p:spPr>
            <a:xfrm>
              <a:off x="1040892" y="4273868"/>
              <a:ext cx="53286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选策略先看风险落在哪里：控制逻辑复杂、关键抉择集中在上层就自顶</a:t>
              </a:r>
              <a:br/>
              <a:r>
                <a:rPr lang="zh-CN" sz="1350" dirty="0">
                  <a:solidFill>
                    <a:srgbClr val="C2410C"/>
                  </a:solidFill>
                  <a:latin typeface="+mn-lt"/>
                  <a:ea typeface="+mn-ea"/>
                  <a:cs typeface="+mn-cs"/>
                </a:rPr>
                <a:t>向下；底层公用模块多、复用组件多就自底向上。</a:t>
              </a:r>
            </a:p>
          </p:txBody>
        </p:sp>
      </p:grpSp>
      <p:grpSp>
        <p:nvGrpSpPr>
          <p:cNvPr id="59" name="c1-card-3"/>
          <p:cNvGrpSpPr/>
          <p:nvPr/>
        </p:nvGrpSpPr>
        <p:grpSpPr>
          <a:xfrm>
            <a:off x="533400" y="5032058"/>
            <a:ext cx="6276022" cy="1226820"/>
            <a:chOff x="533400" y="5032058"/>
            <a:chExt cx="6276022" cy="1226820"/>
          </a:xfrm>
        </p:grpSpPr>
        <p:sp>
          <p:nvSpPr>
            <p:cNvPr id="53" name="Rectangle 53"/>
            <p:cNvSpPr/>
            <p:nvPr/>
          </p:nvSpPr>
          <p:spPr>
            <a:xfrm>
              <a:off x="533400" y="5032058"/>
              <a:ext cx="6276022" cy="1226820"/>
            </a:xfrm>
            <a:prstGeom prst="roundRect">
              <a:avLst>
                <a:gd name="adj" fmla="val 10870"/>
              </a:avLst>
            </a:prstGeom>
            <a:solidFill>
              <a:srgbClr val="FFFFFF"/>
            </a:solidFill>
            <a:ln w="14288">
              <a:solidFill>
                <a:srgbClr val="D9DFEA"/>
              </a:solidFill>
            </a:ln>
          </p:spPr>
        </p:sp>
        <p:sp>
          <p:nvSpPr>
            <p:cNvPr id="54" name="Rectangle 54"/>
            <p:cNvSpPr/>
            <p:nvPr/>
          </p:nvSpPr>
          <p:spPr>
            <a:xfrm>
              <a:off x="542925" y="5165408"/>
              <a:ext cx="47625" cy="960120"/>
            </a:xfrm>
            <a:prstGeom prst="roundRect">
              <a:avLst>
                <a:gd name="adj" fmla="val 50000"/>
              </a:avLst>
            </a:prstGeom>
            <a:solidFill>
              <a:srgbClr val="5B6475"/>
            </a:solidFill>
            <a:ln>
              <a:noFill/>
            </a:ln>
          </p:spPr>
        </p:sp>
        <p:sp>
          <p:nvSpPr>
            <p:cNvPr id="55" name="Rectangle 55"/>
            <p:cNvSpPr/>
            <p:nvPr/>
          </p:nvSpPr>
          <p:spPr>
            <a:xfrm>
              <a:off x="763905" y="5224462"/>
              <a:ext cx="476250" cy="247650"/>
            </a:xfrm>
            <a:prstGeom prst="roundRect">
              <a:avLst>
                <a:gd name="adj" fmla="val 50000"/>
              </a:avLst>
            </a:prstGeom>
            <a:solidFill>
              <a:srgbClr val="F4F6FB"/>
            </a:solidFill>
            <a:ln>
              <a:noFill/>
            </a:ln>
          </p:spPr>
        </p:sp>
        <p:sp>
          <p:nvSpPr>
            <p:cNvPr id="56" name="TextBox 56"/>
            <p:cNvSpPr txBox="1"/>
            <p:nvPr/>
          </p:nvSpPr>
          <p:spPr>
            <a:xfrm>
              <a:off x="855345" y="5258752"/>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提醒</a:t>
              </a:r>
            </a:p>
          </p:txBody>
        </p:sp>
        <p:sp>
          <p:nvSpPr>
            <p:cNvPr id="57" name="TextBox 57"/>
            <p:cNvSpPr txBox="1"/>
            <p:nvPr/>
          </p:nvSpPr>
          <p:spPr>
            <a:xfrm>
              <a:off x="1347597" y="5264468"/>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四种策略都离不开回归测试</a:t>
              </a:r>
            </a:p>
          </p:txBody>
        </p:sp>
        <p:sp>
          <p:nvSpPr>
            <p:cNvPr id="58" name="TextBox 58"/>
            <p:cNvSpPr txBox="1"/>
            <p:nvPr/>
          </p:nvSpPr>
          <p:spPr>
            <a:xfrm>
              <a:off x="757047" y="5598795"/>
              <a:ext cx="55001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每装上一个模块都要重跑已经通过的用例，否则新接口引入的错误会被后</a:t>
              </a:r>
              <a:br/>
              <a:r>
                <a:rPr lang="zh-CN" sz="1350" dirty="0">
                  <a:solidFill>
                    <a:srgbClr val="1F2937"/>
                  </a:solidFill>
                  <a:latin typeface="+mn-lt"/>
                  <a:ea typeface="+mn-ea"/>
                  <a:cs typeface="+mn-cs"/>
                </a:rPr>
                <a:t>面的组装淹没。</a:t>
              </a:r>
            </a:p>
          </p:txBody>
        </p:sp>
      </p:grpSp>
      <p:grpSp>
        <p:nvGrpSpPr>
          <p:cNvPr id="66" name="c2-card-1"/>
          <p:cNvGrpSpPr/>
          <p:nvPr/>
        </p:nvGrpSpPr>
        <p:grpSpPr>
          <a:xfrm>
            <a:off x="7114222" y="1524000"/>
            <a:ext cx="4544378" cy="1483995"/>
            <a:chOff x="7114222" y="1524000"/>
            <a:chExt cx="4544378" cy="1483995"/>
          </a:xfrm>
        </p:grpSpPr>
        <p:sp>
          <p:nvSpPr>
            <p:cNvPr id="60" name="Rectangle 60"/>
            <p:cNvSpPr/>
            <p:nvPr/>
          </p:nvSpPr>
          <p:spPr>
            <a:xfrm>
              <a:off x="7114222" y="1524000"/>
              <a:ext cx="4544378" cy="1483995"/>
            </a:xfrm>
            <a:prstGeom prst="roundRect">
              <a:avLst>
                <a:gd name="adj" fmla="val 8986"/>
              </a:avLst>
            </a:prstGeom>
            <a:solidFill>
              <a:srgbClr val="FFFFFF"/>
            </a:solidFill>
            <a:ln w="14288">
              <a:solidFill>
                <a:srgbClr val="D9DFEA"/>
              </a:solidFill>
            </a:ln>
          </p:spPr>
        </p:sp>
        <p:sp>
          <p:nvSpPr>
            <p:cNvPr id="61" name="Rectangle 61"/>
            <p:cNvSpPr/>
            <p:nvPr/>
          </p:nvSpPr>
          <p:spPr>
            <a:xfrm>
              <a:off x="7123748" y="1657350"/>
              <a:ext cx="47625" cy="1217295"/>
            </a:xfrm>
            <a:prstGeom prst="roundRect">
              <a:avLst>
                <a:gd name="adj" fmla="val 50000"/>
              </a:avLst>
            </a:prstGeom>
            <a:solidFill>
              <a:srgbClr val="334E68"/>
            </a:solidFill>
            <a:ln>
              <a:noFill/>
            </a:ln>
          </p:spPr>
        </p:sp>
        <p:sp>
          <p:nvSpPr>
            <p:cNvPr id="62" name="Rectangle 62"/>
            <p:cNvSpPr/>
            <p:nvPr/>
          </p:nvSpPr>
          <p:spPr>
            <a:xfrm>
              <a:off x="7344728" y="1716405"/>
              <a:ext cx="476250" cy="247650"/>
            </a:xfrm>
            <a:prstGeom prst="roundRect">
              <a:avLst>
                <a:gd name="adj" fmla="val 50000"/>
              </a:avLst>
            </a:prstGeom>
            <a:solidFill>
              <a:srgbClr val="E7EDF3"/>
            </a:solidFill>
            <a:ln>
              <a:noFill/>
            </a:ln>
          </p:spPr>
        </p:sp>
        <p:sp>
          <p:nvSpPr>
            <p:cNvPr id="63" name="TextBox 63"/>
            <p:cNvSpPr txBox="1"/>
            <p:nvPr/>
          </p:nvSpPr>
          <p:spPr>
            <a:xfrm>
              <a:off x="7436168" y="1750695"/>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64" name="TextBox 64"/>
            <p:cNvSpPr txBox="1"/>
            <p:nvPr/>
          </p:nvSpPr>
          <p:spPr>
            <a:xfrm>
              <a:off x="7928420" y="1756410"/>
              <a:ext cx="227679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回归测试 regression test</a:t>
              </a:r>
            </a:p>
          </p:txBody>
        </p:sp>
        <p:sp>
          <p:nvSpPr>
            <p:cNvPr id="65" name="TextBox 65"/>
            <p:cNvSpPr txBox="1"/>
            <p:nvPr/>
          </p:nvSpPr>
          <p:spPr>
            <a:xfrm>
              <a:off x="7337870" y="2090738"/>
              <a:ext cx="39570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重新执行已经做过的测试的某个子集，以保证由于调</a:t>
              </a:r>
              <a:br/>
              <a:r>
                <a:rPr lang="zh-CN" sz="1350" dirty="0">
                  <a:solidFill>
                    <a:srgbClr val="1F2937"/>
                  </a:solidFill>
                  <a:latin typeface="+mn-lt"/>
                  <a:ea typeface="+mn-ea"/>
                  <a:cs typeface="+mn-cs"/>
                </a:rPr>
                <a:t>试或其他原因引起的变化，不会导致非预期的软件行</a:t>
              </a:r>
              <a:br/>
              <a:r>
                <a:rPr lang="zh-CN" sz="1350" dirty="0">
                  <a:solidFill>
                    <a:srgbClr val="1F2937"/>
                  </a:solidFill>
                  <a:latin typeface="+mn-lt"/>
                  <a:ea typeface="+mn-ea"/>
                  <a:cs typeface="+mn-cs"/>
                </a:rPr>
                <a:t>为或额外错误。</a:t>
              </a:r>
            </a:p>
          </p:txBody>
        </p:sp>
      </p:grpSp>
      <p:grpSp>
        <p:nvGrpSpPr>
          <p:cNvPr id="77" name="c2-bullets-2"/>
          <p:cNvGrpSpPr/>
          <p:nvPr/>
        </p:nvGrpSpPr>
        <p:grpSpPr>
          <a:xfrm>
            <a:off x="7107364" y="3205162"/>
            <a:ext cx="4116896" cy="1206056"/>
            <a:chOff x="7107364" y="3205162"/>
            <a:chExt cx="4116896" cy="1206056"/>
          </a:xfrm>
        </p:grpSpPr>
        <p:sp>
          <p:nvSpPr>
            <p:cNvPr id="67" name="TextBox 67"/>
            <p:cNvSpPr txBox="1"/>
            <p:nvPr/>
          </p:nvSpPr>
          <p:spPr>
            <a:xfrm>
              <a:off x="7107364" y="3205162"/>
              <a:ext cx="2012823"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回归测试集包含三类用例</a:t>
              </a:r>
            </a:p>
          </p:txBody>
        </p:sp>
        <p:sp>
          <p:nvSpPr>
            <p:cNvPr id="68" name="Ellipse 68"/>
            <p:cNvSpPr/>
            <p:nvPr/>
          </p:nvSpPr>
          <p:spPr>
            <a:xfrm>
              <a:off x="7114222" y="3512820"/>
              <a:ext cx="192405" cy="192405"/>
            </a:xfrm>
            <a:prstGeom prst="ellipse">
              <a:avLst/>
            </a:prstGeom>
            <a:solidFill>
              <a:srgbClr val="334E68"/>
            </a:solidFill>
            <a:ln>
              <a:noFill/>
            </a:ln>
          </p:spPr>
        </p:sp>
        <p:sp>
          <p:nvSpPr>
            <p:cNvPr id="69" name="TextBox 69"/>
            <p:cNvSpPr txBox="1"/>
            <p:nvPr/>
          </p:nvSpPr>
          <p:spPr>
            <a:xfrm>
              <a:off x="7169901" y="355120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70" name="TextBox 70"/>
            <p:cNvSpPr txBox="1"/>
            <p:nvPr/>
          </p:nvSpPr>
          <p:spPr>
            <a:xfrm>
              <a:off x="7394067" y="3525202"/>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检测软件全部功能的代表性测试用例</a:t>
              </a:r>
            </a:p>
          </p:txBody>
        </p:sp>
        <p:sp>
          <p:nvSpPr>
            <p:cNvPr id="71" name="Ellipse 71"/>
            <p:cNvSpPr/>
            <p:nvPr/>
          </p:nvSpPr>
          <p:spPr>
            <a:xfrm>
              <a:off x="7114222" y="3824288"/>
              <a:ext cx="192405" cy="192405"/>
            </a:xfrm>
            <a:prstGeom prst="ellipse">
              <a:avLst/>
            </a:prstGeom>
            <a:solidFill>
              <a:srgbClr val="334E68"/>
            </a:solidFill>
            <a:ln>
              <a:noFill/>
            </a:ln>
          </p:spPr>
        </p:sp>
        <p:sp>
          <p:nvSpPr>
            <p:cNvPr id="72" name="TextBox 72"/>
            <p:cNvSpPr txBox="1"/>
            <p:nvPr/>
          </p:nvSpPr>
          <p:spPr>
            <a:xfrm>
              <a:off x="7169901" y="386267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73" name="TextBox 73"/>
            <p:cNvSpPr txBox="1"/>
            <p:nvPr/>
          </p:nvSpPr>
          <p:spPr>
            <a:xfrm>
              <a:off x="7394067" y="3836670"/>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专门针对可能受修改影响的软件功能的附加测试</a:t>
              </a:r>
            </a:p>
          </p:txBody>
        </p:sp>
        <p:sp>
          <p:nvSpPr>
            <p:cNvPr id="74" name="Ellipse 74"/>
            <p:cNvSpPr/>
            <p:nvPr/>
          </p:nvSpPr>
          <p:spPr>
            <a:xfrm>
              <a:off x="7114222" y="4135755"/>
              <a:ext cx="192405" cy="192405"/>
            </a:xfrm>
            <a:prstGeom prst="ellipse">
              <a:avLst/>
            </a:prstGeom>
            <a:solidFill>
              <a:srgbClr val="334E68"/>
            </a:solidFill>
            <a:ln>
              <a:noFill/>
            </a:ln>
          </p:spPr>
        </p:sp>
        <p:sp>
          <p:nvSpPr>
            <p:cNvPr id="75" name="TextBox 75"/>
            <p:cNvSpPr txBox="1"/>
            <p:nvPr/>
          </p:nvSpPr>
          <p:spPr>
            <a:xfrm>
              <a:off x="7169901" y="417414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76" name="TextBox 76"/>
            <p:cNvSpPr txBox="1"/>
            <p:nvPr/>
          </p:nvSpPr>
          <p:spPr>
            <a:xfrm>
              <a:off x="7394067" y="4147185"/>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针对被修改过的软件成分的测试</a:t>
              </a:r>
            </a:p>
          </p:txBody>
        </p:sp>
      </p:grpSp>
      <p:grpSp>
        <p:nvGrpSpPr>
          <p:cNvPr id="83" name="c2-callout-3"/>
          <p:cNvGrpSpPr/>
          <p:nvPr/>
        </p:nvGrpSpPr>
        <p:grpSpPr>
          <a:xfrm>
            <a:off x="7114222" y="4533900"/>
            <a:ext cx="4544378" cy="1725930"/>
            <a:chOff x="7114222" y="4533900"/>
            <a:chExt cx="4544378" cy="1725930"/>
          </a:xfrm>
        </p:grpSpPr>
        <p:sp>
          <p:nvSpPr>
            <p:cNvPr id="78" name="Rectangle 78"/>
            <p:cNvSpPr/>
            <p:nvPr/>
          </p:nvSpPr>
          <p:spPr>
            <a:xfrm>
              <a:off x="7114222" y="4533900"/>
              <a:ext cx="4544378" cy="1725930"/>
            </a:xfrm>
            <a:prstGeom prst="roundRect">
              <a:avLst>
                <a:gd name="adj" fmla="val 6623"/>
              </a:avLst>
            </a:prstGeom>
            <a:solidFill>
              <a:srgbClr val="334E68"/>
            </a:solidFill>
            <a:ln>
              <a:noFill/>
            </a:ln>
          </p:spPr>
        </p:sp>
        <p:grpSp>
          <p:nvGrpSpPr>
            <p:cNvPr id="81" name="Group 81"/>
            <p:cNvGrpSpPr/>
            <p:nvPr/>
          </p:nvGrpSpPr>
          <p:grpSpPr>
            <a:xfrm>
              <a:off x="7319010" y="5296855"/>
              <a:ext cx="200023" cy="200023"/>
              <a:chOff x="7319010" y="5296855"/>
              <a:chExt cx="200023" cy="200023"/>
            </a:xfrm>
          </p:grpSpPr>
          <p:sp>
            <p:nvSpPr>
              <p:cNvPr id="79" name="Freeform 79"/>
              <p:cNvSpPr/>
              <p:nvPr/>
            </p:nvSpPr>
            <p:spPr>
              <a:xfrm>
                <a:off x="7319010" y="529685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0" name="Freeform 80"/>
              <p:cNvSpPr/>
              <p:nvPr/>
            </p:nvSpPr>
            <p:spPr>
              <a:xfrm>
                <a:off x="7452360" y="536352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2" name="TextBox 82"/>
            <p:cNvSpPr txBox="1"/>
            <p:nvPr/>
          </p:nvSpPr>
          <p:spPr>
            <a:xfrm>
              <a:off x="7621714" y="5177790"/>
              <a:ext cx="36141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每改一处代码就跑一次回归测试集，这是渐增式</a:t>
              </a:r>
              <a:br/>
              <a:r>
                <a:rPr lang="zh-CN" sz="1350" dirty="0">
                  <a:solidFill>
                    <a:srgbClr val="FFFFFF"/>
                  </a:solidFill>
                  <a:latin typeface="+mn-lt"/>
                  <a:ea typeface="+mn-ea"/>
                  <a:cs typeface="+mn-cs"/>
                </a:rPr>
                <a:t>集成能够一直往前推进的前提。</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16" name="section-title"/>
          <p:cNvGrpSpPr/>
          <p:nvPr/>
        </p:nvGrpSpPr>
        <p:grpSpPr>
          <a:xfrm>
            <a:off x="667512" y="1835468"/>
            <a:ext cx="4024884" cy="2997517"/>
            <a:chOff x="667512" y="1835468"/>
            <a:chExt cx="4024884"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197510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确认测试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1497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也叫验收测试，目标是验证软件的有效性</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软件有效性与确认测试的范围</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软件配置复查</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1701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Alpha 测试与 Beta 测试</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71613" cy="909257"/>
            <a:chOff x="520446" y="342900"/>
            <a:chExt cx="5571613"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确认测试</a:t>
              </a:r>
            </a:p>
          </p:txBody>
        </p:sp>
        <p:sp>
          <p:nvSpPr>
            <p:cNvPr id="4" name="TextBox 4"/>
            <p:cNvSpPr txBox="1"/>
            <p:nvPr/>
          </p:nvSpPr>
          <p:spPr>
            <a:xfrm>
              <a:off x="520446" y="753428"/>
              <a:ext cx="557161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确认测试回答的是“做的东西对不对”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626418" cy="2291715"/>
            <a:chOff x="533400" y="1524000"/>
            <a:chExt cx="5626418" cy="2291715"/>
          </a:xfrm>
        </p:grpSpPr>
        <p:sp>
          <p:nvSpPr>
            <p:cNvPr id="7" name="Rectangle 7"/>
            <p:cNvSpPr/>
            <p:nvPr/>
          </p:nvSpPr>
          <p:spPr>
            <a:xfrm>
              <a:off x="533400" y="1524000"/>
              <a:ext cx="5626418" cy="2291715"/>
            </a:xfrm>
            <a:prstGeom prst="roundRect">
              <a:avLst>
                <a:gd name="adj" fmla="val 5819"/>
              </a:avLst>
            </a:prstGeom>
            <a:solidFill>
              <a:srgbClr val="FFFFFF"/>
            </a:solidFill>
            <a:ln w="14288">
              <a:solidFill>
                <a:srgbClr val="D9DFEA"/>
              </a:solidFill>
            </a:ln>
          </p:spPr>
        </p:sp>
        <p:sp>
          <p:nvSpPr>
            <p:cNvPr id="8" name="Rectangle 8"/>
            <p:cNvSpPr/>
            <p:nvPr/>
          </p:nvSpPr>
          <p:spPr>
            <a:xfrm>
              <a:off x="542925" y="1657350"/>
              <a:ext cx="47625" cy="2025015"/>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82078" y="1768792"/>
              <a:ext cx="203454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确认测试（验收测试）</a:t>
              </a:r>
            </a:p>
          </p:txBody>
        </p:sp>
        <p:sp>
          <p:nvSpPr>
            <p:cNvPr id="12" name="TextBox 12"/>
            <p:cNvSpPr txBox="1"/>
            <p:nvPr/>
          </p:nvSpPr>
          <p:spPr>
            <a:xfrm>
              <a:off x="773430" y="2129790"/>
              <a:ext cx="4968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目标是验证软件的有效性。如果软件的功能和性能如同用户</a:t>
              </a:r>
              <a:br/>
              <a:r>
                <a:rPr lang="zh-CN" sz="1500" dirty="0">
                  <a:solidFill>
                    <a:srgbClr val="1F2937"/>
                  </a:solidFill>
                  <a:latin typeface="+mn-lt"/>
                  <a:ea typeface="+mn-ea"/>
                  <a:cs typeface="+mn-cs"/>
                </a:rPr>
                <a:t>所合理期待的那样，软件就是有效的。</a:t>
              </a:r>
            </a:p>
          </p:txBody>
        </p:sp>
        <p:sp>
          <p:nvSpPr>
            <p:cNvPr id="13" name="Ellipse 13"/>
            <p:cNvSpPr/>
            <p:nvPr/>
          </p:nvSpPr>
          <p:spPr>
            <a:xfrm>
              <a:off x="786765" y="2813685"/>
              <a:ext cx="64770" cy="64770"/>
            </a:xfrm>
            <a:prstGeom prst="ellipse">
              <a:avLst/>
            </a:prstGeom>
            <a:solidFill>
              <a:srgbClr val="334E68"/>
            </a:solidFill>
            <a:ln>
              <a:noFill/>
            </a:ln>
          </p:spPr>
        </p:sp>
        <p:sp>
          <p:nvSpPr>
            <p:cNvPr id="14" name="TextBox 14"/>
            <p:cNvSpPr txBox="1"/>
            <p:nvPr/>
          </p:nvSpPr>
          <p:spPr>
            <a:xfrm>
              <a:off x="944880" y="2750820"/>
              <a:ext cx="4777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需求阶段产生的需求规格说明书是软件有效性的标准，也</a:t>
              </a:r>
              <a:br/>
              <a:r>
                <a:rPr lang="zh-CN" sz="1500" dirty="0">
                  <a:solidFill>
                    <a:srgbClr val="1F2937"/>
                  </a:solidFill>
                  <a:latin typeface="+mn-lt"/>
                  <a:ea typeface="+mn-ea"/>
                  <a:cs typeface="+mn-cs"/>
                </a:rPr>
                <a:t>是确认测试的基础</a:t>
              </a:r>
            </a:p>
          </p:txBody>
        </p:sp>
        <p:sp>
          <p:nvSpPr>
            <p:cNvPr id="15" name="Ellipse 15"/>
            <p:cNvSpPr/>
            <p:nvPr/>
          </p:nvSpPr>
          <p:spPr>
            <a:xfrm>
              <a:off x="786765" y="3434715"/>
              <a:ext cx="64770" cy="64770"/>
            </a:xfrm>
            <a:prstGeom prst="ellipse">
              <a:avLst/>
            </a:prstGeom>
            <a:solidFill>
              <a:srgbClr val="334E68"/>
            </a:solidFill>
            <a:ln>
              <a:noFill/>
            </a:ln>
          </p:spPr>
        </p:sp>
        <p:sp>
          <p:nvSpPr>
            <p:cNvPr id="16" name="TextBox 16"/>
            <p:cNvSpPr txBox="1"/>
            <p:nvPr/>
          </p:nvSpPr>
          <p:spPr>
            <a:xfrm>
              <a:off x="944880" y="3371850"/>
              <a:ext cx="478078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 xml:space="preserve">确认测试以 </a:t>
              </a:r>
              <a:r>
                <a:rPr lang="zh-CN" sz="1500" b="1" dirty="0">
                  <a:solidFill>
                    <a:srgbClr val="C2410C"/>
                  </a:solidFill>
                  <a:latin typeface="+mn-lt"/>
                  <a:ea typeface="+mn-ea"/>
                  <a:cs typeface="+mn-cs"/>
                </a:rPr>
                <a:t>用户为主</a:t>
              </a:r>
              <a:r>
                <a:rPr lang="zh-CN" sz="1500" dirty="0">
                  <a:solidFill>
                    <a:srgbClr val="1F2937"/>
                  </a:solidFill>
                  <a:latin typeface="+mn-lt"/>
                  <a:ea typeface="+mn-ea"/>
                  <a:cs typeface="+mn-cs"/>
                </a:rPr>
                <a:t xml:space="preserve"> 来进行，可能主要使用实际数据</a:t>
              </a:r>
            </a:p>
          </p:txBody>
        </p:sp>
      </p:grpSp>
      <p:grpSp>
        <p:nvGrpSpPr>
          <p:cNvPr id="27" name="c1-bullets-2"/>
          <p:cNvGrpSpPr/>
          <p:nvPr/>
        </p:nvGrpSpPr>
        <p:grpSpPr>
          <a:xfrm>
            <a:off x="525780" y="4030980"/>
            <a:ext cx="5416868" cy="1967865"/>
            <a:chOff x="525780" y="4030980"/>
            <a:chExt cx="5416868" cy="1967865"/>
          </a:xfrm>
        </p:grpSpPr>
        <p:sp>
          <p:nvSpPr>
            <p:cNvPr id="18" name="TextBox 18"/>
            <p:cNvSpPr txBox="1"/>
            <p:nvPr/>
          </p:nvSpPr>
          <p:spPr>
            <a:xfrm>
              <a:off x="525780" y="4030980"/>
              <a:ext cx="142875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确认测试的范围</a:t>
              </a:r>
            </a:p>
          </p:txBody>
        </p:sp>
        <p:sp>
          <p:nvSpPr>
            <p:cNvPr id="19" name="Freeform 19"/>
            <p:cNvSpPr/>
            <p:nvPr/>
          </p:nvSpPr>
          <p:spPr>
            <a:xfrm>
              <a:off x="533400" y="4416742"/>
              <a:ext cx="143827" cy="117158"/>
            </a:xfrm>
            <a:custGeom>
              <a:avLst/>
              <a:gdLst/>
              <a:ahLst/>
              <a:cxnLst/>
              <a:rect l="l" t="t" r="r" b="b"/>
              <a:pathLst>
                <a:path w="143827" h="117158">
                  <a:moveTo>
                    <a:pt x="0" y="61912"/>
                  </a:moveTo>
                  <a:lnTo>
                    <a:pt x="55245" y="117158"/>
                  </a:lnTo>
                  <a:lnTo>
                    <a:pt x="143827" y="0"/>
                  </a:lnTo>
                </a:path>
              </a:pathLst>
            </a:custGeom>
            <a:noFill/>
            <a:ln w="24765" cap="rnd">
              <a:solidFill>
                <a:srgbClr val="14A38B"/>
              </a:solidFill>
              <a:round/>
            </a:ln>
          </p:spPr>
        </p:sp>
        <p:sp>
          <p:nvSpPr>
            <p:cNvPr id="20" name="TextBox 20"/>
            <p:cNvSpPr txBox="1"/>
            <p:nvPr/>
          </p:nvSpPr>
          <p:spPr>
            <a:xfrm>
              <a:off x="783908" y="4385310"/>
              <a:ext cx="264033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保证软件能满足所有功能要求</a:t>
              </a:r>
            </a:p>
          </p:txBody>
        </p:sp>
        <p:sp>
          <p:nvSpPr>
            <p:cNvPr id="21" name="Freeform 21"/>
            <p:cNvSpPr/>
            <p:nvPr/>
          </p:nvSpPr>
          <p:spPr>
            <a:xfrm>
              <a:off x="533400" y="4761548"/>
              <a:ext cx="143827" cy="117158"/>
            </a:xfrm>
            <a:custGeom>
              <a:avLst/>
              <a:gdLst/>
              <a:ahLst/>
              <a:cxnLst/>
              <a:rect l="l" t="t" r="r" b="b"/>
              <a:pathLst>
                <a:path w="143827" h="117158">
                  <a:moveTo>
                    <a:pt x="0" y="61912"/>
                  </a:moveTo>
                  <a:lnTo>
                    <a:pt x="55245" y="117158"/>
                  </a:lnTo>
                  <a:lnTo>
                    <a:pt x="143827" y="0"/>
                  </a:lnTo>
                </a:path>
              </a:pathLst>
            </a:custGeom>
            <a:noFill/>
            <a:ln w="24765" cap="rnd">
              <a:solidFill>
                <a:srgbClr val="14A38B"/>
              </a:solidFill>
              <a:round/>
            </a:ln>
          </p:spPr>
        </p:sp>
        <p:sp>
          <p:nvSpPr>
            <p:cNvPr id="22" name="TextBox 22"/>
            <p:cNvSpPr txBox="1"/>
            <p:nvPr/>
          </p:nvSpPr>
          <p:spPr>
            <a:xfrm>
              <a:off x="783908" y="47301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能达到每个性能要求</a:t>
              </a:r>
            </a:p>
          </p:txBody>
        </p:sp>
        <p:sp>
          <p:nvSpPr>
            <p:cNvPr id="23" name="Freeform 23"/>
            <p:cNvSpPr/>
            <p:nvPr/>
          </p:nvSpPr>
          <p:spPr>
            <a:xfrm>
              <a:off x="533400" y="5106352"/>
              <a:ext cx="143827" cy="117157"/>
            </a:xfrm>
            <a:custGeom>
              <a:avLst/>
              <a:gdLst/>
              <a:ahLst/>
              <a:cxnLst/>
              <a:rect l="l" t="t" r="r" b="b"/>
              <a:pathLst>
                <a:path w="143827" h="117157">
                  <a:moveTo>
                    <a:pt x="0" y="61912"/>
                  </a:moveTo>
                  <a:lnTo>
                    <a:pt x="55245" y="117157"/>
                  </a:lnTo>
                  <a:lnTo>
                    <a:pt x="143827" y="0"/>
                  </a:lnTo>
                </a:path>
              </a:pathLst>
            </a:custGeom>
            <a:noFill/>
            <a:ln w="24765" cap="rnd">
              <a:solidFill>
                <a:srgbClr val="14A38B"/>
              </a:solidFill>
              <a:round/>
            </a:ln>
          </p:spPr>
        </p:sp>
        <p:sp>
          <p:nvSpPr>
            <p:cNvPr id="24" name="TextBox 24"/>
            <p:cNvSpPr txBox="1"/>
            <p:nvPr/>
          </p:nvSpPr>
          <p:spPr>
            <a:xfrm>
              <a:off x="783908" y="5074920"/>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文档资料是准确而完整的</a:t>
              </a:r>
            </a:p>
          </p:txBody>
        </p:sp>
        <p:sp>
          <p:nvSpPr>
            <p:cNvPr id="25" name="Freeform 25"/>
            <p:cNvSpPr/>
            <p:nvPr/>
          </p:nvSpPr>
          <p:spPr>
            <a:xfrm>
              <a:off x="533400" y="5451158"/>
              <a:ext cx="143827" cy="117158"/>
            </a:xfrm>
            <a:custGeom>
              <a:avLst/>
              <a:gdLst/>
              <a:ahLst/>
              <a:cxnLst/>
              <a:rect l="l" t="t" r="r" b="b"/>
              <a:pathLst>
                <a:path w="143827" h="117158">
                  <a:moveTo>
                    <a:pt x="0" y="61912"/>
                  </a:moveTo>
                  <a:lnTo>
                    <a:pt x="55245" y="117158"/>
                  </a:lnTo>
                  <a:lnTo>
                    <a:pt x="143827" y="0"/>
                  </a:lnTo>
                </a:path>
              </a:pathLst>
            </a:custGeom>
            <a:noFill/>
            <a:ln w="24765" cap="rnd">
              <a:solidFill>
                <a:srgbClr val="14A38B"/>
              </a:solidFill>
              <a:round/>
            </a:ln>
          </p:spPr>
        </p:sp>
        <p:sp>
          <p:nvSpPr>
            <p:cNvPr id="26" name="TextBox 26"/>
            <p:cNvSpPr txBox="1"/>
            <p:nvPr/>
          </p:nvSpPr>
          <p:spPr>
            <a:xfrm>
              <a:off x="783908" y="5419725"/>
              <a:ext cx="5158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满足其他预定的要求，如安全性、可移植性、兼容性和可维护</a:t>
              </a:r>
              <a:br/>
              <a:r>
                <a:rPr lang="zh-CN" sz="1500" dirty="0">
                  <a:solidFill>
                    <a:srgbClr val="1F2937"/>
                  </a:solidFill>
                  <a:latin typeface="+mn-lt"/>
                  <a:ea typeface="+mn-ea"/>
                  <a:cs typeface="+mn-cs"/>
                </a:rPr>
                <a:t>性</a:t>
              </a:r>
            </a:p>
          </p:txBody>
        </p:sp>
      </p:grpSp>
      <p:grpSp>
        <p:nvGrpSpPr>
          <p:cNvPr id="48" name="c2-compare-1"/>
          <p:cNvGrpSpPr/>
          <p:nvPr/>
        </p:nvGrpSpPr>
        <p:grpSpPr>
          <a:xfrm>
            <a:off x="6464618" y="1524000"/>
            <a:ext cx="5193982" cy="2846070"/>
            <a:chOff x="6464618" y="1524000"/>
            <a:chExt cx="5193982" cy="2846070"/>
          </a:xfrm>
        </p:grpSpPr>
        <p:sp>
          <p:nvSpPr>
            <p:cNvPr id="28" name="Rectangle 28"/>
            <p:cNvSpPr/>
            <p:nvPr/>
          </p:nvSpPr>
          <p:spPr>
            <a:xfrm>
              <a:off x="6464618" y="1524000"/>
              <a:ext cx="2386965" cy="2846070"/>
            </a:xfrm>
            <a:prstGeom prst="roundRect">
              <a:avLst>
                <a:gd name="adj" fmla="val 5587"/>
              </a:avLst>
            </a:prstGeom>
            <a:solidFill>
              <a:srgbClr val="FFFFFF"/>
            </a:solidFill>
            <a:ln w="14288">
              <a:solidFill>
                <a:srgbClr val="D9DFEA"/>
              </a:solidFill>
            </a:ln>
          </p:spPr>
        </p:sp>
        <p:sp>
          <p:nvSpPr>
            <p:cNvPr id="29" name="Rectangle 29"/>
            <p:cNvSpPr/>
            <p:nvPr/>
          </p:nvSpPr>
          <p:spPr>
            <a:xfrm>
              <a:off x="6474142" y="1657350"/>
              <a:ext cx="47625" cy="2579370"/>
            </a:xfrm>
            <a:prstGeom prst="roundRect">
              <a:avLst>
                <a:gd name="adj" fmla="val 50000"/>
              </a:avLst>
            </a:prstGeom>
            <a:solidFill>
              <a:srgbClr val="334E68"/>
            </a:solidFill>
            <a:ln>
              <a:noFill/>
            </a:ln>
          </p:spPr>
        </p:sp>
        <p:sp>
          <p:nvSpPr>
            <p:cNvPr id="30" name="TextBox 30"/>
            <p:cNvSpPr txBox="1"/>
            <p:nvPr/>
          </p:nvSpPr>
          <p:spPr>
            <a:xfrm>
              <a:off x="6704648" y="1758315"/>
              <a:ext cx="149589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Validation 确认</a:t>
              </a:r>
            </a:p>
          </p:txBody>
        </p:sp>
        <p:sp>
          <p:nvSpPr>
            <p:cNvPr id="31" name="Ellipse 31"/>
            <p:cNvSpPr/>
            <p:nvPr/>
          </p:nvSpPr>
          <p:spPr>
            <a:xfrm>
              <a:off x="6717983" y="2175510"/>
              <a:ext cx="64770" cy="64770"/>
            </a:xfrm>
            <a:prstGeom prst="ellipse">
              <a:avLst/>
            </a:prstGeom>
            <a:solidFill>
              <a:srgbClr val="334E68"/>
            </a:solidFill>
            <a:ln>
              <a:noFill/>
            </a:ln>
          </p:spPr>
        </p:sp>
        <p:sp>
          <p:nvSpPr>
            <p:cNvPr id="32" name="TextBox 32"/>
            <p:cNvSpPr txBox="1"/>
            <p:nvPr/>
          </p:nvSpPr>
          <p:spPr>
            <a:xfrm>
              <a:off x="6876098" y="2112645"/>
              <a:ext cx="1539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为了保证软件确实</a:t>
              </a:r>
              <a:br/>
              <a:r>
                <a:rPr lang="zh-CN" sz="1500" dirty="0">
                  <a:solidFill>
                    <a:srgbClr val="1F2937"/>
                  </a:solidFill>
                  <a:latin typeface="+mn-lt"/>
                  <a:ea typeface="+mn-ea"/>
                  <a:cs typeface="+mn-cs"/>
                </a:rPr>
                <a:t>满足了用户需求而</a:t>
              </a:r>
              <a:br/>
              <a:r>
                <a:rPr lang="zh-CN" sz="1500" dirty="0">
                  <a:solidFill>
                    <a:srgbClr val="1F2937"/>
                  </a:solidFill>
                  <a:latin typeface="+mn-lt"/>
                  <a:ea typeface="+mn-ea"/>
                  <a:cs typeface="+mn-cs"/>
                </a:rPr>
                <a:t>进行的一系列活动</a:t>
              </a:r>
            </a:p>
          </p:txBody>
        </p:sp>
        <p:sp>
          <p:nvSpPr>
            <p:cNvPr id="33" name="Ellipse 33"/>
            <p:cNvSpPr/>
            <p:nvPr/>
          </p:nvSpPr>
          <p:spPr>
            <a:xfrm>
              <a:off x="6717983" y="3082290"/>
              <a:ext cx="64770" cy="64770"/>
            </a:xfrm>
            <a:prstGeom prst="ellipse">
              <a:avLst/>
            </a:prstGeom>
            <a:solidFill>
              <a:srgbClr val="334E68"/>
            </a:solidFill>
            <a:ln>
              <a:noFill/>
            </a:ln>
          </p:spPr>
        </p:sp>
        <p:sp>
          <p:nvSpPr>
            <p:cNvPr id="34" name="TextBox 34"/>
            <p:cNvSpPr txBox="1"/>
            <p:nvPr/>
          </p:nvSpPr>
          <p:spPr>
            <a:xfrm>
              <a:off x="6876098" y="3019425"/>
              <a:ext cx="16440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回答“做的是不是用</a:t>
              </a:r>
              <a:br/>
              <a:r>
                <a:rPr lang="zh-CN" sz="1500" dirty="0">
                  <a:solidFill>
                    <a:srgbClr val="1F2937"/>
                  </a:solidFill>
                  <a:latin typeface="+mn-lt"/>
                  <a:ea typeface="+mn-ea"/>
                  <a:cs typeface="+mn-cs"/>
                </a:rPr>
                <a:t>户要的东西”</a:t>
              </a:r>
            </a:p>
          </p:txBody>
        </p:sp>
        <p:sp>
          <p:nvSpPr>
            <p:cNvPr id="35" name="Ellipse 35"/>
            <p:cNvSpPr/>
            <p:nvPr/>
          </p:nvSpPr>
          <p:spPr>
            <a:xfrm>
              <a:off x="6717983" y="3703320"/>
              <a:ext cx="64770" cy="64770"/>
            </a:xfrm>
            <a:prstGeom prst="ellipse">
              <a:avLst/>
            </a:prstGeom>
            <a:solidFill>
              <a:srgbClr val="334E68"/>
            </a:solidFill>
            <a:ln>
              <a:noFill/>
            </a:ln>
          </p:spPr>
        </p:sp>
        <p:sp>
          <p:nvSpPr>
            <p:cNvPr id="36" name="TextBox 36"/>
            <p:cNvSpPr txBox="1"/>
            <p:nvPr/>
          </p:nvSpPr>
          <p:spPr>
            <a:xfrm>
              <a:off x="6876098" y="3640455"/>
              <a:ext cx="1539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对照需求规格说明</a:t>
              </a:r>
              <a:br/>
              <a:r>
                <a:rPr lang="zh-CN" sz="1500" dirty="0">
                  <a:solidFill>
                    <a:srgbClr val="1F2937"/>
                  </a:solidFill>
                  <a:latin typeface="+mn-lt"/>
                  <a:ea typeface="+mn-ea"/>
                  <a:cs typeface="+mn-cs"/>
                </a:rPr>
                <a:t>书</a:t>
              </a:r>
            </a:p>
          </p:txBody>
        </p:sp>
        <p:sp>
          <p:nvSpPr>
            <p:cNvPr id="37" name="Rectangle 37"/>
            <p:cNvSpPr/>
            <p:nvPr/>
          </p:nvSpPr>
          <p:spPr>
            <a:xfrm>
              <a:off x="9271635" y="1524000"/>
              <a:ext cx="2386965" cy="2846070"/>
            </a:xfrm>
            <a:prstGeom prst="roundRect">
              <a:avLst>
                <a:gd name="adj" fmla="val 5587"/>
              </a:avLst>
            </a:prstGeom>
            <a:solidFill>
              <a:srgbClr val="FFFFFF"/>
            </a:solidFill>
            <a:ln w="14288">
              <a:solidFill>
                <a:srgbClr val="D9DFEA"/>
              </a:solidFill>
            </a:ln>
          </p:spPr>
        </p:sp>
        <p:sp>
          <p:nvSpPr>
            <p:cNvPr id="38" name="Rectangle 38"/>
            <p:cNvSpPr/>
            <p:nvPr/>
          </p:nvSpPr>
          <p:spPr>
            <a:xfrm>
              <a:off x="9281160" y="1657350"/>
              <a:ext cx="47625" cy="2579370"/>
            </a:xfrm>
            <a:prstGeom prst="roundRect">
              <a:avLst>
                <a:gd name="adj" fmla="val 50000"/>
              </a:avLst>
            </a:prstGeom>
            <a:solidFill>
              <a:srgbClr val="334E68"/>
            </a:solidFill>
            <a:ln>
              <a:noFill/>
            </a:ln>
          </p:spPr>
        </p:sp>
        <p:sp>
          <p:nvSpPr>
            <p:cNvPr id="39" name="TextBox 39"/>
            <p:cNvSpPr txBox="1"/>
            <p:nvPr/>
          </p:nvSpPr>
          <p:spPr>
            <a:xfrm>
              <a:off x="9511665" y="1758315"/>
              <a:ext cx="1729214"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Verification 验证</a:t>
              </a:r>
            </a:p>
          </p:txBody>
        </p:sp>
        <p:sp>
          <p:nvSpPr>
            <p:cNvPr id="40" name="Ellipse 40"/>
            <p:cNvSpPr/>
            <p:nvPr/>
          </p:nvSpPr>
          <p:spPr>
            <a:xfrm>
              <a:off x="9525000" y="2175510"/>
              <a:ext cx="64770" cy="64770"/>
            </a:xfrm>
            <a:prstGeom prst="ellipse">
              <a:avLst/>
            </a:prstGeom>
            <a:solidFill>
              <a:srgbClr val="334E68"/>
            </a:solidFill>
            <a:ln>
              <a:noFill/>
            </a:ln>
          </p:spPr>
        </p:sp>
        <p:sp>
          <p:nvSpPr>
            <p:cNvPr id="41" name="TextBox 41"/>
            <p:cNvSpPr txBox="1"/>
            <p:nvPr/>
          </p:nvSpPr>
          <p:spPr>
            <a:xfrm>
              <a:off x="9683115" y="2112645"/>
              <a:ext cx="1539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保证软件正确地实</a:t>
              </a:r>
              <a:br/>
              <a:r>
                <a:rPr lang="zh-CN" sz="1500" dirty="0">
                  <a:solidFill>
                    <a:srgbClr val="1F2937"/>
                  </a:solidFill>
                  <a:latin typeface="+mn-lt"/>
                  <a:ea typeface="+mn-ea"/>
                  <a:cs typeface="+mn-cs"/>
                </a:rPr>
                <a:t>现了某个特定要求</a:t>
              </a:r>
              <a:br/>
              <a:r>
                <a:rPr lang="zh-CN" sz="1500" dirty="0">
                  <a:solidFill>
                    <a:srgbClr val="1F2937"/>
                  </a:solidFill>
                  <a:latin typeface="+mn-lt"/>
                  <a:ea typeface="+mn-ea"/>
                  <a:cs typeface="+mn-cs"/>
                </a:rPr>
                <a:t>的一系列活动</a:t>
              </a:r>
            </a:p>
          </p:txBody>
        </p:sp>
        <p:sp>
          <p:nvSpPr>
            <p:cNvPr id="42" name="Ellipse 42"/>
            <p:cNvSpPr/>
            <p:nvPr/>
          </p:nvSpPr>
          <p:spPr>
            <a:xfrm>
              <a:off x="9525000" y="3082290"/>
              <a:ext cx="64770" cy="64770"/>
            </a:xfrm>
            <a:prstGeom prst="ellipse">
              <a:avLst/>
            </a:prstGeom>
            <a:solidFill>
              <a:srgbClr val="334E68"/>
            </a:solidFill>
            <a:ln>
              <a:noFill/>
            </a:ln>
          </p:spPr>
        </p:sp>
        <p:sp>
          <p:nvSpPr>
            <p:cNvPr id="43" name="TextBox 43"/>
            <p:cNvSpPr txBox="1"/>
            <p:nvPr/>
          </p:nvSpPr>
          <p:spPr>
            <a:xfrm>
              <a:off x="9683115" y="3019425"/>
              <a:ext cx="16440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回答“有没有把它做</a:t>
              </a:r>
              <a:br/>
              <a:r>
                <a:rPr lang="zh-CN" sz="1500" dirty="0">
                  <a:solidFill>
                    <a:srgbClr val="1F2937"/>
                  </a:solidFill>
                  <a:latin typeface="+mn-lt"/>
                  <a:ea typeface="+mn-ea"/>
                  <a:cs typeface="+mn-cs"/>
                </a:rPr>
                <a:t>对”</a:t>
              </a:r>
            </a:p>
          </p:txBody>
        </p:sp>
        <p:sp>
          <p:nvSpPr>
            <p:cNvPr id="44" name="Ellipse 44"/>
            <p:cNvSpPr/>
            <p:nvPr/>
          </p:nvSpPr>
          <p:spPr>
            <a:xfrm>
              <a:off x="9525000" y="3703320"/>
              <a:ext cx="64770" cy="64770"/>
            </a:xfrm>
            <a:prstGeom prst="ellipse">
              <a:avLst/>
            </a:prstGeom>
            <a:solidFill>
              <a:srgbClr val="334E68"/>
            </a:solidFill>
            <a:ln>
              <a:noFill/>
            </a:ln>
          </p:spPr>
        </p:sp>
        <p:sp>
          <p:nvSpPr>
            <p:cNvPr id="45" name="TextBox 45"/>
            <p:cNvSpPr txBox="1"/>
            <p:nvPr/>
          </p:nvSpPr>
          <p:spPr>
            <a:xfrm>
              <a:off x="9683115" y="3640455"/>
              <a:ext cx="1539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对照设计说明书和</a:t>
              </a:r>
              <a:br/>
              <a:r>
                <a:rPr lang="zh-CN" sz="1500" dirty="0">
                  <a:solidFill>
                    <a:srgbClr val="1F2937"/>
                  </a:solidFill>
                  <a:latin typeface="+mn-lt"/>
                  <a:ea typeface="+mn-ea"/>
                  <a:cs typeface="+mn-cs"/>
                </a:rPr>
                <a:t>编码规范</a:t>
              </a:r>
            </a:p>
          </p:txBody>
        </p:sp>
        <p:sp>
          <p:nvSpPr>
            <p:cNvPr id="46" name="Ellipse 46"/>
            <p:cNvSpPr/>
            <p:nvPr/>
          </p:nvSpPr>
          <p:spPr>
            <a:xfrm>
              <a:off x="8900160" y="2785110"/>
              <a:ext cx="323850" cy="323850"/>
            </a:xfrm>
            <a:prstGeom prst="ellipse">
              <a:avLst/>
            </a:prstGeom>
            <a:solidFill>
              <a:srgbClr val="F26B3A"/>
            </a:solidFill>
            <a:ln>
              <a:noFill/>
            </a:ln>
          </p:spPr>
        </p:sp>
        <p:sp>
          <p:nvSpPr>
            <p:cNvPr id="47" name="TextBox 47"/>
            <p:cNvSpPr txBox="1"/>
            <p:nvPr/>
          </p:nvSpPr>
          <p:spPr>
            <a:xfrm>
              <a:off x="8970500" y="2881312"/>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54" name="c2-callout-2"/>
          <p:cNvGrpSpPr/>
          <p:nvPr/>
        </p:nvGrpSpPr>
        <p:grpSpPr>
          <a:xfrm>
            <a:off x="6464618" y="4560570"/>
            <a:ext cx="5193982" cy="1379220"/>
            <a:chOff x="6464618" y="4560570"/>
            <a:chExt cx="5193982" cy="1379220"/>
          </a:xfrm>
        </p:grpSpPr>
        <p:sp>
          <p:nvSpPr>
            <p:cNvPr id="49" name="Rectangle 49"/>
            <p:cNvSpPr/>
            <p:nvPr/>
          </p:nvSpPr>
          <p:spPr>
            <a:xfrm>
              <a:off x="6464618" y="4560570"/>
              <a:ext cx="5193982" cy="1379220"/>
            </a:xfrm>
            <a:prstGeom prst="roundRect">
              <a:avLst>
                <a:gd name="adj" fmla="val 8287"/>
              </a:avLst>
            </a:prstGeom>
            <a:solidFill>
              <a:srgbClr val="334E68"/>
            </a:solidFill>
            <a:ln>
              <a:noFill/>
            </a:ln>
          </p:spPr>
        </p:sp>
        <p:grpSp>
          <p:nvGrpSpPr>
            <p:cNvPr id="52" name="Group 52"/>
            <p:cNvGrpSpPr/>
            <p:nvPr/>
          </p:nvGrpSpPr>
          <p:grpSpPr>
            <a:xfrm>
              <a:off x="6669405" y="5150170"/>
              <a:ext cx="200023" cy="200023"/>
              <a:chOff x="6669405" y="5150170"/>
              <a:chExt cx="200023" cy="200023"/>
            </a:xfrm>
          </p:grpSpPr>
          <p:sp>
            <p:nvSpPr>
              <p:cNvPr id="50" name="Freeform 50"/>
              <p:cNvSpPr/>
              <p:nvPr/>
            </p:nvSpPr>
            <p:spPr>
              <a:xfrm>
                <a:off x="6669405" y="515017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1" name="Freeform 51"/>
              <p:cNvSpPr/>
              <p:nvPr/>
            </p:nvSpPr>
            <p:spPr>
              <a:xfrm>
                <a:off x="6802755" y="521684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3" name="TextBox 53"/>
            <p:cNvSpPr txBox="1"/>
            <p:nvPr/>
          </p:nvSpPr>
          <p:spPr>
            <a:xfrm>
              <a:off x="6971348" y="5007292"/>
              <a:ext cx="41205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英文里常用两句话区分：validation 管 build the</a:t>
              </a:r>
              <a:br/>
              <a:r>
                <a:rPr lang="zh-CN" sz="1500" dirty="0">
                  <a:solidFill>
                    <a:srgbClr val="FFFFFF"/>
                  </a:solidFill>
                  <a:latin typeface="+mn-lt"/>
                  <a:ea typeface="+mn-ea"/>
                  <a:cs typeface="+mn-cs"/>
                </a:rPr>
                <a:t>right thing，verification 管 build it right。</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6" name="TextBox 5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706692" cy="909257"/>
            <a:chOff x="520446" y="342900"/>
            <a:chExt cx="4706692" cy="909257"/>
          </a:xfrm>
        </p:grpSpPr>
        <p:sp>
          <p:nvSpPr>
            <p:cNvPr id="2" name="Rectangle 2"/>
            <p:cNvSpPr/>
            <p:nvPr/>
          </p:nvSpPr>
          <p:spPr>
            <a:xfrm>
              <a:off x="533400" y="342900"/>
              <a:ext cx="1703070" cy="266700"/>
            </a:xfrm>
            <a:prstGeom prst="roundRect">
              <a:avLst>
                <a:gd name="adj" fmla="val 50000"/>
              </a:avLst>
            </a:prstGeom>
            <a:solidFill>
              <a:srgbClr val="E7EDF3"/>
            </a:solidFill>
            <a:ln>
              <a:noFill/>
            </a:ln>
          </p:spPr>
        </p:sp>
        <p:sp>
          <p:nvSpPr>
            <p:cNvPr id="3" name="TextBox 3"/>
            <p:cNvSpPr txBox="1"/>
            <p:nvPr/>
          </p:nvSpPr>
          <p:spPr>
            <a:xfrm>
              <a:off x="617809" y="407194"/>
              <a:ext cx="153425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确认测试</a:t>
              </a:r>
            </a:p>
          </p:txBody>
        </p:sp>
        <p:sp>
          <p:nvSpPr>
            <p:cNvPr id="4" name="TextBox 4"/>
            <p:cNvSpPr txBox="1"/>
            <p:nvPr/>
          </p:nvSpPr>
          <p:spPr>
            <a:xfrm>
              <a:off x="520446" y="753428"/>
              <a:ext cx="470669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配置复查与 Alpha、Beta 测试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5" name="c1-card-1"/>
          <p:cNvGrpSpPr/>
          <p:nvPr/>
        </p:nvGrpSpPr>
        <p:grpSpPr>
          <a:xfrm>
            <a:off x="533400" y="1524000"/>
            <a:ext cx="4977765" cy="2527935"/>
            <a:chOff x="533400" y="1524000"/>
            <a:chExt cx="4977765" cy="2527935"/>
          </a:xfrm>
        </p:grpSpPr>
        <p:sp>
          <p:nvSpPr>
            <p:cNvPr id="7" name="Rectangle 7"/>
            <p:cNvSpPr/>
            <p:nvPr/>
          </p:nvSpPr>
          <p:spPr>
            <a:xfrm>
              <a:off x="533400" y="1524000"/>
              <a:ext cx="4977765" cy="2527935"/>
            </a:xfrm>
            <a:prstGeom prst="roundRect">
              <a:avLst>
                <a:gd name="adj" fmla="val 5275"/>
              </a:avLst>
            </a:prstGeom>
            <a:solidFill>
              <a:srgbClr val="FFFFFF"/>
            </a:solidFill>
            <a:ln w="14288">
              <a:solidFill>
                <a:srgbClr val="D9DFEA"/>
              </a:solidFill>
            </a:ln>
          </p:spPr>
        </p:sp>
        <p:sp>
          <p:nvSpPr>
            <p:cNvPr id="8" name="Rectangle 8"/>
            <p:cNvSpPr/>
            <p:nvPr/>
          </p:nvSpPr>
          <p:spPr>
            <a:xfrm>
              <a:off x="542925" y="1657350"/>
              <a:ext cx="47625" cy="2261235"/>
            </a:xfrm>
            <a:prstGeom prst="roundRect">
              <a:avLst>
                <a:gd name="adj" fmla="val 50000"/>
              </a:avLst>
            </a:prstGeom>
            <a:solidFill>
              <a:srgbClr val="334E68"/>
            </a:solidFill>
            <a:ln>
              <a:noFill/>
            </a:ln>
          </p:spPr>
        </p:sp>
        <p:sp>
          <p:nvSpPr>
            <p:cNvPr id="9" name="Rectangle 9"/>
            <p:cNvSpPr/>
            <p:nvPr/>
          </p:nvSpPr>
          <p:spPr>
            <a:xfrm>
              <a:off x="781050" y="1733550"/>
              <a:ext cx="1062990" cy="257175"/>
            </a:xfrm>
            <a:prstGeom prst="roundRect">
              <a:avLst>
                <a:gd name="adj" fmla="val 50000"/>
              </a:avLst>
            </a:prstGeom>
            <a:solidFill>
              <a:srgbClr val="E7EDF3"/>
            </a:solidFill>
            <a:ln>
              <a:noFill/>
            </a:ln>
          </p:spPr>
        </p:sp>
        <p:sp>
          <p:nvSpPr>
            <p:cNvPr id="10" name="TextBox 10"/>
            <p:cNvSpPr txBox="1"/>
            <p:nvPr/>
          </p:nvSpPr>
          <p:spPr>
            <a:xfrm>
              <a:off x="854507" y="1769269"/>
              <a:ext cx="916076"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软件配置复查</a:t>
              </a:r>
            </a:p>
          </p:txBody>
        </p:sp>
        <p:sp>
          <p:nvSpPr>
            <p:cNvPr id="11" name="TextBox 11"/>
            <p:cNvSpPr txBox="1"/>
            <p:nvPr/>
          </p:nvSpPr>
          <p:spPr>
            <a:xfrm>
              <a:off x="1950720" y="1768792"/>
              <a:ext cx="28422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清点交付物，顺带检验用户手册</a:t>
              </a:r>
            </a:p>
          </p:txBody>
        </p:sp>
        <p:sp>
          <p:nvSpPr>
            <p:cNvPr id="12" name="TextBox 12"/>
            <p:cNvSpPr txBox="1"/>
            <p:nvPr/>
          </p:nvSpPr>
          <p:spPr>
            <a:xfrm>
              <a:off x="773430" y="2129790"/>
              <a:ext cx="4206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保证软件配置的所有成分都齐全，质量符合要求，</a:t>
              </a:r>
              <a:br/>
              <a:r>
                <a:rPr lang="zh-CN" sz="1500" dirty="0">
                  <a:solidFill>
                    <a:srgbClr val="1F2937"/>
                  </a:solidFill>
                  <a:latin typeface="+mn-lt"/>
                  <a:ea typeface="+mn-ea"/>
                  <a:cs typeface="+mn-cs"/>
                </a:rPr>
                <a:t>文档与程序完全一致，具有完成软件维护所必须的</a:t>
              </a:r>
              <a:br/>
              <a:r>
                <a:rPr lang="zh-CN" sz="1500" dirty="0">
                  <a:solidFill>
                    <a:srgbClr val="1F2937"/>
                  </a:solidFill>
                  <a:latin typeface="+mn-lt"/>
                  <a:ea typeface="+mn-ea"/>
                  <a:cs typeface="+mn-cs"/>
                </a:rPr>
                <a:t>细节，而且已经编好目录。</a:t>
              </a:r>
            </a:p>
          </p:txBody>
        </p:sp>
        <p:sp>
          <p:nvSpPr>
            <p:cNvPr id="13" name="Ellipse 13"/>
            <p:cNvSpPr/>
            <p:nvPr/>
          </p:nvSpPr>
          <p:spPr>
            <a:xfrm>
              <a:off x="786765" y="3099435"/>
              <a:ext cx="64770" cy="64770"/>
            </a:xfrm>
            <a:prstGeom prst="ellipse">
              <a:avLst/>
            </a:prstGeom>
            <a:solidFill>
              <a:srgbClr val="334E68"/>
            </a:solidFill>
            <a:ln>
              <a:noFill/>
            </a:ln>
          </p:spPr>
        </p:sp>
        <p:sp>
          <p:nvSpPr>
            <p:cNvPr id="14" name="TextBox 14"/>
            <p:cNvSpPr txBox="1"/>
            <p:nvPr/>
          </p:nvSpPr>
          <p:spPr>
            <a:xfrm>
              <a:off x="944880" y="3036570"/>
              <a:ext cx="4015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确认测试过程中严格遵循用户手册及其他操作程</a:t>
              </a:r>
              <a:br/>
              <a:r>
                <a:rPr lang="zh-CN" sz="1500" dirty="0">
                  <a:solidFill>
                    <a:srgbClr val="1F2937"/>
                  </a:solidFill>
                  <a:latin typeface="+mn-lt"/>
                  <a:ea typeface="+mn-ea"/>
                  <a:cs typeface="+mn-cs"/>
                </a:rPr>
                <a:t>序的说明和要求，从而检验用户使用手册的完整</a:t>
              </a:r>
              <a:br/>
              <a:r>
                <a:rPr lang="zh-CN" sz="1500" dirty="0">
                  <a:solidFill>
                    <a:srgbClr val="1F2937"/>
                  </a:solidFill>
                  <a:latin typeface="+mn-lt"/>
                  <a:ea typeface="+mn-ea"/>
                  <a:cs typeface="+mn-cs"/>
                </a:rPr>
                <a:t>性和正确性</a:t>
              </a:r>
            </a:p>
          </p:txBody>
        </p:sp>
      </p:grpSp>
      <p:grpSp>
        <p:nvGrpSpPr>
          <p:cNvPr id="22" name="c1-callout-2"/>
          <p:cNvGrpSpPr/>
          <p:nvPr/>
        </p:nvGrpSpPr>
        <p:grpSpPr>
          <a:xfrm>
            <a:off x="533400" y="4242435"/>
            <a:ext cx="4977765" cy="782955"/>
            <a:chOff x="533400" y="4242435"/>
            <a:chExt cx="4977765" cy="782955"/>
          </a:xfrm>
        </p:grpSpPr>
        <p:sp>
          <p:nvSpPr>
            <p:cNvPr id="16" name="Rectangle 16"/>
            <p:cNvSpPr/>
            <p:nvPr/>
          </p:nvSpPr>
          <p:spPr>
            <a:xfrm>
              <a:off x="533400" y="4242435"/>
              <a:ext cx="4977765" cy="782955"/>
            </a:xfrm>
            <a:prstGeom prst="roundRect">
              <a:avLst>
                <a:gd name="adj" fmla="val 14599"/>
              </a:avLst>
            </a:prstGeom>
            <a:solidFill>
              <a:srgbClr val="F4F6FB"/>
            </a:solidFill>
            <a:ln>
              <a:noFill/>
            </a:ln>
          </p:spPr>
        </p:sp>
        <p:grpSp>
          <p:nvGrpSpPr>
            <p:cNvPr id="20" name="Group 20"/>
            <p:cNvGrpSpPr/>
            <p:nvPr/>
          </p:nvGrpSpPr>
          <p:grpSpPr>
            <a:xfrm>
              <a:off x="738188" y="4533900"/>
              <a:ext cx="200026" cy="200026"/>
              <a:chOff x="738188" y="4533900"/>
              <a:chExt cx="200026" cy="200026"/>
            </a:xfrm>
          </p:grpSpPr>
          <p:sp>
            <p:nvSpPr>
              <p:cNvPr id="17" name="Freeform 17"/>
              <p:cNvSpPr/>
              <p:nvPr/>
            </p:nvSpPr>
            <p:spPr>
              <a:xfrm>
                <a:off x="738188" y="453390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8" name="Freeform 18"/>
              <p:cNvSpPr/>
              <p:nvPr/>
            </p:nvSpPr>
            <p:spPr>
              <a:xfrm>
                <a:off x="838200" y="460057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9" name="Freeform 19"/>
              <p:cNvSpPr/>
              <p:nvPr/>
            </p:nvSpPr>
            <p:spPr>
              <a:xfrm>
                <a:off x="827088" y="463391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1" name="TextBox 21"/>
            <p:cNvSpPr txBox="1"/>
            <p:nvPr/>
          </p:nvSpPr>
          <p:spPr>
            <a:xfrm>
              <a:off x="1040130" y="4391025"/>
              <a:ext cx="4015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照着手册一步步做而做不下去，说明手册和程序</a:t>
              </a:r>
              <a:br/>
              <a:r>
                <a:rPr lang="zh-CN" sz="1500" dirty="0">
                  <a:solidFill>
                    <a:srgbClr val="1F2937"/>
                  </a:solidFill>
                  <a:latin typeface="+mn-lt"/>
                  <a:ea typeface="+mn-ea"/>
                  <a:cs typeface="+mn-cs"/>
                </a:rPr>
                <a:t>已经对不上，这本身就是一个必须记录的缺陷。</a:t>
              </a:r>
            </a:p>
          </p:txBody>
        </p:sp>
      </p:grpSp>
      <p:grpSp>
        <p:nvGrpSpPr>
          <p:cNvPr id="47" name="c2-compare-1"/>
          <p:cNvGrpSpPr/>
          <p:nvPr/>
        </p:nvGrpSpPr>
        <p:grpSpPr>
          <a:xfrm>
            <a:off x="5815965" y="1524000"/>
            <a:ext cx="5842635" cy="3752850"/>
            <a:chOff x="5815965" y="1524000"/>
            <a:chExt cx="5842635" cy="3752850"/>
          </a:xfrm>
        </p:grpSpPr>
        <p:sp>
          <p:nvSpPr>
            <p:cNvPr id="23" name="Rectangle 23"/>
            <p:cNvSpPr/>
            <p:nvPr/>
          </p:nvSpPr>
          <p:spPr>
            <a:xfrm>
              <a:off x="5815965" y="1524000"/>
              <a:ext cx="2711768" cy="3752850"/>
            </a:xfrm>
            <a:prstGeom prst="roundRect">
              <a:avLst>
                <a:gd name="adj" fmla="val 4917"/>
              </a:avLst>
            </a:prstGeom>
            <a:solidFill>
              <a:srgbClr val="FFFFFF"/>
            </a:solidFill>
            <a:ln w="14288">
              <a:solidFill>
                <a:srgbClr val="D9DFEA"/>
              </a:solidFill>
            </a:ln>
          </p:spPr>
        </p:sp>
        <p:sp>
          <p:nvSpPr>
            <p:cNvPr id="24" name="Rectangle 24"/>
            <p:cNvSpPr/>
            <p:nvPr/>
          </p:nvSpPr>
          <p:spPr>
            <a:xfrm>
              <a:off x="5825490" y="1657350"/>
              <a:ext cx="47625" cy="3486150"/>
            </a:xfrm>
            <a:prstGeom prst="roundRect">
              <a:avLst>
                <a:gd name="adj" fmla="val 50000"/>
              </a:avLst>
            </a:prstGeom>
            <a:solidFill>
              <a:srgbClr val="334E68"/>
            </a:solidFill>
            <a:ln>
              <a:noFill/>
            </a:ln>
          </p:spPr>
        </p:sp>
        <p:sp>
          <p:nvSpPr>
            <p:cNvPr id="25" name="TextBox 25"/>
            <p:cNvSpPr txBox="1"/>
            <p:nvPr/>
          </p:nvSpPr>
          <p:spPr>
            <a:xfrm>
              <a:off x="6055995" y="1758315"/>
              <a:ext cx="101949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Alpha 测试</a:t>
              </a:r>
            </a:p>
          </p:txBody>
        </p:sp>
        <p:sp>
          <p:nvSpPr>
            <p:cNvPr id="26" name="Ellipse 26"/>
            <p:cNvSpPr/>
            <p:nvPr/>
          </p:nvSpPr>
          <p:spPr>
            <a:xfrm>
              <a:off x="6069330" y="2175510"/>
              <a:ext cx="64770" cy="64770"/>
            </a:xfrm>
            <a:prstGeom prst="ellipse">
              <a:avLst/>
            </a:prstGeom>
            <a:solidFill>
              <a:srgbClr val="334E68"/>
            </a:solidFill>
            <a:ln>
              <a:noFill/>
            </a:ln>
          </p:spPr>
        </p:sp>
        <p:sp>
          <p:nvSpPr>
            <p:cNvPr id="27" name="TextBox 27"/>
            <p:cNvSpPr txBox="1"/>
            <p:nvPr/>
          </p:nvSpPr>
          <p:spPr>
            <a:xfrm>
              <a:off x="6227445" y="2112645"/>
              <a:ext cx="1920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由用户在开发者的场所</a:t>
              </a:r>
              <a:br/>
              <a:r>
                <a:rPr lang="zh-CN" sz="1500" dirty="0">
                  <a:solidFill>
                    <a:srgbClr val="1F2937"/>
                  </a:solidFill>
                  <a:latin typeface="+mn-lt"/>
                  <a:ea typeface="+mn-ea"/>
                  <a:cs typeface="+mn-cs"/>
                </a:rPr>
                <a:t>进行</a:t>
              </a:r>
            </a:p>
          </p:txBody>
        </p:sp>
        <p:sp>
          <p:nvSpPr>
            <p:cNvPr id="28" name="Ellipse 28"/>
            <p:cNvSpPr/>
            <p:nvPr/>
          </p:nvSpPr>
          <p:spPr>
            <a:xfrm>
              <a:off x="6069330" y="2796540"/>
              <a:ext cx="64770" cy="64770"/>
            </a:xfrm>
            <a:prstGeom prst="ellipse">
              <a:avLst/>
            </a:prstGeom>
            <a:solidFill>
              <a:srgbClr val="334E68"/>
            </a:solidFill>
            <a:ln>
              <a:noFill/>
            </a:ln>
          </p:spPr>
        </p:sp>
        <p:sp>
          <p:nvSpPr>
            <p:cNvPr id="29" name="TextBox 29"/>
            <p:cNvSpPr txBox="1"/>
            <p:nvPr/>
          </p:nvSpPr>
          <p:spPr>
            <a:xfrm>
              <a:off x="6227445" y="2733675"/>
              <a:ext cx="18345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在开发者对用户的“指</a:t>
              </a:r>
              <a:br/>
              <a:r>
                <a:rPr lang="zh-CN" sz="1500" dirty="0">
                  <a:solidFill>
                    <a:srgbClr val="1F2937"/>
                  </a:solidFill>
                  <a:latin typeface="+mn-lt"/>
                  <a:ea typeface="+mn-ea"/>
                  <a:cs typeface="+mn-cs"/>
                </a:rPr>
                <a:t>导”下进行</a:t>
              </a:r>
            </a:p>
          </p:txBody>
        </p:sp>
        <p:sp>
          <p:nvSpPr>
            <p:cNvPr id="30" name="Ellipse 30"/>
            <p:cNvSpPr/>
            <p:nvPr/>
          </p:nvSpPr>
          <p:spPr>
            <a:xfrm>
              <a:off x="6069330" y="3417570"/>
              <a:ext cx="64770" cy="64770"/>
            </a:xfrm>
            <a:prstGeom prst="ellipse">
              <a:avLst/>
            </a:prstGeom>
            <a:solidFill>
              <a:srgbClr val="334E68"/>
            </a:solidFill>
            <a:ln>
              <a:noFill/>
            </a:ln>
          </p:spPr>
        </p:sp>
        <p:sp>
          <p:nvSpPr>
            <p:cNvPr id="31" name="TextBox 31"/>
            <p:cNvSpPr txBox="1"/>
            <p:nvPr/>
          </p:nvSpPr>
          <p:spPr>
            <a:xfrm>
              <a:off x="6227445" y="3354705"/>
              <a:ext cx="1920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开发者负责记录发现的</a:t>
              </a:r>
              <a:br/>
              <a:r>
                <a:rPr lang="zh-CN" sz="1500" dirty="0">
                  <a:solidFill>
                    <a:srgbClr val="1F2937"/>
                  </a:solidFill>
                  <a:latin typeface="+mn-lt"/>
                  <a:ea typeface="+mn-ea"/>
                  <a:cs typeface="+mn-cs"/>
                </a:rPr>
                <a:t>错误和使用中遇到的问</a:t>
              </a:r>
              <a:br/>
              <a:r>
                <a:rPr lang="zh-CN" sz="1500" dirty="0">
                  <a:solidFill>
                    <a:srgbClr val="1F2937"/>
                  </a:solidFill>
                  <a:latin typeface="+mn-lt"/>
                  <a:ea typeface="+mn-ea"/>
                  <a:cs typeface="+mn-cs"/>
                </a:rPr>
                <a:t>题</a:t>
              </a:r>
            </a:p>
          </p:txBody>
        </p:sp>
        <p:sp>
          <p:nvSpPr>
            <p:cNvPr id="32" name="Ellipse 32"/>
            <p:cNvSpPr/>
            <p:nvPr/>
          </p:nvSpPr>
          <p:spPr>
            <a:xfrm>
              <a:off x="6069330" y="4324350"/>
              <a:ext cx="64770" cy="64770"/>
            </a:xfrm>
            <a:prstGeom prst="ellipse">
              <a:avLst/>
            </a:prstGeom>
            <a:solidFill>
              <a:srgbClr val="334E68"/>
            </a:solidFill>
            <a:ln>
              <a:noFill/>
            </a:ln>
          </p:spPr>
        </p:sp>
        <p:sp>
          <p:nvSpPr>
            <p:cNvPr id="33" name="TextBox 33"/>
            <p:cNvSpPr txBox="1"/>
            <p:nvPr/>
          </p:nvSpPr>
          <p:spPr>
            <a:xfrm>
              <a:off x="6227445" y="42614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在受控的环境中进行</a:t>
              </a:r>
            </a:p>
          </p:txBody>
        </p:sp>
        <p:sp>
          <p:nvSpPr>
            <p:cNvPr id="34" name="Rectangle 34"/>
            <p:cNvSpPr/>
            <p:nvPr/>
          </p:nvSpPr>
          <p:spPr>
            <a:xfrm>
              <a:off x="8946832" y="1524000"/>
              <a:ext cx="2711768" cy="3752850"/>
            </a:xfrm>
            <a:prstGeom prst="roundRect">
              <a:avLst>
                <a:gd name="adj" fmla="val 4917"/>
              </a:avLst>
            </a:prstGeom>
            <a:solidFill>
              <a:srgbClr val="FFFFFF"/>
            </a:solidFill>
            <a:ln w="14288">
              <a:solidFill>
                <a:srgbClr val="D9DFEA"/>
              </a:solidFill>
            </a:ln>
          </p:spPr>
        </p:sp>
        <p:sp>
          <p:nvSpPr>
            <p:cNvPr id="35" name="Rectangle 35"/>
            <p:cNvSpPr/>
            <p:nvPr/>
          </p:nvSpPr>
          <p:spPr>
            <a:xfrm>
              <a:off x="8956358" y="1657350"/>
              <a:ext cx="47625" cy="3486150"/>
            </a:xfrm>
            <a:prstGeom prst="roundRect">
              <a:avLst>
                <a:gd name="adj" fmla="val 50000"/>
              </a:avLst>
            </a:prstGeom>
            <a:solidFill>
              <a:srgbClr val="334E68"/>
            </a:solidFill>
            <a:ln>
              <a:noFill/>
            </a:ln>
          </p:spPr>
        </p:sp>
        <p:sp>
          <p:nvSpPr>
            <p:cNvPr id="36" name="TextBox 36"/>
            <p:cNvSpPr txBox="1"/>
            <p:nvPr/>
          </p:nvSpPr>
          <p:spPr>
            <a:xfrm>
              <a:off x="9186862" y="1758315"/>
              <a:ext cx="956667"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Beta 测试</a:t>
              </a:r>
            </a:p>
          </p:txBody>
        </p:sp>
        <p:sp>
          <p:nvSpPr>
            <p:cNvPr id="37" name="Ellipse 37"/>
            <p:cNvSpPr/>
            <p:nvPr/>
          </p:nvSpPr>
          <p:spPr>
            <a:xfrm>
              <a:off x="9200198" y="2175510"/>
              <a:ext cx="64770" cy="64770"/>
            </a:xfrm>
            <a:prstGeom prst="ellipse">
              <a:avLst/>
            </a:prstGeom>
            <a:solidFill>
              <a:srgbClr val="334E68"/>
            </a:solidFill>
            <a:ln>
              <a:noFill/>
            </a:ln>
          </p:spPr>
        </p:sp>
        <p:sp>
          <p:nvSpPr>
            <p:cNvPr id="38" name="TextBox 38"/>
            <p:cNvSpPr txBox="1"/>
            <p:nvPr/>
          </p:nvSpPr>
          <p:spPr>
            <a:xfrm>
              <a:off x="9358312" y="2112645"/>
              <a:ext cx="1920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由软件的最终用户们在</a:t>
              </a:r>
              <a:br/>
              <a:r>
                <a:rPr lang="zh-CN" sz="1500" dirty="0">
                  <a:solidFill>
                    <a:srgbClr val="1F2937"/>
                  </a:solidFill>
                  <a:latin typeface="+mn-lt"/>
                  <a:ea typeface="+mn-ea"/>
                  <a:cs typeface="+mn-cs"/>
                </a:rPr>
                <a:t>一个或多个客户场所进</a:t>
              </a:r>
              <a:br/>
              <a:r>
                <a:rPr lang="zh-CN" sz="1500" dirty="0">
                  <a:solidFill>
                    <a:srgbClr val="1F2937"/>
                  </a:solidFill>
                  <a:latin typeface="+mn-lt"/>
                  <a:ea typeface="+mn-ea"/>
                  <a:cs typeface="+mn-cs"/>
                </a:rPr>
                <a:t>行</a:t>
              </a:r>
            </a:p>
          </p:txBody>
        </p:sp>
        <p:sp>
          <p:nvSpPr>
            <p:cNvPr id="39" name="Ellipse 39"/>
            <p:cNvSpPr/>
            <p:nvPr/>
          </p:nvSpPr>
          <p:spPr>
            <a:xfrm>
              <a:off x="9200198" y="3082290"/>
              <a:ext cx="64770" cy="64770"/>
            </a:xfrm>
            <a:prstGeom prst="ellipse">
              <a:avLst/>
            </a:prstGeom>
            <a:solidFill>
              <a:srgbClr val="334E68"/>
            </a:solidFill>
            <a:ln>
              <a:noFill/>
            </a:ln>
          </p:spPr>
        </p:sp>
        <p:sp>
          <p:nvSpPr>
            <p:cNvPr id="40" name="TextBox 40"/>
            <p:cNvSpPr txBox="1"/>
            <p:nvPr/>
          </p:nvSpPr>
          <p:spPr>
            <a:xfrm>
              <a:off x="9358312" y="3019425"/>
              <a:ext cx="1920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开发者通常不在测试现</a:t>
              </a:r>
              <a:br/>
              <a:r>
                <a:rPr lang="zh-CN" sz="1500" dirty="0">
                  <a:solidFill>
                    <a:srgbClr val="1F2937"/>
                  </a:solidFill>
                  <a:latin typeface="+mn-lt"/>
                  <a:ea typeface="+mn-ea"/>
                  <a:cs typeface="+mn-cs"/>
                </a:rPr>
                <a:t>场</a:t>
              </a:r>
            </a:p>
          </p:txBody>
        </p:sp>
        <p:sp>
          <p:nvSpPr>
            <p:cNvPr id="41" name="Ellipse 41"/>
            <p:cNvSpPr/>
            <p:nvPr/>
          </p:nvSpPr>
          <p:spPr>
            <a:xfrm>
              <a:off x="9200198" y="3703320"/>
              <a:ext cx="64770" cy="64770"/>
            </a:xfrm>
            <a:prstGeom prst="ellipse">
              <a:avLst/>
            </a:prstGeom>
            <a:solidFill>
              <a:srgbClr val="334E68"/>
            </a:solidFill>
            <a:ln>
              <a:noFill/>
            </a:ln>
          </p:spPr>
        </p:sp>
        <p:sp>
          <p:nvSpPr>
            <p:cNvPr id="42" name="TextBox 42"/>
            <p:cNvSpPr txBox="1"/>
            <p:nvPr/>
          </p:nvSpPr>
          <p:spPr>
            <a:xfrm>
              <a:off x="9358312" y="3640455"/>
              <a:ext cx="193929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是软件在开发者不能控</a:t>
              </a:r>
              <a:br/>
              <a:r>
                <a:rPr lang="zh-CN" sz="1500" dirty="0">
                  <a:solidFill>
                    <a:srgbClr val="1F2937"/>
                  </a:solidFill>
                  <a:latin typeface="+mn-lt"/>
                  <a:ea typeface="+mn-ea"/>
                  <a:cs typeface="+mn-cs"/>
                </a:rPr>
                <a:t>制的环境中的“真实”应</a:t>
              </a:r>
              <a:br/>
              <a:r>
                <a:rPr lang="zh-CN" sz="1500" dirty="0">
                  <a:solidFill>
                    <a:srgbClr val="1F2937"/>
                  </a:solidFill>
                  <a:latin typeface="+mn-lt"/>
                  <a:ea typeface="+mn-ea"/>
                  <a:cs typeface="+mn-cs"/>
                </a:rPr>
                <a:t>用</a:t>
              </a:r>
            </a:p>
          </p:txBody>
        </p:sp>
        <p:sp>
          <p:nvSpPr>
            <p:cNvPr id="43" name="Ellipse 43"/>
            <p:cNvSpPr/>
            <p:nvPr/>
          </p:nvSpPr>
          <p:spPr>
            <a:xfrm>
              <a:off x="9200198" y="4610100"/>
              <a:ext cx="64770" cy="64770"/>
            </a:xfrm>
            <a:prstGeom prst="ellipse">
              <a:avLst/>
            </a:prstGeom>
            <a:solidFill>
              <a:srgbClr val="334E68"/>
            </a:solidFill>
            <a:ln>
              <a:noFill/>
            </a:ln>
          </p:spPr>
        </p:sp>
        <p:sp>
          <p:nvSpPr>
            <p:cNvPr id="44" name="TextBox 44"/>
            <p:cNvSpPr txBox="1"/>
            <p:nvPr/>
          </p:nvSpPr>
          <p:spPr>
            <a:xfrm>
              <a:off x="9358312" y="4547235"/>
              <a:ext cx="1920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问题由用户记录并定期</a:t>
              </a:r>
              <a:br/>
              <a:r>
                <a:rPr lang="zh-CN" sz="1500" dirty="0">
                  <a:solidFill>
                    <a:srgbClr val="1F2937"/>
                  </a:solidFill>
                  <a:latin typeface="+mn-lt"/>
                  <a:ea typeface="+mn-ea"/>
                  <a:cs typeface="+mn-cs"/>
                </a:rPr>
                <a:t>报告给开发者</a:t>
              </a:r>
            </a:p>
          </p:txBody>
        </p:sp>
        <p:sp>
          <p:nvSpPr>
            <p:cNvPr id="45" name="Ellipse 45"/>
            <p:cNvSpPr/>
            <p:nvPr/>
          </p:nvSpPr>
          <p:spPr>
            <a:xfrm>
              <a:off x="8575358" y="3238500"/>
              <a:ext cx="323850" cy="323850"/>
            </a:xfrm>
            <a:prstGeom prst="ellipse">
              <a:avLst/>
            </a:prstGeom>
            <a:solidFill>
              <a:srgbClr val="F26B3A"/>
            </a:solidFill>
            <a:ln>
              <a:noFill/>
            </a:ln>
          </p:spPr>
        </p:sp>
        <p:sp>
          <p:nvSpPr>
            <p:cNvPr id="46" name="TextBox 46"/>
            <p:cNvSpPr txBox="1"/>
            <p:nvPr/>
          </p:nvSpPr>
          <p:spPr>
            <a:xfrm>
              <a:off x="8645698" y="3334702"/>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53" name="c2-callout-2"/>
          <p:cNvGrpSpPr/>
          <p:nvPr/>
        </p:nvGrpSpPr>
        <p:grpSpPr>
          <a:xfrm>
            <a:off x="5815965" y="5467350"/>
            <a:ext cx="5842635" cy="782955"/>
            <a:chOff x="5815965" y="5467350"/>
            <a:chExt cx="5842635" cy="782955"/>
          </a:xfrm>
        </p:grpSpPr>
        <p:sp>
          <p:nvSpPr>
            <p:cNvPr id="48" name="Rectangle 48"/>
            <p:cNvSpPr/>
            <p:nvPr/>
          </p:nvSpPr>
          <p:spPr>
            <a:xfrm>
              <a:off x="5815965" y="5467350"/>
              <a:ext cx="5842635" cy="782955"/>
            </a:xfrm>
            <a:prstGeom prst="roundRect">
              <a:avLst>
                <a:gd name="adj" fmla="val 14599"/>
              </a:avLst>
            </a:prstGeom>
            <a:solidFill>
              <a:srgbClr val="334E68"/>
            </a:solidFill>
            <a:ln>
              <a:noFill/>
            </a:ln>
          </p:spPr>
        </p:sp>
        <p:grpSp>
          <p:nvGrpSpPr>
            <p:cNvPr id="51" name="Group 51"/>
            <p:cNvGrpSpPr/>
            <p:nvPr/>
          </p:nvGrpSpPr>
          <p:grpSpPr>
            <a:xfrm>
              <a:off x="6020753" y="5758817"/>
              <a:ext cx="200023" cy="200023"/>
              <a:chOff x="6020753" y="5758817"/>
              <a:chExt cx="200023" cy="200023"/>
            </a:xfrm>
          </p:grpSpPr>
          <p:sp>
            <p:nvSpPr>
              <p:cNvPr id="49" name="Freeform 49"/>
              <p:cNvSpPr/>
              <p:nvPr/>
            </p:nvSpPr>
            <p:spPr>
              <a:xfrm>
                <a:off x="6020753" y="575881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0" name="Freeform 50"/>
              <p:cNvSpPr/>
              <p:nvPr/>
            </p:nvSpPr>
            <p:spPr>
              <a:xfrm>
                <a:off x="6154103" y="582549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2" name="TextBox 52"/>
            <p:cNvSpPr txBox="1"/>
            <p:nvPr/>
          </p:nvSpPr>
          <p:spPr>
            <a:xfrm>
              <a:off x="6322695" y="5615940"/>
              <a:ext cx="4777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两者都是针对为许多客户开发的通用软件；为单一客户定</a:t>
              </a:r>
              <a:br/>
              <a:r>
                <a:rPr lang="zh-CN" sz="1500" dirty="0">
                  <a:solidFill>
                    <a:srgbClr val="FFFFFF"/>
                  </a:solidFill>
                  <a:latin typeface="+mn-lt"/>
                  <a:ea typeface="+mn-ea"/>
                  <a:cs typeface="+mn-cs"/>
                </a:rPr>
                <a:t>制的软件通常直接做验收测试。</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06</a:t>
              </a:r>
            </a:p>
          </p:txBody>
        </p:sp>
      </p:grpSp>
      <p:grpSp>
        <p:nvGrpSpPr>
          <p:cNvPr id="16" name="section-title"/>
          <p:cNvGrpSpPr/>
          <p:nvPr/>
        </p:nvGrpSpPr>
        <p:grpSpPr>
          <a:xfrm>
            <a:off x="667512" y="1835468"/>
            <a:ext cx="3580638" cy="2997517"/>
            <a:chOff x="667512" y="1835468"/>
            <a:chExt cx="3580638"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第六部分</a:t>
              </a:r>
            </a:p>
          </p:txBody>
        </p:sp>
        <p:sp>
          <p:nvSpPr>
            <p:cNvPr id="7" name="TextBox 7"/>
            <p:cNvSpPr txBox="1"/>
            <p:nvPr/>
          </p:nvSpPr>
          <p:spPr>
            <a:xfrm>
              <a:off x="667512" y="2240280"/>
              <a:ext cx="294436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白盒测试技术</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570732"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按程序内部的逻辑结构设计测试用例</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六种逻辑覆盖由弱到强</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基本路径测试与环形复杂度</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条件测试与循环测试</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逻辑覆盖：先把被测程序的流图画出来</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8503920" cy="293370"/>
            <a:chOff x="525780" y="1548765"/>
            <a:chExt cx="8503920" cy="293370"/>
          </a:xfrm>
        </p:grpSpPr>
        <p:sp>
          <p:nvSpPr>
            <p:cNvPr id="7" name="TextBox 7"/>
            <p:cNvSpPr txBox="1"/>
            <p:nvPr/>
          </p:nvSpPr>
          <p:spPr>
            <a:xfrm>
              <a:off x="525780" y="1548765"/>
              <a:ext cx="850392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后面六种覆盖标准都针对这段程序，测试用例写成【输入的 (A, B, X)，输出的 (A, B, X)】。</a:t>
              </a:r>
            </a:p>
          </p:txBody>
        </p:sp>
      </p:grpSp>
      <p:grpSp>
        <p:nvGrpSpPr>
          <p:cNvPr id="43" name="c1-flow-1"/>
          <p:cNvGrpSpPr/>
          <p:nvPr/>
        </p:nvGrpSpPr>
        <p:grpSpPr>
          <a:xfrm>
            <a:off x="707708" y="2290762"/>
            <a:ext cx="4629150" cy="3663316"/>
            <a:chOff x="707708" y="2290762"/>
            <a:chExt cx="4629150" cy="3663316"/>
          </a:xfrm>
        </p:grpSpPr>
        <p:sp>
          <p:nvSpPr>
            <p:cNvPr id="9" name="Freeform 9"/>
            <p:cNvSpPr/>
            <p:nvPr/>
          </p:nvSpPr>
          <p:spPr>
            <a:xfrm>
              <a:off x="1777365" y="2702242"/>
              <a:ext cx="9525" cy="479108"/>
            </a:xfrm>
            <a:custGeom>
              <a:avLst/>
              <a:gdLst/>
              <a:ahLst/>
              <a:cxnLst/>
              <a:rect l="l" t="t" r="r" b="b"/>
              <a:pathLst>
                <a:path w="9525" h="479108">
                  <a:moveTo>
                    <a:pt x="0" y="0"/>
                  </a:moveTo>
                  <a:lnTo>
                    <a:pt x="0" y="479108"/>
                  </a:lnTo>
                </a:path>
              </a:pathLst>
            </a:custGeom>
            <a:noFill/>
            <a:ln w="15240">
              <a:solidFill>
                <a:srgbClr val="5B6475"/>
              </a:solidFill>
            </a:ln>
          </p:spPr>
        </p:sp>
        <p:sp>
          <p:nvSpPr>
            <p:cNvPr id="10" name="Freeform 10"/>
            <p:cNvSpPr/>
            <p:nvPr/>
          </p:nvSpPr>
          <p:spPr>
            <a:xfrm>
              <a:off x="1724978" y="318135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2847975" y="3580448"/>
              <a:ext cx="243840" cy="9525"/>
            </a:xfrm>
            <a:custGeom>
              <a:avLst/>
              <a:gdLst/>
              <a:ahLst/>
              <a:cxnLst/>
              <a:rect l="l" t="t" r="r" b="b"/>
              <a:pathLst>
                <a:path w="243840" h="9525">
                  <a:moveTo>
                    <a:pt x="0" y="0"/>
                  </a:moveTo>
                  <a:lnTo>
                    <a:pt x="243840" y="0"/>
                  </a:lnTo>
                </a:path>
              </a:pathLst>
            </a:custGeom>
            <a:noFill/>
            <a:ln w="15240">
              <a:solidFill>
                <a:srgbClr val="5B6475"/>
              </a:solidFill>
            </a:ln>
          </p:spPr>
        </p:sp>
        <p:sp>
          <p:nvSpPr>
            <p:cNvPr id="12" name="Freeform 12"/>
            <p:cNvSpPr/>
            <p:nvPr/>
          </p:nvSpPr>
          <p:spPr>
            <a:xfrm>
              <a:off x="3091815" y="352806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3" name="Freeform 13"/>
            <p:cNvSpPr/>
            <p:nvPr/>
          </p:nvSpPr>
          <p:spPr>
            <a:xfrm>
              <a:off x="1777365" y="3874770"/>
              <a:ext cx="9525" cy="391477"/>
            </a:xfrm>
            <a:custGeom>
              <a:avLst/>
              <a:gdLst/>
              <a:ahLst/>
              <a:cxnLst/>
              <a:rect l="l" t="t" r="r" b="b"/>
              <a:pathLst>
                <a:path w="9525" h="391477">
                  <a:moveTo>
                    <a:pt x="0" y="0"/>
                  </a:moveTo>
                  <a:lnTo>
                    <a:pt x="0" y="391477"/>
                  </a:lnTo>
                </a:path>
              </a:pathLst>
            </a:custGeom>
            <a:noFill/>
            <a:ln w="15240">
              <a:solidFill>
                <a:srgbClr val="5B6475"/>
              </a:solidFill>
            </a:ln>
          </p:spPr>
        </p:sp>
        <p:sp>
          <p:nvSpPr>
            <p:cNvPr id="14" name="Freeform 14"/>
            <p:cNvSpPr/>
            <p:nvPr/>
          </p:nvSpPr>
          <p:spPr>
            <a:xfrm>
              <a:off x="1724978" y="426624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1777365" y="3786188"/>
              <a:ext cx="2488882" cy="480060"/>
            </a:xfrm>
            <a:custGeom>
              <a:avLst/>
              <a:gdLst/>
              <a:ahLst/>
              <a:cxnLst/>
              <a:rect l="l" t="t" r="r" b="b"/>
              <a:pathLst>
                <a:path w="2488882" h="480060">
                  <a:moveTo>
                    <a:pt x="2488882" y="0"/>
                  </a:moveTo>
                  <a:lnTo>
                    <a:pt x="2488882" y="292417"/>
                  </a:lnTo>
                  <a:lnTo>
                    <a:pt x="0" y="292417"/>
                  </a:lnTo>
                  <a:lnTo>
                    <a:pt x="0" y="480060"/>
                  </a:lnTo>
                </a:path>
              </a:pathLst>
            </a:custGeom>
            <a:noFill/>
            <a:ln w="15240">
              <a:solidFill>
                <a:srgbClr val="5B6475"/>
              </a:solidFill>
            </a:ln>
          </p:spPr>
        </p:sp>
        <p:sp>
          <p:nvSpPr>
            <p:cNvPr id="16" name="Freeform 16"/>
            <p:cNvSpPr/>
            <p:nvPr/>
          </p:nvSpPr>
          <p:spPr>
            <a:xfrm>
              <a:off x="1724978" y="426624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Freeform 17"/>
            <p:cNvSpPr/>
            <p:nvPr/>
          </p:nvSpPr>
          <p:spPr>
            <a:xfrm>
              <a:off x="2847975" y="4664392"/>
              <a:ext cx="243840" cy="9525"/>
            </a:xfrm>
            <a:custGeom>
              <a:avLst/>
              <a:gdLst/>
              <a:ahLst/>
              <a:cxnLst/>
              <a:rect l="l" t="t" r="r" b="b"/>
              <a:pathLst>
                <a:path w="243840" h="9525">
                  <a:moveTo>
                    <a:pt x="0" y="0"/>
                  </a:moveTo>
                  <a:lnTo>
                    <a:pt x="243840" y="0"/>
                  </a:lnTo>
                </a:path>
              </a:pathLst>
            </a:custGeom>
            <a:noFill/>
            <a:ln w="15240">
              <a:solidFill>
                <a:srgbClr val="5B6475"/>
              </a:solidFill>
            </a:ln>
          </p:spPr>
        </p:sp>
        <p:sp>
          <p:nvSpPr>
            <p:cNvPr id="18" name="Freeform 18"/>
            <p:cNvSpPr/>
            <p:nvPr/>
          </p:nvSpPr>
          <p:spPr>
            <a:xfrm>
              <a:off x="3091815" y="461200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9" name="Freeform 19"/>
            <p:cNvSpPr/>
            <p:nvPr/>
          </p:nvSpPr>
          <p:spPr>
            <a:xfrm>
              <a:off x="1777365" y="4958715"/>
              <a:ext cx="9525" cy="479107"/>
            </a:xfrm>
            <a:custGeom>
              <a:avLst/>
              <a:gdLst/>
              <a:ahLst/>
              <a:cxnLst/>
              <a:rect l="l" t="t" r="r" b="b"/>
              <a:pathLst>
                <a:path w="9525" h="479107">
                  <a:moveTo>
                    <a:pt x="0" y="0"/>
                  </a:moveTo>
                  <a:lnTo>
                    <a:pt x="0" y="479107"/>
                  </a:lnTo>
                </a:path>
              </a:pathLst>
            </a:custGeom>
            <a:noFill/>
            <a:ln w="15240">
              <a:solidFill>
                <a:srgbClr val="5B6475"/>
              </a:solidFill>
            </a:ln>
          </p:spPr>
        </p:sp>
        <p:sp>
          <p:nvSpPr>
            <p:cNvPr id="20" name="Freeform 20"/>
            <p:cNvSpPr/>
            <p:nvPr/>
          </p:nvSpPr>
          <p:spPr>
            <a:xfrm>
              <a:off x="1724978" y="543782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1" name="Freeform 21"/>
            <p:cNvSpPr/>
            <p:nvPr/>
          </p:nvSpPr>
          <p:spPr>
            <a:xfrm>
              <a:off x="1777365" y="4871085"/>
              <a:ext cx="2488882" cy="566738"/>
            </a:xfrm>
            <a:custGeom>
              <a:avLst/>
              <a:gdLst/>
              <a:ahLst/>
              <a:cxnLst/>
              <a:rect l="l" t="t" r="r" b="b"/>
              <a:pathLst>
                <a:path w="2488882" h="566738">
                  <a:moveTo>
                    <a:pt x="2488882" y="0"/>
                  </a:moveTo>
                  <a:lnTo>
                    <a:pt x="2488882" y="335280"/>
                  </a:lnTo>
                  <a:lnTo>
                    <a:pt x="0" y="335280"/>
                  </a:lnTo>
                  <a:lnTo>
                    <a:pt x="0" y="566738"/>
                  </a:lnTo>
                </a:path>
              </a:pathLst>
            </a:custGeom>
            <a:noFill/>
            <a:ln w="15240">
              <a:solidFill>
                <a:srgbClr val="5B6475"/>
              </a:solidFill>
            </a:ln>
          </p:spPr>
        </p:sp>
        <p:sp>
          <p:nvSpPr>
            <p:cNvPr id="22" name="Freeform 22"/>
            <p:cNvSpPr/>
            <p:nvPr/>
          </p:nvSpPr>
          <p:spPr>
            <a:xfrm>
              <a:off x="1724978" y="543782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3" name="Rectangle 23"/>
            <p:cNvSpPr/>
            <p:nvPr/>
          </p:nvSpPr>
          <p:spPr>
            <a:xfrm>
              <a:off x="707708" y="2290762"/>
              <a:ext cx="2140268" cy="411480"/>
            </a:xfrm>
            <a:prstGeom prst="roundRect">
              <a:avLst>
                <a:gd name="adj" fmla="val 50000"/>
              </a:avLst>
            </a:prstGeom>
            <a:solidFill>
              <a:srgbClr val="334E68"/>
            </a:solidFill>
            <a:ln>
              <a:noFill/>
            </a:ln>
          </p:spPr>
        </p:sp>
        <p:sp>
          <p:nvSpPr>
            <p:cNvPr id="24" name="Freeform 24"/>
            <p:cNvSpPr/>
            <p:nvPr/>
          </p:nvSpPr>
          <p:spPr>
            <a:xfrm>
              <a:off x="707708" y="3286125"/>
              <a:ext cx="2140268" cy="588645"/>
            </a:xfrm>
            <a:custGeom>
              <a:avLst/>
              <a:gdLst/>
              <a:ahLst/>
              <a:cxnLst/>
              <a:rect l="l" t="t" r="r" b="b"/>
              <a:pathLst>
                <a:path w="2140268" h="588645">
                  <a:moveTo>
                    <a:pt x="1069658" y="0"/>
                  </a:moveTo>
                  <a:lnTo>
                    <a:pt x="2140268" y="294322"/>
                  </a:lnTo>
                  <a:lnTo>
                    <a:pt x="1069658" y="588645"/>
                  </a:lnTo>
                  <a:lnTo>
                    <a:pt x="0" y="294322"/>
                  </a:lnTo>
                  <a:close/>
                </a:path>
              </a:pathLst>
            </a:custGeom>
            <a:solidFill>
              <a:srgbClr val="FDEEE7"/>
            </a:solidFill>
            <a:ln w="15240">
              <a:solidFill>
                <a:srgbClr val="F26B3A"/>
              </a:solidFill>
            </a:ln>
          </p:spPr>
        </p:sp>
        <p:sp>
          <p:nvSpPr>
            <p:cNvPr id="25" name="Rectangle 25"/>
            <p:cNvSpPr/>
            <p:nvPr/>
          </p:nvSpPr>
          <p:spPr>
            <a:xfrm>
              <a:off x="3196590" y="3374708"/>
              <a:ext cx="2140268" cy="411480"/>
            </a:xfrm>
            <a:prstGeom prst="roundRect">
              <a:avLst>
                <a:gd name="adj" fmla="val 23148"/>
              </a:avLst>
            </a:prstGeom>
            <a:solidFill>
              <a:srgbClr val="E7EDF3"/>
            </a:solidFill>
            <a:ln w="19050">
              <a:solidFill>
                <a:srgbClr val="334E68"/>
              </a:solidFill>
            </a:ln>
          </p:spPr>
        </p:sp>
        <p:sp>
          <p:nvSpPr>
            <p:cNvPr id="26" name="Freeform 26"/>
            <p:cNvSpPr/>
            <p:nvPr/>
          </p:nvSpPr>
          <p:spPr>
            <a:xfrm>
              <a:off x="707708" y="4371022"/>
              <a:ext cx="2140268" cy="587693"/>
            </a:xfrm>
            <a:custGeom>
              <a:avLst/>
              <a:gdLst/>
              <a:ahLst/>
              <a:cxnLst/>
              <a:rect l="l" t="t" r="r" b="b"/>
              <a:pathLst>
                <a:path w="2140268" h="587693">
                  <a:moveTo>
                    <a:pt x="1069658" y="0"/>
                  </a:moveTo>
                  <a:lnTo>
                    <a:pt x="2140268" y="293370"/>
                  </a:lnTo>
                  <a:lnTo>
                    <a:pt x="1069658" y="587693"/>
                  </a:lnTo>
                  <a:lnTo>
                    <a:pt x="0" y="293370"/>
                  </a:lnTo>
                  <a:close/>
                </a:path>
              </a:pathLst>
            </a:custGeom>
            <a:solidFill>
              <a:srgbClr val="FDEEE7"/>
            </a:solidFill>
            <a:ln w="15240">
              <a:solidFill>
                <a:srgbClr val="F26B3A"/>
              </a:solidFill>
            </a:ln>
          </p:spPr>
        </p:sp>
        <p:sp>
          <p:nvSpPr>
            <p:cNvPr id="27" name="Rectangle 27"/>
            <p:cNvSpPr/>
            <p:nvPr/>
          </p:nvSpPr>
          <p:spPr>
            <a:xfrm>
              <a:off x="3196590" y="4458652"/>
              <a:ext cx="2140268" cy="411480"/>
            </a:xfrm>
            <a:prstGeom prst="roundRect">
              <a:avLst>
                <a:gd name="adj" fmla="val 23148"/>
              </a:avLst>
            </a:prstGeom>
            <a:solidFill>
              <a:srgbClr val="E7EDF3"/>
            </a:solidFill>
            <a:ln w="19050">
              <a:solidFill>
                <a:srgbClr val="334E68"/>
              </a:solidFill>
            </a:ln>
          </p:spPr>
        </p:sp>
        <p:sp>
          <p:nvSpPr>
            <p:cNvPr id="28" name="Rectangle 28"/>
            <p:cNvSpPr/>
            <p:nvPr/>
          </p:nvSpPr>
          <p:spPr>
            <a:xfrm>
              <a:off x="707708" y="5542598"/>
              <a:ext cx="2140268" cy="411480"/>
            </a:xfrm>
            <a:prstGeom prst="roundRect">
              <a:avLst>
                <a:gd name="adj" fmla="val 50000"/>
              </a:avLst>
            </a:prstGeom>
            <a:solidFill>
              <a:srgbClr val="334E68"/>
            </a:solidFill>
            <a:ln>
              <a:noFill/>
            </a:ln>
          </p:spPr>
        </p:sp>
        <p:sp>
          <p:nvSpPr>
            <p:cNvPr id="29" name="TextBox 29"/>
            <p:cNvSpPr txBox="1"/>
            <p:nvPr/>
          </p:nvSpPr>
          <p:spPr>
            <a:xfrm>
              <a:off x="1537636" y="2412682"/>
              <a:ext cx="47945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入口 s</a:t>
              </a:r>
            </a:p>
          </p:txBody>
        </p:sp>
        <p:sp>
          <p:nvSpPr>
            <p:cNvPr id="30" name="TextBox 30"/>
            <p:cNvSpPr txBox="1"/>
            <p:nvPr/>
          </p:nvSpPr>
          <p:spPr>
            <a:xfrm>
              <a:off x="1312835" y="3496627"/>
              <a:ext cx="929061"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A&gt;1 and B=0</a:t>
              </a:r>
            </a:p>
          </p:txBody>
        </p:sp>
        <p:sp>
          <p:nvSpPr>
            <p:cNvPr id="31" name="TextBox 31"/>
            <p:cNvSpPr txBox="1"/>
            <p:nvPr/>
          </p:nvSpPr>
          <p:spPr>
            <a:xfrm>
              <a:off x="4025456" y="3496627"/>
              <a:ext cx="481584"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X=X/A</a:t>
              </a:r>
            </a:p>
          </p:txBody>
        </p:sp>
        <p:sp>
          <p:nvSpPr>
            <p:cNvPr id="32" name="TextBox 32"/>
            <p:cNvSpPr txBox="1"/>
            <p:nvPr/>
          </p:nvSpPr>
          <p:spPr>
            <a:xfrm>
              <a:off x="1355979" y="4580572"/>
              <a:ext cx="842772"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A=2 or X&gt;1</a:t>
              </a:r>
            </a:p>
          </p:txBody>
        </p:sp>
        <p:sp>
          <p:nvSpPr>
            <p:cNvPr id="33" name="TextBox 33"/>
            <p:cNvSpPr txBox="1"/>
            <p:nvPr/>
          </p:nvSpPr>
          <p:spPr>
            <a:xfrm>
              <a:off x="4025456" y="4580572"/>
              <a:ext cx="481584"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X=X+1</a:t>
              </a:r>
            </a:p>
          </p:txBody>
        </p:sp>
        <p:sp>
          <p:nvSpPr>
            <p:cNvPr id="34" name="TextBox 34"/>
            <p:cNvSpPr txBox="1"/>
            <p:nvPr/>
          </p:nvSpPr>
          <p:spPr>
            <a:xfrm>
              <a:off x="1537636" y="5665470"/>
              <a:ext cx="47945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返回 d</a:t>
              </a:r>
            </a:p>
          </p:txBody>
        </p:sp>
        <p:sp>
          <p:nvSpPr>
            <p:cNvPr id="35" name="Rectangle 35"/>
            <p:cNvSpPr/>
            <p:nvPr/>
          </p:nvSpPr>
          <p:spPr>
            <a:xfrm>
              <a:off x="2940368" y="3374708"/>
              <a:ext cx="163830" cy="179070"/>
            </a:xfrm>
            <a:prstGeom prst="roundRect">
              <a:avLst>
                <a:gd name="adj" fmla="val 23256"/>
              </a:avLst>
            </a:prstGeom>
            <a:solidFill>
              <a:srgbClr val="FFFFFF"/>
            </a:solidFill>
            <a:ln>
              <a:noFill/>
            </a:ln>
          </p:spPr>
        </p:sp>
        <p:sp>
          <p:nvSpPr>
            <p:cNvPr id="36" name="TextBox 36"/>
            <p:cNvSpPr txBox="1"/>
            <p:nvPr/>
          </p:nvSpPr>
          <p:spPr>
            <a:xfrm>
              <a:off x="2978996" y="3398996"/>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sp>
          <p:nvSpPr>
            <p:cNvPr id="37" name="Rectangle 37"/>
            <p:cNvSpPr/>
            <p:nvPr/>
          </p:nvSpPr>
          <p:spPr>
            <a:xfrm>
              <a:off x="1805940" y="4037648"/>
              <a:ext cx="163830" cy="179070"/>
            </a:xfrm>
            <a:prstGeom prst="roundRect">
              <a:avLst>
                <a:gd name="adj" fmla="val 23256"/>
              </a:avLst>
            </a:prstGeom>
            <a:solidFill>
              <a:srgbClr val="FFFFFF"/>
            </a:solidFill>
            <a:ln>
              <a:noFill/>
            </a:ln>
          </p:spPr>
        </p:sp>
        <p:sp>
          <p:nvSpPr>
            <p:cNvPr id="38" name="TextBox 38"/>
            <p:cNvSpPr txBox="1"/>
            <p:nvPr/>
          </p:nvSpPr>
          <p:spPr>
            <a:xfrm>
              <a:off x="1829562" y="4061936"/>
              <a:ext cx="86573" cy="190690"/>
            </a:xfrm>
            <a:prstGeom prst="rect">
              <a:avLst/>
            </a:prstGeom>
            <a:noFill/>
            <a:ln>
              <a:noFill/>
            </a:ln>
          </p:spPr>
          <p:txBody>
            <a:bodyPr wrap="none" lIns="0" tIns="0" rIns="0" bIns="0" anchor="t" anchorCtr="0">
              <a:spAutoFit/>
            </a:bodyPr>
            <a:lstStyle/>
            <a:p>
              <a:pPr algn="l"/>
              <a:r>
                <a:rPr lang="en-US" sz="980" dirty="0">
                  <a:solidFill>
                    <a:srgbClr val="5B6475"/>
                  </a:solidFill>
                  <a:latin typeface="+mn-lt"/>
                  <a:ea typeface="+mn-ea"/>
                  <a:cs typeface="+mn-cs"/>
                </a:rPr>
                <a:t>F</a:t>
              </a:r>
            </a:p>
          </p:txBody>
        </p:sp>
        <p:sp>
          <p:nvSpPr>
            <p:cNvPr id="39" name="Rectangle 39"/>
            <p:cNvSpPr/>
            <p:nvPr/>
          </p:nvSpPr>
          <p:spPr>
            <a:xfrm>
              <a:off x="2940368" y="4458652"/>
              <a:ext cx="163830" cy="179070"/>
            </a:xfrm>
            <a:prstGeom prst="roundRect">
              <a:avLst>
                <a:gd name="adj" fmla="val 23256"/>
              </a:avLst>
            </a:prstGeom>
            <a:solidFill>
              <a:srgbClr val="FFFFFF"/>
            </a:solidFill>
            <a:ln>
              <a:noFill/>
            </a:ln>
          </p:spPr>
        </p:sp>
        <p:sp>
          <p:nvSpPr>
            <p:cNvPr id="40" name="TextBox 40"/>
            <p:cNvSpPr txBox="1"/>
            <p:nvPr/>
          </p:nvSpPr>
          <p:spPr>
            <a:xfrm>
              <a:off x="2978996" y="4482941"/>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sp>
          <p:nvSpPr>
            <p:cNvPr id="41" name="Rectangle 41"/>
            <p:cNvSpPr/>
            <p:nvPr/>
          </p:nvSpPr>
          <p:spPr>
            <a:xfrm>
              <a:off x="1805940" y="5165408"/>
              <a:ext cx="163830" cy="179070"/>
            </a:xfrm>
            <a:prstGeom prst="roundRect">
              <a:avLst>
                <a:gd name="adj" fmla="val 23256"/>
              </a:avLst>
            </a:prstGeom>
            <a:solidFill>
              <a:srgbClr val="FFFFFF"/>
            </a:solidFill>
            <a:ln>
              <a:noFill/>
            </a:ln>
          </p:spPr>
        </p:sp>
        <p:sp>
          <p:nvSpPr>
            <p:cNvPr id="42" name="TextBox 42"/>
            <p:cNvSpPr txBox="1"/>
            <p:nvPr/>
          </p:nvSpPr>
          <p:spPr>
            <a:xfrm>
              <a:off x="1829562" y="5190649"/>
              <a:ext cx="86573" cy="190690"/>
            </a:xfrm>
            <a:prstGeom prst="rect">
              <a:avLst/>
            </a:prstGeom>
            <a:noFill/>
            <a:ln>
              <a:noFill/>
            </a:ln>
          </p:spPr>
          <p:txBody>
            <a:bodyPr wrap="none" lIns="0" tIns="0" rIns="0" bIns="0" anchor="t" anchorCtr="0">
              <a:spAutoFit/>
            </a:bodyPr>
            <a:lstStyle/>
            <a:p>
              <a:pPr algn="l"/>
              <a:r>
                <a:rPr lang="en-US" sz="980" dirty="0">
                  <a:solidFill>
                    <a:srgbClr val="5B6475"/>
                  </a:solidFill>
                  <a:latin typeface="+mn-lt"/>
                  <a:ea typeface="+mn-ea"/>
                  <a:cs typeface="+mn-cs"/>
                </a:rPr>
                <a:t>F</a:t>
              </a:r>
            </a:p>
          </p:txBody>
        </p:sp>
      </p:grpSp>
      <p:grpSp>
        <p:nvGrpSpPr>
          <p:cNvPr id="50" name="c2-card-1"/>
          <p:cNvGrpSpPr/>
          <p:nvPr/>
        </p:nvGrpSpPr>
        <p:grpSpPr>
          <a:xfrm>
            <a:off x="5815965" y="1954530"/>
            <a:ext cx="5842635" cy="1268730"/>
            <a:chOff x="5815965" y="1954530"/>
            <a:chExt cx="5842635" cy="1268730"/>
          </a:xfrm>
        </p:grpSpPr>
        <p:sp>
          <p:nvSpPr>
            <p:cNvPr id="44" name="Rectangle 44"/>
            <p:cNvSpPr/>
            <p:nvPr/>
          </p:nvSpPr>
          <p:spPr>
            <a:xfrm>
              <a:off x="5815965" y="1954530"/>
              <a:ext cx="5842635" cy="1268730"/>
            </a:xfrm>
            <a:prstGeom prst="roundRect">
              <a:avLst>
                <a:gd name="adj" fmla="val 10511"/>
              </a:avLst>
            </a:prstGeom>
            <a:solidFill>
              <a:srgbClr val="FFFFFF"/>
            </a:solidFill>
            <a:ln w="14288">
              <a:solidFill>
                <a:srgbClr val="D9DFEA"/>
              </a:solidFill>
            </a:ln>
          </p:spPr>
        </p:sp>
        <p:sp>
          <p:nvSpPr>
            <p:cNvPr id="45" name="Rectangle 45"/>
            <p:cNvSpPr/>
            <p:nvPr/>
          </p:nvSpPr>
          <p:spPr>
            <a:xfrm>
              <a:off x="5825490" y="2087880"/>
              <a:ext cx="47625" cy="1002030"/>
            </a:xfrm>
            <a:prstGeom prst="roundRect">
              <a:avLst>
                <a:gd name="adj" fmla="val 50000"/>
              </a:avLst>
            </a:prstGeom>
            <a:solidFill>
              <a:srgbClr val="334E68"/>
            </a:solidFill>
            <a:ln>
              <a:noFill/>
            </a:ln>
          </p:spPr>
        </p:sp>
        <p:sp>
          <p:nvSpPr>
            <p:cNvPr id="46" name="Rectangle 46"/>
            <p:cNvSpPr/>
            <p:nvPr/>
          </p:nvSpPr>
          <p:spPr>
            <a:xfrm>
              <a:off x="6052185" y="2152650"/>
              <a:ext cx="742950" cy="247650"/>
            </a:xfrm>
            <a:prstGeom prst="roundRect">
              <a:avLst>
                <a:gd name="adj" fmla="val 50000"/>
              </a:avLst>
            </a:prstGeom>
            <a:solidFill>
              <a:srgbClr val="E7EDF3"/>
            </a:solidFill>
            <a:ln>
              <a:noFill/>
            </a:ln>
          </p:spPr>
        </p:sp>
        <p:sp>
          <p:nvSpPr>
            <p:cNvPr id="47" name="TextBox 47"/>
            <p:cNvSpPr txBox="1"/>
            <p:nvPr/>
          </p:nvSpPr>
          <p:spPr>
            <a:xfrm>
              <a:off x="6135624" y="2186940"/>
              <a:ext cx="576072"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语句覆盖</a:t>
              </a:r>
            </a:p>
          </p:txBody>
        </p:sp>
        <p:sp>
          <p:nvSpPr>
            <p:cNvPr id="48" name="TextBox 48"/>
            <p:cNvSpPr txBox="1"/>
            <p:nvPr/>
          </p:nvSpPr>
          <p:spPr>
            <a:xfrm>
              <a:off x="6902196" y="2187416"/>
              <a:ext cx="249956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每一可执行语句至少执行一次</a:t>
              </a:r>
            </a:p>
          </p:txBody>
        </p:sp>
        <p:sp>
          <p:nvSpPr>
            <p:cNvPr id="49" name="TextBox 49"/>
            <p:cNvSpPr txBox="1"/>
            <p:nvPr/>
          </p:nvSpPr>
          <p:spPr>
            <a:xfrm>
              <a:off x="6044946" y="2531269"/>
              <a:ext cx="50639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设计若干个测试用例，运行被测程序，使得每一可执行语句至少</a:t>
              </a:r>
              <a:br/>
              <a:r>
                <a:rPr lang="zh-CN" sz="1420" dirty="0">
                  <a:solidFill>
                    <a:srgbClr val="1F2937"/>
                  </a:solidFill>
                  <a:latin typeface="+mn-lt"/>
                  <a:ea typeface="+mn-ea"/>
                  <a:cs typeface="+mn-cs"/>
                </a:rPr>
                <a:t>执行一次。</a:t>
              </a:r>
            </a:p>
          </p:txBody>
        </p:sp>
      </p:grpSp>
      <p:grpSp>
        <p:nvGrpSpPr>
          <p:cNvPr id="61" name="c2-table-2"/>
          <p:cNvGrpSpPr/>
          <p:nvPr/>
        </p:nvGrpSpPr>
        <p:grpSpPr>
          <a:xfrm>
            <a:off x="5815965" y="3403282"/>
            <a:ext cx="5842635" cy="848678"/>
            <a:chOff x="5815965" y="3403282"/>
            <a:chExt cx="5842635" cy="848678"/>
          </a:xfrm>
        </p:grpSpPr>
        <p:sp>
          <p:nvSpPr>
            <p:cNvPr id="51" name="Rectangle 51"/>
            <p:cNvSpPr/>
            <p:nvPr/>
          </p:nvSpPr>
          <p:spPr>
            <a:xfrm>
              <a:off x="5815965" y="3403282"/>
              <a:ext cx="5842635" cy="424815"/>
            </a:xfrm>
            <a:prstGeom prst="rect">
              <a:avLst/>
            </a:prstGeom>
            <a:solidFill>
              <a:srgbClr val="334E68"/>
            </a:solidFill>
            <a:ln>
              <a:noFill/>
            </a:ln>
          </p:spPr>
        </p:sp>
        <p:sp>
          <p:nvSpPr>
            <p:cNvPr id="52" name="TextBox 52"/>
            <p:cNvSpPr txBox="1"/>
            <p:nvPr/>
          </p:nvSpPr>
          <p:spPr>
            <a:xfrm>
              <a:off x="6639306" y="3531870"/>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测试用例</a:t>
              </a:r>
            </a:p>
          </p:txBody>
        </p:sp>
        <p:sp>
          <p:nvSpPr>
            <p:cNvPr id="53" name="TextBox 53"/>
            <p:cNvSpPr txBox="1"/>
            <p:nvPr/>
          </p:nvSpPr>
          <p:spPr>
            <a:xfrm>
              <a:off x="8383334" y="3531870"/>
              <a:ext cx="658368"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执行路径</a:t>
              </a:r>
            </a:p>
          </p:txBody>
        </p:sp>
        <p:sp>
          <p:nvSpPr>
            <p:cNvPr id="54" name="TextBox 54"/>
            <p:cNvSpPr txBox="1"/>
            <p:nvPr/>
          </p:nvSpPr>
          <p:spPr>
            <a:xfrm>
              <a:off x="9989629" y="3531870"/>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覆盖到的语句</a:t>
              </a:r>
            </a:p>
          </p:txBody>
        </p:sp>
        <p:sp>
          <p:nvSpPr>
            <p:cNvPr id="55" name="TextBox 55"/>
            <p:cNvSpPr txBox="1"/>
            <p:nvPr/>
          </p:nvSpPr>
          <p:spPr>
            <a:xfrm>
              <a:off x="5918454" y="3956685"/>
              <a:ext cx="185258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[(2, 0, 4), (2, 0, 3)]</a:t>
              </a:r>
            </a:p>
          </p:txBody>
        </p:sp>
        <p:sp>
          <p:nvSpPr>
            <p:cNvPr id="56" name="TextBox 56"/>
            <p:cNvSpPr txBox="1"/>
            <p:nvPr/>
          </p:nvSpPr>
          <p:spPr>
            <a:xfrm>
              <a:off x="8224456" y="3956685"/>
              <a:ext cx="545287"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sacbed</a:t>
              </a:r>
            </a:p>
          </p:txBody>
        </p:sp>
        <p:sp>
          <p:nvSpPr>
            <p:cNvPr id="57" name="TextBox 57"/>
            <p:cNvSpPr txBox="1"/>
            <p:nvPr/>
          </p:nvSpPr>
          <p:spPr>
            <a:xfrm>
              <a:off x="9404604" y="3956685"/>
              <a:ext cx="1912315"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X=X/A 与 X=X+1 都执行了</a:t>
              </a:r>
            </a:p>
          </p:txBody>
        </p:sp>
        <p:sp>
          <p:nvSpPr>
            <p:cNvPr id="58" name="Rectangle 58"/>
            <p:cNvSpPr/>
            <p:nvPr/>
          </p:nvSpPr>
          <p:spPr>
            <a:xfrm>
              <a:off x="5815965" y="3403282"/>
              <a:ext cx="5842635" cy="848678"/>
            </a:xfrm>
            <a:prstGeom prst="rect">
              <a:avLst/>
            </a:prstGeom>
            <a:noFill/>
            <a:ln w="14288">
              <a:solidFill>
                <a:srgbClr val="D9DFEA"/>
              </a:solidFill>
            </a:ln>
          </p:spPr>
        </p:sp>
        <p:sp>
          <p:nvSpPr>
            <p:cNvPr id="59" name="Rectangle 59"/>
            <p:cNvSpPr/>
            <p:nvPr/>
          </p:nvSpPr>
          <p:spPr>
            <a:xfrm>
              <a:off x="8117205" y="3403282"/>
              <a:ext cx="9525" cy="848678"/>
            </a:xfrm>
            <a:prstGeom prst="rect">
              <a:avLst/>
            </a:prstGeom>
            <a:solidFill>
              <a:srgbClr val="D9DFEA"/>
            </a:solidFill>
            <a:ln>
              <a:noFill/>
            </a:ln>
          </p:spPr>
        </p:sp>
        <p:sp>
          <p:nvSpPr>
            <p:cNvPr id="60" name="Rectangle 60"/>
            <p:cNvSpPr/>
            <p:nvPr/>
          </p:nvSpPr>
          <p:spPr>
            <a:xfrm>
              <a:off x="9297352" y="3403282"/>
              <a:ext cx="9525" cy="848678"/>
            </a:xfrm>
            <a:prstGeom prst="rect">
              <a:avLst/>
            </a:prstGeom>
            <a:solidFill>
              <a:srgbClr val="D9DFEA"/>
            </a:solidFill>
            <a:ln>
              <a:noFill/>
            </a:ln>
          </p:spPr>
        </p:sp>
      </p:grpSp>
      <p:grpSp>
        <p:nvGrpSpPr>
          <p:cNvPr id="69" name="c2-card-3"/>
          <p:cNvGrpSpPr/>
          <p:nvPr/>
        </p:nvGrpSpPr>
        <p:grpSpPr>
          <a:xfrm>
            <a:off x="5815965" y="4432935"/>
            <a:ext cx="5842635" cy="1858328"/>
            <a:chOff x="5815965" y="4432935"/>
            <a:chExt cx="5842635" cy="1858328"/>
          </a:xfrm>
        </p:grpSpPr>
        <p:sp>
          <p:nvSpPr>
            <p:cNvPr id="62" name="Rectangle 62"/>
            <p:cNvSpPr/>
            <p:nvPr/>
          </p:nvSpPr>
          <p:spPr>
            <a:xfrm>
              <a:off x="5815965" y="4432935"/>
              <a:ext cx="5842635" cy="1858328"/>
            </a:xfrm>
            <a:prstGeom prst="roundRect">
              <a:avLst>
                <a:gd name="adj" fmla="val 7176"/>
              </a:avLst>
            </a:prstGeom>
            <a:solidFill>
              <a:srgbClr val="FFFFFF"/>
            </a:solidFill>
            <a:ln w="14288">
              <a:solidFill>
                <a:srgbClr val="D9DFEA"/>
              </a:solidFill>
            </a:ln>
          </p:spPr>
        </p:sp>
        <p:sp>
          <p:nvSpPr>
            <p:cNvPr id="63" name="Rectangle 63"/>
            <p:cNvSpPr/>
            <p:nvPr/>
          </p:nvSpPr>
          <p:spPr>
            <a:xfrm>
              <a:off x="5825490" y="4566285"/>
              <a:ext cx="47625" cy="1591628"/>
            </a:xfrm>
            <a:prstGeom prst="roundRect">
              <a:avLst>
                <a:gd name="adj" fmla="val 50000"/>
              </a:avLst>
            </a:prstGeom>
            <a:solidFill>
              <a:srgbClr val="B42318"/>
            </a:solidFill>
            <a:ln>
              <a:noFill/>
            </a:ln>
          </p:spPr>
        </p:sp>
        <p:sp>
          <p:nvSpPr>
            <p:cNvPr id="64" name="Rectangle 64"/>
            <p:cNvSpPr/>
            <p:nvPr/>
          </p:nvSpPr>
          <p:spPr>
            <a:xfrm>
              <a:off x="6052185" y="4631055"/>
              <a:ext cx="876300" cy="247650"/>
            </a:xfrm>
            <a:prstGeom prst="roundRect">
              <a:avLst>
                <a:gd name="adj" fmla="val 50000"/>
              </a:avLst>
            </a:prstGeom>
            <a:solidFill>
              <a:srgbClr val="FDECEA"/>
            </a:solidFill>
            <a:ln>
              <a:noFill/>
            </a:ln>
          </p:spPr>
        </p:sp>
        <p:sp>
          <p:nvSpPr>
            <p:cNvPr id="65" name="TextBox 65"/>
            <p:cNvSpPr txBox="1"/>
            <p:nvPr/>
          </p:nvSpPr>
          <p:spPr>
            <a:xfrm>
              <a:off x="6131624" y="4665345"/>
              <a:ext cx="717423"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为什么最弱</a:t>
              </a:r>
            </a:p>
          </p:txBody>
        </p:sp>
        <p:sp>
          <p:nvSpPr>
            <p:cNvPr id="66" name="TextBox 66"/>
            <p:cNvSpPr txBox="1"/>
            <p:nvPr/>
          </p:nvSpPr>
          <p:spPr>
            <a:xfrm>
              <a:off x="7035546" y="4665821"/>
              <a:ext cx="348499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一组数据就“覆盖”完了，错误却查不出来</a:t>
              </a:r>
            </a:p>
          </p:txBody>
        </p:sp>
        <p:sp>
          <p:nvSpPr>
            <p:cNvPr id="67" name="TextBox 67"/>
            <p:cNvSpPr txBox="1"/>
            <p:nvPr/>
          </p:nvSpPr>
          <p:spPr>
            <a:xfrm>
              <a:off x="6044946" y="5009674"/>
              <a:ext cx="5190236"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手算：A=2&gt;1 且 B=0，判定 a 为真，走 c，X = 4/2 = 2；A=2，判</a:t>
              </a:r>
              <a:br/>
              <a:r>
                <a:rPr lang="zh-CN" sz="1420" dirty="0">
                  <a:solidFill>
                    <a:srgbClr val="1F2937"/>
                  </a:solidFill>
                  <a:latin typeface="+mn-lt"/>
                  <a:ea typeface="+mn-ea"/>
                  <a:cs typeface="+mn-cs"/>
                </a:rPr>
                <a:t>定 b 为真，走 e，X = 3。</a:t>
              </a:r>
            </a:p>
          </p:txBody>
        </p:sp>
        <p:sp>
          <p:nvSpPr>
            <p:cNvPr id="68" name="TextBox 68"/>
            <p:cNvSpPr txBox="1"/>
            <p:nvPr/>
          </p:nvSpPr>
          <p:spPr>
            <a:xfrm>
              <a:off x="6044946" y="5598319"/>
              <a:ext cx="5181219"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 xml:space="preserve">如果判断 a 里的 </a:t>
              </a:r>
              <a:r>
                <a:rPr lang="en-US" sz="1420" dirty="0">
                  <a:solidFill>
                    <a:srgbClr val="243B53"/>
                  </a:solidFill>
                  <a:latin typeface="+mn-lt"/>
                  <a:ea typeface="+mn-ea"/>
                  <a:cs typeface="+mn-cs"/>
                </a:rPr>
                <a:t>and</a:t>
              </a:r>
              <a:r>
                <a:rPr lang="zh-CN" sz="1420" dirty="0">
                  <a:solidFill>
                    <a:srgbClr val="1F2937"/>
                  </a:solidFill>
                  <a:latin typeface="+mn-lt"/>
                  <a:ea typeface="+mn-ea"/>
                  <a:cs typeface="+mn-cs"/>
                </a:rPr>
                <a:t xml:space="preserve"> 被错写成 </a:t>
              </a:r>
              <a:r>
                <a:rPr lang="en-US" sz="1420" dirty="0">
                  <a:solidFill>
                    <a:srgbClr val="243B53"/>
                  </a:solidFill>
                  <a:latin typeface="+mn-lt"/>
                  <a:ea typeface="+mn-ea"/>
                  <a:cs typeface="+mn-cs"/>
                </a:rPr>
                <a:t>or</a:t>
              </a:r>
              <a:r>
                <a:rPr lang="zh-CN" sz="1420" dirty="0">
                  <a:solidFill>
                    <a:srgbClr val="1F2937"/>
                  </a:solidFill>
                  <a:latin typeface="+mn-lt"/>
                  <a:ea typeface="+mn-ea"/>
                  <a:cs typeface="+mn-cs"/>
                </a:rPr>
                <a:t xml:space="preserve">，或者判断 b 里的 </a:t>
              </a:r>
              <a:r>
                <a:rPr lang="en-US" sz="1420" dirty="0">
                  <a:solidFill>
                    <a:srgbClr val="243B53"/>
                  </a:solidFill>
                  <a:latin typeface="+mn-lt"/>
                  <a:ea typeface="+mn-ea"/>
                  <a:cs typeface="+mn-cs"/>
                </a:rPr>
                <a:t>or</a:t>
              </a:r>
              <a:r>
                <a:rPr lang="zh-CN" sz="1420" dirty="0">
                  <a:solidFill>
                    <a:srgbClr val="1F2937"/>
                  </a:solidFill>
                  <a:latin typeface="+mn-lt"/>
                  <a:ea typeface="+mn-ea"/>
                  <a:cs typeface="+mn-cs"/>
                </a:rPr>
                <a:t xml:space="preserve"> 被错写成</a:t>
              </a:r>
              <a:br/>
              <a:r>
                <a:rPr lang="en-US" sz="1420" dirty="0">
                  <a:solidFill>
                    <a:srgbClr val="243B53"/>
                  </a:solidFill>
                  <a:latin typeface="+mn-lt"/>
                  <a:ea typeface="+mn-ea"/>
                  <a:cs typeface="+mn-cs"/>
                </a:rPr>
                <a:t>and</a:t>
              </a:r>
              <a:r>
                <a:rPr lang="zh-CN" sz="1420" dirty="0">
                  <a:solidFill>
                    <a:srgbClr val="1F2937"/>
                  </a:solidFill>
                  <a:latin typeface="+mn-lt"/>
                  <a:ea typeface="+mn-ea"/>
                  <a:cs typeface="+mn-cs"/>
                </a:rPr>
                <a:t>，这组数据仍然通过。</a:t>
              </a:r>
            </a:p>
          </p:txBody>
        </p:sp>
      </p:grpSp>
      <p:grpSp>
        <p:nvGrpSpPr>
          <p:cNvPr id="72" name="footer"/>
          <p:cNvGrpSpPr/>
          <p:nvPr/>
        </p:nvGrpSpPr>
        <p:grpSpPr>
          <a:xfrm>
            <a:off x="528447" y="6581299"/>
            <a:ext cx="11135106" cy="190690"/>
            <a:chOff x="528447" y="6581299"/>
            <a:chExt cx="11135106" cy="190690"/>
          </a:xfrm>
        </p:grpSpPr>
        <p:sp>
          <p:nvSpPr>
            <p:cNvPr id="70" name="TextBox 70"/>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1" name="TextBox 7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判定覆盖：每个判定的真假分支都走一遍</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626418" cy="1621155"/>
            <a:chOff x="533400" y="1524000"/>
            <a:chExt cx="5626418" cy="1621155"/>
          </a:xfrm>
        </p:grpSpPr>
        <p:sp>
          <p:nvSpPr>
            <p:cNvPr id="7" name="Rectangle 7"/>
            <p:cNvSpPr/>
            <p:nvPr/>
          </p:nvSpPr>
          <p:spPr>
            <a:xfrm>
              <a:off x="533400" y="1524000"/>
              <a:ext cx="5626418" cy="1621155"/>
            </a:xfrm>
            <a:prstGeom prst="roundRect">
              <a:avLst>
                <a:gd name="adj" fmla="val 8226"/>
              </a:avLst>
            </a:prstGeom>
            <a:solidFill>
              <a:srgbClr val="FFFFFF"/>
            </a:solidFill>
            <a:ln w="14288">
              <a:solidFill>
                <a:srgbClr val="D9DFEA"/>
              </a:solidFill>
            </a:ln>
          </p:spPr>
        </p:sp>
        <p:sp>
          <p:nvSpPr>
            <p:cNvPr id="8" name="Rectangle 8"/>
            <p:cNvSpPr/>
            <p:nvPr/>
          </p:nvSpPr>
          <p:spPr>
            <a:xfrm>
              <a:off x="542925" y="1657350"/>
              <a:ext cx="47625" cy="1354455"/>
            </a:xfrm>
            <a:prstGeom prst="roundRect">
              <a:avLst>
                <a:gd name="adj" fmla="val 50000"/>
              </a:avLst>
            </a:prstGeom>
            <a:solidFill>
              <a:srgbClr val="334E68"/>
            </a:solidFill>
            <a:ln>
              <a:noFill/>
            </a:ln>
          </p:spPr>
        </p:sp>
        <p:sp>
          <p:nvSpPr>
            <p:cNvPr id="9" name="Rectangle 9"/>
            <p:cNvSpPr/>
            <p:nvPr/>
          </p:nvSpPr>
          <p:spPr>
            <a:xfrm>
              <a:off x="781050" y="1733550"/>
              <a:ext cx="778192" cy="257175"/>
            </a:xfrm>
            <a:prstGeom prst="roundRect">
              <a:avLst>
                <a:gd name="adj" fmla="val 50000"/>
              </a:avLst>
            </a:prstGeom>
            <a:solidFill>
              <a:srgbClr val="E7EDF3"/>
            </a:solidFill>
            <a:ln>
              <a:noFill/>
            </a:ln>
          </p:spPr>
        </p:sp>
        <p:sp>
          <p:nvSpPr>
            <p:cNvPr id="10" name="TextBox 10"/>
            <p:cNvSpPr txBox="1"/>
            <p:nvPr/>
          </p:nvSpPr>
          <p:spPr>
            <a:xfrm>
              <a:off x="86335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判定覆盖</a:t>
              </a:r>
            </a:p>
          </p:txBody>
        </p:sp>
        <p:sp>
          <p:nvSpPr>
            <p:cNvPr id="11" name="TextBox 11"/>
            <p:cNvSpPr txBox="1"/>
            <p:nvPr/>
          </p:nvSpPr>
          <p:spPr>
            <a:xfrm>
              <a:off x="1665922" y="1768792"/>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又叫分支覆盖</a:t>
              </a:r>
            </a:p>
          </p:txBody>
        </p:sp>
        <p:sp>
          <p:nvSpPr>
            <p:cNvPr id="12" name="TextBox 12"/>
            <p:cNvSpPr txBox="1"/>
            <p:nvPr/>
          </p:nvSpPr>
          <p:spPr>
            <a:xfrm>
              <a:off x="773430" y="2129790"/>
              <a:ext cx="4968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不仅每个语句至少执行一次，而且每个判定的每种可能结果</a:t>
              </a:r>
              <a:br/>
              <a:r>
                <a:rPr lang="zh-CN" sz="1500" dirty="0">
                  <a:solidFill>
                    <a:srgbClr val="1F2937"/>
                  </a:solidFill>
                  <a:latin typeface="+mn-lt"/>
                  <a:ea typeface="+mn-ea"/>
                  <a:cs typeface="+mn-cs"/>
                </a:rPr>
                <a:t>都至少执行一次，也就是每个判定的取真分支和取假分支各</a:t>
              </a:r>
              <a:br/>
              <a:r>
                <a:rPr lang="zh-CN" sz="1500" dirty="0">
                  <a:solidFill>
                    <a:srgbClr val="1F2937"/>
                  </a:solidFill>
                  <a:latin typeface="+mn-lt"/>
                  <a:ea typeface="+mn-ea"/>
                  <a:cs typeface="+mn-cs"/>
                </a:rPr>
                <a:t>至少经历一次。</a:t>
              </a:r>
            </a:p>
          </p:txBody>
        </p:sp>
      </p:grpSp>
      <p:grpSp>
        <p:nvGrpSpPr>
          <p:cNvPr id="52" name="c1-table-2"/>
          <p:cNvGrpSpPr/>
          <p:nvPr/>
        </p:nvGrpSpPr>
        <p:grpSpPr>
          <a:xfrm>
            <a:off x="533400" y="3335655"/>
            <a:ext cx="5626418" cy="2244091"/>
            <a:chOff x="533400" y="3335655"/>
            <a:chExt cx="5626418" cy="2244091"/>
          </a:xfrm>
        </p:grpSpPr>
        <p:sp>
          <p:nvSpPr>
            <p:cNvPr id="14" name="Rectangle 14"/>
            <p:cNvSpPr/>
            <p:nvPr/>
          </p:nvSpPr>
          <p:spPr>
            <a:xfrm>
              <a:off x="533400" y="3335655"/>
              <a:ext cx="5626418" cy="448628"/>
            </a:xfrm>
            <a:prstGeom prst="rect">
              <a:avLst/>
            </a:prstGeom>
            <a:solidFill>
              <a:srgbClr val="334E68"/>
            </a:solidFill>
            <a:ln>
              <a:noFill/>
            </a:ln>
          </p:spPr>
        </p:sp>
        <p:sp>
          <p:nvSpPr>
            <p:cNvPr id="15" name="TextBox 15"/>
            <p:cNvSpPr txBox="1"/>
            <p:nvPr/>
          </p:nvSpPr>
          <p:spPr>
            <a:xfrm>
              <a:off x="767994" y="347138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方案</a:t>
              </a:r>
            </a:p>
          </p:txBody>
        </p:sp>
        <p:sp>
          <p:nvSpPr>
            <p:cNvPr id="16" name="TextBox 16"/>
            <p:cNvSpPr txBox="1"/>
            <p:nvPr/>
          </p:nvSpPr>
          <p:spPr>
            <a:xfrm>
              <a:off x="2104441" y="3471386"/>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测试用例</a:t>
              </a:r>
            </a:p>
          </p:txBody>
        </p:sp>
        <p:sp>
          <p:nvSpPr>
            <p:cNvPr id="17" name="TextBox 17"/>
            <p:cNvSpPr txBox="1"/>
            <p:nvPr/>
          </p:nvSpPr>
          <p:spPr>
            <a:xfrm>
              <a:off x="3695116" y="3471386"/>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执行路径</a:t>
              </a:r>
            </a:p>
          </p:txBody>
        </p:sp>
        <p:sp>
          <p:nvSpPr>
            <p:cNvPr id="18" name="TextBox 18"/>
            <p:cNvSpPr txBox="1"/>
            <p:nvPr/>
          </p:nvSpPr>
          <p:spPr>
            <a:xfrm>
              <a:off x="4689694" y="3471386"/>
              <a:ext cx="51137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判定 a</a:t>
              </a:r>
            </a:p>
          </p:txBody>
        </p:sp>
        <p:sp>
          <p:nvSpPr>
            <p:cNvPr id="19" name="TextBox 19"/>
            <p:cNvSpPr txBox="1"/>
            <p:nvPr/>
          </p:nvSpPr>
          <p:spPr>
            <a:xfrm>
              <a:off x="5499319" y="3471386"/>
              <a:ext cx="51137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判定 b</a:t>
              </a:r>
            </a:p>
          </p:txBody>
        </p:sp>
        <p:sp>
          <p:nvSpPr>
            <p:cNvPr id="20" name="TextBox 20"/>
            <p:cNvSpPr txBox="1"/>
            <p:nvPr/>
          </p:nvSpPr>
          <p:spPr>
            <a:xfrm>
              <a:off x="641223" y="392001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方案一</a:t>
              </a:r>
            </a:p>
          </p:txBody>
        </p:sp>
        <p:sp>
          <p:nvSpPr>
            <p:cNvPr id="21" name="TextBox 21"/>
            <p:cNvSpPr txBox="1"/>
            <p:nvPr/>
          </p:nvSpPr>
          <p:spPr>
            <a:xfrm>
              <a:off x="1467993" y="3920014"/>
              <a:ext cx="188255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[(2, 0, 4), (2, 0, 3)]</a:t>
              </a:r>
            </a:p>
          </p:txBody>
        </p:sp>
        <p:sp>
          <p:nvSpPr>
            <p:cNvPr id="22" name="TextBox 22"/>
            <p:cNvSpPr txBox="1"/>
            <p:nvPr/>
          </p:nvSpPr>
          <p:spPr>
            <a:xfrm>
              <a:off x="3659695" y="3920014"/>
              <a:ext cx="5815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sacbed</a:t>
              </a:r>
            </a:p>
          </p:txBody>
        </p:sp>
        <p:sp>
          <p:nvSpPr>
            <p:cNvPr id="23" name="TextBox 23"/>
            <p:cNvSpPr txBox="1"/>
            <p:nvPr/>
          </p:nvSpPr>
          <p:spPr>
            <a:xfrm>
              <a:off x="4649343" y="3920014"/>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真</a:t>
              </a:r>
            </a:p>
          </p:txBody>
        </p:sp>
        <p:sp>
          <p:nvSpPr>
            <p:cNvPr id="24" name="TextBox 24"/>
            <p:cNvSpPr txBox="1"/>
            <p:nvPr/>
          </p:nvSpPr>
          <p:spPr>
            <a:xfrm>
              <a:off x="5458016" y="3920014"/>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真</a:t>
              </a:r>
            </a:p>
          </p:txBody>
        </p:sp>
        <p:sp>
          <p:nvSpPr>
            <p:cNvPr id="25" name="Rectangle 25"/>
            <p:cNvSpPr/>
            <p:nvPr/>
          </p:nvSpPr>
          <p:spPr>
            <a:xfrm>
              <a:off x="533400" y="4228148"/>
              <a:ext cx="5626418" cy="9525"/>
            </a:xfrm>
            <a:prstGeom prst="rect">
              <a:avLst/>
            </a:prstGeom>
            <a:solidFill>
              <a:srgbClr val="D9DFEA"/>
            </a:solidFill>
            <a:ln>
              <a:noFill/>
            </a:ln>
          </p:spPr>
        </p:sp>
        <p:sp>
          <p:nvSpPr>
            <p:cNvPr id="26" name="Rectangle 26"/>
            <p:cNvSpPr/>
            <p:nvPr/>
          </p:nvSpPr>
          <p:spPr>
            <a:xfrm>
              <a:off x="533400" y="4232910"/>
              <a:ext cx="5626418" cy="448628"/>
            </a:xfrm>
            <a:prstGeom prst="rect">
              <a:avLst/>
            </a:prstGeom>
            <a:solidFill>
              <a:srgbClr val="F4F6FB"/>
            </a:solidFill>
            <a:ln>
              <a:noFill/>
            </a:ln>
          </p:spPr>
        </p:sp>
        <p:sp>
          <p:nvSpPr>
            <p:cNvPr id="27" name="TextBox 27"/>
            <p:cNvSpPr txBox="1"/>
            <p:nvPr/>
          </p:nvSpPr>
          <p:spPr>
            <a:xfrm>
              <a:off x="641223" y="4368641"/>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方案一</a:t>
              </a:r>
            </a:p>
          </p:txBody>
        </p:sp>
        <p:sp>
          <p:nvSpPr>
            <p:cNvPr id="28" name="TextBox 28"/>
            <p:cNvSpPr txBox="1"/>
            <p:nvPr/>
          </p:nvSpPr>
          <p:spPr>
            <a:xfrm>
              <a:off x="1467993" y="4368641"/>
              <a:ext cx="188255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 1, 1), (1, 1, 1)]</a:t>
              </a:r>
            </a:p>
          </p:txBody>
        </p:sp>
        <p:sp>
          <p:nvSpPr>
            <p:cNvPr id="29" name="TextBox 29"/>
            <p:cNvSpPr txBox="1"/>
            <p:nvPr/>
          </p:nvSpPr>
          <p:spPr>
            <a:xfrm>
              <a:off x="3659695" y="4368641"/>
              <a:ext cx="39204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sabd</a:t>
              </a:r>
            </a:p>
          </p:txBody>
        </p:sp>
        <p:sp>
          <p:nvSpPr>
            <p:cNvPr id="30" name="TextBox 30"/>
            <p:cNvSpPr txBox="1"/>
            <p:nvPr/>
          </p:nvSpPr>
          <p:spPr>
            <a:xfrm>
              <a:off x="4649343" y="4368641"/>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假</a:t>
              </a:r>
            </a:p>
          </p:txBody>
        </p:sp>
        <p:sp>
          <p:nvSpPr>
            <p:cNvPr id="31" name="TextBox 31"/>
            <p:cNvSpPr txBox="1"/>
            <p:nvPr/>
          </p:nvSpPr>
          <p:spPr>
            <a:xfrm>
              <a:off x="5458016" y="4368641"/>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假</a:t>
              </a:r>
            </a:p>
          </p:txBody>
        </p:sp>
        <p:sp>
          <p:nvSpPr>
            <p:cNvPr id="32" name="Rectangle 32"/>
            <p:cNvSpPr/>
            <p:nvPr/>
          </p:nvSpPr>
          <p:spPr>
            <a:xfrm>
              <a:off x="533400" y="4677728"/>
              <a:ext cx="5626418" cy="9525"/>
            </a:xfrm>
            <a:prstGeom prst="rect">
              <a:avLst/>
            </a:prstGeom>
            <a:solidFill>
              <a:srgbClr val="D9DFEA"/>
            </a:solidFill>
            <a:ln>
              <a:noFill/>
            </a:ln>
          </p:spPr>
        </p:sp>
        <p:sp>
          <p:nvSpPr>
            <p:cNvPr id="33" name="TextBox 33"/>
            <p:cNvSpPr txBox="1"/>
            <p:nvPr/>
          </p:nvSpPr>
          <p:spPr>
            <a:xfrm>
              <a:off x="641223" y="4817269"/>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方案二</a:t>
              </a:r>
            </a:p>
          </p:txBody>
        </p:sp>
        <p:sp>
          <p:nvSpPr>
            <p:cNvPr id="34" name="TextBox 34"/>
            <p:cNvSpPr txBox="1"/>
            <p:nvPr/>
          </p:nvSpPr>
          <p:spPr>
            <a:xfrm>
              <a:off x="1467993" y="4817269"/>
              <a:ext cx="188255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[(3, 0, 3), (3, 0, 1)]</a:t>
              </a:r>
            </a:p>
          </p:txBody>
        </p:sp>
        <p:sp>
          <p:nvSpPr>
            <p:cNvPr id="35" name="Rectangle 35"/>
            <p:cNvSpPr/>
            <p:nvPr/>
          </p:nvSpPr>
          <p:spPr>
            <a:xfrm>
              <a:off x="3561398" y="4692015"/>
              <a:ext cx="970598" cy="429578"/>
            </a:xfrm>
            <a:prstGeom prst="rect">
              <a:avLst/>
            </a:prstGeom>
            <a:solidFill>
              <a:srgbClr val="FDEEE7"/>
            </a:solidFill>
            <a:ln>
              <a:noFill/>
            </a:ln>
          </p:spPr>
        </p:sp>
        <p:sp>
          <p:nvSpPr>
            <p:cNvPr id="36" name="TextBox 36"/>
            <p:cNvSpPr txBox="1"/>
            <p:nvPr/>
          </p:nvSpPr>
          <p:spPr>
            <a:xfrm>
              <a:off x="3659695" y="4817269"/>
              <a:ext cx="48681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sacbd</a:t>
              </a:r>
            </a:p>
          </p:txBody>
        </p:sp>
        <p:sp>
          <p:nvSpPr>
            <p:cNvPr id="37" name="TextBox 37"/>
            <p:cNvSpPr txBox="1"/>
            <p:nvPr/>
          </p:nvSpPr>
          <p:spPr>
            <a:xfrm>
              <a:off x="4649343" y="4817269"/>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真</a:t>
              </a:r>
            </a:p>
          </p:txBody>
        </p:sp>
        <p:sp>
          <p:nvSpPr>
            <p:cNvPr id="38" name="TextBox 38"/>
            <p:cNvSpPr txBox="1"/>
            <p:nvPr/>
          </p:nvSpPr>
          <p:spPr>
            <a:xfrm>
              <a:off x="5458016" y="4817269"/>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假</a:t>
              </a:r>
            </a:p>
          </p:txBody>
        </p:sp>
        <p:sp>
          <p:nvSpPr>
            <p:cNvPr id="39" name="Rectangle 39"/>
            <p:cNvSpPr/>
            <p:nvPr/>
          </p:nvSpPr>
          <p:spPr>
            <a:xfrm>
              <a:off x="533400" y="5126355"/>
              <a:ext cx="5626418" cy="9525"/>
            </a:xfrm>
            <a:prstGeom prst="rect">
              <a:avLst/>
            </a:prstGeom>
            <a:solidFill>
              <a:srgbClr val="D9DFEA"/>
            </a:solidFill>
            <a:ln>
              <a:noFill/>
            </a:ln>
          </p:spPr>
        </p:sp>
        <p:sp>
          <p:nvSpPr>
            <p:cNvPr id="40" name="Rectangle 40"/>
            <p:cNvSpPr/>
            <p:nvPr/>
          </p:nvSpPr>
          <p:spPr>
            <a:xfrm>
              <a:off x="533400" y="5131118"/>
              <a:ext cx="5626418" cy="448628"/>
            </a:xfrm>
            <a:prstGeom prst="rect">
              <a:avLst/>
            </a:prstGeom>
            <a:solidFill>
              <a:srgbClr val="F4F6FB"/>
            </a:solidFill>
            <a:ln>
              <a:noFill/>
            </a:ln>
          </p:spPr>
        </p:sp>
        <p:sp>
          <p:nvSpPr>
            <p:cNvPr id="41" name="TextBox 41"/>
            <p:cNvSpPr txBox="1"/>
            <p:nvPr/>
          </p:nvSpPr>
          <p:spPr>
            <a:xfrm>
              <a:off x="641223" y="5265896"/>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方案二</a:t>
              </a:r>
            </a:p>
          </p:txBody>
        </p:sp>
        <p:sp>
          <p:nvSpPr>
            <p:cNvPr id="42" name="TextBox 42"/>
            <p:cNvSpPr txBox="1"/>
            <p:nvPr/>
          </p:nvSpPr>
          <p:spPr>
            <a:xfrm>
              <a:off x="1467993" y="5265896"/>
              <a:ext cx="188255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[(2, 1, 1), (2, 1, 2)]</a:t>
              </a:r>
            </a:p>
          </p:txBody>
        </p:sp>
        <p:sp>
          <p:nvSpPr>
            <p:cNvPr id="43" name="Rectangle 43"/>
            <p:cNvSpPr/>
            <p:nvPr/>
          </p:nvSpPr>
          <p:spPr>
            <a:xfrm>
              <a:off x="3561398" y="5140642"/>
              <a:ext cx="970598" cy="429578"/>
            </a:xfrm>
            <a:prstGeom prst="rect">
              <a:avLst/>
            </a:prstGeom>
            <a:solidFill>
              <a:srgbClr val="FDEEE7"/>
            </a:solidFill>
            <a:ln>
              <a:noFill/>
            </a:ln>
          </p:spPr>
        </p:sp>
        <p:sp>
          <p:nvSpPr>
            <p:cNvPr id="44" name="TextBox 44"/>
            <p:cNvSpPr txBox="1"/>
            <p:nvPr/>
          </p:nvSpPr>
          <p:spPr>
            <a:xfrm>
              <a:off x="3659695" y="5265896"/>
              <a:ext cx="48681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sabed</a:t>
              </a:r>
            </a:p>
          </p:txBody>
        </p:sp>
        <p:sp>
          <p:nvSpPr>
            <p:cNvPr id="45" name="TextBox 45"/>
            <p:cNvSpPr txBox="1"/>
            <p:nvPr/>
          </p:nvSpPr>
          <p:spPr>
            <a:xfrm>
              <a:off x="4649343" y="5265896"/>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假</a:t>
              </a:r>
            </a:p>
          </p:txBody>
        </p:sp>
        <p:sp>
          <p:nvSpPr>
            <p:cNvPr id="46" name="TextBox 46"/>
            <p:cNvSpPr txBox="1"/>
            <p:nvPr/>
          </p:nvSpPr>
          <p:spPr>
            <a:xfrm>
              <a:off x="5458016" y="5265896"/>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真</a:t>
              </a:r>
            </a:p>
          </p:txBody>
        </p:sp>
        <p:sp>
          <p:nvSpPr>
            <p:cNvPr id="47" name="Rectangle 47"/>
            <p:cNvSpPr/>
            <p:nvPr/>
          </p:nvSpPr>
          <p:spPr>
            <a:xfrm>
              <a:off x="533400" y="3335655"/>
              <a:ext cx="5626418" cy="2244090"/>
            </a:xfrm>
            <a:prstGeom prst="rect">
              <a:avLst/>
            </a:prstGeom>
            <a:noFill/>
            <a:ln w="14288">
              <a:solidFill>
                <a:srgbClr val="D9DFEA"/>
              </a:solidFill>
            </a:ln>
          </p:spPr>
        </p:sp>
        <p:sp>
          <p:nvSpPr>
            <p:cNvPr id="48" name="Rectangle 48"/>
            <p:cNvSpPr/>
            <p:nvPr/>
          </p:nvSpPr>
          <p:spPr>
            <a:xfrm>
              <a:off x="1355408" y="3335655"/>
              <a:ext cx="9525" cy="2244090"/>
            </a:xfrm>
            <a:prstGeom prst="rect">
              <a:avLst/>
            </a:prstGeom>
            <a:solidFill>
              <a:srgbClr val="D9DFEA"/>
            </a:solidFill>
            <a:ln>
              <a:noFill/>
            </a:ln>
          </p:spPr>
        </p:sp>
        <p:sp>
          <p:nvSpPr>
            <p:cNvPr id="49" name="Rectangle 49"/>
            <p:cNvSpPr/>
            <p:nvPr/>
          </p:nvSpPr>
          <p:spPr>
            <a:xfrm>
              <a:off x="3547110" y="3335655"/>
              <a:ext cx="9525" cy="2244090"/>
            </a:xfrm>
            <a:prstGeom prst="rect">
              <a:avLst/>
            </a:prstGeom>
            <a:solidFill>
              <a:srgbClr val="D9DFEA"/>
            </a:solidFill>
            <a:ln>
              <a:noFill/>
            </a:ln>
          </p:spPr>
        </p:sp>
        <p:sp>
          <p:nvSpPr>
            <p:cNvPr id="50" name="Rectangle 50"/>
            <p:cNvSpPr/>
            <p:nvPr/>
          </p:nvSpPr>
          <p:spPr>
            <a:xfrm>
              <a:off x="4536758" y="3335655"/>
              <a:ext cx="9525" cy="2244090"/>
            </a:xfrm>
            <a:prstGeom prst="rect">
              <a:avLst/>
            </a:prstGeom>
            <a:solidFill>
              <a:srgbClr val="D9DFEA"/>
            </a:solidFill>
            <a:ln>
              <a:noFill/>
            </a:ln>
          </p:spPr>
        </p:sp>
        <p:sp>
          <p:nvSpPr>
            <p:cNvPr id="51" name="Rectangle 51"/>
            <p:cNvSpPr/>
            <p:nvPr/>
          </p:nvSpPr>
          <p:spPr>
            <a:xfrm>
              <a:off x="5345430" y="3335655"/>
              <a:ext cx="9525" cy="2244090"/>
            </a:xfrm>
            <a:prstGeom prst="rect">
              <a:avLst/>
            </a:prstGeom>
            <a:solidFill>
              <a:srgbClr val="D9DFEA"/>
            </a:solidFill>
            <a:ln>
              <a:noFill/>
            </a:ln>
          </p:spPr>
        </p:sp>
      </p:grpSp>
      <p:grpSp>
        <p:nvGrpSpPr>
          <p:cNvPr id="66" name="c2-steps-1"/>
          <p:cNvGrpSpPr/>
          <p:nvPr/>
        </p:nvGrpSpPr>
        <p:grpSpPr>
          <a:xfrm>
            <a:off x="6464618" y="1533525"/>
            <a:ext cx="4670669" cy="1878615"/>
            <a:chOff x="6464618" y="1533525"/>
            <a:chExt cx="4670669" cy="1878615"/>
          </a:xfrm>
        </p:grpSpPr>
        <p:sp>
          <p:nvSpPr>
            <p:cNvPr id="53" name="Rectangle 53"/>
            <p:cNvSpPr/>
            <p:nvPr/>
          </p:nvSpPr>
          <p:spPr>
            <a:xfrm>
              <a:off x="6597968" y="1676400"/>
              <a:ext cx="19050" cy="1301115"/>
            </a:xfrm>
            <a:prstGeom prst="rect">
              <a:avLst/>
            </a:prstGeom>
            <a:solidFill>
              <a:srgbClr val="D9DFEA"/>
            </a:solidFill>
            <a:ln>
              <a:noFill/>
            </a:ln>
          </p:spPr>
        </p:sp>
        <p:sp>
          <p:nvSpPr>
            <p:cNvPr id="54" name="Ellipse 54"/>
            <p:cNvSpPr/>
            <p:nvPr/>
          </p:nvSpPr>
          <p:spPr>
            <a:xfrm>
              <a:off x="6464618" y="1533525"/>
              <a:ext cx="285750" cy="285750"/>
            </a:xfrm>
            <a:prstGeom prst="ellipse">
              <a:avLst/>
            </a:prstGeom>
            <a:solidFill>
              <a:srgbClr val="334E68"/>
            </a:solidFill>
            <a:ln>
              <a:noFill/>
            </a:ln>
          </p:spPr>
        </p:sp>
        <p:sp>
          <p:nvSpPr>
            <p:cNvPr id="55" name="TextBox 55"/>
            <p:cNvSpPr txBox="1"/>
            <p:nvPr/>
          </p:nvSpPr>
          <p:spPr>
            <a:xfrm>
              <a:off x="6558241"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56" name="Ellipse 56"/>
            <p:cNvSpPr/>
            <p:nvPr/>
          </p:nvSpPr>
          <p:spPr>
            <a:xfrm>
              <a:off x="6464618" y="2184082"/>
              <a:ext cx="285750" cy="285750"/>
            </a:xfrm>
            <a:prstGeom prst="ellipse">
              <a:avLst/>
            </a:prstGeom>
            <a:solidFill>
              <a:srgbClr val="334E68"/>
            </a:solidFill>
            <a:ln>
              <a:noFill/>
            </a:ln>
          </p:spPr>
        </p:sp>
        <p:sp>
          <p:nvSpPr>
            <p:cNvPr id="57" name="TextBox 57"/>
            <p:cNvSpPr txBox="1"/>
            <p:nvPr/>
          </p:nvSpPr>
          <p:spPr>
            <a:xfrm>
              <a:off x="6558241" y="225790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58" name="Ellipse 58"/>
            <p:cNvSpPr/>
            <p:nvPr/>
          </p:nvSpPr>
          <p:spPr>
            <a:xfrm>
              <a:off x="6464618" y="2834640"/>
              <a:ext cx="285750" cy="285750"/>
            </a:xfrm>
            <a:prstGeom prst="ellipse">
              <a:avLst/>
            </a:prstGeom>
            <a:solidFill>
              <a:srgbClr val="334E68"/>
            </a:solidFill>
            <a:ln>
              <a:noFill/>
            </a:ln>
          </p:spPr>
        </p:sp>
        <p:sp>
          <p:nvSpPr>
            <p:cNvPr id="59" name="TextBox 59"/>
            <p:cNvSpPr txBox="1"/>
            <p:nvPr/>
          </p:nvSpPr>
          <p:spPr>
            <a:xfrm>
              <a:off x="6558241" y="290845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60" name="TextBox 60"/>
            <p:cNvSpPr txBox="1"/>
            <p:nvPr/>
          </p:nvSpPr>
          <p:spPr>
            <a:xfrm>
              <a:off x="6876098" y="1567815"/>
              <a:ext cx="1426226"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复核 (3, 0, 3)</a:t>
              </a:r>
            </a:p>
          </p:txBody>
        </p:sp>
        <p:sp>
          <p:nvSpPr>
            <p:cNvPr id="61" name="TextBox 61"/>
            <p:cNvSpPr txBox="1"/>
            <p:nvPr/>
          </p:nvSpPr>
          <p:spPr>
            <a:xfrm>
              <a:off x="6877241" y="1861661"/>
              <a:ext cx="425804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判定 a：A=3&gt;1 且 B=0 成立，取真，走 c，X = 3/3 = 1</a:t>
              </a:r>
            </a:p>
          </p:txBody>
        </p:sp>
        <p:sp>
          <p:nvSpPr>
            <p:cNvPr id="62" name="TextBox 62"/>
            <p:cNvSpPr txBox="1"/>
            <p:nvPr/>
          </p:nvSpPr>
          <p:spPr>
            <a:xfrm>
              <a:off x="6876098" y="2218372"/>
              <a:ext cx="1003183"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接着判定 b</a:t>
              </a:r>
            </a:p>
          </p:txBody>
        </p:sp>
        <p:sp>
          <p:nvSpPr>
            <p:cNvPr id="63" name="TextBox 63"/>
            <p:cNvSpPr txBox="1"/>
            <p:nvPr/>
          </p:nvSpPr>
          <p:spPr>
            <a:xfrm>
              <a:off x="6877241" y="2512219"/>
              <a:ext cx="401420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A=2 不成立，X&gt;1 即 1&gt;1 也不成立，取假，直接走 d</a:t>
              </a:r>
            </a:p>
          </p:txBody>
        </p:sp>
        <p:sp>
          <p:nvSpPr>
            <p:cNvPr id="64" name="TextBox 64"/>
            <p:cNvSpPr txBox="1"/>
            <p:nvPr/>
          </p:nvSpPr>
          <p:spPr>
            <a:xfrm>
              <a:off x="6876098" y="2868930"/>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结果</a:t>
              </a:r>
            </a:p>
          </p:txBody>
        </p:sp>
        <p:sp>
          <p:nvSpPr>
            <p:cNvPr id="65" name="TextBox 65"/>
            <p:cNvSpPr txBox="1"/>
            <p:nvPr/>
          </p:nvSpPr>
          <p:spPr>
            <a:xfrm>
              <a:off x="6877241" y="3162776"/>
              <a:ext cx="22185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路径 sacbd，输出 (3, 0, 1)</a:t>
              </a:r>
            </a:p>
          </p:txBody>
        </p:sp>
      </p:grpSp>
      <p:grpSp>
        <p:nvGrpSpPr>
          <p:cNvPr id="73" name="c2-card-2"/>
          <p:cNvGrpSpPr/>
          <p:nvPr/>
        </p:nvGrpSpPr>
        <p:grpSpPr>
          <a:xfrm>
            <a:off x="6464618" y="3590925"/>
            <a:ext cx="5193982" cy="1988820"/>
            <a:chOff x="6464618" y="3590925"/>
            <a:chExt cx="5193982" cy="1988820"/>
          </a:xfrm>
        </p:grpSpPr>
        <p:sp>
          <p:nvSpPr>
            <p:cNvPr id="67" name="Rectangle 67"/>
            <p:cNvSpPr/>
            <p:nvPr/>
          </p:nvSpPr>
          <p:spPr>
            <a:xfrm>
              <a:off x="6464618" y="3590925"/>
              <a:ext cx="5193982" cy="1988820"/>
            </a:xfrm>
            <a:prstGeom prst="roundRect">
              <a:avLst>
                <a:gd name="adj" fmla="val 6705"/>
              </a:avLst>
            </a:prstGeom>
            <a:solidFill>
              <a:srgbClr val="FFFFFF"/>
            </a:solidFill>
            <a:ln w="14288">
              <a:solidFill>
                <a:srgbClr val="D9DFEA"/>
              </a:solidFill>
            </a:ln>
          </p:spPr>
        </p:sp>
        <p:sp>
          <p:nvSpPr>
            <p:cNvPr id="68" name="Rectangle 68"/>
            <p:cNvSpPr/>
            <p:nvPr/>
          </p:nvSpPr>
          <p:spPr>
            <a:xfrm>
              <a:off x="6474142" y="3724275"/>
              <a:ext cx="47625" cy="1722120"/>
            </a:xfrm>
            <a:prstGeom prst="roundRect">
              <a:avLst>
                <a:gd name="adj" fmla="val 50000"/>
              </a:avLst>
            </a:prstGeom>
            <a:solidFill>
              <a:srgbClr val="B42318"/>
            </a:solidFill>
            <a:ln>
              <a:noFill/>
            </a:ln>
          </p:spPr>
        </p:sp>
        <p:sp>
          <p:nvSpPr>
            <p:cNvPr id="69" name="Rectangle 69"/>
            <p:cNvSpPr/>
            <p:nvPr/>
          </p:nvSpPr>
          <p:spPr>
            <a:xfrm>
              <a:off x="6712268" y="3800475"/>
              <a:ext cx="494348" cy="257175"/>
            </a:xfrm>
            <a:prstGeom prst="roundRect">
              <a:avLst>
                <a:gd name="adj" fmla="val 50000"/>
              </a:avLst>
            </a:prstGeom>
            <a:solidFill>
              <a:srgbClr val="FDECEA"/>
            </a:solidFill>
            <a:ln>
              <a:noFill/>
            </a:ln>
          </p:spPr>
        </p:sp>
        <p:sp>
          <p:nvSpPr>
            <p:cNvPr id="70" name="TextBox 70"/>
            <p:cNvSpPr txBox="1"/>
            <p:nvPr/>
          </p:nvSpPr>
          <p:spPr>
            <a:xfrm>
              <a:off x="6803428" y="3836194"/>
              <a:ext cx="312979"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局限</a:t>
              </a:r>
            </a:p>
          </p:txBody>
        </p:sp>
        <p:sp>
          <p:nvSpPr>
            <p:cNvPr id="71" name="TextBox 71"/>
            <p:cNvSpPr txBox="1"/>
            <p:nvPr/>
          </p:nvSpPr>
          <p:spPr>
            <a:xfrm>
              <a:off x="7313295" y="3835718"/>
              <a:ext cx="26403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判定级正确不等于条件级正确</a:t>
              </a:r>
            </a:p>
          </p:txBody>
        </p:sp>
        <p:sp>
          <p:nvSpPr>
            <p:cNvPr id="72" name="TextBox 72"/>
            <p:cNvSpPr txBox="1"/>
            <p:nvPr/>
          </p:nvSpPr>
          <p:spPr>
            <a:xfrm>
              <a:off x="6704648" y="4196715"/>
              <a:ext cx="44634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 xml:space="preserve">如果判断 b 中的 </a:t>
              </a:r>
              <a:r>
                <a:rPr lang="en-US" sz="1500" dirty="0">
                  <a:solidFill>
                    <a:srgbClr val="243B53"/>
                  </a:solidFill>
                  <a:latin typeface="+mn-lt"/>
                  <a:ea typeface="+mn-ea"/>
                  <a:cs typeface="+mn-cs"/>
                </a:rPr>
                <a:t>X&gt;1</a:t>
              </a:r>
              <a:r>
                <a:rPr lang="zh-CN" sz="1500" dirty="0">
                  <a:solidFill>
                    <a:srgbClr val="1F2937"/>
                  </a:solidFill>
                  <a:latin typeface="+mn-lt"/>
                  <a:ea typeface="+mn-ea"/>
                  <a:cs typeface="+mn-cs"/>
                </a:rPr>
                <a:t xml:space="preserve"> 被错写成 </a:t>
              </a:r>
              <a:r>
                <a:rPr lang="en-US" sz="1500" dirty="0">
                  <a:solidFill>
                    <a:srgbClr val="243B53"/>
                  </a:solidFill>
                  <a:latin typeface="+mn-lt"/>
                  <a:ea typeface="+mn-ea"/>
                  <a:cs typeface="+mn-cs"/>
                </a:rPr>
                <a:t>X&lt;1</a:t>
              </a:r>
              <a:r>
                <a:rPr lang="zh-CN" sz="1500" dirty="0">
                  <a:solidFill>
                    <a:srgbClr val="1F2937"/>
                  </a:solidFill>
                  <a:latin typeface="+mn-lt"/>
                  <a:ea typeface="+mn-ea"/>
                  <a:cs typeface="+mn-cs"/>
                </a:rPr>
                <a:t>，方案一的两组数</a:t>
              </a:r>
              <a:br/>
              <a:r>
                <a:rPr lang="zh-CN" sz="1500" dirty="0">
                  <a:solidFill>
                    <a:srgbClr val="1F2937"/>
                  </a:solidFill>
                  <a:latin typeface="+mn-lt"/>
                  <a:ea typeface="+mn-ea"/>
                  <a:cs typeface="+mn-cs"/>
                </a:rPr>
                <a:t>据仍然能通过：判定结果没变，错误藏在条件里。</a:t>
              </a:r>
            </a:p>
          </p:txBody>
        </p:sp>
      </p:grpSp>
      <p:grpSp>
        <p:nvGrpSpPr>
          <p:cNvPr id="79" name="takeaway"/>
          <p:cNvGrpSpPr/>
          <p:nvPr/>
        </p:nvGrpSpPr>
        <p:grpSpPr>
          <a:xfrm>
            <a:off x="533400" y="5829300"/>
            <a:ext cx="11125200" cy="533400"/>
            <a:chOff x="533400" y="5829300"/>
            <a:chExt cx="11125200" cy="533400"/>
          </a:xfrm>
        </p:grpSpPr>
        <p:sp>
          <p:nvSpPr>
            <p:cNvPr id="74" name="Rectangle 74"/>
            <p:cNvSpPr/>
            <p:nvPr/>
          </p:nvSpPr>
          <p:spPr>
            <a:xfrm>
              <a:off x="533400" y="5829300"/>
              <a:ext cx="11125200" cy="533400"/>
            </a:xfrm>
            <a:prstGeom prst="roundRect">
              <a:avLst>
                <a:gd name="adj" fmla="val 21429"/>
              </a:avLst>
            </a:prstGeom>
            <a:solidFill>
              <a:srgbClr val="334E68"/>
            </a:solidFill>
            <a:ln>
              <a:noFill/>
            </a:ln>
          </p:spPr>
        </p:sp>
        <p:grpSp>
          <p:nvGrpSpPr>
            <p:cNvPr id="77" name="Group 77"/>
            <p:cNvGrpSpPr/>
            <p:nvPr/>
          </p:nvGrpSpPr>
          <p:grpSpPr>
            <a:xfrm>
              <a:off x="738188" y="5995990"/>
              <a:ext cx="200023" cy="200023"/>
              <a:chOff x="738188" y="5995990"/>
              <a:chExt cx="200023" cy="200023"/>
            </a:xfrm>
          </p:grpSpPr>
          <p:sp>
            <p:nvSpPr>
              <p:cNvPr id="75" name="Freeform 75"/>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6" name="Freeform 76"/>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8" name="TextBox 78"/>
            <p:cNvSpPr txBox="1"/>
            <p:nvPr/>
          </p:nvSpPr>
          <p:spPr>
            <a:xfrm>
              <a:off x="1040130" y="5991225"/>
              <a:ext cx="9849231"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方案二比方案一多走了 sacbd 和 sabed 两条路径，同样满足判定覆盖，说明满足判定覆盖的用例集并不唯一。</a:t>
              </a:r>
            </a:p>
          </p:txBody>
        </p:sp>
      </p:grpSp>
      <p:grpSp>
        <p:nvGrpSpPr>
          <p:cNvPr id="82" name="footer"/>
          <p:cNvGrpSpPr/>
          <p:nvPr/>
        </p:nvGrpSpPr>
        <p:grpSpPr>
          <a:xfrm>
            <a:off x="528447" y="6581299"/>
            <a:ext cx="11135106" cy="190690"/>
            <a:chOff x="528447" y="6581299"/>
            <a:chExt cx="11135106" cy="190690"/>
          </a:xfrm>
        </p:grpSpPr>
        <p:sp>
          <p:nvSpPr>
            <p:cNvPr id="80" name="TextBox 80"/>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1" name="TextBox 8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条件覆盖：每个条件的每种取值都出现一次</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5410200" cy="1977390"/>
            <a:chOff x="533400" y="1524000"/>
            <a:chExt cx="5410200" cy="1977390"/>
          </a:xfrm>
        </p:grpSpPr>
        <p:sp>
          <p:nvSpPr>
            <p:cNvPr id="7" name="Rectangle 7"/>
            <p:cNvSpPr/>
            <p:nvPr/>
          </p:nvSpPr>
          <p:spPr>
            <a:xfrm>
              <a:off x="533400" y="1524000"/>
              <a:ext cx="5410200" cy="1977390"/>
            </a:xfrm>
            <a:prstGeom prst="roundRect">
              <a:avLst>
                <a:gd name="adj" fmla="val 6744"/>
              </a:avLst>
            </a:prstGeom>
            <a:solidFill>
              <a:srgbClr val="FFFFFF"/>
            </a:solidFill>
            <a:ln w="14288">
              <a:solidFill>
                <a:srgbClr val="D9DFEA"/>
              </a:solidFill>
            </a:ln>
          </p:spPr>
        </p:sp>
        <p:sp>
          <p:nvSpPr>
            <p:cNvPr id="8" name="Rectangle 8"/>
            <p:cNvSpPr/>
            <p:nvPr/>
          </p:nvSpPr>
          <p:spPr>
            <a:xfrm>
              <a:off x="542925" y="1657350"/>
              <a:ext cx="47625" cy="1710690"/>
            </a:xfrm>
            <a:prstGeom prst="roundRect">
              <a:avLst>
                <a:gd name="adj" fmla="val 50000"/>
              </a:avLst>
            </a:prstGeom>
            <a:solidFill>
              <a:srgbClr val="334E68"/>
            </a:solidFill>
            <a:ln>
              <a:noFill/>
            </a:ln>
          </p:spPr>
        </p:sp>
        <p:sp>
          <p:nvSpPr>
            <p:cNvPr id="9" name="Rectangle 9"/>
            <p:cNvSpPr/>
            <p:nvPr/>
          </p:nvSpPr>
          <p:spPr>
            <a:xfrm>
              <a:off x="781050" y="1733550"/>
              <a:ext cx="778192" cy="257175"/>
            </a:xfrm>
            <a:prstGeom prst="roundRect">
              <a:avLst>
                <a:gd name="adj" fmla="val 50000"/>
              </a:avLst>
            </a:prstGeom>
            <a:solidFill>
              <a:srgbClr val="E7EDF3"/>
            </a:solidFill>
            <a:ln>
              <a:noFill/>
            </a:ln>
          </p:spPr>
        </p:sp>
        <p:sp>
          <p:nvSpPr>
            <p:cNvPr id="10" name="TextBox 10"/>
            <p:cNvSpPr txBox="1"/>
            <p:nvPr/>
          </p:nvSpPr>
          <p:spPr>
            <a:xfrm>
              <a:off x="86335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条件覆盖</a:t>
              </a:r>
            </a:p>
          </p:txBody>
        </p:sp>
        <p:sp>
          <p:nvSpPr>
            <p:cNvPr id="11" name="TextBox 11"/>
            <p:cNvSpPr txBox="1"/>
            <p:nvPr/>
          </p:nvSpPr>
          <p:spPr>
            <a:xfrm>
              <a:off x="773430" y="2110740"/>
              <a:ext cx="4587240" cy="550545"/>
            </a:xfrm>
            <a:prstGeom prst="rect">
              <a:avLst/>
            </a:prstGeom>
            <a:noFill/>
            <a:ln>
              <a:noFill/>
            </a:ln>
          </p:spPr>
          <p:txBody>
            <a:bodyPr wrap="none" lIns="0" tIns="0" rIns="0" bIns="0" anchor="t" anchorCtr="0">
              <a:spAutoFit/>
            </a:bodyPr>
            <a:lstStyle/>
            <a:p>
              <a:pPr algn="l">
                <a:lnSpc>
                  <a:spcPts val="2025"/>
                </a:lnSpc>
              </a:pPr>
              <a:r>
                <a:rPr lang="zh-CN" sz="1500" b="1" dirty="0">
                  <a:solidFill>
                    <a:srgbClr val="1F2937"/>
                  </a:solidFill>
                  <a:latin typeface="+mn-lt"/>
                  <a:ea typeface="+mn-ea"/>
                  <a:cs typeface="+mn-cs"/>
                </a:rPr>
                <a:t>使程序中每个判定中的每个条件的可能取值至少执行一</a:t>
              </a:r>
              <a:br/>
              <a:r>
                <a:rPr lang="zh-CN" sz="1500" b="1" dirty="0">
                  <a:solidFill>
                    <a:srgbClr val="1F2937"/>
                  </a:solidFill>
                  <a:latin typeface="+mn-lt"/>
                  <a:ea typeface="+mn-ea"/>
                  <a:cs typeface="+mn-cs"/>
                </a:rPr>
                <a:t>次</a:t>
              </a:r>
            </a:p>
          </p:txBody>
        </p:sp>
        <p:sp>
          <p:nvSpPr>
            <p:cNvPr id="12" name="TextBox 12"/>
            <p:cNvSpPr txBox="1"/>
            <p:nvPr/>
          </p:nvSpPr>
          <p:spPr>
            <a:xfrm>
              <a:off x="773430" y="2722245"/>
              <a:ext cx="321049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a 点要出现：A&gt;1、A≤1、B=0、B≠0</a:t>
              </a:r>
            </a:p>
          </p:txBody>
        </p:sp>
        <p:sp>
          <p:nvSpPr>
            <p:cNvPr id="13" name="TextBox 13"/>
            <p:cNvSpPr txBox="1"/>
            <p:nvPr/>
          </p:nvSpPr>
          <p:spPr>
            <a:xfrm>
              <a:off x="773430" y="3057525"/>
              <a:ext cx="321049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b 点要出现：A=2、A≠2、X&gt;1、X≤1</a:t>
              </a:r>
            </a:p>
          </p:txBody>
        </p:sp>
      </p:grpSp>
      <p:grpSp>
        <p:nvGrpSpPr>
          <p:cNvPr id="30" name="c1-table-2"/>
          <p:cNvGrpSpPr/>
          <p:nvPr/>
        </p:nvGrpSpPr>
        <p:grpSpPr>
          <a:xfrm>
            <a:off x="533400" y="3691890"/>
            <a:ext cx="5410200" cy="1346835"/>
            <a:chOff x="533400" y="3691890"/>
            <a:chExt cx="5410200" cy="1346835"/>
          </a:xfrm>
        </p:grpSpPr>
        <p:sp>
          <p:nvSpPr>
            <p:cNvPr id="15" name="Rectangle 15"/>
            <p:cNvSpPr/>
            <p:nvPr/>
          </p:nvSpPr>
          <p:spPr>
            <a:xfrm>
              <a:off x="533400" y="3691890"/>
              <a:ext cx="5410200" cy="448628"/>
            </a:xfrm>
            <a:prstGeom prst="rect">
              <a:avLst/>
            </a:prstGeom>
            <a:solidFill>
              <a:srgbClr val="334E68"/>
            </a:solidFill>
            <a:ln>
              <a:noFill/>
            </a:ln>
          </p:spPr>
        </p:sp>
        <p:sp>
          <p:nvSpPr>
            <p:cNvPr id="16" name="TextBox 16"/>
            <p:cNvSpPr txBox="1"/>
            <p:nvPr/>
          </p:nvSpPr>
          <p:spPr>
            <a:xfrm>
              <a:off x="1135748" y="382762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测试数据</a:t>
              </a:r>
            </a:p>
          </p:txBody>
        </p:sp>
        <p:sp>
          <p:nvSpPr>
            <p:cNvPr id="17" name="TextBox 17"/>
            <p:cNvSpPr txBox="1"/>
            <p:nvPr/>
          </p:nvSpPr>
          <p:spPr>
            <a:xfrm>
              <a:off x="3163189" y="3827621"/>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满足的条件</a:t>
              </a:r>
            </a:p>
          </p:txBody>
        </p:sp>
        <p:sp>
          <p:nvSpPr>
            <p:cNvPr id="18" name="TextBox 18"/>
            <p:cNvSpPr txBox="1"/>
            <p:nvPr/>
          </p:nvSpPr>
          <p:spPr>
            <a:xfrm>
              <a:off x="5000993" y="382762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执行路径</a:t>
              </a:r>
            </a:p>
          </p:txBody>
        </p:sp>
        <p:sp>
          <p:nvSpPr>
            <p:cNvPr id="19" name="TextBox 19"/>
            <p:cNvSpPr txBox="1"/>
            <p:nvPr/>
          </p:nvSpPr>
          <p:spPr>
            <a:xfrm>
              <a:off x="641223" y="4276249"/>
              <a:ext cx="1551877"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Ⅰ. A=2, B=0, X=4</a:t>
              </a:r>
            </a:p>
          </p:txBody>
        </p:sp>
        <p:sp>
          <p:nvSpPr>
            <p:cNvPr id="20" name="TextBox 20"/>
            <p:cNvSpPr txBox="1"/>
            <p:nvPr/>
          </p:nvSpPr>
          <p:spPr>
            <a:xfrm>
              <a:off x="2548128" y="4276249"/>
              <a:ext cx="167886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A&gt;1, B=0, A=2, X&gt;1</a:t>
              </a:r>
            </a:p>
          </p:txBody>
        </p:sp>
        <p:sp>
          <p:nvSpPr>
            <p:cNvPr id="21" name="TextBox 21"/>
            <p:cNvSpPr txBox="1"/>
            <p:nvPr/>
          </p:nvSpPr>
          <p:spPr>
            <a:xfrm>
              <a:off x="4868418" y="4276249"/>
              <a:ext cx="58158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sacbed</a:t>
              </a:r>
            </a:p>
          </p:txBody>
        </p:sp>
        <p:sp>
          <p:nvSpPr>
            <p:cNvPr id="22" name="Rectangle 22"/>
            <p:cNvSpPr/>
            <p:nvPr/>
          </p:nvSpPr>
          <p:spPr>
            <a:xfrm>
              <a:off x="533400" y="4584382"/>
              <a:ext cx="5410200" cy="9525"/>
            </a:xfrm>
            <a:prstGeom prst="rect">
              <a:avLst/>
            </a:prstGeom>
            <a:solidFill>
              <a:srgbClr val="D9DFEA"/>
            </a:solidFill>
            <a:ln>
              <a:noFill/>
            </a:ln>
          </p:spPr>
        </p:sp>
        <p:sp>
          <p:nvSpPr>
            <p:cNvPr id="23" name="Rectangle 23"/>
            <p:cNvSpPr/>
            <p:nvPr/>
          </p:nvSpPr>
          <p:spPr>
            <a:xfrm>
              <a:off x="533400" y="4589145"/>
              <a:ext cx="5410200" cy="448628"/>
            </a:xfrm>
            <a:prstGeom prst="rect">
              <a:avLst/>
            </a:prstGeom>
            <a:solidFill>
              <a:srgbClr val="F4F6FB"/>
            </a:solidFill>
            <a:ln>
              <a:noFill/>
            </a:ln>
          </p:spPr>
        </p:sp>
        <p:sp>
          <p:nvSpPr>
            <p:cNvPr id="24" name="TextBox 24"/>
            <p:cNvSpPr txBox="1"/>
            <p:nvPr/>
          </p:nvSpPr>
          <p:spPr>
            <a:xfrm>
              <a:off x="641223" y="4724876"/>
              <a:ext cx="1551877"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Ⅱ. A=1, B=1, X=1</a:t>
              </a:r>
            </a:p>
          </p:txBody>
        </p:sp>
        <p:sp>
          <p:nvSpPr>
            <p:cNvPr id="25" name="TextBox 25"/>
            <p:cNvSpPr txBox="1"/>
            <p:nvPr/>
          </p:nvSpPr>
          <p:spPr>
            <a:xfrm>
              <a:off x="2548128" y="4724876"/>
              <a:ext cx="167886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A≤1, B≠0, A≠2, X≤1</a:t>
              </a:r>
            </a:p>
          </p:txBody>
        </p:sp>
        <p:sp>
          <p:nvSpPr>
            <p:cNvPr id="26" name="TextBox 26"/>
            <p:cNvSpPr txBox="1"/>
            <p:nvPr/>
          </p:nvSpPr>
          <p:spPr>
            <a:xfrm>
              <a:off x="4868418" y="4724876"/>
              <a:ext cx="392044"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sabd</a:t>
              </a:r>
            </a:p>
          </p:txBody>
        </p:sp>
        <p:sp>
          <p:nvSpPr>
            <p:cNvPr id="27" name="Rectangle 27"/>
            <p:cNvSpPr/>
            <p:nvPr/>
          </p:nvSpPr>
          <p:spPr>
            <a:xfrm>
              <a:off x="533400" y="3691890"/>
              <a:ext cx="5410200" cy="1346835"/>
            </a:xfrm>
            <a:prstGeom prst="rect">
              <a:avLst/>
            </a:prstGeom>
            <a:noFill/>
            <a:ln w="14288">
              <a:solidFill>
                <a:srgbClr val="D9DFEA"/>
              </a:solidFill>
            </a:ln>
          </p:spPr>
        </p:sp>
        <p:sp>
          <p:nvSpPr>
            <p:cNvPr id="28" name="Rectangle 28"/>
            <p:cNvSpPr/>
            <p:nvPr/>
          </p:nvSpPr>
          <p:spPr>
            <a:xfrm>
              <a:off x="2435542" y="3691890"/>
              <a:ext cx="9525" cy="1346835"/>
            </a:xfrm>
            <a:prstGeom prst="rect">
              <a:avLst/>
            </a:prstGeom>
            <a:solidFill>
              <a:srgbClr val="D9DFEA"/>
            </a:solidFill>
            <a:ln>
              <a:noFill/>
            </a:ln>
          </p:spPr>
        </p:sp>
        <p:sp>
          <p:nvSpPr>
            <p:cNvPr id="29" name="Rectangle 29"/>
            <p:cNvSpPr/>
            <p:nvPr/>
          </p:nvSpPr>
          <p:spPr>
            <a:xfrm>
              <a:off x="4755832" y="3691890"/>
              <a:ext cx="9525" cy="1346835"/>
            </a:xfrm>
            <a:prstGeom prst="rect">
              <a:avLst/>
            </a:prstGeom>
            <a:solidFill>
              <a:srgbClr val="D9DFEA"/>
            </a:solidFill>
            <a:ln>
              <a:noFill/>
            </a:ln>
          </p:spPr>
        </p:sp>
      </p:grpSp>
      <p:grpSp>
        <p:nvGrpSpPr>
          <p:cNvPr id="37" name="c1-callout-3"/>
          <p:cNvGrpSpPr/>
          <p:nvPr/>
        </p:nvGrpSpPr>
        <p:grpSpPr>
          <a:xfrm>
            <a:off x="533400" y="5229225"/>
            <a:ext cx="5410200" cy="782955"/>
            <a:chOff x="533400" y="5229225"/>
            <a:chExt cx="5410200" cy="782955"/>
          </a:xfrm>
        </p:grpSpPr>
        <p:sp>
          <p:nvSpPr>
            <p:cNvPr id="31" name="Rectangle 31"/>
            <p:cNvSpPr/>
            <p:nvPr/>
          </p:nvSpPr>
          <p:spPr>
            <a:xfrm>
              <a:off x="533400" y="5229225"/>
              <a:ext cx="5410200" cy="782955"/>
            </a:xfrm>
            <a:prstGeom prst="roundRect">
              <a:avLst>
                <a:gd name="adj" fmla="val 14599"/>
              </a:avLst>
            </a:prstGeom>
            <a:solidFill>
              <a:srgbClr val="F4F6FB"/>
            </a:solidFill>
            <a:ln>
              <a:noFill/>
            </a:ln>
          </p:spPr>
        </p:sp>
        <p:grpSp>
          <p:nvGrpSpPr>
            <p:cNvPr id="35" name="Group 35"/>
            <p:cNvGrpSpPr/>
            <p:nvPr/>
          </p:nvGrpSpPr>
          <p:grpSpPr>
            <a:xfrm>
              <a:off x="738188" y="5520690"/>
              <a:ext cx="200026" cy="200026"/>
              <a:chOff x="738188" y="5520690"/>
              <a:chExt cx="200026" cy="200026"/>
            </a:xfrm>
          </p:grpSpPr>
          <p:sp>
            <p:nvSpPr>
              <p:cNvPr id="32" name="Freeform 32"/>
              <p:cNvSpPr/>
              <p:nvPr/>
            </p:nvSpPr>
            <p:spPr>
              <a:xfrm>
                <a:off x="738188" y="552069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3" name="Freeform 33"/>
              <p:cNvSpPr/>
              <p:nvPr/>
            </p:nvSpPr>
            <p:spPr>
              <a:xfrm>
                <a:off x="838200" y="558736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4" name="Freeform 34"/>
              <p:cNvSpPr/>
              <p:nvPr/>
            </p:nvSpPr>
            <p:spPr>
              <a:xfrm>
                <a:off x="827088" y="562070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6" name="TextBox 36"/>
            <p:cNvSpPr txBox="1"/>
            <p:nvPr/>
          </p:nvSpPr>
          <p:spPr>
            <a:xfrm>
              <a:off x="1040130" y="5377815"/>
              <a:ext cx="441579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Ⅰ 在 a 点取真，X 先被除成 2，所以到 b 点时 X&gt;1 成</a:t>
              </a:r>
              <a:br/>
              <a:r>
                <a:rPr lang="zh-CN" sz="1500" dirty="0">
                  <a:solidFill>
                    <a:srgbClr val="1F2937"/>
                  </a:solidFill>
                  <a:latin typeface="+mn-lt"/>
                  <a:ea typeface="+mn-ea"/>
                  <a:cs typeface="+mn-cs"/>
                </a:rPr>
                <a:t>立；Ⅱ 没走 c，X 一直是 1。</a:t>
              </a:r>
            </a:p>
          </p:txBody>
        </p:sp>
      </p:grpSp>
      <p:grpSp>
        <p:nvGrpSpPr>
          <p:cNvPr id="47" name="c2-card-1"/>
          <p:cNvGrpSpPr/>
          <p:nvPr/>
        </p:nvGrpSpPr>
        <p:grpSpPr>
          <a:xfrm>
            <a:off x="6248400" y="1524000"/>
            <a:ext cx="5410200" cy="2251710"/>
            <a:chOff x="6248400" y="1524000"/>
            <a:chExt cx="5410200" cy="2251710"/>
          </a:xfrm>
        </p:grpSpPr>
        <p:sp>
          <p:nvSpPr>
            <p:cNvPr id="38" name="Rectangle 38"/>
            <p:cNvSpPr/>
            <p:nvPr/>
          </p:nvSpPr>
          <p:spPr>
            <a:xfrm>
              <a:off x="6248400" y="1524000"/>
              <a:ext cx="5410200" cy="2251710"/>
            </a:xfrm>
            <a:prstGeom prst="roundRect">
              <a:avLst>
                <a:gd name="adj" fmla="val 5922"/>
              </a:avLst>
            </a:prstGeom>
            <a:solidFill>
              <a:srgbClr val="FFFFFF"/>
            </a:solidFill>
            <a:ln w="14288">
              <a:solidFill>
                <a:srgbClr val="D9DFEA"/>
              </a:solidFill>
            </a:ln>
          </p:spPr>
        </p:sp>
        <p:sp>
          <p:nvSpPr>
            <p:cNvPr id="39" name="Rectangle 39"/>
            <p:cNvSpPr/>
            <p:nvPr/>
          </p:nvSpPr>
          <p:spPr>
            <a:xfrm>
              <a:off x="6257925" y="1657350"/>
              <a:ext cx="47625" cy="1985010"/>
            </a:xfrm>
            <a:prstGeom prst="roundRect">
              <a:avLst>
                <a:gd name="adj" fmla="val 50000"/>
              </a:avLst>
            </a:prstGeom>
            <a:solidFill>
              <a:srgbClr val="B42318"/>
            </a:solidFill>
            <a:ln>
              <a:noFill/>
            </a:ln>
          </p:spPr>
        </p:sp>
        <p:sp>
          <p:nvSpPr>
            <p:cNvPr id="40" name="Rectangle 40"/>
            <p:cNvSpPr/>
            <p:nvPr/>
          </p:nvSpPr>
          <p:spPr>
            <a:xfrm>
              <a:off x="6496050" y="1733550"/>
              <a:ext cx="494348" cy="257175"/>
            </a:xfrm>
            <a:prstGeom prst="roundRect">
              <a:avLst>
                <a:gd name="adj" fmla="val 50000"/>
              </a:avLst>
            </a:prstGeom>
            <a:solidFill>
              <a:srgbClr val="FDECEA"/>
            </a:solidFill>
            <a:ln>
              <a:noFill/>
            </a:ln>
          </p:spPr>
        </p:sp>
        <p:sp>
          <p:nvSpPr>
            <p:cNvPr id="41" name="TextBox 41"/>
            <p:cNvSpPr txBox="1"/>
            <p:nvPr/>
          </p:nvSpPr>
          <p:spPr>
            <a:xfrm>
              <a:off x="6586258" y="1769269"/>
              <a:ext cx="312979"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反例</a:t>
              </a:r>
            </a:p>
          </p:txBody>
        </p:sp>
        <p:sp>
          <p:nvSpPr>
            <p:cNvPr id="42" name="TextBox 42"/>
            <p:cNvSpPr txBox="1"/>
            <p:nvPr/>
          </p:nvSpPr>
          <p:spPr>
            <a:xfrm>
              <a:off x="7097078" y="1768792"/>
              <a:ext cx="30441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满足条件覆盖，却不满足判定覆盖</a:t>
              </a:r>
            </a:p>
          </p:txBody>
        </p:sp>
        <p:sp>
          <p:nvSpPr>
            <p:cNvPr id="43" name="TextBox 43"/>
            <p:cNvSpPr txBox="1"/>
            <p:nvPr/>
          </p:nvSpPr>
          <p:spPr>
            <a:xfrm>
              <a:off x="6488430" y="2129790"/>
              <a:ext cx="474859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[(2, 1, 1), (2, 1, 2)] 满足 A&gt;1、B≠0、A=2、X≤1</a:t>
              </a:r>
            </a:p>
          </p:txBody>
        </p:sp>
        <p:sp>
          <p:nvSpPr>
            <p:cNvPr id="44" name="TextBox 44"/>
            <p:cNvSpPr txBox="1"/>
            <p:nvPr/>
          </p:nvSpPr>
          <p:spPr>
            <a:xfrm>
              <a:off x="6488430" y="2465070"/>
              <a:ext cx="474859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[(1, 0, 2), (1, 0, 3)] 满足 A≤1、B=0、A≠2、X&gt;1</a:t>
              </a:r>
            </a:p>
          </p:txBody>
        </p:sp>
        <p:sp>
          <p:nvSpPr>
            <p:cNvPr id="45" name="TextBox 45"/>
            <p:cNvSpPr txBox="1"/>
            <p:nvPr/>
          </p:nvSpPr>
          <p:spPr>
            <a:xfrm>
              <a:off x="6488430" y="2800350"/>
              <a:ext cx="3619691"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两组合起来，8 个条件取值全都出现过。</a:t>
              </a:r>
            </a:p>
          </p:txBody>
        </p:sp>
        <p:sp>
          <p:nvSpPr>
            <p:cNvPr id="46" name="TextBox 46"/>
            <p:cNvSpPr txBox="1"/>
            <p:nvPr/>
          </p:nvSpPr>
          <p:spPr>
            <a:xfrm>
              <a:off x="6489573" y="3132296"/>
              <a:ext cx="4621530"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可是两组都走 sabed：判定 a 始终为假，判定 b 始终为真，判定</a:t>
              </a:r>
              <a:br/>
              <a:r>
                <a:rPr lang="zh-CN" sz="1280" dirty="0">
                  <a:solidFill>
                    <a:srgbClr val="5B6475"/>
                  </a:solidFill>
                  <a:latin typeface="+mn-lt"/>
                  <a:ea typeface="+mn-ea"/>
                  <a:cs typeface="+mn-cs"/>
                </a:rPr>
                <a:t>覆盖没达到</a:t>
              </a:r>
            </a:p>
          </p:txBody>
        </p:sp>
      </p:grpSp>
      <p:grpSp>
        <p:nvGrpSpPr>
          <p:cNvPr id="53" name="c2-callout-2"/>
          <p:cNvGrpSpPr/>
          <p:nvPr/>
        </p:nvGrpSpPr>
        <p:grpSpPr>
          <a:xfrm>
            <a:off x="6248400" y="3966210"/>
            <a:ext cx="5410200" cy="2045970"/>
            <a:chOff x="6248400" y="3966210"/>
            <a:chExt cx="5410200" cy="2045970"/>
          </a:xfrm>
        </p:grpSpPr>
        <p:sp>
          <p:nvSpPr>
            <p:cNvPr id="48" name="Rectangle 48"/>
            <p:cNvSpPr/>
            <p:nvPr/>
          </p:nvSpPr>
          <p:spPr>
            <a:xfrm>
              <a:off x="6248400" y="3966210"/>
              <a:ext cx="5410200" cy="2045970"/>
            </a:xfrm>
            <a:prstGeom prst="roundRect">
              <a:avLst>
                <a:gd name="adj" fmla="val 5587"/>
              </a:avLst>
            </a:prstGeom>
            <a:solidFill>
              <a:srgbClr val="334E68"/>
            </a:solidFill>
            <a:ln>
              <a:noFill/>
            </a:ln>
          </p:spPr>
        </p:sp>
        <p:grpSp>
          <p:nvGrpSpPr>
            <p:cNvPr id="51" name="Group 51"/>
            <p:cNvGrpSpPr/>
            <p:nvPr/>
          </p:nvGrpSpPr>
          <p:grpSpPr>
            <a:xfrm>
              <a:off x="6453188" y="4889185"/>
              <a:ext cx="200023" cy="200023"/>
              <a:chOff x="6453188" y="4889185"/>
              <a:chExt cx="200023" cy="200023"/>
            </a:xfrm>
          </p:grpSpPr>
          <p:sp>
            <p:nvSpPr>
              <p:cNvPr id="49" name="Freeform 49"/>
              <p:cNvSpPr/>
              <p:nvPr/>
            </p:nvSpPr>
            <p:spPr>
              <a:xfrm>
                <a:off x="6453188" y="488918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0" name="Freeform 50"/>
              <p:cNvSpPr/>
              <p:nvPr/>
            </p:nvSpPr>
            <p:spPr>
              <a:xfrm>
                <a:off x="6586538" y="495585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2" name="TextBox 52"/>
            <p:cNvSpPr txBox="1"/>
            <p:nvPr/>
          </p:nvSpPr>
          <p:spPr>
            <a:xfrm>
              <a:off x="6755130" y="4608195"/>
              <a:ext cx="4520565"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条件覆盖通常比判定覆盖强，但两者互不包含。原因</a:t>
              </a:r>
              <a:br/>
              <a:r>
                <a:rPr lang="zh-CN" sz="1500" dirty="0">
                  <a:solidFill>
                    <a:srgbClr val="FFFFFF"/>
                  </a:solidFill>
                  <a:latin typeface="+mn-lt"/>
                  <a:ea typeface="+mn-ea"/>
                  <a:cs typeface="+mn-cs"/>
                </a:rPr>
                <a:t>是“条件取值齐全”并不保证“条件组合出来的判定结果</a:t>
              </a:r>
              <a:br/>
              <a:r>
                <a:rPr lang="zh-CN" sz="1500" dirty="0">
                  <a:solidFill>
                    <a:srgbClr val="FFFFFF"/>
                  </a:solidFill>
                  <a:latin typeface="+mn-lt"/>
                  <a:ea typeface="+mn-ea"/>
                  <a:cs typeface="+mn-cs"/>
                </a:rPr>
                <a:t>齐全”。</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判定／条件覆盖与条件组合覆盖</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4977765" cy="1459230"/>
            <a:chOff x="533400" y="1524000"/>
            <a:chExt cx="4977765" cy="1459230"/>
          </a:xfrm>
        </p:grpSpPr>
        <p:sp>
          <p:nvSpPr>
            <p:cNvPr id="7" name="Rectangle 7"/>
            <p:cNvSpPr/>
            <p:nvPr/>
          </p:nvSpPr>
          <p:spPr>
            <a:xfrm>
              <a:off x="533400" y="1524000"/>
              <a:ext cx="4977765" cy="1459230"/>
            </a:xfrm>
            <a:prstGeom prst="roundRect">
              <a:avLst>
                <a:gd name="adj" fmla="val 9138"/>
              </a:avLst>
            </a:prstGeom>
            <a:solidFill>
              <a:srgbClr val="FFFFFF"/>
            </a:solidFill>
            <a:ln w="14288">
              <a:solidFill>
                <a:srgbClr val="D9DFEA"/>
              </a:solidFill>
            </a:ln>
          </p:spPr>
        </p:sp>
        <p:sp>
          <p:nvSpPr>
            <p:cNvPr id="8" name="Rectangle 8"/>
            <p:cNvSpPr/>
            <p:nvPr/>
          </p:nvSpPr>
          <p:spPr>
            <a:xfrm>
              <a:off x="542925" y="1657350"/>
              <a:ext cx="47625" cy="1192530"/>
            </a:xfrm>
            <a:prstGeom prst="roundRect">
              <a:avLst>
                <a:gd name="adj" fmla="val 50000"/>
              </a:avLst>
            </a:prstGeom>
            <a:solidFill>
              <a:srgbClr val="334E68"/>
            </a:solidFill>
            <a:ln>
              <a:noFill/>
            </a:ln>
          </p:spPr>
        </p:sp>
        <p:sp>
          <p:nvSpPr>
            <p:cNvPr id="9" name="Rectangle 9"/>
            <p:cNvSpPr/>
            <p:nvPr/>
          </p:nvSpPr>
          <p:spPr>
            <a:xfrm>
              <a:off x="758190" y="1710690"/>
              <a:ext cx="1081088" cy="238125"/>
            </a:xfrm>
            <a:prstGeom prst="roundRect">
              <a:avLst>
                <a:gd name="adj" fmla="val 50000"/>
              </a:avLst>
            </a:prstGeom>
            <a:solidFill>
              <a:srgbClr val="E7EDF3"/>
            </a:solidFill>
            <a:ln>
              <a:noFill/>
            </a:ln>
          </p:spPr>
        </p:sp>
        <p:sp>
          <p:nvSpPr>
            <p:cNvPr id="10" name="TextBox 10"/>
            <p:cNvSpPr txBox="1"/>
            <p:nvPr/>
          </p:nvSpPr>
          <p:spPr>
            <a:xfrm>
              <a:off x="831558" y="1743551"/>
              <a:ext cx="933399"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判定／条件覆盖</a:t>
              </a:r>
            </a:p>
          </p:txBody>
        </p:sp>
        <p:sp>
          <p:nvSpPr>
            <p:cNvPr id="11" name="TextBox 11"/>
            <p:cNvSpPr txBox="1"/>
            <p:nvPr/>
          </p:nvSpPr>
          <p:spPr>
            <a:xfrm>
              <a:off x="1946720" y="1745932"/>
              <a:ext cx="255803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条件取值齐全，判定结果也齐全</a:t>
              </a:r>
            </a:p>
          </p:txBody>
        </p:sp>
        <p:sp>
          <p:nvSpPr>
            <p:cNvPr id="12" name="TextBox 12"/>
            <p:cNvSpPr txBox="1"/>
            <p:nvPr/>
          </p:nvSpPr>
          <p:spPr>
            <a:xfrm>
              <a:off x="751332" y="2071688"/>
              <a:ext cx="42999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选取足够多的测试数据，使判定表达式中的每个条件都取</a:t>
              </a:r>
              <a:br/>
              <a:r>
                <a:rPr lang="zh-CN" sz="1350" dirty="0">
                  <a:solidFill>
                    <a:srgbClr val="1F2937"/>
                  </a:solidFill>
                  <a:latin typeface="+mn-lt"/>
                  <a:ea typeface="+mn-ea"/>
                  <a:cs typeface="+mn-cs"/>
                </a:rPr>
                <a:t>到各种可能的值，而且每个判定表达式也都取到各种可能</a:t>
              </a:r>
              <a:br/>
              <a:r>
                <a:rPr lang="zh-CN" sz="1350" dirty="0">
                  <a:solidFill>
                    <a:srgbClr val="1F2937"/>
                  </a:solidFill>
                  <a:latin typeface="+mn-lt"/>
                  <a:ea typeface="+mn-ea"/>
                  <a:cs typeface="+mn-cs"/>
                </a:rPr>
                <a:t>的结果。</a:t>
              </a:r>
            </a:p>
          </p:txBody>
        </p:sp>
      </p:grpSp>
      <p:grpSp>
        <p:nvGrpSpPr>
          <p:cNvPr id="29" name="c1-table-2"/>
          <p:cNvGrpSpPr/>
          <p:nvPr/>
        </p:nvGrpSpPr>
        <p:grpSpPr>
          <a:xfrm>
            <a:off x="533400" y="3153728"/>
            <a:ext cx="4977765" cy="1600200"/>
            <a:chOff x="533400" y="3153728"/>
            <a:chExt cx="4977765" cy="1600200"/>
          </a:xfrm>
        </p:grpSpPr>
        <p:sp>
          <p:nvSpPr>
            <p:cNvPr id="14" name="Rectangle 14"/>
            <p:cNvSpPr/>
            <p:nvPr/>
          </p:nvSpPr>
          <p:spPr>
            <a:xfrm>
              <a:off x="533400" y="3153728"/>
              <a:ext cx="4977765" cy="400050"/>
            </a:xfrm>
            <a:prstGeom prst="rect">
              <a:avLst/>
            </a:prstGeom>
            <a:solidFill>
              <a:srgbClr val="334E68"/>
            </a:solidFill>
            <a:ln>
              <a:noFill/>
            </a:ln>
          </p:spPr>
        </p:sp>
        <p:sp>
          <p:nvSpPr>
            <p:cNvPr id="15" name="TextBox 15"/>
            <p:cNvSpPr txBox="1"/>
            <p:nvPr/>
          </p:nvSpPr>
          <p:spPr>
            <a:xfrm>
              <a:off x="1043381" y="3275171"/>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测试用例</a:t>
              </a:r>
            </a:p>
          </p:txBody>
        </p:sp>
        <p:sp>
          <p:nvSpPr>
            <p:cNvPr id="16" name="TextBox 16"/>
            <p:cNvSpPr txBox="1"/>
            <p:nvPr/>
          </p:nvSpPr>
          <p:spPr>
            <a:xfrm>
              <a:off x="2378113" y="327517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路径</a:t>
              </a:r>
            </a:p>
          </p:txBody>
        </p:sp>
        <p:sp>
          <p:nvSpPr>
            <p:cNvPr id="17" name="TextBox 17"/>
            <p:cNvSpPr txBox="1"/>
            <p:nvPr/>
          </p:nvSpPr>
          <p:spPr>
            <a:xfrm>
              <a:off x="3598380" y="3275171"/>
              <a:ext cx="121762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满足的条件与判定</a:t>
              </a:r>
            </a:p>
          </p:txBody>
        </p:sp>
        <p:sp>
          <p:nvSpPr>
            <p:cNvPr id="18" name="TextBox 18"/>
            <p:cNvSpPr txBox="1"/>
            <p:nvPr/>
          </p:nvSpPr>
          <p:spPr>
            <a:xfrm>
              <a:off x="630555" y="3675221"/>
              <a:ext cx="1131570" cy="420052"/>
            </a:xfrm>
            <a:prstGeom prst="rect">
              <a:avLst/>
            </a:prstGeom>
            <a:noFill/>
            <a:ln>
              <a:noFill/>
            </a:ln>
          </p:spPr>
          <p:txBody>
            <a:bodyPr wrap="none" lIns="0" tIns="0" rIns="0" bIns="0" anchor="t" anchorCtr="0">
              <a:spAutoFit/>
            </a:bodyPr>
            <a:lstStyle/>
            <a:p>
              <a:pPr algn="l">
                <a:lnSpc>
                  <a:spcPts val="1575"/>
                </a:lnSpc>
              </a:pPr>
              <a:r>
                <a:rPr lang="zh-CN" sz="1120" b="1" dirty="0">
                  <a:solidFill>
                    <a:srgbClr val="1F2937"/>
                  </a:solidFill>
                  <a:latin typeface="+mn-lt"/>
                  <a:ea typeface="+mn-ea"/>
                  <a:cs typeface="+mn-cs"/>
                </a:rPr>
                <a:t>[(2, 0, 4), (2,</a:t>
              </a:r>
              <a:br/>
              <a:r>
                <a:rPr lang="zh-CN" sz="1120" b="1" dirty="0">
                  <a:solidFill>
                    <a:srgbClr val="1F2937"/>
                  </a:solidFill>
                  <a:latin typeface="+mn-lt"/>
                  <a:ea typeface="+mn-ea"/>
                  <a:cs typeface="+mn-cs"/>
                </a:rPr>
                <a:t>0, 3)]</a:t>
              </a:r>
            </a:p>
          </p:txBody>
        </p:sp>
        <p:sp>
          <p:nvSpPr>
            <p:cNvPr id="19" name="TextBox 19"/>
            <p:cNvSpPr txBox="1"/>
            <p:nvPr/>
          </p:nvSpPr>
          <p:spPr>
            <a:xfrm>
              <a:off x="2264092" y="3775234"/>
              <a:ext cx="508986"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sacbed</a:t>
              </a:r>
            </a:p>
          </p:txBody>
        </p:sp>
        <p:sp>
          <p:nvSpPr>
            <p:cNvPr id="20" name="TextBox 20"/>
            <p:cNvSpPr txBox="1"/>
            <p:nvPr/>
          </p:nvSpPr>
          <p:spPr>
            <a:xfrm>
              <a:off x="3000375" y="3675221"/>
              <a:ext cx="2265934"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A&gt;1, B=0, A=2, X&gt;1；判定 a、b 均</a:t>
              </a:r>
              <a:br/>
              <a:r>
                <a:rPr lang="zh-CN" sz="1120" dirty="0">
                  <a:solidFill>
                    <a:srgbClr val="1F2937"/>
                  </a:solidFill>
                  <a:latin typeface="+mn-lt"/>
                  <a:ea typeface="+mn-ea"/>
                  <a:cs typeface="+mn-cs"/>
                </a:rPr>
                <a:t>为真</a:t>
              </a:r>
            </a:p>
          </p:txBody>
        </p:sp>
        <p:sp>
          <p:nvSpPr>
            <p:cNvPr id="21" name="Rectangle 21"/>
            <p:cNvSpPr/>
            <p:nvPr/>
          </p:nvSpPr>
          <p:spPr>
            <a:xfrm>
              <a:off x="533400" y="4149090"/>
              <a:ext cx="4977765" cy="9525"/>
            </a:xfrm>
            <a:prstGeom prst="rect">
              <a:avLst/>
            </a:prstGeom>
            <a:solidFill>
              <a:srgbClr val="D9DFEA"/>
            </a:solidFill>
            <a:ln>
              <a:noFill/>
            </a:ln>
          </p:spPr>
        </p:sp>
        <p:sp>
          <p:nvSpPr>
            <p:cNvPr id="22" name="Rectangle 22"/>
            <p:cNvSpPr/>
            <p:nvPr/>
          </p:nvSpPr>
          <p:spPr>
            <a:xfrm>
              <a:off x="533400" y="4153852"/>
              <a:ext cx="4977765" cy="600075"/>
            </a:xfrm>
            <a:prstGeom prst="rect">
              <a:avLst/>
            </a:prstGeom>
            <a:solidFill>
              <a:srgbClr val="F4F6FB"/>
            </a:solidFill>
            <a:ln>
              <a:noFill/>
            </a:ln>
          </p:spPr>
        </p:sp>
        <p:sp>
          <p:nvSpPr>
            <p:cNvPr id="23" name="TextBox 23"/>
            <p:cNvSpPr txBox="1"/>
            <p:nvPr/>
          </p:nvSpPr>
          <p:spPr>
            <a:xfrm>
              <a:off x="630555" y="4275296"/>
              <a:ext cx="1131570" cy="420052"/>
            </a:xfrm>
            <a:prstGeom prst="rect">
              <a:avLst/>
            </a:prstGeom>
            <a:noFill/>
            <a:ln>
              <a:noFill/>
            </a:ln>
          </p:spPr>
          <p:txBody>
            <a:bodyPr wrap="none" lIns="0" tIns="0" rIns="0" bIns="0" anchor="t" anchorCtr="0">
              <a:spAutoFit/>
            </a:bodyPr>
            <a:lstStyle/>
            <a:p>
              <a:pPr algn="l">
                <a:lnSpc>
                  <a:spcPts val="1575"/>
                </a:lnSpc>
              </a:pPr>
              <a:r>
                <a:rPr lang="zh-CN" sz="1120" b="1" dirty="0">
                  <a:solidFill>
                    <a:srgbClr val="1F2937"/>
                  </a:solidFill>
                  <a:latin typeface="+mn-lt"/>
                  <a:ea typeface="+mn-ea"/>
                  <a:cs typeface="+mn-cs"/>
                </a:rPr>
                <a:t>[(1, 1, 1), (1,</a:t>
              </a:r>
              <a:br/>
              <a:r>
                <a:rPr lang="zh-CN" sz="1120" b="1" dirty="0">
                  <a:solidFill>
                    <a:srgbClr val="1F2937"/>
                  </a:solidFill>
                  <a:latin typeface="+mn-lt"/>
                  <a:ea typeface="+mn-ea"/>
                  <a:cs typeface="+mn-cs"/>
                </a:rPr>
                <a:t>1, 1)]</a:t>
              </a:r>
            </a:p>
          </p:txBody>
        </p:sp>
        <p:sp>
          <p:nvSpPr>
            <p:cNvPr id="24" name="TextBox 24"/>
            <p:cNvSpPr txBox="1"/>
            <p:nvPr/>
          </p:nvSpPr>
          <p:spPr>
            <a:xfrm>
              <a:off x="2264092" y="4375309"/>
              <a:ext cx="34313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sabd</a:t>
              </a:r>
            </a:p>
          </p:txBody>
        </p:sp>
        <p:sp>
          <p:nvSpPr>
            <p:cNvPr id="25" name="TextBox 25"/>
            <p:cNvSpPr txBox="1"/>
            <p:nvPr/>
          </p:nvSpPr>
          <p:spPr>
            <a:xfrm>
              <a:off x="3000375" y="4275296"/>
              <a:ext cx="20027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A≤1, B≠0, A≠2, X≤1；判定 a、</a:t>
              </a:r>
              <a:br/>
              <a:r>
                <a:rPr lang="zh-CN" sz="1120" dirty="0">
                  <a:solidFill>
                    <a:srgbClr val="1F2937"/>
                  </a:solidFill>
                  <a:latin typeface="+mn-lt"/>
                  <a:ea typeface="+mn-ea"/>
                  <a:cs typeface="+mn-cs"/>
                </a:rPr>
                <a:t>b 均为假</a:t>
              </a:r>
            </a:p>
          </p:txBody>
        </p:sp>
        <p:sp>
          <p:nvSpPr>
            <p:cNvPr id="26" name="Rectangle 26"/>
            <p:cNvSpPr/>
            <p:nvPr/>
          </p:nvSpPr>
          <p:spPr>
            <a:xfrm>
              <a:off x="533400" y="3153728"/>
              <a:ext cx="4977765" cy="1600200"/>
            </a:xfrm>
            <a:prstGeom prst="rect">
              <a:avLst/>
            </a:prstGeom>
            <a:noFill/>
            <a:ln w="14288">
              <a:solidFill>
                <a:srgbClr val="D9DFEA"/>
              </a:solidFill>
            </a:ln>
          </p:spPr>
        </p:sp>
        <p:sp>
          <p:nvSpPr>
            <p:cNvPr id="27" name="Rectangle 27"/>
            <p:cNvSpPr/>
            <p:nvPr/>
          </p:nvSpPr>
          <p:spPr>
            <a:xfrm>
              <a:off x="2162175" y="3153728"/>
              <a:ext cx="9525" cy="1600200"/>
            </a:xfrm>
            <a:prstGeom prst="rect">
              <a:avLst/>
            </a:prstGeom>
            <a:solidFill>
              <a:srgbClr val="D9DFEA"/>
            </a:solidFill>
            <a:ln>
              <a:noFill/>
            </a:ln>
          </p:spPr>
        </p:sp>
        <p:sp>
          <p:nvSpPr>
            <p:cNvPr id="28" name="Rectangle 28"/>
            <p:cNvSpPr/>
            <p:nvPr/>
          </p:nvSpPr>
          <p:spPr>
            <a:xfrm>
              <a:off x="2898458" y="3153728"/>
              <a:ext cx="9525" cy="1600200"/>
            </a:xfrm>
            <a:prstGeom prst="rect">
              <a:avLst/>
            </a:prstGeom>
            <a:solidFill>
              <a:srgbClr val="D9DFEA"/>
            </a:solidFill>
            <a:ln>
              <a:noFill/>
            </a:ln>
          </p:spPr>
        </p:sp>
      </p:grpSp>
      <p:grpSp>
        <p:nvGrpSpPr>
          <p:cNvPr id="36" name="c1-callout-3"/>
          <p:cNvGrpSpPr/>
          <p:nvPr/>
        </p:nvGrpSpPr>
        <p:grpSpPr>
          <a:xfrm>
            <a:off x="533400" y="4923472"/>
            <a:ext cx="4977765" cy="729615"/>
            <a:chOff x="533400" y="4923472"/>
            <a:chExt cx="4977765" cy="729615"/>
          </a:xfrm>
        </p:grpSpPr>
        <p:sp>
          <p:nvSpPr>
            <p:cNvPr id="30" name="Rectangle 30"/>
            <p:cNvSpPr/>
            <p:nvPr/>
          </p:nvSpPr>
          <p:spPr>
            <a:xfrm>
              <a:off x="533400" y="4923472"/>
              <a:ext cx="4977765" cy="729615"/>
            </a:xfrm>
            <a:prstGeom prst="roundRect">
              <a:avLst>
                <a:gd name="adj" fmla="val 15666"/>
              </a:avLst>
            </a:prstGeom>
            <a:solidFill>
              <a:srgbClr val="FDECEA"/>
            </a:solidFill>
            <a:ln>
              <a:noFill/>
            </a:ln>
          </p:spPr>
        </p:sp>
        <p:grpSp>
          <p:nvGrpSpPr>
            <p:cNvPr id="34" name="Group 34"/>
            <p:cNvGrpSpPr/>
            <p:nvPr/>
          </p:nvGrpSpPr>
          <p:grpSpPr>
            <a:xfrm>
              <a:off x="726129" y="5184576"/>
              <a:ext cx="224134" cy="192560"/>
              <a:chOff x="726129" y="5184576"/>
              <a:chExt cx="224134" cy="192560"/>
            </a:xfrm>
          </p:grpSpPr>
          <p:sp>
            <p:nvSpPr>
              <p:cNvPr id="31" name="Freeform 31"/>
              <p:cNvSpPr/>
              <p:nvPr/>
            </p:nvSpPr>
            <p:spPr>
              <a:xfrm>
                <a:off x="838200" y="525494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32" name="Freeform 32"/>
              <p:cNvSpPr/>
              <p:nvPr/>
            </p:nvSpPr>
            <p:spPr>
              <a:xfrm>
                <a:off x="726129" y="518457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33" name="Freeform 33"/>
              <p:cNvSpPr/>
              <p:nvPr/>
            </p:nvSpPr>
            <p:spPr>
              <a:xfrm>
                <a:off x="838200" y="533273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35" name="TextBox 35"/>
            <p:cNvSpPr txBox="1"/>
            <p:nvPr/>
          </p:nvSpPr>
          <p:spPr>
            <a:xfrm>
              <a:off x="1040892" y="5070158"/>
              <a:ext cx="37856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由于条件隐藏（判定一旦确定就不再算后面的条</a:t>
              </a:r>
              <a:br/>
              <a:r>
                <a:rPr lang="zh-CN" sz="1350" dirty="0">
                  <a:solidFill>
                    <a:srgbClr val="B42318"/>
                  </a:solidFill>
                  <a:latin typeface="+mn-lt"/>
                  <a:ea typeface="+mn-ea"/>
                  <a:cs typeface="+mn-cs"/>
                </a:rPr>
                <a:t>件），逻辑表达式中的错误不一定都能查得出来。</a:t>
              </a:r>
            </a:p>
          </p:txBody>
        </p:sp>
      </p:grpSp>
      <p:grpSp>
        <p:nvGrpSpPr>
          <p:cNvPr id="44" name="c2-card-1"/>
          <p:cNvGrpSpPr/>
          <p:nvPr/>
        </p:nvGrpSpPr>
        <p:grpSpPr>
          <a:xfrm>
            <a:off x="5815965" y="1524000"/>
            <a:ext cx="5842635" cy="1760220"/>
            <a:chOff x="5815965" y="1524000"/>
            <a:chExt cx="5842635" cy="1760220"/>
          </a:xfrm>
        </p:grpSpPr>
        <p:sp>
          <p:nvSpPr>
            <p:cNvPr id="37" name="Rectangle 37"/>
            <p:cNvSpPr/>
            <p:nvPr/>
          </p:nvSpPr>
          <p:spPr>
            <a:xfrm>
              <a:off x="5815965" y="1524000"/>
              <a:ext cx="5842635" cy="1760220"/>
            </a:xfrm>
            <a:prstGeom prst="roundRect">
              <a:avLst>
                <a:gd name="adj" fmla="val 7576"/>
              </a:avLst>
            </a:prstGeom>
            <a:solidFill>
              <a:srgbClr val="FFFFFF"/>
            </a:solidFill>
            <a:ln w="14288">
              <a:solidFill>
                <a:srgbClr val="D9DFEA"/>
              </a:solidFill>
            </a:ln>
          </p:spPr>
        </p:sp>
        <p:sp>
          <p:nvSpPr>
            <p:cNvPr id="38" name="Rectangle 38"/>
            <p:cNvSpPr/>
            <p:nvPr/>
          </p:nvSpPr>
          <p:spPr>
            <a:xfrm>
              <a:off x="5825490" y="1657350"/>
              <a:ext cx="47625" cy="1493520"/>
            </a:xfrm>
            <a:prstGeom prst="roundRect">
              <a:avLst>
                <a:gd name="adj" fmla="val 50000"/>
              </a:avLst>
            </a:prstGeom>
            <a:solidFill>
              <a:srgbClr val="334E68"/>
            </a:solidFill>
            <a:ln>
              <a:noFill/>
            </a:ln>
          </p:spPr>
        </p:sp>
        <p:sp>
          <p:nvSpPr>
            <p:cNvPr id="39" name="Rectangle 39"/>
            <p:cNvSpPr/>
            <p:nvPr/>
          </p:nvSpPr>
          <p:spPr>
            <a:xfrm>
              <a:off x="6040755" y="1710690"/>
              <a:ext cx="956310" cy="238125"/>
            </a:xfrm>
            <a:prstGeom prst="roundRect">
              <a:avLst>
                <a:gd name="adj" fmla="val 50000"/>
              </a:avLst>
            </a:prstGeom>
            <a:solidFill>
              <a:srgbClr val="E7EDF3"/>
            </a:solidFill>
            <a:ln>
              <a:noFill/>
            </a:ln>
          </p:spPr>
        </p:sp>
        <p:sp>
          <p:nvSpPr>
            <p:cNvPr id="40" name="TextBox 40"/>
            <p:cNvSpPr txBox="1"/>
            <p:nvPr/>
          </p:nvSpPr>
          <p:spPr>
            <a:xfrm>
              <a:off x="6118174" y="1743551"/>
              <a:ext cx="801472"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条件组合覆盖</a:t>
              </a:r>
            </a:p>
          </p:txBody>
        </p:sp>
        <p:sp>
          <p:nvSpPr>
            <p:cNvPr id="41" name="TextBox 41"/>
            <p:cNvSpPr txBox="1"/>
            <p:nvPr/>
          </p:nvSpPr>
          <p:spPr>
            <a:xfrm>
              <a:off x="7104507" y="1745932"/>
              <a:ext cx="364845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每个判定中条件的所有可能组合至少出现一次</a:t>
              </a:r>
            </a:p>
          </p:txBody>
        </p:sp>
        <p:sp>
          <p:nvSpPr>
            <p:cNvPr id="42" name="TextBox 42"/>
            <p:cNvSpPr txBox="1"/>
            <p:nvPr/>
          </p:nvSpPr>
          <p:spPr>
            <a:xfrm>
              <a:off x="6033897" y="2071688"/>
              <a:ext cx="504577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判定 a 的组合：① A&gt;1 且 B=0　② A&gt;1 且 B≠0　③ A≤1 且 B=0　④ A≤</a:t>
              </a:r>
              <a:br/>
              <a:r>
                <a:rPr lang="zh-CN" sz="1350" dirty="0">
                  <a:solidFill>
                    <a:srgbClr val="1F2937"/>
                  </a:solidFill>
                  <a:latin typeface="+mn-lt"/>
                  <a:ea typeface="+mn-ea"/>
                  <a:cs typeface="+mn-cs"/>
                </a:rPr>
                <a:t>1 且 B≠0</a:t>
              </a:r>
            </a:p>
          </p:txBody>
        </p:sp>
        <p:sp>
          <p:nvSpPr>
            <p:cNvPr id="43" name="TextBox 43"/>
            <p:cNvSpPr txBox="1"/>
            <p:nvPr/>
          </p:nvSpPr>
          <p:spPr>
            <a:xfrm>
              <a:off x="6033897" y="2628900"/>
              <a:ext cx="504577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判定 b 的组合：⑤ A=2 且 X&gt;1　⑥ A=2 且 X≤1　⑦ A≠2 且 X&gt;1　⑧ A≠</a:t>
              </a:r>
              <a:br/>
              <a:r>
                <a:rPr lang="zh-CN" sz="1350" dirty="0">
                  <a:solidFill>
                    <a:srgbClr val="1F2937"/>
                  </a:solidFill>
                  <a:latin typeface="+mn-lt"/>
                  <a:ea typeface="+mn-ea"/>
                  <a:cs typeface="+mn-cs"/>
                </a:rPr>
                <a:t>2 且 X≤1</a:t>
              </a:r>
            </a:p>
          </p:txBody>
        </p:sp>
      </p:grpSp>
      <p:grpSp>
        <p:nvGrpSpPr>
          <p:cNvPr id="69" name="c2-table-2"/>
          <p:cNvGrpSpPr/>
          <p:nvPr/>
        </p:nvGrpSpPr>
        <p:grpSpPr>
          <a:xfrm>
            <a:off x="5815965" y="3453765"/>
            <a:ext cx="5842635" cy="2000250"/>
            <a:chOff x="5815965" y="3453765"/>
            <a:chExt cx="5842635" cy="2000250"/>
          </a:xfrm>
        </p:grpSpPr>
        <p:sp>
          <p:nvSpPr>
            <p:cNvPr id="45" name="Rectangle 45"/>
            <p:cNvSpPr/>
            <p:nvPr/>
          </p:nvSpPr>
          <p:spPr>
            <a:xfrm>
              <a:off x="5815965" y="3453765"/>
              <a:ext cx="5842635" cy="400050"/>
            </a:xfrm>
            <a:prstGeom prst="rect">
              <a:avLst/>
            </a:prstGeom>
            <a:solidFill>
              <a:srgbClr val="334E68"/>
            </a:solidFill>
            <a:ln>
              <a:noFill/>
            </a:ln>
          </p:spPr>
        </p:sp>
        <p:sp>
          <p:nvSpPr>
            <p:cNvPr id="46" name="TextBox 46"/>
            <p:cNvSpPr txBox="1"/>
            <p:nvPr/>
          </p:nvSpPr>
          <p:spPr>
            <a:xfrm>
              <a:off x="6669799" y="357520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测试数据</a:t>
              </a:r>
            </a:p>
          </p:txBody>
        </p:sp>
        <p:sp>
          <p:nvSpPr>
            <p:cNvPr id="47" name="TextBox 47"/>
            <p:cNvSpPr txBox="1"/>
            <p:nvPr/>
          </p:nvSpPr>
          <p:spPr>
            <a:xfrm>
              <a:off x="8670862" y="3575209"/>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覆盖的组合</a:t>
              </a:r>
            </a:p>
          </p:txBody>
        </p:sp>
        <p:sp>
          <p:nvSpPr>
            <p:cNvPr id="48" name="TextBox 48"/>
            <p:cNvSpPr txBox="1"/>
            <p:nvPr/>
          </p:nvSpPr>
          <p:spPr>
            <a:xfrm>
              <a:off x="10506469" y="357520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执行路径</a:t>
              </a:r>
            </a:p>
          </p:txBody>
        </p:sp>
        <p:sp>
          <p:nvSpPr>
            <p:cNvPr id="49" name="TextBox 49"/>
            <p:cNvSpPr txBox="1"/>
            <p:nvPr/>
          </p:nvSpPr>
          <p:spPr>
            <a:xfrm>
              <a:off x="5913120" y="3975259"/>
              <a:ext cx="135798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Ⅰ. A=2, B=0, X=4</a:t>
              </a:r>
            </a:p>
          </p:txBody>
        </p:sp>
        <p:sp>
          <p:nvSpPr>
            <p:cNvPr id="50" name="TextBox 50"/>
            <p:cNvSpPr txBox="1"/>
            <p:nvPr/>
          </p:nvSpPr>
          <p:spPr>
            <a:xfrm>
              <a:off x="8235315" y="3975259"/>
              <a:ext cx="41852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① 与 ⑤</a:t>
              </a:r>
            </a:p>
          </p:txBody>
        </p:sp>
        <p:sp>
          <p:nvSpPr>
            <p:cNvPr id="51" name="TextBox 51"/>
            <p:cNvSpPr txBox="1"/>
            <p:nvPr/>
          </p:nvSpPr>
          <p:spPr>
            <a:xfrm>
              <a:off x="10066972" y="3975259"/>
              <a:ext cx="508986"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sacbed</a:t>
              </a:r>
            </a:p>
          </p:txBody>
        </p:sp>
        <p:sp>
          <p:nvSpPr>
            <p:cNvPr id="52" name="Rectangle 52"/>
            <p:cNvSpPr/>
            <p:nvPr/>
          </p:nvSpPr>
          <p:spPr>
            <a:xfrm>
              <a:off x="5815965" y="4249102"/>
              <a:ext cx="5842635" cy="9525"/>
            </a:xfrm>
            <a:prstGeom prst="rect">
              <a:avLst/>
            </a:prstGeom>
            <a:solidFill>
              <a:srgbClr val="D9DFEA"/>
            </a:solidFill>
            <a:ln>
              <a:noFill/>
            </a:ln>
          </p:spPr>
        </p:sp>
        <p:sp>
          <p:nvSpPr>
            <p:cNvPr id="53" name="Rectangle 53"/>
            <p:cNvSpPr/>
            <p:nvPr/>
          </p:nvSpPr>
          <p:spPr>
            <a:xfrm>
              <a:off x="5815965" y="4253865"/>
              <a:ext cx="5842635" cy="400050"/>
            </a:xfrm>
            <a:prstGeom prst="rect">
              <a:avLst/>
            </a:prstGeom>
            <a:solidFill>
              <a:srgbClr val="F4F6FB"/>
            </a:solidFill>
            <a:ln>
              <a:noFill/>
            </a:ln>
          </p:spPr>
        </p:sp>
        <p:sp>
          <p:nvSpPr>
            <p:cNvPr id="54" name="TextBox 54"/>
            <p:cNvSpPr txBox="1"/>
            <p:nvPr/>
          </p:nvSpPr>
          <p:spPr>
            <a:xfrm>
              <a:off x="5913120" y="4375309"/>
              <a:ext cx="135798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Ⅱ. A=2, B=1, X=1</a:t>
              </a:r>
            </a:p>
          </p:txBody>
        </p:sp>
        <p:sp>
          <p:nvSpPr>
            <p:cNvPr id="55" name="TextBox 55"/>
            <p:cNvSpPr txBox="1"/>
            <p:nvPr/>
          </p:nvSpPr>
          <p:spPr>
            <a:xfrm>
              <a:off x="8235315" y="4375309"/>
              <a:ext cx="41852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② 与 ⑥</a:t>
              </a:r>
            </a:p>
          </p:txBody>
        </p:sp>
        <p:sp>
          <p:nvSpPr>
            <p:cNvPr id="56" name="TextBox 56"/>
            <p:cNvSpPr txBox="1"/>
            <p:nvPr/>
          </p:nvSpPr>
          <p:spPr>
            <a:xfrm>
              <a:off x="10066972" y="4375309"/>
              <a:ext cx="42606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sabed</a:t>
              </a:r>
            </a:p>
          </p:txBody>
        </p:sp>
        <p:sp>
          <p:nvSpPr>
            <p:cNvPr id="57" name="Rectangle 57"/>
            <p:cNvSpPr/>
            <p:nvPr/>
          </p:nvSpPr>
          <p:spPr>
            <a:xfrm>
              <a:off x="5815965" y="4649152"/>
              <a:ext cx="5842635" cy="9525"/>
            </a:xfrm>
            <a:prstGeom prst="rect">
              <a:avLst/>
            </a:prstGeom>
            <a:solidFill>
              <a:srgbClr val="D9DFEA"/>
            </a:solidFill>
            <a:ln>
              <a:noFill/>
            </a:ln>
          </p:spPr>
        </p:sp>
        <p:sp>
          <p:nvSpPr>
            <p:cNvPr id="58" name="TextBox 58"/>
            <p:cNvSpPr txBox="1"/>
            <p:nvPr/>
          </p:nvSpPr>
          <p:spPr>
            <a:xfrm>
              <a:off x="5913120" y="4775359"/>
              <a:ext cx="135798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Ⅲ. A=1, B=0, X=2</a:t>
              </a:r>
            </a:p>
          </p:txBody>
        </p:sp>
        <p:sp>
          <p:nvSpPr>
            <p:cNvPr id="59" name="TextBox 59"/>
            <p:cNvSpPr txBox="1"/>
            <p:nvPr/>
          </p:nvSpPr>
          <p:spPr>
            <a:xfrm>
              <a:off x="8235315" y="4775359"/>
              <a:ext cx="41852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③ 与 ⑦</a:t>
              </a:r>
            </a:p>
          </p:txBody>
        </p:sp>
        <p:sp>
          <p:nvSpPr>
            <p:cNvPr id="60" name="TextBox 60"/>
            <p:cNvSpPr txBox="1"/>
            <p:nvPr/>
          </p:nvSpPr>
          <p:spPr>
            <a:xfrm>
              <a:off x="10066972" y="4775359"/>
              <a:ext cx="42606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sabed</a:t>
              </a:r>
            </a:p>
          </p:txBody>
        </p:sp>
        <p:sp>
          <p:nvSpPr>
            <p:cNvPr id="61" name="Rectangle 61"/>
            <p:cNvSpPr/>
            <p:nvPr/>
          </p:nvSpPr>
          <p:spPr>
            <a:xfrm>
              <a:off x="5815965" y="5049202"/>
              <a:ext cx="5842635" cy="9525"/>
            </a:xfrm>
            <a:prstGeom prst="rect">
              <a:avLst/>
            </a:prstGeom>
            <a:solidFill>
              <a:srgbClr val="D9DFEA"/>
            </a:solidFill>
            <a:ln>
              <a:noFill/>
            </a:ln>
          </p:spPr>
        </p:sp>
        <p:sp>
          <p:nvSpPr>
            <p:cNvPr id="62" name="Rectangle 62"/>
            <p:cNvSpPr/>
            <p:nvPr/>
          </p:nvSpPr>
          <p:spPr>
            <a:xfrm>
              <a:off x="5815965" y="5053965"/>
              <a:ext cx="5842635" cy="400050"/>
            </a:xfrm>
            <a:prstGeom prst="rect">
              <a:avLst/>
            </a:prstGeom>
            <a:solidFill>
              <a:srgbClr val="F4F6FB"/>
            </a:solidFill>
            <a:ln>
              <a:noFill/>
            </a:ln>
          </p:spPr>
        </p:sp>
        <p:sp>
          <p:nvSpPr>
            <p:cNvPr id="63" name="TextBox 63"/>
            <p:cNvSpPr txBox="1"/>
            <p:nvPr/>
          </p:nvSpPr>
          <p:spPr>
            <a:xfrm>
              <a:off x="5913120" y="5175409"/>
              <a:ext cx="1357988"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Ⅳ. A=1, B=1, X=1</a:t>
              </a:r>
            </a:p>
          </p:txBody>
        </p:sp>
        <p:sp>
          <p:nvSpPr>
            <p:cNvPr id="64" name="TextBox 64"/>
            <p:cNvSpPr txBox="1"/>
            <p:nvPr/>
          </p:nvSpPr>
          <p:spPr>
            <a:xfrm>
              <a:off x="8235315" y="5175409"/>
              <a:ext cx="41852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④ 与 ⑧</a:t>
              </a:r>
            </a:p>
          </p:txBody>
        </p:sp>
        <p:sp>
          <p:nvSpPr>
            <p:cNvPr id="65" name="TextBox 65"/>
            <p:cNvSpPr txBox="1"/>
            <p:nvPr/>
          </p:nvSpPr>
          <p:spPr>
            <a:xfrm>
              <a:off x="10066972" y="5175409"/>
              <a:ext cx="34313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sabd</a:t>
              </a:r>
            </a:p>
          </p:txBody>
        </p:sp>
        <p:sp>
          <p:nvSpPr>
            <p:cNvPr id="66" name="Rectangle 66"/>
            <p:cNvSpPr/>
            <p:nvPr/>
          </p:nvSpPr>
          <p:spPr>
            <a:xfrm>
              <a:off x="5815965" y="3453765"/>
              <a:ext cx="5842635" cy="2000250"/>
            </a:xfrm>
            <a:prstGeom prst="rect">
              <a:avLst/>
            </a:prstGeom>
            <a:noFill/>
            <a:ln w="14288">
              <a:solidFill>
                <a:srgbClr val="D9DFEA"/>
              </a:solidFill>
            </a:ln>
          </p:spPr>
        </p:sp>
        <p:sp>
          <p:nvSpPr>
            <p:cNvPr id="67" name="Rectangle 67"/>
            <p:cNvSpPr/>
            <p:nvPr/>
          </p:nvSpPr>
          <p:spPr>
            <a:xfrm>
              <a:off x="8133398" y="3453765"/>
              <a:ext cx="9525" cy="2000250"/>
            </a:xfrm>
            <a:prstGeom prst="rect">
              <a:avLst/>
            </a:prstGeom>
            <a:solidFill>
              <a:srgbClr val="D9DFEA"/>
            </a:solidFill>
            <a:ln>
              <a:noFill/>
            </a:ln>
          </p:spPr>
        </p:sp>
        <p:sp>
          <p:nvSpPr>
            <p:cNvPr id="68" name="Rectangle 68"/>
            <p:cNvSpPr/>
            <p:nvPr/>
          </p:nvSpPr>
          <p:spPr>
            <a:xfrm>
              <a:off x="9965055" y="3453765"/>
              <a:ext cx="9525" cy="2000250"/>
            </a:xfrm>
            <a:prstGeom prst="rect">
              <a:avLst/>
            </a:prstGeom>
            <a:solidFill>
              <a:srgbClr val="D9DFEA"/>
            </a:solidFill>
            <a:ln>
              <a:noFill/>
            </a:ln>
          </p:spPr>
        </p:sp>
      </p:grpSp>
      <p:grpSp>
        <p:nvGrpSpPr>
          <p:cNvPr id="76" name="takeaway"/>
          <p:cNvGrpSpPr/>
          <p:nvPr/>
        </p:nvGrpSpPr>
        <p:grpSpPr>
          <a:xfrm>
            <a:off x="533400" y="5881688"/>
            <a:ext cx="11125200" cy="481012"/>
            <a:chOff x="533400" y="5881688"/>
            <a:chExt cx="11125200" cy="481012"/>
          </a:xfrm>
        </p:grpSpPr>
        <p:sp>
          <p:nvSpPr>
            <p:cNvPr id="70" name="Rectangle 70"/>
            <p:cNvSpPr/>
            <p:nvPr/>
          </p:nvSpPr>
          <p:spPr>
            <a:xfrm>
              <a:off x="533400" y="5881688"/>
              <a:ext cx="11125200" cy="481012"/>
            </a:xfrm>
            <a:prstGeom prst="roundRect">
              <a:avLst>
                <a:gd name="adj" fmla="val 23762"/>
              </a:avLst>
            </a:prstGeom>
            <a:solidFill>
              <a:srgbClr val="FDECEA"/>
            </a:solidFill>
            <a:ln>
              <a:noFill/>
            </a:ln>
          </p:spPr>
        </p:sp>
        <p:grpSp>
          <p:nvGrpSpPr>
            <p:cNvPr id="74" name="Group 74"/>
            <p:cNvGrpSpPr/>
            <p:nvPr/>
          </p:nvGrpSpPr>
          <p:grpSpPr>
            <a:xfrm>
              <a:off x="726129" y="6018966"/>
              <a:ext cx="224134" cy="192560"/>
              <a:chOff x="726129" y="6018966"/>
              <a:chExt cx="224134" cy="192560"/>
            </a:xfrm>
          </p:grpSpPr>
          <p:sp>
            <p:nvSpPr>
              <p:cNvPr id="71" name="Freeform 71"/>
              <p:cNvSpPr/>
              <p:nvPr/>
            </p:nvSpPr>
            <p:spPr>
              <a:xfrm>
                <a:off x="838200" y="608933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72" name="Freeform 72"/>
              <p:cNvSpPr/>
              <p:nvPr/>
            </p:nvSpPr>
            <p:spPr>
              <a:xfrm>
                <a:off x="726129" y="601896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73" name="Freeform 73"/>
              <p:cNvSpPr/>
              <p:nvPr/>
            </p:nvSpPr>
            <p:spPr>
              <a:xfrm>
                <a:off x="838200" y="616712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75" name="TextBox 75"/>
            <p:cNvSpPr txBox="1"/>
            <p:nvPr/>
          </p:nvSpPr>
          <p:spPr>
            <a:xfrm>
              <a:off x="1040892" y="6028373"/>
              <a:ext cx="10426046" cy="264033"/>
            </a:xfrm>
            <a:prstGeom prst="rect">
              <a:avLst/>
            </a:prstGeom>
            <a:noFill/>
            <a:ln>
              <a:noFill/>
            </a:ln>
          </p:spPr>
          <p:txBody>
            <a:bodyPr wrap="none" lIns="0" tIns="0" rIns="0" bIns="0" anchor="t" anchorCtr="0">
              <a:spAutoFit/>
            </a:bodyPr>
            <a:lstStyle/>
            <a:p>
              <a:pPr algn="l"/>
              <a:r>
                <a:rPr lang="zh-CN" sz="1350" dirty="0">
                  <a:solidFill>
                    <a:srgbClr val="B42318"/>
                  </a:solidFill>
                  <a:latin typeface="+mn-lt"/>
                  <a:ea typeface="+mn-ea"/>
                  <a:cs typeface="+mn-cs"/>
                </a:rPr>
                <a:t>这 4 组数据也满足判定、条件、判定／条件覆盖，却没有走到路径 sacbd。补一组 A=3, B=0, X=3（输出 (3, 0, 1)）才能走到。</a:t>
              </a:r>
            </a:p>
          </p:txBody>
        </p:sp>
      </p:grpSp>
      <p:grpSp>
        <p:nvGrpSpPr>
          <p:cNvPr id="79" name="footer"/>
          <p:cNvGrpSpPr/>
          <p:nvPr/>
        </p:nvGrpSpPr>
        <p:grpSpPr>
          <a:xfrm>
            <a:off x="528447" y="6581299"/>
            <a:ext cx="11135106" cy="190690"/>
            <a:chOff x="528447" y="6581299"/>
            <a:chExt cx="11135106" cy="190690"/>
          </a:xfrm>
        </p:grpSpPr>
        <p:sp>
          <p:nvSpPr>
            <p:cNvPr id="77" name="TextBox 7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8" name="TextBox 7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六种覆盖标准的强弱关系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2" name="c1-table-1"/>
          <p:cNvGrpSpPr/>
          <p:nvPr/>
        </p:nvGrpSpPr>
        <p:grpSpPr>
          <a:xfrm>
            <a:off x="533400" y="1524000"/>
            <a:ext cx="6708458" cy="3594735"/>
            <a:chOff x="533400" y="1524000"/>
            <a:chExt cx="6708458" cy="3594735"/>
          </a:xfrm>
        </p:grpSpPr>
        <p:sp>
          <p:nvSpPr>
            <p:cNvPr id="7" name="Rectangle 7"/>
            <p:cNvSpPr/>
            <p:nvPr/>
          </p:nvSpPr>
          <p:spPr>
            <a:xfrm>
              <a:off x="533400" y="1524000"/>
              <a:ext cx="6708458" cy="448628"/>
            </a:xfrm>
            <a:prstGeom prst="rect">
              <a:avLst/>
            </a:prstGeom>
            <a:solidFill>
              <a:srgbClr val="334E68"/>
            </a:solidFill>
            <a:ln>
              <a:noFill/>
            </a:ln>
          </p:spPr>
        </p:sp>
        <p:sp>
          <p:nvSpPr>
            <p:cNvPr id="8" name="TextBox 8"/>
            <p:cNvSpPr txBox="1"/>
            <p:nvPr/>
          </p:nvSpPr>
          <p:spPr>
            <a:xfrm>
              <a:off x="920483"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覆盖标准</a:t>
              </a:r>
            </a:p>
          </p:txBody>
        </p:sp>
        <p:sp>
          <p:nvSpPr>
            <p:cNvPr id="9" name="TextBox 9"/>
            <p:cNvSpPr txBox="1"/>
            <p:nvPr/>
          </p:nvSpPr>
          <p:spPr>
            <a:xfrm>
              <a:off x="3507384"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要求</a:t>
              </a:r>
            </a:p>
          </p:txBody>
        </p:sp>
        <p:sp>
          <p:nvSpPr>
            <p:cNvPr id="10" name="TextBox 10"/>
            <p:cNvSpPr txBox="1"/>
            <p:nvPr/>
          </p:nvSpPr>
          <p:spPr>
            <a:xfrm>
              <a:off x="612390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强度</a:t>
              </a:r>
            </a:p>
          </p:txBody>
        </p:sp>
        <p:sp>
          <p:nvSpPr>
            <p:cNvPr id="11" name="TextBox 11"/>
            <p:cNvSpPr txBox="1"/>
            <p:nvPr/>
          </p:nvSpPr>
          <p:spPr>
            <a:xfrm>
              <a:off x="641223" y="210835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语句覆盖</a:t>
              </a:r>
            </a:p>
          </p:txBody>
        </p:sp>
        <p:sp>
          <p:nvSpPr>
            <p:cNvPr id="12" name="TextBox 12"/>
            <p:cNvSpPr txBox="1"/>
            <p:nvPr/>
          </p:nvSpPr>
          <p:spPr>
            <a:xfrm>
              <a:off x="2117598" y="2108359"/>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每条可执行语句至少执行一次</a:t>
              </a:r>
            </a:p>
          </p:txBody>
        </p:sp>
        <p:sp>
          <p:nvSpPr>
            <p:cNvPr id="13" name="Rectangle 13"/>
            <p:cNvSpPr/>
            <p:nvPr/>
          </p:nvSpPr>
          <p:spPr>
            <a:xfrm>
              <a:off x="5373052" y="1982152"/>
              <a:ext cx="1859280" cy="429578"/>
            </a:xfrm>
            <a:prstGeom prst="rect">
              <a:avLst/>
            </a:prstGeom>
            <a:solidFill>
              <a:srgbClr val="FDECEA"/>
            </a:solidFill>
            <a:ln>
              <a:noFill/>
            </a:ln>
          </p:spPr>
        </p:sp>
        <p:sp>
          <p:nvSpPr>
            <p:cNvPr id="14" name="TextBox 14"/>
            <p:cNvSpPr txBox="1"/>
            <p:nvPr/>
          </p:nvSpPr>
          <p:spPr>
            <a:xfrm>
              <a:off x="5471351" y="2108359"/>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最弱</a:t>
              </a:r>
            </a:p>
          </p:txBody>
        </p:sp>
        <p:sp>
          <p:nvSpPr>
            <p:cNvPr id="15" name="Rectangle 15"/>
            <p:cNvSpPr/>
            <p:nvPr/>
          </p:nvSpPr>
          <p:spPr>
            <a:xfrm>
              <a:off x="533400" y="2416492"/>
              <a:ext cx="6708458" cy="9525"/>
            </a:xfrm>
            <a:prstGeom prst="rect">
              <a:avLst/>
            </a:prstGeom>
            <a:solidFill>
              <a:srgbClr val="D9DFEA"/>
            </a:solidFill>
            <a:ln>
              <a:noFill/>
            </a:ln>
          </p:spPr>
        </p:sp>
        <p:sp>
          <p:nvSpPr>
            <p:cNvPr id="16" name="Rectangle 16"/>
            <p:cNvSpPr/>
            <p:nvPr/>
          </p:nvSpPr>
          <p:spPr>
            <a:xfrm>
              <a:off x="533400" y="2421255"/>
              <a:ext cx="6708458" cy="448628"/>
            </a:xfrm>
            <a:prstGeom prst="rect">
              <a:avLst/>
            </a:prstGeom>
            <a:solidFill>
              <a:srgbClr val="F4F6FB"/>
            </a:solidFill>
            <a:ln>
              <a:noFill/>
            </a:ln>
          </p:spPr>
        </p:sp>
        <p:sp>
          <p:nvSpPr>
            <p:cNvPr id="17" name="TextBox 17"/>
            <p:cNvSpPr txBox="1"/>
            <p:nvPr/>
          </p:nvSpPr>
          <p:spPr>
            <a:xfrm>
              <a:off x="641223" y="255698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判定覆盖</a:t>
              </a:r>
            </a:p>
          </p:txBody>
        </p:sp>
        <p:sp>
          <p:nvSpPr>
            <p:cNvPr id="18" name="TextBox 18"/>
            <p:cNvSpPr txBox="1"/>
            <p:nvPr/>
          </p:nvSpPr>
          <p:spPr>
            <a:xfrm>
              <a:off x="2117598" y="2556986"/>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每个判定的真、假分支各至少一次</a:t>
              </a:r>
            </a:p>
          </p:txBody>
        </p:sp>
        <p:sp>
          <p:nvSpPr>
            <p:cNvPr id="19" name="TextBox 19"/>
            <p:cNvSpPr txBox="1"/>
            <p:nvPr/>
          </p:nvSpPr>
          <p:spPr>
            <a:xfrm>
              <a:off x="5471351" y="255698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强于语句覆盖</a:t>
              </a:r>
            </a:p>
          </p:txBody>
        </p:sp>
        <p:sp>
          <p:nvSpPr>
            <p:cNvPr id="20" name="Rectangle 20"/>
            <p:cNvSpPr/>
            <p:nvPr/>
          </p:nvSpPr>
          <p:spPr>
            <a:xfrm>
              <a:off x="533400" y="2866072"/>
              <a:ext cx="6708458" cy="9525"/>
            </a:xfrm>
            <a:prstGeom prst="rect">
              <a:avLst/>
            </a:prstGeom>
            <a:solidFill>
              <a:srgbClr val="D9DFEA"/>
            </a:solidFill>
            <a:ln>
              <a:noFill/>
            </a:ln>
          </p:spPr>
        </p:sp>
        <p:sp>
          <p:nvSpPr>
            <p:cNvPr id="21" name="TextBox 21"/>
            <p:cNvSpPr txBox="1"/>
            <p:nvPr/>
          </p:nvSpPr>
          <p:spPr>
            <a:xfrm>
              <a:off x="641223" y="311896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条件覆盖</a:t>
              </a:r>
            </a:p>
          </p:txBody>
        </p:sp>
        <p:sp>
          <p:nvSpPr>
            <p:cNvPr id="22" name="TextBox 22"/>
            <p:cNvSpPr txBox="1"/>
            <p:nvPr/>
          </p:nvSpPr>
          <p:spPr>
            <a:xfrm>
              <a:off x="2117598" y="3118961"/>
              <a:ext cx="24253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每个条件的每种取值各至少一次</a:t>
              </a:r>
            </a:p>
          </p:txBody>
        </p:sp>
        <p:sp>
          <p:nvSpPr>
            <p:cNvPr id="23" name="TextBox 23"/>
            <p:cNvSpPr txBox="1"/>
            <p:nvPr/>
          </p:nvSpPr>
          <p:spPr>
            <a:xfrm>
              <a:off x="5471351" y="3005614"/>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通常强于判定覆盖，</a:t>
              </a:r>
              <a:br/>
              <a:r>
                <a:rPr lang="zh-CN" sz="1280" dirty="0">
                  <a:solidFill>
                    <a:srgbClr val="1F2937"/>
                  </a:solidFill>
                  <a:latin typeface="+mn-lt"/>
                  <a:ea typeface="+mn-ea"/>
                  <a:cs typeface="+mn-cs"/>
                </a:rPr>
                <a:t>但不一定包含它</a:t>
              </a:r>
            </a:p>
          </p:txBody>
        </p:sp>
        <p:sp>
          <p:nvSpPr>
            <p:cNvPr id="24" name="Rectangle 24"/>
            <p:cNvSpPr/>
            <p:nvPr/>
          </p:nvSpPr>
          <p:spPr>
            <a:xfrm>
              <a:off x="533400" y="3541395"/>
              <a:ext cx="6708458" cy="9525"/>
            </a:xfrm>
            <a:prstGeom prst="rect">
              <a:avLst/>
            </a:prstGeom>
            <a:solidFill>
              <a:srgbClr val="D9DFEA"/>
            </a:solidFill>
            <a:ln>
              <a:noFill/>
            </a:ln>
          </p:spPr>
        </p:sp>
        <p:sp>
          <p:nvSpPr>
            <p:cNvPr id="25" name="Rectangle 25"/>
            <p:cNvSpPr/>
            <p:nvPr/>
          </p:nvSpPr>
          <p:spPr>
            <a:xfrm>
              <a:off x="533400" y="3546158"/>
              <a:ext cx="6708458" cy="448628"/>
            </a:xfrm>
            <a:prstGeom prst="rect">
              <a:avLst/>
            </a:prstGeom>
            <a:solidFill>
              <a:srgbClr val="F4F6FB"/>
            </a:solidFill>
            <a:ln>
              <a:noFill/>
            </a:ln>
          </p:spPr>
        </p:sp>
        <p:sp>
          <p:nvSpPr>
            <p:cNvPr id="26" name="TextBox 26"/>
            <p:cNvSpPr txBox="1"/>
            <p:nvPr/>
          </p:nvSpPr>
          <p:spPr>
            <a:xfrm>
              <a:off x="641223" y="3680936"/>
              <a:ext cx="121914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判定／条件覆盖</a:t>
              </a:r>
            </a:p>
          </p:txBody>
        </p:sp>
        <p:sp>
          <p:nvSpPr>
            <p:cNvPr id="27" name="TextBox 27"/>
            <p:cNvSpPr txBox="1"/>
            <p:nvPr/>
          </p:nvSpPr>
          <p:spPr>
            <a:xfrm>
              <a:off x="2117598" y="3680936"/>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上面两条同时满足</a:t>
              </a:r>
            </a:p>
          </p:txBody>
        </p:sp>
        <p:sp>
          <p:nvSpPr>
            <p:cNvPr id="28" name="TextBox 28"/>
            <p:cNvSpPr txBox="1"/>
            <p:nvPr/>
          </p:nvSpPr>
          <p:spPr>
            <a:xfrm>
              <a:off x="5471351" y="368093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强于条件覆盖</a:t>
              </a:r>
            </a:p>
          </p:txBody>
        </p:sp>
        <p:sp>
          <p:nvSpPr>
            <p:cNvPr id="29" name="Rectangle 29"/>
            <p:cNvSpPr/>
            <p:nvPr/>
          </p:nvSpPr>
          <p:spPr>
            <a:xfrm>
              <a:off x="533400" y="3990022"/>
              <a:ext cx="6708458" cy="9525"/>
            </a:xfrm>
            <a:prstGeom prst="rect">
              <a:avLst/>
            </a:prstGeom>
            <a:solidFill>
              <a:srgbClr val="D9DFEA"/>
            </a:solidFill>
            <a:ln>
              <a:noFill/>
            </a:ln>
          </p:spPr>
        </p:sp>
        <p:sp>
          <p:nvSpPr>
            <p:cNvPr id="30" name="TextBox 30"/>
            <p:cNvSpPr txBox="1"/>
            <p:nvPr/>
          </p:nvSpPr>
          <p:spPr>
            <a:xfrm>
              <a:off x="641223" y="4130516"/>
              <a:ext cx="104683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条件组合覆盖</a:t>
              </a:r>
            </a:p>
          </p:txBody>
        </p:sp>
        <p:sp>
          <p:nvSpPr>
            <p:cNvPr id="31" name="TextBox 31"/>
            <p:cNvSpPr txBox="1"/>
            <p:nvPr/>
          </p:nvSpPr>
          <p:spPr>
            <a:xfrm>
              <a:off x="2117598" y="4130516"/>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每个判定中条件的所有组合各至少一次</a:t>
              </a:r>
            </a:p>
          </p:txBody>
        </p:sp>
        <p:sp>
          <p:nvSpPr>
            <p:cNvPr id="32" name="Rectangle 32"/>
            <p:cNvSpPr/>
            <p:nvPr/>
          </p:nvSpPr>
          <p:spPr>
            <a:xfrm>
              <a:off x="5373052" y="4004310"/>
              <a:ext cx="1859280" cy="429578"/>
            </a:xfrm>
            <a:prstGeom prst="rect">
              <a:avLst/>
            </a:prstGeom>
            <a:solidFill>
              <a:srgbClr val="E3F5F1"/>
            </a:solidFill>
            <a:ln>
              <a:noFill/>
            </a:ln>
          </p:spPr>
        </p:sp>
        <p:sp>
          <p:nvSpPr>
            <p:cNvPr id="33" name="TextBox 33"/>
            <p:cNvSpPr txBox="1"/>
            <p:nvPr/>
          </p:nvSpPr>
          <p:spPr>
            <a:xfrm>
              <a:off x="5471351" y="4130516"/>
              <a:ext cx="104683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前五种里最强</a:t>
              </a:r>
            </a:p>
          </p:txBody>
        </p:sp>
        <p:sp>
          <p:nvSpPr>
            <p:cNvPr id="34" name="Rectangle 34"/>
            <p:cNvSpPr/>
            <p:nvPr/>
          </p:nvSpPr>
          <p:spPr>
            <a:xfrm>
              <a:off x="533400" y="4438650"/>
              <a:ext cx="6708458" cy="9525"/>
            </a:xfrm>
            <a:prstGeom prst="rect">
              <a:avLst/>
            </a:prstGeom>
            <a:solidFill>
              <a:srgbClr val="D9DFEA"/>
            </a:solidFill>
            <a:ln>
              <a:noFill/>
            </a:ln>
          </p:spPr>
        </p:sp>
        <p:sp>
          <p:nvSpPr>
            <p:cNvPr id="35" name="Rectangle 35"/>
            <p:cNvSpPr/>
            <p:nvPr/>
          </p:nvSpPr>
          <p:spPr>
            <a:xfrm>
              <a:off x="533400" y="4443412"/>
              <a:ext cx="6708458" cy="675322"/>
            </a:xfrm>
            <a:prstGeom prst="rect">
              <a:avLst/>
            </a:prstGeom>
            <a:solidFill>
              <a:srgbClr val="F4F6FB"/>
            </a:solidFill>
            <a:ln>
              <a:noFill/>
            </a:ln>
          </p:spPr>
        </p:sp>
        <p:sp>
          <p:nvSpPr>
            <p:cNvPr id="36" name="TextBox 36"/>
            <p:cNvSpPr txBox="1"/>
            <p:nvPr/>
          </p:nvSpPr>
          <p:spPr>
            <a:xfrm>
              <a:off x="641223" y="469249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路径覆盖</a:t>
              </a:r>
            </a:p>
          </p:txBody>
        </p:sp>
        <p:sp>
          <p:nvSpPr>
            <p:cNvPr id="37" name="TextBox 37"/>
            <p:cNvSpPr txBox="1"/>
            <p:nvPr/>
          </p:nvSpPr>
          <p:spPr>
            <a:xfrm>
              <a:off x="2117598" y="4579144"/>
              <a:ext cx="29390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每条可能路径至少执行一次，有环则每个</a:t>
              </a:r>
              <a:br/>
              <a:r>
                <a:rPr lang="zh-CN" sz="1280" dirty="0">
                  <a:solidFill>
                    <a:srgbClr val="1F2937"/>
                  </a:solidFill>
                  <a:latin typeface="+mn-lt"/>
                  <a:ea typeface="+mn-ea"/>
                  <a:cs typeface="+mn-cs"/>
                </a:rPr>
                <a:t>环至少经过一次</a:t>
              </a:r>
            </a:p>
          </p:txBody>
        </p:sp>
        <p:sp>
          <p:nvSpPr>
            <p:cNvPr id="38" name="TextBox 38"/>
            <p:cNvSpPr txBox="1"/>
            <p:nvPr/>
          </p:nvSpPr>
          <p:spPr>
            <a:xfrm>
              <a:off x="5471351" y="4579144"/>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与条件组合覆盖互不</a:t>
              </a:r>
              <a:br/>
              <a:r>
                <a:rPr lang="zh-CN" sz="1280" dirty="0">
                  <a:solidFill>
                    <a:srgbClr val="1F2937"/>
                  </a:solidFill>
                  <a:latin typeface="+mn-lt"/>
                  <a:ea typeface="+mn-ea"/>
                  <a:cs typeface="+mn-cs"/>
                </a:rPr>
                <a:t>包含</a:t>
              </a:r>
            </a:p>
          </p:txBody>
        </p:sp>
        <p:sp>
          <p:nvSpPr>
            <p:cNvPr id="39" name="Rectangle 39"/>
            <p:cNvSpPr/>
            <p:nvPr/>
          </p:nvSpPr>
          <p:spPr>
            <a:xfrm>
              <a:off x="533400" y="1524000"/>
              <a:ext cx="6708458" cy="3594735"/>
            </a:xfrm>
            <a:prstGeom prst="rect">
              <a:avLst/>
            </a:prstGeom>
            <a:noFill/>
            <a:ln w="14288">
              <a:solidFill>
                <a:srgbClr val="D9DFEA"/>
              </a:solidFill>
            </a:ln>
          </p:spPr>
        </p:sp>
        <p:sp>
          <p:nvSpPr>
            <p:cNvPr id="40" name="Rectangle 40"/>
            <p:cNvSpPr/>
            <p:nvPr/>
          </p:nvSpPr>
          <p:spPr>
            <a:xfrm>
              <a:off x="2005012" y="1524000"/>
              <a:ext cx="9525" cy="3594735"/>
            </a:xfrm>
            <a:prstGeom prst="rect">
              <a:avLst/>
            </a:prstGeom>
            <a:solidFill>
              <a:srgbClr val="D9DFEA"/>
            </a:solidFill>
            <a:ln>
              <a:noFill/>
            </a:ln>
          </p:spPr>
        </p:sp>
        <p:sp>
          <p:nvSpPr>
            <p:cNvPr id="41" name="Rectangle 41"/>
            <p:cNvSpPr/>
            <p:nvPr/>
          </p:nvSpPr>
          <p:spPr>
            <a:xfrm>
              <a:off x="5358765" y="1524000"/>
              <a:ext cx="9525" cy="3594735"/>
            </a:xfrm>
            <a:prstGeom prst="rect">
              <a:avLst/>
            </a:prstGeom>
            <a:solidFill>
              <a:srgbClr val="D9DFEA"/>
            </a:solidFill>
            <a:ln>
              <a:noFill/>
            </a:ln>
          </p:spPr>
        </p:sp>
      </p:grpSp>
      <p:grpSp>
        <p:nvGrpSpPr>
          <p:cNvPr id="48" name="c2-kv-1"/>
          <p:cNvGrpSpPr/>
          <p:nvPr/>
        </p:nvGrpSpPr>
        <p:grpSpPr>
          <a:xfrm>
            <a:off x="7539038" y="1548765"/>
            <a:ext cx="4119562" cy="1579245"/>
            <a:chOff x="7539038" y="1548765"/>
            <a:chExt cx="4119562" cy="1579245"/>
          </a:xfrm>
        </p:grpSpPr>
        <p:sp>
          <p:nvSpPr>
            <p:cNvPr id="43" name="TextBox 43"/>
            <p:cNvSpPr txBox="1"/>
            <p:nvPr/>
          </p:nvSpPr>
          <p:spPr>
            <a:xfrm>
              <a:off x="7539038" y="1548765"/>
              <a:ext cx="62103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点覆盖</a:t>
              </a:r>
            </a:p>
          </p:txBody>
        </p:sp>
        <p:sp>
          <p:nvSpPr>
            <p:cNvPr id="44" name="TextBox 44"/>
            <p:cNvSpPr txBox="1"/>
            <p:nvPr/>
          </p:nvSpPr>
          <p:spPr>
            <a:xfrm>
              <a:off x="8382000" y="1548765"/>
              <a:ext cx="3063240" cy="85725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执行路径至少经过流图的每个结点一</a:t>
              </a:r>
              <a:br/>
              <a:r>
                <a:rPr lang="zh-CN" sz="1500" dirty="0">
                  <a:solidFill>
                    <a:srgbClr val="1F2937"/>
                  </a:solidFill>
                  <a:latin typeface="+mn-lt"/>
                  <a:ea typeface="+mn-ea"/>
                  <a:cs typeface="+mn-cs"/>
                </a:rPr>
                <a:t>次；一个结点对应一条或多条语句，</a:t>
              </a:r>
              <a:br/>
              <a:r>
                <a:rPr lang="zh-CN" sz="1500" dirty="0">
                  <a:solidFill>
                    <a:srgbClr val="1F2937"/>
                  </a:solidFill>
                  <a:latin typeface="+mn-lt"/>
                  <a:ea typeface="+mn-ea"/>
                  <a:cs typeface="+mn-cs"/>
                </a:rPr>
                <a:t>所以点覆盖与语句覆盖相同</a:t>
              </a:r>
            </a:p>
          </p:txBody>
        </p:sp>
        <p:sp>
          <p:nvSpPr>
            <p:cNvPr id="45" name="Rectangle 45"/>
            <p:cNvSpPr/>
            <p:nvPr/>
          </p:nvSpPr>
          <p:spPr>
            <a:xfrm>
              <a:off x="7546658" y="2432685"/>
              <a:ext cx="4111942" cy="9525"/>
            </a:xfrm>
            <a:prstGeom prst="rect">
              <a:avLst/>
            </a:prstGeom>
            <a:solidFill>
              <a:srgbClr val="D9DFEA"/>
            </a:solidFill>
            <a:ln>
              <a:noFill/>
            </a:ln>
          </p:spPr>
        </p:sp>
        <p:sp>
          <p:nvSpPr>
            <p:cNvPr id="46" name="TextBox 46"/>
            <p:cNvSpPr txBox="1"/>
            <p:nvPr/>
          </p:nvSpPr>
          <p:spPr>
            <a:xfrm>
              <a:off x="7539038" y="2552700"/>
              <a:ext cx="62103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边覆盖</a:t>
              </a:r>
            </a:p>
          </p:txBody>
        </p:sp>
        <p:sp>
          <p:nvSpPr>
            <p:cNvPr id="47" name="TextBox 47"/>
            <p:cNvSpPr txBox="1"/>
            <p:nvPr/>
          </p:nvSpPr>
          <p:spPr>
            <a:xfrm>
              <a:off x="8382000" y="2552700"/>
              <a:ext cx="2872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执行路径至少经过流图中每条边一</a:t>
              </a:r>
              <a:br/>
              <a:r>
                <a:rPr lang="zh-CN" sz="1500" dirty="0">
                  <a:solidFill>
                    <a:srgbClr val="1F2937"/>
                  </a:solidFill>
                  <a:latin typeface="+mn-lt"/>
                  <a:ea typeface="+mn-ea"/>
                  <a:cs typeface="+mn-cs"/>
                </a:rPr>
                <a:t>次；通常边覆盖与判定覆盖一致</a:t>
              </a:r>
            </a:p>
          </p:txBody>
        </p:sp>
      </p:grpSp>
      <p:grpSp>
        <p:nvGrpSpPr>
          <p:cNvPr id="54" name="c2-callout-2"/>
          <p:cNvGrpSpPr/>
          <p:nvPr/>
        </p:nvGrpSpPr>
        <p:grpSpPr>
          <a:xfrm>
            <a:off x="7546658" y="3259455"/>
            <a:ext cx="4111942" cy="1859280"/>
            <a:chOff x="7546658" y="3259455"/>
            <a:chExt cx="4111942" cy="1859280"/>
          </a:xfrm>
        </p:grpSpPr>
        <p:sp>
          <p:nvSpPr>
            <p:cNvPr id="49" name="Rectangle 49"/>
            <p:cNvSpPr/>
            <p:nvPr/>
          </p:nvSpPr>
          <p:spPr>
            <a:xfrm>
              <a:off x="7546658" y="3259455"/>
              <a:ext cx="4111942" cy="1859280"/>
            </a:xfrm>
            <a:prstGeom prst="roundRect">
              <a:avLst>
                <a:gd name="adj" fmla="val 6148"/>
              </a:avLst>
            </a:prstGeom>
            <a:solidFill>
              <a:srgbClr val="334E68"/>
            </a:solidFill>
            <a:ln>
              <a:noFill/>
            </a:ln>
          </p:spPr>
        </p:sp>
        <p:grpSp>
          <p:nvGrpSpPr>
            <p:cNvPr id="52" name="Group 52"/>
            <p:cNvGrpSpPr/>
            <p:nvPr/>
          </p:nvGrpSpPr>
          <p:grpSpPr>
            <a:xfrm>
              <a:off x="7751445" y="4089085"/>
              <a:ext cx="200023" cy="200023"/>
              <a:chOff x="7751445" y="4089085"/>
              <a:chExt cx="200023" cy="200023"/>
            </a:xfrm>
          </p:grpSpPr>
          <p:sp>
            <p:nvSpPr>
              <p:cNvPr id="50" name="Freeform 50"/>
              <p:cNvSpPr/>
              <p:nvPr/>
            </p:nvSpPr>
            <p:spPr>
              <a:xfrm>
                <a:off x="7751445" y="408908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1" name="Freeform 51"/>
              <p:cNvSpPr/>
              <p:nvPr/>
            </p:nvSpPr>
            <p:spPr>
              <a:xfrm>
                <a:off x="7884795" y="415575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3" name="TextBox 53"/>
            <p:cNvSpPr txBox="1"/>
            <p:nvPr/>
          </p:nvSpPr>
          <p:spPr>
            <a:xfrm>
              <a:off x="8053388" y="3808095"/>
              <a:ext cx="32537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条件组合覆盖最强，但满足它的数据仍</a:t>
              </a:r>
              <a:br/>
              <a:r>
                <a:rPr lang="zh-CN" sz="1500" dirty="0">
                  <a:solidFill>
                    <a:srgbClr val="FFFFFF"/>
                  </a:solidFill>
                  <a:latin typeface="+mn-lt"/>
                  <a:ea typeface="+mn-ea"/>
                  <a:cs typeface="+mn-cs"/>
                </a:rPr>
                <a:t>不一定走遍每条路径；路径覆盖走遍路</a:t>
              </a:r>
              <a:br/>
              <a:r>
                <a:rPr lang="zh-CN" sz="1500" dirty="0">
                  <a:solidFill>
                    <a:srgbClr val="FFFFFF"/>
                  </a:solidFill>
                  <a:latin typeface="+mn-lt"/>
                  <a:ea typeface="+mn-ea"/>
                  <a:cs typeface="+mn-cs"/>
                </a:rPr>
                <a:t>径，却不保证条件组合齐全。</a:t>
              </a:r>
            </a:p>
          </p:txBody>
        </p:sp>
      </p:grpSp>
      <p:grpSp>
        <p:nvGrpSpPr>
          <p:cNvPr id="60" name="takeaway"/>
          <p:cNvGrpSpPr/>
          <p:nvPr/>
        </p:nvGrpSpPr>
        <p:grpSpPr>
          <a:xfrm>
            <a:off x="533400" y="5579745"/>
            <a:ext cx="11125200" cy="782955"/>
            <a:chOff x="533400" y="5579745"/>
            <a:chExt cx="11125200" cy="782955"/>
          </a:xfrm>
        </p:grpSpPr>
        <p:sp>
          <p:nvSpPr>
            <p:cNvPr id="55" name="Rectangle 55"/>
            <p:cNvSpPr/>
            <p:nvPr/>
          </p:nvSpPr>
          <p:spPr>
            <a:xfrm>
              <a:off x="533400" y="5579745"/>
              <a:ext cx="11125200" cy="782955"/>
            </a:xfrm>
            <a:prstGeom prst="roundRect">
              <a:avLst>
                <a:gd name="adj" fmla="val 14599"/>
              </a:avLst>
            </a:prstGeom>
            <a:solidFill>
              <a:srgbClr val="334E68"/>
            </a:solidFill>
            <a:ln>
              <a:noFill/>
            </a:ln>
          </p:spPr>
        </p:sp>
        <p:grpSp>
          <p:nvGrpSpPr>
            <p:cNvPr id="58" name="Group 58"/>
            <p:cNvGrpSpPr/>
            <p:nvPr/>
          </p:nvGrpSpPr>
          <p:grpSpPr>
            <a:xfrm>
              <a:off x="738188" y="5871212"/>
              <a:ext cx="200023" cy="200023"/>
              <a:chOff x="738188" y="5871212"/>
              <a:chExt cx="200023" cy="200023"/>
            </a:xfrm>
          </p:grpSpPr>
          <p:sp>
            <p:nvSpPr>
              <p:cNvPr id="56" name="Freeform 56"/>
              <p:cNvSpPr/>
              <p:nvPr/>
            </p:nvSpPr>
            <p:spPr>
              <a:xfrm>
                <a:off x="738188" y="58712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7" name="Freeform 57"/>
              <p:cNvSpPr/>
              <p:nvPr/>
            </p:nvSpPr>
            <p:spPr>
              <a:xfrm>
                <a:off x="871538" y="59378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9" name="TextBox 59"/>
            <p:cNvSpPr txBox="1"/>
            <p:nvPr/>
          </p:nvSpPr>
          <p:spPr>
            <a:xfrm>
              <a:off x="1040130" y="5728335"/>
              <a:ext cx="98164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记强弱关系时抓住一条线：语句 → 判定 → 判定／条件 → 条件组合，逐级变强；条件覆盖和路径覆盖各自旁挂在这条线</a:t>
              </a:r>
              <a:br/>
              <a:r>
                <a:rPr lang="zh-CN" sz="1500" dirty="0">
                  <a:solidFill>
                    <a:srgbClr val="FFFFFF"/>
                  </a:solidFill>
                  <a:latin typeface="+mn-lt"/>
                  <a:ea typeface="+mn-ea"/>
                  <a:cs typeface="+mn-cs"/>
                </a:rPr>
                <a:t>外面，和其他标准互不包含。</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例题：为盒图程序设计语句覆盖和条件覆盖方案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9" name="c1-flow-1"/>
          <p:cNvGrpSpPr/>
          <p:nvPr/>
        </p:nvGrpSpPr>
        <p:grpSpPr>
          <a:xfrm>
            <a:off x="684848" y="1720215"/>
            <a:ext cx="4025265" cy="4351973"/>
            <a:chOff x="684848" y="1720215"/>
            <a:chExt cx="4025265" cy="4351973"/>
          </a:xfrm>
        </p:grpSpPr>
        <p:sp>
          <p:nvSpPr>
            <p:cNvPr id="7" name="Freeform 7"/>
            <p:cNvSpPr/>
            <p:nvPr/>
          </p:nvSpPr>
          <p:spPr>
            <a:xfrm>
              <a:off x="2697480" y="2118360"/>
              <a:ext cx="9525" cy="199073"/>
            </a:xfrm>
            <a:custGeom>
              <a:avLst/>
              <a:gdLst/>
              <a:ahLst/>
              <a:cxnLst/>
              <a:rect l="l" t="t" r="r" b="b"/>
              <a:pathLst>
                <a:path w="9525" h="199073">
                  <a:moveTo>
                    <a:pt x="0" y="0"/>
                  </a:moveTo>
                  <a:lnTo>
                    <a:pt x="0" y="199073"/>
                  </a:lnTo>
                </a:path>
              </a:pathLst>
            </a:custGeom>
            <a:noFill/>
            <a:ln w="15240">
              <a:solidFill>
                <a:srgbClr val="5B6475"/>
              </a:solidFill>
            </a:ln>
          </p:spPr>
        </p:sp>
        <p:sp>
          <p:nvSpPr>
            <p:cNvPr id="8" name="Freeform 8"/>
            <p:cNvSpPr/>
            <p:nvPr/>
          </p:nvSpPr>
          <p:spPr>
            <a:xfrm>
              <a:off x="2645092" y="231743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1615440" y="2997518"/>
              <a:ext cx="1082040" cy="199073"/>
            </a:xfrm>
            <a:custGeom>
              <a:avLst/>
              <a:gdLst/>
              <a:ahLst/>
              <a:cxnLst/>
              <a:rect l="l" t="t" r="r" b="b"/>
              <a:pathLst>
                <a:path w="1082040" h="199073">
                  <a:moveTo>
                    <a:pt x="1082040" y="0"/>
                  </a:moveTo>
                  <a:lnTo>
                    <a:pt x="1082040" y="151448"/>
                  </a:lnTo>
                  <a:lnTo>
                    <a:pt x="0" y="151448"/>
                  </a:lnTo>
                  <a:lnTo>
                    <a:pt x="0" y="199073"/>
                  </a:lnTo>
                </a:path>
              </a:pathLst>
            </a:custGeom>
            <a:noFill/>
            <a:ln w="15240">
              <a:solidFill>
                <a:srgbClr val="5B6475"/>
              </a:solidFill>
            </a:ln>
          </p:spPr>
        </p:sp>
        <p:sp>
          <p:nvSpPr>
            <p:cNvPr id="10" name="Freeform 10"/>
            <p:cNvSpPr/>
            <p:nvPr/>
          </p:nvSpPr>
          <p:spPr>
            <a:xfrm>
              <a:off x="1563052" y="319659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2697480" y="2997518"/>
              <a:ext cx="1082040" cy="199073"/>
            </a:xfrm>
            <a:custGeom>
              <a:avLst/>
              <a:gdLst/>
              <a:ahLst/>
              <a:cxnLst/>
              <a:rect l="l" t="t" r="r" b="b"/>
              <a:pathLst>
                <a:path w="1082040" h="199073">
                  <a:moveTo>
                    <a:pt x="0" y="0"/>
                  </a:moveTo>
                  <a:lnTo>
                    <a:pt x="0" y="151448"/>
                  </a:lnTo>
                  <a:lnTo>
                    <a:pt x="1082040" y="151448"/>
                  </a:lnTo>
                  <a:lnTo>
                    <a:pt x="1082040" y="199073"/>
                  </a:lnTo>
                </a:path>
              </a:pathLst>
            </a:custGeom>
            <a:noFill/>
            <a:ln w="15240">
              <a:solidFill>
                <a:srgbClr val="5B6475"/>
              </a:solidFill>
            </a:ln>
          </p:spPr>
        </p:sp>
        <p:sp>
          <p:nvSpPr>
            <p:cNvPr id="12" name="Freeform 12"/>
            <p:cNvSpPr/>
            <p:nvPr/>
          </p:nvSpPr>
          <p:spPr>
            <a:xfrm>
              <a:off x="3727132" y="319659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1615440" y="3699510"/>
              <a:ext cx="1082040" cy="199073"/>
            </a:xfrm>
            <a:custGeom>
              <a:avLst/>
              <a:gdLst/>
              <a:ahLst/>
              <a:cxnLst/>
              <a:rect l="l" t="t" r="r" b="b"/>
              <a:pathLst>
                <a:path w="1082040" h="199073">
                  <a:moveTo>
                    <a:pt x="0" y="0"/>
                  </a:moveTo>
                  <a:lnTo>
                    <a:pt x="0" y="152400"/>
                  </a:lnTo>
                  <a:lnTo>
                    <a:pt x="1082040" y="152400"/>
                  </a:lnTo>
                  <a:lnTo>
                    <a:pt x="1082040" y="199073"/>
                  </a:lnTo>
                </a:path>
              </a:pathLst>
            </a:custGeom>
            <a:noFill/>
            <a:ln w="15240">
              <a:solidFill>
                <a:srgbClr val="5B6475"/>
              </a:solidFill>
            </a:ln>
          </p:spPr>
        </p:sp>
        <p:sp>
          <p:nvSpPr>
            <p:cNvPr id="14" name="Freeform 14"/>
            <p:cNvSpPr/>
            <p:nvPr/>
          </p:nvSpPr>
          <p:spPr>
            <a:xfrm>
              <a:off x="2645092" y="389858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2697480" y="3699510"/>
              <a:ext cx="1082040" cy="199073"/>
            </a:xfrm>
            <a:custGeom>
              <a:avLst/>
              <a:gdLst/>
              <a:ahLst/>
              <a:cxnLst/>
              <a:rect l="l" t="t" r="r" b="b"/>
              <a:pathLst>
                <a:path w="1082040" h="199073">
                  <a:moveTo>
                    <a:pt x="1082040" y="0"/>
                  </a:moveTo>
                  <a:lnTo>
                    <a:pt x="1082040" y="152400"/>
                  </a:lnTo>
                  <a:lnTo>
                    <a:pt x="0" y="152400"/>
                  </a:lnTo>
                  <a:lnTo>
                    <a:pt x="0" y="199073"/>
                  </a:lnTo>
                </a:path>
              </a:pathLst>
            </a:custGeom>
            <a:noFill/>
            <a:ln w="15240">
              <a:solidFill>
                <a:srgbClr val="5B6475"/>
              </a:solidFill>
            </a:ln>
          </p:spPr>
        </p:sp>
        <p:sp>
          <p:nvSpPr>
            <p:cNvPr id="16" name="Freeform 16"/>
            <p:cNvSpPr/>
            <p:nvPr/>
          </p:nvSpPr>
          <p:spPr>
            <a:xfrm>
              <a:off x="2645092" y="389858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Freeform 17"/>
            <p:cNvSpPr/>
            <p:nvPr/>
          </p:nvSpPr>
          <p:spPr>
            <a:xfrm>
              <a:off x="1615440" y="4578668"/>
              <a:ext cx="1082040" cy="199073"/>
            </a:xfrm>
            <a:custGeom>
              <a:avLst/>
              <a:gdLst/>
              <a:ahLst/>
              <a:cxnLst/>
              <a:rect l="l" t="t" r="r" b="b"/>
              <a:pathLst>
                <a:path w="1082040" h="199073">
                  <a:moveTo>
                    <a:pt x="1082040" y="0"/>
                  </a:moveTo>
                  <a:lnTo>
                    <a:pt x="1082040" y="151448"/>
                  </a:lnTo>
                  <a:lnTo>
                    <a:pt x="0" y="151448"/>
                  </a:lnTo>
                  <a:lnTo>
                    <a:pt x="0" y="199073"/>
                  </a:lnTo>
                </a:path>
              </a:pathLst>
            </a:custGeom>
            <a:noFill/>
            <a:ln w="15240">
              <a:solidFill>
                <a:srgbClr val="5B6475"/>
              </a:solidFill>
            </a:ln>
          </p:spPr>
        </p:sp>
        <p:sp>
          <p:nvSpPr>
            <p:cNvPr id="18" name="Freeform 18"/>
            <p:cNvSpPr/>
            <p:nvPr/>
          </p:nvSpPr>
          <p:spPr>
            <a:xfrm>
              <a:off x="1563052" y="47777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9" name="Freeform 19"/>
            <p:cNvSpPr/>
            <p:nvPr/>
          </p:nvSpPr>
          <p:spPr>
            <a:xfrm>
              <a:off x="2697480" y="4578668"/>
              <a:ext cx="1082040" cy="199073"/>
            </a:xfrm>
            <a:custGeom>
              <a:avLst/>
              <a:gdLst/>
              <a:ahLst/>
              <a:cxnLst/>
              <a:rect l="l" t="t" r="r" b="b"/>
              <a:pathLst>
                <a:path w="1082040" h="199073">
                  <a:moveTo>
                    <a:pt x="0" y="0"/>
                  </a:moveTo>
                  <a:lnTo>
                    <a:pt x="0" y="151448"/>
                  </a:lnTo>
                  <a:lnTo>
                    <a:pt x="1082040" y="151448"/>
                  </a:lnTo>
                  <a:lnTo>
                    <a:pt x="1082040" y="199073"/>
                  </a:lnTo>
                </a:path>
              </a:pathLst>
            </a:custGeom>
            <a:noFill/>
            <a:ln w="15240">
              <a:solidFill>
                <a:srgbClr val="5B6475"/>
              </a:solidFill>
            </a:ln>
          </p:spPr>
        </p:sp>
        <p:sp>
          <p:nvSpPr>
            <p:cNvPr id="20" name="Freeform 20"/>
            <p:cNvSpPr/>
            <p:nvPr/>
          </p:nvSpPr>
          <p:spPr>
            <a:xfrm>
              <a:off x="3727132" y="47777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1" name="Freeform 21"/>
            <p:cNvSpPr/>
            <p:nvPr/>
          </p:nvSpPr>
          <p:spPr>
            <a:xfrm>
              <a:off x="1615440" y="5280660"/>
              <a:ext cx="1082040" cy="287655"/>
            </a:xfrm>
            <a:custGeom>
              <a:avLst/>
              <a:gdLst/>
              <a:ahLst/>
              <a:cxnLst/>
              <a:rect l="l" t="t" r="r" b="b"/>
              <a:pathLst>
                <a:path w="1082040" h="287655">
                  <a:moveTo>
                    <a:pt x="0" y="0"/>
                  </a:moveTo>
                  <a:lnTo>
                    <a:pt x="0" y="196215"/>
                  </a:lnTo>
                  <a:lnTo>
                    <a:pt x="1082040" y="196215"/>
                  </a:lnTo>
                  <a:lnTo>
                    <a:pt x="1082040" y="287655"/>
                  </a:lnTo>
                </a:path>
              </a:pathLst>
            </a:custGeom>
            <a:noFill/>
            <a:ln w="15240">
              <a:solidFill>
                <a:srgbClr val="5B6475"/>
              </a:solidFill>
            </a:ln>
          </p:spPr>
        </p:sp>
        <p:sp>
          <p:nvSpPr>
            <p:cNvPr id="22" name="Freeform 22"/>
            <p:cNvSpPr/>
            <p:nvPr/>
          </p:nvSpPr>
          <p:spPr>
            <a:xfrm>
              <a:off x="2645092" y="556831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3" name="Freeform 23"/>
            <p:cNvSpPr/>
            <p:nvPr/>
          </p:nvSpPr>
          <p:spPr>
            <a:xfrm>
              <a:off x="2697480" y="5280660"/>
              <a:ext cx="1082040" cy="287655"/>
            </a:xfrm>
            <a:custGeom>
              <a:avLst/>
              <a:gdLst/>
              <a:ahLst/>
              <a:cxnLst/>
              <a:rect l="l" t="t" r="r" b="b"/>
              <a:pathLst>
                <a:path w="1082040" h="287655">
                  <a:moveTo>
                    <a:pt x="1082040" y="0"/>
                  </a:moveTo>
                  <a:lnTo>
                    <a:pt x="1082040" y="196215"/>
                  </a:lnTo>
                  <a:lnTo>
                    <a:pt x="0" y="196215"/>
                  </a:lnTo>
                  <a:lnTo>
                    <a:pt x="0" y="287655"/>
                  </a:lnTo>
                </a:path>
              </a:pathLst>
            </a:custGeom>
            <a:noFill/>
            <a:ln w="15240">
              <a:solidFill>
                <a:srgbClr val="5B6475"/>
              </a:solidFill>
            </a:ln>
          </p:spPr>
        </p:sp>
        <p:sp>
          <p:nvSpPr>
            <p:cNvPr id="24" name="Freeform 24"/>
            <p:cNvSpPr/>
            <p:nvPr/>
          </p:nvSpPr>
          <p:spPr>
            <a:xfrm>
              <a:off x="2645092" y="556831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5" name="Freeform 25"/>
            <p:cNvSpPr/>
            <p:nvPr/>
          </p:nvSpPr>
          <p:spPr>
            <a:xfrm>
              <a:off x="836295" y="1720215"/>
              <a:ext cx="3722370" cy="398145"/>
            </a:xfrm>
            <a:custGeom>
              <a:avLst/>
              <a:gdLst/>
              <a:ahLst/>
              <a:cxnLst/>
              <a:rect l="l" t="t" r="r" b="b"/>
              <a:pathLst>
                <a:path w="3722370" h="398145">
                  <a:moveTo>
                    <a:pt x="133350" y="0"/>
                  </a:moveTo>
                  <a:lnTo>
                    <a:pt x="3722370" y="0"/>
                  </a:lnTo>
                  <a:lnTo>
                    <a:pt x="3589020" y="398145"/>
                  </a:lnTo>
                  <a:lnTo>
                    <a:pt x="0" y="398145"/>
                  </a:lnTo>
                  <a:close/>
                </a:path>
              </a:pathLst>
            </a:custGeom>
            <a:solidFill>
              <a:srgbClr val="E7EDF3"/>
            </a:solidFill>
            <a:ln w="13335">
              <a:solidFill>
                <a:srgbClr val="334E68"/>
              </a:solidFill>
            </a:ln>
          </p:spPr>
        </p:sp>
        <p:sp>
          <p:nvSpPr>
            <p:cNvPr id="26" name="Freeform 26"/>
            <p:cNvSpPr/>
            <p:nvPr/>
          </p:nvSpPr>
          <p:spPr>
            <a:xfrm>
              <a:off x="836295" y="2422208"/>
              <a:ext cx="3722370" cy="575310"/>
            </a:xfrm>
            <a:custGeom>
              <a:avLst/>
              <a:gdLst/>
              <a:ahLst/>
              <a:cxnLst/>
              <a:rect l="l" t="t" r="r" b="b"/>
              <a:pathLst>
                <a:path w="3722370" h="575310">
                  <a:moveTo>
                    <a:pt x="1861185" y="0"/>
                  </a:moveTo>
                  <a:lnTo>
                    <a:pt x="3722370" y="287655"/>
                  </a:lnTo>
                  <a:lnTo>
                    <a:pt x="1861185" y="575310"/>
                  </a:lnTo>
                  <a:lnTo>
                    <a:pt x="0" y="287655"/>
                  </a:lnTo>
                  <a:close/>
                </a:path>
              </a:pathLst>
            </a:custGeom>
            <a:solidFill>
              <a:srgbClr val="FDEEE7"/>
            </a:solidFill>
            <a:ln w="15240">
              <a:solidFill>
                <a:srgbClr val="F26B3A"/>
              </a:solidFill>
            </a:ln>
          </p:spPr>
        </p:sp>
        <p:sp>
          <p:nvSpPr>
            <p:cNvPr id="27" name="Rectangle 27"/>
            <p:cNvSpPr/>
            <p:nvPr/>
          </p:nvSpPr>
          <p:spPr>
            <a:xfrm>
              <a:off x="684848" y="3301365"/>
              <a:ext cx="1861185" cy="399098"/>
            </a:xfrm>
            <a:prstGeom prst="roundRect">
              <a:avLst>
                <a:gd name="adj" fmla="val 23866"/>
              </a:avLst>
            </a:prstGeom>
            <a:solidFill>
              <a:srgbClr val="FFFFFF"/>
            </a:solidFill>
            <a:ln w="15240">
              <a:solidFill>
                <a:srgbClr val="334E68"/>
              </a:solidFill>
            </a:ln>
          </p:spPr>
        </p:sp>
        <p:sp>
          <p:nvSpPr>
            <p:cNvPr id="28" name="Rectangle 28"/>
            <p:cNvSpPr/>
            <p:nvPr/>
          </p:nvSpPr>
          <p:spPr>
            <a:xfrm>
              <a:off x="2848928" y="3301365"/>
              <a:ext cx="1861185" cy="399098"/>
            </a:xfrm>
            <a:prstGeom prst="roundRect">
              <a:avLst>
                <a:gd name="adj" fmla="val 23866"/>
              </a:avLst>
            </a:prstGeom>
            <a:solidFill>
              <a:srgbClr val="FFFFFF"/>
            </a:solidFill>
            <a:ln w="15240">
              <a:solidFill>
                <a:srgbClr val="334E68"/>
              </a:solidFill>
            </a:ln>
          </p:spPr>
        </p:sp>
        <p:sp>
          <p:nvSpPr>
            <p:cNvPr id="29" name="Freeform 29"/>
            <p:cNvSpPr/>
            <p:nvPr/>
          </p:nvSpPr>
          <p:spPr>
            <a:xfrm>
              <a:off x="836295" y="4003358"/>
              <a:ext cx="3722370" cy="575310"/>
            </a:xfrm>
            <a:custGeom>
              <a:avLst/>
              <a:gdLst/>
              <a:ahLst/>
              <a:cxnLst/>
              <a:rect l="l" t="t" r="r" b="b"/>
              <a:pathLst>
                <a:path w="3722370" h="575310">
                  <a:moveTo>
                    <a:pt x="1861185" y="0"/>
                  </a:moveTo>
                  <a:lnTo>
                    <a:pt x="3722370" y="287655"/>
                  </a:lnTo>
                  <a:lnTo>
                    <a:pt x="1861185" y="575310"/>
                  </a:lnTo>
                  <a:lnTo>
                    <a:pt x="0" y="287655"/>
                  </a:lnTo>
                  <a:close/>
                </a:path>
              </a:pathLst>
            </a:custGeom>
            <a:solidFill>
              <a:srgbClr val="FDEEE7"/>
            </a:solidFill>
            <a:ln w="15240">
              <a:solidFill>
                <a:srgbClr val="F26B3A"/>
              </a:solidFill>
            </a:ln>
          </p:spPr>
        </p:sp>
        <p:sp>
          <p:nvSpPr>
            <p:cNvPr id="30" name="Rectangle 30"/>
            <p:cNvSpPr/>
            <p:nvPr/>
          </p:nvSpPr>
          <p:spPr>
            <a:xfrm>
              <a:off x="684848" y="4882515"/>
              <a:ext cx="1861185" cy="399098"/>
            </a:xfrm>
            <a:prstGeom prst="roundRect">
              <a:avLst>
                <a:gd name="adj" fmla="val 23866"/>
              </a:avLst>
            </a:prstGeom>
            <a:solidFill>
              <a:srgbClr val="FFFFFF"/>
            </a:solidFill>
            <a:ln w="15240">
              <a:solidFill>
                <a:srgbClr val="334E68"/>
              </a:solidFill>
            </a:ln>
          </p:spPr>
        </p:sp>
        <p:sp>
          <p:nvSpPr>
            <p:cNvPr id="31" name="Rectangle 31"/>
            <p:cNvSpPr/>
            <p:nvPr/>
          </p:nvSpPr>
          <p:spPr>
            <a:xfrm>
              <a:off x="2848928" y="4882515"/>
              <a:ext cx="1861185" cy="399098"/>
            </a:xfrm>
            <a:prstGeom prst="roundRect">
              <a:avLst>
                <a:gd name="adj" fmla="val 23866"/>
              </a:avLst>
            </a:prstGeom>
            <a:solidFill>
              <a:srgbClr val="FFFFFF"/>
            </a:solidFill>
            <a:ln w="15240">
              <a:solidFill>
                <a:srgbClr val="334E68"/>
              </a:solidFill>
            </a:ln>
          </p:spPr>
        </p:sp>
        <p:sp>
          <p:nvSpPr>
            <p:cNvPr id="32" name="Rectangle 32"/>
            <p:cNvSpPr/>
            <p:nvPr/>
          </p:nvSpPr>
          <p:spPr>
            <a:xfrm>
              <a:off x="836295" y="5673090"/>
              <a:ext cx="3722370" cy="399098"/>
            </a:xfrm>
            <a:prstGeom prst="roundRect">
              <a:avLst>
                <a:gd name="adj" fmla="val 49881"/>
              </a:avLst>
            </a:prstGeom>
            <a:solidFill>
              <a:srgbClr val="334E68"/>
            </a:solidFill>
            <a:ln>
              <a:noFill/>
            </a:ln>
          </p:spPr>
        </p:sp>
        <p:sp>
          <p:nvSpPr>
            <p:cNvPr id="33" name="TextBox 33"/>
            <p:cNvSpPr txBox="1"/>
            <p:nvPr/>
          </p:nvSpPr>
          <p:spPr>
            <a:xfrm>
              <a:off x="2115693" y="1840706"/>
              <a:ext cx="1163574"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输入 A、B、C、D</a:t>
              </a:r>
            </a:p>
          </p:txBody>
        </p:sp>
        <p:sp>
          <p:nvSpPr>
            <p:cNvPr id="34" name="TextBox 34"/>
            <p:cNvSpPr txBox="1"/>
            <p:nvPr/>
          </p:nvSpPr>
          <p:spPr>
            <a:xfrm>
              <a:off x="2094286" y="2631281"/>
              <a:ext cx="1206388"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(A≥2) and (B≠0)</a:t>
              </a:r>
            </a:p>
          </p:txBody>
        </p:sp>
        <p:sp>
          <p:nvSpPr>
            <p:cNvPr id="35" name="TextBox 35"/>
            <p:cNvSpPr txBox="1"/>
            <p:nvPr/>
          </p:nvSpPr>
          <p:spPr>
            <a:xfrm>
              <a:off x="1342883" y="3421856"/>
              <a:ext cx="545114"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X = A+B</a:t>
              </a:r>
            </a:p>
          </p:txBody>
        </p:sp>
        <p:sp>
          <p:nvSpPr>
            <p:cNvPr id="36" name="TextBox 36"/>
            <p:cNvSpPr txBox="1"/>
            <p:nvPr/>
          </p:nvSpPr>
          <p:spPr>
            <a:xfrm>
              <a:off x="3506963" y="3421856"/>
              <a:ext cx="545114"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X = A-B</a:t>
              </a:r>
            </a:p>
          </p:txBody>
        </p:sp>
        <p:sp>
          <p:nvSpPr>
            <p:cNvPr id="37" name="TextBox 37"/>
            <p:cNvSpPr txBox="1"/>
            <p:nvPr/>
          </p:nvSpPr>
          <p:spPr>
            <a:xfrm>
              <a:off x="2128495" y="4212431"/>
              <a:ext cx="1137971"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(C&gt;A) or (D&lt;B)</a:t>
              </a:r>
            </a:p>
          </p:txBody>
        </p:sp>
        <p:sp>
          <p:nvSpPr>
            <p:cNvPr id="38" name="TextBox 38"/>
            <p:cNvSpPr txBox="1"/>
            <p:nvPr/>
          </p:nvSpPr>
          <p:spPr>
            <a:xfrm>
              <a:off x="1342883" y="5003006"/>
              <a:ext cx="545114"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 = C+D</a:t>
              </a:r>
            </a:p>
          </p:txBody>
        </p:sp>
        <p:sp>
          <p:nvSpPr>
            <p:cNvPr id="39" name="TextBox 39"/>
            <p:cNvSpPr txBox="1"/>
            <p:nvPr/>
          </p:nvSpPr>
          <p:spPr>
            <a:xfrm>
              <a:off x="3506963" y="5003006"/>
              <a:ext cx="545114"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 = C-D</a:t>
              </a:r>
            </a:p>
          </p:txBody>
        </p:sp>
        <p:sp>
          <p:nvSpPr>
            <p:cNvPr id="40" name="TextBox 40"/>
            <p:cNvSpPr txBox="1"/>
            <p:nvPr/>
          </p:nvSpPr>
          <p:spPr>
            <a:xfrm>
              <a:off x="2348511" y="5793581"/>
              <a:ext cx="697937"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输出 X、Y</a:t>
              </a:r>
            </a:p>
          </p:txBody>
        </p:sp>
        <p:sp>
          <p:nvSpPr>
            <p:cNvPr id="41" name="Rectangle 41"/>
            <p:cNvSpPr/>
            <p:nvPr/>
          </p:nvSpPr>
          <p:spPr>
            <a:xfrm>
              <a:off x="2074545" y="2194560"/>
              <a:ext cx="163830" cy="179070"/>
            </a:xfrm>
            <a:prstGeom prst="roundRect">
              <a:avLst>
                <a:gd name="adj" fmla="val 23256"/>
              </a:avLst>
            </a:prstGeom>
            <a:solidFill>
              <a:srgbClr val="FFFFFF"/>
            </a:solidFill>
            <a:ln>
              <a:noFill/>
            </a:ln>
          </p:spPr>
        </p:sp>
        <p:sp>
          <p:nvSpPr>
            <p:cNvPr id="42" name="TextBox 42"/>
            <p:cNvSpPr txBox="1"/>
            <p:nvPr/>
          </p:nvSpPr>
          <p:spPr>
            <a:xfrm>
              <a:off x="2113173" y="2219801"/>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F</a:t>
              </a:r>
            </a:p>
          </p:txBody>
        </p:sp>
        <p:sp>
          <p:nvSpPr>
            <p:cNvPr id="43" name="Rectangle 43"/>
            <p:cNvSpPr/>
            <p:nvPr/>
          </p:nvSpPr>
          <p:spPr>
            <a:xfrm>
              <a:off x="3156585" y="2194560"/>
              <a:ext cx="163830" cy="179070"/>
            </a:xfrm>
            <a:prstGeom prst="roundRect">
              <a:avLst>
                <a:gd name="adj" fmla="val 23256"/>
              </a:avLst>
            </a:prstGeom>
            <a:solidFill>
              <a:srgbClr val="FFFFFF"/>
            </a:solidFill>
            <a:ln>
              <a:noFill/>
            </a:ln>
          </p:spPr>
        </p:sp>
        <p:sp>
          <p:nvSpPr>
            <p:cNvPr id="44" name="TextBox 44"/>
            <p:cNvSpPr txBox="1"/>
            <p:nvPr/>
          </p:nvSpPr>
          <p:spPr>
            <a:xfrm>
              <a:off x="3195213" y="2219801"/>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sp>
          <p:nvSpPr>
            <p:cNvPr id="45" name="Rectangle 45"/>
            <p:cNvSpPr/>
            <p:nvPr/>
          </p:nvSpPr>
          <p:spPr>
            <a:xfrm>
              <a:off x="2074545" y="3775710"/>
              <a:ext cx="163830" cy="179070"/>
            </a:xfrm>
            <a:prstGeom prst="roundRect">
              <a:avLst>
                <a:gd name="adj" fmla="val 23256"/>
              </a:avLst>
            </a:prstGeom>
            <a:solidFill>
              <a:srgbClr val="FFFFFF"/>
            </a:solidFill>
            <a:ln>
              <a:noFill/>
            </a:ln>
          </p:spPr>
        </p:sp>
        <p:sp>
          <p:nvSpPr>
            <p:cNvPr id="46" name="TextBox 46"/>
            <p:cNvSpPr txBox="1"/>
            <p:nvPr/>
          </p:nvSpPr>
          <p:spPr>
            <a:xfrm>
              <a:off x="2113173" y="3800951"/>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F</a:t>
              </a:r>
            </a:p>
          </p:txBody>
        </p:sp>
        <p:sp>
          <p:nvSpPr>
            <p:cNvPr id="47" name="Rectangle 47"/>
            <p:cNvSpPr/>
            <p:nvPr/>
          </p:nvSpPr>
          <p:spPr>
            <a:xfrm>
              <a:off x="3156585" y="3775710"/>
              <a:ext cx="163830" cy="179070"/>
            </a:xfrm>
            <a:prstGeom prst="roundRect">
              <a:avLst>
                <a:gd name="adj" fmla="val 23256"/>
              </a:avLst>
            </a:prstGeom>
            <a:solidFill>
              <a:srgbClr val="FFFFFF"/>
            </a:solidFill>
            <a:ln>
              <a:noFill/>
            </a:ln>
          </p:spPr>
        </p:sp>
        <p:sp>
          <p:nvSpPr>
            <p:cNvPr id="48" name="TextBox 48"/>
            <p:cNvSpPr txBox="1"/>
            <p:nvPr/>
          </p:nvSpPr>
          <p:spPr>
            <a:xfrm>
              <a:off x="3195213" y="3800951"/>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grpSp>
      <p:grpSp>
        <p:nvGrpSpPr>
          <p:cNvPr id="57" name="c2-card-1"/>
          <p:cNvGrpSpPr/>
          <p:nvPr/>
        </p:nvGrpSpPr>
        <p:grpSpPr>
          <a:xfrm>
            <a:off x="5166360" y="1524000"/>
            <a:ext cx="6492240" cy="1272540"/>
            <a:chOff x="5166360" y="1524000"/>
            <a:chExt cx="6492240" cy="1272540"/>
          </a:xfrm>
        </p:grpSpPr>
        <p:sp>
          <p:nvSpPr>
            <p:cNvPr id="50" name="Rectangle 50"/>
            <p:cNvSpPr/>
            <p:nvPr/>
          </p:nvSpPr>
          <p:spPr>
            <a:xfrm>
              <a:off x="5166360" y="1524000"/>
              <a:ext cx="6492240" cy="1272540"/>
            </a:xfrm>
            <a:prstGeom prst="roundRect">
              <a:avLst>
                <a:gd name="adj" fmla="val 10479"/>
              </a:avLst>
            </a:prstGeom>
            <a:solidFill>
              <a:srgbClr val="FFFFFF"/>
            </a:solidFill>
            <a:ln w="14288">
              <a:solidFill>
                <a:srgbClr val="D9DFEA"/>
              </a:solidFill>
            </a:ln>
          </p:spPr>
        </p:sp>
        <p:sp>
          <p:nvSpPr>
            <p:cNvPr id="51" name="Rectangle 51"/>
            <p:cNvSpPr/>
            <p:nvPr/>
          </p:nvSpPr>
          <p:spPr>
            <a:xfrm>
              <a:off x="5175885" y="1657350"/>
              <a:ext cx="47625" cy="1005840"/>
            </a:xfrm>
            <a:prstGeom prst="roundRect">
              <a:avLst>
                <a:gd name="adj" fmla="val 50000"/>
              </a:avLst>
            </a:prstGeom>
            <a:solidFill>
              <a:srgbClr val="14A38B"/>
            </a:solidFill>
            <a:ln>
              <a:noFill/>
            </a:ln>
          </p:spPr>
        </p:sp>
        <p:sp>
          <p:nvSpPr>
            <p:cNvPr id="52" name="Rectangle 52"/>
            <p:cNvSpPr/>
            <p:nvPr/>
          </p:nvSpPr>
          <p:spPr>
            <a:xfrm>
              <a:off x="5396865" y="1716405"/>
              <a:ext cx="742950" cy="247650"/>
            </a:xfrm>
            <a:prstGeom prst="roundRect">
              <a:avLst>
                <a:gd name="adj" fmla="val 50000"/>
              </a:avLst>
            </a:prstGeom>
            <a:solidFill>
              <a:srgbClr val="E3F5F1"/>
            </a:solidFill>
            <a:ln>
              <a:noFill/>
            </a:ln>
          </p:spPr>
        </p:sp>
        <p:sp>
          <p:nvSpPr>
            <p:cNvPr id="53" name="TextBox 53"/>
            <p:cNvSpPr txBox="1"/>
            <p:nvPr/>
          </p:nvSpPr>
          <p:spPr>
            <a:xfrm>
              <a:off x="5480304" y="1750695"/>
              <a:ext cx="576072"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语句覆盖</a:t>
              </a:r>
            </a:p>
          </p:txBody>
        </p:sp>
        <p:sp>
          <p:nvSpPr>
            <p:cNvPr id="54" name="TextBox 54"/>
            <p:cNvSpPr txBox="1"/>
            <p:nvPr/>
          </p:nvSpPr>
          <p:spPr>
            <a:xfrm>
              <a:off x="6247257" y="1756410"/>
              <a:ext cx="310324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让四条赋值语句各执行一次，两组就够</a:t>
              </a:r>
            </a:p>
          </p:txBody>
        </p:sp>
        <p:sp>
          <p:nvSpPr>
            <p:cNvPr id="55" name="TextBox 55"/>
            <p:cNvSpPr txBox="1"/>
            <p:nvPr/>
          </p:nvSpPr>
          <p:spPr>
            <a:xfrm>
              <a:off x="5390007" y="2090738"/>
              <a:ext cx="584507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① 两个判断都取假：输入 A=1, B=1, C=0, D=2　→　预期输出 X=2, Y=2</a:t>
              </a:r>
            </a:p>
          </p:txBody>
        </p:sp>
        <p:sp>
          <p:nvSpPr>
            <p:cNvPr id="56" name="TextBox 56"/>
            <p:cNvSpPr txBox="1"/>
            <p:nvPr/>
          </p:nvSpPr>
          <p:spPr>
            <a:xfrm>
              <a:off x="5390007" y="2392680"/>
              <a:ext cx="584507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② 两个判断都取真：输入 A=2, B=1, C=3, D=0　→　预期输出 X=1, Y=3</a:t>
              </a:r>
            </a:p>
          </p:txBody>
        </p:sp>
      </p:grpSp>
      <p:grpSp>
        <p:nvGrpSpPr>
          <p:cNvPr id="67" name="c2-card-2"/>
          <p:cNvGrpSpPr/>
          <p:nvPr/>
        </p:nvGrpSpPr>
        <p:grpSpPr>
          <a:xfrm>
            <a:off x="5166360" y="2970848"/>
            <a:ext cx="6492240" cy="2391728"/>
            <a:chOff x="5166360" y="2970848"/>
            <a:chExt cx="6492240" cy="2391728"/>
          </a:xfrm>
        </p:grpSpPr>
        <p:sp>
          <p:nvSpPr>
            <p:cNvPr id="58" name="Rectangle 58"/>
            <p:cNvSpPr/>
            <p:nvPr/>
          </p:nvSpPr>
          <p:spPr>
            <a:xfrm>
              <a:off x="5166360" y="2970848"/>
              <a:ext cx="6492240" cy="2391728"/>
            </a:xfrm>
            <a:prstGeom prst="roundRect">
              <a:avLst>
                <a:gd name="adj" fmla="val 5575"/>
              </a:avLst>
            </a:prstGeom>
            <a:solidFill>
              <a:srgbClr val="FFFFFF"/>
            </a:solidFill>
            <a:ln w="14288">
              <a:solidFill>
                <a:srgbClr val="D9DFEA"/>
              </a:solidFill>
            </a:ln>
          </p:spPr>
        </p:sp>
        <p:sp>
          <p:nvSpPr>
            <p:cNvPr id="59" name="Rectangle 59"/>
            <p:cNvSpPr/>
            <p:nvPr/>
          </p:nvSpPr>
          <p:spPr>
            <a:xfrm>
              <a:off x="5175885" y="3104198"/>
              <a:ext cx="47625" cy="2125028"/>
            </a:xfrm>
            <a:prstGeom prst="roundRect">
              <a:avLst>
                <a:gd name="adj" fmla="val 50000"/>
              </a:avLst>
            </a:prstGeom>
            <a:solidFill>
              <a:srgbClr val="14A38B"/>
            </a:solidFill>
            <a:ln>
              <a:noFill/>
            </a:ln>
          </p:spPr>
        </p:sp>
        <p:sp>
          <p:nvSpPr>
            <p:cNvPr id="60" name="Rectangle 60"/>
            <p:cNvSpPr/>
            <p:nvPr/>
          </p:nvSpPr>
          <p:spPr>
            <a:xfrm>
              <a:off x="5396865" y="3163252"/>
              <a:ext cx="742950" cy="247650"/>
            </a:xfrm>
            <a:prstGeom prst="roundRect">
              <a:avLst>
                <a:gd name="adj" fmla="val 50000"/>
              </a:avLst>
            </a:prstGeom>
            <a:solidFill>
              <a:srgbClr val="E3F5F1"/>
            </a:solidFill>
            <a:ln>
              <a:noFill/>
            </a:ln>
          </p:spPr>
        </p:sp>
        <p:sp>
          <p:nvSpPr>
            <p:cNvPr id="61" name="TextBox 61"/>
            <p:cNvSpPr txBox="1"/>
            <p:nvPr/>
          </p:nvSpPr>
          <p:spPr>
            <a:xfrm>
              <a:off x="5480304" y="3197543"/>
              <a:ext cx="576072"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条件覆盖</a:t>
              </a:r>
            </a:p>
          </p:txBody>
        </p:sp>
        <p:sp>
          <p:nvSpPr>
            <p:cNvPr id="62" name="TextBox 62"/>
            <p:cNvSpPr txBox="1"/>
            <p:nvPr/>
          </p:nvSpPr>
          <p:spPr>
            <a:xfrm>
              <a:off x="6247257" y="3203258"/>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四个条件各取真假一次</a:t>
              </a:r>
            </a:p>
          </p:txBody>
        </p:sp>
        <p:sp>
          <p:nvSpPr>
            <p:cNvPr id="63" name="TextBox 63"/>
            <p:cNvSpPr txBox="1"/>
            <p:nvPr/>
          </p:nvSpPr>
          <p:spPr>
            <a:xfrm>
              <a:off x="5390007" y="3537585"/>
              <a:ext cx="382539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第一判断处的条件取值：A≥2、A&lt;2、B≠0、B=0</a:t>
              </a:r>
            </a:p>
          </p:txBody>
        </p:sp>
        <p:sp>
          <p:nvSpPr>
            <p:cNvPr id="64" name="TextBox 64"/>
            <p:cNvSpPr txBox="1"/>
            <p:nvPr/>
          </p:nvSpPr>
          <p:spPr>
            <a:xfrm>
              <a:off x="5390007" y="3840480"/>
              <a:ext cx="382539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第二判断处的条件取值：C&gt;A、C≤A、D&lt;B、D≥B</a:t>
              </a:r>
            </a:p>
          </p:txBody>
        </p:sp>
        <p:sp>
          <p:nvSpPr>
            <p:cNvPr id="65" name="TextBox 65"/>
            <p:cNvSpPr txBox="1"/>
            <p:nvPr/>
          </p:nvSpPr>
          <p:spPr>
            <a:xfrm>
              <a:off x="5390007" y="4142422"/>
              <a:ext cx="538010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① 满足 A≥2, B≠0, C&gt;A, D&lt;B：输入 A=2, B=1, C=3, D=0　→　预期输出</a:t>
              </a:r>
              <a:br/>
              <a:r>
                <a:rPr lang="en-US" sz="1350" dirty="0">
                  <a:solidFill>
                    <a:srgbClr val="1F2937"/>
                  </a:solidFill>
                  <a:latin typeface="+mn-lt"/>
                  <a:ea typeface="+mn-ea"/>
                  <a:cs typeface="+mn-cs"/>
                </a:rPr>
                <a:t>X=1, Y=3</a:t>
              </a:r>
            </a:p>
          </p:txBody>
        </p:sp>
        <p:sp>
          <p:nvSpPr>
            <p:cNvPr id="66" name="TextBox 66"/>
            <p:cNvSpPr txBox="1"/>
            <p:nvPr/>
          </p:nvSpPr>
          <p:spPr>
            <a:xfrm>
              <a:off x="5390007" y="4702492"/>
              <a:ext cx="538010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② 满足 A&lt;2, B=0, C≤A, D≥B：输入 A=1, B=0, C=1, D=1　→　预期输出</a:t>
              </a:r>
              <a:br/>
              <a:r>
                <a:rPr lang="en-US" sz="1350" dirty="0">
                  <a:solidFill>
                    <a:srgbClr val="1F2937"/>
                  </a:solidFill>
                  <a:latin typeface="+mn-lt"/>
                  <a:ea typeface="+mn-ea"/>
                  <a:cs typeface="+mn-cs"/>
                </a:rPr>
                <a:t>X=1, Y=2</a:t>
              </a:r>
            </a:p>
          </p:txBody>
        </p:sp>
      </p:grpSp>
      <p:grpSp>
        <p:nvGrpSpPr>
          <p:cNvPr id="74" name="c2-callout-3"/>
          <p:cNvGrpSpPr/>
          <p:nvPr/>
        </p:nvGrpSpPr>
        <p:grpSpPr>
          <a:xfrm>
            <a:off x="5166360" y="5537835"/>
            <a:ext cx="6492240" cy="729615"/>
            <a:chOff x="5166360" y="5537835"/>
            <a:chExt cx="6492240" cy="729615"/>
          </a:xfrm>
        </p:grpSpPr>
        <p:sp>
          <p:nvSpPr>
            <p:cNvPr id="68" name="Rectangle 68"/>
            <p:cNvSpPr/>
            <p:nvPr/>
          </p:nvSpPr>
          <p:spPr>
            <a:xfrm>
              <a:off x="5166360" y="5537835"/>
              <a:ext cx="6492240" cy="729615"/>
            </a:xfrm>
            <a:prstGeom prst="roundRect">
              <a:avLst>
                <a:gd name="adj" fmla="val 15666"/>
              </a:avLst>
            </a:prstGeom>
            <a:solidFill>
              <a:srgbClr val="F4F6FB"/>
            </a:solidFill>
            <a:ln>
              <a:noFill/>
            </a:ln>
          </p:spPr>
        </p:sp>
        <p:grpSp>
          <p:nvGrpSpPr>
            <p:cNvPr id="72" name="Group 72"/>
            <p:cNvGrpSpPr/>
            <p:nvPr/>
          </p:nvGrpSpPr>
          <p:grpSpPr>
            <a:xfrm>
              <a:off x="5371148" y="5802630"/>
              <a:ext cx="200026" cy="200026"/>
              <a:chOff x="5371148" y="5802630"/>
              <a:chExt cx="200026" cy="200026"/>
            </a:xfrm>
          </p:grpSpPr>
          <p:sp>
            <p:nvSpPr>
              <p:cNvPr id="69" name="Freeform 69"/>
              <p:cNvSpPr/>
              <p:nvPr/>
            </p:nvSpPr>
            <p:spPr>
              <a:xfrm>
                <a:off x="5371148" y="580263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70" name="Freeform 70"/>
              <p:cNvSpPr/>
              <p:nvPr/>
            </p:nvSpPr>
            <p:spPr>
              <a:xfrm>
                <a:off x="5471160" y="586930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71" name="Freeform 71"/>
              <p:cNvSpPr/>
              <p:nvPr/>
            </p:nvSpPr>
            <p:spPr>
              <a:xfrm>
                <a:off x="5460048" y="590264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3" name="TextBox 73"/>
            <p:cNvSpPr txBox="1"/>
            <p:nvPr/>
          </p:nvSpPr>
          <p:spPr>
            <a:xfrm>
              <a:off x="5673852" y="5683568"/>
              <a:ext cx="550868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答案不唯一。上面四组输出都已按盒图逐条代入复核：X 取 A+B 还是 A-B</a:t>
              </a:r>
              <a:br/>
              <a:r>
                <a:rPr lang="zh-CN" sz="1350" dirty="0">
                  <a:solidFill>
                    <a:srgbClr val="1F2937"/>
                  </a:solidFill>
                  <a:latin typeface="+mn-lt"/>
                  <a:ea typeface="+mn-ea"/>
                  <a:cs typeface="+mn-cs"/>
                </a:rPr>
                <a:t>只看第一个判断，Y 取 C+D 还是 C-D 只看第二个判断。</a:t>
              </a:r>
            </a:p>
          </p:txBody>
        </p:sp>
      </p:grpSp>
      <p:grpSp>
        <p:nvGrpSpPr>
          <p:cNvPr id="77" name="footer"/>
          <p:cNvGrpSpPr/>
          <p:nvPr/>
        </p:nvGrpSpPr>
        <p:grpSpPr>
          <a:xfrm>
            <a:off x="528447" y="6581299"/>
            <a:ext cx="11135106" cy="190690"/>
            <a:chOff x="528447" y="6581299"/>
            <a:chExt cx="11135106" cy="190690"/>
          </a:xfrm>
        </p:grpSpPr>
        <p:sp>
          <p:nvSpPr>
            <p:cNvPr id="75" name="TextBox 7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6" name="TextBox 7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基本路径测试：用环形复杂度定出独立路径的条数</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4" name="c1-steps-1"/>
          <p:cNvGrpSpPr/>
          <p:nvPr/>
        </p:nvGrpSpPr>
        <p:grpSpPr>
          <a:xfrm>
            <a:off x="533400" y="1533525"/>
            <a:ext cx="4044163" cy="2529173"/>
            <a:chOff x="533400" y="1533525"/>
            <a:chExt cx="4044163" cy="2529173"/>
          </a:xfrm>
        </p:grpSpPr>
        <p:sp>
          <p:nvSpPr>
            <p:cNvPr id="7" name="Rectangle 7"/>
            <p:cNvSpPr/>
            <p:nvPr/>
          </p:nvSpPr>
          <p:spPr>
            <a:xfrm>
              <a:off x="666750" y="1676400"/>
              <a:ext cx="19050" cy="1952625"/>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334E68"/>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184082"/>
              <a:ext cx="285750" cy="285750"/>
            </a:xfrm>
            <a:prstGeom prst="ellipse">
              <a:avLst/>
            </a:prstGeom>
            <a:solidFill>
              <a:srgbClr val="334E68"/>
            </a:solidFill>
            <a:ln>
              <a:noFill/>
            </a:ln>
          </p:spPr>
        </p:sp>
        <p:sp>
          <p:nvSpPr>
            <p:cNvPr id="11" name="TextBox 11"/>
            <p:cNvSpPr txBox="1"/>
            <p:nvPr/>
          </p:nvSpPr>
          <p:spPr>
            <a:xfrm>
              <a:off x="627024" y="225790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2834640"/>
              <a:ext cx="285750" cy="285750"/>
            </a:xfrm>
            <a:prstGeom prst="ellipse">
              <a:avLst/>
            </a:prstGeom>
            <a:solidFill>
              <a:srgbClr val="334E68"/>
            </a:solidFill>
            <a:ln>
              <a:noFill/>
            </a:ln>
          </p:spPr>
        </p:sp>
        <p:sp>
          <p:nvSpPr>
            <p:cNvPr id="13" name="TextBox 13"/>
            <p:cNvSpPr txBox="1"/>
            <p:nvPr/>
          </p:nvSpPr>
          <p:spPr>
            <a:xfrm>
              <a:off x="627024" y="290845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Ellipse 14"/>
            <p:cNvSpPr/>
            <p:nvPr/>
          </p:nvSpPr>
          <p:spPr>
            <a:xfrm>
              <a:off x="533400" y="3486150"/>
              <a:ext cx="285750" cy="285750"/>
            </a:xfrm>
            <a:prstGeom prst="ellipse">
              <a:avLst/>
            </a:prstGeom>
            <a:solidFill>
              <a:srgbClr val="334E68"/>
            </a:solidFill>
            <a:ln>
              <a:noFill/>
            </a:ln>
          </p:spPr>
        </p:sp>
        <p:sp>
          <p:nvSpPr>
            <p:cNvPr id="15" name="TextBox 15"/>
            <p:cNvSpPr txBox="1"/>
            <p:nvPr/>
          </p:nvSpPr>
          <p:spPr>
            <a:xfrm>
              <a:off x="627024" y="355996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6" name="TextBox 16"/>
            <p:cNvSpPr txBox="1"/>
            <p:nvPr/>
          </p:nvSpPr>
          <p:spPr>
            <a:xfrm>
              <a:off x="944880" y="1567815"/>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第一步</a:t>
              </a:r>
            </a:p>
          </p:txBody>
        </p:sp>
        <p:sp>
          <p:nvSpPr>
            <p:cNvPr id="17" name="TextBox 17"/>
            <p:cNvSpPr txBox="1"/>
            <p:nvPr/>
          </p:nvSpPr>
          <p:spPr>
            <a:xfrm>
              <a:off x="946023" y="1861661"/>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根据过程设计结果画出相应的流图</a:t>
              </a:r>
            </a:p>
          </p:txBody>
        </p:sp>
        <p:sp>
          <p:nvSpPr>
            <p:cNvPr id="18" name="TextBox 18"/>
            <p:cNvSpPr txBox="1"/>
            <p:nvPr/>
          </p:nvSpPr>
          <p:spPr>
            <a:xfrm>
              <a:off x="944880" y="2218372"/>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第二步</a:t>
              </a:r>
            </a:p>
          </p:txBody>
        </p:sp>
        <p:sp>
          <p:nvSpPr>
            <p:cNvPr id="19" name="TextBox 19"/>
            <p:cNvSpPr txBox="1"/>
            <p:nvPr/>
          </p:nvSpPr>
          <p:spPr>
            <a:xfrm>
              <a:off x="946023" y="2512219"/>
              <a:ext cx="173609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计算流图的环形复杂度</a:t>
              </a:r>
            </a:p>
          </p:txBody>
        </p:sp>
        <p:sp>
          <p:nvSpPr>
            <p:cNvPr id="20" name="TextBox 20"/>
            <p:cNvSpPr txBox="1"/>
            <p:nvPr/>
          </p:nvSpPr>
          <p:spPr>
            <a:xfrm>
              <a:off x="944880" y="286893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第三步</a:t>
              </a:r>
            </a:p>
          </p:txBody>
        </p:sp>
        <p:sp>
          <p:nvSpPr>
            <p:cNvPr id="21" name="TextBox 21"/>
            <p:cNvSpPr txBox="1"/>
            <p:nvPr/>
          </p:nvSpPr>
          <p:spPr>
            <a:xfrm>
              <a:off x="946023" y="3162776"/>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确定线性独立路径的基本集合</a:t>
              </a:r>
            </a:p>
          </p:txBody>
        </p:sp>
        <p:sp>
          <p:nvSpPr>
            <p:cNvPr id="22" name="TextBox 22"/>
            <p:cNvSpPr txBox="1"/>
            <p:nvPr/>
          </p:nvSpPr>
          <p:spPr>
            <a:xfrm>
              <a:off x="944880" y="3520440"/>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第四步</a:t>
              </a:r>
            </a:p>
          </p:txBody>
        </p:sp>
        <p:sp>
          <p:nvSpPr>
            <p:cNvPr id="23" name="TextBox 23"/>
            <p:cNvSpPr txBox="1"/>
            <p:nvPr/>
          </p:nvSpPr>
          <p:spPr>
            <a:xfrm>
              <a:off x="946023" y="3813334"/>
              <a:ext cx="363154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设计可强制执行基本集合中每条路径的测试用例</a:t>
              </a:r>
            </a:p>
          </p:txBody>
        </p:sp>
      </p:grpSp>
      <p:grpSp>
        <p:nvGrpSpPr>
          <p:cNvPr id="33" name="c1-card-2"/>
          <p:cNvGrpSpPr/>
          <p:nvPr/>
        </p:nvGrpSpPr>
        <p:grpSpPr>
          <a:xfrm>
            <a:off x="533400" y="4241482"/>
            <a:ext cx="5193982" cy="1956435"/>
            <a:chOff x="533400" y="4241482"/>
            <a:chExt cx="5193982" cy="1956435"/>
          </a:xfrm>
        </p:grpSpPr>
        <p:sp>
          <p:nvSpPr>
            <p:cNvPr id="25" name="Rectangle 25"/>
            <p:cNvSpPr/>
            <p:nvPr/>
          </p:nvSpPr>
          <p:spPr>
            <a:xfrm>
              <a:off x="533400" y="4241482"/>
              <a:ext cx="5193982" cy="1956435"/>
            </a:xfrm>
            <a:prstGeom prst="roundRect">
              <a:avLst>
                <a:gd name="adj" fmla="val 6816"/>
              </a:avLst>
            </a:prstGeom>
            <a:solidFill>
              <a:srgbClr val="FFFFFF"/>
            </a:solidFill>
            <a:ln w="14288">
              <a:solidFill>
                <a:srgbClr val="D9DFEA"/>
              </a:solidFill>
            </a:ln>
          </p:spPr>
        </p:sp>
        <p:sp>
          <p:nvSpPr>
            <p:cNvPr id="26" name="Rectangle 26"/>
            <p:cNvSpPr/>
            <p:nvPr/>
          </p:nvSpPr>
          <p:spPr>
            <a:xfrm>
              <a:off x="542925" y="4374832"/>
              <a:ext cx="47625" cy="1689735"/>
            </a:xfrm>
            <a:prstGeom prst="roundRect">
              <a:avLst>
                <a:gd name="adj" fmla="val 50000"/>
              </a:avLst>
            </a:prstGeom>
            <a:solidFill>
              <a:srgbClr val="334E68"/>
            </a:solidFill>
            <a:ln>
              <a:noFill/>
            </a:ln>
          </p:spPr>
        </p:sp>
        <p:sp>
          <p:nvSpPr>
            <p:cNvPr id="27" name="Rectangle 27"/>
            <p:cNvSpPr/>
            <p:nvPr/>
          </p:nvSpPr>
          <p:spPr>
            <a:xfrm>
              <a:off x="781050" y="4451032"/>
              <a:ext cx="778192" cy="257175"/>
            </a:xfrm>
            <a:prstGeom prst="roundRect">
              <a:avLst>
                <a:gd name="adj" fmla="val 50000"/>
              </a:avLst>
            </a:prstGeom>
            <a:solidFill>
              <a:srgbClr val="E7EDF3"/>
            </a:solidFill>
            <a:ln>
              <a:noFill/>
            </a:ln>
          </p:spPr>
        </p:sp>
        <p:sp>
          <p:nvSpPr>
            <p:cNvPr id="28" name="TextBox 28"/>
            <p:cNvSpPr txBox="1"/>
            <p:nvPr/>
          </p:nvSpPr>
          <p:spPr>
            <a:xfrm>
              <a:off x="863359" y="4486751"/>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独立路径</a:t>
              </a:r>
            </a:p>
          </p:txBody>
        </p:sp>
        <p:sp>
          <p:nvSpPr>
            <p:cNvPr id="29" name="TextBox 29"/>
            <p:cNvSpPr txBox="1"/>
            <p:nvPr/>
          </p:nvSpPr>
          <p:spPr>
            <a:xfrm>
              <a:off x="1665922" y="4486275"/>
              <a:ext cx="28422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至少包含一条此前不曾用过的边</a:t>
              </a:r>
            </a:p>
          </p:txBody>
        </p:sp>
        <p:sp>
          <p:nvSpPr>
            <p:cNvPr id="30" name="TextBox 30"/>
            <p:cNvSpPr txBox="1"/>
            <p:nvPr/>
          </p:nvSpPr>
          <p:spPr>
            <a:xfrm>
              <a:off x="773430" y="4847272"/>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独立路径是指至少引入程序的一个新处理语句集合或</a:t>
              </a:r>
              <a:br/>
              <a:r>
                <a:rPr lang="zh-CN" sz="1500" dirty="0">
                  <a:solidFill>
                    <a:srgbClr val="1F2937"/>
                  </a:solidFill>
                  <a:latin typeface="+mn-lt"/>
                  <a:ea typeface="+mn-ea"/>
                  <a:cs typeface="+mn-cs"/>
                </a:rPr>
                <a:t>一个新条件的路径。</a:t>
              </a:r>
            </a:p>
          </p:txBody>
        </p:sp>
        <p:sp>
          <p:nvSpPr>
            <p:cNvPr id="31" name="Ellipse 31"/>
            <p:cNvSpPr/>
            <p:nvPr/>
          </p:nvSpPr>
          <p:spPr>
            <a:xfrm>
              <a:off x="786765" y="5531168"/>
              <a:ext cx="64770" cy="64770"/>
            </a:xfrm>
            <a:prstGeom prst="ellipse">
              <a:avLst/>
            </a:prstGeom>
            <a:solidFill>
              <a:srgbClr val="334E68"/>
            </a:solidFill>
            <a:ln>
              <a:noFill/>
            </a:ln>
          </p:spPr>
        </p:sp>
        <p:sp>
          <p:nvSpPr>
            <p:cNvPr id="32" name="TextBox 32"/>
            <p:cNvSpPr txBox="1"/>
            <p:nvPr/>
          </p:nvSpPr>
          <p:spPr>
            <a:xfrm>
              <a:off x="944880" y="5468302"/>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环形复杂度决定了独立路径的数量，这个数也是确保</a:t>
              </a:r>
              <a:br/>
              <a:r>
                <a:rPr lang="zh-CN" sz="1500" dirty="0">
                  <a:solidFill>
                    <a:srgbClr val="1F2937"/>
                  </a:solidFill>
                  <a:latin typeface="+mn-lt"/>
                  <a:ea typeface="+mn-ea"/>
                  <a:cs typeface="+mn-cs"/>
                </a:rPr>
                <a:t xml:space="preserve">所有语句至少执行一次所需测试数量的 </a:t>
              </a:r>
              <a:r>
                <a:rPr lang="zh-CN" sz="1500" b="1" dirty="0">
                  <a:solidFill>
                    <a:srgbClr val="C2410C"/>
                  </a:solidFill>
                  <a:latin typeface="+mn-lt"/>
                  <a:ea typeface="+mn-ea"/>
                  <a:cs typeface="+mn-cs"/>
                </a:rPr>
                <a:t>上界</a:t>
              </a:r>
            </a:p>
          </p:txBody>
        </p:sp>
      </p:grpSp>
      <p:grpSp>
        <p:nvGrpSpPr>
          <p:cNvPr id="43" name="c2-card-1"/>
          <p:cNvGrpSpPr/>
          <p:nvPr/>
        </p:nvGrpSpPr>
        <p:grpSpPr>
          <a:xfrm>
            <a:off x="6032182" y="1524000"/>
            <a:ext cx="5626418" cy="1384935"/>
            <a:chOff x="6032182" y="1524000"/>
            <a:chExt cx="5626418" cy="1384935"/>
          </a:xfrm>
        </p:grpSpPr>
        <p:sp>
          <p:nvSpPr>
            <p:cNvPr id="34" name="Rectangle 34"/>
            <p:cNvSpPr/>
            <p:nvPr/>
          </p:nvSpPr>
          <p:spPr>
            <a:xfrm>
              <a:off x="6032182" y="1524000"/>
              <a:ext cx="5626418" cy="1384935"/>
            </a:xfrm>
            <a:prstGeom prst="roundRect">
              <a:avLst>
                <a:gd name="adj" fmla="val 9629"/>
              </a:avLst>
            </a:prstGeom>
            <a:solidFill>
              <a:srgbClr val="FFFFFF"/>
            </a:solidFill>
            <a:ln w="14288">
              <a:solidFill>
                <a:srgbClr val="D9DFEA"/>
              </a:solidFill>
            </a:ln>
          </p:spPr>
        </p:sp>
        <p:sp>
          <p:nvSpPr>
            <p:cNvPr id="35" name="Rectangle 35"/>
            <p:cNvSpPr/>
            <p:nvPr/>
          </p:nvSpPr>
          <p:spPr>
            <a:xfrm>
              <a:off x="6041708" y="1657350"/>
              <a:ext cx="47625" cy="1118235"/>
            </a:xfrm>
            <a:prstGeom prst="roundRect">
              <a:avLst>
                <a:gd name="adj" fmla="val 50000"/>
              </a:avLst>
            </a:prstGeom>
            <a:solidFill>
              <a:srgbClr val="D97706"/>
            </a:solidFill>
            <a:ln>
              <a:noFill/>
            </a:ln>
          </p:spPr>
        </p:sp>
        <p:sp>
          <p:nvSpPr>
            <p:cNvPr id="36" name="Rectangle 36"/>
            <p:cNvSpPr/>
            <p:nvPr/>
          </p:nvSpPr>
          <p:spPr>
            <a:xfrm>
              <a:off x="6279832" y="1733550"/>
              <a:ext cx="921068" cy="257175"/>
            </a:xfrm>
            <a:prstGeom prst="roundRect">
              <a:avLst>
                <a:gd name="adj" fmla="val 50000"/>
              </a:avLst>
            </a:prstGeom>
            <a:solidFill>
              <a:srgbClr val="FEF3C7"/>
            </a:solidFill>
            <a:ln>
              <a:noFill/>
            </a:ln>
          </p:spPr>
        </p:sp>
        <p:sp>
          <p:nvSpPr>
            <p:cNvPr id="37" name="TextBox 37"/>
            <p:cNvSpPr txBox="1"/>
            <p:nvPr/>
          </p:nvSpPr>
          <p:spPr>
            <a:xfrm>
              <a:off x="6357239" y="1769269"/>
              <a:ext cx="765302" cy="220028"/>
            </a:xfrm>
            <a:prstGeom prst="rect">
              <a:avLst/>
            </a:prstGeom>
            <a:noFill/>
            <a:ln>
              <a:noFill/>
            </a:ln>
          </p:spPr>
          <p:txBody>
            <a:bodyPr wrap="none" lIns="0" tIns="0" rIns="0" bIns="0" anchor="t" anchorCtr="0">
              <a:spAutoFit/>
            </a:bodyPr>
            <a:lstStyle/>
            <a:p>
              <a:pPr algn="ctr"/>
              <a:r>
                <a:rPr lang="zh-CN" sz="1120" b="1" dirty="0">
                  <a:solidFill>
                    <a:srgbClr val="92400E"/>
                  </a:solidFill>
                  <a:latin typeface="+mn-lt"/>
                  <a:ea typeface="+mn-ea"/>
                  <a:cs typeface="+mn-cs"/>
                </a:rPr>
                <a:t>能保证什么</a:t>
              </a:r>
            </a:p>
          </p:txBody>
        </p:sp>
        <p:sp>
          <p:nvSpPr>
            <p:cNvPr id="38" name="TextBox 38"/>
            <p:cNvSpPr txBox="1"/>
            <p:nvPr/>
          </p:nvSpPr>
          <p:spPr>
            <a:xfrm>
              <a:off x="7306628" y="1768792"/>
              <a:ext cx="24384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从基本集合导出的测试用例</a:t>
              </a:r>
            </a:p>
          </p:txBody>
        </p:sp>
        <p:sp>
          <p:nvSpPr>
            <p:cNvPr id="39" name="Ellipse 39"/>
            <p:cNvSpPr/>
            <p:nvPr/>
          </p:nvSpPr>
          <p:spPr>
            <a:xfrm>
              <a:off x="6285548" y="2192655"/>
              <a:ext cx="64770" cy="64770"/>
            </a:xfrm>
            <a:prstGeom prst="ellipse">
              <a:avLst/>
            </a:prstGeom>
            <a:solidFill>
              <a:srgbClr val="334E68"/>
            </a:solidFill>
            <a:ln>
              <a:noFill/>
            </a:ln>
          </p:spPr>
        </p:sp>
        <p:sp>
          <p:nvSpPr>
            <p:cNvPr id="40" name="TextBox 40"/>
            <p:cNvSpPr txBox="1"/>
            <p:nvPr/>
          </p:nvSpPr>
          <p:spPr>
            <a:xfrm>
              <a:off x="6443662" y="2129790"/>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程序中的每条语句至少执行一次</a:t>
              </a:r>
            </a:p>
          </p:txBody>
        </p:sp>
        <p:sp>
          <p:nvSpPr>
            <p:cNvPr id="41" name="Ellipse 41"/>
            <p:cNvSpPr/>
            <p:nvPr/>
          </p:nvSpPr>
          <p:spPr>
            <a:xfrm>
              <a:off x="6285548" y="2527935"/>
              <a:ext cx="64770" cy="64770"/>
            </a:xfrm>
            <a:prstGeom prst="ellipse">
              <a:avLst/>
            </a:prstGeom>
            <a:solidFill>
              <a:srgbClr val="334E68"/>
            </a:solidFill>
            <a:ln>
              <a:noFill/>
            </a:ln>
          </p:spPr>
        </p:sp>
        <p:sp>
          <p:nvSpPr>
            <p:cNvPr id="42" name="TextBox 42"/>
            <p:cNvSpPr txBox="1"/>
            <p:nvPr/>
          </p:nvSpPr>
          <p:spPr>
            <a:xfrm>
              <a:off x="6443662" y="2465070"/>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每个条件在执行时都分别取过真值和假值</a:t>
              </a:r>
            </a:p>
          </p:txBody>
        </p:sp>
      </p:grpSp>
      <p:grpSp>
        <p:nvGrpSpPr>
          <p:cNvPr id="58" name="c2-table-2"/>
          <p:cNvGrpSpPr/>
          <p:nvPr/>
        </p:nvGrpSpPr>
        <p:grpSpPr>
          <a:xfrm>
            <a:off x="6032182" y="3099435"/>
            <a:ext cx="5626418" cy="2022158"/>
            <a:chOff x="6032182" y="3099435"/>
            <a:chExt cx="5626418" cy="2022158"/>
          </a:xfrm>
        </p:grpSpPr>
        <p:sp>
          <p:nvSpPr>
            <p:cNvPr id="44" name="Rectangle 44"/>
            <p:cNvSpPr/>
            <p:nvPr/>
          </p:nvSpPr>
          <p:spPr>
            <a:xfrm>
              <a:off x="6032182" y="3099435"/>
              <a:ext cx="5626418" cy="448628"/>
            </a:xfrm>
            <a:prstGeom prst="rect">
              <a:avLst/>
            </a:prstGeom>
            <a:solidFill>
              <a:srgbClr val="334E68"/>
            </a:solidFill>
            <a:ln>
              <a:noFill/>
            </a:ln>
          </p:spPr>
        </p:sp>
        <p:sp>
          <p:nvSpPr>
            <p:cNvPr id="45" name="TextBox 45"/>
            <p:cNvSpPr txBox="1"/>
            <p:nvPr/>
          </p:nvSpPr>
          <p:spPr>
            <a:xfrm>
              <a:off x="6627178" y="3235166"/>
              <a:ext cx="173609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环形复杂度的三种算法</a:t>
              </a:r>
            </a:p>
          </p:txBody>
        </p:sp>
        <p:sp>
          <p:nvSpPr>
            <p:cNvPr id="46" name="TextBox 46"/>
            <p:cNvSpPr txBox="1"/>
            <p:nvPr/>
          </p:nvSpPr>
          <p:spPr>
            <a:xfrm>
              <a:off x="9784537" y="3235166"/>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下一页的例子</a:t>
              </a:r>
            </a:p>
          </p:txBody>
        </p:sp>
        <p:sp>
          <p:nvSpPr>
            <p:cNvPr id="47" name="TextBox 47"/>
            <p:cNvSpPr txBox="1"/>
            <p:nvPr/>
          </p:nvSpPr>
          <p:spPr>
            <a:xfrm>
              <a:off x="6140006" y="3683794"/>
              <a:ext cx="139017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边数 − 结点数 + 2</a:t>
              </a:r>
            </a:p>
          </p:txBody>
        </p:sp>
        <p:sp>
          <p:nvSpPr>
            <p:cNvPr id="48" name="TextBox 48"/>
            <p:cNvSpPr txBox="1"/>
            <p:nvPr/>
          </p:nvSpPr>
          <p:spPr>
            <a:xfrm>
              <a:off x="9066086" y="3683794"/>
              <a:ext cx="11760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17 − 13 + 2 = 6</a:t>
              </a:r>
            </a:p>
          </p:txBody>
        </p:sp>
        <p:sp>
          <p:nvSpPr>
            <p:cNvPr id="49" name="Rectangle 49"/>
            <p:cNvSpPr/>
            <p:nvPr/>
          </p:nvSpPr>
          <p:spPr>
            <a:xfrm>
              <a:off x="6032182" y="3991928"/>
              <a:ext cx="5626418" cy="9525"/>
            </a:xfrm>
            <a:prstGeom prst="rect">
              <a:avLst/>
            </a:prstGeom>
            <a:solidFill>
              <a:srgbClr val="D9DFEA"/>
            </a:solidFill>
            <a:ln>
              <a:noFill/>
            </a:ln>
          </p:spPr>
        </p:sp>
        <p:sp>
          <p:nvSpPr>
            <p:cNvPr id="50" name="Rectangle 50"/>
            <p:cNvSpPr/>
            <p:nvPr/>
          </p:nvSpPr>
          <p:spPr>
            <a:xfrm>
              <a:off x="6032182" y="3996690"/>
              <a:ext cx="5626418" cy="675322"/>
            </a:xfrm>
            <a:prstGeom prst="rect">
              <a:avLst/>
            </a:prstGeom>
            <a:solidFill>
              <a:srgbClr val="F4F6FB"/>
            </a:solidFill>
            <a:ln>
              <a:noFill/>
            </a:ln>
          </p:spPr>
        </p:sp>
        <p:sp>
          <p:nvSpPr>
            <p:cNvPr id="51" name="TextBox 51"/>
            <p:cNvSpPr txBox="1"/>
            <p:nvPr/>
          </p:nvSpPr>
          <p:spPr>
            <a:xfrm>
              <a:off x="6140006" y="4245769"/>
              <a:ext cx="1182102"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判定结点数 + 1</a:t>
              </a:r>
            </a:p>
          </p:txBody>
        </p:sp>
        <p:sp>
          <p:nvSpPr>
            <p:cNvPr id="52" name="TextBox 52"/>
            <p:cNvSpPr txBox="1"/>
            <p:nvPr/>
          </p:nvSpPr>
          <p:spPr>
            <a:xfrm>
              <a:off x="9066086" y="4132421"/>
              <a:ext cx="2199386"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5 + 1 = 6（结点 2、3、5、6、</a:t>
              </a:r>
              <a:br/>
              <a:r>
                <a:rPr lang="zh-CN" sz="1280" dirty="0">
                  <a:solidFill>
                    <a:srgbClr val="1F2937"/>
                  </a:solidFill>
                  <a:latin typeface="+mn-lt"/>
                  <a:ea typeface="+mn-ea"/>
                  <a:cs typeface="+mn-cs"/>
                </a:rPr>
                <a:t>10）</a:t>
              </a:r>
            </a:p>
          </p:txBody>
        </p:sp>
        <p:sp>
          <p:nvSpPr>
            <p:cNvPr id="53" name="Rectangle 53"/>
            <p:cNvSpPr/>
            <p:nvPr/>
          </p:nvSpPr>
          <p:spPr>
            <a:xfrm>
              <a:off x="6032182" y="4668202"/>
              <a:ext cx="5626418" cy="9525"/>
            </a:xfrm>
            <a:prstGeom prst="rect">
              <a:avLst/>
            </a:prstGeom>
            <a:solidFill>
              <a:srgbClr val="D9DFEA"/>
            </a:solidFill>
            <a:ln>
              <a:noFill/>
            </a:ln>
          </p:spPr>
        </p:sp>
        <p:sp>
          <p:nvSpPr>
            <p:cNvPr id="54" name="TextBox 54"/>
            <p:cNvSpPr txBox="1"/>
            <p:nvPr/>
          </p:nvSpPr>
          <p:spPr>
            <a:xfrm>
              <a:off x="6140006" y="4807744"/>
              <a:ext cx="139146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平面流图的区域数</a:t>
              </a:r>
            </a:p>
          </p:txBody>
        </p:sp>
        <p:sp>
          <p:nvSpPr>
            <p:cNvPr id="55" name="TextBox 55"/>
            <p:cNvSpPr txBox="1"/>
            <p:nvPr/>
          </p:nvSpPr>
          <p:spPr>
            <a:xfrm>
              <a:off x="9066086" y="4807744"/>
              <a:ext cx="1077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6</a:t>
              </a:r>
            </a:p>
          </p:txBody>
        </p:sp>
        <p:sp>
          <p:nvSpPr>
            <p:cNvPr id="56" name="Rectangle 56"/>
            <p:cNvSpPr/>
            <p:nvPr/>
          </p:nvSpPr>
          <p:spPr>
            <a:xfrm>
              <a:off x="6032182" y="3099435"/>
              <a:ext cx="5626418" cy="2022158"/>
            </a:xfrm>
            <a:prstGeom prst="rect">
              <a:avLst/>
            </a:prstGeom>
            <a:noFill/>
            <a:ln w="14288">
              <a:solidFill>
                <a:srgbClr val="D9DFEA"/>
              </a:solidFill>
            </a:ln>
          </p:spPr>
        </p:sp>
        <p:sp>
          <p:nvSpPr>
            <p:cNvPr id="57" name="Rectangle 57"/>
            <p:cNvSpPr/>
            <p:nvPr/>
          </p:nvSpPr>
          <p:spPr>
            <a:xfrm>
              <a:off x="8953500" y="3099435"/>
              <a:ext cx="9525" cy="2022158"/>
            </a:xfrm>
            <a:prstGeom prst="rect">
              <a:avLst/>
            </a:prstGeom>
            <a:solidFill>
              <a:srgbClr val="D9DFEA"/>
            </a:solidFill>
            <a:ln>
              <a:noFill/>
            </a:ln>
          </p:spPr>
        </p:sp>
      </p:grpSp>
      <p:grpSp>
        <p:nvGrpSpPr>
          <p:cNvPr id="64" name="c2-callout-3"/>
          <p:cNvGrpSpPr/>
          <p:nvPr/>
        </p:nvGrpSpPr>
        <p:grpSpPr>
          <a:xfrm>
            <a:off x="6032182" y="5312092"/>
            <a:ext cx="5626418" cy="885825"/>
            <a:chOff x="6032182" y="5312092"/>
            <a:chExt cx="5626418" cy="885825"/>
          </a:xfrm>
        </p:grpSpPr>
        <p:sp>
          <p:nvSpPr>
            <p:cNvPr id="59" name="Rectangle 59"/>
            <p:cNvSpPr/>
            <p:nvPr/>
          </p:nvSpPr>
          <p:spPr>
            <a:xfrm>
              <a:off x="6032182" y="5312092"/>
              <a:ext cx="5626418" cy="885825"/>
            </a:xfrm>
            <a:prstGeom prst="roundRect">
              <a:avLst>
                <a:gd name="adj" fmla="val 12903"/>
              </a:avLst>
            </a:prstGeom>
            <a:solidFill>
              <a:srgbClr val="334E68"/>
            </a:solidFill>
            <a:ln>
              <a:noFill/>
            </a:ln>
          </p:spPr>
        </p:sp>
        <p:grpSp>
          <p:nvGrpSpPr>
            <p:cNvPr id="62" name="Group 62"/>
            <p:cNvGrpSpPr/>
            <p:nvPr/>
          </p:nvGrpSpPr>
          <p:grpSpPr>
            <a:xfrm>
              <a:off x="6236970" y="5654995"/>
              <a:ext cx="200023" cy="200023"/>
              <a:chOff x="6236970" y="5654995"/>
              <a:chExt cx="200023" cy="200023"/>
            </a:xfrm>
          </p:grpSpPr>
          <p:sp>
            <p:nvSpPr>
              <p:cNvPr id="60" name="Freeform 60"/>
              <p:cNvSpPr/>
              <p:nvPr/>
            </p:nvSpPr>
            <p:spPr>
              <a:xfrm>
                <a:off x="6236970" y="565499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1" name="Freeform 61"/>
              <p:cNvSpPr/>
              <p:nvPr/>
            </p:nvSpPr>
            <p:spPr>
              <a:xfrm>
                <a:off x="6370320" y="572166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3" name="TextBox 63"/>
            <p:cNvSpPr txBox="1"/>
            <p:nvPr/>
          </p:nvSpPr>
          <p:spPr>
            <a:xfrm>
              <a:off x="6538912" y="5512118"/>
              <a:ext cx="45491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三种算法得数必然相同，考试时用“判定结点数 + 1”最</a:t>
              </a:r>
              <a:br/>
              <a:r>
                <a:rPr lang="zh-CN" sz="1500" dirty="0">
                  <a:solidFill>
                    <a:srgbClr val="FFFFFF"/>
                  </a:solidFill>
                  <a:latin typeface="+mn-lt"/>
                  <a:ea typeface="+mn-ea"/>
                  <a:cs typeface="+mn-cs"/>
                </a:rPr>
                <a:t>快，再用边数减结点数验算一次。</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例题：求平均值过程的流图怎么画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7082790" cy="293370"/>
            <a:chOff x="525780" y="1548765"/>
            <a:chExt cx="7082790" cy="293370"/>
          </a:xfrm>
        </p:grpSpPr>
        <p:sp>
          <p:nvSpPr>
            <p:cNvPr id="7" name="TextBox 7"/>
            <p:cNvSpPr txBox="1"/>
            <p:nvPr/>
          </p:nvSpPr>
          <p:spPr>
            <a:xfrm>
              <a:off x="525780" y="1548765"/>
              <a:ext cx="7082790" cy="293370"/>
            </a:xfrm>
            <a:prstGeom prst="rect">
              <a:avLst/>
            </a:prstGeom>
            <a:noFill/>
            <a:ln>
              <a:noFill/>
            </a:ln>
          </p:spPr>
          <p:txBody>
            <a:bodyPr wrap="none" lIns="0" tIns="0" rIns="0" bIns="0" anchor="t" anchorCtr="0">
              <a:spAutoFit/>
            </a:bodyPr>
            <a:lstStyle/>
            <a:p>
              <a:pPr algn="l"/>
              <a:r>
                <a:rPr lang="zh-CN" sz="1500" dirty="0">
                  <a:solidFill>
                    <a:srgbClr val="5B6475"/>
                  </a:solidFill>
                  <a:latin typeface="+mn-lt"/>
                  <a:ea typeface="+mn-ea"/>
                  <a:cs typeface="+mn-cs"/>
                </a:rPr>
                <a:t>把连续的顺序语句并成一个结点，条件里的每个简单条件单独成一个判定结点。</a:t>
              </a:r>
            </a:p>
          </p:txBody>
        </p:sp>
      </p:grpSp>
      <p:grpSp>
        <p:nvGrpSpPr>
          <p:cNvPr id="12" name="c1-code-1"/>
          <p:cNvGrpSpPr/>
          <p:nvPr/>
        </p:nvGrpSpPr>
        <p:grpSpPr>
          <a:xfrm>
            <a:off x="533400" y="1954530"/>
            <a:ext cx="5626418" cy="3344228"/>
            <a:chOff x="533400" y="1954530"/>
            <a:chExt cx="5626418" cy="3344228"/>
          </a:xfrm>
        </p:grpSpPr>
        <p:sp>
          <p:nvSpPr>
            <p:cNvPr id="9" name="Rectangle 9"/>
            <p:cNvSpPr/>
            <p:nvPr/>
          </p:nvSpPr>
          <p:spPr>
            <a:xfrm>
              <a:off x="533400" y="1954530"/>
              <a:ext cx="5626418" cy="3344228"/>
            </a:xfrm>
            <a:prstGeom prst="roundRect">
              <a:avLst>
                <a:gd name="adj" fmla="val 2848"/>
              </a:avLst>
            </a:prstGeom>
            <a:solidFill>
              <a:srgbClr val="F6F8FA"/>
            </a:solidFill>
            <a:ln w="11430">
              <a:solidFill>
                <a:srgbClr val="D9DFEA"/>
              </a:solidFill>
            </a:ln>
          </p:spPr>
        </p:sp>
        <p:sp>
          <p:nvSpPr>
            <p:cNvPr id="10" name="TextBox 10"/>
            <p:cNvSpPr txBox="1"/>
            <p:nvPr/>
          </p:nvSpPr>
          <p:spPr>
            <a:xfrm>
              <a:off x="661797" y="2106454"/>
              <a:ext cx="1988820"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求平均值过程的设计，结点已编号</a:t>
              </a:r>
            </a:p>
          </p:txBody>
        </p:sp>
        <p:sp>
          <p:nvSpPr>
            <p:cNvPr id="11" name="TextBox 11"/>
            <p:cNvSpPr txBox="1"/>
            <p:nvPr/>
          </p:nvSpPr>
          <p:spPr>
            <a:xfrm>
              <a:off x="661416" y="2367915"/>
              <a:ext cx="3824478" cy="2859024"/>
            </a:xfrm>
            <a:prstGeom prst="rect">
              <a:avLst/>
            </a:prstGeom>
            <a:noFill/>
            <a:ln>
              <a:noFill/>
            </a:ln>
          </p:spPr>
          <p:txBody>
            <a:bodyPr wrap="none" lIns="0" tIns="0" rIns="0" bIns="0" anchor="t" anchorCtr="0">
              <a:spAutoFit/>
            </a:bodyPr>
            <a:lstStyle/>
            <a:p>
              <a:pPr algn="l">
                <a:lnSpc>
                  <a:spcPts val="1492"/>
                </a:lnSpc>
              </a:pPr>
              <a:r>
                <a:rPr lang="en-US" sz="1050" dirty="0">
                  <a:solidFill>
                    <a:srgbClr val="1F2937"/>
                  </a:solidFill>
                  <a:latin typeface="Consolas"/>
                  <a:ea typeface="Consolas"/>
                  <a:cs typeface="Consolas"/>
                </a:rPr>
                <a:t>1:  i = 1;  total.input = total.valid = 0;  sum = 0;</a:t>
              </a:r>
              <a:br/>
              <a:r>
                <a:rPr lang="en-US" sz="1050" dirty="0">
                  <a:solidFill>
                    <a:srgbClr val="1F2937"/>
                  </a:solidFill>
                  <a:latin typeface="Consolas"/>
                  <a:ea typeface="Consolas"/>
                  <a:cs typeface="Consolas"/>
                </a:rPr>
                <a:t>2:  DO WHILE value[i] &lt;&gt; -999</a:t>
              </a:r>
              <a:br/>
              <a:r>
                <a:rPr lang="en-US" sz="1050" dirty="0">
                  <a:solidFill>
                    <a:srgbClr val="1F2937"/>
                  </a:solidFill>
                  <a:latin typeface="Consolas"/>
                  <a:ea typeface="Consolas"/>
                  <a:cs typeface="Consolas"/>
                </a:rPr>
                <a:t>3:    AND total.input &lt; 100</a:t>
              </a:r>
              <a:br/>
              <a:r>
                <a:rPr lang="en-US" sz="1050" dirty="0">
                  <a:solidFill>
                    <a:srgbClr val="1F2937"/>
                  </a:solidFill>
                  <a:latin typeface="Consolas"/>
                  <a:ea typeface="Consolas"/>
                  <a:cs typeface="Consolas"/>
                </a:rPr>
                <a:t>4:      increment total.input by 1;</a:t>
              </a:r>
              <a:br/>
              <a:r>
                <a:rPr lang="en-US" sz="1050" dirty="0">
                  <a:solidFill>
                    <a:srgbClr val="1F2937"/>
                  </a:solidFill>
                  <a:latin typeface="Consolas"/>
                  <a:ea typeface="Consolas"/>
                  <a:cs typeface="Consolas"/>
                </a:rPr>
                <a:t>5:      IF value[i] &gt;= minimum</a:t>
              </a:r>
              <a:br/>
              <a:r>
                <a:rPr lang="en-US" sz="1050" dirty="0">
                  <a:solidFill>
                    <a:srgbClr val="1F2937"/>
                  </a:solidFill>
                  <a:latin typeface="Consolas"/>
                  <a:ea typeface="Consolas"/>
                  <a:cs typeface="Consolas"/>
                </a:rPr>
                <a:t>6:        AND value[i] &lt;= maximum</a:t>
              </a:r>
              <a:br/>
              <a:r>
                <a:rPr lang="en-US" sz="1050" dirty="0">
                  <a:solidFill>
                    <a:srgbClr val="1F2937"/>
                  </a:solidFill>
                  <a:latin typeface="Consolas"/>
                  <a:ea typeface="Consolas"/>
                  <a:cs typeface="Consolas"/>
                </a:rPr>
                <a:t>7:        THEN increment total.valid by 1;</a:t>
              </a:r>
              <a:br/>
              <a:r>
                <a:rPr lang="en-US" sz="1050" dirty="0">
                  <a:solidFill>
                    <a:srgbClr val="1F2937"/>
                  </a:solidFill>
                  <a:latin typeface="Consolas"/>
                  <a:ea typeface="Consolas"/>
                  <a:cs typeface="Consolas"/>
                </a:rPr>
                <a:t xml:space="preserve">               sum = sum + value[i];</a:t>
              </a:r>
              <a:br/>
              <a:r>
                <a:rPr lang="en-US" sz="1050" dirty="0">
                  <a:solidFill>
                    <a:srgbClr val="1F2937"/>
                  </a:solidFill>
                  <a:latin typeface="Consolas"/>
                  <a:ea typeface="Consolas"/>
                  <a:cs typeface="Consolas"/>
                </a:rPr>
                <a:t>8:      ENDIF</a:t>
              </a:r>
              <a:br/>
              <a:r>
                <a:rPr lang="en-US" sz="1050" dirty="0">
                  <a:solidFill>
                    <a:srgbClr val="1F2937"/>
                  </a:solidFill>
                  <a:latin typeface="Consolas"/>
                  <a:ea typeface="Consolas"/>
                  <a:cs typeface="Consolas"/>
                </a:rPr>
                <a:t xml:space="preserve">        increment i by 1;</a:t>
              </a:r>
              <a:br/>
              <a:r>
                <a:rPr lang="en-US" sz="1050" dirty="0">
                  <a:solidFill>
                    <a:srgbClr val="1F2937"/>
                  </a:solidFill>
                  <a:latin typeface="Consolas"/>
                  <a:ea typeface="Consolas"/>
                  <a:cs typeface="Consolas"/>
                </a:rPr>
                <a:t>9:  ENDDO</a:t>
              </a:r>
              <a:br/>
              <a:r>
                <a:rPr lang="en-US" sz="1050" dirty="0">
                  <a:solidFill>
                    <a:srgbClr val="1F2937"/>
                  </a:solidFill>
                  <a:latin typeface="Consolas"/>
                  <a:ea typeface="Consolas"/>
                  <a:cs typeface="Consolas"/>
                </a:rPr>
                <a:t>10: IF total.valid &gt; 0</a:t>
              </a:r>
              <a:br/>
              <a:r>
                <a:rPr lang="en-US" sz="1050" dirty="0">
                  <a:solidFill>
                    <a:srgbClr val="1F2937"/>
                  </a:solidFill>
                  <a:latin typeface="Consolas"/>
                  <a:ea typeface="Consolas"/>
                  <a:cs typeface="Consolas"/>
                </a:rPr>
                <a:t>11:   THEN average = sum / total.valid;</a:t>
              </a:r>
              <a:br/>
              <a:r>
                <a:rPr lang="en-US" sz="1050" dirty="0">
                  <a:solidFill>
                    <a:srgbClr val="1F2937"/>
                  </a:solidFill>
                  <a:latin typeface="Consolas"/>
                  <a:ea typeface="Consolas"/>
                  <a:cs typeface="Consolas"/>
                </a:rPr>
                <a:t>12:   ELSE average = -999;</a:t>
              </a:r>
              <a:br/>
              <a:r>
                <a:rPr lang="en-US" sz="1050" dirty="0">
                  <a:solidFill>
                    <a:srgbClr val="1F2937"/>
                  </a:solidFill>
                  <a:latin typeface="Consolas"/>
                  <a:ea typeface="Consolas"/>
                  <a:cs typeface="Consolas"/>
                </a:rPr>
                <a:t>13: ENDIF    END average</a:t>
              </a:r>
            </a:p>
          </p:txBody>
        </p:sp>
      </p:grpSp>
      <p:grpSp>
        <p:nvGrpSpPr>
          <p:cNvPr id="19" name="c1-callout-2"/>
          <p:cNvGrpSpPr/>
          <p:nvPr/>
        </p:nvGrpSpPr>
        <p:grpSpPr>
          <a:xfrm>
            <a:off x="533400" y="5478780"/>
            <a:ext cx="5626418" cy="756285"/>
            <a:chOff x="533400" y="5478780"/>
            <a:chExt cx="5626418" cy="756285"/>
          </a:xfrm>
        </p:grpSpPr>
        <p:sp>
          <p:nvSpPr>
            <p:cNvPr id="13" name="Rectangle 13"/>
            <p:cNvSpPr/>
            <p:nvPr/>
          </p:nvSpPr>
          <p:spPr>
            <a:xfrm>
              <a:off x="533400" y="5478780"/>
              <a:ext cx="5626418" cy="756285"/>
            </a:xfrm>
            <a:prstGeom prst="roundRect">
              <a:avLst>
                <a:gd name="adj" fmla="val 15113"/>
              </a:avLst>
            </a:prstGeom>
            <a:solidFill>
              <a:srgbClr val="F4F6FB"/>
            </a:solidFill>
            <a:ln>
              <a:noFill/>
            </a:ln>
          </p:spPr>
        </p:sp>
        <p:grpSp>
          <p:nvGrpSpPr>
            <p:cNvPr id="17" name="Group 17"/>
            <p:cNvGrpSpPr/>
            <p:nvPr/>
          </p:nvGrpSpPr>
          <p:grpSpPr>
            <a:xfrm>
              <a:off x="738188" y="5756910"/>
              <a:ext cx="200026" cy="200026"/>
              <a:chOff x="738188" y="5756910"/>
              <a:chExt cx="200026" cy="200026"/>
            </a:xfrm>
          </p:grpSpPr>
          <p:sp>
            <p:nvSpPr>
              <p:cNvPr id="14" name="Freeform 14"/>
              <p:cNvSpPr/>
              <p:nvPr/>
            </p:nvSpPr>
            <p:spPr>
              <a:xfrm>
                <a:off x="738188" y="575691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5" name="Freeform 15"/>
              <p:cNvSpPr/>
              <p:nvPr/>
            </p:nvSpPr>
            <p:spPr>
              <a:xfrm>
                <a:off x="838200" y="582358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6" name="Freeform 16"/>
              <p:cNvSpPr/>
              <p:nvPr/>
            </p:nvSpPr>
            <p:spPr>
              <a:xfrm>
                <a:off x="827088" y="585692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8" name="TextBox 18"/>
            <p:cNvSpPr txBox="1"/>
            <p:nvPr/>
          </p:nvSpPr>
          <p:spPr>
            <a:xfrm>
              <a:off x="1040511" y="5626894"/>
              <a:ext cx="4586097"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结点 2 与 3 是 DO WHILE 里的两个简单条件，5 与 6 是 IF</a:t>
              </a:r>
              <a:br/>
              <a:r>
                <a:rPr lang="zh-CN" sz="1420" dirty="0">
                  <a:solidFill>
                    <a:srgbClr val="1F2937"/>
                  </a:solidFill>
                  <a:latin typeface="+mn-lt"/>
                  <a:ea typeface="+mn-ea"/>
                  <a:cs typeface="+mn-cs"/>
                </a:rPr>
                <a:t>里的两个简单条件，所以判定结点共 5 个。</a:t>
              </a:r>
            </a:p>
          </p:txBody>
        </p:sp>
      </p:grpSp>
      <p:grpSp>
        <p:nvGrpSpPr>
          <p:cNvPr id="80" name="c2-graph-1"/>
          <p:cNvGrpSpPr/>
          <p:nvPr/>
        </p:nvGrpSpPr>
        <p:grpSpPr>
          <a:xfrm>
            <a:off x="6806565" y="2016442"/>
            <a:ext cx="4592002" cy="4157663"/>
            <a:chOff x="6806565" y="2016442"/>
            <a:chExt cx="4592002" cy="4157663"/>
          </a:xfrm>
        </p:grpSpPr>
        <p:sp>
          <p:nvSpPr>
            <p:cNvPr id="20" name="Freeform 20"/>
            <p:cNvSpPr/>
            <p:nvPr/>
          </p:nvSpPr>
          <p:spPr>
            <a:xfrm>
              <a:off x="9165908" y="2330768"/>
              <a:ext cx="9525" cy="94298"/>
            </a:xfrm>
            <a:custGeom>
              <a:avLst/>
              <a:gdLst/>
              <a:ahLst/>
              <a:cxnLst/>
              <a:rect l="l" t="t" r="r" b="b"/>
              <a:pathLst>
                <a:path w="9525" h="94298">
                  <a:moveTo>
                    <a:pt x="0" y="0"/>
                  </a:moveTo>
                  <a:lnTo>
                    <a:pt x="0" y="94298"/>
                  </a:lnTo>
                </a:path>
              </a:pathLst>
            </a:custGeom>
            <a:noFill/>
            <a:ln w="17145">
              <a:solidFill>
                <a:srgbClr val="1F2937"/>
              </a:solidFill>
            </a:ln>
          </p:spPr>
        </p:sp>
        <p:sp>
          <p:nvSpPr>
            <p:cNvPr id="21" name="Freeform 21"/>
            <p:cNvSpPr/>
            <p:nvPr/>
          </p:nvSpPr>
          <p:spPr>
            <a:xfrm>
              <a:off x="9118282" y="242506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22" name="Freeform 22"/>
            <p:cNvSpPr/>
            <p:nvPr/>
          </p:nvSpPr>
          <p:spPr>
            <a:xfrm>
              <a:off x="9262110" y="2811780"/>
              <a:ext cx="164783" cy="220980"/>
            </a:xfrm>
            <a:custGeom>
              <a:avLst/>
              <a:gdLst/>
              <a:ahLst/>
              <a:cxnLst/>
              <a:rect l="l" t="t" r="r" b="b"/>
              <a:pathLst>
                <a:path w="164783" h="220980">
                  <a:moveTo>
                    <a:pt x="0" y="0"/>
                  </a:moveTo>
                  <a:lnTo>
                    <a:pt x="164783" y="220980"/>
                  </a:lnTo>
                </a:path>
              </a:pathLst>
            </a:custGeom>
            <a:noFill/>
            <a:ln w="17145">
              <a:solidFill>
                <a:srgbClr val="1F2937"/>
              </a:solidFill>
            </a:ln>
          </p:spPr>
        </p:sp>
        <p:sp>
          <p:nvSpPr>
            <p:cNvPr id="23" name="Freeform 23"/>
            <p:cNvSpPr/>
            <p:nvPr/>
          </p:nvSpPr>
          <p:spPr>
            <a:xfrm>
              <a:off x="9388792" y="3004185"/>
              <a:ext cx="95250" cy="104775"/>
            </a:xfrm>
            <a:custGeom>
              <a:avLst/>
              <a:gdLst/>
              <a:ahLst/>
              <a:cxnLst/>
              <a:rect l="l" t="t" r="r" b="b"/>
              <a:pathLst>
                <a:path w="95250" h="104775">
                  <a:moveTo>
                    <a:pt x="95250" y="104775"/>
                  </a:moveTo>
                  <a:lnTo>
                    <a:pt x="0" y="57150"/>
                  </a:lnTo>
                  <a:lnTo>
                    <a:pt x="76200" y="0"/>
                  </a:lnTo>
                  <a:close/>
                </a:path>
              </a:pathLst>
            </a:custGeom>
            <a:solidFill>
              <a:srgbClr val="1F2937"/>
            </a:solidFill>
            <a:ln>
              <a:noFill/>
            </a:ln>
          </p:spPr>
        </p:sp>
        <p:sp>
          <p:nvSpPr>
            <p:cNvPr id="24" name="Freeform 24"/>
            <p:cNvSpPr/>
            <p:nvPr/>
          </p:nvSpPr>
          <p:spPr>
            <a:xfrm>
              <a:off x="7873365" y="2736532"/>
              <a:ext cx="1140142" cy="407670"/>
            </a:xfrm>
            <a:custGeom>
              <a:avLst/>
              <a:gdLst/>
              <a:ahLst/>
              <a:cxnLst/>
              <a:rect l="l" t="t" r="r" b="b"/>
              <a:pathLst>
                <a:path w="1140142" h="407670">
                  <a:moveTo>
                    <a:pt x="1140142" y="0"/>
                  </a:moveTo>
                  <a:lnTo>
                    <a:pt x="0" y="407670"/>
                  </a:lnTo>
                </a:path>
              </a:pathLst>
            </a:custGeom>
            <a:noFill/>
            <a:ln w="17145">
              <a:solidFill>
                <a:srgbClr val="1F2937"/>
              </a:solidFill>
            </a:ln>
          </p:spPr>
        </p:sp>
        <p:sp>
          <p:nvSpPr>
            <p:cNvPr id="25" name="Freeform 25"/>
            <p:cNvSpPr/>
            <p:nvPr/>
          </p:nvSpPr>
          <p:spPr>
            <a:xfrm>
              <a:off x="7783830" y="3099435"/>
              <a:ext cx="105727" cy="89535"/>
            </a:xfrm>
            <a:custGeom>
              <a:avLst/>
              <a:gdLst/>
              <a:ahLst/>
              <a:cxnLst/>
              <a:rect l="l" t="t" r="r" b="b"/>
              <a:pathLst>
                <a:path w="105727" h="89535">
                  <a:moveTo>
                    <a:pt x="0" y="76200"/>
                  </a:moveTo>
                  <a:lnTo>
                    <a:pt x="73342" y="0"/>
                  </a:lnTo>
                  <a:lnTo>
                    <a:pt x="105727" y="89535"/>
                  </a:lnTo>
                  <a:close/>
                </a:path>
              </a:pathLst>
            </a:custGeom>
            <a:solidFill>
              <a:srgbClr val="1F2937"/>
            </a:solidFill>
            <a:ln>
              <a:noFill/>
            </a:ln>
          </p:spPr>
        </p:sp>
        <p:sp>
          <p:nvSpPr>
            <p:cNvPr id="26" name="Freeform 26"/>
            <p:cNvSpPr/>
            <p:nvPr/>
          </p:nvSpPr>
          <p:spPr>
            <a:xfrm>
              <a:off x="9581198" y="3400425"/>
              <a:ext cx="9525" cy="95250"/>
            </a:xfrm>
            <a:custGeom>
              <a:avLst/>
              <a:gdLst/>
              <a:ahLst/>
              <a:cxnLst/>
              <a:rect l="l" t="t" r="r" b="b"/>
              <a:pathLst>
                <a:path w="9525" h="95250">
                  <a:moveTo>
                    <a:pt x="0" y="0"/>
                  </a:moveTo>
                  <a:lnTo>
                    <a:pt x="0" y="95250"/>
                  </a:lnTo>
                </a:path>
              </a:pathLst>
            </a:custGeom>
            <a:noFill/>
            <a:ln w="17145">
              <a:solidFill>
                <a:srgbClr val="1F2937"/>
              </a:solidFill>
            </a:ln>
          </p:spPr>
        </p:sp>
        <p:sp>
          <p:nvSpPr>
            <p:cNvPr id="27" name="Freeform 27"/>
            <p:cNvSpPr/>
            <p:nvPr/>
          </p:nvSpPr>
          <p:spPr>
            <a:xfrm>
              <a:off x="9533572" y="349567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28" name="Freeform 28"/>
            <p:cNvSpPr/>
            <p:nvPr/>
          </p:nvSpPr>
          <p:spPr>
            <a:xfrm>
              <a:off x="7889558" y="3238500"/>
              <a:ext cx="1529715" cy="9525"/>
            </a:xfrm>
            <a:custGeom>
              <a:avLst/>
              <a:gdLst/>
              <a:ahLst/>
              <a:cxnLst/>
              <a:rect l="l" t="t" r="r" b="b"/>
              <a:pathLst>
                <a:path w="1529715" h="9525">
                  <a:moveTo>
                    <a:pt x="1529715" y="0"/>
                  </a:moveTo>
                  <a:lnTo>
                    <a:pt x="0" y="0"/>
                  </a:lnTo>
                </a:path>
              </a:pathLst>
            </a:custGeom>
            <a:noFill/>
            <a:ln w="17145">
              <a:solidFill>
                <a:srgbClr val="1F2937"/>
              </a:solidFill>
            </a:ln>
          </p:spPr>
        </p:sp>
        <p:sp>
          <p:nvSpPr>
            <p:cNvPr id="29" name="Freeform 29"/>
            <p:cNvSpPr/>
            <p:nvPr/>
          </p:nvSpPr>
          <p:spPr>
            <a:xfrm>
              <a:off x="7794308" y="3190875"/>
              <a:ext cx="95250" cy="95250"/>
            </a:xfrm>
            <a:custGeom>
              <a:avLst/>
              <a:gdLst/>
              <a:ahLst/>
              <a:cxnLst/>
              <a:rect l="l" t="t" r="r" b="b"/>
              <a:pathLst>
                <a:path w="95250" h="95250">
                  <a:moveTo>
                    <a:pt x="0" y="47625"/>
                  </a:moveTo>
                  <a:lnTo>
                    <a:pt x="95250" y="0"/>
                  </a:lnTo>
                  <a:lnTo>
                    <a:pt x="95250" y="95250"/>
                  </a:lnTo>
                  <a:close/>
                </a:path>
              </a:pathLst>
            </a:custGeom>
            <a:solidFill>
              <a:srgbClr val="1F2937"/>
            </a:solidFill>
            <a:ln>
              <a:noFill/>
            </a:ln>
          </p:spPr>
        </p:sp>
        <p:sp>
          <p:nvSpPr>
            <p:cNvPr id="30" name="Freeform 30"/>
            <p:cNvSpPr/>
            <p:nvPr/>
          </p:nvSpPr>
          <p:spPr>
            <a:xfrm>
              <a:off x="9581198" y="3914775"/>
              <a:ext cx="9525" cy="94297"/>
            </a:xfrm>
            <a:custGeom>
              <a:avLst/>
              <a:gdLst/>
              <a:ahLst/>
              <a:cxnLst/>
              <a:rect l="l" t="t" r="r" b="b"/>
              <a:pathLst>
                <a:path w="9525" h="94297">
                  <a:moveTo>
                    <a:pt x="0" y="0"/>
                  </a:moveTo>
                  <a:lnTo>
                    <a:pt x="0" y="94297"/>
                  </a:lnTo>
                </a:path>
              </a:pathLst>
            </a:custGeom>
            <a:noFill/>
            <a:ln w="17145">
              <a:solidFill>
                <a:srgbClr val="1F2937"/>
              </a:solidFill>
            </a:ln>
          </p:spPr>
        </p:sp>
        <p:sp>
          <p:nvSpPr>
            <p:cNvPr id="31" name="Freeform 31"/>
            <p:cNvSpPr/>
            <p:nvPr/>
          </p:nvSpPr>
          <p:spPr>
            <a:xfrm>
              <a:off x="9533572" y="4009072"/>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32" name="Freeform 32"/>
            <p:cNvSpPr/>
            <p:nvPr/>
          </p:nvSpPr>
          <p:spPr>
            <a:xfrm>
              <a:off x="9696450" y="4379595"/>
              <a:ext cx="220980" cy="219075"/>
            </a:xfrm>
            <a:custGeom>
              <a:avLst/>
              <a:gdLst/>
              <a:ahLst/>
              <a:cxnLst/>
              <a:rect l="l" t="t" r="r" b="b"/>
              <a:pathLst>
                <a:path w="220980" h="219075">
                  <a:moveTo>
                    <a:pt x="0" y="0"/>
                  </a:moveTo>
                  <a:lnTo>
                    <a:pt x="220980" y="219075"/>
                  </a:lnTo>
                </a:path>
              </a:pathLst>
            </a:custGeom>
            <a:noFill/>
            <a:ln w="17145">
              <a:solidFill>
                <a:srgbClr val="1F2937"/>
              </a:solidFill>
            </a:ln>
          </p:spPr>
        </p:sp>
        <p:sp>
          <p:nvSpPr>
            <p:cNvPr id="33" name="Freeform 33"/>
            <p:cNvSpPr/>
            <p:nvPr/>
          </p:nvSpPr>
          <p:spPr>
            <a:xfrm>
              <a:off x="9884092" y="4565332"/>
              <a:ext cx="100965" cy="100965"/>
            </a:xfrm>
            <a:custGeom>
              <a:avLst/>
              <a:gdLst/>
              <a:ahLst/>
              <a:cxnLst/>
              <a:rect l="l" t="t" r="r" b="b"/>
              <a:pathLst>
                <a:path w="100965" h="100965">
                  <a:moveTo>
                    <a:pt x="100965" y="100965"/>
                  </a:moveTo>
                  <a:lnTo>
                    <a:pt x="0" y="67627"/>
                  </a:lnTo>
                  <a:lnTo>
                    <a:pt x="66675" y="0"/>
                  </a:lnTo>
                  <a:close/>
                </a:path>
              </a:pathLst>
            </a:custGeom>
            <a:solidFill>
              <a:srgbClr val="1F2937"/>
            </a:solidFill>
            <a:ln>
              <a:noFill/>
            </a:ln>
          </p:spPr>
        </p:sp>
        <p:sp>
          <p:nvSpPr>
            <p:cNvPr id="34" name="Freeform 34"/>
            <p:cNvSpPr/>
            <p:nvPr/>
          </p:nvSpPr>
          <p:spPr>
            <a:xfrm>
              <a:off x="9581198" y="4428172"/>
              <a:ext cx="9525" cy="864870"/>
            </a:xfrm>
            <a:custGeom>
              <a:avLst/>
              <a:gdLst/>
              <a:ahLst/>
              <a:cxnLst/>
              <a:rect l="l" t="t" r="r" b="b"/>
              <a:pathLst>
                <a:path w="9525" h="864870">
                  <a:moveTo>
                    <a:pt x="0" y="0"/>
                  </a:moveTo>
                  <a:lnTo>
                    <a:pt x="0" y="864870"/>
                  </a:lnTo>
                </a:path>
              </a:pathLst>
            </a:custGeom>
            <a:noFill/>
            <a:ln w="17145">
              <a:solidFill>
                <a:srgbClr val="1F2937"/>
              </a:solidFill>
            </a:ln>
          </p:spPr>
        </p:sp>
        <p:sp>
          <p:nvSpPr>
            <p:cNvPr id="35" name="Freeform 35"/>
            <p:cNvSpPr/>
            <p:nvPr/>
          </p:nvSpPr>
          <p:spPr>
            <a:xfrm>
              <a:off x="9533572" y="5293042"/>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36" name="Freeform 36"/>
            <p:cNvSpPr/>
            <p:nvPr/>
          </p:nvSpPr>
          <p:spPr>
            <a:xfrm>
              <a:off x="10215562" y="4893945"/>
              <a:ext cx="220980" cy="219075"/>
            </a:xfrm>
            <a:custGeom>
              <a:avLst/>
              <a:gdLst/>
              <a:ahLst/>
              <a:cxnLst/>
              <a:rect l="l" t="t" r="r" b="b"/>
              <a:pathLst>
                <a:path w="220980" h="219075">
                  <a:moveTo>
                    <a:pt x="0" y="0"/>
                  </a:moveTo>
                  <a:lnTo>
                    <a:pt x="220980" y="219075"/>
                  </a:lnTo>
                </a:path>
              </a:pathLst>
            </a:custGeom>
            <a:noFill/>
            <a:ln w="17145">
              <a:solidFill>
                <a:srgbClr val="1F2937"/>
              </a:solidFill>
            </a:ln>
          </p:spPr>
        </p:sp>
        <p:sp>
          <p:nvSpPr>
            <p:cNvPr id="37" name="Freeform 37"/>
            <p:cNvSpPr/>
            <p:nvPr/>
          </p:nvSpPr>
          <p:spPr>
            <a:xfrm>
              <a:off x="10403205" y="5078730"/>
              <a:ext cx="101918" cy="100965"/>
            </a:xfrm>
            <a:custGeom>
              <a:avLst/>
              <a:gdLst/>
              <a:ahLst/>
              <a:cxnLst/>
              <a:rect l="l" t="t" r="r" b="b"/>
              <a:pathLst>
                <a:path w="101918" h="100965">
                  <a:moveTo>
                    <a:pt x="101918" y="100965"/>
                  </a:moveTo>
                  <a:lnTo>
                    <a:pt x="0" y="67627"/>
                  </a:lnTo>
                  <a:lnTo>
                    <a:pt x="67627" y="0"/>
                  </a:lnTo>
                  <a:close/>
                </a:path>
              </a:pathLst>
            </a:custGeom>
            <a:solidFill>
              <a:srgbClr val="1F2937"/>
            </a:solidFill>
            <a:ln>
              <a:noFill/>
            </a:ln>
          </p:spPr>
        </p:sp>
        <p:sp>
          <p:nvSpPr>
            <p:cNvPr id="38" name="Freeform 38"/>
            <p:cNvSpPr/>
            <p:nvPr/>
          </p:nvSpPr>
          <p:spPr>
            <a:xfrm>
              <a:off x="9725025" y="4913948"/>
              <a:ext cx="284798" cy="422910"/>
            </a:xfrm>
            <a:custGeom>
              <a:avLst/>
              <a:gdLst/>
              <a:ahLst/>
              <a:cxnLst/>
              <a:rect l="l" t="t" r="r" b="b"/>
              <a:pathLst>
                <a:path w="284798" h="422910">
                  <a:moveTo>
                    <a:pt x="284798" y="0"/>
                  </a:moveTo>
                  <a:lnTo>
                    <a:pt x="0" y="422910"/>
                  </a:lnTo>
                </a:path>
              </a:pathLst>
            </a:custGeom>
            <a:noFill/>
            <a:ln w="17145">
              <a:solidFill>
                <a:srgbClr val="1F2937"/>
              </a:solidFill>
            </a:ln>
          </p:spPr>
        </p:sp>
        <p:sp>
          <p:nvSpPr>
            <p:cNvPr id="39" name="Freeform 39"/>
            <p:cNvSpPr/>
            <p:nvPr/>
          </p:nvSpPr>
          <p:spPr>
            <a:xfrm>
              <a:off x="9671685" y="5310188"/>
              <a:ext cx="92392" cy="105728"/>
            </a:xfrm>
            <a:custGeom>
              <a:avLst/>
              <a:gdLst/>
              <a:ahLst/>
              <a:cxnLst/>
              <a:rect l="l" t="t" r="r" b="b"/>
              <a:pathLst>
                <a:path w="92392" h="105728">
                  <a:moveTo>
                    <a:pt x="0" y="105728"/>
                  </a:moveTo>
                  <a:lnTo>
                    <a:pt x="13335" y="0"/>
                  </a:lnTo>
                  <a:lnTo>
                    <a:pt x="92392" y="53340"/>
                  </a:lnTo>
                  <a:close/>
                </a:path>
              </a:pathLst>
            </a:custGeom>
            <a:solidFill>
              <a:srgbClr val="1F2937"/>
            </a:solidFill>
            <a:ln>
              <a:noFill/>
            </a:ln>
          </p:spPr>
        </p:sp>
        <p:sp>
          <p:nvSpPr>
            <p:cNvPr id="40" name="Freeform 40"/>
            <p:cNvSpPr/>
            <p:nvPr/>
          </p:nvSpPr>
          <p:spPr>
            <a:xfrm>
              <a:off x="9830752" y="5332095"/>
              <a:ext cx="631508" cy="156210"/>
            </a:xfrm>
            <a:custGeom>
              <a:avLst/>
              <a:gdLst/>
              <a:ahLst/>
              <a:cxnLst/>
              <a:rect l="l" t="t" r="r" b="b"/>
              <a:pathLst>
                <a:path w="631508" h="156210">
                  <a:moveTo>
                    <a:pt x="631508" y="0"/>
                  </a:moveTo>
                  <a:lnTo>
                    <a:pt x="0" y="156210"/>
                  </a:lnTo>
                </a:path>
              </a:pathLst>
            </a:custGeom>
            <a:noFill/>
            <a:ln w="17145">
              <a:solidFill>
                <a:srgbClr val="1F2937"/>
              </a:solidFill>
            </a:ln>
          </p:spPr>
        </p:sp>
        <p:sp>
          <p:nvSpPr>
            <p:cNvPr id="41" name="Freeform 41"/>
            <p:cNvSpPr/>
            <p:nvPr/>
          </p:nvSpPr>
          <p:spPr>
            <a:xfrm>
              <a:off x="9738360" y="5442585"/>
              <a:ext cx="103822" cy="92393"/>
            </a:xfrm>
            <a:custGeom>
              <a:avLst/>
              <a:gdLst/>
              <a:ahLst/>
              <a:cxnLst/>
              <a:rect l="l" t="t" r="r" b="b"/>
              <a:pathLst>
                <a:path w="103822" h="92393">
                  <a:moveTo>
                    <a:pt x="0" y="68580"/>
                  </a:moveTo>
                  <a:lnTo>
                    <a:pt x="80963" y="0"/>
                  </a:lnTo>
                  <a:lnTo>
                    <a:pt x="103822" y="92393"/>
                  </a:lnTo>
                  <a:close/>
                </a:path>
              </a:pathLst>
            </a:custGeom>
            <a:solidFill>
              <a:srgbClr val="1F2937"/>
            </a:solidFill>
            <a:ln>
              <a:noFill/>
            </a:ln>
          </p:spPr>
        </p:sp>
        <p:sp>
          <p:nvSpPr>
            <p:cNvPr id="42" name="Freeform 42"/>
            <p:cNvSpPr/>
            <p:nvPr/>
          </p:nvSpPr>
          <p:spPr>
            <a:xfrm>
              <a:off x="9581198" y="5712142"/>
              <a:ext cx="9525" cy="52388"/>
            </a:xfrm>
            <a:custGeom>
              <a:avLst/>
              <a:gdLst/>
              <a:ahLst/>
              <a:cxnLst/>
              <a:rect l="l" t="t" r="r" b="b"/>
              <a:pathLst>
                <a:path w="9525" h="52388">
                  <a:moveTo>
                    <a:pt x="0" y="0"/>
                  </a:moveTo>
                  <a:lnTo>
                    <a:pt x="0" y="52388"/>
                  </a:lnTo>
                </a:path>
              </a:pathLst>
            </a:custGeom>
            <a:noFill/>
            <a:ln w="17145">
              <a:solidFill>
                <a:srgbClr val="1F2937"/>
              </a:solidFill>
            </a:ln>
          </p:spPr>
        </p:sp>
        <p:sp>
          <p:nvSpPr>
            <p:cNvPr id="43" name="Freeform 43"/>
            <p:cNvSpPr/>
            <p:nvPr/>
          </p:nvSpPr>
          <p:spPr>
            <a:xfrm>
              <a:off x="9533572" y="5764530"/>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44" name="Freeform 44"/>
            <p:cNvSpPr/>
            <p:nvPr/>
          </p:nvSpPr>
          <p:spPr>
            <a:xfrm>
              <a:off x="9423082" y="2682240"/>
              <a:ext cx="1975485" cy="3339465"/>
            </a:xfrm>
            <a:custGeom>
              <a:avLst/>
              <a:gdLst/>
              <a:ahLst/>
              <a:cxnLst/>
              <a:rect l="l" t="t" r="r" b="b"/>
              <a:pathLst>
                <a:path w="1975485" h="3339465">
                  <a:moveTo>
                    <a:pt x="320040" y="3339465"/>
                  </a:moveTo>
                  <a:lnTo>
                    <a:pt x="1975485" y="3339465"/>
                  </a:lnTo>
                  <a:lnTo>
                    <a:pt x="1975485" y="0"/>
                  </a:lnTo>
                  <a:lnTo>
                    <a:pt x="0" y="0"/>
                  </a:lnTo>
                </a:path>
              </a:pathLst>
            </a:custGeom>
            <a:noFill/>
            <a:ln w="17145">
              <a:solidFill>
                <a:srgbClr val="1F2937"/>
              </a:solidFill>
            </a:ln>
          </p:spPr>
        </p:sp>
        <p:sp>
          <p:nvSpPr>
            <p:cNvPr id="45" name="Freeform 45"/>
            <p:cNvSpPr/>
            <p:nvPr/>
          </p:nvSpPr>
          <p:spPr>
            <a:xfrm>
              <a:off x="9327832" y="2634615"/>
              <a:ext cx="95250" cy="95250"/>
            </a:xfrm>
            <a:custGeom>
              <a:avLst/>
              <a:gdLst/>
              <a:ahLst/>
              <a:cxnLst/>
              <a:rect l="l" t="t" r="r" b="b"/>
              <a:pathLst>
                <a:path w="95250" h="95250">
                  <a:moveTo>
                    <a:pt x="0" y="47625"/>
                  </a:moveTo>
                  <a:lnTo>
                    <a:pt x="95250" y="0"/>
                  </a:lnTo>
                  <a:lnTo>
                    <a:pt x="95250" y="95250"/>
                  </a:lnTo>
                  <a:close/>
                </a:path>
              </a:pathLst>
            </a:custGeom>
            <a:solidFill>
              <a:srgbClr val="1F2937"/>
            </a:solidFill>
            <a:ln>
              <a:noFill/>
            </a:ln>
          </p:spPr>
        </p:sp>
        <p:sp>
          <p:nvSpPr>
            <p:cNvPr id="46" name="Freeform 46"/>
            <p:cNvSpPr/>
            <p:nvPr/>
          </p:nvSpPr>
          <p:spPr>
            <a:xfrm>
              <a:off x="7711440" y="3393758"/>
              <a:ext cx="258128" cy="381952"/>
            </a:xfrm>
            <a:custGeom>
              <a:avLst/>
              <a:gdLst/>
              <a:ahLst/>
              <a:cxnLst/>
              <a:rect l="l" t="t" r="r" b="b"/>
              <a:pathLst>
                <a:path w="258128" h="381952">
                  <a:moveTo>
                    <a:pt x="0" y="0"/>
                  </a:moveTo>
                  <a:lnTo>
                    <a:pt x="258128" y="381952"/>
                  </a:lnTo>
                </a:path>
              </a:pathLst>
            </a:custGeom>
            <a:noFill/>
            <a:ln w="17145">
              <a:solidFill>
                <a:srgbClr val="1F2937"/>
              </a:solidFill>
            </a:ln>
          </p:spPr>
        </p:sp>
        <p:sp>
          <p:nvSpPr>
            <p:cNvPr id="47" name="Freeform 47"/>
            <p:cNvSpPr/>
            <p:nvPr/>
          </p:nvSpPr>
          <p:spPr>
            <a:xfrm>
              <a:off x="7929562" y="3749040"/>
              <a:ext cx="92393" cy="105727"/>
            </a:xfrm>
            <a:custGeom>
              <a:avLst/>
              <a:gdLst/>
              <a:ahLst/>
              <a:cxnLst/>
              <a:rect l="l" t="t" r="r" b="b"/>
              <a:pathLst>
                <a:path w="92393" h="105727">
                  <a:moveTo>
                    <a:pt x="92393" y="105727"/>
                  </a:moveTo>
                  <a:lnTo>
                    <a:pt x="0" y="53340"/>
                  </a:lnTo>
                  <a:lnTo>
                    <a:pt x="79057" y="0"/>
                  </a:lnTo>
                  <a:close/>
                </a:path>
              </a:pathLst>
            </a:custGeom>
            <a:solidFill>
              <a:srgbClr val="1F2937"/>
            </a:solidFill>
            <a:ln>
              <a:noFill/>
            </a:ln>
          </p:spPr>
        </p:sp>
        <p:sp>
          <p:nvSpPr>
            <p:cNvPr id="48" name="Freeform 48"/>
            <p:cNvSpPr/>
            <p:nvPr/>
          </p:nvSpPr>
          <p:spPr>
            <a:xfrm>
              <a:off x="7161848" y="3384232"/>
              <a:ext cx="327660" cy="405765"/>
            </a:xfrm>
            <a:custGeom>
              <a:avLst/>
              <a:gdLst/>
              <a:ahLst/>
              <a:cxnLst/>
              <a:rect l="l" t="t" r="r" b="b"/>
              <a:pathLst>
                <a:path w="327660" h="405765">
                  <a:moveTo>
                    <a:pt x="327660" y="0"/>
                  </a:moveTo>
                  <a:lnTo>
                    <a:pt x="0" y="405765"/>
                  </a:lnTo>
                </a:path>
              </a:pathLst>
            </a:custGeom>
            <a:noFill/>
            <a:ln w="17145">
              <a:solidFill>
                <a:srgbClr val="1F2937"/>
              </a:solidFill>
            </a:ln>
          </p:spPr>
        </p:sp>
        <p:sp>
          <p:nvSpPr>
            <p:cNvPr id="49" name="Freeform 49"/>
            <p:cNvSpPr/>
            <p:nvPr/>
          </p:nvSpPr>
          <p:spPr>
            <a:xfrm>
              <a:off x="7101840" y="3759518"/>
              <a:ext cx="97155" cy="104775"/>
            </a:xfrm>
            <a:custGeom>
              <a:avLst/>
              <a:gdLst/>
              <a:ahLst/>
              <a:cxnLst/>
              <a:rect l="l" t="t" r="r" b="b"/>
              <a:pathLst>
                <a:path w="97155" h="104775">
                  <a:moveTo>
                    <a:pt x="0" y="104775"/>
                  </a:moveTo>
                  <a:lnTo>
                    <a:pt x="22860" y="0"/>
                  </a:lnTo>
                  <a:lnTo>
                    <a:pt x="97155" y="60008"/>
                  </a:lnTo>
                  <a:close/>
                </a:path>
              </a:pathLst>
            </a:custGeom>
            <a:solidFill>
              <a:srgbClr val="1F2937"/>
            </a:solidFill>
            <a:ln>
              <a:noFill/>
            </a:ln>
          </p:spPr>
        </p:sp>
        <p:sp>
          <p:nvSpPr>
            <p:cNvPr id="50" name="Freeform 50"/>
            <p:cNvSpPr/>
            <p:nvPr/>
          </p:nvSpPr>
          <p:spPr>
            <a:xfrm>
              <a:off x="7764780" y="4164330"/>
              <a:ext cx="257175" cy="381953"/>
            </a:xfrm>
            <a:custGeom>
              <a:avLst/>
              <a:gdLst/>
              <a:ahLst/>
              <a:cxnLst/>
              <a:rect l="l" t="t" r="r" b="b"/>
              <a:pathLst>
                <a:path w="257175" h="381953">
                  <a:moveTo>
                    <a:pt x="257175" y="0"/>
                  </a:moveTo>
                  <a:lnTo>
                    <a:pt x="0" y="381953"/>
                  </a:lnTo>
                </a:path>
              </a:pathLst>
            </a:custGeom>
            <a:noFill/>
            <a:ln w="17145">
              <a:solidFill>
                <a:srgbClr val="1F2937"/>
              </a:solidFill>
            </a:ln>
          </p:spPr>
        </p:sp>
        <p:sp>
          <p:nvSpPr>
            <p:cNvPr id="51" name="Freeform 51"/>
            <p:cNvSpPr/>
            <p:nvPr/>
          </p:nvSpPr>
          <p:spPr>
            <a:xfrm>
              <a:off x="7711440" y="4519612"/>
              <a:ext cx="93345" cy="105728"/>
            </a:xfrm>
            <a:custGeom>
              <a:avLst/>
              <a:gdLst/>
              <a:ahLst/>
              <a:cxnLst/>
              <a:rect l="l" t="t" r="r" b="b"/>
              <a:pathLst>
                <a:path w="93345" h="105728">
                  <a:moveTo>
                    <a:pt x="0" y="105728"/>
                  </a:moveTo>
                  <a:lnTo>
                    <a:pt x="14288" y="0"/>
                  </a:lnTo>
                  <a:lnTo>
                    <a:pt x="93345" y="53340"/>
                  </a:lnTo>
                  <a:close/>
                </a:path>
              </a:pathLst>
            </a:custGeom>
            <a:solidFill>
              <a:srgbClr val="1F2937"/>
            </a:solidFill>
            <a:ln>
              <a:noFill/>
            </a:ln>
          </p:spPr>
        </p:sp>
        <p:sp>
          <p:nvSpPr>
            <p:cNvPr id="52" name="Freeform 52"/>
            <p:cNvSpPr/>
            <p:nvPr/>
          </p:nvSpPr>
          <p:spPr>
            <a:xfrm>
              <a:off x="7101840" y="4154805"/>
              <a:ext cx="328612" cy="405765"/>
            </a:xfrm>
            <a:custGeom>
              <a:avLst/>
              <a:gdLst/>
              <a:ahLst/>
              <a:cxnLst/>
              <a:rect l="l" t="t" r="r" b="b"/>
              <a:pathLst>
                <a:path w="328612" h="405765">
                  <a:moveTo>
                    <a:pt x="0" y="0"/>
                  </a:moveTo>
                  <a:lnTo>
                    <a:pt x="328612" y="405765"/>
                  </a:lnTo>
                </a:path>
              </a:pathLst>
            </a:custGeom>
            <a:noFill/>
            <a:ln w="17145">
              <a:solidFill>
                <a:srgbClr val="1F2937"/>
              </a:solidFill>
            </a:ln>
          </p:spPr>
        </p:sp>
        <p:sp>
          <p:nvSpPr>
            <p:cNvPr id="53" name="Freeform 53"/>
            <p:cNvSpPr/>
            <p:nvPr/>
          </p:nvSpPr>
          <p:spPr>
            <a:xfrm>
              <a:off x="7393305" y="4530090"/>
              <a:ext cx="96202" cy="104775"/>
            </a:xfrm>
            <a:custGeom>
              <a:avLst/>
              <a:gdLst/>
              <a:ahLst/>
              <a:cxnLst/>
              <a:rect l="l" t="t" r="r" b="b"/>
              <a:pathLst>
                <a:path w="96202" h="104775">
                  <a:moveTo>
                    <a:pt x="96202" y="104775"/>
                  </a:moveTo>
                  <a:lnTo>
                    <a:pt x="0" y="60007"/>
                  </a:lnTo>
                  <a:lnTo>
                    <a:pt x="73342" y="0"/>
                  </a:lnTo>
                  <a:close/>
                </a:path>
              </a:pathLst>
            </a:custGeom>
            <a:solidFill>
              <a:srgbClr val="1F2937"/>
            </a:solidFill>
            <a:ln>
              <a:noFill/>
            </a:ln>
          </p:spPr>
        </p:sp>
        <p:sp>
          <p:nvSpPr>
            <p:cNvPr id="54" name="Ellipse 54"/>
            <p:cNvSpPr/>
            <p:nvPr/>
          </p:nvSpPr>
          <p:spPr>
            <a:xfrm>
              <a:off x="9013508" y="2016442"/>
              <a:ext cx="304800" cy="304800"/>
            </a:xfrm>
            <a:prstGeom prst="ellipse">
              <a:avLst/>
            </a:prstGeom>
            <a:solidFill>
              <a:srgbClr val="FFFFFF"/>
            </a:solidFill>
            <a:ln w="17145">
              <a:solidFill>
                <a:srgbClr val="334E68"/>
              </a:solidFill>
            </a:ln>
          </p:spPr>
        </p:sp>
        <p:sp>
          <p:nvSpPr>
            <p:cNvPr id="55" name="Ellipse 55"/>
            <p:cNvSpPr/>
            <p:nvPr/>
          </p:nvSpPr>
          <p:spPr>
            <a:xfrm>
              <a:off x="9013508" y="2529840"/>
              <a:ext cx="304800" cy="304800"/>
            </a:xfrm>
            <a:prstGeom prst="ellipse">
              <a:avLst/>
            </a:prstGeom>
            <a:solidFill>
              <a:srgbClr val="FFFFFF"/>
            </a:solidFill>
            <a:ln w="17145">
              <a:solidFill>
                <a:srgbClr val="334E68"/>
              </a:solidFill>
            </a:ln>
          </p:spPr>
        </p:sp>
        <p:sp>
          <p:nvSpPr>
            <p:cNvPr id="56" name="Ellipse 56"/>
            <p:cNvSpPr/>
            <p:nvPr/>
          </p:nvSpPr>
          <p:spPr>
            <a:xfrm>
              <a:off x="9428798" y="3086100"/>
              <a:ext cx="304800" cy="304800"/>
            </a:xfrm>
            <a:prstGeom prst="ellipse">
              <a:avLst/>
            </a:prstGeom>
            <a:solidFill>
              <a:srgbClr val="FFFFFF"/>
            </a:solidFill>
            <a:ln w="17145">
              <a:solidFill>
                <a:srgbClr val="334E68"/>
              </a:solidFill>
            </a:ln>
          </p:spPr>
        </p:sp>
        <p:sp>
          <p:nvSpPr>
            <p:cNvPr id="57" name="Ellipse 57"/>
            <p:cNvSpPr/>
            <p:nvPr/>
          </p:nvSpPr>
          <p:spPr>
            <a:xfrm>
              <a:off x="9428798" y="3600450"/>
              <a:ext cx="304800" cy="304800"/>
            </a:xfrm>
            <a:prstGeom prst="ellipse">
              <a:avLst/>
            </a:prstGeom>
            <a:solidFill>
              <a:srgbClr val="FFFFFF"/>
            </a:solidFill>
            <a:ln w="17145">
              <a:solidFill>
                <a:srgbClr val="334E68"/>
              </a:solidFill>
            </a:ln>
          </p:spPr>
        </p:sp>
        <p:sp>
          <p:nvSpPr>
            <p:cNvPr id="58" name="Ellipse 58"/>
            <p:cNvSpPr/>
            <p:nvPr/>
          </p:nvSpPr>
          <p:spPr>
            <a:xfrm>
              <a:off x="9428798" y="4113848"/>
              <a:ext cx="304800" cy="304800"/>
            </a:xfrm>
            <a:prstGeom prst="ellipse">
              <a:avLst/>
            </a:prstGeom>
            <a:solidFill>
              <a:srgbClr val="FFFFFF"/>
            </a:solidFill>
            <a:ln w="17145">
              <a:solidFill>
                <a:srgbClr val="334E68"/>
              </a:solidFill>
            </a:ln>
          </p:spPr>
        </p:sp>
        <p:sp>
          <p:nvSpPr>
            <p:cNvPr id="59" name="Ellipse 59"/>
            <p:cNvSpPr/>
            <p:nvPr/>
          </p:nvSpPr>
          <p:spPr>
            <a:xfrm>
              <a:off x="9947910" y="4627245"/>
              <a:ext cx="304800" cy="304800"/>
            </a:xfrm>
            <a:prstGeom prst="ellipse">
              <a:avLst/>
            </a:prstGeom>
            <a:solidFill>
              <a:srgbClr val="FFFFFF"/>
            </a:solidFill>
            <a:ln w="17145">
              <a:solidFill>
                <a:srgbClr val="334E68"/>
              </a:solidFill>
            </a:ln>
          </p:spPr>
        </p:sp>
        <p:sp>
          <p:nvSpPr>
            <p:cNvPr id="60" name="Ellipse 60"/>
            <p:cNvSpPr/>
            <p:nvPr/>
          </p:nvSpPr>
          <p:spPr>
            <a:xfrm>
              <a:off x="10467022" y="5141595"/>
              <a:ext cx="304800" cy="304800"/>
            </a:xfrm>
            <a:prstGeom prst="ellipse">
              <a:avLst/>
            </a:prstGeom>
            <a:solidFill>
              <a:srgbClr val="FFFFFF"/>
            </a:solidFill>
            <a:ln w="17145">
              <a:solidFill>
                <a:srgbClr val="334E68"/>
              </a:solidFill>
            </a:ln>
          </p:spPr>
        </p:sp>
        <p:sp>
          <p:nvSpPr>
            <p:cNvPr id="61" name="Ellipse 61"/>
            <p:cNvSpPr/>
            <p:nvPr/>
          </p:nvSpPr>
          <p:spPr>
            <a:xfrm>
              <a:off x="9428798" y="5397818"/>
              <a:ext cx="304800" cy="304800"/>
            </a:xfrm>
            <a:prstGeom prst="ellipse">
              <a:avLst/>
            </a:prstGeom>
            <a:solidFill>
              <a:srgbClr val="FFFFFF"/>
            </a:solidFill>
            <a:ln w="17145">
              <a:solidFill>
                <a:srgbClr val="334E68"/>
              </a:solidFill>
            </a:ln>
          </p:spPr>
        </p:sp>
        <p:sp>
          <p:nvSpPr>
            <p:cNvPr id="62" name="Ellipse 62"/>
            <p:cNvSpPr/>
            <p:nvPr/>
          </p:nvSpPr>
          <p:spPr>
            <a:xfrm>
              <a:off x="9428798" y="5869305"/>
              <a:ext cx="304800" cy="304800"/>
            </a:xfrm>
            <a:prstGeom prst="ellipse">
              <a:avLst/>
            </a:prstGeom>
            <a:solidFill>
              <a:srgbClr val="FFFFFF"/>
            </a:solidFill>
            <a:ln w="17145">
              <a:solidFill>
                <a:srgbClr val="334E68"/>
              </a:solidFill>
            </a:ln>
          </p:spPr>
        </p:sp>
        <p:sp>
          <p:nvSpPr>
            <p:cNvPr id="63" name="Ellipse 63"/>
            <p:cNvSpPr/>
            <p:nvPr/>
          </p:nvSpPr>
          <p:spPr>
            <a:xfrm>
              <a:off x="7430452" y="3061335"/>
              <a:ext cx="354330" cy="354330"/>
            </a:xfrm>
            <a:prstGeom prst="ellipse">
              <a:avLst/>
            </a:prstGeom>
            <a:solidFill>
              <a:srgbClr val="FFFFFF"/>
            </a:solidFill>
            <a:ln w="17145">
              <a:solidFill>
                <a:srgbClr val="334E68"/>
              </a:solidFill>
            </a:ln>
          </p:spPr>
        </p:sp>
        <p:sp>
          <p:nvSpPr>
            <p:cNvPr id="64" name="Ellipse 64"/>
            <p:cNvSpPr/>
            <p:nvPr/>
          </p:nvSpPr>
          <p:spPr>
            <a:xfrm>
              <a:off x="7949565" y="3831907"/>
              <a:ext cx="354330" cy="354330"/>
            </a:xfrm>
            <a:prstGeom prst="ellipse">
              <a:avLst/>
            </a:prstGeom>
            <a:solidFill>
              <a:srgbClr val="FFFFFF"/>
            </a:solidFill>
            <a:ln w="17145">
              <a:solidFill>
                <a:srgbClr val="334E68"/>
              </a:solidFill>
            </a:ln>
          </p:spPr>
        </p:sp>
        <p:sp>
          <p:nvSpPr>
            <p:cNvPr id="65" name="Ellipse 65"/>
            <p:cNvSpPr/>
            <p:nvPr/>
          </p:nvSpPr>
          <p:spPr>
            <a:xfrm>
              <a:off x="6806565" y="3831907"/>
              <a:ext cx="354330" cy="354330"/>
            </a:xfrm>
            <a:prstGeom prst="ellipse">
              <a:avLst/>
            </a:prstGeom>
            <a:solidFill>
              <a:srgbClr val="FFFFFF"/>
            </a:solidFill>
            <a:ln w="17145">
              <a:solidFill>
                <a:srgbClr val="334E68"/>
              </a:solidFill>
            </a:ln>
          </p:spPr>
        </p:sp>
        <p:sp>
          <p:nvSpPr>
            <p:cNvPr id="66" name="Ellipse 66"/>
            <p:cNvSpPr/>
            <p:nvPr/>
          </p:nvSpPr>
          <p:spPr>
            <a:xfrm>
              <a:off x="7430452" y="4602480"/>
              <a:ext cx="354330" cy="354330"/>
            </a:xfrm>
            <a:prstGeom prst="ellipse">
              <a:avLst/>
            </a:prstGeom>
            <a:solidFill>
              <a:srgbClr val="FFFFFF"/>
            </a:solidFill>
            <a:ln w="17145">
              <a:solidFill>
                <a:srgbClr val="334E68"/>
              </a:solidFill>
            </a:ln>
          </p:spPr>
        </p:sp>
        <p:sp>
          <p:nvSpPr>
            <p:cNvPr id="67" name="TextBox 67"/>
            <p:cNvSpPr txBox="1"/>
            <p:nvPr/>
          </p:nvSpPr>
          <p:spPr>
            <a:xfrm>
              <a:off x="9116656" y="2098834"/>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1</a:t>
              </a:r>
            </a:p>
          </p:txBody>
        </p:sp>
        <p:sp>
          <p:nvSpPr>
            <p:cNvPr id="68" name="TextBox 68"/>
            <p:cNvSpPr txBox="1"/>
            <p:nvPr/>
          </p:nvSpPr>
          <p:spPr>
            <a:xfrm>
              <a:off x="9116656" y="2612231"/>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2</a:t>
              </a:r>
            </a:p>
          </p:txBody>
        </p:sp>
        <p:sp>
          <p:nvSpPr>
            <p:cNvPr id="69" name="TextBox 69"/>
            <p:cNvSpPr txBox="1"/>
            <p:nvPr/>
          </p:nvSpPr>
          <p:spPr>
            <a:xfrm>
              <a:off x="9531946" y="3168491"/>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3</a:t>
              </a:r>
            </a:p>
          </p:txBody>
        </p:sp>
        <p:sp>
          <p:nvSpPr>
            <p:cNvPr id="70" name="TextBox 70"/>
            <p:cNvSpPr txBox="1"/>
            <p:nvPr/>
          </p:nvSpPr>
          <p:spPr>
            <a:xfrm>
              <a:off x="9531946" y="3682841"/>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4</a:t>
              </a:r>
            </a:p>
          </p:txBody>
        </p:sp>
        <p:sp>
          <p:nvSpPr>
            <p:cNvPr id="71" name="TextBox 71"/>
            <p:cNvSpPr txBox="1"/>
            <p:nvPr/>
          </p:nvSpPr>
          <p:spPr>
            <a:xfrm>
              <a:off x="9531946" y="4196239"/>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5</a:t>
              </a:r>
            </a:p>
          </p:txBody>
        </p:sp>
        <p:sp>
          <p:nvSpPr>
            <p:cNvPr id="72" name="TextBox 72"/>
            <p:cNvSpPr txBox="1"/>
            <p:nvPr/>
          </p:nvSpPr>
          <p:spPr>
            <a:xfrm>
              <a:off x="10051059" y="4709636"/>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6</a:t>
              </a:r>
            </a:p>
          </p:txBody>
        </p:sp>
        <p:sp>
          <p:nvSpPr>
            <p:cNvPr id="73" name="TextBox 73"/>
            <p:cNvSpPr txBox="1"/>
            <p:nvPr/>
          </p:nvSpPr>
          <p:spPr>
            <a:xfrm>
              <a:off x="10570171" y="5223986"/>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7</a:t>
              </a:r>
            </a:p>
          </p:txBody>
        </p:sp>
        <p:sp>
          <p:nvSpPr>
            <p:cNvPr id="74" name="TextBox 74"/>
            <p:cNvSpPr txBox="1"/>
            <p:nvPr/>
          </p:nvSpPr>
          <p:spPr>
            <a:xfrm>
              <a:off x="9531946" y="5480209"/>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8</a:t>
              </a:r>
            </a:p>
          </p:txBody>
        </p:sp>
        <p:sp>
          <p:nvSpPr>
            <p:cNvPr id="75" name="TextBox 75"/>
            <p:cNvSpPr txBox="1"/>
            <p:nvPr/>
          </p:nvSpPr>
          <p:spPr>
            <a:xfrm>
              <a:off x="9531946" y="5951696"/>
              <a:ext cx="98502"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9</a:t>
              </a:r>
            </a:p>
          </p:txBody>
        </p:sp>
        <p:sp>
          <p:nvSpPr>
            <p:cNvPr id="76" name="TextBox 76"/>
            <p:cNvSpPr txBox="1"/>
            <p:nvPr/>
          </p:nvSpPr>
          <p:spPr>
            <a:xfrm>
              <a:off x="7514830" y="3168491"/>
              <a:ext cx="185574"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10</a:t>
              </a:r>
            </a:p>
          </p:txBody>
        </p:sp>
        <p:sp>
          <p:nvSpPr>
            <p:cNvPr id="77" name="TextBox 77"/>
            <p:cNvSpPr txBox="1"/>
            <p:nvPr/>
          </p:nvSpPr>
          <p:spPr>
            <a:xfrm>
              <a:off x="8033943" y="3939064"/>
              <a:ext cx="185574"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11</a:t>
              </a:r>
            </a:p>
          </p:txBody>
        </p:sp>
        <p:sp>
          <p:nvSpPr>
            <p:cNvPr id="78" name="TextBox 78"/>
            <p:cNvSpPr txBox="1"/>
            <p:nvPr/>
          </p:nvSpPr>
          <p:spPr>
            <a:xfrm>
              <a:off x="6890943" y="3939064"/>
              <a:ext cx="185574"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12</a:t>
              </a:r>
            </a:p>
          </p:txBody>
        </p:sp>
        <p:sp>
          <p:nvSpPr>
            <p:cNvPr id="79" name="TextBox 79"/>
            <p:cNvSpPr txBox="1"/>
            <p:nvPr/>
          </p:nvSpPr>
          <p:spPr>
            <a:xfrm>
              <a:off x="7514830" y="4709636"/>
              <a:ext cx="185574" cy="220028"/>
            </a:xfrm>
            <a:prstGeom prst="rect">
              <a:avLst/>
            </a:prstGeom>
            <a:noFill/>
            <a:ln>
              <a:noFill/>
            </a:ln>
          </p:spPr>
          <p:txBody>
            <a:bodyPr wrap="none" lIns="0" tIns="0" rIns="0" bIns="0" anchor="t" anchorCtr="0">
              <a:spAutoFit/>
            </a:bodyPr>
            <a:lstStyle/>
            <a:p>
              <a:pPr algn="ctr"/>
              <a:r>
                <a:rPr lang="zh-CN" sz="1120" b="1" dirty="0">
                  <a:solidFill>
                    <a:srgbClr val="1F2937"/>
                  </a:solidFill>
                  <a:latin typeface="+mn-lt"/>
                  <a:ea typeface="+mn-ea"/>
                  <a:cs typeface="+mn-cs"/>
                </a:rPr>
                <a:t>13</a:t>
              </a:r>
            </a:p>
          </p:txBody>
        </p:sp>
      </p:grpSp>
      <p:grpSp>
        <p:nvGrpSpPr>
          <p:cNvPr id="83" name="footer"/>
          <p:cNvGrpSpPr/>
          <p:nvPr/>
        </p:nvGrpSpPr>
        <p:grpSpPr>
          <a:xfrm>
            <a:off x="528447" y="6581299"/>
            <a:ext cx="11135106" cy="190690"/>
            <a:chOff x="528447" y="6581299"/>
            <a:chExt cx="11135106" cy="190690"/>
          </a:xfrm>
        </p:grpSpPr>
        <p:sp>
          <p:nvSpPr>
            <p:cNvPr id="81" name="TextBox 8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2" name="TextBox 8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六条独立路径，六个测试用例</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4220007" cy="278702"/>
            <a:chOff x="526161" y="1547336"/>
            <a:chExt cx="4220007" cy="278702"/>
          </a:xfrm>
        </p:grpSpPr>
        <p:sp>
          <p:nvSpPr>
            <p:cNvPr id="7" name="TextBox 7"/>
            <p:cNvSpPr txBox="1"/>
            <p:nvPr/>
          </p:nvSpPr>
          <p:spPr>
            <a:xfrm>
              <a:off x="526161" y="1547336"/>
              <a:ext cx="4220007"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环形复杂度是 6，基本集合里就有 6 条独立路径。</a:t>
              </a:r>
            </a:p>
          </p:txBody>
        </p:sp>
      </p:grpSp>
      <p:grpSp>
        <p:nvGrpSpPr>
          <p:cNvPr id="42" name="c1-table-1"/>
          <p:cNvGrpSpPr/>
          <p:nvPr/>
        </p:nvGrpSpPr>
        <p:grpSpPr>
          <a:xfrm>
            <a:off x="533400" y="1941195"/>
            <a:ext cx="7249478" cy="4312921"/>
            <a:chOff x="533400" y="1941195"/>
            <a:chExt cx="7249478" cy="4312921"/>
          </a:xfrm>
        </p:grpSpPr>
        <p:sp>
          <p:nvSpPr>
            <p:cNvPr id="9" name="Rectangle 9"/>
            <p:cNvSpPr/>
            <p:nvPr/>
          </p:nvSpPr>
          <p:spPr>
            <a:xfrm>
              <a:off x="533400" y="1941195"/>
              <a:ext cx="7249478" cy="684848"/>
            </a:xfrm>
            <a:prstGeom prst="rect">
              <a:avLst/>
            </a:prstGeom>
            <a:solidFill>
              <a:srgbClr val="334E68"/>
            </a:solidFill>
            <a:ln>
              <a:noFill/>
            </a:ln>
          </p:spPr>
        </p:sp>
        <p:sp>
          <p:nvSpPr>
            <p:cNvPr id="10" name="TextBox 10"/>
            <p:cNvSpPr txBox="1"/>
            <p:nvPr/>
          </p:nvSpPr>
          <p:spPr>
            <a:xfrm>
              <a:off x="730377" y="2069782"/>
              <a:ext cx="185166" cy="504063"/>
            </a:xfrm>
            <a:prstGeom prst="rect">
              <a:avLst/>
            </a:prstGeom>
            <a:noFill/>
            <a:ln>
              <a:noFill/>
            </a:ln>
          </p:spPr>
          <p:txBody>
            <a:bodyPr wrap="none" lIns="0" tIns="0" rIns="0" bIns="0" anchor="t" anchorCtr="0">
              <a:spAutoFit/>
            </a:bodyPr>
            <a:lstStyle/>
            <a:p>
              <a:pPr algn="ctr">
                <a:lnSpc>
                  <a:spcPts val="1890"/>
                </a:lnSpc>
              </a:pPr>
              <a:r>
                <a:rPr lang="zh-CN" sz="1350" b="1" dirty="0">
                  <a:solidFill>
                    <a:srgbClr val="FFFFFF"/>
                  </a:solidFill>
                  <a:latin typeface="+mn-lt"/>
                  <a:ea typeface="+mn-ea"/>
                  <a:cs typeface="+mn-cs"/>
                </a:rPr>
                <a:t>路</a:t>
              </a:r>
              <a:br/>
              <a:r>
                <a:rPr lang="zh-CN" sz="1350" b="1" dirty="0">
                  <a:solidFill>
                    <a:srgbClr val="FFFFFF"/>
                  </a:solidFill>
                  <a:latin typeface="+mn-lt"/>
                  <a:ea typeface="+mn-ea"/>
                  <a:cs typeface="+mn-cs"/>
                </a:rPr>
                <a:t>径</a:t>
              </a:r>
            </a:p>
          </p:txBody>
        </p:sp>
        <p:sp>
          <p:nvSpPr>
            <p:cNvPr id="11" name="TextBox 11"/>
            <p:cNvSpPr txBox="1"/>
            <p:nvPr/>
          </p:nvSpPr>
          <p:spPr>
            <a:xfrm>
              <a:off x="1903286" y="2189798"/>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结点序列</a:t>
              </a:r>
            </a:p>
          </p:txBody>
        </p:sp>
        <p:sp>
          <p:nvSpPr>
            <p:cNvPr id="12" name="TextBox 12"/>
            <p:cNvSpPr txBox="1"/>
            <p:nvPr/>
          </p:nvSpPr>
          <p:spPr>
            <a:xfrm>
              <a:off x="4965382" y="2189798"/>
              <a:ext cx="128587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输入与预期结果</a:t>
              </a:r>
            </a:p>
          </p:txBody>
        </p:sp>
        <p:sp>
          <p:nvSpPr>
            <p:cNvPr id="13" name="TextBox 13"/>
            <p:cNvSpPr txBox="1"/>
            <p:nvPr/>
          </p:nvSpPr>
          <p:spPr>
            <a:xfrm>
              <a:off x="632270" y="287464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a:t>
              </a:r>
            </a:p>
          </p:txBody>
        </p:sp>
        <p:sp>
          <p:nvSpPr>
            <p:cNvPr id="14" name="TextBox 14"/>
            <p:cNvSpPr txBox="1"/>
            <p:nvPr/>
          </p:nvSpPr>
          <p:spPr>
            <a:xfrm>
              <a:off x="1212342" y="2874645"/>
              <a:ext cx="121318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1-2-10-11-13</a:t>
              </a:r>
            </a:p>
          </p:txBody>
        </p:sp>
        <p:sp>
          <p:nvSpPr>
            <p:cNvPr id="15" name="TextBox 15"/>
            <p:cNvSpPr txBox="1"/>
            <p:nvPr/>
          </p:nvSpPr>
          <p:spPr>
            <a:xfrm>
              <a:off x="3531679" y="2754630"/>
              <a:ext cx="3871341"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value[k] 有效（k&lt;i），value[i]=-999；预期基于</a:t>
              </a:r>
              <a:br/>
              <a:r>
                <a:rPr lang="zh-CN" sz="1350" dirty="0">
                  <a:solidFill>
                    <a:srgbClr val="1F2937"/>
                  </a:solidFill>
                  <a:latin typeface="+mn-lt"/>
                  <a:ea typeface="+mn-ea"/>
                  <a:cs typeface="+mn-cs"/>
                </a:rPr>
                <a:t>k 的结果</a:t>
              </a:r>
            </a:p>
          </p:txBody>
        </p:sp>
        <p:sp>
          <p:nvSpPr>
            <p:cNvPr id="16" name="Rectangle 16"/>
            <p:cNvSpPr/>
            <p:nvPr/>
          </p:nvSpPr>
          <p:spPr>
            <a:xfrm>
              <a:off x="533400" y="3306128"/>
              <a:ext cx="7249478" cy="9525"/>
            </a:xfrm>
            <a:prstGeom prst="rect">
              <a:avLst/>
            </a:prstGeom>
            <a:solidFill>
              <a:srgbClr val="D9DFEA"/>
            </a:solidFill>
            <a:ln>
              <a:noFill/>
            </a:ln>
          </p:spPr>
        </p:sp>
        <p:sp>
          <p:nvSpPr>
            <p:cNvPr id="17" name="Rectangle 17"/>
            <p:cNvSpPr/>
            <p:nvPr/>
          </p:nvSpPr>
          <p:spPr>
            <a:xfrm>
              <a:off x="533400" y="3310890"/>
              <a:ext cx="7249478" cy="684848"/>
            </a:xfrm>
            <a:prstGeom prst="rect">
              <a:avLst/>
            </a:prstGeom>
            <a:solidFill>
              <a:srgbClr val="F4F6FB"/>
            </a:solidFill>
            <a:ln>
              <a:noFill/>
            </a:ln>
          </p:spPr>
        </p:sp>
        <p:sp>
          <p:nvSpPr>
            <p:cNvPr id="18" name="TextBox 18"/>
            <p:cNvSpPr txBox="1"/>
            <p:nvPr/>
          </p:nvSpPr>
          <p:spPr>
            <a:xfrm>
              <a:off x="632270" y="355854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2</a:t>
              </a:r>
            </a:p>
          </p:txBody>
        </p:sp>
        <p:sp>
          <p:nvSpPr>
            <p:cNvPr id="19" name="TextBox 19"/>
            <p:cNvSpPr txBox="1"/>
            <p:nvPr/>
          </p:nvSpPr>
          <p:spPr>
            <a:xfrm>
              <a:off x="1212342" y="3558540"/>
              <a:ext cx="121318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1-2-10-12-13</a:t>
              </a:r>
            </a:p>
          </p:txBody>
        </p:sp>
        <p:sp>
          <p:nvSpPr>
            <p:cNvPr id="20" name="TextBox 20"/>
            <p:cNvSpPr txBox="1"/>
            <p:nvPr/>
          </p:nvSpPr>
          <p:spPr>
            <a:xfrm>
              <a:off x="3531679" y="3438525"/>
              <a:ext cx="392277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value[1]=-999；预期 average=-999，其它保持初</a:t>
              </a:r>
              <a:br/>
              <a:r>
                <a:rPr lang="zh-CN" sz="1350" dirty="0">
                  <a:solidFill>
                    <a:srgbClr val="1F2937"/>
                  </a:solidFill>
                  <a:latin typeface="+mn-lt"/>
                  <a:ea typeface="+mn-ea"/>
                  <a:cs typeface="+mn-cs"/>
                </a:rPr>
                <a:t>始值</a:t>
              </a:r>
            </a:p>
          </p:txBody>
        </p:sp>
        <p:sp>
          <p:nvSpPr>
            <p:cNvPr id="21" name="Rectangle 21"/>
            <p:cNvSpPr/>
            <p:nvPr/>
          </p:nvSpPr>
          <p:spPr>
            <a:xfrm>
              <a:off x="533400" y="3990975"/>
              <a:ext cx="7249478" cy="9525"/>
            </a:xfrm>
            <a:prstGeom prst="rect">
              <a:avLst/>
            </a:prstGeom>
            <a:solidFill>
              <a:srgbClr val="D9DFEA"/>
            </a:solidFill>
            <a:ln>
              <a:noFill/>
            </a:ln>
          </p:spPr>
        </p:sp>
        <p:sp>
          <p:nvSpPr>
            <p:cNvPr id="22" name="TextBox 22"/>
            <p:cNvSpPr txBox="1"/>
            <p:nvPr/>
          </p:nvSpPr>
          <p:spPr>
            <a:xfrm>
              <a:off x="632270" y="4123372"/>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3</a:t>
              </a:r>
            </a:p>
          </p:txBody>
        </p:sp>
        <p:sp>
          <p:nvSpPr>
            <p:cNvPr id="23" name="TextBox 23"/>
            <p:cNvSpPr txBox="1"/>
            <p:nvPr/>
          </p:nvSpPr>
          <p:spPr>
            <a:xfrm>
              <a:off x="1212342" y="4123372"/>
              <a:ext cx="141309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1-2-3-10-11-13</a:t>
              </a:r>
            </a:p>
          </p:txBody>
        </p:sp>
        <p:sp>
          <p:nvSpPr>
            <p:cNvPr id="24" name="TextBox 24"/>
            <p:cNvSpPr txBox="1"/>
            <p:nvPr/>
          </p:nvSpPr>
          <p:spPr>
            <a:xfrm>
              <a:off x="3531679" y="4123372"/>
              <a:ext cx="40937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处理 101 个以上值，前 100 个有效；预期总数 100</a:t>
              </a:r>
            </a:p>
          </p:txBody>
        </p:sp>
        <p:sp>
          <p:nvSpPr>
            <p:cNvPr id="25" name="Rectangle 25"/>
            <p:cNvSpPr/>
            <p:nvPr/>
          </p:nvSpPr>
          <p:spPr>
            <a:xfrm>
              <a:off x="533400" y="4435792"/>
              <a:ext cx="7249478" cy="9525"/>
            </a:xfrm>
            <a:prstGeom prst="rect">
              <a:avLst/>
            </a:prstGeom>
            <a:solidFill>
              <a:srgbClr val="D9DFEA"/>
            </a:solidFill>
            <a:ln>
              <a:noFill/>
            </a:ln>
          </p:spPr>
        </p:sp>
        <p:sp>
          <p:nvSpPr>
            <p:cNvPr id="26" name="Rectangle 26"/>
            <p:cNvSpPr/>
            <p:nvPr/>
          </p:nvSpPr>
          <p:spPr>
            <a:xfrm>
              <a:off x="533400" y="4440555"/>
              <a:ext cx="7249478" cy="684848"/>
            </a:xfrm>
            <a:prstGeom prst="rect">
              <a:avLst/>
            </a:prstGeom>
            <a:solidFill>
              <a:srgbClr val="F4F6FB"/>
            </a:solidFill>
            <a:ln>
              <a:noFill/>
            </a:ln>
          </p:spPr>
        </p:sp>
        <p:sp>
          <p:nvSpPr>
            <p:cNvPr id="27" name="TextBox 27"/>
            <p:cNvSpPr txBox="1"/>
            <p:nvPr/>
          </p:nvSpPr>
          <p:spPr>
            <a:xfrm>
              <a:off x="632270" y="468820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4</a:t>
              </a:r>
            </a:p>
          </p:txBody>
        </p:sp>
        <p:sp>
          <p:nvSpPr>
            <p:cNvPr id="28" name="TextBox 28"/>
            <p:cNvSpPr txBox="1"/>
            <p:nvPr/>
          </p:nvSpPr>
          <p:spPr>
            <a:xfrm>
              <a:off x="1212342" y="4688205"/>
              <a:ext cx="161300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1-2-3-4-5-8-9-2…</a:t>
              </a:r>
            </a:p>
          </p:txBody>
        </p:sp>
        <p:sp>
          <p:nvSpPr>
            <p:cNvPr id="29" name="TextBox 29"/>
            <p:cNvSpPr txBox="1"/>
            <p:nvPr/>
          </p:nvSpPr>
          <p:spPr>
            <a:xfrm>
              <a:off x="3531679" y="4568190"/>
              <a:ext cx="3845624"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value[i] 有效（i&lt;100），value[k]&lt;minimum；预</a:t>
              </a:r>
              <a:br/>
              <a:r>
                <a:rPr lang="zh-CN" sz="1350" dirty="0">
                  <a:solidFill>
                    <a:srgbClr val="1F2937"/>
                  </a:solidFill>
                  <a:latin typeface="+mn-lt"/>
                  <a:ea typeface="+mn-ea"/>
                  <a:cs typeface="+mn-cs"/>
                </a:rPr>
                <a:t>期基于 k 的结果</a:t>
              </a:r>
            </a:p>
          </p:txBody>
        </p:sp>
        <p:sp>
          <p:nvSpPr>
            <p:cNvPr id="30" name="Rectangle 30"/>
            <p:cNvSpPr/>
            <p:nvPr/>
          </p:nvSpPr>
          <p:spPr>
            <a:xfrm>
              <a:off x="533400" y="5119688"/>
              <a:ext cx="7249478" cy="9525"/>
            </a:xfrm>
            <a:prstGeom prst="rect">
              <a:avLst/>
            </a:prstGeom>
            <a:solidFill>
              <a:srgbClr val="D9DFEA"/>
            </a:solidFill>
            <a:ln>
              <a:noFill/>
            </a:ln>
          </p:spPr>
        </p:sp>
        <p:sp>
          <p:nvSpPr>
            <p:cNvPr id="31" name="TextBox 31"/>
            <p:cNvSpPr txBox="1"/>
            <p:nvPr/>
          </p:nvSpPr>
          <p:spPr>
            <a:xfrm>
              <a:off x="632270" y="5373052"/>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5</a:t>
              </a:r>
            </a:p>
          </p:txBody>
        </p:sp>
        <p:sp>
          <p:nvSpPr>
            <p:cNvPr id="32" name="TextBox 32"/>
            <p:cNvSpPr txBox="1"/>
            <p:nvPr/>
          </p:nvSpPr>
          <p:spPr>
            <a:xfrm>
              <a:off x="1212342" y="5373052"/>
              <a:ext cx="18129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1-2-3-4-5-6-8-9-2…</a:t>
              </a:r>
            </a:p>
          </p:txBody>
        </p:sp>
        <p:sp>
          <p:nvSpPr>
            <p:cNvPr id="33" name="TextBox 33"/>
            <p:cNvSpPr txBox="1"/>
            <p:nvPr/>
          </p:nvSpPr>
          <p:spPr>
            <a:xfrm>
              <a:off x="3531679" y="5253038"/>
              <a:ext cx="388848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value[i] 有效（i&lt;100），value[k]&gt;maximum；预</a:t>
              </a:r>
              <a:br/>
              <a:r>
                <a:rPr lang="zh-CN" sz="1350" dirty="0">
                  <a:solidFill>
                    <a:srgbClr val="1F2937"/>
                  </a:solidFill>
                  <a:latin typeface="+mn-lt"/>
                  <a:ea typeface="+mn-ea"/>
                  <a:cs typeface="+mn-cs"/>
                </a:rPr>
                <a:t>期基于 k 的结果</a:t>
              </a:r>
            </a:p>
          </p:txBody>
        </p:sp>
        <p:sp>
          <p:nvSpPr>
            <p:cNvPr id="34" name="Rectangle 34"/>
            <p:cNvSpPr/>
            <p:nvPr/>
          </p:nvSpPr>
          <p:spPr>
            <a:xfrm>
              <a:off x="533400" y="5804535"/>
              <a:ext cx="7249478" cy="9525"/>
            </a:xfrm>
            <a:prstGeom prst="rect">
              <a:avLst/>
            </a:prstGeom>
            <a:solidFill>
              <a:srgbClr val="D9DFEA"/>
            </a:solidFill>
            <a:ln>
              <a:noFill/>
            </a:ln>
          </p:spPr>
        </p:sp>
        <p:sp>
          <p:nvSpPr>
            <p:cNvPr id="35" name="Rectangle 35"/>
            <p:cNvSpPr/>
            <p:nvPr/>
          </p:nvSpPr>
          <p:spPr>
            <a:xfrm>
              <a:off x="533400" y="5809298"/>
              <a:ext cx="7249478" cy="444818"/>
            </a:xfrm>
            <a:prstGeom prst="rect">
              <a:avLst/>
            </a:prstGeom>
            <a:solidFill>
              <a:srgbClr val="F4F6FB"/>
            </a:solidFill>
            <a:ln>
              <a:noFill/>
            </a:ln>
          </p:spPr>
        </p:sp>
        <p:sp>
          <p:nvSpPr>
            <p:cNvPr id="36" name="TextBox 36"/>
            <p:cNvSpPr txBox="1"/>
            <p:nvPr/>
          </p:nvSpPr>
          <p:spPr>
            <a:xfrm>
              <a:off x="632270" y="593788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6</a:t>
              </a:r>
            </a:p>
          </p:txBody>
        </p:sp>
        <p:sp>
          <p:nvSpPr>
            <p:cNvPr id="37" name="TextBox 37"/>
            <p:cNvSpPr txBox="1"/>
            <p:nvPr/>
          </p:nvSpPr>
          <p:spPr>
            <a:xfrm>
              <a:off x="1212342" y="5937885"/>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1-2-3-4-5-6-7-8-9-2…</a:t>
              </a:r>
            </a:p>
          </p:txBody>
        </p:sp>
        <p:sp>
          <p:nvSpPr>
            <p:cNvPr id="38" name="TextBox 38"/>
            <p:cNvSpPr txBox="1"/>
            <p:nvPr/>
          </p:nvSpPr>
          <p:spPr>
            <a:xfrm>
              <a:off x="3531679" y="5937885"/>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value[i] 有效且 i&lt;100；预期正确的平均值和总数</a:t>
              </a:r>
            </a:p>
          </p:txBody>
        </p:sp>
        <p:sp>
          <p:nvSpPr>
            <p:cNvPr id="39" name="Rectangle 39"/>
            <p:cNvSpPr/>
            <p:nvPr/>
          </p:nvSpPr>
          <p:spPr>
            <a:xfrm>
              <a:off x="533400" y="1941195"/>
              <a:ext cx="7249478" cy="4312920"/>
            </a:xfrm>
            <a:prstGeom prst="rect">
              <a:avLst/>
            </a:prstGeom>
            <a:noFill/>
            <a:ln w="14288">
              <a:solidFill>
                <a:srgbClr val="D9DFEA"/>
              </a:solidFill>
            </a:ln>
          </p:spPr>
        </p:sp>
        <p:sp>
          <p:nvSpPr>
            <p:cNvPr id="40" name="Rectangle 40"/>
            <p:cNvSpPr/>
            <p:nvPr/>
          </p:nvSpPr>
          <p:spPr>
            <a:xfrm>
              <a:off x="1108710" y="1941195"/>
              <a:ext cx="9525" cy="4312920"/>
            </a:xfrm>
            <a:prstGeom prst="rect">
              <a:avLst/>
            </a:prstGeom>
            <a:solidFill>
              <a:srgbClr val="D9DFEA"/>
            </a:solidFill>
            <a:ln>
              <a:noFill/>
            </a:ln>
          </p:spPr>
        </p:sp>
        <p:sp>
          <p:nvSpPr>
            <p:cNvPr id="41" name="Rectangle 41"/>
            <p:cNvSpPr/>
            <p:nvPr/>
          </p:nvSpPr>
          <p:spPr>
            <a:xfrm>
              <a:off x="3428048" y="1941195"/>
              <a:ext cx="9525" cy="4312920"/>
            </a:xfrm>
            <a:prstGeom prst="rect">
              <a:avLst/>
            </a:prstGeom>
            <a:solidFill>
              <a:srgbClr val="D9DFEA"/>
            </a:solidFill>
            <a:ln>
              <a:noFill/>
            </a:ln>
          </p:spPr>
        </p:sp>
      </p:grpSp>
      <p:grpSp>
        <p:nvGrpSpPr>
          <p:cNvPr id="49" name="c2-card-1"/>
          <p:cNvGrpSpPr/>
          <p:nvPr/>
        </p:nvGrpSpPr>
        <p:grpSpPr>
          <a:xfrm>
            <a:off x="8087678" y="1941195"/>
            <a:ext cx="3570922" cy="1483995"/>
            <a:chOff x="8087678" y="1941195"/>
            <a:chExt cx="3570922" cy="1483995"/>
          </a:xfrm>
        </p:grpSpPr>
        <p:sp>
          <p:nvSpPr>
            <p:cNvPr id="43" name="Rectangle 43"/>
            <p:cNvSpPr/>
            <p:nvPr/>
          </p:nvSpPr>
          <p:spPr>
            <a:xfrm>
              <a:off x="8087678" y="1941195"/>
              <a:ext cx="3570922" cy="1483995"/>
            </a:xfrm>
            <a:prstGeom prst="roundRect">
              <a:avLst>
                <a:gd name="adj" fmla="val 8986"/>
              </a:avLst>
            </a:prstGeom>
            <a:solidFill>
              <a:srgbClr val="FFFFFF"/>
            </a:solidFill>
            <a:ln w="14288">
              <a:solidFill>
                <a:srgbClr val="D9DFEA"/>
              </a:solidFill>
            </a:ln>
          </p:spPr>
        </p:sp>
        <p:sp>
          <p:nvSpPr>
            <p:cNvPr id="44" name="Rectangle 44"/>
            <p:cNvSpPr/>
            <p:nvPr/>
          </p:nvSpPr>
          <p:spPr>
            <a:xfrm>
              <a:off x="8097202" y="2074545"/>
              <a:ext cx="47625" cy="1217295"/>
            </a:xfrm>
            <a:prstGeom prst="roundRect">
              <a:avLst>
                <a:gd name="adj" fmla="val 50000"/>
              </a:avLst>
            </a:prstGeom>
            <a:solidFill>
              <a:srgbClr val="D97706"/>
            </a:solidFill>
            <a:ln>
              <a:noFill/>
            </a:ln>
          </p:spPr>
        </p:sp>
        <p:sp>
          <p:nvSpPr>
            <p:cNvPr id="45" name="Rectangle 45"/>
            <p:cNvSpPr/>
            <p:nvPr/>
          </p:nvSpPr>
          <p:spPr>
            <a:xfrm>
              <a:off x="8318182" y="2133600"/>
              <a:ext cx="742950" cy="247650"/>
            </a:xfrm>
            <a:prstGeom prst="roundRect">
              <a:avLst>
                <a:gd name="adj" fmla="val 50000"/>
              </a:avLst>
            </a:prstGeom>
            <a:solidFill>
              <a:srgbClr val="FEF3C7"/>
            </a:solidFill>
            <a:ln>
              <a:noFill/>
            </a:ln>
          </p:spPr>
        </p:sp>
        <p:sp>
          <p:nvSpPr>
            <p:cNvPr id="46" name="TextBox 46"/>
            <p:cNvSpPr txBox="1"/>
            <p:nvPr/>
          </p:nvSpPr>
          <p:spPr>
            <a:xfrm>
              <a:off x="8401622" y="2167890"/>
              <a:ext cx="576072" cy="205359"/>
            </a:xfrm>
            <a:prstGeom prst="rect">
              <a:avLst/>
            </a:prstGeom>
            <a:noFill/>
            <a:ln>
              <a:noFill/>
            </a:ln>
          </p:spPr>
          <p:txBody>
            <a:bodyPr wrap="none" lIns="0" tIns="0" rIns="0" bIns="0" anchor="t" anchorCtr="0">
              <a:spAutoFit/>
            </a:bodyPr>
            <a:lstStyle/>
            <a:p>
              <a:pPr algn="ctr"/>
              <a:r>
                <a:rPr lang="zh-CN" sz="1050" b="1" dirty="0">
                  <a:solidFill>
                    <a:srgbClr val="92400E"/>
                  </a:solidFill>
                  <a:latin typeface="+mn-lt"/>
                  <a:ea typeface="+mn-ea"/>
                  <a:cs typeface="+mn-cs"/>
                </a:rPr>
                <a:t>执行之后</a:t>
              </a:r>
            </a:p>
          </p:txBody>
        </p:sp>
        <p:sp>
          <p:nvSpPr>
            <p:cNvPr id="47" name="TextBox 47"/>
            <p:cNvSpPr txBox="1"/>
            <p:nvPr/>
          </p:nvSpPr>
          <p:spPr>
            <a:xfrm>
              <a:off x="9168574" y="2173605"/>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逐个比对预期结果</a:t>
              </a:r>
            </a:p>
          </p:txBody>
        </p:sp>
        <p:sp>
          <p:nvSpPr>
            <p:cNvPr id="48" name="TextBox 48"/>
            <p:cNvSpPr txBox="1"/>
            <p:nvPr/>
          </p:nvSpPr>
          <p:spPr>
            <a:xfrm>
              <a:off x="8311324" y="2507932"/>
              <a:ext cx="29283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六个用例都通过，就可以确信每条可执</a:t>
              </a:r>
              <a:br/>
              <a:r>
                <a:rPr lang="zh-CN" sz="1350" dirty="0">
                  <a:solidFill>
                    <a:srgbClr val="1F2937"/>
                  </a:solidFill>
                  <a:latin typeface="+mn-lt"/>
                  <a:ea typeface="+mn-ea"/>
                  <a:cs typeface="+mn-cs"/>
                </a:rPr>
                <a:t>行语句至少执行过一次，每个条件也分</a:t>
              </a:r>
              <a:br/>
              <a:r>
                <a:rPr lang="zh-CN" sz="1350" dirty="0">
                  <a:solidFill>
                    <a:srgbClr val="1F2937"/>
                  </a:solidFill>
                  <a:latin typeface="+mn-lt"/>
                  <a:ea typeface="+mn-ea"/>
                  <a:cs typeface="+mn-cs"/>
                </a:rPr>
                <a:t>别取过真值和假值。</a:t>
              </a:r>
            </a:p>
          </p:txBody>
        </p:sp>
      </p:grpSp>
      <p:grpSp>
        <p:nvGrpSpPr>
          <p:cNvPr id="56" name="c2-card-2"/>
          <p:cNvGrpSpPr/>
          <p:nvPr/>
        </p:nvGrpSpPr>
        <p:grpSpPr>
          <a:xfrm>
            <a:off x="8087678" y="3600450"/>
            <a:ext cx="3570922" cy="1741170"/>
            <a:chOff x="8087678" y="3600450"/>
            <a:chExt cx="3570922" cy="1741170"/>
          </a:xfrm>
        </p:grpSpPr>
        <p:sp>
          <p:nvSpPr>
            <p:cNvPr id="50" name="Rectangle 50"/>
            <p:cNvSpPr/>
            <p:nvPr/>
          </p:nvSpPr>
          <p:spPr>
            <a:xfrm>
              <a:off x="8087678" y="3600450"/>
              <a:ext cx="3570922" cy="1741170"/>
            </a:xfrm>
            <a:prstGeom prst="roundRect">
              <a:avLst>
                <a:gd name="adj" fmla="val 7659"/>
              </a:avLst>
            </a:prstGeom>
            <a:solidFill>
              <a:srgbClr val="FFFFFF"/>
            </a:solidFill>
            <a:ln w="14288">
              <a:solidFill>
                <a:srgbClr val="D9DFEA"/>
              </a:solidFill>
            </a:ln>
          </p:spPr>
        </p:sp>
        <p:sp>
          <p:nvSpPr>
            <p:cNvPr id="51" name="Rectangle 51"/>
            <p:cNvSpPr/>
            <p:nvPr/>
          </p:nvSpPr>
          <p:spPr>
            <a:xfrm>
              <a:off x="8097202" y="3733800"/>
              <a:ext cx="47625" cy="1474470"/>
            </a:xfrm>
            <a:prstGeom prst="roundRect">
              <a:avLst>
                <a:gd name="adj" fmla="val 50000"/>
              </a:avLst>
            </a:prstGeom>
            <a:solidFill>
              <a:srgbClr val="B42318"/>
            </a:solidFill>
            <a:ln>
              <a:noFill/>
            </a:ln>
          </p:spPr>
        </p:sp>
        <p:sp>
          <p:nvSpPr>
            <p:cNvPr id="52" name="Rectangle 52"/>
            <p:cNvSpPr/>
            <p:nvPr/>
          </p:nvSpPr>
          <p:spPr>
            <a:xfrm>
              <a:off x="8318182" y="3792855"/>
              <a:ext cx="476250" cy="247650"/>
            </a:xfrm>
            <a:prstGeom prst="roundRect">
              <a:avLst>
                <a:gd name="adj" fmla="val 50000"/>
              </a:avLst>
            </a:prstGeom>
            <a:solidFill>
              <a:srgbClr val="FDECEA"/>
            </a:solidFill>
            <a:ln>
              <a:noFill/>
            </a:ln>
          </p:spPr>
        </p:sp>
        <p:sp>
          <p:nvSpPr>
            <p:cNvPr id="53" name="TextBox 53"/>
            <p:cNvSpPr txBox="1"/>
            <p:nvPr/>
          </p:nvSpPr>
          <p:spPr>
            <a:xfrm>
              <a:off x="8409622" y="3827145"/>
              <a:ext cx="293370" cy="205359"/>
            </a:xfrm>
            <a:prstGeom prst="rect">
              <a:avLst/>
            </a:prstGeom>
            <a:noFill/>
            <a:ln>
              <a:noFill/>
            </a:ln>
          </p:spPr>
          <p:txBody>
            <a:bodyPr wrap="none" lIns="0" tIns="0" rIns="0" bIns="0" anchor="t" anchorCtr="0">
              <a:spAutoFit/>
            </a:bodyPr>
            <a:lstStyle/>
            <a:p>
              <a:pPr algn="ctr"/>
              <a:r>
                <a:rPr lang="zh-CN" sz="1050" b="1" dirty="0">
                  <a:solidFill>
                    <a:srgbClr val="B42318"/>
                  </a:solidFill>
                  <a:latin typeface="+mn-lt"/>
                  <a:ea typeface="+mn-ea"/>
                  <a:cs typeface="+mn-cs"/>
                </a:rPr>
                <a:t>例外</a:t>
              </a:r>
            </a:p>
          </p:txBody>
        </p:sp>
        <p:sp>
          <p:nvSpPr>
            <p:cNvPr id="54" name="TextBox 54"/>
            <p:cNvSpPr txBox="1"/>
            <p:nvPr/>
          </p:nvSpPr>
          <p:spPr>
            <a:xfrm>
              <a:off x="8901874" y="3832860"/>
              <a:ext cx="190650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路径 1 和 3 不能单独测</a:t>
              </a:r>
            </a:p>
          </p:txBody>
        </p:sp>
        <p:sp>
          <p:nvSpPr>
            <p:cNvPr id="55" name="TextBox 55"/>
            <p:cNvSpPr txBox="1"/>
            <p:nvPr/>
          </p:nvSpPr>
          <p:spPr>
            <a:xfrm>
              <a:off x="8311324" y="4167188"/>
              <a:ext cx="2996946"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正常流程形不成单独执行它们所需的数</a:t>
              </a:r>
              <a:br/>
              <a:r>
                <a:rPr lang="zh-CN" sz="1350" dirty="0">
                  <a:solidFill>
                    <a:srgbClr val="1F2937"/>
                  </a:solidFill>
                  <a:latin typeface="+mn-lt"/>
                  <a:ea typeface="+mn-ea"/>
                  <a:cs typeface="+mn-cs"/>
                </a:rPr>
                <a:t>据组合，例如路径 1 要求</a:t>
              </a:r>
              <a:br/>
              <a:r>
                <a:rPr lang="zh-CN" sz="1350" dirty="0">
                  <a:solidFill>
                    <a:srgbClr val="1F2937"/>
                  </a:solidFill>
                  <a:latin typeface="+mn-lt"/>
                  <a:ea typeface="+mn-ea"/>
                  <a:cs typeface="+mn-cs"/>
                </a:rPr>
                <a:t>total.valid&gt;0，这类路径只能作为另一</a:t>
              </a:r>
              <a:br/>
              <a:r>
                <a:rPr lang="zh-CN" sz="1350" dirty="0">
                  <a:solidFill>
                    <a:srgbClr val="1F2937"/>
                  </a:solidFill>
                  <a:latin typeface="+mn-lt"/>
                  <a:ea typeface="+mn-ea"/>
                  <a:cs typeface="+mn-cs"/>
                </a:rPr>
                <a:t>条路径的一部分来测。</a:t>
              </a:r>
            </a:p>
          </p:txBody>
        </p:sp>
      </p:grpSp>
      <p:grpSp>
        <p:nvGrpSpPr>
          <p:cNvPr id="62" name="c2-callout-3"/>
          <p:cNvGrpSpPr/>
          <p:nvPr/>
        </p:nvGrpSpPr>
        <p:grpSpPr>
          <a:xfrm>
            <a:off x="8087678" y="5516880"/>
            <a:ext cx="3570922" cy="737235"/>
            <a:chOff x="8087678" y="5516880"/>
            <a:chExt cx="3570922" cy="737235"/>
          </a:xfrm>
        </p:grpSpPr>
        <p:sp>
          <p:nvSpPr>
            <p:cNvPr id="57" name="Rectangle 57"/>
            <p:cNvSpPr/>
            <p:nvPr/>
          </p:nvSpPr>
          <p:spPr>
            <a:xfrm>
              <a:off x="8087678" y="5516880"/>
              <a:ext cx="3570922" cy="737235"/>
            </a:xfrm>
            <a:prstGeom prst="roundRect">
              <a:avLst>
                <a:gd name="adj" fmla="val 15504"/>
              </a:avLst>
            </a:prstGeom>
            <a:solidFill>
              <a:srgbClr val="334E68"/>
            </a:solidFill>
            <a:ln>
              <a:noFill/>
            </a:ln>
          </p:spPr>
        </p:sp>
        <p:grpSp>
          <p:nvGrpSpPr>
            <p:cNvPr id="60" name="Group 60"/>
            <p:cNvGrpSpPr/>
            <p:nvPr/>
          </p:nvGrpSpPr>
          <p:grpSpPr>
            <a:xfrm>
              <a:off x="8292465" y="5785487"/>
              <a:ext cx="200023" cy="200023"/>
              <a:chOff x="8292465" y="5785487"/>
              <a:chExt cx="200023" cy="200023"/>
            </a:xfrm>
          </p:grpSpPr>
          <p:sp>
            <p:nvSpPr>
              <p:cNvPr id="58" name="Freeform 58"/>
              <p:cNvSpPr/>
              <p:nvPr/>
            </p:nvSpPr>
            <p:spPr>
              <a:xfrm>
                <a:off x="8292465" y="578548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9" name="Freeform 59"/>
              <p:cNvSpPr/>
              <p:nvPr/>
            </p:nvSpPr>
            <p:spPr>
              <a:xfrm>
                <a:off x="8425815" y="585216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1" name="TextBox 61"/>
            <p:cNvSpPr txBox="1"/>
            <p:nvPr/>
          </p:nvSpPr>
          <p:spPr>
            <a:xfrm>
              <a:off x="8595170" y="5667375"/>
              <a:ext cx="2679763"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结点序列末尾的 2… 表示绕回结点 2</a:t>
              </a:r>
              <a:br/>
              <a:r>
                <a:rPr lang="zh-CN" sz="1350" dirty="0">
                  <a:solidFill>
                    <a:srgbClr val="FFFFFF"/>
                  </a:solidFill>
                  <a:latin typeface="+mn-lt"/>
                  <a:ea typeface="+mn-ea"/>
                  <a:cs typeface="+mn-cs"/>
                </a:rPr>
                <a:t>继续循环。</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650664" cy="909257"/>
            <a:chOff x="520446" y="342900"/>
            <a:chExt cx="5650664"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565066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条件测试：分支测试、域测试与 BRO</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kv-1"/>
          <p:cNvGrpSpPr/>
          <p:nvPr/>
        </p:nvGrpSpPr>
        <p:grpSpPr>
          <a:xfrm>
            <a:off x="526542" y="1545907"/>
            <a:ext cx="4767453" cy="1164146"/>
            <a:chOff x="526542" y="1545907"/>
            <a:chExt cx="4767453" cy="1164146"/>
          </a:xfrm>
        </p:grpSpPr>
        <p:sp>
          <p:nvSpPr>
            <p:cNvPr id="7" name="TextBox 7"/>
            <p:cNvSpPr txBox="1"/>
            <p:nvPr/>
          </p:nvSpPr>
          <p:spPr>
            <a:xfrm>
              <a:off x="526542" y="1545907"/>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简单条件</a:t>
              </a:r>
            </a:p>
          </p:txBody>
        </p:sp>
        <p:sp>
          <p:nvSpPr>
            <p:cNvPr id="8" name="TextBox 8"/>
            <p:cNvSpPr txBox="1"/>
            <p:nvPr/>
          </p:nvSpPr>
          <p:spPr>
            <a:xfrm>
              <a:off x="1488567" y="1545907"/>
              <a:ext cx="344271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一个布尔变量或一个关系表达式，前面可以有</a:t>
              </a:r>
              <a:br/>
              <a:r>
                <a:rPr lang="zh-CN" sz="1350" dirty="0">
                  <a:solidFill>
                    <a:srgbClr val="1F2937"/>
                  </a:solidFill>
                  <a:latin typeface="+mn-lt"/>
                  <a:ea typeface="+mn-ea"/>
                  <a:cs typeface="+mn-cs"/>
                </a:rPr>
                <a:t>一个 NOT</a:t>
              </a:r>
            </a:p>
          </p:txBody>
        </p:sp>
        <p:sp>
          <p:nvSpPr>
            <p:cNvPr id="9" name="Rectangle 9"/>
            <p:cNvSpPr/>
            <p:nvPr/>
          </p:nvSpPr>
          <p:spPr>
            <a:xfrm>
              <a:off x="533400" y="2085975"/>
              <a:ext cx="4760595" cy="9525"/>
            </a:xfrm>
            <a:prstGeom prst="rect">
              <a:avLst/>
            </a:prstGeom>
            <a:solidFill>
              <a:srgbClr val="D9DFEA"/>
            </a:solidFill>
            <a:ln>
              <a:noFill/>
            </a:ln>
          </p:spPr>
        </p:sp>
        <p:sp>
          <p:nvSpPr>
            <p:cNvPr id="10" name="TextBox 10"/>
            <p:cNvSpPr txBox="1"/>
            <p:nvPr/>
          </p:nvSpPr>
          <p:spPr>
            <a:xfrm>
              <a:off x="526542" y="2192655"/>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复合条件</a:t>
              </a:r>
            </a:p>
          </p:txBody>
        </p:sp>
        <p:sp>
          <p:nvSpPr>
            <p:cNvPr id="11" name="TextBox 11"/>
            <p:cNvSpPr txBox="1"/>
            <p:nvPr/>
          </p:nvSpPr>
          <p:spPr>
            <a:xfrm>
              <a:off x="1488567" y="2192655"/>
              <a:ext cx="357987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由简单条件、布尔算符（OR、AND、NOT）和括</a:t>
              </a:r>
              <a:br/>
              <a:r>
                <a:rPr lang="zh-CN" sz="1350" dirty="0">
                  <a:solidFill>
                    <a:srgbClr val="1F2937"/>
                  </a:solidFill>
                  <a:latin typeface="+mn-lt"/>
                  <a:ea typeface="+mn-ea"/>
                  <a:cs typeface="+mn-cs"/>
                </a:rPr>
                <a:t>弧组成</a:t>
              </a:r>
            </a:p>
          </p:txBody>
        </p:sp>
      </p:grpSp>
      <p:grpSp>
        <p:nvGrpSpPr>
          <p:cNvPr id="24" name="c1-bullets-2"/>
          <p:cNvGrpSpPr/>
          <p:nvPr/>
        </p:nvGrpSpPr>
        <p:grpSpPr>
          <a:xfrm>
            <a:off x="526542" y="2848927"/>
            <a:ext cx="1649349" cy="1613060"/>
            <a:chOff x="526542" y="2848927"/>
            <a:chExt cx="1649349" cy="1613060"/>
          </a:xfrm>
        </p:grpSpPr>
        <p:sp>
          <p:nvSpPr>
            <p:cNvPr id="13" name="TextBox 13"/>
            <p:cNvSpPr txBox="1"/>
            <p:nvPr/>
          </p:nvSpPr>
          <p:spPr>
            <a:xfrm>
              <a:off x="526542" y="2848927"/>
              <a:ext cx="1649349"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条件错误的五种类型</a:t>
              </a:r>
            </a:p>
          </p:txBody>
        </p:sp>
        <p:sp>
          <p:nvSpPr>
            <p:cNvPr id="14" name="Freeform 14"/>
            <p:cNvSpPr/>
            <p:nvPr/>
          </p:nvSpPr>
          <p:spPr>
            <a:xfrm>
              <a:off x="533400" y="3189922"/>
              <a:ext cx="85725" cy="85725"/>
            </a:xfrm>
            <a:custGeom>
              <a:avLst/>
              <a:gdLst/>
              <a:ahLst/>
              <a:cxnLst/>
              <a:rect l="l" t="t" r="r" b="b"/>
              <a:pathLst>
                <a:path w="85725" h="85725">
                  <a:moveTo>
                    <a:pt x="0" y="0"/>
                  </a:moveTo>
                  <a:lnTo>
                    <a:pt x="85725" y="85725"/>
                  </a:lnTo>
                  <a:moveTo>
                    <a:pt x="85725" y="0"/>
                  </a:moveTo>
                  <a:lnTo>
                    <a:pt x="0" y="85725"/>
                  </a:lnTo>
                </a:path>
              </a:pathLst>
            </a:custGeom>
            <a:noFill/>
            <a:ln w="24765" cap="rnd">
              <a:solidFill>
                <a:srgbClr val="B42318"/>
              </a:solidFill>
            </a:ln>
          </p:spPr>
        </p:sp>
        <p:sp>
          <p:nvSpPr>
            <p:cNvPr id="15" name="TextBox 15"/>
            <p:cNvSpPr txBox="1"/>
            <p:nvPr/>
          </p:nvSpPr>
          <p:spPr>
            <a:xfrm>
              <a:off x="746760" y="3162776"/>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布尔算符错</a:t>
              </a:r>
            </a:p>
          </p:txBody>
        </p:sp>
        <p:sp>
          <p:nvSpPr>
            <p:cNvPr id="16" name="Freeform 16"/>
            <p:cNvSpPr/>
            <p:nvPr/>
          </p:nvSpPr>
          <p:spPr>
            <a:xfrm>
              <a:off x="533400" y="3459480"/>
              <a:ext cx="85725" cy="85725"/>
            </a:xfrm>
            <a:custGeom>
              <a:avLst/>
              <a:gdLst/>
              <a:ahLst/>
              <a:cxnLst/>
              <a:rect l="l" t="t" r="r" b="b"/>
              <a:pathLst>
                <a:path w="85725" h="85725">
                  <a:moveTo>
                    <a:pt x="0" y="0"/>
                  </a:moveTo>
                  <a:lnTo>
                    <a:pt x="85725" y="85725"/>
                  </a:lnTo>
                  <a:moveTo>
                    <a:pt x="85725" y="0"/>
                  </a:moveTo>
                  <a:lnTo>
                    <a:pt x="0" y="85725"/>
                  </a:lnTo>
                </a:path>
              </a:pathLst>
            </a:custGeom>
            <a:noFill/>
            <a:ln w="24765" cap="rnd">
              <a:solidFill>
                <a:srgbClr val="B42318"/>
              </a:solidFill>
            </a:ln>
          </p:spPr>
        </p:sp>
        <p:sp>
          <p:nvSpPr>
            <p:cNvPr id="17" name="TextBox 17"/>
            <p:cNvSpPr txBox="1"/>
            <p:nvPr/>
          </p:nvSpPr>
          <p:spPr>
            <a:xfrm>
              <a:off x="746760" y="3432334"/>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布尔变量错</a:t>
              </a:r>
            </a:p>
          </p:txBody>
        </p:sp>
        <p:sp>
          <p:nvSpPr>
            <p:cNvPr id="18" name="Freeform 18"/>
            <p:cNvSpPr/>
            <p:nvPr/>
          </p:nvSpPr>
          <p:spPr>
            <a:xfrm>
              <a:off x="533400" y="3729038"/>
              <a:ext cx="85725" cy="85725"/>
            </a:xfrm>
            <a:custGeom>
              <a:avLst/>
              <a:gdLst/>
              <a:ahLst/>
              <a:cxnLst/>
              <a:rect l="l" t="t" r="r" b="b"/>
              <a:pathLst>
                <a:path w="85725" h="85725">
                  <a:moveTo>
                    <a:pt x="0" y="0"/>
                  </a:moveTo>
                  <a:lnTo>
                    <a:pt x="85725" y="85725"/>
                  </a:lnTo>
                  <a:moveTo>
                    <a:pt x="85725" y="0"/>
                  </a:moveTo>
                  <a:lnTo>
                    <a:pt x="0" y="85725"/>
                  </a:lnTo>
                </a:path>
              </a:pathLst>
            </a:custGeom>
            <a:noFill/>
            <a:ln w="24765" cap="rnd">
              <a:solidFill>
                <a:srgbClr val="B42318"/>
              </a:solidFill>
            </a:ln>
          </p:spPr>
        </p:sp>
        <p:sp>
          <p:nvSpPr>
            <p:cNvPr id="19" name="TextBox 19"/>
            <p:cNvSpPr txBox="1"/>
            <p:nvPr/>
          </p:nvSpPr>
          <p:spPr>
            <a:xfrm>
              <a:off x="746760" y="3701891"/>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布尔括弧错</a:t>
              </a:r>
            </a:p>
          </p:txBody>
        </p:sp>
        <p:sp>
          <p:nvSpPr>
            <p:cNvPr id="20" name="Freeform 20"/>
            <p:cNvSpPr/>
            <p:nvPr/>
          </p:nvSpPr>
          <p:spPr>
            <a:xfrm>
              <a:off x="533400" y="3998595"/>
              <a:ext cx="85725" cy="85725"/>
            </a:xfrm>
            <a:custGeom>
              <a:avLst/>
              <a:gdLst/>
              <a:ahLst/>
              <a:cxnLst/>
              <a:rect l="l" t="t" r="r" b="b"/>
              <a:pathLst>
                <a:path w="85725" h="85725">
                  <a:moveTo>
                    <a:pt x="0" y="0"/>
                  </a:moveTo>
                  <a:lnTo>
                    <a:pt x="85725" y="85725"/>
                  </a:lnTo>
                  <a:moveTo>
                    <a:pt x="85725" y="0"/>
                  </a:moveTo>
                  <a:lnTo>
                    <a:pt x="0" y="85725"/>
                  </a:lnTo>
                </a:path>
              </a:pathLst>
            </a:custGeom>
            <a:noFill/>
            <a:ln w="24765" cap="rnd">
              <a:solidFill>
                <a:srgbClr val="B42318"/>
              </a:solidFill>
            </a:ln>
          </p:spPr>
        </p:sp>
        <p:sp>
          <p:nvSpPr>
            <p:cNvPr id="21" name="TextBox 21"/>
            <p:cNvSpPr txBox="1"/>
            <p:nvPr/>
          </p:nvSpPr>
          <p:spPr>
            <a:xfrm>
              <a:off x="746760" y="3971449"/>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关系算符错</a:t>
              </a:r>
            </a:p>
          </p:txBody>
        </p:sp>
        <p:sp>
          <p:nvSpPr>
            <p:cNvPr id="22" name="Freeform 22"/>
            <p:cNvSpPr/>
            <p:nvPr/>
          </p:nvSpPr>
          <p:spPr>
            <a:xfrm>
              <a:off x="533400" y="4269105"/>
              <a:ext cx="85725" cy="85725"/>
            </a:xfrm>
            <a:custGeom>
              <a:avLst/>
              <a:gdLst/>
              <a:ahLst/>
              <a:cxnLst/>
              <a:rect l="l" t="t" r="r" b="b"/>
              <a:pathLst>
                <a:path w="85725" h="85725">
                  <a:moveTo>
                    <a:pt x="0" y="0"/>
                  </a:moveTo>
                  <a:lnTo>
                    <a:pt x="85725" y="85725"/>
                  </a:lnTo>
                  <a:moveTo>
                    <a:pt x="85725" y="0"/>
                  </a:moveTo>
                  <a:lnTo>
                    <a:pt x="0" y="85725"/>
                  </a:lnTo>
                </a:path>
              </a:pathLst>
            </a:custGeom>
            <a:noFill/>
            <a:ln w="24765" cap="rnd">
              <a:solidFill>
                <a:srgbClr val="B42318"/>
              </a:solidFill>
            </a:ln>
          </p:spPr>
        </p:sp>
        <p:sp>
          <p:nvSpPr>
            <p:cNvPr id="23" name="TextBox 23"/>
            <p:cNvSpPr txBox="1"/>
            <p:nvPr/>
          </p:nvSpPr>
          <p:spPr>
            <a:xfrm>
              <a:off x="746760" y="4241959"/>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算术表达式错</a:t>
              </a:r>
            </a:p>
          </p:txBody>
        </p:sp>
      </p:grpSp>
      <p:grpSp>
        <p:nvGrpSpPr>
          <p:cNvPr id="34" name="c1-card-3"/>
          <p:cNvGrpSpPr/>
          <p:nvPr/>
        </p:nvGrpSpPr>
        <p:grpSpPr>
          <a:xfrm>
            <a:off x="533400" y="4587240"/>
            <a:ext cx="4760595" cy="1760220"/>
            <a:chOff x="533400" y="4587240"/>
            <a:chExt cx="4760595" cy="1760220"/>
          </a:xfrm>
        </p:grpSpPr>
        <p:sp>
          <p:nvSpPr>
            <p:cNvPr id="25" name="Rectangle 25"/>
            <p:cNvSpPr/>
            <p:nvPr/>
          </p:nvSpPr>
          <p:spPr>
            <a:xfrm>
              <a:off x="533400" y="4587240"/>
              <a:ext cx="4760595" cy="1760220"/>
            </a:xfrm>
            <a:prstGeom prst="roundRect">
              <a:avLst>
                <a:gd name="adj" fmla="val 7576"/>
              </a:avLst>
            </a:prstGeom>
            <a:solidFill>
              <a:srgbClr val="FFFFFF"/>
            </a:solidFill>
            <a:ln w="14288">
              <a:solidFill>
                <a:srgbClr val="D9DFEA"/>
              </a:solidFill>
            </a:ln>
          </p:spPr>
        </p:sp>
        <p:sp>
          <p:nvSpPr>
            <p:cNvPr id="26" name="Rectangle 26"/>
            <p:cNvSpPr/>
            <p:nvPr/>
          </p:nvSpPr>
          <p:spPr>
            <a:xfrm>
              <a:off x="542925" y="4720590"/>
              <a:ext cx="47625" cy="1493520"/>
            </a:xfrm>
            <a:prstGeom prst="roundRect">
              <a:avLst>
                <a:gd name="adj" fmla="val 50000"/>
              </a:avLst>
            </a:prstGeom>
            <a:solidFill>
              <a:srgbClr val="334E68"/>
            </a:solidFill>
            <a:ln>
              <a:noFill/>
            </a:ln>
          </p:spPr>
        </p:sp>
        <p:sp>
          <p:nvSpPr>
            <p:cNvPr id="27" name="Rectangle 27"/>
            <p:cNvSpPr/>
            <p:nvPr/>
          </p:nvSpPr>
          <p:spPr>
            <a:xfrm>
              <a:off x="758190" y="4773930"/>
              <a:ext cx="956310" cy="238125"/>
            </a:xfrm>
            <a:prstGeom prst="roundRect">
              <a:avLst>
                <a:gd name="adj" fmla="val 50000"/>
              </a:avLst>
            </a:prstGeom>
            <a:solidFill>
              <a:srgbClr val="E7EDF3"/>
            </a:solidFill>
            <a:ln>
              <a:noFill/>
            </a:ln>
          </p:spPr>
        </p:sp>
        <p:sp>
          <p:nvSpPr>
            <p:cNvPr id="28" name="TextBox 28"/>
            <p:cNvSpPr txBox="1"/>
            <p:nvPr/>
          </p:nvSpPr>
          <p:spPr>
            <a:xfrm>
              <a:off x="835609" y="4806791"/>
              <a:ext cx="801472"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两种基本做法</a:t>
              </a:r>
            </a:p>
          </p:txBody>
        </p:sp>
        <p:sp>
          <p:nvSpPr>
            <p:cNvPr id="29" name="TextBox 29"/>
            <p:cNvSpPr txBox="1"/>
            <p:nvPr/>
          </p:nvSpPr>
          <p:spPr>
            <a:xfrm>
              <a:off x="1821942" y="4809172"/>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分支测试与域测试</a:t>
              </a:r>
            </a:p>
          </p:txBody>
        </p:sp>
        <p:sp>
          <p:nvSpPr>
            <p:cNvPr id="30" name="Ellipse 30"/>
            <p:cNvSpPr/>
            <p:nvPr/>
          </p:nvSpPr>
          <p:spPr>
            <a:xfrm>
              <a:off x="766762" y="5191125"/>
              <a:ext cx="59055" cy="59055"/>
            </a:xfrm>
            <a:prstGeom prst="ellipse">
              <a:avLst/>
            </a:prstGeom>
            <a:solidFill>
              <a:srgbClr val="334E68"/>
            </a:solidFill>
            <a:ln>
              <a:noFill/>
            </a:ln>
          </p:spPr>
        </p:sp>
        <p:sp>
          <p:nvSpPr>
            <p:cNvPr id="31" name="TextBox 31"/>
            <p:cNvSpPr txBox="1"/>
            <p:nvPr/>
          </p:nvSpPr>
          <p:spPr>
            <a:xfrm>
              <a:off x="922782" y="5134928"/>
              <a:ext cx="400850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分支测试：复合条件 C 的真分支、假分支以及 C 中每</a:t>
              </a:r>
              <a:br/>
              <a:r>
                <a:rPr lang="zh-CN" sz="1350" dirty="0">
                  <a:solidFill>
                    <a:srgbClr val="1F2937"/>
                  </a:solidFill>
                  <a:latin typeface="+mn-lt"/>
                  <a:ea typeface="+mn-ea"/>
                  <a:cs typeface="+mn-cs"/>
                </a:rPr>
                <a:t>个简单条件都至少执行一次</a:t>
              </a:r>
            </a:p>
          </p:txBody>
        </p:sp>
        <p:sp>
          <p:nvSpPr>
            <p:cNvPr id="32" name="Ellipse 32"/>
            <p:cNvSpPr/>
            <p:nvPr/>
          </p:nvSpPr>
          <p:spPr>
            <a:xfrm>
              <a:off x="766762" y="5748338"/>
              <a:ext cx="59055" cy="59055"/>
            </a:xfrm>
            <a:prstGeom prst="ellipse">
              <a:avLst/>
            </a:prstGeom>
            <a:solidFill>
              <a:srgbClr val="334E68"/>
            </a:solidFill>
            <a:ln>
              <a:noFill/>
            </a:ln>
          </p:spPr>
        </p:sp>
        <p:sp>
          <p:nvSpPr>
            <p:cNvPr id="33" name="TextBox 33"/>
            <p:cNvSpPr txBox="1"/>
            <p:nvPr/>
          </p:nvSpPr>
          <p:spPr>
            <a:xfrm>
              <a:off x="922782" y="5692140"/>
              <a:ext cx="384562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域测试：对 E1 &lt;关系算符&gt; E2，用 3 个测试分别使</a:t>
              </a:r>
              <a:br/>
              <a:r>
                <a:rPr lang="zh-CN" sz="1350" dirty="0">
                  <a:solidFill>
                    <a:srgbClr val="1F2937"/>
                  </a:solidFill>
                  <a:latin typeface="+mn-lt"/>
                  <a:ea typeface="+mn-ea"/>
                  <a:cs typeface="+mn-cs"/>
                </a:rPr>
                <a:t>E1 大于、等于、小于 E2，且不等时差别尽可能小</a:t>
              </a:r>
            </a:p>
          </p:txBody>
        </p:sp>
      </p:grpSp>
      <p:grpSp>
        <p:nvGrpSpPr>
          <p:cNvPr id="42" name="c2-card-1"/>
          <p:cNvGrpSpPr/>
          <p:nvPr/>
        </p:nvGrpSpPr>
        <p:grpSpPr>
          <a:xfrm>
            <a:off x="5598795" y="1524000"/>
            <a:ext cx="6059805" cy="1927860"/>
            <a:chOff x="5598795" y="1524000"/>
            <a:chExt cx="6059805" cy="1927860"/>
          </a:xfrm>
        </p:grpSpPr>
        <p:sp>
          <p:nvSpPr>
            <p:cNvPr id="35" name="Rectangle 35"/>
            <p:cNvSpPr/>
            <p:nvPr/>
          </p:nvSpPr>
          <p:spPr>
            <a:xfrm>
              <a:off x="5598795" y="1524000"/>
              <a:ext cx="6059805" cy="1927860"/>
            </a:xfrm>
            <a:prstGeom prst="roundRect">
              <a:avLst>
                <a:gd name="adj" fmla="val 6917"/>
              </a:avLst>
            </a:prstGeom>
            <a:solidFill>
              <a:srgbClr val="FFFFFF"/>
            </a:solidFill>
            <a:ln w="14288">
              <a:solidFill>
                <a:srgbClr val="D9DFEA"/>
              </a:solidFill>
            </a:ln>
          </p:spPr>
        </p:sp>
        <p:sp>
          <p:nvSpPr>
            <p:cNvPr id="36" name="Rectangle 36"/>
            <p:cNvSpPr/>
            <p:nvPr/>
          </p:nvSpPr>
          <p:spPr>
            <a:xfrm>
              <a:off x="5608320" y="1657350"/>
              <a:ext cx="47625" cy="1661160"/>
            </a:xfrm>
            <a:prstGeom prst="roundRect">
              <a:avLst>
                <a:gd name="adj" fmla="val 50000"/>
              </a:avLst>
            </a:prstGeom>
            <a:solidFill>
              <a:srgbClr val="334E68"/>
            </a:solidFill>
            <a:ln>
              <a:noFill/>
            </a:ln>
          </p:spPr>
        </p:sp>
        <p:sp>
          <p:nvSpPr>
            <p:cNvPr id="37" name="Rectangle 37"/>
            <p:cNvSpPr/>
            <p:nvPr/>
          </p:nvSpPr>
          <p:spPr>
            <a:xfrm>
              <a:off x="5823585" y="1710690"/>
              <a:ext cx="451485" cy="238125"/>
            </a:xfrm>
            <a:prstGeom prst="roundRect">
              <a:avLst>
                <a:gd name="adj" fmla="val 50000"/>
              </a:avLst>
            </a:prstGeom>
            <a:solidFill>
              <a:srgbClr val="E7EDF3"/>
            </a:solidFill>
            <a:ln>
              <a:noFill/>
            </a:ln>
          </p:spPr>
        </p:sp>
        <p:sp>
          <p:nvSpPr>
            <p:cNvPr id="38" name="TextBox 38"/>
            <p:cNvSpPr txBox="1"/>
            <p:nvPr/>
          </p:nvSpPr>
          <p:spPr>
            <a:xfrm>
              <a:off x="5908987" y="1743551"/>
              <a:ext cx="280681"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BRO</a:t>
              </a:r>
            </a:p>
          </p:txBody>
        </p:sp>
        <p:sp>
          <p:nvSpPr>
            <p:cNvPr id="39" name="TextBox 39"/>
            <p:cNvSpPr txBox="1"/>
            <p:nvPr/>
          </p:nvSpPr>
          <p:spPr>
            <a:xfrm>
              <a:off x="6382512" y="1745932"/>
              <a:ext cx="263558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条件约束 D = (D1, D2, …, Dn)</a:t>
              </a:r>
            </a:p>
          </p:txBody>
        </p:sp>
        <p:sp>
          <p:nvSpPr>
            <p:cNvPr id="40" name="TextBox 40"/>
            <p:cNvSpPr txBox="1"/>
            <p:nvPr/>
          </p:nvSpPr>
          <p:spPr>
            <a:xfrm>
              <a:off x="5816727" y="2071688"/>
              <a:ext cx="536295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Di 是条件 C 中第 i 个简单条件的输出约束：布尔变量取 t 或 f，关系表</a:t>
              </a:r>
              <a:br/>
              <a:r>
                <a:rPr lang="zh-CN" sz="1350" dirty="0">
                  <a:solidFill>
                    <a:srgbClr val="1F2937"/>
                  </a:solidFill>
                  <a:latin typeface="+mn-lt"/>
                  <a:ea typeface="+mn-ea"/>
                  <a:cs typeface="+mn-cs"/>
                </a:rPr>
                <a:t>达式取 &gt;、= 或 &lt;。C 的一次执行使每个简单条件的输出都满足对应约</a:t>
              </a:r>
              <a:br/>
              <a:r>
                <a:rPr lang="zh-CN" sz="1350" dirty="0">
                  <a:solidFill>
                    <a:srgbClr val="1F2937"/>
                  </a:solidFill>
                  <a:latin typeface="+mn-lt"/>
                  <a:ea typeface="+mn-ea"/>
                  <a:cs typeface="+mn-cs"/>
                </a:rPr>
                <a:t>束，就称这次执行覆盖了约束 D。</a:t>
              </a:r>
            </a:p>
          </p:txBody>
        </p:sp>
        <p:sp>
          <p:nvSpPr>
            <p:cNvPr id="41" name="TextBox 41"/>
            <p:cNvSpPr txBox="1"/>
            <p:nvPr/>
          </p:nvSpPr>
          <p:spPr>
            <a:xfrm>
              <a:off x="5817870" y="2882741"/>
              <a:ext cx="5430774"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BRO 即 Branch and Relation Operation：条件中所有布尔变量和关系算符都只出现一</a:t>
              </a:r>
              <a:br/>
              <a:r>
                <a:rPr lang="zh-CN" sz="1120" dirty="0">
                  <a:solidFill>
                    <a:srgbClr val="5B6475"/>
                  </a:solidFill>
                  <a:latin typeface="+mn-lt"/>
                  <a:ea typeface="+mn-ea"/>
                  <a:cs typeface="+mn-cs"/>
                </a:rPr>
                <a:t>次且无公共变量时，BRO 测试保证能发现其中的分支错和关系算符错</a:t>
              </a:r>
            </a:p>
          </p:txBody>
        </p:sp>
      </p:grpSp>
      <p:grpSp>
        <p:nvGrpSpPr>
          <p:cNvPr id="62" name="c2-table-2"/>
          <p:cNvGrpSpPr/>
          <p:nvPr/>
        </p:nvGrpSpPr>
        <p:grpSpPr>
          <a:xfrm>
            <a:off x="5598795" y="3622358"/>
            <a:ext cx="6059805" cy="2000250"/>
            <a:chOff x="5598795" y="3622358"/>
            <a:chExt cx="6059805" cy="2000250"/>
          </a:xfrm>
        </p:grpSpPr>
        <p:sp>
          <p:nvSpPr>
            <p:cNvPr id="43" name="Rectangle 43"/>
            <p:cNvSpPr/>
            <p:nvPr/>
          </p:nvSpPr>
          <p:spPr>
            <a:xfrm>
              <a:off x="5598795" y="3622358"/>
              <a:ext cx="6059805" cy="400050"/>
            </a:xfrm>
            <a:prstGeom prst="rect">
              <a:avLst/>
            </a:prstGeom>
            <a:solidFill>
              <a:srgbClr val="334E68"/>
            </a:solidFill>
            <a:ln>
              <a:noFill/>
            </a:ln>
          </p:spPr>
        </p:sp>
        <p:sp>
          <p:nvSpPr>
            <p:cNvPr id="44" name="TextBox 44"/>
            <p:cNvSpPr txBox="1"/>
            <p:nvPr/>
          </p:nvSpPr>
          <p:spPr>
            <a:xfrm>
              <a:off x="6290983" y="3743801"/>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条件</a:t>
              </a:r>
            </a:p>
          </p:txBody>
        </p:sp>
        <p:sp>
          <p:nvSpPr>
            <p:cNvPr id="45" name="TextBox 45"/>
            <p:cNvSpPr txBox="1"/>
            <p:nvPr/>
          </p:nvSpPr>
          <p:spPr>
            <a:xfrm>
              <a:off x="8217001" y="3743801"/>
              <a:ext cx="82339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BRO 约束集</a:t>
              </a:r>
            </a:p>
          </p:txBody>
        </p:sp>
        <p:sp>
          <p:nvSpPr>
            <p:cNvPr id="46" name="TextBox 46"/>
            <p:cNvSpPr txBox="1"/>
            <p:nvPr/>
          </p:nvSpPr>
          <p:spPr>
            <a:xfrm>
              <a:off x="10427272" y="3743801"/>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保证能发现</a:t>
              </a:r>
            </a:p>
          </p:txBody>
        </p:sp>
        <p:sp>
          <p:nvSpPr>
            <p:cNvPr id="47" name="TextBox 47"/>
            <p:cNvSpPr txBox="1"/>
            <p:nvPr/>
          </p:nvSpPr>
          <p:spPr>
            <a:xfrm>
              <a:off x="5695950" y="4143851"/>
              <a:ext cx="897983"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C1: B1 &amp; B2</a:t>
              </a:r>
            </a:p>
          </p:txBody>
        </p:sp>
        <p:sp>
          <p:nvSpPr>
            <p:cNvPr id="48" name="TextBox 48"/>
            <p:cNvSpPr txBox="1"/>
            <p:nvPr/>
          </p:nvSpPr>
          <p:spPr>
            <a:xfrm>
              <a:off x="7393305" y="4143851"/>
              <a:ext cx="181318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{(t, t), (f, t), (t, f)}</a:t>
              </a:r>
            </a:p>
          </p:txBody>
        </p:sp>
        <p:sp>
          <p:nvSpPr>
            <p:cNvPr id="49" name="TextBox 49"/>
            <p:cNvSpPr txBox="1"/>
            <p:nvPr/>
          </p:nvSpPr>
          <p:spPr>
            <a:xfrm>
              <a:off x="10059353" y="4143851"/>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布尔算符错</a:t>
              </a:r>
            </a:p>
          </p:txBody>
        </p:sp>
        <p:sp>
          <p:nvSpPr>
            <p:cNvPr id="50" name="Rectangle 50"/>
            <p:cNvSpPr/>
            <p:nvPr/>
          </p:nvSpPr>
          <p:spPr>
            <a:xfrm>
              <a:off x="5598795" y="4417695"/>
              <a:ext cx="6059805" cy="9525"/>
            </a:xfrm>
            <a:prstGeom prst="rect">
              <a:avLst/>
            </a:prstGeom>
            <a:solidFill>
              <a:srgbClr val="D9DFEA"/>
            </a:solidFill>
            <a:ln>
              <a:noFill/>
            </a:ln>
          </p:spPr>
        </p:sp>
        <p:sp>
          <p:nvSpPr>
            <p:cNvPr id="51" name="Rectangle 51"/>
            <p:cNvSpPr/>
            <p:nvPr/>
          </p:nvSpPr>
          <p:spPr>
            <a:xfrm>
              <a:off x="5598795" y="4422458"/>
              <a:ext cx="6059805" cy="600075"/>
            </a:xfrm>
            <a:prstGeom prst="rect">
              <a:avLst/>
            </a:prstGeom>
            <a:solidFill>
              <a:srgbClr val="F4F6FB"/>
            </a:solidFill>
            <a:ln>
              <a:noFill/>
            </a:ln>
          </p:spPr>
        </p:sp>
        <p:sp>
          <p:nvSpPr>
            <p:cNvPr id="52" name="TextBox 52"/>
            <p:cNvSpPr txBox="1"/>
            <p:nvPr/>
          </p:nvSpPr>
          <p:spPr>
            <a:xfrm>
              <a:off x="5695950" y="4643914"/>
              <a:ext cx="145835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C2: B1 &amp; (E3 = E4)</a:t>
              </a:r>
            </a:p>
          </p:txBody>
        </p:sp>
        <p:sp>
          <p:nvSpPr>
            <p:cNvPr id="53" name="TextBox 53"/>
            <p:cNvSpPr txBox="1"/>
            <p:nvPr/>
          </p:nvSpPr>
          <p:spPr>
            <a:xfrm>
              <a:off x="7393305" y="4643914"/>
              <a:ext cx="240120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{(t, =), (f, =), (t, &lt;), (t, &gt;)}</a:t>
              </a:r>
            </a:p>
          </p:txBody>
        </p:sp>
        <p:sp>
          <p:nvSpPr>
            <p:cNvPr id="54" name="TextBox 54"/>
            <p:cNvSpPr txBox="1"/>
            <p:nvPr/>
          </p:nvSpPr>
          <p:spPr>
            <a:xfrm>
              <a:off x="10059353" y="4543901"/>
              <a:ext cx="12915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布尔算符错与关系算</a:t>
              </a:r>
              <a:br/>
              <a:r>
                <a:rPr lang="zh-CN" sz="1120" dirty="0">
                  <a:solidFill>
                    <a:srgbClr val="1F2937"/>
                  </a:solidFill>
                  <a:latin typeface="+mn-lt"/>
                  <a:ea typeface="+mn-ea"/>
                  <a:cs typeface="+mn-cs"/>
                </a:rPr>
                <a:t>符错</a:t>
              </a:r>
            </a:p>
          </p:txBody>
        </p:sp>
        <p:sp>
          <p:nvSpPr>
            <p:cNvPr id="55" name="Rectangle 55"/>
            <p:cNvSpPr/>
            <p:nvPr/>
          </p:nvSpPr>
          <p:spPr>
            <a:xfrm>
              <a:off x="5598795" y="5017770"/>
              <a:ext cx="6059805" cy="9525"/>
            </a:xfrm>
            <a:prstGeom prst="rect">
              <a:avLst/>
            </a:prstGeom>
            <a:solidFill>
              <a:srgbClr val="D9DFEA"/>
            </a:solidFill>
            <a:ln>
              <a:noFill/>
            </a:ln>
          </p:spPr>
        </p:sp>
        <p:sp>
          <p:nvSpPr>
            <p:cNvPr id="56" name="TextBox 56"/>
            <p:cNvSpPr txBox="1"/>
            <p:nvPr/>
          </p:nvSpPr>
          <p:spPr>
            <a:xfrm>
              <a:off x="5695950" y="5143976"/>
              <a:ext cx="1385468" cy="420052"/>
            </a:xfrm>
            <a:prstGeom prst="rect">
              <a:avLst/>
            </a:prstGeom>
            <a:noFill/>
            <a:ln>
              <a:noFill/>
            </a:ln>
          </p:spPr>
          <p:txBody>
            <a:bodyPr wrap="none" lIns="0" tIns="0" rIns="0" bIns="0" anchor="t" anchorCtr="0">
              <a:spAutoFit/>
            </a:bodyPr>
            <a:lstStyle/>
            <a:p>
              <a:pPr algn="l">
                <a:lnSpc>
                  <a:spcPts val="1575"/>
                </a:lnSpc>
              </a:pPr>
              <a:r>
                <a:rPr lang="en-US" sz="1120" b="1" dirty="0">
                  <a:solidFill>
                    <a:srgbClr val="1F2937"/>
                  </a:solidFill>
                  <a:latin typeface="+mn-lt"/>
                  <a:ea typeface="+mn-ea"/>
                  <a:cs typeface="+mn-cs"/>
                </a:rPr>
                <a:t>C3: (E1 &gt; E2) &amp; (E3</a:t>
              </a:r>
              <a:br/>
              <a:r>
                <a:rPr lang="en-US" sz="1120" b="1" dirty="0">
                  <a:solidFill>
                    <a:srgbClr val="1F2937"/>
                  </a:solidFill>
                  <a:latin typeface="+mn-lt"/>
                  <a:ea typeface="+mn-ea"/>
                  <a:cs typeface="+mn-cs"/>
                </a:rPr>
                <a:t>= E4)</a:t>
              </a:r>
            </a:p>
          </p:txBody>
        </p:sp>
        <p:sp>
          <p:nvSpPr>
            <p:cNvPr id="57" name="TextBox 57"/>
            <p:cNvSpPr txBox="1"/>
            <p:nvPr/>
          </p:nvSpPr>
          <p:spPr>
            <a:xfrm>
              <a:off x="7393305" y="5143976"/>
              <a:ext cx="2265934"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{(&gt;, =), (=, =), (&lt;, =), (&gt;, &lt;),</a:t>
              </a:r>
              <a:br/>
              <a:r>
                <a:rPr lang="zh-CN" sz="1120" dirty="0">
                  <a:solidFill>
                    <a:srgbClr val="1F2937"/>
                  </a:solidFill>
                  <a:latin typeface="+mn-lt"/>
                  <a:ea typeface="+mn-ea"/>
                  <a:cs typeface="+mn-cs"/>
                </a:rPr>
                <a:t>(&gt;, &gt;)}</a:t>
              </a:r>
            </a:p>
          </p:txBody>
        </p:sp>
        <p:sp>
          <p:nvSpPr>
            <p:cNvPr id="58" name="TextBox 58"/>
            <p:cNvSpPr txBox="1"/>
            <p:nvPr/>
          </p:nvSpPr>
          <p:spPr>
            <a:xfrm>
              <a:off x="10059353" y="5243989"/>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关系算符错</a:t>
              </a:r>
            </a:p>
          </p:txBody>
        </p:sp>
        <p:sp>
          <p:nvSpPr>
            <p:cNvPr id="59" name="Rectangle 59"/>
            <p:cNvSpPr/>
            <p:nvPr/>
          </p:nvSpPr>
          <p:spPr>
            <a:xfrm>
              <a:off x="5598795" y="3622358"/>
              <a:ext cx="6059805" cy="2000250"/>
            </a:xfrm>
            <a:prstGeom prst="rect">
              <a:avLst/>
            </a:prstGeom>
            <a:noFill/>
            <a:ln w="14288">
              <a:solidFill>
                <a:srgbClr val="D9DFEA"/>
              </a:solidFill>
            </a:ln>
          </p:spPr>
        </p:sp>
        <p:sp>
          <p:nvSpPr>
            <p:cNvPr id="60" name="Rectangle 60"/>
            <p:cNvSpPr/>
            <p:nvPr/>
          </p:nvSpPr>
          <p:spPr>
            <a:xfrm>
              <a:off x="7291388" y="3622358"/>
              <a:ext cx="9525" cy="2000250"/>
            </a:xfrm>
            <a:prstGeom prst="rect">
              <a:avLst/>
            </a:prstGeom>
            <a:solidFill>
              <a:srgbClr val="D9DFEA"/>
            </a:solidFill>
            <a:ln>
              <a:noFill/>
            </a:ln>
          </p:spPr>
        </p:sp>
        <p:sp>
          <p:nvSpPr>
            <p:cNvPr id="61" name="Rectangle 61"/>
            <p:cNvSpPr/>
            <p:nvPr/>
          </p:nvSpPr>
          <p:spPr>
            <a:xfrm>
              <a:off x="9957435" y="3622358"/>
              <a:ext cx="9525" cy="2000250"/>
            </a:xfrm>
            <a:prstGeom prst="rect">
              <a:avLst/>
            </a:prstGeom>
            <a:solidFill>
              <a:srgbClr val="D9DFEA"/>
            </a:solidFill>
            <a:ln>
              <a:noFill/>
            </a:ln>
          </p:spPr>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白盒测试技术</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循环测试：三种循环，三套打法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4544378" cy="1697355"/>
            <a:chOff x="533400" y="1524000"/>
            <a:chExt cx="4544378" cy="1697355"/>
          </a:xfrm>
        </p:grpSpPr>
        <p:sp>
          <p:nvSpPr>
            <p:cNvPr id="7" name="Rectangle 7"/>
            <p:cNvSpPr/>
            <p:nvPr/>
          </p:nvSpPr>
          <p:spPr>
            <a:xfrm>
              <a:off x="533400" y="1524000"/>
              <a:ext cx="4544378" cy="1697355"/>
            </a:xfrm>
            <a:prstGeom prst="roundRect">
              <a:avLst>
                <a:gd name="adj" fmla="val 7856"/>
              </a:avLst>
            </a:prstGeom>
            <a:solidFill>
              <a:srgbClr val="FFFFFF"/>
            </a:solidFill>
            <a:ln w="14288">
              <a:solidFill>
                <a:srgbClr val="D9DFEA"/>
              </a:solidFill>
            </a:ln>
          </p:spPr>
        </p:sp>
        <p:sp>
          <p:nvSpPr>
            <p:cNvPr id="8" name="Rectangle 8"/>
            <p:cNvSpPr/>
            <p:nvPr/>
          </p:nvSpPr>
          <p:spPr>
            <a:xfrm>
              <a:off x="542925" y="1657350"/>
              <a:ext cx="47625" cy="1430655"/>
            </a:xfrm>
            <a:prstGeom prst="roundRect">
              <a:avLst>
                <a:gd name="adj" fmla="val 50000"/>
              </a:avLst>
            </a:prstGeom>
            <a:solidFill>
              <a:srgbClr val="334E68"/>
            </a:solidFill>
            <a:ln>
              <a:noFill/>
            </a:ln>
          </p:spPr>
        </p:sp>
        <p:sp>
          <p:nvSpPr>
            <p:cNvPr id="9" name="Rectangle 9"/>
            <p:cNvSpPr/>
            <p:nvPr/>
          </p:nvSpPr>
          <p:spPr>
            <a:xfrm>
              <a:off x="763905" y="1716405"/>
              <a:ext cx="742950" cy="247650"/>
            </a:xfrm>
            <a:prstGeom prst="roundRect">
              <a:avLst>
                <a:gd name="adj" fmla="val 50000"/>
              </a:avLst>
            </a:prstGeom>
            <a:solidFill>
              <a:srgbClr val="E7EDF3"/>
            </a:solidFill>
            <a:ln>
              <a:noFill/>
            </a:ln>
          </p:spPr>
        </p:sp>
        <p:sp>
          <p:nvSpPr>
            <p:cNvPr id="10" name="TextBox 10"/>
            <p:cNvSpPr txBox="1"/>
            <p:nvPr/>
          </p:nvSpPr>
          <p:spPr>
            <a:xfrm>
              <a:off x="847344" y="1750695"/>
              <a:ext cx="576072"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循环测试</a:t>
              </a:r>
            </a:p>
          </p:txBody>
        </p:sp>
        <p:sp>
          <p:nvSpPr>
            <p:cNvPr id="11" name="TextBox 11"/>
            <p:cNvSpPr txBox="1"/>
            <p:nvPr/>
          </p:nvSpPr>
          <p:spPr>
            <a:xfrm>
              <a:off x="1614297" y="1756410"/>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专注于测试循环结构的有效性</a:t>
              </a:r>
            </a:p>
          </p:txBody>
        </p:sp>
        <p:sp>
          <p:nvSpPr>
            <p:cNvPr id="12" name="TextBox 12"/>
            <p:cNvSpPr txBox="1"/>
            <p:nvPr/>
          </p:nvSpPr>
          <p:spPr>
            <a:xfrm>
              <a:off x="757047" y="2090738"/>
              <a:ext cx="381133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结构化的程序中通常只有 3 种循环：简单循环、串</a:t>
              </a:r>
              <a:br/>
              <a:r>
                <a:rPr lang="zh-CN" sz="1350" dirty="0">
                  <a:solidFill>
                    <a:srgbClr val="1F2937"/>
                  </a:solidFill>
                  <a:latin typeface="+mn-lt"/>
                  <a:ea typeface="+mn-ea"/>
                  <a:cs typeface="+mn-cs"/>
                </a:rPr>
                <a:t>接循环和嵌套循环。</a:t>
              </a:r>
            </a:p>
          </p:txBody>
        </p:sp>
        <p:sp>
          <p:nvSpPr>
            <p:cNvPr id="13" name="TextBox 13"/>
            <p:cNvSpPr txBox="1"/>
            <p:nvPr/>
          </p:nvSpPr>
          <p:spPr>
            <a:xfrm>
              <a:off x="758190" y="2646521"/>
              <a:ext cx="385191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非结构循环（循环之间互相跳入跳出）应当先重新设计成结构</a:t>
              </a:r>
              <a:br/>
              <a:r>
                <a:rPr lang="zh-CN" sz="1120" dirty="0">
                  <a:solidFill>
                    <a:srgbClr val="5B6475"/>
                  </a:solidFill>
                  <a:latin typeface="+mn-lt"/>
                  <a:ea typeface="+mn-ea"/>
                  <a:cs typeface="+mn-cs"/>
                </a:rPr>
                <a:t>化的，再测试</a:t>
              </a:r>
            </a:p>
          </p:txBody>
        </p:sp>
      </p:grpSp>
      <p:grpSp>
        <p:nvGrpSpPr>
          <p:cNvPr id="35" name="c1-flow-2"/>
          <p:cNvGrpSpPr/>
          <p:nvPr/>
        </p:nvGrpSpPr>
        <p:grpSpPr>
          <a:xfrm>
            <a:off x="692468" y="3683318"/>
            <a:ext cx="4227194" cy="2343150"/>
            <a:chOff x="692468" y="3683318"/>
            <a:chExt cx="4227194" cy="2343150"/>
          </a:xfrm>
        </p:grpSpPr>
        <p:sp>
          <p:nvSpPr>
            <p:cNvPr id="15" name="Freeform 15"/>
            <p:cNvSpPr/>
            <p:nvPr/>
          </p:nvSpPr>
          <p:spPr>
            <a:xfrm>
              <a:off x="1669732" y="4082415"/>
              <a:ext cx="9525" cy="380047"/>
            </a:xfrm>
            <a:custGeom>
              <a:avLst/>
              <a:gdLst/>
              <a:ahLst/>
              <a:cxnLst/>
              <a:rect l="l" t="t" r="r" b="b"/>
              <a:pathLst>
                <a:path w="9525" h="380047">
                  <a:moveTo>
                    <a:pt x="0" y="0"/>
                  </a:moveTo>
                  <a:lnTo>
                    <a:pt x="0" y="380047"/>
                  </a:lnTo>
                </a:path>
              </a:pathLst>
            </a:custGeom>
            <a:noFill/>
            <a:ln w="15240">
              <a:solidFill>
                <a:srgbClr val="5B6475"/>
              </a:solidFill>
            </a:ln>
          </p:spPr>
        </p:sp>
        <p:sp>
          <p:nvSpPr>
            <p:cNvPr id="16" name="Freeform 16"/>
            <p:cNvSpPr/>
            <p:nvPr/>
          </p:nvSpPr>
          <p:spPr>
            <a:xfrm>
              <a:off x="1617345" y="446246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Freeform 17"/>
            <p:cNvSpPr/>
            <p:nvPr/>
          </p:nvSpPr>
          <p:spPr>
            <a:xfrm>
              <a:off x="2646998" y="4854892"/>
              <a:ext cx="213360" cy="9525"/>
            </a:xfrm>
            <a:custGeom>
              <a:avLst/>
              <a:gdLst/>
              <a:ahLst/>
              <a:cxnLst/>
              <a:rect l="l" t="t" r="r" b="b"/>
              <a:pathLst>
                <a:path w="213360" h="9525">
                  <a:moveTo>
                    <a:pt x="0" y="0"/>
                  </a:moveTo>
                  <a:lnTo>
                    <a:pt x="213360" y="0"/>
                  </a:lnTo>
                </a:path>
              </a:pathLst>
            </a:custGeom>
            <a:noFill/>
            <a:ln w="15240">
              <a:solidFill>
                <a:srgbClr val="5B6475"/>
              </a:solidFill>
            </a:ln>
          </p:spPr>
        </p:sp>
        <p:sp>
          <p:nvSpPr>
            <p:cNvPr id="18" name="Freeform 18"/>
            <p:cNvSpPr/>
            <p:nvPr/>
          </p:nvSpPr>
          <p:spPr>
            <a:xfrm>
              <a:off x="2860358" y="480250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9" name="Freeform 19"/>
            <p:cNvSpPr/>
            <p:nvPr/>
          </p:nvSpPr>
          <p:spPr>
            <a:xfrm>
              <a:off x="1669732" y="5142548"/>
              <a:ext cx="9525" cy="380047"/>
            </a:xfrm>
            <a:custGeom>
              <a:avLst/>
              <a:gdLst/>
              <a:ahLst/>
              <a:cxnLst/>
              <a:rect l="l" t="t" r="r" b="b"/>
              <a:pathLst>
                <a:path w="9525" h="380047">
                  <a:moveTo>
                    <a:pt x="0" y="0"/>
                  </a:moveTo>
                  <a:lnTo>
                    <a:pt x="0" y="380047"/>
                  </a:lnTo>
                </a:path>
              </a:pathLst>
            </a:custGeom>
            <a:noFill/>
            <a:ln w="15240">
              <a:solidFill>
                <a:srgbClr val="5B6475"/>
              </a:solidFill>
            </a:ln>
          </p:spPr>
        </p:sp>
        <p:sp>
          <p:nvSpPr>
            <p:cNvPr id="20" name="Freeform 20"/>
            <p:cNvSpPr/>
            <p:nvPr/>
          </p:nvSpPr>
          <p:spPr>
            <a:xfrm>
              <a:off x="1617345" y="552259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1" name="Freeform 21"/>
            <p:cNvSpPr/>
            <p:nvPr/>
          </p:nvSpPr>
          <p:spPr>
            <a:xfrm>
              <a:off x="1669732" y="3746182"/>
              <a:ext cx="2271712" cy="908685"/>
            </a:xfrm>
            <a:custGeom>
              <a:avLst/>
              <a:gdLst/>
              <a:ahLst/>
              <a:cxnLst/>
              <a:rect l="l" t="t" r="r" b="b"/>
              <a:pathLst>
                <a:path w="2271712" h="908685">
                  <a:moveTo>
                    <a:pt x="2271712" y="908685"/>
                  </a:moveTo>
                  <a:lnTo>
                    <a:pt x="2271712" y="699135"/>
                  </a:lnTo>
                  <a:lnTo>
                    <a:pt x="2271712" y="0"/>
                  </a:lnTo>
                  <a:lnTo>
                    <a:pt x="1681162" y="0"/>
                  </a:lnTo>
                  <a:lnTo>
                    <a:pt x="0" y="0"/>
                  </a:lnTo>
                  <a:lnTo>
                    <a:pt x="0" y="611505"/>
                  </a:lnTo>
                  <a:lnTo>
                    <a:pt x="0" y="716280"/>
                  </a:lnTo>
                </a:path>
              </a:pathLst>
            </a:custGeom>
            <a:noFill/>
            <a:ln w="15240">
              <a:solidFill>
                <a:srgbClr val="5B6475"/>
              </a:solidFill>
            </a:ln>
          </p:spPr>
        </p:sp>
        <p:sp>
          <p:nvSpPr>
            <p:cNvPr id="22" name="Freeform 22"/>
            <p:cNvSpPr/>
            <p:nvPr/>
          </p:nvSpPr>
          <p:spPr>
            <a:xfrm>
              <a:off x="1617345" y="446246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3" name="Rectangle 23"/>
            <p:cNvSpPr/>
            <p:nvPr/>
          </p:nvSpPr>
          <p:spPr>
            <a:xfrm>
              <a:off x="692468" y="3683318"/>
              <a:ext cx="1954530" cy="399098"/>
            </a:xfrm>
            <a:prstGeom prst="roundRect">
              <a:avLst>
                <a:gd name="adj" fmla="val 49881"/>
              </a:avLst>
            </a:prstGeom>
            <a:solidFill>
              <a:srgbClr val="334E68"/>
            </a:solidFill>
            <a:ln>
              <a:noFill/>
            </a:ln>
          </p:spPr>
        </p:sp>
        <p:sp>
          <p:nvSpPr>
            <p:cNvPr id="24" name="Freeform 24"/>
            <p:cNvSpPr/>
            <p:nvPr/>
          </p:nvSpPr>
          <p:spPr>
            <a:xfrm>
              <a:off x="692468" y="4567238"/>
              <a:ext cx="1954530" cy="575310"/>
            </a:xfrm>
            <a:custGeom>
              <a:avLst/>
              <a:gdLst/>
              <a:ahLst/>
              <a:cxnLst/>
              <a:rect l="l" t="t" r="r" b="b"/>
              <a:pathLst>
                <a:path w="1954530" h="575310">
                  <a:moveTo>
                    <a:pt x="977265" y="0"/>
                  </a:moveTo>
                  <a:lnTo>
                    <a:pt x="1954530" y="287655"/>
                  </a:lnTo>
                  <a:lnTo>
                    <a:pt x="977265" y="575310"/>
                  </a:lnTo>
                  <a:lnTo>
                    <a:pt x="0" y="287655"/>
                  </a:lnTo>
                  <a:close/>
                </a:path>
              </a:pathLst>
            </a:custGeom>
            <a:solidFill>
              <a:srgbClr val="FDEEE7"/>
            </a:solidFill>
            <a:ln w="15240">
              <a:solidFill>
                <a:srgbClr val="F26B3A"/>
              </a:solidFill>
            </a:ln>
          </p:spPr>
        </p:sp>
        <p:sp>
          <p:nvSpPr>
            <p:cNvPr id="25" name="Rectangle 25"/>
            <p:cNvSpPr/>
            <p:nvPr/>
          </p:nvSpPr>
          <p:spPr>
            <a:xfrm>
              <a:off x="2965132" y="4654868"/>
              <a:ext cx="1954530" cy="399098"/>
            </a:xfrm>
            <a:prstGeom prst="roundRect">
              <a:avLst>
                <a:gd name="adj" fmla="val 23866"/>
              </a:avLst>
            </a:prstGeom>
            <a:solidFill>
              <a:srgbClr val="E7EDF3"/>
            </a:solidFill>
            <a:ln w="19050">
              <a:solidFill>
                <a:srgbClr val="334E68"/>
              </a:solidFill>
            </a:ln>
          </p:spPr>
        </p:sp>
        <p:sp>
          <p:nvSpPr>
            <p:cNvPr id="26" name="Rectangle 26"/>
            <p:cNvSpPr/>
            <p:nvPr/>
          </p:nvSpPr>
          <p:spPr>
            <a:xfrm>
              <a:off x="692468" y="5627370"/>
              <a:ext cx="1954530" cy="399098"/>
            </a:xfrm>
            <a:prstGeom prst="roundRect">
              <a:avLst>
                <a:gd name="adj" fmla="val 49881"/>
              </a:avLst>
            </a:prstGeom>
            <a:solidFill>
              <a:srgbClr val="334E68"/>
            </a:solidFill>
            <a:ln>
              <a:noFill/>
            </a:ln>
          </p:spPr>
        </p:sp>
        <p:sp>
          <p:nvSpPr>
            <p:cNvPr id="27" name="TextBox 27"/>
            <p:cNvSpPr txBox="1"/>
            <p:nvPr/>
          </p:nvSpPr>
          <p:spPr>
            <a:xfrm>
              <a:off x="1362469" y="380380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进入循环</a:t>
              </a:r>
            </a:p>
          </p:txBody>
        </p:sp>
        <p:sp>
          <p:nvSpPr>
            <p:cNvPr id="28" name="TextBox 28"/>
            <p:cNvSpPr txBox="1"/>
            <p:nvPr/>
          </p:nvSpPr>
          <p:spPr>
            <a:xfrm>
              <a:off x="1362469" y="4776311"/>
              <a:ext cx="614528"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循环条件</a:t>
              </a:r>
            </a:p>
          </p:txBody>
        </p:sp>
        <p:sp>
          <p:nvSpPr>
            <p:cNvPr id="29" name="TextBox 29"/>
            <p:cNvSpPr txBox="1"/>
            <p:nvPr/>
          </p:nvSpPr>
          <p:spPr>
            <a:xfrm>
              <a:off x="3709568" y="4776311"/>
              <a:ext cx="463753"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循环体</a:t>
              </a:r>
            </a:p>
          </p:txBody>
        </p:sp>
        <p:sp>
          <p:nvSpPr>
            <p:cNvPr id="30" name="TextBox 30"/>
            <p:cNvSpPr txBox="1"/>
            <p:nvPr/>
          </p:nvSpPr>
          <p:spPr>
            <a:xfrm>
              <a:off x="1362469" y="5747861"/>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退出循环</a:t>
              </a:r>
            </a:p>
          </p:txBody>
        </p:sp>
        <p:sp>
          <p:nvSpPr>
            <p:cNvPr id="31" name="Rectangle 31"/>
            <p:cNvSpPr/>
            <p:nvPr/>
          </p:nvSpPr>
          <p:spPr>
            <a:xfrm>
              <a:off x="2695575" y="4648200"/>
              <a:ext cx="220028" cy="179070"/>
            </a:xfrm>
            <a:prstGeom prst="roundRect">
              <a:avLst>
                <a:gd name="adj" fmla="val 21277"/>
              </a:avLst>
            </a:prstGeom>
            <a:solidFill>
              <a:srgbClr val="FFFFFF"/>
            </a:solidFill>
            <a:ln>
              <a:noFill/>
            </a:ln>
          </p:spPr>
        </p:sp>
        <p:sp>
          <p:nvSpPr>
            <p:cNvPr id="32" name="TextBox 32"/>
            <p:cNvSpPr txBox="1"/>
            <p:nvPr/>
          </p:nvSpPr>
          <p:spPr>
            <a:xfrm>
              <a:off x="2735148" y="4673441"/>
              <a:ext cx="14183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真</a:t>
              </a:r>
            </a:p>
          </p:txBody>
        </p:sp>
        <p:sp>
          <p:nvSpPr>
            <p:cNvPr id="33" name="Rectangle 33"/>
            <p:cNvSpPr/>
            <p:nvPr/>
          </p:nvSpPr>
          <p:spPr>
            <a:xfrm>
              <a:off x="1698308" y="5299710"/>
              <a:ext cx="220028" cy="179070"/>
            </a:xfrm>
            <a:prstGeom prst="roundRect">
              <a:avLst>
                <a:gd name="adj" fmla="val 21277"/>
              </a:avLst>
            </a:prstGeom>
            <a:solidFill>
              <a:srgbClr val="FFFFFF"/>
            </a:solidFill>
            <a:ln>
              <a:noFill/>
            </a:ln>
          </p:spPr>
        </p:sp>
        <p:sp>
          <p:nvSpPr>
            <p:cNvPr id="34" name="TextBox 34"/>
            <p:cNvSpPr txBox="1"/>
            <p:nvPr/>
          </p:nvSpPr>
          <p:spPr>
            <a:xfrm>
              <a:off x="1721930" y="5323999"/>
              <a:ext cx="14183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假</a:t>
              </a:r>
            </a:p>
          </p:txBody>
        </p:sp>
      </p:grpSp>
      <p:grpSp>
        <p:nvGrpSpPr>
          <p:cNvPr id="50" name="c2-card-1"/>
          <p:cNvGrpSpPr/>
          <p:nvPr/>
        </p:nvGrpSpPr>
        <p:grpSpPr>
          <a:xfrm>
            <a:off x="5382578" y="1524000"/>
            <a:ext cx="6276022" cy="1574482"/>
            <a:chOff x="5382578" y="1524000"/>
            <a:chExt cx="6276022" cy="1574482"/>
          </a:xfrm>
        </p:grpSpPr>
        <p:sp>
          <p:nvSpPr>
            <p:cNvPr id="36" name="Rectangle 36"/>
            <p:cNvSpPr/>
            <p:nvPr/>
          </p:nvSpPr>
          <p:spPr>
            <a:xfrm>
              <a:off x="5382578" y="1524000"/>
              <a:ext cx="6276022" cy="1574482"/>
            </a:xfrm>
            <a:prstGeom prst="roundRect">
              <a:avLst>
                <a:gd name="adj" fmla="val 8469"/>
              </a:avLst>
            </a:prstGeom>
            <a:solidFill>
              <a:srgbClr val="FFFFFF"/>
            </a:solidFill>
            <a:ln w="14288">
              <a:solidFill>
                <a:srgbClr val="D9DFEA"/>
              </a:solidFill>
            </a:ln>
          </p:spPr>
        </p:sp>
        <p:sp>
          <p:nvSpPr>
            <p:cNvPr id="37" name="Rectangle 37"/>
            <p:cNvSpPr/>
            <p:nvPr/>
          </p:nvSpPr>
          <p:spPr>
            <a:xfrm>
              <a:off x="5392102" y="1657350"/>
              <a:ext cx="47625" cy="1307782"/>
            </a:xfrm>
            <a:prstGeom prst="roundRect">
              <a:avLst>
                <a:gd name="adj" fmla="val 50000"/>
              </a:avLst>
            </a:prstGeom>
            <a:solidFill>
              <a:srgbClr val="14A38B"/>
            </a:solidFill>
            <a:ln>
              <a:noFill/>
            </a:ln>
          </p:spPr>
        </p:sp>
        <p:sp>
          <p:nvSpPr>
            <p:cNvPr id="38" name="Rectangle 38"/>
            <p:cNvSpPr/>
            <p:nvPr/>
          </p:nvSpPr>
          <p:spPr>
            <a:xfrm>
              <a:off x="5613082" y="1716405"/>
              <a:ext cx="742950" cy="247650"/>
            </a:xfrm>
            <a:prstGeom prst="roundRect">
              <a:avLst>
                <a:gd name="adj" fmla="val 50000"/>
              </a:avLst>
            </a:prstGeom>
            <a:solidFill>
              <a:srgbClr val="E3F5F1"/>
            </a:solidFill>
            <a:ln>
              <a:noFill/>
            </a:ln>
          </p:spPr>
        </p:sp>
        <p:sp>
          <p:nvSpPr>
            <p:cNvPr id="39" name="TextBox 39"/>
            <p:cNvSpPr txBox="1"/>
            <p:nvPr/>
          </p:nvSpPr>
          <p:spPr>
            <a:xfrm>
              <a:off x="5696522" y="1750695"/>
              <a:ext cx="576072"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简单循环</a:t>
              </a:r>
            </a:p>
          </p:txBody>
        </p:sp>
        <p:sp>
          <p:nvSpPr>
            <p:cNvPr id="40" name="TextBox 40"/>
            <p:cNvSpPr txBox="1"/>
            <p:nvPr/>
          </p:nvSpPr>
          <p:spPr>
            <a:xfrm>
              <a:off x="6463474" y="1756410"/>
              <a:ext cx="259574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设 n 是允许通过循环的最大次数</a:t>
              </a:r>
            </a:p>
          </p:txBody>
        </p:sp>
        <p:sp>
          <p:nvSpPr>
            <p:cNvPr id="41" name="Ellipse 41"/>
            <p:cNvSpPr/>
            <p:nvPr/>
          </p:nvSpPr>
          <p:spPr>
            <a:xfrm>
              <a:off x="5613082" y="2078355"/>
              <a:ext cx="192405" cy="192405"/>
            </a:xfrm>
            <a:prstGeom prst="ellipse">
              <a:avLst/>
            </a:prstGeom>
            <a:solidFill>
              <a:srgbClr val="334E68"/>
            </a:solidFill>
            <a:ln>
              <a:noFill/>
            </a:ln>
          </p:spPr>
        </p:sp>
        <p:sp>
          <p:nvSpPr>
            <p:cNvPr id="42" name="TextBox 42"/>
            <p:cNvSpPr txBox="1"/>
            <p:nvPr/>
          </p:nvSpPr>
          <p:spPr>
            <a:xfrm>
              <a:off x="5668761" y="211674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43" name="TextBox 43"/>
            <p:cNvSpPr txBox="1"/>
            <p:nvPr/>
          </p:nvSpPr>
          <p:spPr>
            <a:xfrm>
              <a:off x="5893880" y="2090738"/>
              <a:ext cx="324863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跳过循环；2. 只通过一次；3. 通过两次</a:t>
              </a:r>
            </a:p>
          </p:txBody>
        </p:sp>
        <p:sp>
          <p:nvSpPr>
            <p:cNvPr id="44" name="Ellipse 44"/>
            <p:cNvSpPr/>
            <p:nvPr/>
          </p:nvSpPr>
          <p:spPr>
            <a:xfrm>
              <a:off x="5613082" y="2380298"/>
              <a:ext cx="192405" cy="192405"/>
            </a:xfrm>
            <a:prstGeom prst="ellipse">
              <a:avLst/>
            </a:prstGeom>
            <a:solidFill>
              <a:srgbClr val="334E68"/>
            </a:solidFill>
            <a:ln>
              <a:noFill/>
            </a:ln>
          </p:spPr>
        </p:sp>
        <p:sp>
          <p:nvSpPr>
            <p:cNvPr id="45" name="TextBox 45"/>
            <p:cNvSpPr txBox="1"/>
            <p:nvPr/>
          </p:nvSpPr>
          <p:spPr>
            <a:xfrm>
              <a:off x="5668761" y="24196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46" name="TextBox 46"/>
            <p:cNvSpPr txBox="1"/>
            <p:nvPr/>
          </p:nvSpPr>
          <p:spPr>
            <a:xfrm>
              <a:off x="5893880" y="2392680"/>
              <a:ext cx="204917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通过 m 次，其中 m &lt; n-1</a:t>
              </a:r>
            </a:p>
          </p:txBody>
        </p:sp>
        <p:sp>
          <p:nvSpPr>
            <p:cNvPr id="47" name="Ellipse 47"/>
            <p:cNvSpPr/>
            <p:nvPr/>
          </p:nvSpPr>
          <p:spPr>
            <a:xfrm>
              <a:off x="5613082" y="2683192"/>
              <a:ext cx="192405" cy="192405"/>
            </a:xfrm>
            <a:prstGeom prst="ellipse">
              <a:avLst/>
            </a:prstGeom>
            <a:solidFill>
              <a:srgbClr val="334E68"/>
            </a:solidFill>
            <a:ln>
              <a:noFill/>
            </a:ln>
          </p:spPr>
        </p:sp>
        <p:sp>
          <p:nvSpPr>
            <p:cNvPr id="48" name="TextBox 48"/>
            <p:cNvSpPr txBox="1"/>
            <p:nvPr/>
          </p:nvSpPr>
          <p:spPr>
            <a:xfrm>
              <a:off x="5668761" y="272157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49" name="TextBox 49"/>
            <p:cNvSpPr txBox="1"/>
            <p:nvPr/>
          </p:nvSpPr>
          <p:spPr>
            <a:xfrm>
              <a:off x="5893880" y="2695575"/>
              <a:ext cx="173113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通过 n-1、n、n+1 次</a:t>
              </a:r>
            </a:p>
          </p:txBody>
        </p:sp>
      </p:grpSp>
      <p:grpSp>
        <p:nvGrpSpPr>
          <p:cNvPr id="68" name="c2-card-2"/>
          <p:cNvGrpSpPr/>
          <p:nvPr/>
        </p:nvGrpSpPr>
        <p:grpSpPr>
          <a:xfrm>
            <a:off x="5382578" y="3273742"/>
            <a:ext cx="6276022" cy="2134552"/>
            <a:chOff x="5382578" y="3273742"/>
            <a:chExt cx="6276022" cy="2134552"/>
          </a:xfrm>
        </p:grpSpPr>
        <p:sp>
          <p:nvSpPr>
            <p:cNvPr id="51" name="Rectangle 51"/>
            <p:cNvSpPr/>
            <p:nvPr/>
          </p:nvSpPr>
          <p:spPr>
            <a:xfrm>
              <a:off x="5382578" y="3273742"/>
              <a:ext cx="6276022" cy="2134552"/>
            </a:xfrm>
            <a:prstGeom prst="roundRect">
              <a:avLst>
                <a:gd name="adj" fmla="val 6247"/>
              </a:avLst>
            </a:prstGeom>
            <a:solidFill>
              <a:srgbClr val="FFFFFF"/>
            </a:solidFill>
            <a:ln w="14288">
              <a:solidFill>
                <a:srgbClr val="D9DFEA"/>
              </a:solidFill>
            </a:ln>
          </p:spPr>
        </p:sp>
        <p:sp>
          <p:nvSpPr>
            <p:cNvPr id="52" name="Rectangle 52"/>
            <p:cNvSpPr/>
            <p:nvPr/>
          </p:nvSpPr>
          <p:spPr>
            <a:xfrm>
              <a:off x="5392102" y="3407092"/>
              <a:ext cx="47625" cy="1867852"/>
            </a:xfrm>
            <a:prstGeom prst="roundRect">
              <a:avLst>
                <a:gd name="adj" fmla="val 50000"/>
              </a:avLst>
            </a:prstGeom>
            <a:solidFill>
              <a:srgbClr val="D97706"/>
            </a:solidFill>
            <a:ln>
              <a:noFill/>
            </a:ln>
          </p:spPr>
        </p:sp>
        <p:sp>
          <p:nvSpPr>
            <p:cNvPr id="53" name="Rectangle 53"/>
            <p:cNvSpPr/>
            <p:nvPr/>
          </p:nvSpPr>
          <p:spPr>
            <a:xfrm>
              <a:off x="5613082" y="3466148"/>
              <a:ext cx="742950" cy="247650"/>
            </a:xfrm>
            <a:prstGeom prst="roundRect">
              <a:avLst>
                <a:gd name="adj" fmla="val 50000"/>
              </a:avLst>
            </a:prstGeom>
            <a:solidFill>
              <a:srgbClr val="FEF3C7"/>
            </a:solidFill>
            <a:ln>
              <a:noFill/>
            </a:ln>
          </p:spPr>
        </p:sp>
        <p:sp>
          <p:nvSpPr>
            <p:cNvPr id="54" name="TextBox 54"/>
            <p:cNvSpPr txBox="1"/>
            <p:nvPr/>
          </p:nvSpPr>
          <p:spPr>
            <a:xfrm>
              <a:off x="5696522" y="3500438"/>
              <a:ext cx="576072" cy="205359"/>
            </a:xfrm>
            <a:prstGeom prst="rect">
              <a:avLst/>
            </a:prstGeom>
            <a:noFill/>
            <a:ln>
              <a:noFill/>
            </a:ln>
          </p:spPr>
          <p:txBody>
            <a:bodyPr wrap="none" lIns="0" tIns="0" rIns="0" bIns="0" anchor="t" anchorCtr="0">
              <a:spAutoFit/>
            </a:bodyPr>
            <a:lstStyle/>
            <a:p>
              <a:pPr algn="ctr"/>
              <a:r>
                <a:rPr lang="zh-CN" sz="1050" b="1" dirty="0">
                  <a:solidFill>
                    <a:srgbClr val="92400E"/>
                  </a:solidFill>
                  <a:latin typeface="+mn-lt"/>
                  <a:ea typeface="+mn-ea"/>
                  <a:cs typeface="+mn-cs"/>
                </a:rPr>
                <a:t>嵌套循环</a:t>
              </a:r>
            </a:p>
          </p:txBody>
        </p:sp>
        <p:sp>
          <p:nvSpPr>
            <p:cNvPr id="55" name="TextBox 55"/>
            <p:cNvSpPr txBox="1"/>
            <p:nvPr/>
          </p:nvSpPr>
          <p:spPr>
            <a:xfrm>
              <a:off x="6463474" y="3506152"/>
              <a:ext cx="384258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B. Beizer 的策略，避免测试数按几何级数增长</a:t>
              </a:r>
            </a:p>
          </p:txBody>
        </p:sp>
        <p:sp>
          <p:nvSpPr>
            <p:cNvPr id="56" name="Ellipse 56"/>
            <p:cNvSpPr/>
            <p:nvPr/>
          </p:nvSpPr>
          <p:spPr>
            <a:xfrm>
              <a:off x="5613082" y="3828098"/>
              <a:ext cx="192405" cy="192405"/>
            </a:xfrm>
            <a:prstGeom prst="ellipse">
              <a:avLst/>
            </a:prstGeom>
            <a:solidFill>
              <a:srgbClr val="334E68"/>
            </a:solidFill>
            <a:ln>
              <a:noFill/>
            </a:ln>
          </p:spPr>
        </p:sp>
        <p:sp>
          <p:nvSpPr>
            <p:cNvPr id="57" name="TextBox 57"/>
            <p:cNvSpPr txBox="1"/>
            <p:nvPr/>
          </p:nvSpPr>
          <p:spPr>
            <a:xfrm>
              <a:off x="5668761" y="386648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58" name="TextBox 58"/>
            <p:cNvSpPr txBox="1"/>
            <p:nvPr/>
          </p:nvSpPr>
          <p:spPr>
            <a:xfrm>
              <a:off x="5893880" y="3840480"/>
              <a:ext cx="346671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从最内层循环开始，其他循环都设为最小值</a:t>
              </a:r>
            </a:p>
          </p:txBody>
        </p:sp>
        <p:sp>
          <p:nvSpPr>
            <p:cNvPr id="59" name="Ellipse 59"/>
            <p:cNvSpPr/>
            <p:nvPr/>
          </p:nvSpPr>
          <p:spPr>
            <a:xfrm>
              <a:off x="5613082" y="4130040"/>
              <a:ext cx="192405" cy="192405"/>
            </a:xfrm>
            <a:prstGeom prst="ellipse">
              <a:avLst/>
            </a:prstGeom>
            <a:solidFill>
              <a:srgbClr val="334E68"/>
            </a:solidFill>
            <a:ln>
              <a:noFill/>
            </a:ln>
          </p:spPr>
        </p:sp>
        <p:sp>
          <p:nvSpPr>
            <p:cNvPr id="60" name="TextBox 60"/>
            <p:cNvSpPr txBox="1"/>
            <p:nvPr/>
          </p:nvSpPr>
          <p:spPr>
            <a:xfrm>
              <a:off x="5668761" y="416937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61" name="TextBox 61"/>
            <p:cNvSpPr txBox="1"/>
            <p:nvPr/>
          </p:nvSpPr>
          <p:spPr>
            <a:xfrm>
              <a:off x="5893880" y="4142422"/>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对最内层用简单循环测试法，外层迭代参数取最小值，另加越界值和非</a:t>
              </a:r>
              <a:br/>
              <a:r>
                <a:rPr lang="zh-CN" sz="1350" dirty="0">
                  <a:solidFill>
                    <a:srgbClr val="1F2937"/>
                  </a:solidFill>
                  <a:latin typeface="+mn-lt"/>
                  <a:ea typeface="+mn-ea"/>
                  <a:cs typeface="+mn-cs"/>
                </a:rPr>
                <a:t>法值的测试</a:t>
              </a:r>
            </a:p>
          </p:txBody>
        </p:sp>
        <p:sp>
          <p:nvSpPr>
            <p:cNvPr id="62" name="Ellipse 62"/>
            <p:cNvSpPr/>
            <p:nvPr/>
          </p:nvSpPr>
          <p:spPr>
            <a:xfrm>
              <a:off x="5613082" y="4690110"/>
              <a:ext cx="192405" cy="192405"/>
            </a:xfrm>
            <a:prstGeom prst="ellipse">
              <a:avLst/>
            </a:prstGeom>
            <a:solidFill>
              <a:srgbClr val="334E68"/>
            </a:solidFill>
            <a:ln>
              <a:noFill/>
            </a:ln>
          </p:spPr>
        </p:sp>
        <p:sp>
          <p:nvSpPr>
            <p:cNvPr id="63" name="TextBox 63"/>
            <p:cNvSpPr txBox="1"/>
            <p:nvPr/>
          </p:nvSpPr>
          <p:spPr>
            <a:xfrm>
              <a:off x="5668761" y="472849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64" name="TextBox 64"/>
            <p:cNvSpPr txBox="1"/>
            <p:nvPr/>
          </p:nvSpPr>
          <p:spPr>
            <a:xfrm>
              <a:off x="5893880" y="4702492"/>
              <a:ext cx="548400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由内向外测下一层，其他外层保持最小值、其他嵌套循环取“典型”值</a:t>
              </a:r>
            </a:p>
          </p:txBody>
        </p:sp>
        <p:sp>
          <p:nvSpPr>
            <p:cNvPr id="65" name="Ellipse 65"/>
            <p:cNvSpPr/>
            <p:nvPr/>
          </p:nvSpPr>
          <p:spPr>
            <a:xfrm>
              <a:off x="5613082" y="4993005"/>
              <a:ext cx="192405" cy="192405"/>
            </a:xfrm>
            <a:prstGeom prst="ellipse">
              <a:avLst/>
            </a:prstGeom>
            <a:solidFill>
              <a:srgbClr val="334E68"/>
            </a:solidFill>
            <a:ln>
              <a:noFill/>
            </a:ln>
          </p:spPr>
        </p:sp>
        <p:sp>
          <p:nvSpPr>
            <p:cNvPr id="66" name="TextBox 66"/>
            <p:cNvSpPr txBox="1"/>
            <p:nvPr/>
          </p:nvSpPr>
          <p:spPr>
            <a:xfrm>
              <a:off x="5668761" y="503139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67" name="TextBox 67"/>
            <p:cNvSpPr txBox="1"/>
            <p:nvPr/>
          </p:nvSpPr>
          <p:spPr>
            <a:xfrm>
              <a:off x="5893880" y="5004435"/>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继续下去，直到测试完所有循环</a:t>
              </a:r>
            </a:p>
          </p:txBody>
        </p:sp>
      </p:grpSp>
      <p:grpSp>
        <p:nvGrpSpPr>
          <p:cNvPr id="74" name="c2-callout-3"/>
          <p:cNvGrpSpPr/>
          <p:nvPr/>
        </p:nvGrpSpPr>
        <p:grpSpPr>
          <a:xfrm>
            <a:off x="5382578" y="5583555"/>
            <a:ext cx="6276022" cy="729615"/>
            <a:chOff x="5382578" y="5583555"/>
            <a:chExt cx="6276022" cy="729615"/>
          </a:xfrm>
        </p:grpSpPr>
        <p:sp>
          <p:nvSpPr>
            <p:cNvPr id="69" name="Rectangle 69"/>
            <p:cNvSpPr/>
            <p:nvPr/>
          </p:nvSpPr>
          <p:spPr>
            <a:xfrm>
              <a:off x="5382578" y="5583555"/>
              <a:ext cx="6276022" cy="729615"/>
            </a:xfrm>
            <a:prstGeom prst="roundRect">
              <a:avLst>
                <a:gd name="adj" fmla="val 15666"/>
              </a:avLst>
            </a:prstGeom>
            <a:solidFill>
              <a:srgbClr val="334E68"/>
            </a:solidFill>
            <a:ln>
              <a:noFill/>
            </a:ln>
          </p:spPr>
        </p:sp>
        <p:grpSp>
          <p:nvGrpSpPr>
            <p:cNvPr id="72" name="Group 72"/>
            <p:cNvGrpSpPr/>
            <p:nvPr/>
          </p:nvGrpSpPr>
          <p:grpSpPr>
            <a:xfrm>
              <a:off x="5587365" y="5848352"/>
              <a:ext cx="200023" cy="200023"/>
              <a:chOff x="5587365" y="5848352"/>
              <a:chExt cx="200023" cy="200023"/>
            </a:xfrm>
          </p:grpSpPr>
          <p:sp>
            <p:nvSpPr>
              <p:cNvPr id="70" name="Freeform 70"/>
              <p:cNvSpPr/>
              <p:nvPr/>
            </p:nvSpPr>
            <p:spPr>
              <a:xfrm>
                <a:off x="5587365" y="584835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1" name="Freeform 71"/>
              <p:cNvSpPr/>
              <p:nvPr/>
            </p:nvSpPr>
            <p:spPr>
              <a:xfrm>
                <a:off x="5720715" y="591502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3" name="TextBox 73"/>
            <p:cNvSpPr txBox="1"/>
            <p:nvPr/>
          </p:nvSpPr>
          <p:spPr>
            <a:xfrm>
              <a:off x="5890070" y="5729288"/>
              <a:ext cx="53286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串接循环各自独立时按简单循环测；若第一个循环的计数器值是第二个</a:t>
              </a:r>
              <a:br/>
              <a:r>
                <a:rPr lang="zh-CN" sz="1350" dirty="0">
                  <a:solidFill>
                    <a:srgbClr val="FFFFFF"/>
                  </a:solidFill>
                  <a:latin typeface="+mn-lt"/>
                  <a:ea typeface="+mn-ea"/>
                  <a:cs typeface="+mn-cs"/>
                </a:rPr>
                <a:t>循环的初始值，就要按嵌套循环的方法测。</a:t>
              </a:r>
            </a:p>
          </p:txBody>
        </p:sp>
      </p:grpSp>
      <p:grpSp>
        <p:nvGrpSpPr>
          <p:cNvPr id="77" name="footer"/>
          <p:cNvGrpSpPr/>
          <p:nvPr/>
        </p:nvGrpSpPr>
        <p:grpSpPr>
          <a:xfrm>
            <a:off x="528447" y="6581299"/>
            <a:ext cx="11135106" cy="190690"/>
            <a:chOff x="528447" y="6581299"/>
            <a:chExt cx="11135106" cy="190690"/>
          </a:xfrm>
        </p:grpSpPr>
        <p:sp>
          <p:nvSpPr>
            <p:cNvPr id="75" name="TextBox 7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6" name="TextBox 7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07</a:t>
              </a:r>
            </a:p>
          </p:txBody>
        </p:sp>
      </p:grpSp>
      <p:grpSp>
        <p:nvGrpSpPr>
          <p:cNvPr id="16" name="section-title"/>
          <p:cNvGrpSpPr/>
          <p:nvPr/>
        </p:nvGrpSpPr>
        <p:grpSpPr>
          <a:xfrm>
            <a:off x="667512" y="1835468"/>
            <a:ext cx="3358515" cy="2997517"/>
            <a:chOff x="667512" y="1835468"/>
            <a:chExt cx="3358515"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第七部分</a:t>
              </a:r>
            </a:p>
          </p:txBody>
        </p:sp>
        <p:sp>
          <p:nvSpPr>
            <p:cNvPr id="7" name="TextBox 7"/>
            <p:cNvSpPr txBox="1"/>
            <p:nvPr/>
          </p:nvSpPr>
          <p:spPr>
            <a:xfrm>
              <a:off x="667512" y="2240280"/>
              <a:ext cx="294436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黑盒测试技术</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348609"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不看代码，只按规格说明设计用例</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等价划分与划分原则</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边界值分析</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错误推测法与综合策略</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黑盒测试技术</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等价划分：把输入域切成若干类，每类挑一个代表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5193982" cy="1697355"/>
            <a:chOff x="533400" y="1524000"/>
            <a:chExt cx="5193982" cy="1697355"/>
          </a:xfrm>
        </p:grpSpPr>
        <p:sp>
          <p:nvSpPr>
            <p:cNvPr id="7" name="Rectangle 7"/>
            <p:cNvSpPr/>
            <p:nvPr/>
          </p:nvSpPr>
          <p:spPr>
            <a:xfrm>
              <a:off x="533400" y="1524000"/>
              <a:ext cx="5193982" cy="1697355"/>
            </a:xfrm>
            <a:prstGeom prst="roundRect">
              <a:avLst>
                <a:gd name="adj" fmla="val 7856"/>
              </a:avLst>
            </a:prstGeom>
            <a:solidFill>
              <a:srgbClr val="FFFFFF"/>
            </a:solidFill>
            <a:ln w="14288">
              <a:solidFill>
                <a:srgbClr val="D9DFEA"/>
              </a:solidFill>
            </a:ln>
          </p:spPr>
        </p:sp>
        <p:sp>
          <p:nvSpPr>
            <p:cNvPr id="8" name="Rectangle 8"/>
            <p:cNvSpPr/>
            <p:nvPr/>
          </p:nvSpPr>
          <p:spPr>
            <a:xfrm>
              <a:off x="542925" y="1657350"/>
              <a:ext cx="47625" cy="1430655"/>
            </a:xfrm>
            <a:prstGeom prst="roundRect">
              <a:avLst>
                <a:gd name="adj" fmla="val 50000"/>
              </a:avLst>
            </a:prstGeom>
            <a:solidFill>
              <a:srgbClr val="334E68"/>
            </a:solidFill>
            <a:ln>
              <a:noFill/>
            </a:ln>
          </p:spPr>
        </p:sp>
        <p:sp>
          <p:nvSpPr>
            <p:cNvPr id="9" name="Rectangle 9"/>
            <p:cNvSpPr/>
            <p:nvPr/>
          </p:nvSpPr>
          <p:spPr>
            <a:xfrm>
              <a:off x="763905" y="1716405"/>
              <a:ext cx="476250" cy="247650"/>
            </a:xfrm>
            <a:prstGeom prst="roundRect">
              <a:avLst>
                <a:gd name="adj" fmla="val 50000"/>
              </a:avLst>
            </a:prstGeom>
            <a:solidFill>
              <a:srgbClr val="E7EDF3"/>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47597" y="1756410"/>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等价划分</a:t>
              </a:r>
            </a:p>
          </p:txBody>
        </p:sp>
        <p:sp>
          <p:nvSpPr>
            <p:cNvPr id="12" name="TextBox 12"/>
            <p:cNvSpPr txBox="1"/>
            <p:nvPr/>
          </p:nvSpPr>
          <p:spPr>
            <a:xfrm>
              <a:off x="757047" y="2090738"/>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把程序的输入域划分成若干部分，据此导出测试用例。一个</a:t>
              </a:r>
              <a:br/>
              <a:r>
                <a:rPr lang="zh-CN" sz="1350" dirty="0">
                  <a:solidFill>
                    <a:srgbClr val="1F2937"/>
                  </a:solidFill>
                  <a:latin typeface="+mn-lt"/>
                  <a:ea typeface="+mn-ea"/>
                  <a:cs typeface="+mn-cs"/>
                </a:rPr>
                <a:t>理想的测试用例能够独自发现一类错误。</a:t>
              </a:r>
            </a:p>
          </p:txBody>
        </p:sp>
        <p:sp>
          <p:nvSpPr>
            <p:cNvPr id="13" name="TextBox 13"/>
            <p:cNvSpPr txBox="1"/>
            <p:nvPr/>
          </p:nvSpPr>
          <p:spPr>
            <a:xfrm>
              <a:off x="758190" y="2646521"/>
              <a:ext cx="456311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前提假设：每类中的一个典型值在测试中的作用，与这一类中所有其他值</a:t>
              </a:r>
              <a:br/>
              <a:r>
                <a:rPr lang="zh-CN" sz="1120" dirty="0">
                  <a:solidFill>
                    <a:srgbClr val="5B6475"/>
                  </a:solidFill>
                  <a:latin typeface="+mn-lt"/>
                  <a:ea typeface="+mn-ea"/>
                  <a:cs typeface="+mn-cs"/>
                </a:rPr>
                <a:t>的作用相同</a:t>
              </a:r>
            </a:p>
          </p:txBody>
        </p:sp>
      </p:grpSp>
      <p:grpSp>
        <p:nvGrpSpPr>
          <p:cNvPr id="20" name="c1-kv-2"/>
          <p:cNvGrpSpPr/>
          <p:nvPr/>
        </p:nvGrpSpPr>
        <p:grpSpPr>
          <a:xfrm>
            <a:off x="526542" y="3418522"/>
            <a:ext cx="5200840" cy="915544"/>
            <a:chOff x="526542" y="3418522"/>
            <a:chExt cx="5200840" cy="915544"/>
          </a:xfrm>
        </p:grpSpPr>
        <p:sp>
          <p:nvSpPr>
            <p:cNvPr id="15" name="TextBox 15"/>
            <p:cNvSpPr txBox="1"/>
            <p:nvPr/>
          </p:nvSpPr>
          <p:spPr>
            <a:xfrm>
              <a:off x="526542" y="3418522"/>
              <a:ext cx="922401"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有效等价类</a:t>
              </a:r>
            </a:p>
          </p:txBody>
        </p:sp>
        <p:sp>
          <p:nvSpPr>
            <p:cNvPr id="16" name="TextBox 16"/>
            <p:cNvSpPr txBox="1"/>
            <p:nvPr/>
          </p:nvSpPr>
          <p:spPr>
            <a:xfrm>
              <a:off x="1667637" y="3418522"/>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对规格说明来说合理的、有意义的输入数据的集合</a:t>
              </a:r>
            </a:p>
          </p:txBody>
        </p:sp>
        <p:sp>
          <p:nvSpPr>
            <p:cNvPr id="17" name="Rectangle 17"/>
            <p:cNvSpPr/>
            <p:nvPr/>
          </p:nvSpPr>
          <p:spPr>
            <a:xfrm>
              <a:off x="533400" y="3708082"/>
              <a:ext cx="5193982" cy="9525"/>
            </a:xfrm>
            <a:prstGeom prst="rect">
              <a:avLst/>
            </a:prstGeom>
            <a:solidFill>
              <a:srgbClr val="D9DFEA"/>
            </a:solidFill>
            <a:ln>
              <a:noFill/>
            </a:ln>
          </p:spPr>
        </p:sp>
        <p:sp>
          <p:nvSpPr>
            <p:cNvPr id="18" name="TextBox 18"/>
            <p:cNvSpPr txBox="1"/>
            <p:nvPr/>
          </p:nvSpPr>
          <p:spPr>
            <a:xfrm>
              <a:off x="526542" y="3816668"/>
              <a:ext cx="922401"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无效等价类</a:t>
              </a:r>
            </a:p>
          </p:txBody>
        </p:sp>
        <p:sp>
          <p:nvSpPr>
            <p:cNvPr id="19" name="TextBox 19"/>
            <p:cNvSpPr txBox="1"/>
            <p:nvPr/>
          </p:nvSpPr>
          <p:spPr>
            <a:xfrm>
              <a:off x="1667637" y="3816668"/>
              <a:ext cx="378561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对规格说明来说不合理的、无意义的输入数据的集</a:t>
              </a:r>
              <a:br/>
              <a:r>
                <a:rPr lang="zh-CN" sz="1350" dirty="0">
                  <a:solidFill>
                    <a:srgbClr val="1F2937"/>
                  </a:solidFill>
                  <a:latin typeface="+mn-lt"/>
                  <a:ea typeface="+mn-ea"/>
                  <a:cs typeface="+mn-cs"/>
                </a:rPr>
                <a:t>合</a:t>
              </a:r>
            </a:p>
          </p:txBody>
        </p:sp>
      </p:grpSp>
      <p:grpSp>
        <p:nvGrpSpPr>
          <p:cNvPr id="32" name="c1-card-3"/>
          <p:cNvGrpSpPr/>
          <p:nvPr/>
        </p:nvGrpSpPr>
        <p:grpSpPr>
          <a:xfrm>
            <a:off x="533400" y="4456748"/>
            <a:ext cx="5193982" cy="1786890"/>
            <a:chOff x="533400" y="4456748"/>
            <a:chExt cx="5193982" cy="1786890"/>
          </a:xfrm>
        </p:grpSpPr>
        <p:sp>
          <p:nvSpPr>
            <p:cNvPr id="21" name="Rectangle 21"/>
            <p:cNvSpPr/>
            <p:nvPr/>
          </p:nvSpPr>
          <p:spPr>
            <a:xfrm>
              <a:off x="533400" y="4456748"/>
              <a:ext cx="5193982" cy="1786890"/>
            </a:xfrm>
            <a:prstGeom prst="roundRect">
              <a:avLst>
                <a:gd name="adj" fmla="val 7463"/>
              </a:avLst>
            </a:prstGeom>
            <a:solidFill>
              <a:srgbClr val="FFFFFF"/>
            </a:solidFill>
            <a:ln w="14288">
              <a:solidFill>
                <a:srgbClr val="D9DFEA"/>
              </a:solidFill>
            </a:ln>
          </p:spPr>
        </p:sp>
        <p:sp>
          <p:nvSpPr>
            <p:cNvPr id="22" name="Rectangle 22"/>
            <p:cNvSpPr/>
            <p:nvPr/>
          </p:nvSpPr>
          <p:spPr>
            <a:xfrm>
              <a:off x="542925" y="4590098"/>
              <a:ext cx="47625" cy="1520190"/>
            </a:xfrm>
            <a:prstGeom prst="roundRect">
              <a:avLst>
                <a:gd name="adj" fmla="val 50000"/>
              </a:avLst>
            </a:prstGeom>
            <a:solidFill>
              <a:srgbClr val="D97706"/>
            </a:solidFill>
            <a:ln>
              <a:noFill/>
            </a:ln>
          </p:spPr>
        </p:sp>
        <p:sp>
          <p:nvSpPr>
            <p:cNvPr id="23" name="Rectangle 23"/>
            <p:cNvSpPr/>
            <p:nvPr/>
          </p:nvSpPr>
          <p:spPr>
            <a:xfrm>
              <a:off x="763905" y="4649152"/>
              <a:ext cx="1276350" cy="247650"/>
            </a:xfrm>
            <a:prstGeom prst="roundRect">
              <a:avLst>
                <a:gd name="adj" fmla="val 50000"/>
              </a:avLst>
            </a:prstGeom>
            <a:solidFill>
              <a:srgbClr val="FEF3C7"/>
            </a:solidFill>
            <a:ln>
              <a:noFill/>
            </a:ln>
          </p:spPr>
        </p:sp>
        <p:sp>
          <p:nvSpPr>
            <p:cNvPr id="24" name="TextBox 24"/>
            <p:cNvSpPr txBox="1"/>
            <p:nvPr/>
          </p:nvSpPr>
          <p:spPr>
            <a:xfrm>
              <a:off x="831342" y="4683442"/>
              <a:ext cx="1141476" cy="205359"/>
            </a:xfrm>
            <a:prstGeom prst="rect">
              <a:avLst/>
            </a:prstGeom>
            <a:noFill/>
            <a:ln>
              <a:noFill/>
            </a:ln>
          </p:spPr>
          <p:txBody>
            <a:bodyPr wrap="none" lIns="0" tIns="0" rIns="0" bIns="0" anchor="t" anchorCtr="0">
              <a:spAutoFit/>
            </a:bodyPr>
            <a:lstStyle/>
            <a:p>
              <a:pPr algn="ctr"/>
              <a:r>
                <a:rPr lang="zh-CN" sz="1050" b="1" dirty="0">
                  <a:solidFill>
                    <a:srgbClr val="92400E"/>
                  </a:solidFill>
                  <a:latin typeface="+mn-lt"/>
                  <a:ea typeface="+mn-ea"/>
                  <a:cs typeface="+mn-cs"/>
                </a:rPr>
                <a:t>选用例的两条规则</a:t>
              </a:r>
            </a:p>
          </p:txBody>
        </p:sp>
        <p:sp>
          <p:nvSpPr>
            <p:cNvPr id="25" name="TextBox 25"/>
            <p:cNvSpPr txBox="1"/>
            <p:nvPr/>
          </p:nvSpPr>
          <p:spPr>
            <a:xfrm>
              <a:off x="2147697" y="4689158"/>
              <a:ext cx="292150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有效类尽量合并，无效类必须单独来</a:t>
              </a:r>
            </a:p>
          </p:txBody>
        </p:sp>
        <p:sp>
          <p:nvSpPr>
            <p:cNvPr id="26" name="Ellipse 26"/>
            <p:cNvSpPr/>
            <p:nvPr/>
          </p:nvSpPr>
          <p:spPr>
            <a:xfrm>
              <a:off x="763905" y="5011102"/>
              <a:ext cx="192405" cy="192405"/>
            </a:xfrm>
            <a:prstGeom prst="ellipse">
              <a:avLst/>
            </a:prstGeom>
            <a:solidFill>
              <a:srgbClr val="334E68"/>
            </a:solidFill>
            <a:ln>
              <a:noFill/>
            </a:ln>
          </p:spPr>
        </p:sp>
        <p:sp>
          <p:nvSpPr>
            <p:cNvPr id="27" name="TextBox 27"/>
            <p:cNvSpPr txBox="1"/>
            <p:nvPr/>
          </p:nvSpPr>
          <p:spPr>
            <a:xfrm>
              <a:off x="819583" y="504948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28" name="TextBox 28"/>
            <p:cNvSpPr txBox="1"/>
            <p:nvPr/>
          </p:nvSpPr>
          <p:spPr>
            <a:xfrm>
              <a:off x="1044702" y="5022533"/>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新用例尽可能多地覆盖尚未覆盖的有效等价类，重复至有</a:t>
              </a:r>
              <a:br/>
              <a:r>
                <a:rPr lang="zh-CN" sz="1350" dirty="0">
                  <a:solidFill>
                    <a:srgbClr val="1F2937"/>
                  </a:solidFill>
                  <a:latin typeface="+mn-lt"/>
                  <a:ea typeface="+mn-ea"/>
                  <a:cs typeface="+mn-cs"/>
                </a:rPr>
                <a:t>效类全覆盖</a:t>
              </a:r>
            </a:p>
          </p:txBody>
        </p:sp>
        <p:sp>
          <p:nvSpPr>
            <p:cNvPr id="29" name="Ellipse 29"/>
            <p:cNvSpPr/>
            <p:nvPr/>
          </p:nvSpPr>
          <p:spPr>
            <a:xfrm>
              <a:off x="763905" y="5570220"/>
              <a:ext cx="192405" cy="192405"/>
            </a:xfrm>
            <a:prstGeom prst="ellipse">
              <a:avLst/>
            </a:prstGeom>
            <a:solidFill>
              <a:srgbClr val="334E68"/>
            </a:solidFill>
            <a:ln>
              <a:noFill/>
            </a:ln>
          </p:spPr>
        </p:sp>
        <p:sp>
          <p:nvSpPr>
            <p:cNvPr id="30" name="TextBox 30"/>
            <p:cNvSpPr txBox="1"/>
            <p:nvPr/>
          </p:nvSpPr>
          <p:spPr>
            <a:xfrm>
              <a:off x="819583" y="560860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1" name="TextBox 31"/>
            <p:cNvSpPr txBox="1"/>
            <p:nvPr/>
          </p:nvSpPr>
          <p:spPr>
            <a:xfrm>
              <a:off x="1044702" y="5582602"/>
              <a:ext cx="423138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新用例 </a:t>
              </a:r>
              <a:r>
                <a:rPr lang="zh-CN" sz="1350" b="1" dirty="0">
                  <a:solidFill>
                    <a:srgbClr val="C2410C"/>
                  </a:solidFill>
                  <a:latin typeface="+mn-lt"/>
                  <a:ea typeface="+mn-ea"/>
                  <a:cs typeface="+mn-cs"/>
                </a:rPr>
                <a:t>仅覆盖一个</a:t>
              </a:r>
              <a:r>
                <a:rPr lang="zh-CN" sz="1350" dirty="0">
                  <a:solidFill>
                    <a:srgbClr val="1F2937"/>
                  </a:solidFill>
                  <a:latin typeface="+mn-lt"/>
                  <a:ea typeface="+mn-ea"/>
                  <a:cs typeface="+mn-cs"/>
                </a:rPr>
                <a:t xml:space="preserve"> 尚未覆盖的无效等价类，重复至无效</a:t>
              </a:r>
              <a:br/>
              <a:r>
                <a:rPr lang="zh-CN" sz="1350" dirty="0">
                  <a:solidFill>
                    <a:srgbClr val="1F2937"/>
                  </a:solidFill>
                  <a:latin typeface="+mn-lt"/>
                  <a:ea typeface="+mn-ea"/>
                  <a:cs typeface="+mn-cs"/>
                </a:rPr>
                <a:t>类全覆盖</a:t>
              </a:r>
            </a:p>
          </p:txBody>
        </p:sp>
      </p:grpSp>
      <p:grpSp>
        <p:nvGrpSpPr>
          <p:cNvPr id="52" name="c2-bullets-1"/>
          <p:cNvGrpSpPr/>
          <p:nvPr/>
        </p:nvGrpSpPr>
        <p:grpSpPr>
          <a:xfrm>
            <a:off x="6025324" y="1545907"/>
            <a:ext cx="5389055" cy="3426334"/>
            <a:chOff x="6025324" y="1545907"/>
            <a:chExt cx="5389055" cy="3426334"/>
          </a:xfrm>
        </p:grpSpPr>
        <p:sp>
          <p:nvSpPr>
            <p:cNvPr id="33" name="TextBox 33"/>
            <p:cNvSpPr txBox="1"/>
            <p:nvPr/>
          </p:nvSpPr>
          <p:spPr>
            <a:xfrm>
              <a:off x="6025324" y="1545907"/>
              <a:ext cx="1831086"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划分等价类的六条原则</a:t>
              </a:r>
            </a:p>
          </p:txBody>
        </p:sp>
        <p:sp>
          <p:nvSpPr>
            <p:cNvPr id="34" name="Ellipse 34"/>
            <p:cNvSpPr/>
            <p:nvPr/>
          </p:nvSpPr>
          <p:spPr>
            <a:xfrm>
              <a:off x="6032182" y="1853565"/>
              <a:ext cx="192405" cy="192405"/>
            </a:xfrm>
            <a:prstGeom prst="ellipse">
              <a:avLst/>
            </a:prstGeom>
            <a:solidFill>
              <a:srgbClr val="334E68"/>
            </a:solidFill>
            <a:ln>
              <a:noFill/>
            </a:ln>
          </p:spPr>
        </p:sp>
        <p:sp>
          <p:nvSpPr>
            <p:cNvPr id="35" name="TextBox 35"/>
            <p:cNvSpPr txBox="1"/>
            <p:nvPr/>
          </p:nvSpPr>
          <p:spPr>
            <a:xfrm>
              <a:off x="6087861" y="189290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6" name="TextBox 36"/>
            <p:cNvSpPr txBox="1"/>
            <p:nvPr/>
          </p:nvSpPr>
          <p:spPr>
            <a:xfrm>
              <a:off x="6312027" y="1865947"/>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输入条件规定了取值范围或值的个数，则确立一个有效等价类和两</a:t>
              </a:r>
              <a:br/>
              <a:r>
                <a:rPr lang="zh-CN" sz="1350" dirty="0">
                  <a:solidFill>
                    <a:srgbClr val="1F2937"/>
                  </a:solidFill>
                  <a:latin typeface="+mn-lt"/>
                  <a:ea typeface="+mn-ea"/>
                  <a:cs typeface="+mn-cs"/>
                </a:rPr>
                <a:t>个无效等价类</a:t>
              </a:r>
            </a:p>
          </p:txBody>
        </p:sp>
        <p:sp>
          <p:nvSpPr>
            <p:cNvPr id="37" name="Ellipse 37"/>
            <p:cNvSpPr/>
            <p:nvPr/>
          </p:nvSpPr>
          <p:spPr>
            <a:xfrm>
              <a:off x="6032182" y="2422208"/>
              <a:ext cx="192405" cy="192405"/>
            </a:xfrm>
            <a:prstGeom prst="ellipse">
              <a:avLst/>
            </a:prstGeom>
            <a:solidFill>
              <a:srgbClr val="334E68"/>
            </a:solidFill>
            <a:ln>
              <a:noFill/>
            </a:ln>
          </p:spPr>
        </p:sp>
        <p:sp>
          <p:nvSpPr>
            <p:cNvPr id="38" name="TextBox 38"/>
            <p:cNvSpPr txBox="1"/>
            <p:nvPr/>
          </p:nvSpPr>
          <p:spPr>
            <a:xfrm>
              <a:off x="6087861" y="246059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9" name="TextBox 39"/>
            <p:cNvSpPr txBox="1"/>
            <p:nvPr/>
          </p:nvSpPr>
          <p:spPr>
            <a:xfrm>
              <a:off x="6312027" y="2434590"/>
              <a:ext cx="500291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输入条件规定了输入值的集合，或规定了“必须如何”的条件，则确</a:t>
              </a:r>
              <a:br/>
              <a:r>
                <a:rPr lang="zh-CN" sz="1350" dirty="0">
                  <a:solidFill>
                    <a:srgbClr val="1F2937"/>
                  </a:solidFill>
                  <a:latin typeface="+mn-lt"/>
                  <a:ea typeface="+mn-ea"/>
                  <a:cs typeface="+mn-cs"/>
                </a:rPr>
                <a:t>立一个有效等价类和一个无效等价类</a:t>
              </a:r>
            </a:p>
          </p:txBody>
        </p:sp>
        <p:sp>
          <p:nvSpPr>
            <p:cNvPr id="40" name="Ellipse 40"/>
            <p:cNvSpPr/>
            <p:nvPr/>
          </p:nvSpPr>
          <p:spPr>
            <a:xfrm>
              <a:off x="6032182" y="2990850"/>
              <a:ext cx="192405" cy="192405"/>
            </a:xfrm>
            <a:prstGeom prst="ellipse">
              <a:avLst/>
            </a:prstGeom>
            <a:solidFill>
              <a:srgbClr val="334E68"/>
            </a:solidFill>
            <a:ln>
              <a:noFill/>
            </a:ln>
          </p:spPr>
        </p:sp>
        <p:sp>
          <p:nvSpPr>
            <p:cNvPr id="41" name="TextBox 41"/>
            <p:cNvSpPr txBox="1"/>
            <p:nvPr/>
          </p:nvSpPr>
          <p:spPr>
            <a:xfrm>
              <a:off x="6087861" y="30292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42" name="TextBox 42"/>
            <p:cNvSpPr txBox="1"/>
            <p:nvPr/>
          </p:nvSpPr>
          <p:spPr>
            <a:xfrm>
              <a:off x="6312027" y="3003232"/>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规定了输入数据的一组值且程序对每个值分别处理，则每个值一个</a:t>
              </a:r>
              <a:br/>
              <a:r>
                <a:rPr lang="zh-CN" sz="1350" dirty="0">
                  <a:solidFill>
                    <a:srgbClr val="1F2937"/>
                  </a:solidFill>
                  <a:latin typeface="+mn-lt"/>
                  <a:ea typeface="+mn-ea"/>
                  <a:cs typeface="+mn-cs"/>
                </a:rPr>
                <a:t>有效等价类，另加一个包含所有不允许值的无效等价类</a:t>
              </a:r>
            </a:p>
          </p:txBody>
        </p:sp>
        <p:sp>
          <p:nvSpPr>
            <p:cNvPr id="43" name="Ellipse 43"/>
            <p:cNvSpPr/>
            <p:nvPr/>
          </p:nvSpPr>
          <p:spPr>
            <a:xfrm>
              <a:off x="6032182" y="3559492"/>
              <a:ext cx="192405" cy="192405"/>
            </a:xfrm>
            <a:prstGeom prst="ellipse">
              <a:avLst/>
            </a:prstGeom>
            <a:solidFill>
              <a:srgbClr val="334E68"/>
            </a:solidFill>
            <a:ln>
              <a:noFill/>
            </a:ln>
          </p:spPr>
        </p:sp>
        <p:sp>
          <p:nvSpPr>
            <p:cNvPr id="44" name="TextBox 44"/>
            <p:cNvSpPr txBox="1"/>
            <p:nvPr/>
          </p:nvSpPr>
          <p:spPr>
            <a:xfrm>
              <a:off x="6087861" y="359787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45" name="TextBox 45"/>
            <p:cNvSpPr txBox="1"/>
            <p:nvPr/>
          </p:nvSpPr>
          <p:spPr>
            <a:xfrm>
              <a:off x="6312027" y="3570922"/>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规定了输入数据必须遵守的规则，则确立一个有效等价类和若干个</a:t>
              </a:r>
              <a:br/>
              <a:r>
                <a:rPr lang="zh-CN" sz="1350" dirty="0">
                  <a:solidFill>
                    <a:srgbClr val="1F2937"/>
                  </a:solidFill>
                  <a:latin typeface="+mn-lt"/>
                  <a:ea typeface="+mn-ea"/>
                  <a:cs typeface="+mn-cs"/>
                </a:rPr>
                <a:t>无效等价类（从不同角度违反规则）</a:t>
              </a:r>
            </a:p>
          </p:txBody>
        </p:sp>
        <p:sp>
          <p:nvSpPr>
            <p:cNvPr id="46" name="Ellipse 46"/>
            <p:cNvSpPr/>
            <p:nvPr/>
          </p:nvSpPr>
          <p:spPr>
            <a:xfrm>
              <a:off x="6032182" y="4127182"/>
              <a:ext cx="192405" cy="192405"/>
            </a:xfrm>
            <a:prstGeom prst="ellipse">
              <a:avLst/>
            </a:prstGeom>
            <a:solidFill>
              <a:srgbClr val="334E68"/>
            </a:solidFill>
            <a:ln>
              <a:noFill/>
            </a:ln>
          </p:spPr>
        </p:sp>
        <p:sp>
          <p:nvSpPr>
            <p:cNvPr id="47" name="TextBox 47"/>
            <p:cNvSpPr txBox="1"/>
            <p:nvPr/>
          </p:nvSpPr>
          <p:spPr>
            <a:xfrm>
              <a:off x="6087861" y="416556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48" name="TextBox 48"/>
            <p:cNvSpPr txBox="1"/>
            <p:nvPr/>
          </p:nvSpPr>
          <p:spPr>
            <a:xfrm>
              <a:off x="6312027" y="4139565"/>
              <a:ext cx="501148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规定了输入数据为整型，则可划分出正整数、零和负整数 3 个有效</a:t>
              </a:r>
              <a:br/>
              <a:r>
                <a:rPr lang="zh-CN" sz="1350" dirty="0">
                  <a:solidFill>
                    <a:srgbClr val="1F2937"/>
                  </a:solidFill>
                  <a:latin typeface="+mn-lt"/>
                  <a:ea typeface="+mn-ea"/>
                  <a:cs typeface="+mn-cs"/>
                </a:rPr>
                <a:t>类</a:t>
              </a:r>
            </a:p>
          </p:txBody>
        </p:sp>
        <p:sp>
          <p:nvSpPr>
            <p:cNvPr id="49" name="Ellipse 49"/>
            <p:cNvSpPr/>
            <p:nvPr/>
          </p:nvSpPr>
          <p:spPr>
            <a:xfrm>
              <a:off x="6032182" y="4695825"/>
              <a:ext cx="192405" cy="192405"/>
            </a:xfrm>
            <a:prstGeom prst="ellipse">
              <a:avLst/>
            </a:prstGeom>
            <a:solidFill>
              <a:srgbClr val="334E68"/>
            </a:solidFill>
            <a:ln>
              <a:noFill/>
            </a:ln>
          </p:spPr>
        </p:sp>
        <p:sp>
          <p:nvSpPr>
            <p:cNvPr id="50" name="TextBox 50"/>
            <p:cNvSpPr txBox="1"/>
            <p:nvPr/>
          </p:nvSpPr>
          <p:spPr>
            <a:xfrm>
              <a:off x="6087861" y="473421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6</a:t>
              </a:r>
            </a:p>
          </p:txBody>
        </p:sp>
        <p:sp>
          <p:nvSpPr>
            <p:cNvPr id="51" name="TextBox 51"/>
            <p:cNvSpPr txBox="1"/>
            <p:nvPr/>
          </p:nvSpPr>
          <p:spPr>
            <a:xfrm>
              <a:off x="6312027" y="4708208"/>
              <a:ext cx="510235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程序的处理对象是表格，则应该使用空表以及含一项或多项的表</a:t>
              </a:r>
            </a:p>
          </p:txBody>
        </p:sp>
      </p:grpSp>
      <p:grpSp>
        <p:nvGrpSpPr>
          <p:cNvPr id="59" name="c2-callout-2"/>
          <p:cNvGrpSpPr/>
          <p:nvPr/>
        </p:nvGrpSpPr>
        <p:grpSpPr>
          <a:xfrm>
            <a:off x="6032182" y="5093970"/>
            <a:ext cx="5626418" cy="1148715"/>
            <a:chOff x="6032182" y="5093970"/>
            <a:chExt cx="5626418" cy="1148715"/>
          </a:xfrm>
        </p:grpSpPr>
        <p:sp>
          <p:nvSpPr>
            <p:cNvPr id="53" name="Rectangle 53"/>
            <p:cNvSpPr/>
            <p:nvPr/>
          </p:nvSpPr>
          <p:spPr>
            <a:xfrm>
              <a:off x="6032182" y="5093970"/>
              <a:ext cx="5626418" cy="1148715"/>
            </a:xfrm>
            <a:prstGeom prst="roundRect">
              <a:avLst>
                <a:gd name="adj" fmla="val 9950"/>
              </a:avLst>
            </a:prstGeom>
            <a:solidFill>
              <a:srgbClr val="F4F6FB"/>
            </a:solidFill>
            <a:ln>
              <a:noFill/>
            </a:ln>
          </p:spPr>
        </p:sp>
        <p:grpSp>
          <p:nvGrpSpPr>
            <p:cNvPr id="57" name="Group 57"/>
            <p:cNvGrpSpPr/>
            <p:nvPr/>
          </p:nvGrpSpPr>
          <p:grpSpPr>
            <a:xfrm>
              <a:off x="6236970" y="5568315"/>
              <a:ext cx="200026" cy="200026"/>
              <a:chOff x="6236970" y="5568315"/>
              <a:chExt cx="200026" cy="200026"/>
            </a:xfrm>
          </p:grpSpPr>
          <p:sp>
            <p:nvSpPr>
              <p:cNvPr id="54" name="Freeform 54"/>
              <p:cNvSpPr/>
              <p:nvPr/>
            </p:nvSpPr>
            <p:spPr>
              <a:xfrm>
                <a:off x="6236970" y="556831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5" name="Freeform 55"/>
              <p:cNvSpPr/>
              <p:nvPr/>
            </p:nvSpPr>
            <p:spPr>
              <a:xfrm>
                <a:off x="6336983" y="563499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6" name="Freeform 56"/>
              <p:cNvSpPr/>
              <p:nvPr/>
            </p:nvSpPr>
            <p:spPr>
              <a:xfrm>
                <a:off x="6325870" y="566832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8" name="TextBox 58"/>
            <p:cNvSpPr txBox="1"/>
            <p:nvPr/>
          </p:nvSpPr>
          <p:spPr>
            <a:xfrm>
              <a:off x="6539674" y="5450205"/>
              <a:ext cx="44714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确定输入数据的等价类时，常常还需要确定输出数据的等价</a:t>
              </a:r>
              <a:br/>
              <a:r>
                <a:rPr lang="zh-CN" sz="1350" dirty="0">
                  <a:solidFill>
                    <a:srgbClr val="1F2937"/>
                  </a:solidFill>
                  <a:latin typeface="+mn-lt"/>
                  <a:ea typeface="+mn-ea"/>
                  <a:cs typeface="+mn-cs"/>
                </a:rPr>
                <a:t>类，再由输出等价类倒推出对应的输入等价类。</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11344" cy="909257"/>
            <a:chOff x="520446" y="342900"/>
            <a:chExt cx="6511344"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黑盒测试技术</a:t>
              </a:r>
            </a:p>
          </p:txBody>
        </p:sp>
        <p:sp>
          <p:nvSpPr>
            <p:cNvPr id="4" name="TextBox 4"/>
            <p:cNvSpPr txBox="1"/>
            <p:nvPr/>
          </p:nvSpPr>
          <p:spPr>
            <a:xfrm>
              <a:off x="520446" y="753428"/>
              <a:ext cx="651134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 1：把数字串转换成整数，先划等价类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10669334" cy="512636"/>
            <a:chOff x="526542" y="1545907"/>
            <a:chExt cx="10669334" cy="512636"/>
          </a:xfrm>
        </p:grpSpPr>
        <p:sp>
          <p:nvSpPr>
            <p:cNvPr id="7" name="TextBox 7"/>
            <p:cNvSpPr txBox="1"/>
            <p:nvPr/>
          </p:nvSpPr>
          <p:spPr>
            <a:xfrm>
              <a:off x="526542" y="1545907"/>
              <a:ext cx="1066933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5B6475"/>
                  </a:solidFill>
                  <a:latin typeface="+mn-lt"/>
                  <a:ea typeface="+mn-ea"/>
                  <a:cs typeface="+mn-cs"/>
                </a:rPr>
                <a:t>数字串右对齐，比 6 个字符短时左边补空格；如果是负数，负号与最高位数字紧相邻。输出也要划等价类，只按输入划分会漏掉 (12)(13) 这</a:t>
              </a:r>
              <a:br/>
              <a:r>
                <a:rPr lang="zh-CN" sz="1350" dirty="0">
                  <a:solidFill>
                    <a:srgbClr val="5B6475"/>
                  </a:solidFill>
                  <a:latin typeface="+mn-lt"/>
                  <a:ea typeface="+mn-ea"/>
                  <a:cs typeface="+mn-cs"/>
                </a:rPr>
                <a:t>两类越界输出。</a:t>
              </a:r>
            </a:p>
          </p:txBody>
        </p:sp>
      </p:grpSp>
      <p:grpSp>
        <p:nvGrpSpPr>
          <p:cNvPr id="51" name="c1-table-1"/>
          <p:cNvGrpSpPr/>
          <p:nvPr/>
        </p:nvGrpSpPr>
        <p:grpSpPr>
          <a:xfrm>
            <a:off x="533400" y="2177415"/>
            <a:ext cx="5842635" cy="3782378"/>
            <a:chOff x="533400" y="2177415"/>
            <a:chExt cx="5842635" cy="3782378"/>
          </a:xfrm>
        </p:grpSpPr>
        <p:sp>
          <p:nvSpPr>
            <p:cNvPr id="9" name="Rectangle 9"/>
            <p:cNvSpPr/>
            <p:nvPr/>
          </p:nvSpPr>
          <p:spPr>
            <a:xfrm>
              <a:off x="533400" y="2177415"/>
              <a:ext cx="5842635" cy="420052"/>
            </a:xfrm>
            <a:prstGeom prst="rect">
              <a:avLst/>
            </a:prstGeom>
            <a:solidFill>
              <a:srgbClr val="334E68"/>
            </a:solidFill>
            <a:ln>
              <a:noFill/>
            </a:ln>
          </p:spPr>
        </p:sp>
        <p:sp>
          <p:nvSpPr>
            <p:cNvPr id="10" name="TextBox 10"/>
            <p:cNvSpPr txBox="1"/>
            <p:nvPr/>
          </p:nvSpPr>
          <p:spPr>
            <a:xfrm>
              <a:off x="880389" y="229790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类别</a:t>
              </a:r>
            </a:p>
          </p:txBody>
        </p:sp>
        <p:sp>
          <p:nvSpPr>
            <p:cNvPr id="11" name="TextBox 11"/>
            <p:cNvSpPr txBox="1"/>
            <p:nvPr/>
          </p:nvSpPr>
          <p:spPr>
            <a:xfrm>
              <a:off x="1844319" y="229790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编号</a:t>
              </a:r>
            </a:p>
          </p:txBody>
        </p:sp>
        <p:sp>
          <p:nvSpPr>
            <p:cNvPr id="12" name="TextBox 12"/>
            <p:cNvSpPr txBox="1"/>
            <p:nvPr/>
          </p:nvSpPr>
          <p:spPr>
            <a:xfrm>
              <a:off x="3895230" y="2297906"/>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输入的等价类</a:t>
              </a:r>
            </a:p>
          </p:txBody>
        </p:sp>
        <p:sp>
          <p:nvSpPr>
            <p:cNvPr id="13" name="TextBox 13"/>
            <p:cNvSpPr txBox="1"/>
            <p:nvPr/>
          </p:nvSpPr>
          <p:spPr>
            <a:xfrm>
              <a:off x="626935" y="271891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有效输入</a:t>
              </a:r>
            </a:p>
          </p:txBody>
        </p:sp>
        <p:sp>
          <p:nvSpPr>
            <p:cNvPr id="14" name="TextBox 14"/>
            <p:cNvSpPr txBox="1"/>
            <p:nvPr/>
          </p:nvSpPr>
          <p:spPr>
            <a:xfrm>
              <a:off x="1678496" y="2718911"/>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a:t>
              </a:r>
            </a:p>
          </p:txBody>
        </p:sp>
        <p:sp>
          <p:nvSpPr>
            <p:cNvPr id="15" name="TextBox 15"/>
            <p:cNvSpPr txBox="1"/>
            <p:nvPr/>
          </p:nvSpPr>
          <p:spPr>
            <a:xfrm>
              <a:off x="2554795" y="2718911"/>
              <a:ext cx="362292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1~6 个数字字符组成的数字串（最高位不是零）</a:t>
              </a:r>
            </a:p>
          </p:txBody>
        </p:sp>
        <p:sp>
          <p:nvSpPr>
            <p:cNvPr id="16" name="Rectangle 16"/>
            <p:cNvSpPr/>
            <p:nvPr/>
          </p:nvSpPr>
          <p:spPr>
            <a:xfrm>
              <a:off x="533400" y="3012758"/>
              <a:ext cx="5842635" cy="9525"/>
            </a:xfrm>
            <a:prstGeom prst="rect">
              <a:avLst/>
            </a:prstGeom>
            <a:solidFill>
              <a:srgbClr val="D9DFEA"/>
            </a:solidFill>
            <a:ln>
              <a:noFill/>
            </a:ln>
          </p:spPr>
        </p:sp>
        <p:sp>
          <p:nvSpPr>
            <p:cNvPr id="17" name="Rectangle 17"/>
            <p:cNvSpPr/>
            <p:nvPr/>
          </p:nvSpPr>
          <p:spPr>
            <a:xfrm>
              <a:off x="533400" y="3017520"/>
              <a:ext cx="5842635" cy="420052"/>
            </a:xfrm>
            <a:prstGeom prst="rect">
              <a:avLst/>
            </a:prstGeom>
            <a:solidFill>
              <a:srgbClr val="F4F6FB"/>
            </a:solidFill>
            <a:ln>
              <a:noFill/>
            </a:ln>
          </p:spPr>
        </p:sp>
        <p:sp>
          <p:nvSpPr>
            <p:cNvPr id="18" name="TextBox 18"/>
            <p:cNvSpPr txBox="1"/>
            <p:nvPr/>
          </p:nvSpPr>
          <p:spPr>
            <a:xfrm>
              <a:off x="626935" y="3138964"/>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有效输入</a:t>
              </a:r>
            </a:p>
          </p:txBody>
        </p:sp>
        <p:sp>
          <p:nvSpPr>
            <p:cNvPr id="19" name="TextBox 19"/>
            <p:cNvSpPr txBox="1"/>
            <p:nvPr/>
          </p:nvSpPr>
          <p:spPr>
            <a:xfrm>
              <a:off x="1678496" y="3138964"/>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(2)</a:t>
              </a:r>
            </a:p>
          </p:txBody>
        </p:sp>
        <p:sp>
          <p:nvSpPr>
            <p:cNvPr id="20" name="TextBox 20"/>
            <p:cNvSpPr txBox="1"/>
            <p:nvPr/>
          </p:nvSpPr>
          <p:spPr>
            <a:xfrm>
              <a:off x="2554795" y="3138964"/>
              <a:ext cx="1908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最高位数字是零的数字串</a:t>
              </a:r>
            </a:p>
          </p:txBody>
        </p:sp>
        <p:sp>
          <p:nvSpPr>
            <p:cNvPr id="21" name="Rectangle 21"/>
            <p:cNvSpPr/>
            <p:nvPr/>
          </p:nvSpPr>
          <p:spPr>
            <a:xfrm>
              <a:off x="533400" y="3432810"/>
              <a:ext cx="5842635" cy="9525"/>
            </a:xfrm>
            <a:prstGeom prst="rect">
              <a:avLst/>
            </a:prstGeom>
            <a:solidFill>
              <a:srgbClr val="D9DFEA"/>
            </a:solidFill>
            <a:ln>
              <a:noFill/>
            </a:ln>
          </p:spPr>
        </p:sp>
        <p:sp>
          <p:nvSpPr>
            <p:cNvPr id="22" name="TextBox 22"/>
            <p:cNvSpPr txBox="1"/>
            <p:nvPr/>
          </p:nvSpPr>
          <p:spPr>
            <a:xfrm>
              <a:off x="626935" y="355901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有效输入</a:t>
              </a:r>
            </a:p>
          </p:txBody>
        </p:sp>
        <p:sp>
          <p:nvSpPr>
            <p:cNvPr id="23" name="TextBox 23"/>
            <p:cNvSpPr txBox="1"/>
            <p:nvPr/>
          </p:nvSpPr>
          <p:spPr>
            <a:xfrm>
              <a:off x="1678496" y="3559016"/>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(3)</a:t>
              </a:r>
            </a:p>
          </p:txBody>
        </p:sp>
        <p:sp>
          <p:nvSpPr>
            <p:cNvPr id="24" name="TextBox 24"/>
            <p:cNvSpPr txBox="1"/>
            <p:nvPr/>
          </p:nvSpPr>
          <p:spPr>
            <a:xfrm>
              <a:off x="2554795" y="3559016"/>
              <a:ext cx="24253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最高位数字左邻是负号的数字串</a:t>
              </a:r>
            </a:p>
          </p:txBody>
        </p:sp>
        <p:sp>
          <p:nvSpPr>
            <p:cNvPr id="25" name="Rectangle 25"/>
            <p:cNvSpPr/>
            <p:nvPr/>
          </p:nvSpPr>
          <p:spPr>
            <a:xfrm>
              <a:off x="533400" y="3853815"/>
              <a:ext cx="5842635" cy="9525"/>
            </a:xfrm>
            <a:prstGeom prst="rect">
              <a:avLst/>
            </a:prstGeom>
            <a:solidFill>
              <a:srgbClr val="D9DFEA"/>
            </a:solidFill>
            <a:ln>
              <a:noFill/>
            </a:ln>
          </p:spPr>
        </p:sp>
        <p:sp>
          <p:nvSpPr>
            <p:cNvPr id="26" name="Rectangle 26"/>
            <p:cNvSpPr/>
            <p:nvPr/>
          </p:nvSpPr>
          <p:spPr>
            <a:xfrm>
              <a:off x="533400" y="3858578"/>
              <a:ext cx="5842635" cy="420052"/>
            </a:xfrm>
            <a:prstGeom prst="rect">
              <a:avLst/>
            </a:prstGeom>
            <a:solidFill>
              <a:srgbClr val="F4F6FB"/>
            </a:solidFill>
            <a:ln>
              <a:noFill/>
            </a:ln>
          </p:spPr>
        </p:sp>
        <p:sp>
          <p:nvSpPr>
            <p:cNvPr id="27" name="TextBox 27"/>
            <p:cNvSpPr txBox="1"/>
            <p:nvPr/>
          </p:nvSpPr>
          <p:spPr>
            <a:xfrm>
              <a:off x="626935" y="397906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无效输入</a:t>
              </a:r>
            </a:p>
          </p:txBody>
        </p:sp>
        <p:sp>
          <p:nvSpPr>
            <p:cNvPr id="28" name="TextBox 28"/>
            <p:cNvSpPr txBox="1"/>
            <p:nvPr/>
          </p:nvSpPr>
          <p:spPr>
            <a:xfrm>
              <a:off x="1678496" y="3979069"/>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(4)</a:t>
              </a:r>
            </a:p>
          </p:txBody>
        </p:sp>
        <p:sp>
          <p:nvSpPr>
            <p:cNvPr id="29" name="TextBox 29"/>
            <p:cNvSpPr txBox="1"/>
            <p:nvPr/>
          </p:nvSpPr>
          <p:spPr>
            <a:xfrm>
              <a:off x="2554795" y="3979069"/>
              <a:ext cx="173609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空字符串（全是空格）</a:t>
              </a:r>
            </a:p>
          </p:txBody>
        </p:sp>
        <p:sp>
          <p:nvSpPr>
            <p:cNvPr id="30" name="Rectangle 30"/>
            <p:cNvSpPr/>
            <p:nvPr/>
          </p:nvSpPr>
          <p:spPr>
            <a:xfrm>
              <a:off x="533400" y="4273868"/>
              <a:ext cx="5842635" cy="9525"/>
            </a:xfrm>
            <a:prstGeom prst="rect">
              <a:avLst/>
            </a:prstGeom>
            <a:solidFill>
              <a:srgbClr val="D9DFEA"/>
            </a:solidFill>
            <a:ln>
              <a:noFill/>
            </a:ln>
          </p:spPr>
        </p:sp>
        <p:sp>
          <p:nvSpPr>
            <p:cNvPr id="31" name="TextBox 31"/>
            <p:cNvSpPr txBox="1"/>
            <p:nvPr/>
          </p:nvSpPr>
          <p:spPr>
            <a:xfrm>
              <a:off x="626935" y="439912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无效输入</a:t>
              </a:r>
            </a:p>
          </p:txBody>
        </p:sp>
        <p:sp>
          <p:nvSpPr>
            <p:cNvPr id="32" name="TextBox 32"/>
            <p:cNvSpPr txBox="1"/>
            <p:nvPr/>
          </p:nvSpPr>
          <p:spPr>
            <a:xfrm>
              <a:off x="1678496" y="4399121"/>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(5)</a:t>
              </a:r>
            </a:p>
          </p:txBody>
        </p:sp>
        <p:sp>
          <p:nvSpPr>
            <p:cNvPr id="33" name="TextBox 33"/>
            <p:cNvSpPr txBox="1"/>
            <p:nvPr/>
          </p:nvSpPr>
          <p:spPr>
            <a:xfrm>
              <a:off x="2554795" y="4399121"/>
              <a:ext cx="27699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左部填充的字符既不是零也不是空格</a:t>
              </a:r>
            </a:p>
          </p:txBody>
        </p:sp>
        <p:sp>
          <p:nvSpPr>
            <p:cNvPr id="34" name="Rectangle 34"/>
            <p:cNvSpPr/>
            <p:nvPr/>
          </p:nvSpPr>
          <p:spPr>
            <a:xfrm>
              <a:off x="533400" y="4693920"/>
              <a:ext cx="5842635" cy="9525"/>
            </a:xfrm>
            <a:prstGeom prst="rect">
              <a:avLst/>
            </a:prstGeom>
            <a:solidFill>
              <a:srgbClr val="D9DFEA"/>
            </a:solidFill>
            <a:ln>
              <a:noFill/>
            </a:ln>
          </p:spPr>
        </p:sp>
        <p:sp>
          <p:nvSpPr>
            <p:cNvPr id="35" name="Rectangle 35"/>
            <p:cNvSpPr/>
            <p:nvPr/>
          </p:nvSpPr>
          <p:spPr>
            <a:xfrm>
              <a:off x="533400" y="4698682"/>
              <a:ext cx="5842635" cy="420052"/>
            </a:xfrm>
            <a:prstGeom prst="rect">
              <a:avLst/>
            </a:prstGeom>
            <a:solidFill>
              <a:srgbClr val="F4F6FB"/>
            </a:solidFill>
            <a:ln>
              <a:noFill/>
            </a:ln>
          </p:spPr>
        </p:sp>
        <p:sp>
          <p:nvSpPr>
            <p:cNvPr id="36" name="TextBox 36"/>
            <p:cNvSpPr txBox="1"/>
            <p:nvPr/>
          </p:nvSpPr>
          <p:spPr>
            <a:xfrm>
              <a:off x="626935" y="482012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无效输入</a:t>
              </a:r>
            </a:p>
          </p:txBody>
        </p:sp>
        <p:sp>
          <p:nvSpPr>
            <p:cNvPr id="37" name="TextBox 37"/>
            <p:cNvSpPr txBox="1"/>
            <p:nvPr/>
          </p:nvSpPr>
          <p:spPr>
            <a:xfrm>
              <a:off x="1678496" y="4820126"/>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(6)</a:t>
              </a:r>
            </a:p>
          </p:txBody>
        </p:sp>
        <p:sp>
          <p:nvSpPr>
            <p:cNvPr id="38" name="TextBox 38"/>
            <p:cNvSpPr txBox="1"/>
            <p:nvPr/>
          </p:nvSpPr>
          <p:spPr>
            <a:xfrm>
              <a:off x="2554795" y="4820126"/>
              <a:ext cx="29422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最高位数字右面由数字和空格混合组成</a:t>
              </a:r>
            </a:p>
          </p:txBody>
        </p:sp>
        <p:sp>
          <p:nvSpPr>
            <p:cNvPr id="39" name="Rectangle 39"/>
            <p:cNvSpPr/>
            <p:nvPr/>
          </p:nvSpPr>
          <p:spPr>
            <a:xfrm>
              <a:off x="533400" y="5113972"/>
              <a:ext cx="5842635" cy="9525"/>
            </a:xfrm>
            <a:prstGeom prst="rect">
              <a:avLst/>
            </a:prstGeom>
            <a:solidFill>
              <a:srgbClr val="D9DFEA"/>
            </a:solidFill>
            <a:ln>
              <a:noFill/>
            </a:ln>
          </p:spPr>
        </p:sp>
        <p:sp>
          <p:nvSpPr>
            <p:cNvPr id="40" name="TextBox 40"/>
            <p:cNvSpPr txBox="1"/>
            <p:nvPr/>
          </p:nvSpPr>
          <p:spPr>
            <a:xfrm>
              <a:off x="626935" y="524017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无效输入</a:t>
              </a:r>
            </a:p>
          </p:txBody>
        </p:sp>
        <p:sp>
          <p:nvSpPr>
            <p:cNvPr id="41" name="TextBox 41"/>
            <p:cNvSpPr txBox="1"/>
            <p:nvPr/>
          </p:nvSpPr>
          <p:spPr>
            <a:xfrm>
              <a:off x="1678496" y="5240179"/>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(7)</a:t>
              </a:r>
            </a:p>
          </p:txBody>
        </p:sp>
        <p:sp>
          <p:nvSpPr>
            <p:cNvPr id="42" name="TextBox 42"/>
            <p:cNvSpPr txBox="1"/>
            <p:nvPr/>
          </p:nvSpPr>
          <p:spPr>
            <a:xfrm>
              <a:off x="2554795" y="5240179"/>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最高位数字右面由数字和其他字符混合组成</a:t>
              </a:r>
            </a:p>
          </p:txBody>
        </p:sp>
        <p:sp>
          <p:nvSpPr>
            <p:cNvPr id="43" name="Rectangle 43"/>
            <p:cNvSpPr/>
            <p:nvPr/>
          </p:nvSpPr>
          <p:spPr>
            <a:xfrm>
              <a:off x="533400" y="5534025"/>
              <a:ext cx="5842635" cy="9525"/>
            </a:xfrm>
            <a:prstGeom prst="rect">
              <a:avLst/>
            </a:prstGeom>
            <a:solidFill>
              <a:srgbClr val="D9DFEA"/>
            </a:solidFill>
            <a:ln>
              <a:noFill/>
            </a:ln>
          </p:spPr>
        </p:sp>
        <p:sp>
          <p:nvSpPr>
            <p:cNvPr id="44" name="Rectangle 44"/>
            <p:cNvSpPr/>
            <p:nvPr/>
          </p:nvSpPr>
          <p:spPr>
            <a:xfrm>
              <a:off x="533400" y="5538788"/>
              <a:ext cx="5842635" cy="420052"/>
            </a:xfrm>
            <a:prstGeom prst="rect">
              <a:avLst/>
            </a:prstGeom>
            <a:solidFill>
              <a:srgbClr val="F4F6FB"/>
            </a:solidFill>
            <a:ln>
              <a:noFill/>
            </a:ln>
          </p:spPr>
        </p:sp>
        <p:sp>
          <p:nvSpPr>
            <p:cNvPr id="45" name="TextBox 45"/>
            <p:cNvSpPr txBox="1"/>
            <p:nvPr/>
          </p:nvSpPr>
          <p:spPr>
            <a:xfrm>
              <a:off x="626935" y="566023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无效输入</a:t>
              </a:r>
            </a:p>
          </p:txBody>
        </p:sp>
        <p:sp>
          <p:nvSpPr>
            <p:cNvPr id="46" name="TextBox 46"/>
            <p:cNvSpPr txBox="1"/>
            <p:nvPr/>
          </p:nvSpPr>
          <p:spPr>
            <a:xfrm>
              <a:off x="1678496" y="5660231"/>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(8)</a:t>
              </a:r>
            </a:p>
          </p:txBody>
        </p:sp>
        <p:sp>
          <p:nvSpPr>
            <p:cNvPr id="47" name="TextBox 47"/>
            <p:cNvSpPr txBox="1"/>
            <p:nvPr/>
          </p:nvSpPr>
          <p:spPr>
            <a:xfrm>
              <a:off x="2554795" y="5660231"/>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负号与最高位数字之间有空格</a:t>
              </a:r>
            </a:p>
          </p:txBody>
        </p:sp>
        <p:sp>
          <p:nvSpPr>
            <p:cNvPr id="48" name="Rectangle 48"/>
            <p:cNvSpPr/>
            <p:nvPr/>
          </p:nvSpPr>
          <p:spPr>
            <a:xfrm>
              <a:off x="533400" y="2177415"/>
              <a:ext cx="5842635" cy="3782378"/>
            </a:xfrm>
            <a:prstGeom prst="rect">
              <a:avLst/>
            </a:prstGeom>
            <a:noFill/>
            <a:ln w="14288">
              <a:solidFill>
                <a:srgbClr val="D9DFEA"/>
              </a:solidFill>
            </a:ln>
          </p:spPr>
        </p:sp>
        <p:sp>
          <p:nvSpPr>
            <p:cNvPr id="49" name="Rectangle 49"/>
            <p:cNvSpPr/>
            <p:nvPr/>
          </p:nvSpPr>
          <p:spPr>
            <a:xfrm>
              <a:off x="1580198" y="2177415"/>
              <a:ext cx="9525" cy="3782378"/>
            </a:xfrm>
            <a:prstGeom prst="rect">
              <a:avLst/>
            </a:prstGeom>
            <a:solidFill>
              <a:srgbClr val="D9DFEA"/>
            </a:solidFill>
            <a:ln>
              <a:noFill/>
            </a:ln>
          </p:spPr>
        </p:sp>
        <p:sp>
          <p:nvSpPr>
            <p:cNvPr id="50" name="Rectangle 50"/>
            <p:cNvSpPr/>
            <p:nvPr/>
          </p:nvSpPr>
          <p:spPr>
            <a:xfrm>
              <a:off x="2456498" y="2177415"/>
              <a:ext cx="9525" cy="3782378"/>
            </a:xfrm>
            <a:prstGeom prst="rect">
              <a:avLst/>
            </a:prstGeom>
            <a:solidFill>
              <a:srgbClr val="D9DFEA"/>
            </a:solidFill>
            <a:ln>
              <a:noFill/>
            </a:ln>
          </p:spPr>
        </p:sp>
      </p:grpSp>
      <p:grpSp>
        <p:nvGrpSpPr>
          <p:cNvPr id="80" name="c2-table-1"/>
          <p:cNvGrpSpPr/>
          <p:nvPr/>
        </p:nvGrpSpPr>
        <p:grpSpPr>
          <a:xfrm>
            <a:off x="6680835" y="2177415"/>
            <a:ext cx="4977765" cy="2521268"/>
            <a:chOff x="6680835" y="2177415"/>
            <a:chExt cx="4977765" cy="2521268"/>
          </a:xfrm>
        </p:grpSpPr>
        <p:sp>
          <p:nvSpPr>
            <p:cNvPr id="52" name="Rectangle 52"/>
            <p:cNvSpPr/>
            <p:nvPr/>
          </p:nvSpPr>
          <p:spPr>
            <a:xfrm>
              <a:off x="6680835" y="2177415"/>
              <a:ext cx="4977765" cy="420052"/>
            </a:xfrm>
            <a:prstGeom prst="rect">
              <a:avLst/>
            </a:prstGeom>
            <a:solidFill>
              <a:srgbClr val="334E68"/>
            </a:solidFill>
            <a:ln>
              <a:noFill/>
            </a:ln>
          </p:spPr>
        </p:sp>
        <p:sp>
          <p:nvSpPr>
            <p:cNvPr id="53" name="TextBox 53"/>
            <p:cNvSpPr txBox="1"/>
            <p:nvPr/>
          </p:nvSpPr>
          <p:spPr>
            <a:xfrm>
              <a:off x="6950672" y="229790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类别</a:t>
              </a:r>
            </a:p>
          </p:txBody>
        </p:sp>
        <p:sp>
          <p:nvSpPr>
            <p:cNvPr id="54" name="TextBox 54"/>
            <p:cNvSpPr txBox="1"/>
            <p:nvPr/>
          </p:nvSpPr>
          <p:spPr>
            <a:xfrm>
              <a:off x="7771727" y="229790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编号</a:t>
              </a:r>
            </a:p>
          </p:txBody>
        </p:sp>
        <p:sp>
          <p:nvSpPr>
            <p:cNvPr id="55" name="TextBox 55"/>
            <p:cNvSpPr txBox="1"/>
            <p:nvPr/>
          </p:nvSpPr>
          <p:spPr>
            <a:xfrm>
              <a:off x="9467355" y="2297906"/>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输出的等价类</a:t>
              </a:r>
            </a:p>
          </p:txBody>
        </p:sp>
        <p:sp>
          <p:nvSpPr>
            <p:cNvPr id="56" name="TextBox 56"/>
            <p:cNvSpPr txBox="1"/>
            <p:nvPr/>
          </p:nvSpPr>
          <p:spPr>
            <a:xfrm>
              <a:off x="6774370" y="271891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合法输出</a:t>
              </a:r>
            </a:p>
          </p:txBody>
        </p:sp>
        <p:sp>
          <p:nvSpPr>
            <p:cNvPr id="57" name="TextBox 57"/>
            <p:cNvSpPr txBox="1"/>
            <p:nvPr/>
          </p:nvSpPr>
          <p:spPr>
            <a:xfrm>
              <a:off x="7670673" y="2718911"/>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(9)</a:t>
              </a:r>
            </a:p>
          </p:txBody>
        </p:sp>
        <p:sp>
          <p:nvSpPr>
            <p:cNvPr id="58" name="TextBox 58"/>
            <p:cNvSpPr txBox="1"/>
            <p:nvPr/>
          </p:nvSpPr>
          <p:spPr>
            <a:xfrm>
              <a:off x="8417433" y="2718911"/>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最小负整数与零之间的负整数</a:t>
              </a:r>
            </a:p>
          </p:txBody>
        </p:sp>
        <p:sp>
          <p:nvSpPr>
            <p:cNvPr id="59" name="Rectangle 59"/>
            <p:cNvSpPr/>
            <p:nvPr/>
          </p:nvSpPr>
          <p:spPr>
            <a:xfrm>
              <a:off x="6680835" y="3012758"/>
              <a:ext cx="4977765" cy="9525"/>
            </a:xfrm>
            <a:prstGeom prst="rect">
              <a:avLst/>
            </a:prstGeom>
            <a:solidFill>
              <a:srgbClr val="D9DFEA"/>
            </a:solidFill>
            <a:ln>
              <a:noFill/>
            </a:ln>
          </p:spPr>
        </p:sp>
        <p:sp>
          <p:nvSpPr>
            <p:cNvPr id="60" name="Rectangle 60"/>
            <p:cNvSpPr/>
            <p:nvPr/>
          </p:nvSpPr>
          <p:spPr>
            <a:xfrm>
              <a:off x="6680835" y="3017520"/>
              <a:ext cx="4977765" cy="420052"/>
            </a:xfrm>
            <a:prstGeom prst="rect">
              <a:avLst/>
            </a:prstGeom>
            <a:solidFill>
              <a:srgbClr val="F4F6FB"/>
            </a:solidFill>
            <a:ln>
              <a:noFill/>
            </a:ln>
          </p:spPr>
        </p:sp>
        <p:sp>
          <p:nvSpPr>
            <p:cNvPr id="61" name="TextBox 61"/>
            <p:cNvSpPr txBox="1"/>
            <p:nvPr/>
          </p:nvSpPr>
          <p:spPr>
            <a:xfrm>
              <a:off x="6774370" y="3138964"/>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合法输出</a:t>
              </a:r>
            </a:p>
          </p:txBody>
        </p:sp>
        <p:sp>
          <p:nvSpPr>
            <p:cNvPr id="62" name="TextBox 62"/>
            <p:cNvSpPr txBox="1"/>
            <p:nvPr/>
          </p:nvSpPr>
          <p:spPr>
            <a:xfrm>
              <a:off x="7670673" y="3138964"/>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(10)</a:t>
              </a:r>
            </a:p>
          </p:txBody>
        </p:sp>
        <p:sp>
          <p:nvSpPr>
            <p:cNvPr id="63" name="TextBox 63"/>
            <p:cNvSpPr txBox="1"/>
            <p:nvPr/>
          </p:nvSpPr>
          <p:spPr>
            <a:xfrm>
              <a:off x="8417433" y="3138964"/>
              <a:ext cx="18526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零</a:t>
              </a:r>
            </a:p>
          </p:txBody>
        </p:sp>
        <p:sp>
          <p:nvSpPr>
            <p:cNvPr id="64" name="Rectangle 64"/>
            <p:cNvSpPr/>
            <p:nvPr/>
          </p:nvSpPr>
          <p:spPr>
            <a:xfrm>
              <a:off x="6680835" y="3432810"/>
              <a:ext cx="4977765" cy="9525"/>
            </a:xfrm>
            <a:prstGeom prst="rect">
              <a:avLst/>
            </a:prstGeom>
            <a:solidFill>
              <a:srgbClr val="D9DFEA"/>
            </a:solidFill>
            <a:ln>
              <a:noFill/>
            </a:ln>
          </p:spPr>
        </p:sp>
        <p:sp>
          <p:nvSpPr>
            <p:cNvPr id="65" name="TextBox 65"/>
            <p:cNvSpPr txBox="1"/>
            <p:nvPr/>
          </p:nvSpPr>
          <p:spPr>
            <a:xfrm>
              <a:off x="6774370" y="3559016"/>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合法输出</a:t>
              </a:r>
            </a:p>
          </p:txBody>
        </p:sp>
        <p:sp>
          <p:nvSpPr>
            <p:cNvPr id="66" name="TextBox 66"/>
            <p:cNvSpPr txBox="1"/>
            <p:nvPr/>
          </p:nvSpPr>
          <p:spPr>
            <a:xfrm>
              <a:off x="7670673" y="3559016"/>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(11)</a:t>
              </a:r>
            </a:p>
          </p:txBody>
        </p:sp>
        <p:sp>
          <p:nvSpPr>
            <p:cNvPr id="67" name="TextBox 67"/>
            <p:cNvSpPr txBox="1"/>
            <p:nvPr/>
          </p:nvSpPr>
          <p:spPr>
            <a:xfrm>
              <a:off x="8417433" y="3559016"/>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零与最大正整数之间的正整数</a:t>
              </a:r>
            </a:p>
          </p:txBody>
        </p:sp>
        <p:sp>
          <p:nvSpPr>
            <p:cNvPr id="68" name="Rectangle 68"/>
            <p:cNvSpPr/>
            <p:nvPr/>
          </p:nvSpPr>
          <p:spPr>
            <a:xfrm>
              <a:off x="6680835" y="3853815"/>
              <a:ext cx="4977765" cy="9525"/>
            </a:xfrm>
            <a:prstGeom prst="rect">
              <a:avLst/>
            </a:prstGeom>
            <a:solidFill>
              <a:srgbClr val="D9DFEA"/>
            </a:solidFill>
            <a:ln>
              <a:noFill/>
            </a:ln>
          </p:spPr>
        </p:sp>
        <p:sp>
          <p:nvSpPr>
            <p:cNvPr id="69" name="Rectangle 69"/>
            <p:cNvSpPr/>
            <p:nvPr/>
          </p:nvSpPr>
          <p:spPr>
            <a:xfrm>
              <a:off x="6680835" y="3858578"/>
              <a:ext cx="4977765" cy="420052"/>
            </a:xfrm>
            <a:prstGeom prst="rect">
              <a:avLst/>
            </a:prstGeom>
            <a:solidFill>
              <a:srgbClr val="F4F6FB"/>
            </a:solidFill>
            <a:ln>
              <a:noFill/>
            </a:ln>
          </p:spPr>
        </p:sp>
        <p:sp>
          <p:nvSpPr>
            <p:cNvPr id="70" name="TextBox 70"/>
            <p:cNvSpPr txBox="1"/>
            <p:nvPr/>
          </p:nvSpPr>
          <p:spPr>
            <a:xfrm>
              <a:off x="6774370" y="3979069"/>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非法输出</a:t>
              </a:r>
            </a:p>
          </p:txBody>
        </p:sp>
        <p:sp>
          <p:nvSpPr>
            <p:cNvPr id="71" name="TextBox 71"/>
            <p:cNvSpPr txBox="1"/>
            <p:nvPr/>
          </p:nvSpPr>
          <p:spPr>
            <a:xfrm>
              <a:off x="7670673" y="3979069"/>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(12)</a:t>
              </a:r>
            </a:p>
          </p:txBody>
        </p:sp>
        <p:sp>
          <p:nvSpPr>
            <p:cNvPr id="72" name="TextBox 72"/>
            <p:cNvSpPr txBox="1"/>
            <p:nvPr/>
          </p:nvSpPr>
          <p:spPr>
            <a:xfrm>
              <a:off x="8417433" y="3979069"/>
              <a:ext cx="20807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比最小负整数还小的负整数</a:t>
              </a:r>
            </a:p>
          </p:txBody>
        </p:sp>
        <p:sp>
          <p:nvSpPr>
            <p:cNvPr id="73" name="Rectangle 73"/>
            <p:cNvSpPr/>
            <p:nvPr/>
          </p:nvSpPr>
          <p:spPr>
            <a:xfrm>
              <a:off x="6680835" y="4273868"/>
              <a:ext cx="4977765" cy="9525"/>
            </a:xfrm>
            <a:prstGeom prst="rect">
              <a:avLst/>
            </a:prstGeom>
            <a:solidFill>
              <a:srgbClr val="D9DFEA"/>
            </a:solidFill>
            <a:ln>
              <a:noFill/>
            </a:ln>
          </p:spPr>
        </p:sp>
        <p:sp>
          <p:nvSpPr>
            <p:cNvPr id="74" name="TextBox 74"/>
            <p:cNvSpPr txBox="1"/>
            <p:nvPr/>
          </p:nvSpPr>
          <p:spPr>
            <a:xfrm>
              <a:off x="6774370" y="4399121"/>
              <a:ext cx="70220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非法输出</a:t>
              </a:r>
            </a:p>
          </p:txBody>
        </p:sp>
        <p:sp>
          <p:nvSpPr>
            <p:cNvPr id="75" name="TextBox 75"/>
            <p:cNvSpPr txBox="1"/>
            <p:nvPr/>
          </p:nvSpPr>
          <p:spPr>
            <a:xfrm>
              <a:off x="7670673" y="4399121"/>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(13)</a:t>
              </a:r>
            </a:p>
          </p:txBody>
        </p:sp>
        <p:sp>
          <p:nvSpPr>
            <p:cNvPr id="76" name="TextBox 76"/>
            <p:cNvSpPr txBox="1"/>
            <p:nvPr/>
          </p:nvSpPr>
          <p:spPr>
            <a:xfrm>
              <a:off x="8417433" y="4399121"/>
              <a:ext cx="20807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比最大正整数还大的正整数</a:t>
              </a:r>
            </a:p>
          </p:txBody>
        </p:sp>
        <p:sp>
          <p:nvSpPr>
            <p:cNvPr id="77" name="Rectangle 77"/>
            <p:cNvSpPr/>
            <p:nvPr/>
          </p:nvSpPr>
          <p:spPr>
            <a:xfrm>
              <a:off x="6680835" y="2177415"/>
              <a:ext cx="4977765" cy="2521268"/>
            </a:xfrm>
            <a:prstGeom prst="rect">
              <a:avLst/>
            </a:prstGeom>
            <a:noFill/>
            <a:ln w="14288">
              <a:solidFill>
                <a:srgbClr val="D9DFEA"/>
              </a:solidFill>
            </a:ln>
          </p:spPr>
        </p:sp>
        <p:sp>
          <p:nvSpPr>
            <p:cNvPr id="78" name="Rectangle 78"/>
            <p:cNvSpPr/>
            <p:nvPr/>
          </p:nvSpPr>
          <p:spPr>
            <a:xfrm>
              <a:off x="7572375" y="2177415"/>
              <a:ext cx="9525" cy="2521268"/>
            </a:xfrm>
            <a:prstGeom prst="rect">
              <a:avLst/>
            </a:prstGeom>
            <a:solidFill>
              <a:srgbClr val="D9DFEA"/>
            </a:solidFill>
            <a:ln>
              <a:noFill/>
            </a:ln>
          </p:spPr>
        </p:sp>
        <p:sp>
          <p:nvSpPr>
            <p:cNvPr id="79" name="Rectangle 79"/>
            <p:cNvSpPr/>
            <p:nvPr/>
          </p:nvSpPr>
          <p:spPr>
            <a:xfrm>
              <a:off x="8319135" y="2177415"/>
              <a:ext cx="9525" cy="2521268"/>
            </a:xfrm>
            <a:prstGeom prst="rect">
              <a:avLst/>
            </a:prstGeom>
            <a:solidFill>
              <a:srgbClr val="D9DFEA"/>
            </a:solidFill>
            <a:ln>
              <a:noFill/>
            </a:ln>
          </p:spPr>
        </p:sp>
      </p:grpSp>
      <p:grpSp>
        <p:nvGrpSpPr>
          <p:cNvPr id="83" name="footer"/>
          <p:cNvGrpSpPr/>
          <p:nvPr/>
        </p:nvGrpSpPr>
        <p:grpSpPr>
          <a:xfrm>
            <a:off x="528447" y="6581299"/>
            <a:ext cx="11135106" cy="190690"/>
            <a:chOff x="528447" y="6581299"/>
            <a:chExt cx="11135106" cy="190690"/>
          </a:xfrm>
        </p:grpSpPr>
        <p:sp>
          <p:nvSpPr>
            <p:cNvPr id="81" name="TextBox 8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82" name="TextBox 8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583157" cy="909257"/>
            <a:chOff x="520446" y="342900"/>
            <a:chExt cx="3583157"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黑盒测试技术</a:t>
              </a:r>
            </a:p>
          </p:txBody>
        </p:sp>
        <p:sp>
          <p:nvSpPr>
            <p:cNvPr id="4" name="TextBox 4"/>
            <p:cNvSpPr txBox="1"/>
            <p:nvPr/>
          </p:nvSpPr>
          <p:spPr>
            <a:xfrm>
              <a:off x="520446" y="753428"/>
              <a:ext cx="358315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 1：11 个测试方案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6647744" cy="278702"/>
            <a:chOff x="526161" y="1547336"/>
            <a:chExt cx="6647744" cy="278702"/>
          </a:xfrm>
        </p:grpSpPr>
        <p:sp>
          <p:nvSpPr>
            <p:cNvPr id="7" name="TextBox 7"/>
            <p:cNvSpPr txBox="1"/>
            <p:nvPr/>
          </p:nvSpPr>
          <p:spPr>
            <a:xfrm>
              <a:off x="526161" y="1547336"/>
              <a:ext cx="6647744"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每个方案含测试目的、给定输入、预期输出三部分；按 16 位有符号整数考虑。</a:t>
              </a:r>
            </a:p>
          </p:txBody>
        </p:sp>
      </p:grpSp>
      <p:grpSp>
        <p:nvGrpSpPr>
          <p:cNvPr id="50" name="c1-table-1"/>
          <p:cNvGrpSpPr/>
          <p:nvPr/>
        </p:nvGrpSpPr>
        <p:grpSpPr>
          <a:xfrm>
            <a:off x="533400" y="1941195"/>
            <a:ext cx="5410200" cy="3112771"/>
            <a:chOff x="533400" y="1941195"/>
            <a:chExt cx="5410200" cy="3112771"/>
          </a:xfrm>
        </p:grpSpPr>
        <p:sp>
          <p:nvSpPr>
            <p:cNvPr id="9" name="Rectangle 9"/>
            <p:cNvSpPr/>
            <p:nvPr/>
          </p:nvSpPr>
          <p:spPr>
            <a:xfrm>
              <a:off x="533400" y="1941195"/>
              <a:ext cx="5410200" cy="444818"/>
            </a:xfrm>
            <a:prstGeom prst="rect">
              <a:avLst/>
            </a:prstGeom>
            <a:solidFill>
              <a:srgbClr val="334E68"/>
            </a:solidFill>
            <a:ln>
              <a:noFill/>
            </a:ln>
          </p:spPr>
        </p:sp>
        <p:sp>
          <p:nvSpPr>
            <p:cNvPr id="10" name="TextBox 10"/>
            <p:cNvSpPr txBox="1"/>
            <p:nvPr/>
          </p:nvSpPr>
          <p:spPr>
            <a:xfrm>
              <a:off x="641985" y="206978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编号</a:t>
              </a:r>
            </a:p>
          </p:txBody>
        </p:sp>
        <p:sp>
          <p:nvSpPr>
            <p:cNvPr id="11" name="TextBox 11"/>
            <p:cNvSpPr txBox="1"/>
            <p:nvPr/>
          </p:nvSpPr>
          <p:spPr>
            <a:xfrm>
              <a:off x="1650873" y="206978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给定输入</a:t>
              </a:r>
            </a:p>
          </p:txBody>
        </p:sp>
        <p:sp>
          <p:nvSpPr>
            <p:cNvPr id="12" name="TextBox 12"/>
            <p:cNvSpPr txBox="1"/>
            <p:nvPr/>
          </p:nvSpPr>
          <p:spPr>
            <a:xfrm>
              <a:off x="3435858" y="206978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预期输出</a:t>
              </a:r>
            </a:p>
          </p:txBody>
        </p:sp>
        <p:sp>
          <p:nvSpPr>
            <p:cNvPr id="13" name="TextBox 13"/>
            <p:cNvSpPr txBox="1"/>
            <p:nvPr/>
          </p:nvSpPr>
          <p:spPr>
            <a:xfrm>
              <a:off x="5042154" y="206978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等价类</a:t>
              </a:r>
            </a:p>
          </p:txBody>
        </p:sp>
        <p:sp>
          <p:nvSpPr>
            <p:cNvPr id="14" name="TextBox 14"/>
            <p:cNvSpPr txBox="1"/>
            <p:nvPr/>
          </p:nvSpPr>
          <p:spPr>
            <a:xfrm>
              <a:off x="632270" y="251460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a:t>
              </a:r>
            </a:p>
          </p:txBody>
        </p:sp>
        <p:sp>
          <p:nvSpPr>
            <p:cNvPr id="15" name="TextBox 15"/>
            <p:cNvSpPr txBox="1"/>
            <p:nvPr/>
          </p:nvSpPr>
          <p:spPr>
            <a:xfrm>
              <a:off x="1227582" y="2514600"/>
              <a:ext cx="124952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4 个空格加 '1'</a:t>
              </a:r>
            </a:p>
          </p:txBody>
        </p:sp>
        <p:sp>
          <p:nvSpPr>
            <p:cNvPr id="16" name="TextBox 16"/>
            <p:cNvSpPr txBox="1"/>
            <p:nvPr/>
          </p:nvSpPr>
          <p:spPr>
            <a:xfrm>
              <a:off x="3012567" y="2514600"/>
              <a:ext cx="1136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a:t>
              </a:r>
            </a:p>
          </p:txBody>
        </p:sp>
        <p:sp>
          <p:nvSpPr>
            <p:cNvPr id="17" name="TextBox 17"/>
            <p:cNvSpPr txBox="1"/>
            <p:nvPr/>
          </p:nvSpPr>
          <p:spPr>
            <a:xfrm>
              <a:off x="4798504" y="2514600"/>
              <a:ext cx="71340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(1)(11)</a:t>
              </a:r>
            </a:p>
          </p:txBody>
        </p:sp>
        <p:sp>
          <p:nvSpPr>
            <p:cNvPr id="18" name="Rectangle 18"/>
            <p:cNvSpPr/>
            <p:nvPr/>
          </p:nvSpPr>
          <p:spPr>
            <a:xfrm>
              <a:off x="533400" y="2826068"/>
              <a:ext cx="5410200" cy="9525"/>
            </a:xfrm>
            <a:prstGeom prst="rect">
              <a:avLst/>
            </a:prstGeom>
            <a:solidFill>
              <a:srgbClr val="D9DFEA"/>
            </a:solidFill>
            <a:ln>
              <a:noFill/>
            </a:ln>
          </p:spPr>
        </p:sp>
        <p:sp>
          <p:nvSpPr>
            <p:cNvPr id="19" name="Rectangle 19"/>
            <p:cNvSpPr/>
            <p:nvPr/>
          </p:nvSpPr>
          <p:spPr>
            <a:xfrm>
              <a:off x="533400" y="2830830"/>
              <a:ext cx="5410200" cy="444818"/>
            </a:xfrm>
            <a:prstGeom prst="rect">
              <a:avLst/>
            </a:prstGeom>
            <a:solidFill>
              <a:srgbClr val="F4F6FB"/>
            </a:solidFill>
            <a:ln>
              <a:noFill/>
            </a:ln>
          </p:spPr>
        </p:sp>
        <p:sp>
          <p:nvSpPr>
            <p:cNvPr id="20" name="TextBox 20"/>
            <p:cNvSpPr txBox="1"/>
            <p:nvPr/>
          </p:nvSpPr>
          <p:spPr>
            <a:xfrm>
              <a:off x="632270" y="295846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2</a:t>
              </a:r>
            </a:p>
          </p:txBody>
        </p:sp>
        <p:sp>
          <p:nvSpPr>
            <p:cNvPr id="21" name="TextBox 21"/>
            <p:cNvSpPr txBox="1"/>
            <p:nvPr/>
          </p:nvSpPr>
          <p:spPr>
            <a:xfrm>
              <a:off x="1227582" y="2958465"/>
              <a:ext cx="81335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'000001'</a:t>
              </a:r>
            </a:p>
          </p:txBody>
        </p:sp>
        <p:sp>
          <p:nvSpPr>
            <p:cNvPr id="22" name="TextBox 22"/>
            <p:cNvSpPr txBox="1"/>
            <p:nvPr/>
          </p:nvSpPr>
          <p:spPr>
            <a:xfrm>
              <a:off x="3012567" y="2958465"/>
              <a:ext cx="1136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a:t>
              </a:r>
            </a:p>
          </p:txBody>
        </p:sp>
        <p:sp>
          <p:nvSpPr>
            <p:cNvPr id="23" name="TextBox 23"/>
            <p:cNvSpPr txBox="1"/>
            <p:nvPr/>
          </p:nvSpPr>
          <p:spPr>
            <a:xfrm>
              <a:off x="4798504" y="2958465"/>
              <a:ext cx="71340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(2)(11)</a:t>
              </a:r>
            </a:p>
          </p:txBody>
        </p:sp>
        <p:sp>
          <p:nvSpPr>
            <p:cNvPr id="24" name="Rectangle 24"/>
            <p:cNvSpPr/>
            <p:nvPr/>
          </p:nvSpPr>
          <p:spPr>
            <a:xfrm>
              <a:off x="533400" y="3270885"/>
              <a:ext cx="5410200" cy="9525"/>
            </a:xfrm>
            <a:prstGeom prst="rect">
              <a:avLst/>
            </a:prstGeom>
            <a:solidFill>
              <a:srgbClr val="D9DFEA"/>
            </a:solidFill>
            <a:ln>
              <a:noFill/>
            </a:ln>
          </p:spPr>
        </p:sp>
        <p:sp>
          <p:nvSpPr>
            <p:cNvPr id="25" name="TextBox 25"/>
            <p:cNvSpPr txBox="1"/>
            <p:nvPr/>
          </p:nvSpPr>
          <p:spPr>
            <a:xfrm>
              <a:off x="632270" y="3403282"/>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3</a:t>
              </a:r>
            </a:p>
          </p:txBody>
        </p:sp>
        <p:sp>
          <p:nvSpPr>
            <p:cNvPr id="26" name="TextBox 26"/>
            <p:cNvSpPr txBox="1"/>
            <p:nvPr/>
          </p:nvSpPr>
          <p:spPr>
            <a:xfrm>
              <a:off x="1227582" y="3403282"/>
              <a:ext cx="81335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'-00001'</a:t>
              </a:r>
            </a:p>
          </p:txBody>
        </p:sp>
        <p:sp>
          <p:nvSpPr>
            <p:cNvPr id="27" name="TextBox 27"/>
            <p:cNvSpPr txBox="1"/>
            <p:nvPr/>
          </p:nvSpPr>
          <p:spPr>
            <a:xfrm>
              <a:off x="3012567" y="3403282"/>
              <a:ext cx="21362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a:t>
              </a:r>
            </a:p>
          </p:txBody>
        </p:sp>
        <p:sp>
          <p:nvSpPr>
            <p:cNvPr id="28" name="TextBox 28"/>
            <p:cNvSpPr txBox="1"/>
            <p:nvPr/>
          </p:nvSpPr>
          <p:spPr>
            <a:xfrm>
              <a:off x="4798504" y="3403282"/>
              <a:ext cx="6134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(3)(9)</a:t>
              </a:r>
            </a:p>
          </p:txBody>
        </p:sp>
        <p:sp>
          <p:nvSpPr>
            <p:cNvPr id="29" name="Rectangle 29"/>
            <p:cNvSpPr/>
            <p:nvPr/>
          </p:nvSpPr>
          <p:spPr>
            <a:xfrm>
              <a:off x="533400" y="3715702"/>
              <a:ext cx="5410200" cy="9525"/>
            </a:xfrm>
            <a:prstGeom prst="rect">
              <a:avLst/>
            </a:prstGeom>
            <a:solidFill>
              <a:srgbClr val="D9DFEA"/>
            </a:solidFill>
            <a:ln>
              <a:noFill/>
            </a:ln>
          </p:spPr>
        </p:sp>
        <p:sp>
          <p:nvSpPr>
            <p:cNvPr id="30" name="Rectangle 30"/>
            <p:cNvSpPr/>
            <p:nvPr/>
          </p:nvSpPr>
          <p:spPr>
            <a:xfrm>
              <a:off x="533400" y="3720465"/>
              <a:ext cx="5410200" cy="444818"/>
            </a:xfrm>
            <a:prstGeom prst="rect">
              <a:avLst/>
            </a:prstGeom>
            <a:solidFill>
              <a:srgbClr val="F4F6FB"/>
            </a:solidFill>
            <a:ln>
              <a:noFill/>
            </a:ln>
          </p:spPr>
        </p:sp>
        <p:sp>
          <p:nvSpPr>
            <p:cNvPr id="31" name="TextBox 31"/>
            <p:cNvSpPr txBox="1"/>
            <p:nvPr/>
          </p:nvSpPr>
          <p:spPr>
            <a:xfrm>
              <a:off x="632270" y="384810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4</a:t>
              </a:r>
            </a:p>
          </p:txBody>
        </p:sp>
        <p:sp>
          <p:nvSpPr>
            <p:cNvPr id="32" name="TextBox 32"/>
            <p:cNvSpPr txBox="1"/>
            <p:nvPr/>
          </p:nvSpPr>
          <p:spPr>
            <a:xfrm>
              <a:off x="1227582" y="3848100"/>
              <a:ext cx="81335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'000000'</a:t>
              </a:r>
            </a:p>
          </p:txBody>
        </p:sp>
        <p:sp>
          <p:nvSpPr>
            <p:cNvPr id="33" name="TextBox 33"/>
            <p:cNvSpPr txBox="1"/>
            <p:nvPr/>
          </p:nvSpPr>
          <p:spPr>
            <a:xfrm>
              <a:off x="3012567" y="3848100"/>
              <a:ext cx="1136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0</a:t>
              </a:r>
            </a:p>
          </p:txBody>
        </p:sp>
        <p:sp>
          <p:nvSpPr>
            <p:cNvPr id="34" name="TextBox 34"/>
            <p:cNvSpPr txBox="1"/>
            <p:nvPr/>
          </p:nvSpPr>
          <p:spPr>
            <a:xfrm>
              <a:off x="4798504" y="3848100"/>
              <a:ext cx="71340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(2)(10)</a:t>
              </a:r>
            </a:p>
          </p:txBody>
        </p:sp>
        <p:sp>
          <p:nvSpPr>
            <p:cNvPr id="35" name="Rectangle 35"/>
            <p:cNvSpPr/>
            <p:nvPr/>
          </p:nvSpPr>
          <p:spPr>
            <a:xfrm>
              <a:off x="533400" y="4159568"/>
              <a:ext cx="5410200" cy="9525"/>
            </a:xfrm>
            <a:prstGeom prst="rect">
              <a:avLst/>
            </a:prstGeom>
            <a:solidFill>
              <a:srgbClr val="D9DFEA"/>
            </a:solidFill>
            <a:ln>
              <a:noFill/>
            </a:ln>
          </p:spPr>
        </p:sp>
        <p:sp>
          <p:nvSpPr>
            <p:cNvPr id="36" name="TextBox 36"/>
            <p:cNvSpPr txBox="1"/>
            <p:nvPr/>
          </p:nvSpPr>
          <p:spPr>
            <a:xfrm>
              <a:off x="632270" y="4292918"/>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5</a:t>
              </a:r>
            </a:p>
          </p:txBody>
        </p:sp>
        <p:sp>
          <p:nvSpPr>
            <p:cNvPr id="37" name="TextBox 37"/>
            <p:cNvSpPr txBox="1"/>
            <p:nvPr/>
          </p:nvSpPr>
          <p:spPr>
            <a:xfrm>
              <a:off x="1227582" y="4292918"/>
              <a:ext cx="81335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'-47561'</a:t>
              </a:r>
            </a:p>
          </p:txBody>
        </p:sp>
        <p:sp>
          <p:nvSpPr>
            <p:cNvPr id="38" name="TextBox 38"/>
            <p:cNvSpPr txBox="1"/>
            <p:nvPr/>
          </p:nvSpPr>
          <p:spPr>
            <a:xfrm>
              <a:off x="3012567" y="4292918"/>
              <a:ext cx="13040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错误——无效输入</a:t>
              </a:r>
            </a:p>
          </p:txBody>
        </p:sp>
        <p:sp>
          <p:nvSpPr>
            <p:cNvPr id="39" name="TextBox 39"/>
            <p:cNvSpPr txBox="1"/>
            <p:nvPr/>
          </p:nvSpPr>
          <p:spPr>
            <a:xfrm>
              <a:off x="4798504" y="4292918"/>
              <a:ext cx="41353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(12)</a:t>
              </a:r>
            </a:p>
          </p:txBody>
        </p:sp>
        <p:sp>
          <p:nvSpPr>
            <p:cNvPr id="40" name="Rectangle 40"/>
            <p:cNvSpPr/>
            <p:nvPr/>
          </p:nvSpPr>
          <p:spPr>
            <a:xfrm>
              <a:off x="533400" y="4604385"/>
              <a:ext cx="5410200" cy="9525"/>
            </a:xfrm>
            <a:prstGeom prst="rect">
              <a:avLst/>
            </a:prstGeom>
            <a:solidFill>
              <a:srgbClr val="D9DFEA"/>
            </a:solidFill>
            <a:ln>
              <a:noFill/>
            </a:ln>
          </p:spPr>
        </p:sp>
        <p:sp>
          <p:nvSpPr>
            <p:cNvPr id="41" name="Rectangle 41"/>
            <p:cNvSpPr/>
            <p:nvPr/>
          </p:nvSpPr>
          <p:spPr>
            <a:xfrm>
              <a:off x="533400" y="4609148"/>
              <a:ext cx="5410200" cy="444818"/>
            </a:xfrm>
            <a:prstGeom prst="rect">
              <a:avLst/>
            </a:prstGeom>
            <a:solidFill>
              <a:srgbClr val="F4F6FB"/>
            </a:solidFill>
            <a:ln>
              <a:noFill/>
            </a:ln>
          </p:spPr>
        </p:sp>
        <p:sp>
          <p:nvSpPr>
            <p:cNvPr id="42" name="TextBox 42"/>
            <p:cNvSpPr txBox="1"/>
            <p:nvPr/>
          </p:nvSpPr>
          <p:spPr>
            <a:xfrm>
              <a:off x="632270" y="473773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6</a:t>
              </a:r>
            </a:p>
          </p:txBody>
        </p:sp>
        <p:sp>
          <p:nvSpPr>
            <p:cNvPr id="43" name="TextBox 43"/>
            <p:cNvSpPr txBox="1"/>
            <p:nvPr/>
          </p:nvSpPr>
          <p:spPr>
            <a:xfrm>
              <a:off x="1227582" y="4737735"/>
              <a:ext cx="81335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'132767'</a:t>
              </a:r>
            </a:p>
          </p:txBody>
        </p:sp>
        <p:sp>
          <p:nvSpPr>
            <p:cNvPr id="44" name="TextBox 44"/>
            <p:cNvSpPr txBox="1"/>
            <p:nvPr/>
          </p:nvSpPr>
          <p:spPr>
            <a:xfrm>
              <a:off x="3012567" y="4737735"/>
              <a:ext cx="13040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错误——无效输入</a:t>
              </a:r>
            </a:p>
          </p:txBody>
        </p:sp>
        <p:sp>
          <p:nvSpPr>
            <p:cNvPr id="45" name="TextBox 45"/>
            <p:cNvSpPr txBox="1"/>
            <p:nvPr/>
          </p:nvSpPr>
          <p:spPr>
            <a:xfrm>
              <a:off x="4798504" y="4737735"/>
              <a:ext cx="41353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(13)</a:t>
              </a:r>
            </a:p>
          </p:txBody>
        </p:sp>
        <p:sp>
          <p:nvSpPr>
            <p:cNvPr id="46" name="Rectangle 46"/>
            <p:cNvSpPr/>
            <p:nvPr/>
          </p:nvSpPr>
          <p:spPr>
            <a:xfrm>
              <a:off x="533400" y="1941195"/>
              <a:ext cx="5410200" cy="3112770"/>
            </a:xfrm>
            <a:prstGeom prst="rect">
              <a:avLst/>
            </a:prstGeom>
            <a:noFill/>
            <a:ln w="14288">
              <a:solidFill>
                <a:srgbClr val="D9DFEA"/>
              </a:solidFill>
            </a:ln>
          </p:spPr>
        </p:sp>
        <p:sp>
          <p:nvSpPr>
            <p:cNvPr id="47" name="Rectangle 47"/>
            <p:cNvSpPr/>
            <p:nvPr/>
          </p:nvSpPr>
          <p:spPr>
            <a:xfrm>
              <a:off x="1123950" y="1941195"/>
              <a:ext cx="9525" cy="3112770"/>
            </a:xfrm>
            <a:prstGeom prst="rect">
              <a:avLst/>
            </a:prstGeom>
            <a:solidFill>
              <a:srgbClr val="D9DFEA"/>
            </a:solidFill>
            <a:ln>
              <a:noFill/>
            </a:ln>
          </p:spPr>
        </p:sp>
        <p:sp>
          <p:nvSpPr>
            <p:cNvPr id="48" name="Rectangle 48"/>
            <p:cNvSpPr/>
            <p:nvPr/>
          </p:nvSpPr>
          <p:spPr>
            <a:xfrm>
              <a:off x="2908935" y="1941195"/>
              <a:ext cx="9525" cy="3112770"/>
            </a:xfrm>
            <a:prstGeom prst="rect">
              <a:avLst/>
            </a:prstGeom>
            <a:solidFill>
              <a:srgbClr val="D9DFEA"/>
            </a:solidFill>
            <a:ln>
              <a:noFill/>
            </a:ln>
          </p:spPr>
        </p:sp>
        <p:sp>
          <p:nvSpPr>
            <p:cNvPr id="49" name="Rectangle 49"/>
            <p:cNvSpPr/>
            <p:nvPr/>
          </p:nvSpPr>
          <p:spPr>
            <a:xfrm>
              <a:off x="4694872" y="1941195"/>
              <a:ext cx="9525" cy="3112770"/>
            </a:xfrm>
            <a:prstGeom prst="rect">
              <a:avLst/>
            </a:prstGeom>
            <a:solidFill>
              <a:srgbClr val="D9DFEA"/>
            </a:solidFill>
            <a:ln>
              <a:noFill/>
            </a:ln>
          </p:spPr>
        </p:sp>
      </p:grpSp>
      <p:grpSp>
        <p:nvGrpSpPr>
          <p:cNvPr id="86" name="c2-table-1"/>
          <p:cNvGrpSpPr/>
          <p:nvPr/>
        </p:nvGrpSpPr>
        <p:grpSpPr>
          <a:xfrm>
            <a:off x="6248400" y="1941195"/>
            <a:ext cx="5410200" cy="3388042"/>
            <a:chOff x="6248400" y="1941195"/>
            <a:chExt cx="5410200" cy="3388042"/>
          </a:xfrm>
        </p:grpSpPr>
        <p:sp>
          <p:nvSpPr>
            <p:cNvPr id="51" name="Rectangle 51"/>
            <p:cNvSpPr/>
            <p:nvPr/>
          </p:nvSpPr>
          <p:spPr>
            <a:xfrm>
              <a:off x="6248400" y="1941195"/>
              <a:ext cx="5410200" cy="444818"/>
            </a:xfrm>
            <a:prstGeom prst="rect">
              <a:avLst/>
            </a:prstGeom>
            <a:solidFill>
              <a:srgbClr val="334E68"/>
            </a:solidFill>
            <a:ln>
              <a:noFill/>
            </a:ln>
          </p:spPr>
        </p:sp>
        <p:sp>
          <p:nvSpPr>
            <p:cNvPr id="52" name="TextBox 52"/>
            <p:cNvSpPr txBox="1"/>
            <p:nvPr/>
          </p:nvSpPr>
          <p:spPr>
            <a:xfrm>
              <a:off x="6356985" y="2069782"/>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编号</a:t>
              </a:r>
            </a:p>
          </p:txBody>
        </p:sp>
        <p:sp>
          <p:nvSpPr>
            <p:cNvPr id="53" name="TextBox 53"/>
            <p:cNvSpPr txBox="1"/>
            <p:nvPr/>
          </p:nvSpPr>
          <p:spPr>
            <a:xfrm>
              <a:off x="7420166" y="206978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给定输入</a:t>
              </a:r>
            </a:p>
          </p:txBody>
        </p:sp>
        <p:sp>
          <p:nvSpPr>
            <p:cNvPr id="54" name="TextBox 54"/>
            <p:cNvSpPr txBox="1"/>
            <p:nvPr/>
          </p:nvSpPr>
          <p:spPr>
            <a:xfrm>
              <a:off x="9286113" y="2069782"/>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预期输出</a:t>
              </a:r>
            </a:p>
          </p:txBody>
        </p:sp>
        <p:sp>
          <p:nvSpPr>
            <p:cNvPr id="55" name="TextBox 55"/>
            <p:cNvSpPr txBox="1"/>
            <p:nvPr/>
          </p:nvSpPr>
          <p:spPr>
            <a:xfrm>
              <a:off x="10838117" y="2069782"/>
              <a:ext cx="558927"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等价类</a:t>
              </a:r>
            </a:p>
          </p:txBody>
        </p:sp>
        <p:sp>
          <p:nvSpPr>
            <p:cNvPr id="56" name="TextBox 56"/>
            <p:cNvSpPr txBox="1"/>
            <p:nvPr/>
          </p:nvSpPr>
          <p:spPr>
            <a:xfrm>
              <a:off x="6347270" y="2514600"/>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7</a:t>
              </a:r>
            </a:p>
          </p:txBody>
        </p:sp>
        <p:sp>
          <p:nvSpPr>
            <p:cNvPr id="57" name="TextBox 57"/>
            <p:cNvSpPr txBox="1"/>
            <p:nvPr/>
          </p:nvSpPr>
          <p:spPr>
            <a:xfrm>
              <a:off x="6942582" y="2514600"/>
              <a:ext cx="71340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6 个空格</a:t>
              </a:r>
            </a:p>
          </p:txBody>
        </p:sp>
        <p:sp>
          <p:nvSpPr>
            <p:cNvPr id="58" name="TextBox 58"/>
            <p:cNvSpPr txBox="1"/>
            <p:nvPr/>
          </p:nvSpPr>
          <p:spPr>
            <a:xfrm>
              <a:off x="8836152" y="2514600"/>
              <a:ext cx="13040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错误——没有数字</a:t>
              </a:r>
            </a:p>
          </p:txBody>
        </p:sp>
        <p:sp>
          <p:nvSpPr>
            <p:cNvPr id="59" name="TextBox 59"/>
            <p:cNvSpPr txBox="1"/>
            <p:nvPr/>
          </p:nvSpPr>
          <p:spPr>
            <a:xfrm>
              <a:off x="10675430" y="2514600"/>
              <a:ext cx="3135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(4)</a:t>
              </a:r>
            </a:p>
          </p:txBody>
        </p:sp>
        <p:sp>
          <p:nvSpPr>
            <p:cNvPr id="60" name="Rectangle 60"/>
            <p:cNvSpPr/>
            <p:nvPr/>
          </p:nvSpPr>
          <p:spPr>
            <a:xfrm>
              <a:off x="6248400" y="2826068"/>
              <a:ext cx="5410200" cy="9525"/>
            </a:xfrm>
            <a:prstGeom prst="rect">
              <a:avLst/>
            </a:prstGeom>
            <a:solidFill>
              <a:srgbClr val="D9DFEA"/>
            </a:solidFill>
            <a:ln>
              <a:noFill/>
            </a:ln>
          </p:spPr>
        </p:sp>
        <p:sp>
          <p:nvSpPr>
            <p:cNvPr id="61" name="Rectangle 61"/>
            <p:cNvSpPr/>
            <p:nvPr/>
          </p:nvSpPr>
          <p:spPr>
            <a:xfrm>
              <a:off x="6248400" y="2830830"/>
              <a:ext cx="5410200" cy="444818"/>
            </a:xfrm>
            <a:prstGeom prst="rect">
              <a:avLst/>
            </a:prstGeom>
            <a:solidFill>
              <a:srgbClr val="F4F6FB"/>
            </a:solidFill>
            <a:ln>
              <a:noFill/>
            </a:ln>
          </p:spPr>
        </p:sp>
        <p:sp>
          <p:nvSpPr>
            <p:cNvPr id="62" name="TextBox 62"/>
            <p:cNvSpPr txBox="1"/>
            <p:nvPr/>
          </p:nvSpPr>
          <p:spPr>
            <a:xfrm>
              <a:off x="6347270" y="2958465"/>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8</a:t>
              </a:r>
            </a:p>
          </p:txBody>
        </p:sp>
        <p:sp>
          <p:nvSpPr>
            <p:cNvPr id="63" name="TextBox 63"/>
            <p:cNvSpPr txBox="1"/>
            <p:nvPr/>
          </p:nvSpPr>
          <p:spPr>
            <a:xfrm>
              <a:off x="6942582" y="2958465"/>
              <a:ext cx="858622"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'XXXXX1'</a:t>
              </a:r>
            </a:p>
          </p:txBody>
        </p:sp>
        <p:sp>
          <p:nvSpPr>
            <p:cNvPr id="64" name="TextBox 64"/>
            <p:cNvSpPr txBox="1"/>
            <p:nvPr/>
          </p:nvSpPr>
          <p:spPr>
            <a:xfrm>
              <a:off x="8836152" y="2958465"/>
              <a:ext cx="11223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错误——填充错</a:t>
              </a:r>
            </a:p>
          </p:txBody>
        </p:sp>
        <p:sp>
          <p:nvSpPr>
            <p:cNvPr id="65" name="TextBox 65"/>
            <p:cNvSpPr txBox="1"/>
            <p:nvPr/>
          </p:nvSpPr>
          <p:spPr>
            <a:xfrm>
              <a:off x="10675430" y="2958465"/>
              <a:ext cx="3135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(5)</a:t>
              </a:r>
            </a:p>
          </p:txBody>
        </p:sp>
        <p:sp>
          <p:nvSpPr>
            <p:cNvPr id="66" name="Rectangle 66"/>
            <p:cNvSpPr/>
            <p:nvPr/>
          </p:nvSpPr>
          <p:spPr>
            <a:xfrm>
              <a:off x="6248400" y="3270885"/>
              <a:ext cx="5410200" cy="9525"/>
            </a:xfrm>
            <a:prstGeom prst="rect">
              <a:avLst/>
            </a:prstGeom>
            <a:solidFill>
              <a:srgbClr val="D9DFEA"/>
            </a:solidFill>
            <a:ln>
              <a:noFill/>
            </a:ln>
          </p:spPr>
        </p:sp>
        <p:sp>
          <p:nvSpPr>
            <p:cNvPr id="67" name="TextBox 67"/>
            <p:cNvSpPr txBox="1"/>
            <p:nvPr/>
          </p:nvSpPr>
          <p:spPr>
            <a:xfrm>
              <a:off x="6347270" y="3523298"/>
              <a:ext cx="11866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9</a:t>
              </a:r>
            </a:p>
          </p:txBody>
        </p:sp>
        <p:sp>
          <p:nvSpPr>
            <p:cNvPr id="68" name="TextBox 68"/>
            <p:cNvSpPr txBox="1"/>
            <p:nvPr/>
          </p:nvSpPr>
          <p:spPr>
            <a:xfrm>
              <a:off x="6942582" y="3403282"/>
              <a:ext cx="1333881"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数字后夹空格 ' 1</a:t>
              </a:r>
              <a:br/>
              <a:r>
                <a:rPr lang="zh-CN" sz="1350" dirty="0">
                  <a:solidFill>
                    <a:srgbClr val="1F2937"/>
                  </a:solidFill>
                  <a:latin typeface="+mn-lt"/>
                  <a:ea typeface="+mn-ea"/>
                  <a:cs typeface="+mn-cs"/>
                </a:rPr>
                <a:t>2'</a:t>
              </a:r>
            </a:p>
          </p:txBody>
        </p:sp>
        <p:sp>
          <p:nvSpPr>
            <p:cNvPr id="69" name="TextBox 69"/>
            <p:cNvSpPr txBox="1"/>
            <p:nvPr/>
          </p:nvSpPr>
          <p:spPr>
            <a:xfrm>
              <a:off x="8836152" y="3523298"/>
              <a:ext cx="13040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错误——无效输入</a:t>
              </a:r>
            </a:p>
          </p:txBody>
        </p:sp>
        <p:sp>
          <p:nvSpPr>
            <p:cNvPr id="70" name="TextBox 70"/>
            <p:cNvSpPr txBox="1"/>
            <p:nvPr/>
          </p:nvSpPr>
          <p:spPr>
            <a:xfrm>
              <a:off x="10675430" y="3523298"/>
              <a:ext cx="3135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(6)</a:t>
              </a:r>
            </a:p>
          </p:txBody>
        </p:sp>
        <p:sp>
          <p:nvSpPr>
            <p:cNvPr id="71" name="Rectangle 71"/>
            <p:cNvSpPr/>
            <p:nvPr/>
          </p:nvSpPr>
          <p:spPr>
            <a:xfrm>
              <a:off x="6248400" y="3955732"/>
              <a:ext cx="5410200" cy="9525"/>
            </a:xfrm>
            <a:prstGeom prst="rect">
              <a:avLst/>
            </a:prstGeom>
            <a:solidFill>
              <a:srgbClr val="D9DFEA"/>
            </a:solidFill>
            <a:ln>
              <a:noFill/>
            </a:ln>
          </p:spPr>
        </p:sp>
        <p:sp>
          <p:nvSpPr>
            <p:cNvPr id="72" name="Rectangle 72"/>
            <p:cNvSpPr/>
            <p:nvPr/>
          </p:nvSpPr>
          <p:spPr>
            <a:xfrm>
              <a:off x="6248400" y="3960495"/>
              <a:ext cx="5410200" cy="684848"/>
            </a:xfrm>
            <a:prstGeom prst="rect">
              <a:avLst/>
            </a:prstGeom>
            <a:solidFill>
              <a:srgbClr val="F4F6FB"/>
            </a:solidFill>
            <a:ln>
              <a:noFill/>
            </a:ln>
          </p:spPr>
        </p:sp>
        <p:sp>
          <p:nvSpPr>
            <p:cNvPr id="73" name="TextBox 73"/>
            <p:cNvSpPr txBox="1"/>
            <p:nvPr/>
          </p:nvSpPr>
          <p:spPr>
            <a:xfrm>
              <a:off x="6347270" y="4208145"/>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10</a:t>
              </a:r>
            </a:p>
          </p:txBody>
        </p:sp>
        <p:sp>
          <p:nvSpPr>
            <p:cNvPr id="74" name="TextBox 74"/>
            <p:cNvSpPr txBox="1"/>
            <p:nvPr/>
          </p:nvSpPr>
          <p:spPr>
            <a:xfrm>
              <a:off x="6942582" y="4088130"/>
              <a:ext cx="1188148"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数字后夹字符 '</a:t>
              </a:r>
              <a:br/>
              <a:r>
                <a:rPr lang="en-US" sz="1350" dirty="0">
                  <a:solidFill>
                    <a:srgbClr val="1F2937"/>
                  </a:solidFill>
                  <a:latin typeface="+mn-lt"/>
                  <a:ea typeface="+mn-ea"/>
                  <a:cs typeface="+mn-cs"/>
                </a:rPr>
                <a:t>1XX2'</a:t>
              </a:r>
            </a:p>
          </p:txBody>
        </p:sp>
        <p:sp>
          <p:nvSpPr>
            <p:cNvPr id="75" name="TextBox 75"/>
            <p:cNvSpPr txBox="1"/>
            <p:nvPr/>
          </p:nvSpPr>
          <p:spPr>
            <a:xfrm>
              <a:off x="8836152" y="4208145"/>
              <a:ext cx="13040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错误——无效输入</a:t>
              </a:r>
            </a:p>
          </p:txBody>
        </p:sp>
        <p:sp>
          <p:nvSpPr>
            <p:cNvPr id="76" name="TextBox 76"/>
            <p:cNvSpPr txBox="1"/>
            <p:nvPr/>
          </p:nvSpPr>
          <p:spPr>
            <a:xfrm>
              <a:off x="10675430" y="4208145"/>
              <a:ext cx="3135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(7)</a:t>
              </a:r>
            </a:p>
          </p:txBody>
        </p:sp>
        <p:sp>
          <p:nvSpPr>
            <p:cNvPr id="77" name="Rectangle 77"/>
            <p:cNvSpPr/>
            <p:nvPr/>
          </p:nvSpPr>
          <p:spPr>
            <a:xfrm>
              <a:off x="6248400" y="4639628"/>
              <a:ext cx="5410200" cy="9525"/>
            </a:xfrm>
            <a:prstGeom prst="rect">
              <a:avLst/>
            </a:prstGeom>
            <a:solidFill>
              <a:srgbClr val="D9DFEA"/>
            </a:solidFill>
            <a:ln>
              <a:noFill/>
            </a:ln>
          </p:spPr>
        </p:sp>
        <p:sp>
          <p:nvSpPr>
            <p:cNvPr id="78" name="TextBox 78"/>
            <p:cNvSpPr txBox="1"/>
            <p:nvPr/>
          </p:nvSpPr>
          <p:spPr>
            <a:xfrm>
              <a:off x="6347270" y="4892992"/>
              <a:ext cx="22362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11</a:t>
              </a:r>
            </a:p>
          </p:txBody>
        </p:sp>
        <p:sp>
          <p:nvSpPr>
            <p:cNvPr id="79" name="TextBox 79"/>
            <p:cNvSpPr txBox="1"/>
            <p:nvPr/>
          </p:nvSpPr>
          <p:spPr>
            <a:xfrm>
              <a:off x="6942582" y="4772978"/>
              <a:ext cx="1282446"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负号后有空格 '-</a:t>
              </a:r>
              <a:br/>
              <a:r>
                <a:rPr lang="zh-CN" sz="1350" dirty="0">
                  <a:solidFill>
                    <a:srgbClr val="1F2937"/>
                  </a:solidFill>
                  <a:latin typeface="+mn-lt"/>
                  <a:ea typeface="+mn-ea"/>
                  <a:cs typeface="+mn-cs"/>
                </a:rPr>
                <a:t>12'</a:t>
              </a:r>
            </a:p>
          </p:txBody>
        </p:sp>
        <p:sp>
          <p:nvSpPr>
            <p:cNvPr id="80" name="TextBox 80"/>
            <p:cNvSpPr txBox="1"/>
            <p:nvPr/>
          </p:nvSpPr>
          <p:spPr>
            <a:xfrm>
              <a:off x="8836152" y="4892992"/>
              <a:ext cx="14857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错误——负号位置错</a:t>
              </a:r>
            </a:p>
          </p:txBody>
        </p:sp>
        <p:sp>
          <p:nvSpPr>
            <p:cNvPr id="81" name="TextBox 81"/>
            <p:cNvSpPr txBox="1"/>
            <p:nvPr/>
          </p:nvSpPr>
          <p:spPr>
            <a:xfrm>
              <a:off x="10675430" y="4892992"/>
              <a:ext cx="3135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(8)</a:t>
              </a:r>
            </a:p>
          </p:txBody>
        </p:sp>
        <p:sp>
          <p:nvSpPr>
            <p:cNvPr id="82" name="Rectangle 82"/>
            <p:cNvSpPr/>
            <p:nvPr/>
          </p:nvSpPr>
          <p:spPr>
            <a:xfrm>
              <a:off x="6248400" y="1941195"/>
              <a:ext cx="5410200" cy="3388042"/>
            </a:xfrm>
            <a:prstGeom prst="rect">
              <a:avLst/>
            </a:prstGeom>
            <a:noFill/>
            <a:ln w="14288">
              <a:solidFill>
                <a:srgbClr val="D9DFEA"/>
              </a:solidFill>
            </a:ln>
          </p:spPr>
        </p:sp>
        <p:sp>
          <p:nvSpPr>
            <p:cNvPr id="83" name="Rectangle 83"/>
            <p:cNvSpPr/>
            <p:nvPr/>
          </p:nvSpPr>
          <p:spPr>
            <a:xfrm>
              <a:off x="6838950" y="1941195"/>
              <a:ext cx="9525" cy="3388042"/>
            </a:xfrm>
            <a:prstGeom prst="rect">
              <a:avLst/>
            </a:prstGeom>
            <a:solidFill>
              <a:srgbClr val="D9DFEA"/>
            </a:solidFill>
            <a:ln>
              <a:noFill/>
            </a:ln>
          </p:spPr>
        </p:sp>
        <p:sp>
          <p:nvSpPr>
            <p:cNvPr id="84" name="Rectangle 84"/>
            <p:cNvSpPr/>
            <p:nvPr/>
          </p:nvSpPr>
          <p:spPr>
            <a:xfrm>
              <a:off x="8732520" y="1941195"/>
              <a:ext cx="9525" cy="3388042"/>
            </a:xfrm>
            <a:prstGeom prst="rect">
              <a:avLst/>
            </a:prstGeom>
            <a:solidFill>
              <a:srgbClr val="D9DFEA"/>
            </a:solidFill>
            <a:ln>
              <a:noFill/>
            </a:ln>
          </p:spPr>
        </p:sp>
        <p:sp>
          <p:nvSpPr>
            <p:cNvPr id="85" name="Rectangle 85"/>
            <p:cNvSpPr/>
            <p:nvPr/>
          </p:nvSpPr>
          <p:spPr>
            <a:xfrm>
              <a:off x="10571798" y="1941195"/>
              <a:ext cx="9525" cy="3388042"/>
            </a:xfrm>
            <a:prstGeom prst="rect">
              <a:avLst/>
            </a:prstGeom>
            <a:solidFill>
              <a:srgbClr val="D9DFEA"/>
            </a:solidFill>
            <a:ln>
              <a:noFill/>
            </a:ln>
          </p:spPr>
        </p:sp>
      </p:grpSp>
      <p:grpSp>
        <p:nvGrpSpPr>
          <p:cNvPr id="93" name="takeaway"/>
          <p:cNvGrpSpPr/>
          <p:nvPr/>
        </p:nvGrpSpPr>
        <p:grpSpPr>
          <a:xfrm>
            <a:off x="533400" y="5874068"/>
            <a:ext cx="11125200" cy="488632"/>
            <a:chOff x="533400" y="5874068"/>
            <a:chExt cx="11125200" cy="488632"/>
          </a:xfrm>
        </p:grpSpPr>
        <p:sp>
          <p:nvSpPr>
            <p:cNvPr id="87" name="Rectangle 87"/>
            <p:cNvSpPr/>
            <p:nvPr/>
          </p:nvSpPr>
          <p:spPr>
            <a:xfrm>
              <a:off x="533400" y="5874068"/>
              <a:ext cx="11125200" cy="488632"/>
            </a:xfrm>
            <a:prstGeom prst="roundRect">
              <a:avLst>
                <a:gd name="adj" fmla="val 23392"/>
              </a:avLst>
            </a:prstGeom>
            <a:solidFill>
              <a:srgbClr val="F4F6FB"/>
            </a:solidFill>
            <a:ln>
              <a:noFill/>
            </a:ln>
          </p:spPr>
        </p:sp>
        <p:grpSp>
          <p:nvGrpSpPr>
            <p:cNvPr id="91" name="Group 91"/>
            <p:cNvGrpSpPr/>
            <p:nvPr/>
          </p:nvGrpSpPr>
          <p:grpSpPr>
            <a:xfrm>
              <a:off x="738188" y="6017895"/>
              <a:ext cx="200026" cy="200026"/>
              <a:chOff x="738188" y="6017895"/>
              <a:chExt cx="200026" cy="200026"/>
            </a:xfrm>
          </p:grpSpPr>
          <p:sp>
            <p:nvSpPr>
              <p:cNvPr id="88" name="Freeform 88"/>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89" name="Freeform 89"/>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90" name="Freeform 90"/>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92" name="TextBox 92"/>
            <p:cNvSpPr txBox="1"/>
            <p:nvPr/>
          </p:nvSpPr>
          <p:spPr>
            <a:xfrm>
              <a:off x="1040892" y="6023610"/>
              <a:ext cx="912782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方案 1 到 4 每条合并了多个有效等价类；方案 5 到 11 每条只覆盖一个无效等价类，避免两个非法情形互相掩盖。</a:t>
              </a:r>
            </a:p>
          </p:txBody>
        </p:sp>
      </p:grpSp>
      <p:grpSp>
        <p:nvGrpSpPr>
          <p:cNvPr id="96" name="footer"/>
          <p:cNvGrpSpPr/>
          <p:nvPr/>
        </p:nvGrpSpPr>
        <p:grpSpPr>
          <a:xfrm>
            <a:off x="528447" y="6581299"/>
            <a:ext cx="11135106" cy="190690"/>
            <a:chOff x="528447" y="6581299"/>
            <a:chExt cx="11135106" cy="190690"/>
          </a:xfrm>
        </p:grpSpPr>
        <p:sp>
          <p:nvSpPr>
            <p:cNvPr id="94" name="TextBox 9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95" name="TextBox 9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92185" cy="909257"/>
            <a:chOff x="520446" y="342900"/>
            <a:chExt cx="6092185"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黑盒测试技术</a:t>
              </a:r>
            </a:p>
          </p:txBody>
        </p:sp>
        <p:sp>
          <p:nvSpPr>
            <p:cNvPr id="4" name="TextBox 4"/>
            <p:cNvSpPr txBox="1"/>
            <p:nvPr/>
          </p:nvSpPr>
          <p:spPr>
            <a:xfrm>
              <a:off x="520446" y="753428"/>
              <a:ext cx="60921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 2：PASCAL 标识符的 15 个等价类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0620883" cy="597598"/>
            <a:chOff x="525399" y="1550194"/>
            <a:chExt cx="10620883" cy="597598"/>
          </a:xfrm>
        </p:grpSpPr>
        <p:sp>
          <p:nvSpPr>
            <p:cNvPr id="7" name="TextBox 7"/>
            <p:cNvSpPr txBox="1"/>
            <p:nvPr/>
          </p:nvSpPr>
          <p:spPr>
            <a:xfrm>
              <a:off x="525399" y="1550194"/>
              <a:ext cx="10620883" cy="597598"/>
            </a:xfrm>
            <a:prstGeom prst="rect">
              <a:avLst/>
            </a:prstGeom>
            <a:noFill/>
            <a:ln>
              <a:noFill/>
            </a:ln>
          </p:spPr>
          <p:txBody>
            <a:bodyPr wrap="none" lIns="0" tIns="0" rIns="0" bIns="0" anchor="t" anchorCtr="0">
              <a:spAutoFit/>
            </a:bodyPr>
            <a:lstStyle/>
            <a:p>
              <a:pPr algn="l">
                <a:lnSpc>
                  <a:spcPts val="2280"/>
                </a:lnSpc>
              </a:pPr>
              <a:r>
                <a:rPr lang="zh-CN" sz="1580" dirty="0">
                  <a:solidFill>
                    <a:srgbClr val="5B6475"/>
                  </a:solidFill>
                  <a:latin typeface="+mn-lt"/>
                  <a:ea typeface="+mn-ea"/>
                  <a:cs typeface="+mn-cs"/>
                </a:rPr>
                <a:t>规定：标识符由字母开头，后跟字母或数字的任意组合；有效字符数 8 个，最大字符数 80 个；必须先说明再使用；同一</a:t>
              </a:r>
              <a:br/>
              <a:r>
                <a:rPr lang="zh-CN" sz="1580" dirty="0">
                  <a:solidFill>
                    <a:srgbClr val="5B6475"/>
                  </a:solidFill>
                  <a:latin typeface="+mn-lt"/>
                  <a:ea typeface="+mn-ea"/>
                  <a:cs typeface="+mn-cs"/>
                </a:rPr>
                <a:t>说明语句中至少有一个标识符。</a:t>
              </a:r>
            </a:p>
          </p:txBody>
        </p:sp>
      </p:grpSp>
      <p:grpSp>
        <p:nvGrpSpPr>
          <p:cNvPr id="37" name="c1-table-1"/>
          <p:cNvGrpSpPr/>
          <p:nvPr/>
        </p:nvGrpSpPr>
        <p:grpSpPr>
          <a:xfrm>
            <a:off x="533400" y="2257425"/>
            <a:ext cx="6492240" cy="3726180"/>
            <a:chOff x="533400" y="2257425"/>
            <a:chExt cx="6492240" cy="3726180"/>
          </a:xfrm>
        </p:grpSpPr>
        <p:sp>
          <p:nvSpPr>
            <p:cNvPr id="9" name="Rectangle 9"/>
            <p:cNvSpPr/>
            <p:nvPr/>
          </p:nvSpPr>
          <p:spPr>
            <a:xfrm>
              <a:off x="533400" y="2257425"/>
              <a:ext cx="6492240" cy="487680"/>
            </a:xfrm>
            <a:prstGeom prst="rect">
              <a:avLst/>
            </a:prstGeom>
            <a:solidFill>
              <a:srgbClr val="334E68"/>
            </a:solidFill>
            <a:ln>
              <a:noFill/>
            </a:ln>
          </p:spPr>
        </p:sp>
        <p:sp>
          <p:nvSpPr>
            <p:cNvPr id="10" name="TextBox 10"/>
            <p:cNvSpPr txBox="1"/>
            <p:nvPr/>
          </p:nvSpPr>
          <p:spPr>
            <a:xfrm>
              <a:off x="901065" y="2396490"/>
              <a:ext cx="82296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输入条件</a:t>
              </a:r>
            </a:p>
          </p:txBody>
        </p:sp>
        <p:sp>
          <p:nvSpPr>
            <p:cNvPr id="11" name="TextBox 11"/>
            <p:cNvSpPr txBox="1"/>
            <p:nvPr/>
          </p:nvSpPr>
          <p:spPr>
            <a:xfrm>
              <a:off x="2552700" y="2396490"/>
              <a:ext cx="102489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有效等价类</a:t>
              </a:r>
            </a:p>
          </p:txBody>
        </p:sp>
        <p:sp>
          <p:nvSpPr>
            <p:cNvPr id="12" name="TextBox 12"/>
            <p:cNvSpPr txBox="1"/>
            <p:nvPr/>
          </p:nvSpPr>
          <p:spPr>
            <a:xfrm>
              <a:off x="5019675" y="2396490"/>
              <a:ext cx="1024890"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mn-lt"/>
                  <a:ea typeface="+mn-ea"/>
                  <a:cs typeface="+mn-cs"/>
                </a:rPr>
                <a:t>无效等价类</a:t>
              </a:r>
            </a:p>
          </p:txBody>
        </p:sp>
        <p:sp>
          <p:nvSpPr>
            <p:cNvPr id="13" name="TextBox 13"/>
            <p:cNvSpPr txBox="1"/>
            <p:nvPr/>
          </p:nvSpPr>
          <p:spPr>
            <a:xfrm>
              <a:off x="640080" y="3017520"/>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标识符个数</a:t>
              </a:r>
            </a:p>
          </p:txBody>
        </p:sp>
        <p:sp>
          <p:nvSpPr>
            <p:cNvPr id="14" name="TextBox 14"/>
            <p:cNvSpPr txBox="1"/>
            <p:nvPr/>
          </p:nvSpPr>
          <p:spPr>
            <a:xfrm>
              <a:off x="2198370" y="2884170"/>
              <a:ext cx="131064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1 个 (1)，多个</a:t>
              </a:r>
              <a:br/>
              <a:r>
                <a:rPr lang="zh-CN" sz="1500" dirty="0">
                  <a:solidFill>
                    <a:srgbClr val="1F2937"/>
                  </a:solidFill>
                  <a:latin typeface="+mn-lt"/>
                  <a:ea typeface="+mn-ea"/>
                  <a:cs typeface="+mn-cs"/>
                </a:rPr>
                <a:t>(2)</a:t>
              </a:r>
            </a:p>
          </p:txBody>
        </p:sp>
        <p:sp>
          <p:nvSpPr>
            <p:cNvPr id="15" name="TextBox 15"/>
            <p:cNvSpPr txBox="1"/>
            <p:nvPr/>
          </p:nvSpPr>
          <p:spPr>
            <a:xfrm>
              <a:off x="4146232" y="3017520"/>
              <a:ext cx="78257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0 个 (3)</a:t>
              </a:r>
            </a:p>
          </p:txBody>
        </p:sp>
        <p:sp>
          <p:nvSpPr>
            <p:cNvPr id="16" name="Rectangle 16"/>
            <p:cNvSpPr/>
            <p:nvPr/>
          </p:nvSpPr>
          <p:spPr>
            <a:xfrm>
              <a:off x="533400" y="3494722"/>
              <a:ext cx="6492240" cy="9525"/>
            </a:xfrm>
            <a:prstGeom prst="rect">
              <a:avLst/>
            </a:prstGeom>
            <a:solidFill>
              <a:srgbClr val="D9DFEA"/>
            </a:solidFill>
            <a:ln>
              <a:noFill/>
            </a:ln>
          </p:spPr>
        </p:sp>
        <p:sp>
          <p:nvSpPr>
            <p:cNvPr id="17" name="Rectangle 17"/>
            <p:cNvSpPr/>
            <p:nvPr/>
          </p:nvSpPr>
          <p:spPr>
            <a:xfrm>
              <a:off x="533400" y="3499485"/>
              <a:ext cx="6492240" cy="754380"/>
            </a:xfrm>
            <a:prstGeom prst="rect">
              <a:avLst/>
            </a:prstGeom>
            <a:solidFill>
              <a:srgbClr val="F4F6FB"/>
            </a:solidFill>
            <a:ln>
              <a:noFill/>
            </a:ln>
          </p:spPr>
        </p:sp>
        <p:sp>
          <p:nvSpPr>
            <p:cNvPr id="18" name="TextBox 18"/>
            <p:cNvSpPr txBox="1"/>
            <p:nvPr/>
          </p:nvSpPr>
          <p:spPr>
            <a:xfrm>
              <a:off x="640080" y="3771900"/>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标识符字符数</a:t>
              </a:r>
            </a:p>
          </p:txBody>
        </p:sp>
        <p:sp>
          <p:nvSpPr>
            <p:cNvPr id="19" name="TextBox 19"/>
            <p:cNvSpPr txBox="1"/>
            <p:nvPr/>
          </p:nvSpPr>
          <p:spPr>
            <a:xfrm>
              <a:off x="2198370" y="3771900"/>
              <a:ext cx="100469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1~8 个 (4)</a:t>
              </a:r>
            </a:p>
          </p:txBody>
        </p:sp>
        <p:sp>
          <p:nvSpPr>
            <p:cNvPr id="20" name="TextBox 20"/>
            <p:cNvSpPr txBox="1"/>
            <p:nvPr/>
          </p:nvSpPr>
          <p:spPr>
            <a:xfrm>
              <a:off x="4146232" y="3638550"/>
              <a:ext cx="247269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0 个 (5)，多于 8 个 (6)，多</a:t>
              </a:r>
              <a:br/>
              <a:r>
                <a:rPr lang="zh-CN" sz="1500" dirty="0">
                  <a:solidFill>
                    <a:srgbClr val="1F2937"/>
                  </a:solidFill>
                  <a:latin typeface="+mn-lt"/>
                  <a:ea typeface="+mn-ea"/>
                  <a:cs typeface="+mn-cs"/>
                </a:rPr>
                <a:t>于 80 个 (7)</a:t>
              </a:r>
            </a:p>
          </p:txBody>
        </p:sp>
        <p:sp>
          <p:nvSpPr>
            <p:cNvPr id="21" name="Rectangle 21"/>
            <p:cNvSpPr/>
            <p:nvPr/>
          </p:nvSpPr>
          <p:spPr>
            <a:xfrm>
              <a:off x="533400" y="4249102"/>
              <a:ext cx="6492240" cy="9525"/>
            </a:xfrm>
            <a:prstGeom prst="rect">
              <a:avLst/>
            </a:prstGeom>
            <a:solidFill>
              <a:srgbClr val="D9DFEA"/>
            </a:solidFill>
            <a:ln>
              <a:noFill/>
            </a:ln>
          </p:spPr>
        </p:sp>
        <p:sp>
          <p:nvSpPr>
            <p:cNvPr id="22" name="TextBox 22"/>
            <p:cNvSpPr txBox="1"/>
            <p:nvPr/>
          </p:nvSpPr>
          <p:spPr>
            <a:xfrm>
              <a:off x="640080" y="4526280"/>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标识符组成</a:t>
              </a:r>
            </a:p>
          </p:txBody>
        </p:sp>
        <p:sp>
          <p:nvSpPr>
            <p:cNvPr id="23" name="TextBox 23"/>
            <p:cNvSpPr txBox="1"/>
            <p:nvPr/>
          </p:nvSpPr>
          <p:spPr>
            <a:xfrm>
              <a:off x="2198370" y="4392930"/>
              <a:ext cx="1339215"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字母 (8)，数字</a:t>
              </a:r>
              <a:br/>
              <a:r>
                <a:rPr lang="zh-CN" sz="1500" dirty="0">
                  <a:solidFill>
                    <a:srgbClr val="1F2937"/>
                  </a:solidFill>
                  <a:latin typeface="+mn-lt"/>
                  <a:ea typeface="+mn-ea"/>
                  <a:cs typeface="+mn-cs"/>
                </a:rPr>
                <a:t>(9)</a:t>
              </a:r>
            </a:p>
          </p:txBody>
        </p:sp>
        <p:sp>
          <p:nvSpPr>
            <p:cNvPr id="24" name="TextBox 24"/>
            <p:cNvSpPr txBox="1"/>
            <p:nvPr/>
          </p:nvSpPr>
          <p:spPr>
            <a:xfrm>
              <a:off x="4146232" y="4392930"/>
              <a:ext cx="2586990" cy="560070"/>
            </a:xfrm>
            <a:prstGeom prst="rect">
              <a:avLst/>
            </a:prstGeom>
            <a:noFill/>
            <a:ln>
              <a:noFill/>
            </a:ln>
          </p:spPr>
          <p:txBody>
            <a:bodyPr wrap="none" lIns="0" tIns="0" rIns="0" bIns="0" anchor="t" anchorCtr="0">
              <a:spAutoFit/>
            </a:bodyPr>
            <a:lstStyle/>
            <a:p>
              <a:pPr algn="l">
                <a:lnSpc>
                  <a:spcPts val="2100"/>
                </a:lnSpc>
              </a:pPr>
              <a:r>
                <a:rPr lang="zh-CN" sz="1500" dirty="0">
                  <a:solidFill>
                    <a:srgbClr val="1F2937"/>
                  </a:solidFill>
                  <a:latin typeface="+mn-lt"/>
                  <a:ea typeface="+mn-ea"/>
                  <a:cs typeface="+mn-cs"/>
                </a:rPr>
                <a:t>非字母数字字符 (10)，保留字</a:t>
              </a:r>
              <a:br/>
              <a:r>
                <a:rPr lang="zh-CN" sz="1500" dirty="0">
                  <a:solidFill>
                    <a:srgbClr val="1F2937"/>
                  </a:solidFill>
                  <a:latin typeface="+mn-lt"/>
                  <a:ea typeface="+mn-ea"/>
                  <a:cs typeface="+mn-cs"/>
                </a:rPr>
                <a:t>(11)</a:t>
              </a:r>
            </a:p>
          </p:txBody>
        </p:sp>
        <p:sp>
          <p:nvSpPr>
            <p:cNvPr id="25" name="Rectangle 25"/>
            <p:cNvSpPr/>
            <p:nvPr/>
          </p:nvSpPr>
          <p:spPr>
            <a:xfrm>
              <a:off x="533400" y="5003482"/>
              <a:ext cx="6492240" cy="9525"/>
            </a:xfrm>
            <a:prstGeom prst="rect">
              <a:avLst/>
            </a:prstGeom>
            <a:solidFill>
              <a:srgbClr val="D9DFEA"/>
            </a:solidFill>
            <a:ln>
              <a:noFill/>
            </a:ln>
          </p:spPr>
        </p:sp>
        <p:sp>
          <p:nvSpPr>
            <p:cNvPr id="26" name="Rectangle 26"/>
            <p:cNvSpPr/>
            <p:nvPr/>
          </p:nvSpPr>
          <p:spPr>
            <a:xfrm>
              <a:off x="533400" y="5008245"/>
              <a:ext cx="6492240" cy="487680"/>
            </a:xfrm>
            <a:prstGeom prst="rect">
              <a:avLst/>
            </a:prstGeom>
            <a:solidFill>
              <a:srgbClr val="F4F6FB"/>
            </a:solidFill>
            <a:ln>
              <a:noFill/>
            </a:ln>
          </p:spPr>
        </p:sp>
        <p:sp>
          <p:nvSpPr>
            <p:cNvPr id="27" name="TextBox 27"/>
            <p:cNvSpPr txBox="1"/>
            <p:nvPr/>
          </p:nvSpPr>
          <p:spPr>
            <a:xfrm>
              <a:off x="640080" y="5147310"/>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第一个字符</a:t>
              </a:r>
            </a:p>
          </p:txBody>
        </p:sp>
        <p:sp>
          <p:nvSpPr>
            <p:cNvPr id="28" name="TextBox 28"/>
            <p:cNvSpPr txBox="1"/>
            <p:nvPr/>
          </p:nvSpPr>
          <p:spPr>
            <a:xfrm>
              <a:off x="2198370" y="5147310"/>
              <a:ext cx="923925"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字母 (12)</a:t>
              </a:r>
            </a:p>
          </p:txBody>
        </p:sp>
        <p:sp>
          <p:nvSpPr>
            <p:cNvPr id="29" name="TextBox 29"/>
            <p:cNvSpPr txBox="1"/>
            <p:nvPr/>
          </p:nvSpPr>
          <p:spPr>
            <a:xfrm>
              <a:off x="4146232" y="5147310"/>
              <a:ext cx="1125855"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非字母 (13)</a:t>
              </a:r>
            </a:p>
          </p:txBody>
        </p:sp>
        <p:sp>
          <p:nvSpPr>
            <p:cNvPr id="30" name="Rectangle 30"/>
            <p:cNvSpPr/>
            <p:nvPr/>
          </p:nvSpPr>
          <p:spPr>
            <a:xfrm>
              <a:off x="533400" y="5491162"/>
              <a:ext cx="6492240" cy="9525"/>
            </a:xfrm>
            <a:prstGeom prst="rect">
              <a:avLst/>
            </a:prstGeom>
            <a:solidFill>
              <a:srgbClr val="D9DFEA"/>
            </a:solidFill>
            <a:ln>
              <a:noFill/>
            </a:ln>
          </p:spPr>
        </p:sp>
        <p:sp>
          <p:nvSpPr>
            <p:cNvPr id="31" name="TextBox 31"/>
            <p:cNvSpPr txBox="1"/>
            <p:nvPr/>
          </p:nvSpPr>
          <p:spPr>
            <a:xfrm>
              <a:off x="640080" y="5634990"/>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标识符使用</a:t>
              </a:r>
            </a:p>
          </p:txBody>
        </p:sp>
        <p:sp>
          <p:nvSpPr>
            <p:cNvPr id="32" name="TextBox 32"/>
            <p:cNvSpPr txBox="1"/>
            <p:nvPr/>
          </p:nvSpPr>
          <p:spPr>
            <a:xfrm>
              <a:off x="2198370" y="5634990"/>
              <a:ext cx="1731645"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先说明后使用 (14)</a:t>
              </a:r>
            </a:p>
          </p:txBody>
        </p:sp>
        <p:sp>
          <p:nvSpPr>
            <p:cNvPr id="33" name="TextBox 33"/>
            <p:cNvSpPr txBox="1"/>
            <p:nvPr/>
          </p:nvSpPr>
          <p:spPr>
            <a:xfrm>
              <a:off x="4146232" y="5634990"/>
              <a:ext cx="1731645"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未说明已使用 (15)</a:t>
              </a:r>
            </a:p>
          </p:txBody>
        </p:sp>
        <p:sp>
          <p:nvSpPr>
            <p:cNvPr id="34" name="Rectangle 34"/>
            <p:cNvSpPr/>
            <p:nvPr/>
          </p:nvSpPr>
          <p:spPr>
            <a:xfrm>
              <a:off x="533400" y="2257425"/>
              <a:ext cx="6492240" cy="3726180"/>
            </a:xfrm>
            <a:prstGeom prst="rect">
              <a:avLst/>
            </a:prstGeom>
            <a:noFill/>
            <a:ln w="14288">
              <a:solidFill>
                <a:srgbClr val="D9DFEA"/>
              </a:solidFill>
            </a:ln>
          </p:spPr>
        </p:sp>
        <p:sp>
          <p:nvSpPr>
            <p:cNvPr id="35" name="Rectangle 35"/>
            <p:cNvSpPr/>
            <p:nvPr/>
          </p:nvSpPr>
          <p:spPr>
            <a:xfrm>
              <a:off x="2086928" y="2257425"/>
              <a:ext cx="9525" cy="3726180"/>
            </a:xfrm>
            <a:prstGeom prst="rect">
              <a:avLst/>
            </a:prstGeom>
            <a:solidFill>
              <a:srgbClr val="D9DFEA"/>
            </a:solidFill>
            <a:ln>
              <a:noFill/>
            </a:ln>
          </p:spPr>
        </p:sp>
        <p:sp>
          <p:nvSpPr>
            <p:cNvPr id="36" name="Rectangle 36"/>
            <p:cNvSpPr/>
            <p:nvPr/>
          </p:nvSpPr>
          <p:spPr>
            <a:xfrm>
              <a:off x="4034790" y="2257425"/>
              <a:ext cx="9525" cy="3726180"/>
            </a:xfrm>
            <a:prstGeom prst="rect">
              <a:avLst/>
            </a:prstGeom>
            <a:solidFill>
              <a:srgbClr val="D9DFEA"/>
            </a:solidFill>
            <a:ln>
              <a:noFill/>
            </a:ln>
          </p:spPr>
        </p:sp>
      </p:grpSp>
      <p:grpSp>
        <p:nvGrpSpPr>
          <p:cNvPr id="49" name="c2-kv-1"/>
          <p:cNvGrpSpPr/>
          <p:nvPr/>
        </p:nvGrpSpPr>
        <p:grpSpPr>
          <a:xfrm>
            <a:off x="7322820" y="2282190"/>
            <a:ext cx="4335780" cy="2741295"/>
            <a:chOff x="7322820" y="2282190"/>
            <a:chExt cx="4335780" cy="2741295"/>
          </a:xfrm>
        </p:grpSpPr>
        <p:sp>
          <p:nvSpPr>
            <p:cNvPr id="38" name="TextBox 38"/>
            <p:cNvSpPr txBox="1"/>
            <p:nvPr/>
          </p:nvSpPr>
          <p:spPr>
            <a:xfrm>
              <a:off x="7322820" y="2282190"/>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标识符个数</a:t>
              </a:r>
            </a:p>
          </p:txBody>
        </p:sp>
        <p:sp>
          <p:nvSpPr>
            <p:cNvPr id="39" name="TextBox 39"/>
            <p:cNvSpPr txBox="1"/>
            <p:nvPr/>
          </p:nvSpPr>
          <p:spPr>
            <a:xfrm>
              <a:off x="8761095" y="2282190"/>
              <a:ext cx="26822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规定了值的个数，一个有效类加</a:t>
              </a:r>
              <a:br/>
              <a:r>
                <a:rPr lang="zh-CN" sz="1500" dirty="0">
                  <a:solidFill>
                    <a:srgbClr val="1F2937"/>
                  </a:solidFill>
                  <a:latin typeface="+mn-lt"/>
                  <a:ea typeface="+mn-ea"/>
                  <a:cs typeface="+mn-cs"/>
                </a:rPr>
                <a:t>无效类</a:t>
              </a:r>
            </a:p>
          </p:txBody>
        </p:sp>
        <p:sp>
          <p:nvSpPr>
            <p:cNvPr id="40" name="Rectangle 40"/>
            <p:cNvSpPr/>
            <p:nvPr/>
          </p:nvSpPr>
          <p:spPr>
            <a:xfrm>
              <a:off x="7330440" y="2884170"/>
              <a:ext cx="4328160" cy="9525"/>
            </a:xfrm>
            <a:prstGeom prst="rect">
              <a:avLst/>
            </a:prstGeom>
            <a:solidFill>
              <a:srgbClr val="D9DFEA"/>
            </a:solidFill>
            <a:ln>
              <a:noFill/>
            </a:ln>
          </p:spPr>
        </p:sp>
        <p:sp>
          <p:nvSpPr>
            <p:cNvPr id="41" name="TextBox 41"/>
            <p:cNvSpPr txBox="1"/>
            <p:nvPr/>
          </p:nvSpPr>
          <p:spPr>
            <a:xfrm>
              <a:off x="7322820" y="3004185"/>
              <a:ext cx="122682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标识符字符数</a:t>
              </a:r>
            </a:p>
          </p:txBody>
        </p:sp>
        <p:sp>
          <p:nvSpPr>
            <p:cNvPr id="42" name="TextBox 42"/>
            <p:cNvSpPr txBox="1"/>
            <p:nvPr/>
          </p:nvSpPr>
          <p:spPr>
            <a:xfrm>
              <a:off x="8761095" y="3004185"/>
              <a:ext cx="26822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规定了取值范围，越界情形分开</a:t>
              </a:r>
              <a:br/>
              <a:r>
                <a:rPr lang="zh-CN" sz="1500" dirty="0">
                  <a:solidFill>
                    <a:srgbClr val="1F2937"/>
                  </a:solidFill>
                  <a:latin typeface="+mn-lt"/>
                  <a:ea typeface="+mn-ea"/>
                  <a:cs typeface="+mn-cs"/>
                </a:rPr>
                <a:t>列</a:t>
              </a:r>
            </a:p>
          </p:txBody>
        </p:sp>
        <p:sp>
          <p:nvSpPr>
            <p:cNvPr id="43" name="Rectangle 43"/>
            <p:cNvSpPr/>
            <p:nvPr/>
          </p:nvSpPr>
          <p:spPr>
            <a:xfrm>
              <a:off x="7330440" y="3606165"/>
              <a:ext cx="4328160" cy="9525"/>
            </a:xfrm>
            <a:prstGeom prst="rect">
              <a:avLst/>
            </a:prstGeom>
            <a:solidFill>
              <a:srgbClr val="D9DFEA"/>
            </a:solidFill>
            <a:ln>
              <a:noFill/>
            </a:ln>
          </p:spPr>
        </p:sp>
        <p:sp>
          <p:nvSpPr>
            <p:cNvPr id="44" name="TextBox 44"/>
            <p:cNvSpPr txBox="1"/>
            <p:nvPr/>
          </p:nvSpPr>
          <p:spPr>
            <a:xfrm>
              <a:off x="7322820" y="3726180"/>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标识符组成</a:t>
              </a:r>
            </a:p>
          </p:txBody>
        </p:sp>
        <p:sp>
          <p:nvSpPr>
            <p:cNvPr id="45" name="TextBox 45"/>
            <p:cNvSpPr txBox="1"/>
            <p:nvPr/>
          </p:nvSpPr>
          <p:spPr>
            <a:xfrm>
              <a:off x="8761095" y="3726180"/>
              <a:ext cx="26822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规定了必须遵守的规则，从不同</a:t>
              </a:r>
              <a:br/>
              <a:r>
                <a:rPr lang="zh-CN" sz="1500" dirty="0">
                  <a:solidFill>
                    <a:srgbClr val="1F2937"/>
                  </a:solidFill>
                  <a:latin typeface="+mn-lt"/>
                  <a:ea typeface="+mn-ea"/>
                  <a:cs typeface="+mn-cs"/>
                </a:rPr>
                <a:t>角度违反各成一类</a:t>
              </a:r>
            </a:p>
          </p:txBody>
        </p:sp>
        <p:sp>
          <p:nvSpPr>
            <p:cNvPr id="46" name="Rectangle 46"/>
            <p:cNvSpPr/>
            <p:nvPr/>
          </p:nvSpPr>
          <p:spPr>
            <a:xfrm>
              <a:off x="7330440" y="4328160"/>
              <a:ext cx="4328160" cy="9525"/>
            </a:xfrm>
            <a:prstGeom prst="rect">
              <a:avLst/>
            </a:prstGeom>
            <a:solidFill>
              <a:srgbClr val="D9DFEA"/>
            </a:solidFill>
            <a:ln>
              <a:noFill/>
            </a:ln>
          </p:spPr>
        </p:sp>
        <p:sp>
          <p:nvSpPr>
            <p:cNvPr id="47" name="TextBox 47"/>
            <p:cNvSpPr txBox="1"/>
            <p:nvPr/>
          </p:nvSpPr>
          <p:spPr>
            <a:xfrm>
              <a:off x="7322820" y="4448175"/>
              <a:ext cx="102489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标识符使用</a:t>
              </a:r>
            </a:p>
          </p:txBody>
        </p:sp>
        <p:sp>
          <p:nvSpPr>
            <p:cNvPr id="48" name="TextBox 48"/>
            <p:cNvSpPr txBox="1"/>
            <p:nvPr/>
          </p:nvSpPr>
          <p:spPr>
            <a:xfrm>
              <a:off x="8761095" y="4448175"/>
              <a:ext cx="270129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规定了“必须如何”，一个有效类</a:t>
              </a:r>
              <a:br/>
              <a:r>
                <a:rPr lang="zh-CN" sz="1500" dirty="0">
                  <a:solidFill>
                    <a:srgbClr val="1F2937"/>
                  </a:solidFill>
                  <a:latin typeface="+mn-lt"/>
                  <a:ea typeface="+mn-ea"/>
                  <a:cs typeface="+mn-cs"/>
                </a:rPr>
                <a:t>一个无效类</a:t>
              </a:r>
            </a:p>
          </p:txBody>
        </p:sp>
      </p:grpSp>
      <p:grpSp>
        <p:nvGrpSpPr>
          <p:cNvPr id="56" name="c2-callout-2"/>
          <p:cNvGrpSpPr/>
          <p:nvPr/>
        </p:nvGrpSpPr>
        <p:grpSpPr>
          <a:xfrm>
            <a:off x="7330440" y="5154930"/>
            <a:ext cx="4328160" cy="1059180"/>
            <a:chOff x="7330440" y="5154930"/>
            <a:chExt cx="4328160" cy="1059180"/>
          </a:xfrm>
        </p:grpSpPr>
        <p:sp>
          <p:nvSpPr>
            <p:cNvPr id="50" name="Rectangle 50"/>
            <p:cNvSpPr/>
            <p:nvPr/>
          </p:nvSpPr>
          <p:spPr>
            <a:xfrm>
              <a:off x="7330440" y="5154930"/>
              <a:ext cx="4328160" cy="1059180"/>
            </a:xfrm>
            <a:prstGeom prst="roundRect">
              <a:avLst>
                <a:gd name="adj" fmla="val 10791"/>
              </a:avLst>
            </a:prstGeom>
            <a:solidFill>
              <a:srgbClr val="F4F6FB"/>
            </a:solidFill>
            <a:ln>
              <a:noFill/>
            </a:ln>
          </p:spPr>
        </p:sp>
        <p:grpSp>
          <p:nvGrpSpPr>
            <p:cNvPr id="54" name="Group 54"/>
            <p:cNvGrpSpPr/>
            <p:nvPr/>
          </p:nvGrpSpPr>
          <p:grpSpPr>
            <a:xfrm>
              <a:off x="7535228" y="5584508"/>
              <a:ext cx="200026" cy="200026"/>
              <a:chOff x="7535228" y="5584508"/>
              <a:chExt cx="200026" cy="200026"/>
            </a:xfrm>
          </p:grpSpPr>
          <p:sp>
            <p:nvSpPr>
              <p:cNvPr id="51" name="Freeform 51"/>
              <p:cNvSpPr/>
              <p:nvPr/>
            </p:nvSpPr>
            <p:spPr>
              <a:xfrm>
                <a:off x="7535228" y="55845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2" name="Freeform 52"/>
              <p:cNvSpPr/>
              <p:nvPr/>
            </p:nvSpPr>
            <p:spPr>
              <a:xfrm>
                <a:off x="7635240" y="56511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3" name="Freeform 53"/>
              <p:cNvSpPr/>
              <p:nvPr/>
            </p:nvSpPr>
            <p:spPr>
              <a:xfrm>
                <a:off x="7624128" y="56845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5" name="TextBox 55"/>
            <p:cNvSpPr txBox="1"/>
            <p:nvPr/>
          </p:nvSpPr>
          <p:spPr>
            <a:xfrm>
              <a:off x="7837170" y="5303520"/>
              <a:ext cx="34823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保留字 GOTO 由字母组成、也符合首字符</a:t>
              </a:r>
              <a:br/>
              <a:r>
                <a:rPr lang="zh-CN" sz="1500" dirty="0">
                  <a:solidFill>
                    <a:srgbClr val="1F2937"/>
                  </a:solidFill>
                  <a:latin typeface="+mn-lt"/>
                  <a:ea typeface="+mn-ea"/>
                  <a:cs typeface="+mn-cs"/>
                </a:rPr>
                <a:t>规则，却不能作标识符，所以单列成一个</a:t>
              </a:r>
              <a:br/>
              <a:r>
                <a:rPr lang="zh-CN" sz="1500" dirty="0">
                  <a:solidFill>
                    <a:srgbClr val="1F2937"/>
                  </a:solidFill>
                  <a:latin typeface="+mn-lt"/>
                  <a:ea typeface="+mn-ea"/>
                  <a:cs typeface="+mn-cs"/>
                </a:rPr>
                <a:t>无效等价类。</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57355" cy="909257"/>
            <a:chOff x="520446" y="342900"/>
            <a:chExt cx="6057355"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黑盒测试技术</a:t>
              </a:r>
            </a:p>
          </p:txBody>
        </p:sp>
        <p:sp>
          <p:nvSpPr>
            <p:cNvPr id="4" name="TextBox 4"/>
            <p:cNvSpPr txBox="1"/>
            <p:nvPr/>
          </p:nvSpPr>
          <p:spPr>
            <a:xfrm>
              <a:off x="520446" y="753428"/>
              <a:ext cx="605735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 2：9 个用例覆盖全部 15 个等价类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3" name="c1-table-1"/>
          <p:cNvGrpSpPr/>
          <p:nvPr/>
        </p:nvGrpSpPr>
        <p:grpSpPr>
          <a:xfrm>
            <a:off x="533400" y="1524000"/>
            <a:ext cx="6924675" cy="4429125"/>
            <a:chOff x="533400" y="1524000"/>
            <a:chExt cx="6924675" cy="4429125"/>
          </a:xfrm>
        </p:grpSpPr>
        <p:sp>
          <p:nvSpPr>
            <p:cNvPr id="7" name="Rectangle 7"/>
            <p:cNvSpPr/>
            <p:nvPr/>
          </p:nvSpPr>
          <p:spPr>
            <a:xfrm>
              <a:off x="533400" y="1524000"/>
              <a:ext cx="6924675" cy="646748"/>
            </a:xfrm>
            <a:prstGeom prst="rect">
              <a:avLst/>
            </a:prstGeom>
            <a:solidFill>
              <a:srgbClr val="334E68"/>
            </a:solidFill>
            <a:ln>
              <a:noFill/>
            </a:ln>
          </p:spPr>
        </p:sp>
        <p:sp>
          <p:nvSpPr>
            <p:cNvPr id="8" name="TextBox 8"/>
            <p:cNvSpPr txBox="1"/>
            <p:nvPr/>
          </p:nvSpPr>
          <p:spPr>
            <a:xfrm>
              <a:off x="722820" y="1645444"/>
              <a:ext cx="175514" cy="476059"/>
            </a:xfrm>
            <a:prstGeom prst="rect">
              <a:avLst/>
            </a:prstGeom>
            <a:noFill/>
            <a:ln>
              <a:noFill/>
            </a:ln>
          </p:spPr>
          <p:txBody>
            <a:bodyPr wrap="none" lIns="0" tIns="0" rIns="0" bIns="0" anchor="t" anchorCtr="0">
              <a:spAutoFit/>
            </a:bodyPr>
            <a:lstStyle/>
            <a:p>
              <a:pPr algn="ctr">
                <a:lnSpc>
                  <a:spcPts val="1785"/>
                </a:lnSpc>
              </a:pPr>
              <a:r>
                <a:rPr lang="zh-CN" sz="1280" b="1" dirty="0">
                  <a:solidFill>
                    <a:srgbClr val="FFFFFF"/>
                  </a:solidFill>
                  <a:latin typeface="+mn-lt"/>
                  <a:ea typeface="+mn-ea"/>
                  <a:cs typeface="+mn-cs"/>
                </a:rPr>
                <a:t>用</a:t>
              </a:r>
              <a:br/>
              <a:r>
                <a:rPr lang="zh-CN" sz="1280" b="1" dirty="0">
                  <a:solidFill>
                    <a:srgbClr val="FFFFFF"/>
                  </a:solidFill>
                  <a:latin typeface="+mn-lt"/>
                  <a:ea typeface="+mn-ea"/>
                  <a:cs typeface="+mn-cs"/>
                </a:rPr>
                <a:t>例</a:t>
              </a:r>
            </a:p>
          </p:txBody>
        </p:sp>
        <p:sp>
          <p:nvSpPr>
            <p:cNvPr id="9" name="TextBox 9"/>
            <p:cNvSpPr txBox="1"/>
            <p:nvPr/>
          </p:nvSpPr>
          <p:spPr>
            <a:xfrm>
              <a:off x="2606408" y="175879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说明语句</a:t>
              </a:r>
            </a:p>
          </p:txBody>
        </p:sp>
        <p:sp>
          <p:nvSpPr>
            <p:cNvPr id="10" name="TextBox 10"/>
            <p:cNvSpPr txBox="1"/>
            <p:nvPr/>
          </p:nvSpPr>
          <p:spPr>
            <a:xfrm>
              <a:off x="5705412" y="1758791"/>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覆盖等价类</a:t>
              </a:r>
            </a:p>
          </p:txBody>
        </p:sp>
        <p:sp>
          <p:nvSpPr>
            <p:cNvPr id="11" name="TextBox 11"/>
            <p:cNvSpPr txBox="1"/>
            <p:nvPr/>
          </p:nvSpPr>
          <p:spPr>
            <a:xfrm>
              <a:off x="626935" y="2292191"/>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①</a:t>
              </a:r>
            </a:p>
          </p:txBody>
        </p:sp>
        <p:sp>
          <p:nvSpPr>
            <p:cNvPr id="12" name="TextBox 12"/>
            <p:cNvSpPr txBox="1"/>
            <p:nvPr/>
          </p:nvSpPr>
          <p:spPr>
            <a:xfrm>
              <a:off x="1181290" y="2292191"/>
              <a:ext cx="3444807"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x, T1234567: REAL; VAR I: INTEGER;</a:t>
              </a:r>
            </a:p>
          </p:txBody>
        </p:sp>
        <p:sp>
          <p:nvSpPr>
            <p:cNvPr id="13" name="TextBox 13"/>
            <p:cNvSpPr txBox="1"/>
            <p:nvPr/>
          </p:nvSpPr>
          <p:spPr>
            <a:xfrm>
              <a:off x="4920806" y="2292191"/>
              <a:ext cx="219272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(1)(2)(4)(8)(9)(12)(14)</a:t>
              </a:r>
            </a:p>
          </p:txBody>
        </p:sp>
        <p:sp>
          <p:nvSpPr>
            <p:cNvPr id="14" name="Rectangle 14"/>
            <p:cNvSpPr/>
            <p:nvPr/>
          </p:nvSpPr>
          <p:spPr>
            <a:xfrm>
              <a:off x="533400" y="2586038"/>
              <a:ext cx="6924675" cy="9525"/>
            </a:xfrm>
            <a:prstGeom prst="rect">
              <a:avLst/>
            </a:prstGeom>
            <a:solidFill>
              <a:srgbClr val="D9DFEA"/>
            </a:solidFill>
            <a:ln>
              <a:noFill/>
            </a:ln>
          </p:spPr>
        </p:sp>
        <p:sp>
          <p:nvSpPr>
            <p:cNvPr id="15" name="Rectangle 15"/>
            <p:cNvSpPr/>
            <p:nvPr/>
          </p:nvSpPr>
          <p:spPr>
            <a:xfrm>
              <a:off x="533400" y="2590800"/>
              <a:ext cx="6924675" cy="420052"/>
            </a:xfrm>
            <a:prstGeom prst="rect">
              <a:avLst/>
            </a:prstGeom>
            <a:solidFill>
              <a:srgbClr val="F4F6FB"/>
            </a:solidFill>
            <a:ln>
              <a:noFill/>
            </a:ln>
          </p:spPr>
        </p:sp>
        <p:sp>
          <p:nvSpPr>
            <p:cNvPr id="16" name="TextBox 16"/>
            <p:cNvSpPr txBox="1"/>
            <p:nvPr/>
          </p:nvSpPr>
          <p:spPr>
            <a:xfrm>
              <a:off x="626935" y="2712244"/>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②</a:t>
              </a:r>
            </a:p>
          </p:txBody>
        </p:sp>
        <p:sp>
          <p:nvSpPr>
            <p:cNvPr id="17" name="TextBox 17"/>
            <p:cNvSpPr txBox="1"/>
            <p:nvPr/>
          </p:nvSpPr>
          <p:spPr>
            <a:xfrm>
              <a:off x="1181290" y="2712244"/>
              <a:ext cx="1023427"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 REAL;</a:t>
              </a:r>
            </a:p>
          </p:txBody>
        </p:sp>
        <p:sp>
          <p:nvSpPr>
            <p:cNvPr id="18" name="TextBox 18"/>
            <p:cNvSpPr txBox="1"/>
            <p:nvPr/>
          </p:nvSpPr>
          <p:spPr>
            <a:xfrm>
              <a:off x="4920806" y="2712244"/>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(3)</a:t>
              </a:r>
            </a:p>
          </p:txBody>
        </p:sp>
        <p:sp>
          <p:nvSpPr>
            <p:cNvPr id="19" name="Rectangle 19"/>
            <p:cNvSpPr/>
            <p:nvPr/>
          </p:nvSpPr>
          <p:spPr>
            <a:xfrm>
              <a:off x="533400" y="3007042"/>
              <a:ext cx="6924675" cy="9525"/>
            </a:xfrm>
            <a:prstGeom prst="rect">
              <a:avLst/>
            </a:prstGeom>
            <a:solidFill>
              <a:srgbClr val="D9DFEA"/>
            </a:solidFill>
            <a:ln>
              <a:noFill/>
            </a:ln>
          </p:spPr>
        </p:sp>
        <p:sp>
          <p:nvSpPr>
            <p:cNvPr id="20" name="TextBox 20"/>
            <p:cNvSpPr txBox="1"/>
            <p:nvPr/>
          </p:nvSpPr>
          <p:spPr>
            <a:xfrm>
              <a:off x="626935" y="3132296"/>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③</a:t>
              </a:r>
            </a:p>
          </p:txBody>
        </p:sp>
        <p:sp>
          <p:nvSpPr>
            <p:cNvPr id="21" name="TextBox 21"/>
            <p:cNvSpPr txBox="1"/>
            <p:nvPr/>
          </p:nvSpPr>
          <p:spPr>
            <a:xfrm>
              <a:off x="1181290" y="3132296"/>
              <a:ext cx="1269848"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x, : REAL;</a:t>
              </a:r>
            </a:p>
          </p:txBody>
        </p:sp>
        <p:sp>
          <p:nvSpPr>
            <p:cNvPr id="22" name="TextBox 22"/>
            <p:cNvSpPr txBox="1"/>
            <p:nvPr/>
          </p:nvSpPr>
          <p:spPr>
            <a:xfrm>
              <a:off x="4920806" y="3132296"/>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(5)</a:t>
              </a:r>
            </a:p>
          </p:txBody>
        </p:sp>
        <p:sp>
          <p:nvSpPr>
            <p:cNvPr id="23" name="Rectangle 23"/>
            <p:cNvSpPr/>
            <p:nvPr/>
          </p:nvSpPr>
          <p:spPr>
            <a:xfrm>
              <a:off x="533400" y="3427095"/>
              <a:ext cx="6924675" cy="9525"/>
            </a:xfrm>
            <a:prstGeom prst="rect">
              <a:avLst/>
            </a:prstGeom>
            <a:solidFill>
              <a:srgbClr val="D9DFEA"/>
            </a:solidFill>
            <a:ln>
              <a:noFill/>
            </a:ln>
          </p:spPr>
        </p:sp>
        <p:sp>
          <p:nvSpPr>
            <p:cNvPr id="24" name="Rectangle 24"/>
            <p:cNvSpPr/>
            <p:nvPr/>
          </p:nvSpPr>
          <p:spPr>
            <a:xfrm>
              <a:off x="533400" y="3431858"/>
              <a:ext cx="6924675" cy="420052"/>
            </a:xfrm>
            <a:prstGeom prst="rect">
              <a:avLst/>
            </a:prstGeom>
            <a:solidFill>
              <a:srgbClr val="F4F6FB"/>
            </a:solidFill>
            <a:ln>
              <a:noFill/>
            </a:ln>
          </p:spPr>
        </p:sp>
        <p:sp>
          <p:nvSpPr>
            <p:cNvPr id="25" name="TextBox 25"/>
            <p:cNvSpPr txBox="1"/>
            <p:nvPr/>
          </p:nvSpPr>
          <p:spPr>
            <a:xfrm>
              <a:off x="626935" y="3552349"/>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④</a:t>
              </a:r>
            </a:p>
          </p:txBody>
        </p:sp>
        <p:sp>
          <p:nvSpPr>
            <p:cNvPr id="26" name="TextBox 26"/>
            <p:cNvSpPr txBox="1"/>
            <p:nvPr/>
          </p:nvSpPr>
          <p:spPr>
            <a:xfrm>
              <a:off x="1181290" y="3552349"/>
              <a:ext cx="1924660"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T12345678: REAL;</a:t>
              </a:r>
            </a:p>
          </p:txBody>
        </p:sp>
        <p:sp>
          <p:nvSpPr>
            <p:cNvPr id="27" name="TextBox 27"/>
            <p:cNvSpPr txBox="1"/>
            <p:nvPr/>
          </p:nvSpPr>
          <p:spPr>
            <a:xfrm>
              <a:off x="4920806" y="3552349"/>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(6)</a:t>
              </a:r>
            </a:p>
          </p:txBody>
        </p:sp>
        <p:sp>
          <p:nvSpPr>
            <p:cNvPr id="28" name="Rectangle 28"/>
            <p:cNvSpPr/>
            <p:nvPr/>
          </p:nvSpPr>
          <p:spPr>
            <a:xfrm>
              <a:off x="533400" y="3847148"/>
              <a:ext cx="6924675" cy="9525"/>
            </a:xfrm>
            <a:prstGeom prst="rect">
              <a:avLst/>
            </a:prstGeom>
            <a:solidFill>
              <a:srgbClr val="D9DFEA"/>
            </a:solidFill>
            <a:ln>
              <a:noFill/>
            </a:ln>
          </p:spPr>
        </p:sp>
        <p:sp>
          <p:nvSpPr>
            <p:cNvPr id="29" name="TextBox 29"/>
            <p:cNvSpPr txBox="1"/>
            <p:nvPr/>
          </p:nvSpPr>
          <p:spPr>
            <a:xfrm>
              <a:off x="626935" y="3973354"/>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⑤</a:t>
              </a:r>
            </a:p>
          </p:txBody>
        </p:sp>
        <p:sp>
          <p:nvSpPr>
            <p:cNvPr id="30" name="TextBox 30"/>
            <p:cNvSpPr txBox="1"/>
            <p:nvPr/>
          </p:nvSpPr>
          <p:spPr>
            <a:xfrm>
              <a:off x="1181290" y="3973354"/>
              <a:ext cx="305120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VAR T12345…: REAL;（多于 80 字符）</a:t>
              </a:r>
            </a:p>
          </p:txBody>
        </p:sp>
        <p:sp>
          <p:nvSpPr>
            <p:cNvPr id="31" name="TextBox 31"/>
            <p:cNvSpPr txBox="1"/>
            <p:nvPr/>
          </p:nvSpPr>
          <p:spPr>
            <a:xfrm>
              <a:off x="4920806" y="3973354"/>
              <a:ext cx="29727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(7)</a:t>
              </a:r>
            </a:p>
          </p:txBody>
        </p:sp>
        <p:sp>
          <p:nvSpPr>
            <p:cNvPr id="32" name="Rectangle 32"/>
            <p:cNvSpPr/>
            <p:nvPr/>
          </p:nvSpPr>
          <p:spPr>
            <a:xfrm>
              <a:off x="533400" y="4267200"/>
              <a:ext cx="6924675" cy="9525"/>
            </a:xfrm>
            <a:prstGeom prst="rect">
              <a:avLst/>
            </a:prstGeom>
            <a:solidFill>
              <a:srgbClr val="D9DFEA"/>
            </a:solidFill>
            <a:ln>
              <a:noFill/>
            </a:ln>
          </p:spPr>
        </p:sp>
        <p:sp>
          <p:nvSpPr>
            <p:cNvPr id="33" name="Rectangle 33"/>
            <p:cNvSpPr/>
            <p:nvPr/>
          </p:nvSpPr>
          <p:spPr>
            <a:xfrm>
              <a:off x="533400" y="4271962"/>
              <a:ext cx="6924675" cy="420052"/>
            </a:xfrm>
            <a:prstGeom prst="rect">
              <a:avLst/>
            </a:prstGeom>
            <a:solidFill>
              <a:srgbClr val="F4F6FB"/>
            </a:solidFill>
            <a:ln>
              <a:noFill/>
            </a:ln>
          </p:spPr>
        </p:sp>
        <p:sp>
          <p:nvSpPr>
            <p:cNvPr id="34" name="TextBox 34"/>
            <p:cNvSpPr txBox="1"/>
            <p:nvPr/>
          </p:nvSpPr>
          <p:spPr>
            <a:xfrm>
              <a:off x="626935" y="4393406"/>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⑥</a:t>
              </a:r>
            </a:p>
          </p:txBody>
        </p:sp>
        <p:sp>
          <p:nvSpPr>
            <p:cNvPr id="35" name="TextBox 35"/>
            <p:cNvSpPr txBox="1"/>
            <p:nvPr/>
          </p:nvSpPr>
          <p:spPr>
            <a:xfrm>
              <a:off x="1181290" y="4393406"/>
              <a:ext cx="122370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T$: CHAR;</a:t>
              </a:r>
            </a:p>
          </p:txBody>
        </p:sp>
        <p:sp>
          <p:nvSpPr>
            <p:cNvPr id="36" name="TextBox 36"/>
            <p:cNvSpPr txBox="1"/>
            <p:nvPr/>
          </p:nvSpPr>
          <p:spPr>
            <a:xfrm>
              <a:off x="4920806" y="4393406"/>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(10)</a:t>
              </a:r>
            </a:p>
          </p:txBody>
        </p:sp>
        <p:sp>
          <p:nvSpPr>
            <p:cNvPr id="37" name="Rectangle 37"/>
            <p:cNvSpPr/>
            <p:nvPr/>
          </p:nvSpPr>
          <p:spPr>
            <a:xfrm>
              <a:off x="533400" y="4687252"/>
              <a:ext cx="6924675" cy="9525"/>
            </a:xfrm>
            <a:prstGeom prst="rect">
              <a:avLst/>
            </a:prstGeom>
            <a:solidFill>
              <a:srgbClr val="D9DFEA"/>
            </a:solidFill>
            <a:ln>
              <a:noFill/>
            </a:ln>
          </p:spPr>
        </p:sp>
        <p:sp>
          <p:nvSpPr>
            <p:cNvPr id="38" name="TextBox 38"/>
            <p:cNvSpPr txBox="1"/>
            <p:nvPr/>
          </p:nvSpPr>
          <p:spPr>
            <a:xfrm>
              <a:off x="626935" y="4813459"/>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⑦</a:t>
              </a:r>
            </a:p>
          </p:txBody>
        </p:sp>
        <p:sp>
          <p:nvSpPr>
            <p:cNvPr id="39" name="TextBox 39"/>
            <p:cNvSpPr txBox="1"/>
            <p:nvPr/>
          </p:nvSpPr>
          <p:spPr>
            <a:xfrm>
              <a:off x="1181290" y="4813459"/>
              <a:ext cx="1751696"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GOTO: INTEGER;</a:t>
              </a:r>
            </a:p>
          </p:txBody>
        </p:sp>
        <p:sp>
          <p:nvSpPr>
            <p:cNvPr id="40" name="TextBox 40"/>
            <p:cNvSpPr txBox="1"/>
            <p:nvPr/>
          </p:nvSpPr>
          <p:spPr>
            <a:xfrm>
              <a:off x="4920806" y="4813459"/>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(11)</a:t>
              </a:r>
            </a:p>
          </p:txBody>
        </p:sp>
        <p:sp>
          <p:nvSpPr>
            <p:cNvPr id="41" name="Rectangle 41"/>
            <p:cNvSpPr/>
            <p:nvPr/>
          </p:nvSpPr>
          <p:spPr>
            <a:xfrm>
              <a:off x="533400" y="5108258"/>
              <a:ext cx="6924675" cy="9525"/>
            </a:xfrm>
            <a:prstGeom prst="rect">
              <a:avLst/>
            </a:prstGeom>
            <a:solidFill>
              <a:srgbClr val="D9DFEA"/>
            </a:solidFill>
            <a:ln>
              <a:noFill/>
            </a:ln>
          </p:spPr>
        </p:sp>
        <p:sp>
          <p:nvSpPr>
            <p:cNvPr id="42" name="Rectangle 42"/>
            <p:cNvSpPr/>
            <p:nvPr/>
          </p:nvSpPr>
          <p:spPr>
            <a:xfrm>
              <a:off x="533400" y="5113020"/>
              <a:ext cx="6924675" cy="420052"/>
            </a:xfrm>
            <a:prstGeom prst="rect">
              <a:avLst/>
            </a:prstGeom>
            <a:solidFill>
              <a:srgbClr val="F4F6FB"/>
            </a:solidFill>
            <a:ln>
              <a:noFill/>
            </a:ln>
          </p:spPr>
        </p:sp>
        <p:sp>
          <p:nvSpPr>
            <p:cNvPr id="43" name="TextBox 43"/>
            <p:cNvSpPr txBox="1"/>
            <p:nvPr/>
          </p:nvSpPr>
          <p:spPr>
            <a:xfrm>
              <a:off x="626935" y="5233511"/>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⑧</a:t>
              </a:r>
            </a:p>
          </p:txBody>
        </p:sp>
        <p:sp>
          <p:nvSpPr>
            <p:cNvPr id="44" name="TextBox 44"/>
            <p:cNvSpPr txBox="1"/>
            <p:nvPr/>
          </p:nvSpPr>
          <p:spPr>
            <a:xfrm>
              <a:off x="1181290" y="5233511"/>
              <a:ext cx="1223701"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2T: REAL;</a:t>
              </a:r>
            </a:p>
          </p:txBody>
        </p:sp>
        <p:sp>
          <p:nvSpPr>
            <p:cNvPr id="45" name="TextBox 45"/>
            <p:cNvSpPr txBox="1"/>
            <p:nvPr/>
          </p:nvSpPr>
          <p:spPr>
            <a:xfrm>
              <a:off x="4920806" y="5233511"/>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(13)</a:t>
              </a:r>
            </a:p>
          </p:txBody>
        </p:sp>
        <p:sp>
          <p:nvSpPr>
            <p:cNvPr id="46" name="Rectangle 46"/>
            <p:cNvSpPr/>
            <p:nvPr/>
          </p:nvSpPr>
          <p:spPr>
            <a:xfrm>
              <a:off x="533400" y="5528310"/>
              <a:ext cx="6924675" cy="9525"/>
            </a:xfrm>
            <a:prstGeom prst="rect">
              <a:avLst/>
            </a:prstGeom>
            <a:solidFill>
              <a:srgbClr val="D9DFEA"/>
            </a:solidFill>
            <a:ln>
              <a:noFill/>
            </a:ln>
          </p:spPr>
        </p:sp>
        <p:sp>
          <p:nvSpPr>
            <p:cNvPr id="47" name="TextBox 47"/>
            <p:cNvSpPr txBox="1"/>
            <p:nvPr/>
          </p:nvSpPr>
          <p:spPr>
            <a:xfrm>
              <a:off x="626935" y="5653564"/>
              <a:ext cx="11246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⑨</a:t>
              </a:r>
            </a:p>
          </p:txBody>
        </p:sp>
        <p:sp>
          <p:nvSpPr>
            <p:cNvPr id="48" name="TextBox 48"/>
            <p:cNvSpPr txBox="1"/>
            <p:nvPr/>
          </p:nvSpPr>
          <p:spPr>
            <a:xfrm>
              <a:off x="1181290" y="5653564"/>
              <a:ext cx="3699815"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VAR PAR: REAL; … PAP := SIN(3.14*0.8)/6;</a:t>
              </a:r>
            </a:p>
          </p:txBody>
        </p:sp>
        <p:sp>
          <p:nvSpPr>
            <p:cNvPr id="49" name="TextBox 49"/>
            <p:cNvSpPr txBox="1"/>
            <p:nvPr/>
          </p:nvSpPr>
          <p:spPr>
            <a:xfrm>
              <a:off x="4920806" y="5653564"/>
              <a:ext cx="3920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(15)</a:t>
              </a:r>
            </a:p>
          </p:txBody>
        </p:sp>
        <p:sp>
          <p:nvSpPr>
            <p:cNvPr id="50" name="Rectangle 50"/>
            <p:cNvSpPr/>
            <p:nvPr/>
          </p:nvSpPr>
          <p:spPr>
            <a:xfrm>
              <a:off x="533400" y="1524000"/>
              <a:ext cx="6924675" cy="4429125"/>
            </a:xfrm>
            <a:prstGeom prst="rect">
              <a:avLst/>
            </a:prstGeom>
            <a:noFill/>
            <a:ln w="14288">
              <a:solidFill>
                <a:srgbClr val="D9DFEA"/>
              </a:solidFill>
            </a:ln>
          </p:spPr>
        </p:sp>
        <p:sp>
          <p:nvSpPr>
            <p:cNvPr id="51" name="Rectangle 51"/>
            <p:cNvSpPr/>
            <p:nvPr/>
          </p:nvSpPr>
          <p:spPr>
            <a:xfrm>
              <a:off x="1082992" y="1524000"/>
              <a:ext cx="9525" cy="4429125"/>
            </a:xfrm>
            <a:prstGeom prst="rect">
              <a:avLst/>
            </a:prstGeom>
            <a:solidFill>
              <a:srgbClr val="D9DFEA"/>
            </a:solidFill>
            <a:ln>
              <a:noFill/>
            </a:ln>
          </p:spPr>
        </p:sp>
        <p:sp>
          <p:nvSpPr>
            <p:cNvPr id="52" name="Rectangle 52"/>
            <p:cNvSpPr/>
            <p:nvPr/>
          </p:nvSpPr>
          <p:spPr>
            <a:xfrm>
              <a:off x="4822508" y="1524000"/>
              <a:ext cx="9525" cy="4429125"/>
            </a:xfrm>
            <a:prstGeom prst="rect">
              <a:avLst/>
            </a:prstGeom>
            <a:solidFill>
              <a:srgbClr val="D9DFEA"/>
            </a:solidFill>
            <a:ln>
              <a:noFill/>
            </a:ln>
          </p:spPr>
        </p:sp>
      </p:grpSp>
      <p:grpSp>
        <p:nvGrpSpPr>
          <p:cNvPr id="60" name="c2-card-1"/>
          <p:cNvGrpSpPr/>
          <p:nvPr/>
        </p:nvGrpSpPr>
        <p:grpSpPr>
          <a:xfrm>
            <a:off x="7762875" y="1524000"/>
            <a:ext cx="3895725" cy="1403032"/>
            <a:chOff x="7762875" y="1524000"/>
            <a:chExt cx="3895725" cy="1403032"/>
          </a:xfrm>
        </p:grpSpPr>
        <p:sp>
          <p:nvSpPr>
            <p:cNvPr id="54" name="Rectangle 54"/>
            <p:cNvSpPr/>
            <p:nvPr/>
          </p:nvSpPr>
          <p:spPr>
            <a:xfrm>
              <a:off x="7762875" y="1524000"/>
              <a:ext cx="3895725" cy="1403032"/>
            </a:xfrm>
            <a:prstGeom prst="roundRect">
              <a:avLst>
                <a:gd name="adj" fmla="val 9504"/>
              </a:avLst>
            </a:prstGeom>
            <a:solidFill>
              <a:srgbClr val="FFFFFF"/>
            </a:solidFill>
            <a:ln w="14288">
              <a:solidFill>
                <a:srgbClr val="D9DFEA"/>
              </a:solidFill>
            </a:ln>
          </p:spPr>
        </p:sp>
        <p:sp>
          <p:nvSpPr>
            <p:cNvPr id="55" name="Rectangle 55"/>
            <p:cNvSpPr/>
            <p:nvPr/>
          </p:nvSpPr>
          <p:spPr>
            <a:xfrm>
              <a:off x="7772400" y="1657350"/>
              <a:ext cx="47625" cy="1136332"/>
            </a:xfrm>
            <a:prstGeom prst="roundRect">
              <a:avLst>
                <a:gd name="adj" fmla="val 50000"/>
              </a:avLst>
            </a:prstGeom>
            <a:solidFill>
              <a:srgbClr val="14A38B"/>
            </a:solidFill>
            <a:ln>
              <a:noFill/>
            </a:ln>
          </p:spPr>
        </p:sp>
        <p:sp>
          <p:nvSpPr>
            <p:cNvPr id="56" name="Rectangle 56"/>
            <p:cNvSpPr/>
            <p:nvPr/>
          </p:nvSpPr>
          <p:spPr>
            <a:xfrm>
              <a:off x="7981950" y="1704975"/>
              <a:ext cx="569595" cy="238125"/>
            </a:xfrm>
            <a:prstGeom prst="roundRect">
              <a:avLst>
                <a:gd name="adj" fmla="val 50000"/>
              </a:avLst>
            </a:prstGeom>
            <a:solidFill>
              <a:srgbClr val="E3F5F1"/>
            </a:solidFill>
            <a:ln>
              <a:noFill/>
            </a:ln>
          </p:spPr>
        </p:sp>
        <p:sp>
          <p:nvSpPr>
            <p:cNvPr id="57" name="TextBox 57"/>
            <p:cNvSpPr txBox="1"/>
            <p:nvPr/>
          </p:nvSpPr>
          <p:spPr>
            <a:xfrm>
              <a:off x="8070994" y="1737836"/>
              <a:ext cx="391507"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用例 ①</a:t>
              </a:r>
            </a:p>
          </p:txBody>
        </p:sp>
        <p:sp>
          <p:nvSpPr>
            <p:cNvPr id="58" name="TextBox 58"/>
            <p:cNvSpPr txBox="1"/>
            <p:nvPr/>
          </p:nvSpPr>
          <p:spPr>
            <a:xfrm>
              <a:off x="8659368" y="1744504"/>
              <a:ext cx="228878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一条语句吃下 7 个有效等价类</a:t>
              </a:r>
            </a:p>
          </p:txBody>
        </p:sp>
        <p:sp>
          <p:nvSpPr>
            <p:cNvPr id="59" name="TextBox 59"/>
            <p:cNvSpPr txBox="1"/>
            <p:nvPr/>
          </p:nvSpPr>
          <p:spPr>
            <a:xfrm>
              <a:off x="7975473" y="2061686"/>
              <a:ext cx="3296666"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VAR x, T1234567: REAL; VAR I: INTEGER; 里</a:t>
              </a:r>
              <a:br/>
              <a:r>
                <a:rPr lang="zh-CN" sz="1280" dirty="0">
                  <a:solidFill>
                    <a:srgbClr val="1F2937"/>
                  </a:solidFill>
                  <a:latin typeface="+mn-lt"/>
                  <a:ea typeface="+mn-ea"/>
                  <a:cs typeface="+mn-cs"/>
                </a:rPr>
                <a:t>有多个标识符、字符数 1~8、字母与数字都出</a:t>
              </a:r>
              <a:br/>
              <a:r>
                <a:rPr lang="zh-CN" sz="1280" dirty="0">
                  <a:solidFill>
                    <a:srgbClr val="1F2937"/>
                  </a:solidFill>
                  <a:latin typeface="+mn-lt"/>
                  <a:ea typeface="+mn-ea"/>
                  <a:cs typeface="+mn-cs"/>
                </a:rPr>
                <a:t>现、首字符是字母，而且先说明后使用。</a:t>
              </a:r>
            </a:p>
          </p:txBody>
        </p:sp>
      </p:grpSp>
      <p:grpSp>
        <p:nvGrpSpPr>
          <p:cNvPr id="67" name="c2-card-2"/>
          <p:cNvGrpSpPr/>
          <p:nvPr/>
        </p:nvGrpSpPr>
        <p:grpSpPr>
          <a:xfrm>
            <a:off x="7762875" y="3091815"/>
            <a:ext cx="3895725" cy="1403032"/>
            <a:chOff x="7762875" y="3091815"/>
            <a:chExt cx="3895725" cy="1403032"/>
          </a:xfrm>
        </p:grpSpPr>
        <p:sp>
          <p:nvSpPr>
            <p:cNvPr id="61" name="Rectangle 61"/>
            <p:cNvSpPr/>
            <p:nvPr/>
          </p:nvSpPr>
          <p:spPr>
            <a:xfrm>
              <a:off x="7762875" y="3091815"/>
              <a:ext cx="3895725" cy="1403032"/>
            </a:xfrm>
            <a:prstGeom prst="roundRect">
              <a:avLst>
                <a:gd name="adj" fmla="val 9504"/>
              </a:avLst>
            </a:prstGeom>
            <a:solidFill>
              <a:srgbClr val="FFFFFF"/>
            </a:solidFill>
            <a:ln w="14288">
              <a:solidFill>
                <a:srgbClr val="D9DFEA"/>
              </a:solidFill>
            </a:ln>
          </p:spPr>
        </p:sp>
        <p:sp>
          <p:nvSpPr>
            <p:cNvPr id="62" name="Rectangle 62"/>
            <p:cNvSpPr/>
            <p:nvPr/>
          </p:nvSpPr>
          <p:spPr>
            <a:xfrm>
              <a:off x="7772400" y="3225165"/>
              <a:ext cx="47625" cy="1136332"/>
            </a:xfrm>
            <a:prstGeom prst="roundRect">
              <a:avLst>
                <a:gd name="adj" fmla="val 50000"/>
              </a:avLst>
            </a:prstGeom>
            <a:solidFill>
              <a:srgbClr val="B42318"/>
            </a:solidFill>
            <a:ln>
              <a:noFill/>
            </a:ln>
          </p:spPr>
        </p:sp>
        <p:sp>
          <p:nvSpPr>
            <p:cNvPr id="63" name="Rectangle 63"/>
            <p:cNvSpPr/>
            <p:nvPr/>
          </p:nvSpPr>
          <p:spPr>
            <a:xfrm>
              <a:off x="7981950" y="3272790"/>
              <a:ext cx="569595" cy="238125"/>
            </a:xfrm>
            <a:prstGeom prst="roundRect">
              <a:avLst>
                <a:gd name="adj" fmla="val 50000"/>
              </a:avLst>
            </a:prstGeom>
            <a:solidFill>
              <a:srgbClr val="FDECEA"/>
            </a:solidFill>
            <a:ln>
              <a:noFill/>
            </a:ln>
          </p:spPr>
        </p:sp>
        <p:sp>
          <p:nvSpPr>
            <p:cNvPr id="64" name="TextBox 64"/>
            <p:cNvSpPr txBox="1"/>
            <p:nvPr/>
          </p:nvSpPr>
          <p:spPr>
            <a:xfrm>
              <a:off x="8070994" y="3305651"/>
              <a:ext cx="391507"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用例 ⑨</a:t>
              </a:r>
            </a:p>
          </p:txBody>
        </p:sp>
        <p:sp>
          <p:nvSpPr>
            <p:cNvPr id="65" name="TextBox 65"/>
            <p:cNvSpPr txBox="1"/>
            <p:nvPr/>
          </p:nvSpPr>
          <p:spPr>
            <a:xfrm>
              <a:off x="8659368" y="3312319"/>
              <a:ext cx="208071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错的是使用处而不是说明处</a:t>
              </a:r>
            </a:p>
          </p:txBody>
        </p:sp>
        <p:sp>
          <p:nvSpPr>
            <p:cNvPr id="66" name="TextBox 66"/>
            <p:cNvSpPr txBox="1"/>
            <p:nvPr/>
          </p:nvSpPr>
          <p:spPr>
            <a:xfrm>
              <a:off x="7975473" y="3629501"/>
              <a:ext cx="3337306"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说明的是 PAR，使用的却是 PAP，属于“未说明</a:t>
              </a:r>
              <a:br/>
              <a:r>
                <a:rPr lang="zh-CN" sz="1280" dirty="0">
                  <a:solidFill>
                    <a:srgbClr val="1F2937"/>
                  </a:solidFill>
                  <a:latin typeface="+mn-lt"/>
                  <a:ea typeface="+mn-ea"/>
                  <a:cs typeface="+mn-cs"/>
                </a:rPr>
                <a:t>已使用”。写这条用例时说明语句本身必须合</a:t>
              </a:r>
              <a:br/>
              <a:r>
                <a:rPr lang="zh-CN" sz="1280" dirty="0">
                  <a:solidFill>
                    <a:srgbClr val="1F2937"/>
                  </a:solidFill>
                  <a:latin typeface="+mn-lt"/>
                  <a:ea typeface="+mn-ea"/>
                  <a:cs typeface="+mn-cs"/>
                </a:rPr>
                <a:t>法，否则两个错误会互相掩盖。</a:t>
              </a:r>
            </a:p>
          </p:txBody>
        </p:sp>
      </p:grpSp>
      <p:grpSp>
        <p:nvGrpSpPr>
          <p:cNvPr id="73" name="c2-callout-3"/>
          <p:cNvGrpSpPr/>
          <p:nvPr/>
        </p:nvGrpSpPr>
        <p:grpSpPr>
          <a:xfrm>
            <a:off x="7762875" y="4659630"/>
            <a:ext cx="3895725" cy="1293495"/>
            <a:chOff x="7762875" y="4659630"/>
            <a:chExt cx="3895725" cy="1293495"/>
          </a:xfrm>
        </p:grpSpPr>
        <p:sp>
          <p:nvSpPr>
            <p:cNvPr id="68" name="Rectangle 68"/>
            <p:cNvSpPr/>
            <p:nvPr/>
          </p:nvSpPr>
          <p:spPr>
            <a:xfrm>
              <a:off x="7762875" y="4659630"/>
              <a:ext cx="3895725" cy="1293495"/>
            </a:xfrm>
            <a:prstGeom prst="roundRect">
              <a:avLst>
                <a:gd name="adj" fmla="val 8837"/>
              </a:avLst>
            </a:prstGeom>
            <a:solidFill>
              <a:srgbClr val="334E68"/>
            </a:solidFill>
            <a:ln>
              <a:noFill/>
            </a:ln>
          </p:spPr>
        </p:sp>
        <p:grpSp>
          <p:nvGrpSpPr>
            <p:cNvPr id="71" name="Group 71"/>
            <p:cNvGrpSpPr/>
            <p:nvPr/>
          </p:nvGrpSpPr>
          <p:grpSpPr>
            <a:xfrm>
              <a:off x="7967663" y="5206367"/>
              <a:ext cx="200023" cy="200023"/>
              <a:chOff x="7967663" y="5206367"/>
              <a:chExt cx="200023" cy="200023"/>
            </a:xfrm>
          </p:grpSpPr>
          <p:sp>
            <p:nvSpPr>
              <p:cNvPr id="69" name="Freeform 69"/>
              <p:cNvSpPr/>
              <p:nvPr/>
            </p:nvSpPr>
            <p:spPr>
              <a:xfrm>
                <a:off x="7967663" y="520636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0" name="Freeform 70"/>
              <p:cNvSpPr/>
              <p:nvPr/>
            </p:nvSpPr>
            <p:spPr>
              <a:xfrm>
                <a:off x="8101013" y="527304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2" name="TextBox 72"/>
            <p:cNvSpPr txBox="1"/>
            <p:nvPr/>
          </p:nvSpPr>
          <p:spPr>
            <a:xfrm>
              <a:off x="8270748" y="5100161"/>
              <a:ext cx="293903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有效等价类可以合并，无效等价类一条用</a:t>
              </a:r>
              <a:br/>
              <a:r>
                <a:rPr lang="zh-CN" sz="1280" dirty="0">
                  <a:solidFill>
                    <a:srgbClr val="FFFFFF"/>
                  </a:solidFill>
                  <a:latin typeface="+mn-lt"/>
                  <a:ea typeface="+mn-ea"/>
                  <a:cs typeface="+mn-cs"/>
                </a:rPr>
                <a:t>例只碰一个，9 = 1 + 8 就是这么来的。</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黑盒测试技术</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例题：给电话号码划等价类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780" y="1548765"/>
            <a:ext cx="10702290" cy="569595"/>
            <a:chOff x="525780" y="1548765"/>
            <a:chExt cx="10702290" cy="569595"/>
          </a:xfrm>
        </p:grpSpPr>
        <p:sp>
          <p:nvSpPr>
            <p:cNvPr id="7" name="TextBox 7"/>
            <p:cNvSpPr txBox="1"/>
            <p:nvPr/>
          </p:nvSpPr>
          <p:spPr>
            <a:xfrm>
              <a:off x="525780" y="1548765"/>
              <a:ext cx="1070229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5B6475"/>
                  </a:solidFill>
                  <a:latin typeface="+mn-lt"/>
                  <a:ea typeface="+mn-ea"/>
                  <a:cs typeface="+mn-cs"/>
                </a:rPr>
                <a:t>某城市电话号码由 3 部分组成：地区码为空白或 3 位数字；前缀为非 '0' 或 '1' 开头的 3 位数字；后缀为 4 位数字。被测程序</a:t>
              </a:r>
              <a:br/>
              <a:r>
                <a:rPr lang="zh-CN" sz="1500" dirty="0">
                  <a:solidFill>
                    <a:srgbClr val="5B6475"/>
                  </a:solidFill>
                  <a:latin typeface="+mn-lt"/>
                  <a:ea typeface="+mn-ea"/>
                  <a:cs typeface="+mn-cs"/>
                </a:rPr>
                <a:t>接受一切符合规定的号码，拒绝所有不符合规定的号码。</a:t>
              </a:r>
            </a:p>
          </p:txBody>
        </p:sp>
      </p:grpSp>
      <p:grpSp>
        <p:nvGrpSpPr>
          <p:cNvPr id="28" name="c1-table-1"/>
          <p:cNvGrpSpPr/>
          <p:nvPr/>
        </p:nvGrpSpPr>
        <p:grpSpPr>
          <a:xfrm>
            <a:off x="533400" y="2230755"/>
            <a:ext cx="7033260" cy="2889885"/>
            <a:chOff x="533400" y="2230755"/>
            <a:chExt cx="7033260" cy="2889885"/>
          </a:xfrm>
        </p:grpSpPr>
        <p:sp>
          <p:nvSpPr>
            <p:cNvPr id="9" name="Rectangle 9"/>
            <p:cNvSpPr/>
            <p:nvPr/>
          </p:nvSpPr>
          <p:spPr>
            <a:xfrm>
              <a:off x="533400" y="2230755"/>
              <a:ext cx="7033260" cy="721995"/>
            </a:xfrm>
            <a:prstGeom prst="rect">
              <a:avLst/>
            </a:prstGeom>
            <a:solidFill>
              <a:srgbClr val="334E68"/>
            </a:solidFill>
            <a:ln>
              <a:noFill/>
            </a:ln>
          </p:spPr>
        </p:sp>
        <p:sp>
          <p:nvSpPr>
            <p:cNvPr id="10" name="TextBox 10"/>
            <p:cNvSpPr txBox="1"/>
            <p:nvPr/>
          </p:nvSpPr>
          <p:spPr>
            <a:xfrm>
              <a:off x="712851" y="2365534"/>
              <a:ext cx="555498" cy="532066"/>
            </a:xfrm>
            <a:prstGeom prst="rect">
              <a:avLst/>
            </a:prstGeom>
            <a:noFill/>
            <a:ln>
              <a:noFill/>
            </a:ln>
          </p:spPr>
          <p:txBody>
            <a:bodyPr wrap="none" lIns="0" tIns="0" rIns="0" bIns="0" anchor="t" anchorCtr="0">
              <a:spAutoFit/>
            </a:bodyPr>
            <a:lstStyle/>
            <a:p>
              <a:pPr algn="ctr">
                <a:lnSpc>
                  <a:spcPts val="1995"/>
                </a:lnSpc>
              </a:pPr>
              <a:r>
                <a:rPr lang="zh-CN" sz="1420" b="1" dirty="0">
                  <a:solidFill>
                    <a:srgbClr val="FFFFFF"/>
                  </a:solidFill>
                  <a:latin typeface="+mn-lt"/>
                  <a:ea typeface="+mn-ea"/>
                  <a:cs typeface="+mn-cs"/>
                </a:rPr>
                <a:t>输入条</a:t>
              </a:r>
              <a:br/>
              <a:r>
                <a:rPr lang="zh-CN" sz="1420" b="1" dirty="0">
                  <a:solidFill>
                    <a:srgbClr val="FFFFFF"/>
                  </a:solidFill>
                  <a:latin typeface="+mn-lt"/>
                  <a:ea typeface="+mn-ea"/>
                  <a:cs typeface="+mn-cs"/>
                </a:rPr>
                <a:t>件</a:t>
              </a:r>
            </a:p>
          </p:txBody>
        </p:sp>
        <p:sp>
          <p:nvSpPr>
            <p:cNvPr id="11" name="TextBox 11"/>
            <p:cNvSpPr txBox="1"/>
            <p:nvPr/>
          </p:nvSpPr>
          <p:spPr>
            <a:xfrm>
              <a:off x="1982788" y="2492216"/>
              <a:ext cx="97028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有效等价类</a:t>
              </a:r>
            </a:p>
          </p:txBody>
        </p:sp>
        <p:sp>
          <p:nvSpPr>
            <p:cNvPr id="12" name="TextBox 12"/>
            <p:cNvSpPr txBox="1"/>
            <p:nvPr/>
          </p:nvSpPr>
          <p:spPr>
            <a:xfrm>
              <a:off x="5042218" y="2492216"/>
              <a:ext cx="970280" cy="278702"/>
            </a:xfrm>
            <a:prstGeom prst="rect">
              <a:avLst/>
            </a:prstGeom>
            <a:noFill/>
            <a:ln>
              <a:noFill/>
            </a:ln>
          </p:spPr>
          <p:txBody>
            <a:bodyPr wrap="none" lIns="0" tIns="0" rIns="0" bIns="0" anchor="t" anchorCtr="0">
              <a:spAutoFit/>
            </a:bodyPr>
            <a:lstStyle/>
            <a:p>
              <a:pPr algn="ctr"/>
              <a:r>
                <a:rPr lang="zh-CN" sz="1420" b="1" dirty="0">
                  <a:solidFill>
                    <a:srgbClr val="FFFFFF"/>
                  </a:solidFill>
                  <a:latin typeface="+mn-lt"/>
                  <a:ea typeface="+mn-ea"/>
                  <a:cs typeface="+mn-cs"/>
                </a:rPr>
                <a:t>无效等价类</a:t>
              </a:r>
            </a:p>
          </p:txBody>
        </p:sp>
        <p:sp>
          <p:nvSpPr>
            <p:cNvPr id="13" name="TextBox 13"/>
            <p:cNvSpPr txBox="1"/>
            <p:nvPr/>
          </p:nvSpPr>
          <p:spPr>
            <a:xfrm>
              <a:off x="637604" y="3215164"/>
              <a:ext cx="58795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地区码</a:t>
              </a:r>
            </a:p>
          </p:txBody>
        </p:sp>
        <p:sp>
          <p:nvSpPr>
            <p:cNvPr id="14" name="TextBox 14"/>
            <p:cNvSpPr txBox="1"/>
            <p:nvPr/>
          </p:nvSpPr>
          <p:spPr>
            <a:xfrm>
              <a:off x="1552004" y="3215164"/>
              <a:ext cx="164889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空白 ①；3 位数字 ②</a:t>
              </a:r>
            </a:p>
          </p:txBody>
        </p:sp>
        <p:sp>
          <p:nvSpPr>
            <p:cNvPr id="15" name="TextBox 15"/>
            <p:cNvSpPr txBox="1"/>
            <p:nvPr/>
          </p:nvSpPr>
          <p:spPr>
            <a:xfrm>
              <a:off x="3591306" y="3088481"/>
              <a:ext cx="36212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有非数字字符 ⑤；少于 3 位数字 ⑥；多于 3 位</a:t>
              </a:r>
              <a:br/>
              <a:r>
                <a:rPr lang="zh-CN" sz="1420" dirty="0">
                  <a:solidFill>
                    <a:srgbClr val="1F2937"/>
                  </a:solidFill>
                  <a:latin typeface="+mn-lt"/>
                  <a:ea typeface="+mn-ea"/>
                  <a:cs typeface="+mn-cs"/>
                </a:rPr>
                <a:t>数字 ⑦</a:t>
              </a:r>
            </a:p>
          </p:txBody>
        </p:sp>
        <p:sp>
          <p:nvSpPr>
            <p:cNvPr id="16" name="Rectangle 16"/>
            <p:cNvSpPr/>
            <p:nvPr/>
          </p:nvSpPr>
          <p:spPr>
            <a:xfrm>
              <a:off x="533400" y="3670935"/>
              <a:ext cx="7033260" cy="9525"/>
            </a:xfrm>
            <a:prstGeom prst="rect">
              <a:avLst/>
            </a:prstGeom>
            <a:solidFill>
              <a:srgbClr val="D9DFEA"/>
            </a:solidFill>
            <a:ln>
              <a:noFill/>
            </a:ln>
          </p:spPr>
        </p:sp>
        <p:sp>
          <p:nvSpPr>
            <p:cNvPr id="17" name="Rectangle 17"/>
            <p:cNvSpPr/>
            <p:nvPr/>
          </p:nvSpPr>
          <p:spPr>
            <a:xfrm>
              <a:off x="533400" y="3675698"/>
              <a:ext cx="7033260" cy="721995"/>
            </a:xfrm>
            <a:prstGeom prst="rect">
              <a:avLst/>
            </a:prstGeom>
            <a:solidFill>
              <a:srgbClr val="F4F6FB"/>
            </a:solidFill>
            <a:ln>
              <a:noFill/>
            </a:ln>
          </p:spPr>
        </p:sp>
        <p:sp>
          <p:nvSpPr>
            <p:cNvPr id="18" name="TextBox 18"/>
            <p:cNvSpPr txBox="1"/>
            <p:nvPr/>
          </p:nvSpPr>
          <p:spPr>
            <a:xfrm>
              <a:off x="637604" y="3937159"/>
              <a:ext cx="39679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前缀</a:t>
              </a:r>
            </a:p>
          </p:txBody>
        </p:sp>
        <p:sp>
          <p:nvSpPr>
            <p:cNvPr id="19" name="TextBox 19"/>
            <p:cNvSpPr txBox="1"/>
            <p:nvPr/>
          </p:nvSpPr>
          <p:spPr>
            <a:xfrm>
              <a:off x="1552004" y="3810476"/>
              <a:ext cx="1646555"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200 到 999 之间的 3</a:t>
              </a:r>
              <a:br/>
              <a:r>
                <a:rPr lang="zh-CN" sz="1420" dirty="0">
                  <a:solidFill>
                    <a:srgbClr val="1F2937"/>
                  </a:solidFill>
                  <a:latin typeface="+mn-lt"/>
                  <a:ea typeface="+mn-ea"/>
                  <a:cs typeface="+mn-cs"/>
                </a:rPr>
                <a:t>位数字 ③</a:t>
              </a:r>
            </a:p>
          </p:txBody>
        </p:sp>
        <p:sp>
          <p:nvSpPr>
            <p:cNvPr id="20" name="TextBox 20"/>
            <p:cNvSpPr txBox="1"/>
            <p:nvPr/>
          </p:nvSpPr>
          <p:spPr>
            <a:xfrm>
              <a:off x="3591306" y="3810476"/>
              <a:ext cx="3558159"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有非数字字符 ⑧；起始位为 '0' ⑨；起始位为</a:t>
              </a:r>
              <a:br/>
              <a:r>
                <a:rPr lang="zh-CN" sz="1420" dirty="0">
                  <a:solidFill>
                    <a:srgbClr val="1F2937"/>
                  </a:solidFill>
                  <a:latin typeface="+mn-lt"/>
                  <a:ea typeface="+mn-ea"/>
                  <a:cs typeface="+mn-cs"/>
                </a:rPr>
                <a:t>'1' ⑩；少于 3 位数字 ⑪；多于 3 位数字 ⑫</a:t>
              </a:r>
            </a:p>
          </p:txBody>
        </p:sp>
        <p:sp>
          <p:nvSpPr>
            <p:cNvPr id="21" name="Rectangle 21"/>
            <p:cNvSpPr/>
            <p:nvPr/>
          </p:nvSpPr>
          <p:spPr>
            <a:xfrm>
              <a:off x="533400" y="4392930"/>
              <a:ext cx="7033260" cy="9525"/>
            </a:xfrm>
            <a:prstGeom prst="rect">
              <a:avLst/>
            </a:prstGeom>
            <a:solidFill>
              <a:srgbClr val="D9DFEA"/>
            </a:solidFill>
            <a:ln>
              <a:noFill/>
            </a:ln>
          </p:spPr>
        </p:sp>
        <p:sp>
          <p:nvSpPr>
            <p:cNvPr id="22" name="TextBox 22"/>
            <p:cNvSpPr txBox="1"/>
            <p:nvPr/>
          </p:nvSpPr>
          <p:spPr>
            <a:xfrm>
              <a:off x="637604" y="4659154"/>
              <a:ext cx="39679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后缀</a:t>
              </a:r>
            </a:p>
          </p:txBody>
        </p:sp>
        <p:sp>
          <p:nvSpPr>
            <p:cNvPr id="23" name="TextBox 23"/>
            <p:cNvSpPr txBox="1"/>
            <p:nvPr/>
          </p:nvSpPr>
          <p:spPr>
            <a:xfrm>
              <a:off x="1552004" y="4659154"/>
              <a:ext cx="91293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4 位数字 ④</a:t>
              </a:r>
            </a:p>
          </p:txBody>
        </p:sp>
        <p:sp>
          <p:nvSpPr>
            <p:cNvPr id="24" name="TextBox 24"/>
            <p:cNvSpPr txBox="1"/>
            <p:nvPr/>
          </p:nvSpPr>
          <p:spPr>
            <a:xfrm>
              <a:off x="3591306" y="4532471"/>
              <a:ext cx="3621278" cy="532066"/>
            </a:xfrm>
            <a:prstGeom prst="rect">
              <a:avLst/>
            </a:prstGeom>
            <a:noFill/>
            <a:ln>
              <a:noFill/>
            </a:ln>
          </p:spPr>
          <p:txBody>
            <a:bodyPr wrap="none" lIns="0" tIns="0" rIns="0" bIns="0" anchor="t" anchorCtr="0">
              <a:spAutoFit/>
            </a:bodyPr>
            <a:lstStyle/>
            <a:p>
              <a:pPr algn="l">
                <a:lnSpc>
                  <a:spcPts val="1995"/>
                </a:lnSpc>
              </a:pPr>
              <a:r>
                <a:rPr lang="zh-CN" sz="1420" dirty="0">
                  <a:solidFill>
                    <a:srgbClr val="1F2937"/>
                  </a:solidFill>
                  <a:latin typeface="+mn-lt"/>
                  <a:ea typeface="+mn-ea"/>
                  <a:cs typeface="+mn-cs"/>
                </a:rPr>
                <a:t>有非数字字符 ⑬；少于 4 位数字 ⑭；多于 4 位</a:t>
              </a:r>
              <a:br/>
              <a:r>
                <a:rPr lang="zh-CN" sz="1420" dirty="0">
                  <a:solidFill>
                    <a:srgbClr val="1F2937"/>
                  </a:solidFill>
                  <a:latin typeface="+mn-lt"/>
                  <a:ea typeface="+mn-ea"/>
                  <a:cs typeface="+mn-cs"/>
                </a:rPr>
                <a:t>数字 ⑮</a:t>
              </a:r>
            </a:p>
          </p:txBody>
        </p:sp>
        <p:sp>
          <p:nvSpPr>
            <p:cNvPr id="25" name="Rectangle 25"/>
            <p:cNvSpPr/>
            <p:nvPr/>
          </p:nvSpPr>
          <p:spPr>
            <a:xfrm>
              <a:off x="533400" y="2230755"/>
              <a:ext cx="7033260" cy="2889885"/>
            </a:xfrm>
            <a:prstGeom prst="rect">
              <a:avLst/>
            </a:prstGeom>
            <a:noFill/>
            <a:ln w="14288">
              <a:solidFill>
                <a:srgbClr val="D9DFEA"/>
              </a:solidFill>
            </a:ln>
          </p:spPr>
        </p:sp>
        <p:sp>
          <p:nvSpPr>
            <p:cNvPr id="26" name="Rectangle 26"/>
            <p:cNvSpPr/>
            <p:nvPr/>
          </p:nvSpPr>
          <p:spPr>
            <a:xfrm>
              <a:off x="1443038" y="2230755"/>
              <a:ext cx="9525" cy="2889885"/>
            </a:xfrm>
            <a:prstGeom prst="rect">
              <a:avLst/>
            </a:prstGeom>
            <a:solidFill>
              <a:srgbClr val="D9DFEA"/>
            </a:solidFill>
            <a:ln>
              <a:noFill/>
            </a:ln>
          </p:spPr>
        </p:sp>
        <p:sp>
          <p:nvSpPr>
            <p:cNvPr id="27" name="Rectangle 27"/>
            <p:cNvSpPr/>
            <p:nvPr/>
          </p:nvSpPr>
          <p:spPr>
            <a:xfrm>
              <a:off x="3482340" y="2230755"/>
              <a:ext cx="9525" cy="2889885"/>
            </a:xfrm>
            <a:prstGeom prst="rect">
              <a:avLst/>
            </a:prstGeom>
            <a:solidFill>
              <a:srgbClr val="D9DFEA"/>
            </a:solidFill>
            <a:ln>
              <a:noFill/>
            </a:ln>
          </p:spPr>
        </p:sp>
      </p:grpSp>
      <p:grpSp>
        <p:nvGrpSpPr>
          <p:cNvPr id="35" name="c1-callout-2"/>
          <p:cNvGrpSpPr/>
          <p:nvPr/>
        </p:nvGrpSpPr>
        <p:grpSpPr>
          <a:xfrm>
            <a:off x="533400" y="5305425"/>
            <a:ext cx="7033260" cy="1018222"/>
            <a:chOff x="533400" y="5305425"/>
            <a:chExt cx="7033260" cy="1018222"/>
          </a:xfrm>
        </p:grpSpPr>
        <p:sp>
          <p:nvSpPr>
            <p:cNvPr id="29" name="Rectangle 29"/>
            <p:cNvSpPr/>
            <p:nvPr/>
          </p:nvSpPr>
          <p:spPr>
            <a:xfrm>
              <a:off x="533400" y="5305425"/>
              <a:ext cx="7033260" cy="1018222"/>
            </a:xfrm>
            <a:prstGeom prst="roundRect">
              <a:avLst>
                <a:gd name="adj" fmla="val 11225"/>
              </a:avLst>
            </a:prstGeom>
            <a:solidFill>
              <a:srgbClr val="FDEEE7"/>
            </a:solidFill>
            <a:ln>
              <a:noFill/>
            </a:ln>
          </p:spPr>
        </p:sp>
        <p:grpSp>
          <p:nvGrpSpPr>
            <p:cNvPr id="33" name="Group 33"/>
            <p:cNvGrpSpPr/>
            <p:nvPr/>
          </p:nvGrpSpPr>
          <p:grpSpPr>
            <a:xfrm>
              <a:off x="738188" y="5715000"/>
              <a:ext cx="200026" cy="200025"/>
              <a:chOff x="738188" y="5715000"/>
              <a:chExt cx="200026" cy="200025"/>
            </a:xfrm>
          </p:grpSpPr>
          <p:sp>
            <p:nvSpPr>
              <p:cNvPr id="30" name="Freeform 30"/>
              <p:cNvSpPr/>
              <p:nvPr/>
            </p:nvSpPr>
            <p:spPr>
              <a:xfrm>
                <a:off x="738188" y="571500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1" name="Freeform 31"/>
              <p:cNvSpPr/>
              <p:nvPr/>
            </p:nvSpPr>
            <p:spPr>
              <a:xfrm>
                <a:off x="777926" y="575945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2" name="Freeform 32"/>
              <p:cNvSpPr/>
              <p:nvPr/>
            </p:nvSpPr>
            <p:spPr>
              <a:xfrm>
                <a:off x="812642" y="587057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4" name="TextBox 34"/>
            <p:cNvSpPr txBox="1"/>
            <p:nvPr/>
          </p:nvSpPr>
          <p:spPr>
            <a:xfrm>
              <a:off x="1040511" y="5452586"/>
              <a:ext cx="6082919"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三部分各自列出有效类和无效类，再按“有效类合并、无效类单列”配用例，</a:t>
              </a:r>
              <a:br/>
              <a:r>
                <a:rPr lang="zh-CN" sz="1420" dirty="0">
                  <a:solidFill>
                    <a:srgbClr val="C2410C"/>
                  </a:solidFill>
                  <a:latin typeface="+mn-lt"/>
                  <a:ea typeface="+mn-ea"/>
                  <a:cs typeface="+mn-cs"/>
                </a:rPr>
                <a:t>一共 2 + 11 = 13 条。若把地区码和前缀同时写错，程序在第一处就拒绝了，</a:t>
              </a:r>
              <a:br/>
              <a:r>
                <a:rPr lang="zh-CN" sz="1420" dirty="0">
                  <a:solidFill>
                    <a:srgbClr val="C2410C"/>
                  </a:solidFill>
                  <a:latin typeface="+mn-lt"/>
                  <a:ea typeface="+mn-ea"/>
                  <a:cs typeface="+mn-cs"/>
                </a:rPr>
                <a:t>后一个等价类实际没被测到。</a:t>
              </a:r>
            </a:p>
          </p:txBody>
        </p:sp>
      </p:grpSp>
      <p:grpSp>
        <p:nvGrpSpPr>
          <p:cNvPr id="44" name="c2-card-1"/>
          <p:cNvGrpSpPr/>
          <p:nvPr/>
        </p:nvGrpSpPr>
        <p:grpSpPr>
          <a:xfrm>
            <a:off x="7871460" y="2230755"/>
            <a:ext cx="3787140" cy="2707005"/>
            <a:chOff x="7871460" y="2230755"/>
            <a:chExt cx="3787140" cy="2707005"/>
          </a:xfrm>
        </p:grpSpPr>
        <p:sp>
          <p:nvSpPr>
            <p:cNvPr id="36" name="Rectangle 36"/>
            <p:cNvSpPr/>
            <p:nvPr/>
          </p:nvSpPr>
          <p:spPr>
            <a:xfrm>
              <a:off x="7871460" y="2230755"/>
              <a:ext cx="3787140" cy="2707005"/>
            </a:xfrm>
            <a:prstGeom prst="roundRect">
              <a:avLst>
                <a:gd name="adj" fmla="val 4926"/>
              </a:avLst>
            </a:prstGeom>
            <a:solidFill>
              <a:srgbClr val="FFFFFF"/>
            </a:solidFill>
            <a:ln w="14288">
              <a:solidFill>
                <a:srgbClr val="D9DFEA"/>
              </a:solidFill>
            </a:ln>
          </p:spPr>
        </p:sp>
        <p:sp>
          <p:nvSpPr>
            <p:cNvPr id="37" name="Rectangle 37"/>
            <p:cNvSpPr/>
            <p:nvPr/>
          </p:nvSpPr>
          <p:spPr>
            <a:xfrm>
              <a:off x="7880985" y="2364105"/>
              <a:ext cx="47625" cy="2440305"/>
            </a:xfrm>
            <a:prstGeom prst="roundRect">
              <a:avLst>
                <a:gd name="adj" fmla="val 50000"/>
              </a:avLst>
            </a:prstGeom>
            <a:solidFill>
              <a:srgbClr val="14A38B"/>
            </a:solidFill>
            <a:ln>
              <a:noFill/>
            </a:ln>
          </p:spPr>
        </p:sp>
        <p:sp>
          <p:nvSpPr>
            <p:cNvPr id="38" name="Rectangle 38"/>
            <p:cNvSpPr/>
            <p:nvPr/>
          </p:nvSpPr>
          <p:spPr>
            <a:xfrm>
              <a:off x="8113395" y="2434590"/>
              <a:ext cx="778192" cy="257175"/>
            </a:xfrm>
            <a:prstGeom prst="roundRect">
              <a:avLst>
                <a:gd name="adj" fmla="val 50000"/>
              </a:avLst>
            </a:prstGeom>
            <a:solidFill>
              <a:srgbClr val="E3F5F1"/>
            </a:solidFill>
            <a:ln>
              <a:noFill/>
            </a:ln>
          </p:spPr>
        </p:sp>
        <p:sp>
          <p:nvSpPr>
            <p:cNvPr id="39" name="TextBox 39"/>
            <p:cNvSpPr txBox="1"/>
            <p:nvPr/>
          </p:nvSpPr>
          <p:spPr>
            <a:xfrm>
              <a:off x="8195704" y="2470309"/>
              <a:ext cx="614528"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用例设计</a:t>
              </a:r>
            </a:p>
          </p:txBody>
        </p:sp>
        <p:sp>
          <p:nvSpPr>
            <p:cNvPr id="40" name="TextBox 40"/>
            <p:cNvSpPr txBox="1"/>
            <p:nvPr/>
          </p:nvSpPr>
          <p:spPr>
            <a:xfrm>
              <a:off x="8106156" y="2807494"/>
              <a:ext cx="269072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有效类合并，无效类一条一条来</a:t>
              </a:r>
            </a:p>
          </p:txBody>
        </p:sp>
        <p:sp>
          <p:nvSpPr>
            <p:cNvPr id="41" name="TextBox 41"/>
            <p:cNvSpPr txBox="1"/>
            <p:nvPr/>
          </p:nvSpPr>
          <p:spPr>
            <a:xfrm>
              <a:off x="8106156" y="3146584"/>
              <a:ext cx="3017139"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有效：（空白）375-4321 覆盖 ①③④；</a:t>
              </a:r>
              <a:br/>
              <a:r>
                <a:rPr lang="zh-CN" sz="1420" dirty="0">
                  <a:solidFill>
                    <a:srgbClr val="1F2937"/>
                  </a:solidFill>
                  <a:latin typeface="+mn-lt"/>
                  <a:ea typeface="+mn-ea"/>
                  <a:cs typeface="+mn-cs"/>
                </a:rPr>
                <a:t>431-375-4321 覆盖 ②③④</a:t>
              </a:r>
            </a:p>
          </p:txBody>
        </p:sp>
        <p:sp>
          <p:nvSpPr>
            <p:cNvPr id="42" name="TextBox 42"/>
            <p:cNvSpPr txBox="1"/>
            <p:nvPr/>
          </p:nvSpPr>
          <p:spPr>
            <a:xfrm>
              <a:off x="8106156" y="3738086"/>
              <a:ext cx="3206496"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无效：⑤ 到 ⑮ 共 11 个等价类，每个单独</a:t>
              </a:r>
              <a:br/>
              <a:r>
                <a:rPr lang="zh-CN" sz="1420" dirty="0">
                  <a:solidFill>
                    <a:srgbClr val="1F2937"/>
                  </a:solidFill>
                  <a:latin typeface="+mn-lt"/>
                  <a:ea typeface="+mn-ea"/>
                  <a:cs typeface="+mn-cs"/>
                </a:rPr>
                <a:t>写一条用例，其余两部分都填合法值</a:t>
              </a:r>
            </a:p>
          </p:txBody>
        </p:sp>
        <p:sp>
          <p:nvSpPr>
            <p:cNvPr id="43" name="TextBox 43"/>
            <p:cNvSpPr txBox="1"/>
            <p:nvPr/>
          </p:nvSpPr>
          <p:spPr>
            <a:xfrm>
              <a:off x="8107299" y="4325302"/>
              <a:ext cx="306781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例如覆盖 ⑨ 的用例是 431-075-4321，地区码</a:t>
              </a:r>
              <a:br/>
              <a:r>
                <a:rPr lang="zh-CN" sz="1200" dirty="0">
                  <a:solidFill>
                    <a:srgbClr val="5B6475"/>
                  </a:solidFill>
                  <a:latin typeface="+mn-lt"/>
                  <a:ea typeface="+mn-ea"/>
                  <a:cs typeface="+mn-cs"/>
                </a:rPr>
                <a:t>和后缀都合法，只让前缀以 0 开头</a:t>
              </a:r>
            </a:p>
          </p:txBody>
        </p:sp>
      </p:grpSp>
      <p:grpSp>
        <p:nvGrpSpPr>
          <p:cNvPr id="51" name="c2-callout-2"/>
          <p:cNvGrpSpPr/>
          <p:nvPr/>
        </p:nvGrpSpPr>
        <p:grpSpPr>
          <a:xfrm>
            <a:off x="7871460" y="5123498"/>
            <a:ext cx="3787140" cy="1201102"/>
            <a:chOff x="7871460" y="5123498"/>
            <a:chExt cx="3787140" cy="1201102"/>
          </a:xfrm>
        </p:grpSpPr>
        <p:sp>
          <p:nvSpPr>
            <p:cNvPr id="45" name="Rectangle 45"/>
            <p:cNvSpPr/>
            <p:nvPr/>
          </p:nvSpPr>
          <p:spPr>
            <a:xfrm>
              <a:off x="7871460" y="5123498"/>
              <a:ext cx="3787140" cy="1201102"/>
            </a:xfrm>
            <a:prstGeom prst="roundRect">
              <a:avLst>
                <a:gd name="adj" fmla="val 9516"/>
              </a:avLst>
            </a:prstGeom>
            <a:solidFill>
              <a:srgbClr val="F4F6FB"/>
            </a:solidFill>
            <a:ln>
              <a:noFill/>
            </a:ln>
          </p:spPr>
        </p:sp>
        <p:grpSp>
          <p:nvGrpSpPr>
            <p:cNvPr id="49" name="Group 49"/>
            <p:cNvGrpSpPr/>
            <p:nvPr/>
          </p:nvGrpSpPr>
          <p:grpSpPr>
            <a:xfrm>
              <a:off x="8076248" y="5623560"/>
              <a:ext cx="200026" cy="200026"/>
              <a:chOff x="8076248" y="5623560"/>
              <a:chExt cx="200026" cy="200026"/>
            </a:xfrm>
          </p:grpSpPr>
          <p:sp>
            <p:nvSpPr>
              <p:cNvPr id="46" name="Freeform 46"/>
              <p:cNvSpPr/>
              <p:nvPr/>
            </p:nvSpPr>
            <p:spPr>
              <a:xfrm>
                <a:off x="8076248" y="562356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7" name="Freeform 47"/>
              <p:cNvSpPr/>
              <p:nvPr/>
            </p:nvSpPr>
            <p:spPr>
              <a:xfrm>
                <a:off x="8176260" y="569023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8" name="Freeform 48"/>
              <p:cNvSpPr/>
              <p:nvPr/>
            </p:nvSpPr>
            <p:spPr>
              <a:xfrm>
                <a:off x="8165148" y="572357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0" name="TextBox 50"/>
            <p:cNvSpPr txBox="1"/>
            <p:nvPr/>
          </p:nvSpPr>
          <p:spPr>
            <a:xfrm>
              <a:off x="8378571" y="5362099"/>
              <a:ext cx="2954020"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前缀不许以 0 或 1 开头，所以有效取</a:t>
              </a:r>
              <a:br/>
              <a:r>
                <a:rPr lang="zh-CN" sz="1420" dirty="0">
                  <a:solidFill>
                    <a:srgbClr val="1F2937"/>
                  </a:solidFill>
                  <a:latin typeface="+mn-lt"/>
                  <a:ea typeface="+mn-ea"/>
                  <a:cs typeface="+mn-cs"/>
                </a:rPr>
                <a:t>值范围恰好是 200 到 999，这正是</a:t>
              </a:r>
              <a:br/>
              <a:r>
                <a:rPr lang="zh-CN" sz="1420" dirty="0">
                  <a:solidFill>
                    <a:srgbClr val="1F2937"/>
                  </a:solidFill>
                  <a:latin typeface="+mn-lt"/>
                  <a:ea typeface="+mn-ea"/>
                  <a:cs typeface="+mn-cs"/>
                </a:rPr>
                <a:t>“取值范围”型条件的典型写法。</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1987868" cy="266700"/>
            </a:xfrm>
            <a:prstGeom prst="roundRect">
              <a:avLst>
                <a:gd name="adj" fmla="val 50000"/>
              </a:avLst>
            </a:prstGeom>
            <a:solidFill>
              <a:srgbClr val="E7EDF3"/>
            </a:solidFill>
            <a:ln>
              <a:noFill/>
            </a:ln>
          </p:spPr>
        </p:sp>
        <p:sp>
          <p:nvSpPr>
            <p:cNvPr id="3" name="TextBox 3"/>
            <p:cNvSpPr txBox="1"/>
            <p:nvPr/>
          </p:nvSpPr>
          <p:spPr>
            <a:xfrm>
              <a:off x="608957" y="407194"/>
              <a:ext cx="183580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黑盒测试技术</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边界值分析与错误推测法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842635" cy="1226820"/>
            <a:chOff x="533400" y="1524000"/>
            <a:chExt cx="5842635" cy="1226820"/>
          </a:xfrm>
        </p:grpSpPr>
        <p:sp>
          <p:nvSpPr>
            <p:cNvPr id="7" name="Rectangle 7"/>
            <p:cNvSpPr/>
            <p:nvPr/>
          </p:nvSpPr>
          <p:spPr>
            <a:xfrm>
              <a:off x="533400" y="1524000"/>
              <a:ext cx="5842635" cy="1226820"/>
            </a:xfrm>
            <a:prstGeom prst="roundRect">
              <a:avLst>
                <a:gd name="adj" fmla="val 10870"/>
              </a:avLst>
            </a:prstGeom>
            <a:solidFill>
              <a:srgbClr val="FFFFFF"/>
            </a:solidFill>
            <a:ln w="14288">
              <a:solidFill>
                <a:srgbClr val="D9DFEA"/>
              </a:solidFill>
            </a:ln>
          </p:spPr>
        </p:sp>
        <p:sp>
          <p:nvSpPr>
            <p:cNvPr id="8" name="Rectangle 8"/>
            <p:cNvSpPr/>
            <p:nvPr/>
          </p:nvSpPr>
          <p:spPr>
            <a:xfrm>
              <a:off x="542925" y="1657350"/>
              <a:ext cx="47625" cy="960120"/>
            </a:xfrm>
            <a:prstGeom prst="roundRect">
              <a:avLst>
                <a:gd name="adj" fmla="val 50000"/>
              </a:avLst>
            </a:prstGeom>
            <a:solidFill>
              <a:srgbClr val="334E68"/>
            </a:solidFill>
            <a:ln>
              <a:noFill/>
            </a:ln>
          </p:spPr>
        </p:sp>
        <p:sp>
          <p:nvSpPr>
            <p:cNvPr id="9" name="Rectangle 9"/>
            <p:cNvSpPr/>
            <p:nvPr/>
          </p:nvSpPr>
          <p:spPr>
            <a:xfrm>
              <a:off x="763905" y="1716405"/>
              <a:ext cx="876300" cy="247650"/>
            </a:xfrm>
            <a:prstGeom prst="roundRect">
              <a:avLst>
                <a:gd name="adj" fmla="val 50000"/>
              </a:avLst>
            </a:prstGeom>
            <a:solidFill>
              <a:srgbClr val="E7EDF3"/>
            </a:solidFill>
            <a:ln>
              <a:noFill/>
            </a:ln>
          </p:spPr>
        </p:sp>
        <p:sp>
          <p:nvSpPr>
            <p:cNvPr id="10" name="TextBox 10"/>
            <p:cNvSpPr txBox="1"/>
            <p:nvPr/>
          </p:nvSpPr>
          <p:spPr>
            <a:xfrm>
              <a:off x="843343" y="1750695"/>
              <a:ext cx="717423"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边界值分析</a:t>
              </a:r>
            </a:p>
          </p:txBody>
        </p:sp>
        <p:sp>
          <p:nvSpPr>
            <p:cNvPr id="11" name="TextBox 11"/>
            <p:cNvSpPr txBox="1"/>
            <p:nvPr/>
          </p:nvSpPr>
          <p:spPr>
            <a:xfrm>
              <a:off x="1747647" y="1756410"/>
              <a:ext cx="328498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大量错误发生在输入或输出范围的边界上</a:t>
              </a:r>
            </a:p>
          </p:txBody>
        </p:sp>
        <p:sp>
          <p:nvSpPr>
            <p:cNvPr id="12" name="TextBox 12"/>
            <p:cNvSpPr txBox="1"/>
            <p:nvPr/>
          </p:nvSpPr>
          <p:spPr>
            <a:xfrm>
              <a:off x="757047" y="2090738"/>
              <a:ext cx="51572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针对各种边界情况设计测试用例，可以查出更多的错误。通常与等价</a:t>
              </a:r>
              <a:br/>
              <a:r>
                <a:rPr lang="zh-CN" sz="1350" dirty="0">
                  <a:solidFill>
                    <a:srgbClr val="1F2937"/>
                  </a:solidFill>
                  <a:latin typeface="+mn-lt"/>
                  <a:ea typeface="+mn-ea"/>
                  <a:cs typeface="+mn-cs"/>
                </a:rPr>
                <a:t>划分配合使用。</a:t>
              </a:r>
            </a:p>
          </p:txBody>
        </p:sp>
      </p:grpSp>
      <p:grpSp>
        <p:nvGrpSpPr>
          <p:cNvPr id="46" name="c1-table-2"/>
          <p:cNvGrpSpPr/>
          <p:nvPr/>
        </p:nvGrpSpPr>
        <p:grpSpPr>
          <a:xfrm>
            <a:off x="533400" y="2926080"/>
            <a:ext cx="5842635" cy="2703196"/>
            <a:chOff x="533400" y="2926080"/>
            <a:chExt cx="5842635" cy="2703196"/>
          </a:xfrm>
        </p:grpSpPr>
        <p:sp>
          <p:nvSpPr>
            <p:cNvPr id="14" name="Rectangle 14"/>
            <p:cNvSpPr/>
            <p:nvPr/>
          </p:nvSpPr>
          <p:spPr>
            <a:xfrm>
              <a:off x="533400" y="2926080"/>
              <a:ext cx="5842635" cy="444818"/>
            </a:xfrm>
            <a:prstGeom prst="rect">
              <a:avLst/>
            </a:prstGeom>
            <a:solidFill>
              <a:srgbClr val="334E68"/>
            </a:solidFill>
            <a:ln>
              <a:noFill/>
            </a:ln>
          </p:spPr>
        </p:sp>
        <p:sp>
          <p:nvSpPr>
            <p:cNvPr id="15" name="TextBox 15"/>
            <p:cNvSpPr txBox="1"/>
            <p:nvPr/>
          </p:nvSpPr>
          <p:spPr>
            <a:xfrm>
              <a:off x="695325" y="3053715"/>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编号</a:t>
              </a:r>
            </a:p>
          </p:txBody>
        </p:sp>
        <p:sp>
          <p:nvSpPr>
            <p:cNvPr id="16" name="TextBox 16"/>
            <p:cNvSpPr txBox="1"/>
            <p:nvPr/>
          </p:nvSpPr>
          <p:spPr>
            <a:xfrm>
              <a:off x="1594676" y="3053715"/>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给定输入</a:t>
              </a:r>
            </a:p>
          </p:txBody>
        </p:sp>
        <p:sp>
          <p:nvSpPr>
            <p:cNvPr id="17" name="TextBox 17"/>
            <p:cNvSpPr txBox="1"/>
            <p:nvPr/>
          </p:nvSpPr>
          <p:spPr>
            <a:xfrm>
              <a:off x="3347275" y="3053715"/>
              <a:ext cx="740664"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预期输出</a:t>
              </a:r>
            </a:p>
          </p:txBody>
        </p:sp>
        <p:sp>
          <p:nvSpPr>
            <p:cNvPr id="18" name="TextBox 18"/>
            <p:cNvSpPr txBox="1"/>
            <p:nvPr/>
          </p:nvSpPr>
          <p:spPr>
            <a:xfrm>
              <a:off x="5370195" y="3053715"/>
              <a:ext cx="377190"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说明</a:t>
              </a:r>
            </a:p>
          </p:txBody>
        </p:sp>
        <p:sp>
          <p:nvSpPr>
            <p:cNvPr id="19" name="TextBox 19"/>
            <p:cNvSpPr txBox="1"/>
            <p:nvPr/>
          </p:nvSpPr>
          <p:spPr>
            <a:xfrm>
              <a:off x="632270" y="3498532"/>
              <a:ext cx="43352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(12)</a:t>
              </a:r>
            </a:p>
          </p:txBody>
        </p:sp>
        <p:sp>
          <p:nvSpPr>
            <p:cNvPr id="20" name="TextBox 20"/>
            <p:cNvSpPr txBox="1"/>
            <p:nvPr/>
          </p:nvSpPr>
          <p:spPr>
            <a:xfrm>
              <a:off x="1333310" y="3498532"/>
              <a:ext cx="81335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'-32768'</a:t>
              </a:r>
            </a:p>
          </p:txBody>
        </p:sp>
        <p:sp>
          <p:nvSpPr>
            <p:cNvPr id="21" name="Rectangle 21"/>
            <p:cNvSpPr/>
            <p:nvPr/>
          </p:nvSpPr>
          <p:spPr>
            <a:xfrm>
              <a:off x="2705100" y="3380422"/>
              <a:ext cx="2025968" cy="425768"/>
            </a:xfrm>
            <a:prstGeom prst="rect">
              <a:avLst/>
            </a:prstGeom>
            <a:solidFill>
              <a:srgbClr val="E3F5F1"/>
            </a:solidFill>
            <a:ln>
              <a:noFill/>
            </a:ln>
          </p:spPr>
        </p:sp>
        <p:sp>
          <p:nvSpPr>
            <p:cNvPr id="22" name="TextBox 22"/>
            <p:cNvSpPr txBox="1"/>
            <p:nvPr/>
          </p:nvSpPr>
          <p:spPr>
            <a:xfrm>
              <a:off x="2794444" y="3498532"/>
              <a:ext cx="6134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-32768</a:t>
              </a:r>
            </a:p>
          </p:txBody>
        </p:sp>
        <p:sp>
          <p:nvSpPr>
            <p:cNvPr id="23" name="TextBox 23"/>
            <p:cNvSpPr txBox="1"/>
            <p:nvPr/>
          </p:nvSpPr>
          <p:spPr>
            <a:xfrm>
              <a:off x="4839462" y="3498532"/>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等于下界</a:t>
              </a:r>
            </a:p>
          </p:txBody>
        </p:sp>
        <p:sp>
          <p:nvSpPr>
            <p:cNvPr id="24" name="Rectangle 24"/>
            <p:cNvSpPr/>
            <p:nvPr/>
          </p:nvSpPr>
          <p:spPr>
            <a:xfrm>
              <a:off x="533400" y="3810000"/>
              <a:ext cx="5842635" cy="9525"/>
            </a:xfrm>
            <a:prstGeom prst="rect">
              <a:avLst/>
            </a:prstGeom>
            <a:solidFill>
              <a:srgbClr val="D9DFEA"/>
            </a:solidFill>
            <a:ln>
              <a:noFill/>
            </a:ln>
          </p:spPr>
        </p:sp>
        <p:sp>
          <p:nvSpPr>
            <p:cNvPr id="25" name="Rectangle 25"/>
            <p:cNvSpPr/>
            <p:nvPr/>
          </p:nvSpPr>
          <p:spPr>
            <a:xfrm>
              <a:off x="533400" y="3814762"/>
              <a:ext cx="5842635" cy="684848"/>
            </a:xfrm>
            <a:prstGeom prst="rect">
              <a:avLst/>
            </a:prstGeom>
            <a:solidFill>
              <a:srgbClr val="F4F6FB"/>
            </a:solidFill>
            <a:ln>
              <a:noFill/>
            </a:ln>
          </p:spPr>
        </p:sp>
        <p:sp>
          <p:nvSpPr>
            <p:cNvPr id="26" name="TextBox 26"/>
            <p:cNvSpPr txBox="1"/>
            <p:nvPr/>
          </p:nvSpPr>
          <p:spPr>
            <a:xfrm>
              <a:off x="632270" y="4063365"/>
              <a:ext cx="43352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(13)</a:t>
              </a:r>
            </a:p>
          </p:txBody>
        </p:sp>
        <p:sp>
          <p:nvSpPr>
            <p:cNvPr id="27" name="TextBox 27"/>
            <p:cNvSpPr txBox="1"/>
            <p:nvPr/>
          </p:nvSpPr>
          <p:spPr>
            <a:xfrm>
              <a:off x="1333310" y="3943350"/>
              <a:ext cx="673798"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空格加</a:t>
              </a:r>
              <a:br/>
              <a:r>
                <a:rPr lang="zh-CN" sz="1350" dirty="0">
                  <a:solidFill>
                    <a:srgbClr val="1F2937"/>
                  </a:solidFill>
                  <a:latin typeface="+mn-lt"/>
                  <a:ea typeface="+mn-ea"/>
                  <a:cs typeface="+mn-cs"/>
                </a:rPr>
                <a:t>'32767'</a:t>
              </a:r>
            </a:p>
          </p:txBody>
        </p:sp>
        <p:sp>
          <p:nvSpPr>
            <p:cNvPr id="28" name="Rectangle 28"/>
            <p:cNvSpPr/>
            <p:nvPr/>
          </p:nvSpPr>
          <p:spPr>
            <a:xfrm>
              <a:off x="2705100" y="3824288"/>
              <a:ext cx="2025968" cy="665798"/>
            </a:xfrm>
            <a:prstGeom prst="rect">
              <a:avLst/>
            </a:prstGeom>
            <a:solidFill>
              <a:srgbClr val="E3F5F1"/>
            </a:solidFill>
            <a:ln>
              <a:noFill/>
            </a:ln>
          </p:spPr>
        </p:sp>
        <p:sp>
          <p:nvSpPr>
            <p:cNvPr id="29" name="TextBox 29"/>
            <p:cNvSpPr txBox="1"/>
            <p:nvPr/>
          </p:nvSpPr>
          <p:spPr>
            <a:xfrm>
              <a:off x="2794444" y="4063365"/>
              <a:ext cx="5134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32767</a:t>
              </a:r>
            </a:p>
          </p:txBody>
        </p:sp>
        <p:sp>
          <p:nvSpPr>
            <p:cNvPr id="30" name="TextBox 30"/>
            <p:cNvSpPr txBox="1"/>
            <p:nvPr/>
          </p:nvSpPr>
          <p:spPr>
            <a:xfrm>
              <a:off x="4839462" y="406336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等于上界</a:t>
              </a:r>
            </a:p>
          </p:txBody>
        </p:sp>
        <p:sp>
          <p:nvSpPr>
            <p:cNvPr id="31" name="Rectangle 31"/>
            <p:cNvSpPr/>
            <p:nvPr/>
          </p:nvSpPr>
          <p:spPr>
            <a:xfrm>
              <a:off x="533400" y="4494848"/>
              <a:ext cx="5842635" cy="9525"/>
            </a:xfrm>
            <a:prstGeom prst="rect">
              <a:avLst/>
            </a:prstGeom>
            <a:solidFill>
              <a:srgbClr val="D9DFEA"/>
            </a:solidFill>
            <a:ln>
              <a:noFill/>
            </a:ln>
          </p:spPr>
        </p:sp>
        <p:sp>
          <p:nvSpPr>
            <p:cNvPr id="32" name="TextBox 32"/>
            <p:cNvSpPr txBox="1"/>
            <p:nvPr/>
          </p:nvSpPr>
          <p:spPr>
            <a:xfrm>
              <a:off x="632270" y="4628198"/>
              <a:ext cx="43352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(14)</a:t>
              </a:r>
            </a:p>
          </p:txBody>
        </p:sp>
        <p:sp>
          <p:nvSpPr>
            <p:cNvPr id="33" name="TextBox 33"/>
            <p:cNvSpPr txBox="1"/>
            <p:nvPr/>
          </p:nvSpPr>
          <p:spPr>
            <a:xfrm>
              <a:off x="1333310" y="4628198"/>
              <a:ext cx="81335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'-32769'</a:t>
              </a:r>
            </a:p>
          </p:txBody>
        </p:sp>
        <p:sp>
          <p:nvSpPr>
            <p:cNvPr id="34" name="TextBox 34"/>
            <p:cNvSpPr txBox="1"/>
            <p:nvPr/>
          </p:nvSpPr>
          <p:spPr>
            <a:xfrm>
              <a:off x="2794444" y="4628198"/>
              <a:ext cx="13040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错误——无效输入</a:t>
              </a:r>
            </a:p>
          </p:txBody>
        </p:sp>
        <p:sp>
          <p:nvSpPr>
            <p:cNvPr id="35" name="TextBox 35"/>
            <p:cNvSpPr txBox="1"/>
            <p:nvPr/>
          </p:nvSpPr>
          <p:spPr>
            <a:xfrm>
              <a:off x="4839462" y="4628198"/>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刚越下界</a:t>
              </a:r>
            </a:p>
          </p:txBody>
        </p:sp>
        <p:sp>
          <p:nvSpPr>
            <p:cNvPr id="36" name="Rectangle 36"/>
            <p:cNvSpPr/>
            <p:nvPr/>
          </p:nvSpPr>
          <p:spPr>
            <a:xfrm>
              <a:off x="533400" y="4939665"/>
              <a:ext cx="5842635" cy="9525"/>
            </a:xfrm>
            <a:prstGeom prst="rect">
              <a:avLst/>
            </a:prstGeom>
            <a:solidFill>
              <a:srgbClr val="D9DFEA"/>
            </a:solidFill>
            <a:ln>
              <a:noFill/>
            </a:ln>
          </p:spPr>
        </p:sp>
        <p:sp>
          <p:nvSpPr>
            <p:cNvPr id="37" name="Rectangle 37"/>
            <p:cNvSpPr/>
            <p:nvPr/>
          </p:nvSpPr>
          <p:spPr>
            <a:xfrm>
              <a:off x="533400" y="4944428"/>
              <a:ext cx="5842635" cy="684848"/>
            </a:xfrm>
            <a:prstGeom prst="rect">
              <a:avLst/>
            </a:prstGeom>
            <a:solidFill>
              <a:srgbClr val="F4F6FB"/>
            </a:solidFill>
            <a:ln>
              <a:noFill/>
            </a:ln>
          </p:spPr>
        </p:sp>
        <p:sp>
          <p:nvSpPr>
            <p:cNvPr id="38" name="TextBox 38"/>
            <p:cNvSpPr txBox="1"/>
            <p:nvPr/>
          </p:nvSpPr>
          <p:spPr>
            <a:xfrm>
              <a:off x="632270" y="5192078"/>
              <a:ext cx="43352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(15)</a:t>
              </a:r>
            </a:p>
          </p:txBody>
        </p:sp>
        <p:sp>
          <p:nvSpPr>
            <p:cNvPr id="39" name="TextBox 39"/>
            <p:cNvSpPr txBox="1"/>
            <p:nvPr/>
          </p:nvSpPr>
          <p:spPr>
            <a:xfrm>
              <a:off x="1333310" y="5072062"/>
              <a:ext cx="673798" cy="504063"/>
            </a:xfrm>
            <a:prstGeom prst="rect">
              <a:avLst/>
            </a:prstGeom>
            <a:noFill/>
            <a:ln>
              <a:noFill/>
            </a:ln>
          </p:spPr>
          <p:txBody>
            <a:bodyPr wrap="none" lIns="0" tIns="0" rIns="0" bIns="0" anchor="t" anchorCtr="0">
              <a:spAutoFit/>
            </a:bodyPr>
            <a:lstStyle/>
            <a:p>
              <a:pPr algn="l">
                <a:lnSpc>
                  <a:spcPts val="1890"/>
                </a:lnSpc>
              </a:pPr>
              <a:r>
                <a:rPr lang="zh-CN" sz="1350" dirty="0">
                  <a:solidFill>
                    <a:srgbClr val="1F2937"/>
                  </a:solidFill>
                  <a:latin typeface="+mn-lt"/>
                  <a:ea typeface="+mn-ea"/>
                  <a:cs typeface="+mn-cs"/>
                </a:rPr>
                <a:t>空格加</a:t>
              </a:r>
              <a:br/>
              <a:r>
                <a:rPr lang="zh-CN" sz="1350" dirty="0">
                  <a:solidFill>
                    <a:srgbClr val="1F2937"/>
                  </a:solidFill>
                  <a:latin typeface="+mn-lt"/>
                  <a:ea typeface="+mn-ea"/>
                  <a:cs typeface="+mn-cs"/>
                </a:rPr>
                <a:t>'32768'</a:t>
              </a:r>
            </a:p>
          </p:txBody>
        </p:sp>
        <p:sp>
          <p:nvSpPr>
            <p:cNvPr id="40" name="TextBox 40"/>
            <p:cNvSpPr txBox="1"/>
            <p:nvPr/>
          </p:nvSpPr>
          <p:spPr>
            <a:xfrm>
              <a:off x="2794444" y="5192078"/>
              <a:ext cx="13040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错误——无效输入</a:t>
              </a:r>
            </a:p>
          </p:txBody>
        </p:sp>
        <p:sp>
          <p:nvSpPr>
            <p:cNvPr id="41" name="TextBox 41"/>
            <p:cNvSpPr txBox="1"/>
            <p:nvPr/>
          </p:nvSpPr>
          <p:spPr>
            <a:xfrm>
              <a:off x="4839462" y="5192078"/>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刚越上界</a:t>
              </a:r>
            </a:p>
          </p:txBody>
        </p:sp>
        <p:sp>
          <p:nvSpPr>
            <p:cNvPr id="42" name="Rectangle 42"/>
            <p:cNvSpPr/>
            <p:nvPr/>
          </p:nvSpPr>
          <p:spPr>
            <a:xfrm>
              <a:off x="533400" y="2926080"/>
              <a:ext cx="5842635" cy="2703195"/>
            </a:xfrm>
            <a:prstGeom prst="rect">
              <a:avLst/>
            </a:prstGeom>
            <a:noFill/>
            <a:ln w="14288">
              <a:solidFill>
                <a:srgbClr val="D9DFEA"/>
              </a:solidFill>
            </a:ln>
          </p:spPr>
        </p:sp>
        <p:sp>
          <p:nvSpPr>
            <p:cNvPr id="43" name="Rectangle 43"/>
            <p:cNvSpPr/>
            <p:nvPr/>
          </p:nvSpPr>
          <p:spPr>
            <a:xfrm>
              <a:off x="1229678" y="2926080"/>
              <a:ext cx="9525" cy="2703195"/>
            </a:xfrm>
            <a:prstGeom prst="rect">
              <a:avLst/>
            </a:prstGeom>
            <a:solidFill>
              <a:srgbClr val="D9DFEA"/>
            </a:solidFill>
            <a:ln>
              <a:noFill/>
            </a:ln>
          </p:spPr>
        </p:sp>
        <p:sp>
          <p:nvSpPr>
            <p:cNvPr id="44" name="Rectangle 44"/>
            <p:cNvSpPr/>
            <p:nvPr/>
          </p:nvSpPr>
          <p:spPr>
            <a:xfrm>
              <a:off x="2690812" y="2926080"/>
              <a:ext cx="9525" cy="2703195"/>
            </a:xfrm>
            <a:prstGeom prst="rect">
              <a:avLst/>
            </a:prstGeom>
            <a:solidFill>
              <a:srgbClr val="D9DFEA"/>
            </a:solidFill>
            <a:ln>
              <a:noFill/>
            </a:ln>
          </p:spPr>
        </p:sp>
        <p:sp>
          <p:nvSpPr>
            <p:cNvPr id="45" name="Rectangle 45"/>
            <p:cNvSpPr/>
            <p:nvPr/>
          </p:nvSpPr>
          <p:spPr>
            <a:xfrm>
              <a:off x="4735830" y="2926080"/>
              <a:ext cx="9525" cy="2703195"/>
            </a:xfrm>
            <a:prstGeom prst="rect">
              <a:avLst/>
            </a:prstGeom>
            <a:solidFill>
              <a:srgbClr val="D9DFEA"/>
            </a:solidFill>
            <a:ln>
              <a:noFill/>
            </a:ln>
          </p:spPr>
        </p:sp>
      </p:grpSp>
      <p:grpSp>
        <p:nvGrpSpPr>
          <p:cNvPr id="54" name="c2-card-1"/>
          <p:cNvGrpSpPr/>
          <p:nvPr/>
        </p:nvGrpSpPr>
        <p:grpSpPr>
          <a:xfrm>
            <a:off x="6680835" y="1524000"/>
            <a:ext cx="4977765" cy="1697355"/>
            <a:chOff x="6680835" y="1524000"/>
            <a:chExt cx="4977765" cy="1697355"/>
          </a:xfrm>
        </p:grpSpPr>
        <p:sp>
          <p:nvSpPr>
            <p:cNvPr id="47" name="Rectangle 47"/>
            <p:cNvSpPr/>
            <p:nvPr/>
          </p:nvSpPr>
          <p:spPr>
            <a:xfrm>
              <a:off x="6680835" y="1524000"/>
              <a:ext cx="4977765" cy="1697355"/>
            </a:xfrm>
            <a:prstGeom prst="roundRect">
              <a:avLst>
                <a:gd name="adj" fmla="val 7856"/>
              </a:avLst>
            </a:prstGeom>
            <a:solidFill>
              <a:srgbClr val="FFFFFF"/>
            </a:solidFill>
            <a:ln w="14288">
              <a:solidFill>
                <a:srgbClr val="D9DFEA"/>
              </a:solidFill>
            </a:ln>
          </p:spPr>
        </p:sp>
        <p:sp>
          <p:nvSpPr>
            <p:cNvPr id="48" name="Rectangle 48"/>
            <p:cNvSpPr/>
            <p:nvPr/>
          </p:nvSpPr>
          <p:spPr>
            <a:xfrm>
              <a:off x="6690360" y="1657350"/>
              <a:ext cx="47625" cy="1430655"/>
            </a:xfrm>
            <a:prstGeom prst="roundRect">
              <a:avLst>
                <a:gd name="adj" fmla="val 50000"/>
              </a:avLst>
            </a:prstGeom>
            <a:solidFill>
              <a:srgbClr val="334E68"/>
            </a:solidFill>
            <a:ln>
              <a:noFill/>
            </a:ln>
          </p:spPr>
        </p:sp>
        <p:sp>
          <p:nvSpPr>
            <p:cNvPr id="49" name="Rectangle 49"/>
            <p:cNvSpPr/>
            <p:nvPr/>
          </p:nvSpPr>
          <p:spPr>
            <a:xfrm>
              <a:off x="6911340" y="1716405"/>
              <a:ext cx="876300" cy="247650"/>
            </a:xfrm>
            <a:prstGeom prst="roundRect">
              <a:avLst>
                <a:gd name="adj" fmla="val 50000"/>
              </a:avLst>
            </a:prstGeom>
            <a:solidFill>
              <a:srgbClr val="E7EDF3"/>
            </a:solidFill>
            <a:ln>
              <a:noFill/>
            </a:ln>
          </p:spPr>
        </p:sp>
        <p:sp>
          <p:nvSpPr>
            <p:cNvPr id="50" name="TextBox 50"/>
            <p:cNvSpPr txBox="1"/>
            <p:nvPr/>
          </p:nvSpPr>
          <p:spPr>
            <a:xfrm>
              <a:off x="6990779" y="1750695"/>
              <a:ext cx="717423"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错误推测法</a:t>
              </a:r>
            </a:p>
          </p:txBody>
        </p:sp>
        <p:sp>
          <p:nvSpPr>
            <p:cNvPr id="51" name="TextBox 51"/>
            <p:cNvSpPr txBox="1"/>
            <p:nvPr/>
          </p:nvSpPr>
          <p:spPr>
            <a:xfrm>
              <a:off x="7895082" y="1756410"/>
              <a:ext cx="310324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靠经验和直觉列举容易出错的特殊情况</a:t>
              </a:r>
            </a:p>
          </p:txBody>
        </p:sp>
        <p:sp>
          <p:nvSpPr>
            <p:cNvPr id="52" name="TextBox 52"/>
            <p:cNvSpPr txBox="1"/>
            <p:nvPr/>
          </p:nvSpPr>
          <p:spPr>
            <a:xfrm>
              <a:off x="6904482" y="2090738"/>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列举出程序中所有可能有的错误和容易发生错误的特殊情</a:t>
              </a:r>
              <a:br/>
              <a:r>
                <a:rPr lang="zh-CN" sz="1350" dirty="0">
                  <a:solidFill>
                    <a:srgbClr val="1F2937"/>
                  </a:solidFill>
                  <a:latin typeface="+mn-lt"/>
                  <a:ea typeface="+mn-ea"/>
                  <a:cs typeface="+mn-cs"/>
                </a:rPr>
                <a:t>况，根据它们选择测试用例。</a:t>
              </a:r>
            </a:p>
          </p:txBody>
        </p:sp>
        <p:sp>
          <p:nvSpPr>
            <p:cNvPr id="53" name="TextBox 53"/>
            <p:cNvSpPr txBox="1"/>
            <p:nvPr/>
          </p:nvSpPr>
          <p:spPr>
            <a:xfrm>
              <a:off x="6905625" y="2646521"/>
              <a:ext cx="4136390"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空表、零、负数、第一个元素、最后一个元素、重复元素、超长输</a:t>
              </a:r>
              <a:br/>
              <a:r>
                <a:rPr lang="zh-CN" sz="1120" dirty="0">
                  <a:solidFill>
                    <a:srgbClr val="5B6475"/>
                  </a:solidFill>
                  <a:latin typeface="+mn-lt"/>
                  <a:ea typeface="+mn-ea"/>
                  <a:cs typeface="+mn-cs"/>
                </a:rPr>
                <a:t>入，都是常备清单上的条目</a:t>
              </a:r>
            </a:p>
          </p:txBody>
        </p:sp>
      </p:grpSp>
      <p:grpSp>
        <p:nvGrpSpPr>
          <p:cNvPr id="71" name="c2-bullets-2"/>
          <p:cNvGrpSpPr/>
          <p:nvPr/>
        </p:nvGrpSpPr>
        <p:grpSpPr>
          <a:xfrm>
            <a:off x="6673977" y="3418522"/>
            <a:ext cx="5026533" cy="1828991"/>
            <a:chOff x="6673977" y="3418522"/>
            <a:chExt cx="5026533" cy="1828991"/>
          </a:xfrm>
        </p:grpSpPr>
        <p:sp>
          <p:nvSpPr>
            <p:cNvPr id="55" name="TextBox 55"/>
            <p:cNvSpPr txBox="1"/>
            <p:nvPr/>
          </p:nvSpPr>
          <p:spPr>
            <a:xfrm>
              <a:off x="6673977" y="3418522"/>
              <a:ext cx="1549599"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Myers 的综合策略</a:t>
              </a:r>
            </a:p>
          </p:txBody>
        </p:sp>
        <p:sp>
          <p:nvSpPr>
            <p:cNvPr id="56" name="Ellipse 56"/>
            <p:cNvSpPr/>
            <p:nvPr/>
          </p:nvSpPr>
          <p:spPr>
            <a:xfrm>
              <a:off x="6680835" y="3726180"/>
              <a:ext cx="192405" cy="192405"/>
            </a:xfrm>
            <a:prstGeom prst="ellipse">
              <a:avLst/>
            </a:prstGeom>
            <a:solidFill>
              <a:srgbClr val="334E68"/>
            </a:solidFill>
            <a:ln>
              <a:noFill/>
            </a:ln>
          </p:spPr>
        </p:sp>
        <p:sp>
          <p:nvSpPr>
            <p:cNvPr id="57" name="TextBox 57"/>
            <p:cNvSpPr txBox="1"/>
            <p:nvPr/>
          </p:nvSpPr>
          <p:spPr>
            <a:xfrm>
              <a:off x="6736513" y="376551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58" name="TextBox 58"/>
            <p:cNvSpPr txBox="1"/>
            <p:nvPr/>
          </p:nvSpPr>
          <p:spPr>
            <a:xfrm>
              <a:off x="6961632" y="3738562"/>
              <a:ext cx="437540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任何情况下都先用边界值分析，它发现错误的能力最强</a:t>
              </a:r>
            </a:p>
          </p:txBody>
        </p:sp>
        <p:sp>
          <p:nvSpPr>
            <p:cNvPr id="59" name="Ellipse 59"/>
            <p:cNvSpPr/>
            <p:nvPr/>
          </p:nvSpPr>
          <p:spPr>
            <a:xfrm>
              <a:off x="6680835" y="4037648"/>
              <a:ext cx="192405" cy="192405"/>
            </a:xfrm>
            <a:prstGeom prst="ellipse">
              <a:avLst/>
            </a:prstGeom>
            <a:solidFill>
              <a:srgbClr val="334E68"/>
            </a:solidFill>
            <a:ln>
              <a:noFill/>
            </a:ln>
          </p:spPr>
        </p:sp>
        <p:sp>
          <p:nvSpPr>
            <p:cNvPr id="60" name="TextBox 60"/>
            <p:cNvSpPr txBox="1"/>
            <p:nvPr/>
          </p:nvSpPr>
          <p:spPr>
            <a:xfrm>
              <a:off x="6736513" y="407603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61" name="TextBox 61"/>
            <p:cNvSpPr txBox="1"/>
            <p:nvPr/>
          </p:nvSpPr>
          <p:spPr>
            <a:xfrm>
              <a:off x="6961632" y="4050030"/>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必要时用等价类划分补充一些用例</a:t>
              </a:r>
            </a:p>
          </p:txBody>
        </p:sp>
        <p:sp>
          <p:nvSpPr>
            <p:cNvPr id="62" name="Ellipse 62"/>
            <p:cNvSpPr/>
            <p:nvPr/>
          </p:nvSpPr>
          <p:spPr>
            <a:xfrm>
              <a:off x="6680835" y="4349115"/>
              <a:ext cx="192405" cy="192405"/>
            </a:xfrm>
            <a:prstGeom prst="ellipse">
              <a:avLst/>
            </a:prstGeom>
            <a:solidFill>
              <a:srgbClr val="334E68"/>
            </a:solidFill>
            <a:ln>
              <a:noFill/>
            </a:ln>
          </p:spPr>
        </p:sp>
        <p:sp>
          <p:nvSpPr>
            <p:cNvPr id="63" name="TextBox 63"/>
            <p:cNvSpPr txBox="1"/>
            <p:nvPr/>
          </p:nvSpPr>
          <p:spPr>
            <a:xfrm>
              <a:off x="6736513" y="438750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64" name="TextBox 64"/>
            <p:cNvSpPr txBox="1"/>
            <p:nvPr/>
          </p:nvSpPr>
          <p:spPr>
            <a:xfrm>
              <a:off x="6961632" y="4361498"/>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用错误推测法再追加一些用例</a:t>
              </a:r>
            </a:p>
          </p:txBody>
        </p:sp>
        <p:sp>
          <p:nvSpPr>
            <p:cNvPr id="65" name="Ellipse 65"/>
            <p:cNvSpPr/>
            <p:nvPr/>
          </p:nvSpPr>
          <p:spPr>
            <a:xfrm>
              <a:off x="6680835" y="4660582"/>
              <a:ext cx="192405" cy="192405"/>
            </a:xfrm>
            <a:prstGeom prst="ellipse">
              <a:avLst/>
            </a:prstGeom>
            <a:solidFill>
              <a:srgbClr val="334E68"/>
            </a:solidFill>
            <a:ln>
              <a:noFill/>
            </a:ln>
          </p:spPr>
        </p:sp>
        <p:sp>
          <p:nvSpPr>
            <p:cNvPr id="66" name="TextBox 66"/>
            <p:cNvSpPr txBox="1"/>
            <p:nvPr/>
          </p:nvSpPr>
          <p:spPr>
            <a:xfrm>
              <a:off x="6736513" y="469896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67" name="TextBox 67"/>
            <p:cNvSpPr txBox="1"/>
            <p:nvPr/>
          </p:nvSpPr>
          <p:spPr>
            <a:xfrm>
              <a:off x="6961632" y="4672012"/>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对照程序逻辑检查已有用例的逻辑覆盖程度，没达标就补充</a:t>
              </a:r>
            </a:p>
          </p:txBody>
        </p:sp>
        <p:sp>
          <p:nvSpPr>
            <p:cNvPr id="68" name="Ellipse 68"/>
            <p:cNvSpPr/>
            <p:nvPr/>
          </p:nvSpPr>
          <p:spPr>
            <a:xfrm>
              <a:off x="6680835" y="4971098"/>
              <a:ext cx="192405" cy="192405"/>
            </a:xfrm>
            <a:prstGeom prst="ellipse">
              <a:avLst/>
            </a:prstGeom>
            <a:solidFill>
              <a:srgbClr val="334E68"/>
            </a:solidFill>
            <a:ln>
              <a:noFill/>
            </a:ln>
          </p:spPr>
        </p:sp>
        <p:sp>
          <p:nvSpPr>
            <p:cNvPr id="69" name="TextBox 69"/>
            <p:cNvSpPr txBox="1"/>
            <p:nvPr/>
          </p:nvSpPr>
          <p:spPr>
            <a:xfrm>
              <a:off x="6736513" y="50104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70" name="TextBox 70"/>
            <p:cNvSpPr txBox="1"/>
            <p:nvPr/>
          </p:nvSpPr>
          <p:spPr>
            <a:xfrm>
              <a:off x="6961632" y="4983480"/>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功能说明中含输入条件的组合时，一开始就可选用因果图法</a:t>
              </a:r>
            </a:p>
          </p:txBody>
        </p:sp>
      </p:grpSp>
      <p:grpSp>
        <p:nvGrpSpPr>
          <p:cNvPr id="77" name="takeaway"/>
          <p:cNvGrpSpPr/>
          <p:nvPr/>
        </p:nvGrpSpPr>
        <p:grpSpPr>
          <a:xfrm>
            <a:off x="533400" y="5874068"/>
            <a:ext cx="11125200" cy="488632"/>
            <a:chOff x="533400" y="5874068"/>
            <a:chExt cx="11125200" cy="488632"/>
          </a:xfrm>
        </p:grpSpPr>
        <p:sp>
          <p:nvSpPr>
            <p:cNvPr id="72" name="Rectangle 72"/>
            <p:cNvSpPr/>
            <p:nvPr/>
          </p:nvSpPr>
          <p:spPr>
            <a:xfrm>
              <a:off x="533400" y="5874068"/>
              <a:ext cx="11125200" cy="488632"/>
            </a:xfrm>
            <a:prstGeom prst="roundRect">
              <a:avLst>
                <a:gd name="adj" fmla="val 23392"/>
              </a:avLst>
            </a:prstGeom>
            <a:solidFill>
              <a:srgbClr val="334E68"/>
            </a:solidFill>
            <a:ln>
              <a:noFill/>
            </a:ln>
          </p:spPr>
        </p:sp>
        <p:grpSp>
          <p:nvGrpSpPr>
            <p:cNvPr id="75" name="Group 75"/>
            <p:cNvGrpSpPr/>
            <p:nvPr/>
          </p:nvGrpSpPr>
          <p:grpSpPr>
            <a:xfrm>
              <a:off x="738188" y="6017897"/>
              <a:ext cx="200023" cy="200023"/>
              <a:chOff x="738188" y="6017897"/>
              <a:chExt cx="200023" cy="200023"/>
            </a:xfrm>
          </p:grpSpPr>
          <p:sp>
            <p:nvSpPr>
              <p:cNvPr id="73" name="Freeform 73"/>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4" name="Freeform 74"/>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6" name="TextBox 76"/>
            <p:cNvSpPr txBox="1"/>
            <p:nvPr/>
          </p:nvSpPr>
          <p:spPr>
            <a:xfrm>
              <a:off x="1040892" y="6023610"/>
              <a:ext cx="691972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刚好小于、刚好等于、刚好大于边界值的三组数据，比在区间内部随便取值有效得多。</a:t>
              </a:r>
            </a:p>
          </p:txBody>
        </p:sp>
      </p:grpSp>
      <p:grpSp>
        <p:nvGrpSpPr>
          <p:cNvPr id="80" name="footer"/>
          <p:cNvGrpSpPr/>
          <p:nvPr/>
        </p:nvGrpSpPr>
        <p:grpSpPr>
          <a:xfrm>
            <a:off x="528447" y="6581299"/>
            <a:ext cx="11135106" cy="190690"/>
            <a:chOff x="528447" y="6581299"/>
            <a:chExt cx="11135106" cy="190690"/>
          </a:xfrm>
        </p:grpSpPr>
        <p:sp>
          <p:nvSpPr>
            <p:cNvPr id="78" name="TextBox 78"/>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9" name="TextBox 7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08</a:t>
              </a:r>
            </a:p>
          </p:txBody>
        </p:sp>
      </p:grpSp>
      <p:grpSp>
        <p:nvGrpSpPr>
          <p:cNvPr id="16" name="section-title"/>
          <p:cNvGrpSpPr/>
          <p:nvPr/>
        </p:nvGrpSpPr>
        <p:grpSpPr>
          <a:xfrm>
            <a:off x="667512" y="1835468"/>
            <a:ext cx="4024884" cy="2997517"/>
            <a:chOff x="667512" y="1835468"/>
            <a:chExt cx="4024884"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第八部分</a:t>
              </a:r>
            </a:p>
          </p:txBody>
        </p:sp>
        <p:sp>
          <p:nvSpPr>
            <p:cNvPr id="7" name="TextBox 7"/>
            <p:cNvSpPr txBox="1"/>
            <p:nvPr/>
          </p:nvSpPr>
          <p:spPr>
            <a:xfrm>
              <a:off x="667512" y="2240280"/>
              <a:ext cx="3913632"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调试与软件可靠性</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1497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测试之后才轮到调试，可靠性用数据来估</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四类调试方法</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可靠性与可用性</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40868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MTTF 估算与错误总数估计</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56</a:t>
              </a:r>
            </a:p>
          </p:txBody>
        </p:sp>
      </p:grpSp>
    </p:spTree>
  </p:cSld>
  <p:clrMapOvr>
    <a:masterClrMapping/>
  </p:clrMapOvr>
  <p:transition xmlns:p14="http://schemas.microsoft.com/office/powerpoint/2010/main" p14:dur="40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调试与软件可靠性</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调试：测试之后才开始的工作</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card-1"/>
          <p:cNvGrpSpPr/>
          <p:nvPr/>
        </p:nvGrpSpPr>
        <p:grpSpPr>
          <a:xfrm>
            <a:off x="533400" y="1524000"/>
            <a:ext cx="5193982" cy="1574482"/>
            <a:chOff x="533400" y="1524000"/>
            <a:chExt cx="5193982" cy="1574482"/>
          </a:xfrm>
        </p:grpSpPr>
        <p:sp>
          <p:nvSpPr>
            <p:cNvPr id="7" name="Rectangle 7"/>
            <p:cNvSpPr/>
            <p:nvPr/>
          </p:nvSpPr>
          <p:spPr>
            <a:xfrm>
              <a:off x="533400" y="1524000"/>
              <a:ext cx="5193982" cy="1574482"/>
            </a:xfrm>
            <a:prstGeom prst="roundRect">
              <a:avLst>
                <a:gd name="adj" fmla="val 8469"/>
              </a:avLst>
            </a:prstGeom>
            <a:solidFill>
              <a:srgbClr val="FFFFFF"/>
            </a:solidFill>
            <a:ln w="14288">
              <a:solidFill>
                <a:srgbClr val="D9DFEA"/>
              </a:solidFill>
            </a:ln>
          </p:spPr>
        </p:sp>
        <p:sp>
          <p:nvSpPr>
            <p:cNvPr id="8" name="Rectangle 8"/>
            <p:cNvSpPr/>
            <p:nvPr/>
          </p:nvSpPr>
          <p:spPr>
            <a:xfrm>
              <a:off x="542925" y="1657350"/>
              <a:ext cx="47625" cy="1307782"/>
            </a:xfrm>
            <a:prstGeom prst="roundRect">
              <a:avLst>
                <a:gd name="adj" fmla="val 50000"/>
              </a:avLst>
            </a:prstGeom>
            <a:solidFill>
              <a:srgbClr val="334E68"/>
            </a:solidFill>
            <a:ln>
              <a:noFill/>
            </a:ln>
          </p:spPr>
        </p:sp>
        <p:sp>
          <p:nvSpPr>
            <p:cNvPr id="9" name="Rectangle 9"/>
            <p:cNvSpPr/>
            <p:nvPr/>
          </p:nvSpPr>
          <p:spPr>
            <a:xfrm>
              <a:off x="775335" y="1727835"/>
              <a:ext cx="494348" cy="257175"/>
            </a:xfrm>
            <a:prstGeom prst="roundRect">
              <a:avLst>
                <a:gd name="adj" fmla="val 50000"/>
              </a:avLst>
            </a:prstGeom>
            <a:solidFill>
              <a:srgbClr val="E7EDF3"/>
            </a:solidFill>
            <a:ln>
              <a:noFill/>
            </a:ln>
          </p:spPr>
        </p:sp>
        <p:sp>
          <p:nvSpPr>
            <p:cNvPr id="10" name="TextBox 10"/>
            <p:cNvSpPr txBox="1"/>
            <p:nvPr/>
          </p:nvSpPr>
          <p:spPr>
            <a:xfrm>
              <a:off x="865543" y="176355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76744" y="1767364"/>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软件调试</a:t>
              </a:r>
            </a:p>
          </p:txBody>
        </p:sp>
        <p:sp>
          <p:nvSpPr>
            <p:cNvPr id="12" name="TextBox 12"/>
            <p:cNvSpPr txBox="1"/>
            <p:nvPr/>
          </p:nvSpPr>
          <p:spPr>
            <a:xfrm>
              <a:off x="768096" y="2119789"/>
              <a:ext cx="452297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软件调试是在进行了成功的测试之后才开始的工作，任务</a:t>
              </a:r>
              <a:br/>
              <a:r>
                <a:rPr lang="zh-CN" sz="1420" dirty="0">
                  <a:solidFill>
                    <a:srgbClr val="1F2937"/>
                  </a:solidFill>
                  <a:latin typeface="+mn-lt"/>
                  <a:ea typeface="+mn-ea"/>
                  <a:cs typeface="+mn-cs"/>
                </a:rPr>
                <a:t>是进一步诊断和改正程序中潜在的错误。</a:t>
              </a:r>
            </a:p>
          </p:txBody>
        </p:sp>
        <p:sp>
          <p:nvSpPr>
            <p:cNvPr id="13" name="TextBox 13"/>
            <p:cNvSpPr txBox="1"/>
            <p:nvPr/>
          </p:nvSpPr>
          <p:spPr>
            <a:xfrm>
              <a:off x="769239" y="2707005"/>
              <a:ext cx="3436925"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测试找出“有错”，调试回答“错在哪、为什么错”</a:t>
              </a:r>
            </a:p>
          </p:txBody>
        </p:sp>
      </p:grpSp>
      <p:grpSp>
        <p:nvGrpSpPr>
          <p:cNvPr id="32" name="c1-bullets-2"/>
          <p:cNvGrpSpPr/>
          <p:nvPr/>
        </p:nvGrpSpPr>
        <p:grpSpPr>
          <a:xfrm>
            <a:off x="526161" y="3307556"/>
            <a:ext cx="5084445" cy="2602135"/>
            <a:chOff x="526161" y="3307556"/>
            <a:chExt cx="5084445" cy="2602135"/>
          </a:xfrm>
        </p:grpSpPr>
        <p:sp>
          <p:nvSpPr>
            <p:cNvPr id="15" name="TextBox 15"/>
            <p:cNvSpPr txBox="1"/>
            <p:nvPr/>
          </p:nvSpPr>
          <p:spPr>
            <a:xfrm>
              <a:off x="526161" y="3307556"/>
              <a:ext cx="1543761"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查找错误难在哪里</a:t>
              </a:r>
            </a:p>
          </p:txBody>
        </p:sp>
        <p:sp>
          <p:nvSpPr>
            <p:cNvPr id="16" name="Freeform 16"/>
            <p:cNvSpPr/>
            <p:nvPr/>
          </p:nvSpPr>
          <p:spPr>
            <a:xfrm>
              <a:off x="533400" y="3670935"/>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17" name="TextBox 17"/>
            <p:cNvSpPr txBox="1"/>
            <p:nvPr/>
          </p:nvSpPr>
          <p:spPr>
            <a:xfrm>
              <a:off x="752094" y="3642360"/>
              <a:ext cx="259689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现象与原因所处的位置可能相距甚远</a:t>
              </a:r>
            </a:p>
          </p:txBody>
        </p:sp>
        <p:sp>
          <p:nvSpPr>
            <p:cNvPr id="18" name="Freeform 18"/>
            <p:cNvSpPr/>
            <p:nvPr/>
          </p:nvSpPr>
          <p:spPr>
            <a:xfrm>
              <a:off x="533400" y="3961448"/>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19" name="TextBox 19"/>
            <p:cNvSpPr txBox="1"/>
            <p:nvPr/>
          </p:nvSpPr>
          <p:spPr>
            <a:xfrm>
              <a:off x="752094" y="3932872"/>
              <a:ext cx="437388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其它错误被纠正时，这一错误的现象可能暂时消失但并未排除</a:t>
              </a:r>
            </a:p>
          </p:txBody>
        </p:sp>
        <p:sp>
          <p:nvSpPr>
            <p:cNvPr id="20" name="Freeform 20"/>
            <p:cNvSpPr/>
            <p:nvPr/>
          </p:nvSpPr>
          <p:spPr>
            <a:xfrm>
              <a:off x="533400" y="4251960"/>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21" name="TextBox 21"/>
            <p:cNvSpPr txBox="1"/>
            <p:nvPr/>
          </p:nvSpPr>
          <p:spPr>
            <a:xfrm>
              <a:off x="752094" y="4223385"/>
              <a:ext cx="356616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现象实际上由非错误原因（例如舍入不精确）引起</a:t>
              </a:r>
            </a:p>
          </p:txBody>
        </p:sp>
        <p:sp>
          <p:nvSpPr>
            <p:cNvPr id="22" name="Freeform 22"/>
            <p:cNvSpPr/>
            <p:nvPr/>
          </p:nvSpPr>
          <p:spPr>
            <a:xfrm>
              <a:off x="533400" y="4542472"/>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23" name="TextBox 23"/>
            <p:cNvSpPr txBox="1"/>
            <p:nvPr/>
          </p:nvSpPr>
          <p:spPr>
            <a:xfrm>
              <a:off x="752094" y="4513898"/>
              <a:ext cx="243535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现象由不容易发现的人为错误引起</a:t>
              </a:r>
            </a:p>
          </p:txBody>
        </p:sp>
        <p:sp>
          <p:nvSpPr>
            <p:cNvPr id="24" name="Freeform 24"/>
            <p:cNvSpPr/>
            <p:nvPr/>
          </p:nvSpPr>
          <p:spPr>
            <a:xfrm>
              <a:off x="533400" y="4832985"/>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25" name="TextBox 25"/>
            <p:cNvSpPr txBox="1"/>
            <p:nvPr/>
          </p:nvSpPr>
          <p:spPr>
            <a:xfrm>
              <a:off x="752094" y="4803458"/>
              <a:ext cx="2758440"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错误由时序问题引起，与处理过程无关</a:t>
              </a:r>
            </a:p>
          </p:txBody>
        </p:sp>
        <p:sp>
          <p:nvSpPr>
            <p:cNvPr id="26" name="Freeform 26"/>
            <p:cNvSpPr/>
            <p:nvPr/>
          </p:nvSpPr>
          <p:spPr>
            <a:xfrm>
              <a:off x="533400" y="5123498"/>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27" name="TextBox 27"/>
            <p:cNvSpPr txBox="1"/>
            <p:nvPr/>
          </p:nvSpPr>
          <p:spPr>
            <a:xfrm>
              <a:off x="752094" y="5093970"/>
              <a:ext cx="259689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现象由难于精确再现的输入状态引起</a:t>
              </a:r>
            </a:p>
          </p:txBody>
        </p:sp>
        <p:sp>
          <p:nvSpPr>
            <p:cNvPr id="28" name="Freeform 28"/>
            <p:cNvSpPr/>
            <p:nvPr/>
          </p:nvSpPr>
          <p:spPr>
            <a:xfrm>
              <a:off x="533400" y="5414010"/>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29" name="TextBox 29"/>
            <p:cNvSpPr txBox="1"/>
            <p:nvPr/>
          </p:nvSpPr>
          <p:spPr>
            <a:xfrm>
              <a:off x="752094" y="5384482"/>
              <a:ext cx="4212336"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现象可能是周期出现的，软硬件结合的嵌入式系统中常遇到</a:t>
              </a:r>
            </a:p>
          </p:txBody>
        </p:sp>
        <p:sp>
          <p:nvSpPr>
            <p:cNvPr id="30" name="Freeform 30"/>
            <p:cNvSpPr/>
            <p:nvPr/>
          </p:nvSpPr>
          <p:spPr>
            <a:xfrm>
              <a:off x="533400" y="5704522"/>
              <a:ext cx="91440" cy="91440"/>
            </a:xfrm>
            <a:custGeom>
              <a:avLst/>
              <a:gdLst/>
              <a:ahLst/>
              <a:cxnLst/>
              <a:rect l="l" t="t" r="r" b="b"/>
              <a:pathLst>
                <a:path w="91440" h="91440">
                  <a:moveTo>
                    <a:pt x="0" y="0"/>
                  </a:moveTo>
                  <a:lnTo>
                    <a:pt x="91440" y="91440"/>
                  </a:lnTo>
                  <a:moveTo>
                    <a:pt x="91440" y="0"/>
                  </a:moveTo>
                  <a:lnTo>
                    <a:pt x="0" y="91440"/>
                  </a:lnTo>
                </a:path>
              </a:pathLst>
            </a:custGeom>
            <a:noFill/>
            <a:ln w="24765" cap="rnd">
              <a:solidFill>
                <a:srgbClr val="B42318"/>
              </a:solidFill>
            </a:ln>
          </p:spPr>
        </p:sp>
        <p:sp>
          <p:nvSpPr>
            <p:cNvPr id="31" name="TextBox 31"/>
            <p:cNvSpPr txBox="1"/>
            <p:nvPr/>
          </p:nvSpPr>
          <p:spPr>
            <a:xfrm>
              <a:off x="752094" y="5674995"/>
              <a:ext cx="4858512"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现象由分布在许多任务中的原因引起，这些任务运行在不同处理机上</a:t>
              </a:r>
            </a:p>
          </p:txBody>
        </p:sp>
      </p:grpSp>
      <p:grpSp>
        <p:nvGrpSpPr>
          <p:cNvPr id="43" name="c2-card-1"/>
          <p:cNvGrpSpPr/>
          <p:nvPr/>
        </p:nvGrpSpPr>
        <p:grpSpPr>
          <a:xfrm>
            <a:off x="6032182" y="1524000"/>
            <a:ext cx="5626418" cy="1662112"/>
            <a:chOff x="6032182" y="1524000"/>
            <a:chExt cx="5626418" cy="1662112"/>
          </a:xfrm>
        </p:grpSpPr>
        <p:sp>
          <p:nvSpPr>
            <p:cNvPr id="33" name="Rectangle 33"/>
            <p:cNvSpPr/>
            <p:nvPr/>
          </p:nvSpPr>
          <p:spPr>
            <a:xfrm>
              <a:off x="6032182" y="1524000"/>
              <a:ext cx="5626418" cy="1662112"/>
            </a:xfrm>
            <a:prstGeom prst="roundRect">
              <a:avLst>
                <a:gd name="adj" fmla="val 8023"/>
              </a:avLst>
            </a:prstGeom>
            <a:solidFill>
              <a:srgbClr val="FFFFFF"/>
            </a:solidFill>
            <a:ln w="14288">
              <a:solidFill>
                <a:srgbClr val="D9DFEA"/>
              </a:solidFill>
            </a:ln>
          </p:spPr>
        </p:sp>
        <p:sp>
          <p:nvSpPr>
            <p:cNvPr id="34" name="Rectangle 34"/>
            <p:cNvSpPr/>
            <p:nvPr/>
          </p:nvSpPr>
          <p:spPr>
            <a:xfrm>
              <a:off x="6041708" y="1657350"/>
              <a:ext cx="47625" cy="1395412"/>
            </a:xfrm>
            <a:prstGeom prst="roundRect">
              <a:avLst>
                <a:gd name="adj" fmla="val 50000"/>
              </a:avLst>
            </a:prstGeom>
            <a:solidFill>
              <a:srgbClr val="B42318"/>
            </a:solidFill>
            <a:ln>
              <a:noFill/>
            </a:ln>
          </p:spPr>
        </p:sp>
        <p:sp>
          <p:nvSpPr>
            <p:cNvPr id="35" name="Rectangle 35"/>
            <p:cNvSpPr/>
            <p:nvPr/>
          </p:nvSpPr>
          <p:spPr>
            <a:xfrm>
              <a:off x="6274118" y="1727835"/>
              <a:ext cx="636270" cy="257175"/>
            </a:xfrm>
            <a:prstGeom prst="roundRect">
              <a:avLst>
                <a:gd name="adj" fmla="val 50000"/>
              </a:avLst>
            </a:prstGeom>
            <a:solidFill>
              <a:srgbClr val="FDECEA"/>
            </a:solidFill>
            <a:ln>
              <a:noFill/>
            </a:ln>
          </p:spPr>
        </p:sp>
        <p:sp>
          <p:nvSpPr>
            <p:cNvPr id="36" name="TextBox 36"/>
            <p:cNvSpPr txBox="1"/>
            <p:nvPr/>
          </p:nvSpPr>
          <p:spPr>
            <a:xfrm>
              <a:off x="6360376" y="1763554"/>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蛮干法</a:t>
              </a:r>
            </a:p>
          </p:txBody>
        </p:sp>
        <p:sp>
          <p:nvSpPr>
            <p:cNvPr id="37" name="TextBox 37"/>
            <p:cNvSpPr txBox="1"/>
            <p:nvPr/>
          </p:nvSpPr>
          <p:spPr>
            <a:xfrm>
              <a:off x="7017448" y="1767364"/>
              <a:ext cx="230840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不需要过多思考，效率较低</a:t>
              </a:r>
            </a:p>
          </p:txBody>
        </p:sp>
        <p:sp>
          <p:nvSpPr>
            <p:cNvPr id="38" name="TextBox 38"/>
            <p:cNvSpPr txBox="1"/>
            <p:nvPr/>
          </p:nvSpPr>
          <p:spPr>
            <a:xfrm>
              <a:off x="6266879" y="2119789"/>
              <a:ext cx="383768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目前使用较多的一种调试方法，比较省脑筋。</a:t>
              </a:r>
            </a:p>
          </p:txBody>
        </p:sp>
        <p:sp>
          <p:nvSpPr>
            <p:cNvPr id="39" name="Ellipse 39"/>
            <p:cNvSpPr/>
            <p:nvPr/>
          </p:nvSpPr>
          <p:spPr>
            <a:xfrm>
              <a:off x="6281738" y="2499360"/>
              <a:ext cx="60960" cy="60960"/>
            </a:xfrm>
            <a:prstGeom prst="ellipse">
              <a:avLst/>
            </a:prstGeom>
            <a:solidFill>
              <a:srgbClr val="334E68"/>
            </a:solidFill>
            <a:ln>
              <a:noFill/>
            </a:ln>
          </p:spPr>
        </p:sp>
        <p:sp>
          <p:nvSpPr>
            <p:cNvPr id="40" name="TextBox 40"/>
            <p:cNvSpPr txBox="1"/>
            <p:nvPr/>
          </p:nvSpPr>
          <p:spPr>
            <a:xfrm>
              <a:off x="6438329" y="2439829"/>
              <a:ext cx="211724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通过内存全部打印来调试</a:t>
              </a:r>
            </a:p>
          </p:txBody>
        </p:sp>
        <p:sp>
          <p:nvSpPr>
            <p:cNvPr id="41" name="Ellipse 41"/>
            <p:cNvSpPr/>
            <p:nvPr/>
          </p:nvSpPr>
          <p:spPr>
            <a:xfrm>
              <a:off x="6281738" y="2819400"/>
              <a:ext cx="60960" cy="60960"/>
            </a:xfrm>
            <a:prstGeom prst="ellipse">
              <a:avLst/>
            </a:prstGeom>
            <a:solidFill>
              <a:srgbClr val="334E68"/>
            </a:solidFill>
            <a:ln>
              <a:noFill/>
            </a:ln>
          </p:spPr>
        </p:sp>
        <p:sp>
          <p:nvSpPr>
            <p:cNvPr id="42" name="TextBox 42"/>
            <p:cNvSpPr txBox="1"/>
            <p:nvPr/>
          </p:nvSpPr>
          <p:spPr>
            <a:xfrm>
              <a:off x="6438329" y="2759869"/>
              <a:ext cx="249956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在程序特定部位设置打印语句</a:t>
              </a:r>
            </a:p>
          </p:txBody>
        </p:sp>
      </p:grpSp>
      <p:grpSp>
        <p:nvGrpSpPr>
          <p:cNvPr id="50" name="c2-callout-2"/>
          <p:cNvGrpSpPr/>
          <p:nvPr/>
        </p:nvGrpSpPr>
        <p:grpSpPr>
          <a:xfrm>
            <a:off x="6032182" y="3370898"/>
            <a:ext cx="5626418" cy="756285"/>
            <a:chOff x="6032182" y="3370898"/>
            <a:chExt cx="5626418" cy="756285"/>
          </a:xfrm>
        </p:grpSpPr>
        <p:sp>
          <p:nvSpPr>
            <p:cNvPr id="44" name="Rectangle 44"/>
            <p:cNvSpPr/>
            <p:nvPr/>
          </p:nvSpPr>
          <p:spPr>
            <a:xfrm>
              <a:off x="6032182" y="3370898"/>
              <a:ext cx="5626418" cy="756285"/>
            </a:xfrm>
            <a:prstGeom prst="roundRect">
              <a:avLst>
                <a:gd name="adj" fmla="val 15113"/>
              </a:avLst>
            </a:prstGeom>
            <a:solidFill>
              <a:srgbClr val="F4F6FB"/>
            </a:solidFill>
            <a:ln>
              <a:noFill/>
            </a:ln>
          </p:spPr>
        </p:sp>
        <p:grpSp>
          <p:nvGrpSpPr>
            <p:cNvPr id="48" name="Group 48"/>
            <p:cNvGrpSpPr/>
            <p:nvPr/>
          </p:nvGrpSpPr>
          <p:grpSpPr>
            <a:xfrm>
              <a:off x="6236970" y="3649028"/>
              <a:ext cx="200026" cy="200026"/>
              <a:chOff x="6236970" y="3649028"/>
              <a:chExt cx="200026" cy="200026"/>
            </a:xfrm>
          </p:grpSpPr>
          <p:sp>
            <p:nvSpPr>
              <p:cNvPr id="45" name="Freeform 45"/>
              <p:cNvSpPr/>
              <p:nvPr/>
            </p:nvSpPr>
            <p:spPr>
              <a:xfrm>
                <a:off x="6236970" y="36490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6" name="Freeform 46"/>
              <p:cNvSpPr/>
              <p:nvPr/>
            </p:nvSpPr>
            <p:spPr>
              <a:xfrm>
                <a:off x="6336983" y="37157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7" name="Freeform 47"/>
              <p:cNvSpPr/>
              <p:nvPr/>
            </p:nvSpPr>
            <p:spPr>
              <a:xfrm>
                <a:off x="6325870" y="37490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9" name="TextBox 49"/>
            <p:cNvSpPr txBox="1"/>
            <p:nvPr/>
          </p:nvSpPr>
          <p:spPr>
            <a:xfrm>
              <a:off x="6539294" y="3519011"/>
              <a:ext cx="470331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打印出来的数据量往往远超能读的范围，所以蛮干法适合先</a:t>
              </a:r>
              <a:br/>
              <a:r>
                <a:rPr lang="zh-CN" sz="1420" dirty="0">
                  <a:solidFill>
                    <a:srgbClr val="1F2937"/>
                  </a:solidFill>
                  <a:latin typeface="+mn-lt"/>
                  <a:ea typeface="+mn-ea"/>
                  <a:cs typeface="+mn-cs"/>
                </a:rPr>
                <a:t>把现场情况抓下来，接着仍要靠别的方法缩小范围。</a:t>
              </a:r>
            </a:p>
          </p:txBody>
        </p:sp>
      </p:grpSp>
      <p:grpSp>
        <p:nvGrpSpPr>
          <p:cNvPr id="58" name="c2-card-3"/>
          <p:cNvGrpSpPr/>
          <p:nvPr/>
        </p:nvGrpSpPr>
        <p:grpSpPr>
          <a:xfrm>
            <a:off x="6032182" y="4312920"/>
            <a:ext cx="5626418" cy="1845945"/>
            <a:chOff x="6032182" y="4312920"/>
            <a:chExt cx="5626418" cy="1845945"/>
          </a:xfrm>
        </p:grpSpPr>
        <p:sp>
          <p:nvSpPr>
            <p:cNvPr id="51" name="Rectangle 51"/>
            <p:cNvSpPr/>
            <p:nvPr/>
          </p:nvSpPr>
          <p:spPr>
            <a:xfrm>
              <a:off x="6032182" y="4312920"/>
              <a:ext cx="5626418" cy="1845945"/>
            </a:xfrm>
            <a:prstGeom prst="roundRect">
              <a:avLst>
                <a:gd name="adj" fmla="val 7224"/>
              </a:avLst>
            </a:prstGeom>
            <a:solidFill>
              <a:srgbClr val="FFFFFF"/>
            </a:solidFill>
            <a:ln w="14288">
              <a:solidFill>
                <a:srgbClr val="D9DFEA"/>
              </a:solidFill>
            </a:ln>
          </p:spPr>
        </p:sp>
        <p:sp>
          <p:nvSpPr>
            <p:cNvPr id="52" name="Rectangle 52"/>
            <p:cNvSpPr/>
            <p:nvPr/>
          </p:nvSpPr>
          <p:spPr>
            <a:xfrm>
              <a:off x="6041708" y="4446270"/>
              <a:ext cx="47625" cy="1579245"/>
            </a:xfrm>
            <a:prstGeom prst="roundRect">
              <a:avLst>
                <a:gd name="adj" fmla="val 50000"/>
              </a:avLst>
            </a:prstGeom>
            <a:solidFill>
              <a:srgbClr val="D97706"/>
            </a:solidFill>
            <a:ln>
              <a:noFill/>
            </a:ln>
          </p:spPr>
        </p:sp>
        <p:sp>
          <p:nvSpPr>
            <p:cNvPr id="53" name="Rectangle 53"/>
            <p:cNvSpPr/>
            <p:nvPr/>
          </p:nvSpPr>
          <p:spPr>
            <a:xfrm>
              <a:off x="6274118" y="4516755"/>
              <a:ext cx="636270" cy="257175"/>
            </a:xfrm>
            <a:prstGeom prst="roundRect">
              <a:avLst>
                <a:gd name="adj" fmla="val 50000"/>
              </a:avLst>
            </a:prstGeom>
            <a:solidFill>
              <a:srgbClr val="FEF3C7"/>
            </a:solidFill>
            <a:ln>
              <a:noFill/>
            </a:ln>
          </p:spPr>
        </p:sp>
        <p:sp>
          <p:nvSpPr>
            <p:cNvPr id="54" name="TextBox 54"/>
            <p:cNvSpPr txBox="1"/>
            <p:nvPr/>
          </p:nvSpPr>
          <p:spPr>
            <a:xfrm>
              <a:off x="6360376" y="4552474"/>
              <a:ext cx="463753" cy="220028"/>
            </a:xfrm>
            <a:prstGeom prst="rect">
              <a:avLst/>
            </a:prstGeom>
            <a:noFill/>
            <a:ln>
              <a:noFill/>
            </a:ln>
          </p:spPr>
          <p:txBody>
            <a:bodyPr wrap="none" lIns="0" tIns="0" rIns="0" bIns="0" anchor="t" anchorCtr="0">
              <a:spAutoFit/>
            </a:bodyPr>
            <a:lstStyle/>
            <a:p>
              <a:pPr algn="ctr"/>
              <a:r>
                <a:rPr lang="zh-CN" sz="1120" b="1" dirty="0">
                  <a:solidFill>
                    <a:srgbClr val="92400E"/>
                  </a:solidFill>
                  <a:latin typeface="+mn-lt"/>
                  <a:ea typeface="+mn-ea"/>
                  <a:cs typeface="+mn-cs"/>
                </a:rPr>
                <a:t>回溯法</a:t>
              </a:r>
            </a:p>
          </p:txBody>
        </p:sp>
        <p:sp>
          <p:nvSpPr>
            <p:cNvPr id="55" name="TextBox 55"/>
            <p:cNvSpPr txBox="1"/>
            <p:nvPr/>
          </p:nvSpPr>
          <p:spPr>
            <a:xfrm>
              <a:off x="7017448" y="4556284"/>
              <a:ext cx="1734922"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小程序中常用且有效</a:t>
              </a:r>
            </a:p>
          </p:txBody>
        </p:sp>
        <p:sp>
          <p:nvSpPr>
            <p:cNvPr id="56" name="TextBox 56"/>
            <p:cNvSpPr txBox="1"/>
            <p:nvPr/>
          </p:nvSpPr>
          <p:spPr>
            <a:xfrm>
              <a:off x="6266879" y="4908709"/>
              <a:ext cx="4901692"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先分析错误征兆，确定最先发现“症状”的位置，再人工沿程序</a:t>
              </a:r>
              <a:br/>
              <a:r>
                <a:rPr lang="zh-CN" sz="1420" dirty="0">
                  <a:solidFill>
                    <a:srgbClr val="1F2937"/>
                  </a:solidFill>
                  <a:latin typeface="+mn-lt"/>
                  <a:ea typeface="+mn-ea"/>
                  <a:cs typeface="+mn-cs"/>
                </a:rPr>
                <a:t>的控制流程向回追踪源代码，直到找到错误根源或确定错误产</a:t>
              </a:r>
              <a:br/>
              <a:r>
                <a:rPr lang="zh-CN" sz="1420" dirty="0">
                  <a:solidFill>
                    <a:srgbClr val="1F2937"/>
                  </a:solidFill>
                  <a:latin typeface="+mn-lt"/>
                  <a:ea typeface="+mn-ea"/>
                  <a:cs typeface="+mn-cs"/>
                </a:rPr>
                <a:t>生的范围。</a:t>
              </a:r>
            </a:p>
          </p:txBody>
        </p:sp>
        <p:sp>
          <p:nvSpPr>
            <p:cNvPr id="57" name="TextBox 57"/>
            <p:cNvSpPr txBox="1"/>
            <p:nvPr/>
          </p:nvSpPr>
          <p:spPr>
            <a:xfrm>
              <a:off x="6268022" y="5767388"/>
              <a:ext cx="4535424"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程序一大，向回追踪的路径数量迅速膨胀，这种方法就不好用了</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57</a:t>
              </a:r>
            </a:p>
          </p:txBody>
        </p:sp>
      </p:grpSp>
    </p:spTree>
  </p:cSld>
  <p:clrMapOvr>
    <a:masterClrMapping/>
  </p:clrMapOvr>
  <p:transition xmlns:p14="http://schemas.microsoft.com/office/powerpoint/2010/main" p14:dur="400">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调试与软件可靠性</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原因排除法：对分、归纳、演绎</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9" name="c1-card-1"/>
          <p:cNvGrpSpPr/>
          <p:nvPr/>
        </p:nvGrpSpPr>
        <p:grpSpPr>
          <a:xfrm>
            <a:off x="533400" y="1524000"/>
            <a:ext cx="5626418" cy="2134552"/>
            <a:chOff x="533400" y="1524000"/>
            <a:chExt cx="5626418" cy="2134552"/>
          </a:xfrm>
        </p:grpSpPr>
        <p:sp>
          <p:nvSpPr>
            <p:cNvPr id="7" name="Rectangle 7"/>
            <p:cNvSpPr/>
            <p:nvPr/>
          </p:nvSpPr>
          <p:spPr>
            <a:xfrm>
              <a:off x="533400" y="1524000"/>
              <a:ext cx="5626418" cy="2134552"/>
            </a:xfrm>
            <a:prstGeom prst="roundRect">
              <a:avLst>
                <a:gd name="adj" fmla="val 6247"/>
              </a:avLst>
            </a:prstGeom>
            <a:solidFill>
              <a:srgbClr val="FFFFFF"/>
            </a:solidFill>
            <a:ln w="14288">
              <a:solidFill>
                <a:srgbClr val="D9DFEA"/>
              </a:solidFill>
            </a:ln>
          </p:spPr>
        </p:sp>
        <p:sp>
          <p:nvSpPr>
            <p:cNvPr id="8" name="Rectangle 8"/>
            <p:cNvSpPr/>
            <p:nvPr/>
          </p:nvSpPr>
          <p:spPr>
            <a:xfrm>
              <a:off x="542925" y="1657350"/>
              <a:ext cx="47625" cy="1867852"/>
            </a:xfrm>
            <a:prstGeom prst="roundRect">
              <a:avLst>
                <a:gd name="adj" fmla="val 50000"/>
              </a:avLst>
            </a:prstGeom>
            <a:solidFill>
              <a:srgbClr val="334E68"/>
            </a:solidFill>
            <a:ln>
              <a:noFill/>
            </a:ln>
          </p:spPr>
        </p:sp>
        <p:sp>
          <p:nvSpPr>
            <p:cNvPr id="9" name="Rectangle 9"/>
            <p:cNvSpPr/>
            <p:nvPr/>
          </p:nvSpPr>
          <p:spPr>
            <a:xfrm>
              <a:off x="763905" y="1716405"/>
              <a:ext cx="876300" cy="247650"/>
            </a:xfrm>
            <a:prstGeom prst="roundRect">
              <a:avLst>
                <a:gd name="adj" fmla="val 50000"/>
              </a:avLst>
            </a:prstGeom>
            <a:solidFill>
              <a:srgbClr val="E7EDF3"/>
            </a:solidFill>
            <a:ln>
              <a:noFill/>
            </a:ln>
          </p:spPr>
        </p:sp>
        <p:sp>
          <p:nvSpPr>
            <p:cNvPr id="10" name="TextBox 10"/>
            <p:cNvSpPr txBox="1"/>
            <p:nvPr/>
          </p:nvSpPr>
          <p:spPr>
            <a:xfrm>
              <a:off x="843343" y="1750695"/>
              <a:ext cx="717423"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对分查找法</a:t>
              </a:r>
            </a:p>
          </p:txBody>
        </p:sp>
        <p:sp>
          <p:nvSpPr>
            <p:cNvPr id="11" name="TextBox 11"/>
            <p:cNvSpPr txBox="1"/>
            <p:nvPr/>
          </p:nvSpPr>
          <p:spPr>
            <a:xfrm>
              <a:off x="1747647" y="1756410"/>
              <a:ext cx="292150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在中点注入正确值，把出错范围折半</a:t>
              </a:r>
            </a:p>
          </p:txBody>
        </p:sp>
        <p:sp>
          <p:nvSpPr>
            <p:cNvPr id="12" name="TextBox 12"/>
            <p:cNvSpPr txBox="1"/>
            <p:nvPr/>
          </p:nvSpPr>
          <p:spPr>
            <a:xfrm>
              <a:off x="757047" y="2090738"/>
              <a:ext cx="4985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已知每个变量在若干关键点上的正确值时，用赋值语句或输入语句</a:t>
              </a:r>
              <a:br/>
              <a:r>
                <a:rPr lang="zh-CN" sz="1350" dirty="0">
                  <a:solidFill>
                    <a:srgbClr val="1F2937"/>
                  </a:solidFill>
                  <a:latin typeface="+mn-lt"/>
                  <a:ea typeface="+mn-ea"/>
                  <a:cs typeface="+mn-cs"/>
                </a:rPr>
                <a:t>在程序中点附近“注入”这些正确值，然后运行程序并检查输出。</a:t>
              </a:r>
            </a:p>
          </p:txBody>
        </p:sp>
        <p:sp>
          <p:nvSpPr>
            <p:cNvPr id="13" name="Ellipse 13"/>
            <p:cNvSpPr/>
            <p:nvPr/>
          </p:nvSpPr>
          <p:spPr>
            <a:xfrm>
              <a:off x="772478" y="2706052"/>
              <a:ext cx="59055" cy="59055"/>
            </a:xfrm>
            <a:prstGeom prst="ellipse">
              <a:avLst/>
            </a:prstGeom>
            <a:solidFill>
              <a:srgbClr val="334E68"/>
            </a:solidFill>
            <a:ln>
              <a:noFill/>
            </a:ln>
          </p:spPr>
        </p:sp>
        <p:sp>
          <p:nvSpPr>
            <p:cNvPr id="14" name="TextBox 14"/>
            <p:cNvSpPr txBox="1"/>
            <p:nvPr/>
          </p:nvSpPr>
          <p:spPr>
            <a:xfrm>
              <a:off x="928497" y="2649855"/>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输出正确：错误原因在程序的 </a:t>
              </a:r>
              <a:r>
                <a:rPr lang="zh-CN" sz="1350" b="1" dirty="0">
                  <a:solidFill>
                    <a:srgbClr val="C2410C"/>
                  </a:solidFill>
                  <a:latin typeface="+mn-lt"/>
                  <a:ea typeface="+mn-ea"/>
                  <a:cs typeface="+mn-cs"/>
                </a:rPr>
                <a:t>前半部分</a:t>
              </a:r>
            </a:p>
          </p:txBody>
        </p:sp>
        <p:sp>
          <p:nvSpPr>
            <p:cNvPr id="15" name="Ellipse 15"/>
            <p:cNvSpPr/>
            <p:nvPr/>
          </p:nvSpPr>
          <p:spPr>
            <a:xfrm>
              <a:off x="772478" y="3008948"/>
              <a:ext cx="59055" cy="59055"/>
            </a:xfrm>
            <a:prstGeom prst="ellipse">
              <a:avLst/>
            </a:prstGeom>
            <a:solidFill>
              <a:srgbClr val="334E68"/>
            </a:solidFill>
            <a:ln>
              <a:noFill/>
            </a:ln>
          </p:spPr>
        </p:sp>
        <p:sp>
          <p:nvSpPr>
            <p:cNvPr id="16" name="TextBox 16"/>
            <p:cNvSpPr txBox="1"/>
            <p:nvPr/>
          </p:nvSpPr>
          <p:spPr>
            <a:xfrm>
              <a:off x="928497" y="2952750"/>
              <a:ext cx="315776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输出仍错：错误原因在程序的 </a:t>
              </a:r>
              <a:r>
                <a:rPr lang="zh-CN" sz="1350" b="1" dirty="0">
                  <a:solidFill>
                    <a:srgbClr val="C2410C"/>
                  </a:solidFill>
                  <a:latin typeface="+mn-lt"/>
                  <a:ea typeface="+mn-ea"/>
                  <a:cs typeface="+mn-cs"/>
                </a:rPr>
                <a:t>后半部分</a:t>
              </a:r>
            </a:p>
          </p:txBody>
        </p:sp>
        <p:sp>
          <p:nvSpPr>
            <p:cNvPr id="17" name="Ellipse 17"/>
            <p:cNvSpPr/>
            <p:nvPr/>
          </p:nvSpPr>
          <p:spPr>
            <a:xfrm>
              <a:off x="772478" y="3310890"/>
              <a:ext cx="59055" cy="59055"/>
            </a:xfrm>
            <a:prstGeom prst="ellipse">
              <a:avLst/>
            </a:prstGeom>
            <a:solidFill>
              <a:srgbClr val="334E68"/>
            </a:solidFill>
            <a:ln>
              <a:noFill/>
            </a:ln>
          </p:spPr>
        </p:sp>
        <p:sp>
          <p:nvSpPr>
            <p:cNvPr id="18" name="TextBox 18"/>
            <p:cNvSpPr txBox="1"/>
            <p:nvPr/>
          </p:nvSpPr>
          <p:spPr>
            <a:xfrm>
              <a:off x="928497" y="3254692"/>
              <a:ext cx="419366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对出错的那一半再重复一次，直到范围小到容易诊断</a:t>
              </a:r>
            </a:p>
          </p:txBody>
        </p:sp>
      </p:grpSp>
      <p:grpSp>
        <p:nvGrpSpPr>
          <p:cNvPr id="26" name="c1-card-2"/>
          <p:cNvGrpSpPr/>
          <p:nvPr/>
        </p:nvGrpSpPr>
        <p:grpSpPr>
          <a:xfrm>
            <a:off x="533400" y="3833812"/>
            <a:ext cx="5626418" cy="1226820"/>
            <a:chOff x="533400" y="3833812"/>
            <a:chExt cx="5626418" cy="1226820"/>
          </a:xfrm>
        </p:grpSpPr>
        <p:sp>
          <p:nvSpPr>
            <p:cNvPr id="20" name="Rectangle 20"/>
            <p:cNvSpPr/>
            <p:nvPr/>
          </p:nvSpPr>
          <p:spPr>
            <a:xfrm>
              <a:off x="533400" y="3833812"/>
              <a:ext cx="5626418" cy="1226820"/>
            </a:xfrm>
            <a:prstGeom prst="roundRect">
              <a:avLst>
                <a:gd name="adj" fmla="val 10870"/>
              </a:avLst>
            </a:prstGeom>
            <a:solidFill>
              <a:srgbClr val="FFFFFF"/>
            </a:solidFill>
            <a:ln w="14288">
              <a:solidFill>
                <a:srgbClr val="D9DFEA"/>
              </a:solidFill>
            </a:ln>
          </p:spPr>
        </p:sp>
        <p:sp>
          <p:nvSpPr>
            <p:cNvPr id="21" name="Rectangle 21"/>
            <p:cNvSpPr/>
            <p:nvPr/>
          </p:nvSpPr>
          <p:spPr>
            <a:xfrm>
              <a:off x="542925" y="3967162"/>
              <a:ext cx="47625" cy="960120"/>
            </a:xfrm>
            <a:prstGeom prst="roundRect">
              <a:avLst>
                <a:gd name="adj" fmla="val 50000"/>
              </a:avLst>
            </a:prstGeom>
            <a:solidFill>
              <a:srgbClr val="14A38B"/>
            </a:solidFill>
            <a:ln>
              <a:noFill/>
            </a:ln>
          </p:spPr>
        </p:sp>
        <p:sp>
          <p:nvSpPr>
            <p:cNvPr id="22" name="Rectangle 22"/>
            <p:cNvSpPr/>
            <p:nvPr/>
          </p:nvSpPr>
          <p:spPr>
            <a:xfrm>
              <a:off x="763905" y="4026218"/>
              <a:ext cx="609600" cy="247650"/>
            </a:xfrm>
            <a:prstGeom prst="roundRect">
              <a:avLst>
                <a:gd name="adj" fmla="val 50000"/>
              </a:avLst>
            </a:prstGeom>
            <a:solidFill>
              <a:srgbClr val="E3F5F1"/>
            </a:solidFill>
            <a:ln>
              <a:noFill/>
            </a:ln>
          </p:spPr>
        </p:sp>
        <p:sp>
          <p:nvSpPr>
            <p:cNvPr id="23" name="TextBox 23"/>
            <p:cNvSpPr txBox="1"/>
            <p:nvPr/>
          </p:nvSpPr>
          <p:spPr>
            <a:xfrm>
              <a:off x="851344" y="4060508"/>
              <a:ext cx="434721"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算一算</a:t>
              </a:r>
            </a:p>
          </p:txBody>
        </p:sp>
        <p:sp>
          <p:nvSpPr>
            <p:cNvPr id="24" name="TextBox 24"/>
            <p:cNvSpPr txBox="1"/>
            <p:nvPr/>
          </p:nvSpPr>
          <p:spPr>
            <a:xfrm>
              <a:off x="1480947" y="4065270"/>
              <a:ext cx="212640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1000 行的程序要注入几次</a:t>
              </a:r>
            </a:p>
          </p:txBody>
        </p:sp>
        <p:sp>
          <p:nvSpPr>
            <p:cNvPr id="25" name="TextBox 25"/>
            <p:cNvSpPr txBox="1"/>
            <p:nvPr/>
          </p:nvSpPr>
          <p:spPr>
            <a:xfrm>
              <a:off x="757047" y="4399598"/>
              <a:ext cx="474573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每注入一次就把出错范围折半，1000 → 500 → 250 → 125 → … 大</a:t>
              </a:r>
              <a:br/>
              <a:r>
                <a:rPr lang="zh-CN" sz="1350" dirty="0">
                  <a:solidFill>
                    <a:srgbClr val="1F2937"/>
                  </a:solidFill>
                  <a:latin typeface="+mn-lt"/>
                  <a:ea typeface="+mn-ea"/>
                  <a:cs typeface="+mn-cs"/>
                </a:rPr>
                <a:t>约 10 次就能缩到一行附近，这正是 log₂1000 ≈ 10。</a:t>
              </a:r>
            </a:p>
          </p:txBody>
        </p:sp>
      </p:grpSp>
      <p:grpSp>
        <p:nvGrpSpPr>
          <p:cNvPr id="32" name="c1-callout-3"/>
          <p:cNvGrpSpPr/>
          <p:nvPr/>
        </p:nvGrpSpPr>
        <p:grpSpPr>
          <a:xfrm>
            <a:off x="533400" y="5234940"/>
            <a:ext cx="5626418" cy="839152"/>
            <a:chOff x="533400" y="5234940"/>
            <a:chExt cx="5626418" cy="839152"/>
          </a:xfrm>
        </p:grpSpPr>
        <p:sp>
          <p:nvSpPr>
            <p:cNvPr id="27" name="Rectangle 27"/>
            <p:cNvSpPr/>
            <p:nvPr/>
          </p:nvSpPr>
          <p:spPr>
            <a:xfrm>
              <a:off x="533400" y="5234940"/>
              <a:ext cx="5626418" cy="839152"/>
            </a:xfrm>
            <a:prstGeom prst="roundRect">
              <a:avLst>
                <a:gd name="adj" fmla="val 13621"/>
              </a:avLst>
            </a:prstGeom>
            <a:solidFill>
              <a:srgbClr val="334E68"/>
            </a:solidFill>
            <a:ln>
              <a:noFill/>
            </a:ln>
          </p:spPr>
        </p:sp>
        <p:grpSp>
          <p:nvGrpSpPr>
            <p:cNvPr id="30" name="Group 30"/>
            <p:cNvGrpSpPr/>
            <p:nvPr/>
          </p:nvGrpSpPr>
          <p:grpSpPr>
            <a:xfrm>
              <a:off x="738188" y="5554982"/>
              <a:ext cx="200023" cy="200023"/>
              <a:chOff x="738188" y="5554982"/>
              <a:chExt cx="200023" cy="200023"/>
            </a:xfrm>
          </p:grpSpPr>
          <p:sp>
            <p:nvSpPr>
              <p:cNvPr id="28" name="Freeform 28"/>
              <p:cNvSpPr/>
              <p:nvPr/>
            </p:nvSpPr>
            <p:spPr>
              <a:xfrm>
                <a:off x="738188" y="555498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9" name="Freeform 29"/>
              <p:cNvSpPr/>
              <p:nvPr/>
            </p:nvSpPr>
            <p:spPr>
              <a:xfrm>
                <a:off x="871538" y="562165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1" name="TextBox 31"/>
            <p:cNvSpPr txBox="1"/>
            <p:nvPr/>
          </p:nvSpPr>
          <p:spPr>
            <a:xfrm>
              <a:off x="1040892" y="5435918"/>
              <a:ext cx="46428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改正之前先问三句：同样的错误别处有没有？这次修改会引入</a:t>
              </a:r>
              <a:br/>
              <a:r>
                <a:rPr lang="zh-CN" sz="1350" dirty="0">
                  <a:solidFill>
                    <a:srgbClr val="FFFFFF"/>
                  </a:solidFill>
                  <a:latin typeface="+mn-lt"/>
                  <a:ea typeface="+mn-ea"/>
                  <a:cs typeface="+mn-cs"/>
                </a:rPr>
                <a:t>什么新错误？以后怎样才能不再犯？</a:t>
              </a:r>
            </a:p>
          </p:txBody>
        </p:sp>
      </p:grpSp>
      <p:grpSp>
        <p:nvGrpSpPr>
          <p:cNvPr id="57" name="c2-compare-1"/>
          <p:cNvGrpSpPr/>
          <p:nvPr/>
        </p:nvGrpSpPr>
        <p:grpSpPr>
          <a:xfrm>
            <a:off x="6464618" y="1524000"/>
            <a:ext cx="5193982" cy="3645218"/>
            <a:chOff x="6464618" y="1524000"/>
            <a:chExt cx="5193982" cy="3645218"/>
          </a:xfrm>
        </p:grpSpPr>
        <p:sp>
          <p:nvSpPr>
            <p:cNvPr id="33" name="Rectangle 33"/>
            <p:cNvSpPr/>
            <p:nvPr/>
          </p:nvSpPr>
          <p:spPr>
            <a:xfrm>
              <a:off x="6464618" y="1524000"/>
              <a:ext cx="2386965" cy="3645218"/>
            </a:xfrm>
            <a:prstGeom prst="roundRect">
              <a:avLst>
                <a:gd name="adj" fmla="val 5587"/>
              </a:avLst>
            </a:prstGeom>
            <a:solidFill>
              <a:srgbClr val="FFFFFF"/>
            </a:solidFill>
            <a:ln w="14288">
              <a:solidFill>
                <a:srgbClr val="D9DFEA"/>
              </a:solidFill>
            </a:ln>
          </p:spPr>
        </p:sp>
        <p:sp>
          <p:nvSpPr>
            <p:cNvPr id="34" name="Rectangle 34"/>
            <p:cNvSpPr/>
            <p:nvPr/>
          </p:nvSpPr>
          <p:spPr>
            <a:xfrm>
              <a:off x="6474142" y="1657350"/>
              <a:ext cx="47625" cy="3378518"/>
            </a:xfrm>
            <a:prstGeom prst="roundRect">
              <a:avLst>
                <a:gd name="adj" fmla="val 50000"/>
              </a:avLst>
            </a:prstGeom>
            <a:solidFill>
              <a:srgbClr val="334E68"/>
            </a:solidFill>
            <a:ln>
              <a:noFill/>
            </a:ln>
          </p:spPr>
        </p:sp>
        <p:sp>
          <p:nvSpPr>
            <p:cNvPr id="35" name="TextBox 35"/>
            <p:cNvSpPr txBox="1"/>
            <p:nvPr/>
          </p:nvSpPr>
          <p:spPr>
            <a:xfrm>
              <a:off x="6688264" y="1738312"/>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归纳法</a:t>
              </a:r>
            </a:p>
          </p:txBody>
        </p:sp>
        <p:sp>
          <p:nvSpPr>
            <p:cNvPr id="36" name="Ellipse 36"/>
            <p:cNvSpPr/>
            <p:nvPr/>
          </p:nvSpPr>
          <p:spPr>
            <a:xfrm>
              <a:off x="6703695" y="2114550"/>
              <a:ext cx="59055" cy="59055"/>
            </a:xfrm>
            <a:prstGeom prst="ellipse">
              <a:avLst/>
            </a:prstGeom>
            <a:solidFill>
              <a:srgbClr val="334E68"/>
            </a:solidFill>
            <a:ln>
              <a:noFill/>
            </a:ln>
          </p:spPr>
        </p:sp>
        <p:sp>
          <p:nvSpPr>
            <p:cNvPr id="37" name="TextBox 37"/>
            <p:cNvSpPr txBox="1"/>
            <p:nvPr/>
          </p:nvSpPr>
          <p:spPr>
            <a:xfrm>
              <a:off x="6859714" y="2058352"/>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从个别现象推断出一</a:t>
              </a:r>
              <a:br/>
              <a:r>
                <a:rPr lang="zh-CN" sz="1350" dirty="0">
                  <a:solidFill>
                    <a:srgbClr val="1F2937"/>
                  </a:solidFill>
                  <a:latin typeface="+mn-lt"/>
                  <a:ea typeface="+mn-ea"/>
                  <a:cs typeface="+mn-cs"/>
                </a:rPr>
                <a:t>般性结论</a:t>
              </a:r>
            </a:p>
          </p:txBody>
        </p:sp>
        <p:sp>
          <p:nvSpPr>
            <p:cNvPr id="38" name="Ellipse 38"/>
            <p:cNvSpPr/>
            <p:nvPr/>
          </p:nvSpPr>
          <p:spPr>
            <a:xfrm>
              <a:off x="6703695" y="2674620"/>
              <a:ext cx="59055" cy="59055"/>
            </a:xfrm>
            <a:prstGeom prst="ellipse">
              <a:avLst/>
            </a:prstGeom>
            <a:solidFill>
              <a:srgbClr val="334E68"/>
            </a:solidFill>
            <a:ln>
              <a:noFill/>
            </a:ln>
          </p:spPr>
        </p:sp>
        <p:sp>
          <p:nvSpPr>
            <p:cNvPr id="39" name="TextBox 39"/>
            <p:cNvSpPr txBox="1"/>
            <p:nvPr/>
          </p:nvSpPr>
          <p:spPr>
            <a:xfrm>
              <a:off x="6859714" y="2618422"/>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先把与错误有关的数</a:t>
              </a:r>
              <a:br/>
              <a:r>
                <a:rPr lang="zh-CN" sz="1350" dirty="0">
                  <a:solidFill>
                    <a:srgbClr val="1F2937"/>
                  </a:solidFill>
                  <a:latin typeface="+mn-lt"/>
                  <a:ea typeface="+mn-ea"/>
                  <a:cs typeface="+mn-cs"/>
                </a:rPr>
                <a:t>据组织起来分析</a:t>
              </a:r>
            </a:p>
          </p:txBody>
        </p:sp>
        <p:sp>
          <p:nvSpPr>
            <p:cNvPr id="40" name="Ellipse 40"/>
            <p:cNvSpPr/>
            <p:nvPr/>
          </p:nvSpPr>
          <p:spPr>
            <a:xfrm>
              <a:off x="6703695" y="3233738"/>
              <a:ext cx="59055" cy="59055"/>
            </a:xfrm>
            <a:prstGeom prst="ellipse">
              <a:avLst/>
            </a:prstGeom>
            <a:solidFill>
              <a:srgbClr val="334E68"/>
            </a:solidFill>
            <a:ln>
              <a:noFill/>
            </a:ln>
          </p:spPr>
        </p:sp>
        <p:sp>
          <p:nvSpPr>
            <p:cNvPr id="41" name="TextBox 41"/>
            <p:cNvSpPr txBox="1"/>
            <p:nvPr/>
          </p:nvSpPr>
          <p:spPr>
            <a:xfrm>
              <a:off x="6859714" y="317754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导出对错误原因的一</a:t>
              </a:r>
              <a:br/>
              <a:r>
                <a:rPr lang="zh-CN" sz="1350" dirty="0">
                  <a:solidFill>
                    <a:srgbClr val="1F2937"/>
                  </a:solidFill>
                  <a:latin typeface="+mn-lt"/>
                  <a:ea typeface="+mn-ea"/>
                  <a:cs typeface="+mn-cs"/>
                </a:rPr>
                <a:t>个或多个假设</a:t>
              </a:r>
            </a:p>
          </p:txBody>
        </p:sp>
        <p:sp>
          <p:nvSpPr>
            <p:cNvPr id="42" name="Ellipse 42"/>
            <p:cNvSpPr/>
            <p:nvPr/>
          </p:nvSpPr>
          <p:spPr>
            <a:xfrm>
              <a:off x="6703695" y="3793807"/>
              <a:ext cx="59055" cy="59055"/>
            </a:xfrm>
            <a:prstGeom prst="ellipse">
              <a:avLst/>
            </a:prstGeom>
            <a:solidFill>
              <a:srgbClr val="334E68"/>
            </a:solidFill>
            <a:ln>
              <a:noFill/>
            </a:ln>
          </p:spPr>
        </p:sp>
        <p:sp>
          <p:nvSpPr>
            <p:cNvPr id="43" name="TextBox 43"/>
            <p:cNvSpPr txBox="1"/>
            <p:nvPr/>
          </p:nvSpPr>
          <p:spPr>
            <a:xfrm>
              <a:off x="6859714" y="3737610"/>
              <a:ext cx="15567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用已有数据证明或排</a:t>
              </a:r>
              <a:br/>
              <a:r>
                <a:rPr lang="zh-CN" sz="1350" dirty="0">
                  <a:solidFill>
                    <a:srgbClr val="1F2937"/>
                  </a:solidFill>
                  <a:latin typeface="+mn-lt"/>
                  <a:ea typeface="+mn-ea"/>
                  <a:cs typeface="+mn-cs"/>
                </a:rPr>
                <a:t>除假设；数据不够就</a:t>
              </a:r>
              <a:br/>
              <a:r>
                <a:rPr lang="zh-CN" sz="1350" dirty="0">
                  <a:solidFill>
                    <a:srgbClr val="1F2937"/>
                  </a:solidFill>
                  <a:latin typeface="+mn-lt"/>
                  <a:ea typeface="+mn-ea"/>
                  <a:cs typeface="+mn-cs"/>
                </a:rPr>
                <a:t>设计新的测试用例</a:t>
              </a:r>
            </a:p>
          </p:txBody>
        </p:sp>
        <p:sp>
          <p:nvSpPr>
            <p:cNvPr id="44" name="Rectangle 44"/>
            <p:cNvSpPr/>
            <p:nvPr/>
          </p:nvSpPr>
          <p:spPr>
            <a:xfrm>
              <a:off x="9271635" y="1524000"/>
              <a:ext cx="2386965" cy="3645218"/>
            </a:xfrm>
            <a:prstGeom prst="roundRect">
              <a:avLst>
                <a:gd name="adj" fmla="val 5587"/>
              </a:avLst>
            </a:prstGeom>
            <a:solidFill>
              <a:srgbClr val="FFFFFF"/>
            </a:solidFill>
            <a:ln w="14288">
              <a:solidFill>
                <a:srgbClr val="D9DFEA"/>
              </a:solidFill>
            </a:ln>
          </p:spPr>
        </p:sp>
        <p:sp>
          <p:nvSpPr>
            <p:cNvPr id="45" name="Rectangle 45"/>
            <p:cNvSpPr/>
            <p:nvPr/>
          </p:nvSpPr>
          <p:spPr>
            <a:xfrm>
              <a:off x="9281160" y="1657350"/>
              <a:ext cx="47625" cy="3378518"/>
            </a:xfrm>
            <a:prstGeom prst="roundRect">
              <a:avLst>
                <a:gd name="adj" fmla="val 50000"/>
              </a:avLst>
            </a:prstGeom>
            <a:solidFill>
              <a:srgbClr val="334E68"/>
            </a:solidFill>
            <a:ln>
              <a:noFill/>
            </a:ln>
          </p:spPr>
        </p:sp>
        <p:sp>
          <p:nvSpPr>
            <p:cNvPr id="46" name="TextBox 46"/>
            <p:cNvSpPr txBox="1"/>
            <p:nvPr/>
          </p:nvSpPr>
          <p:spPr>
            <a:xfrm>
              <a:off x="9495282" y="1738312"/>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演绎法</a:t>
              </a:r>
            </a:p>
          </p:txBody>
        </p:sp>
        <p:sp>
          <p:nvSpPr>
            <p:cNvPr id="47" name="Ellipse 47"/>
            <p:cNvSpPr/>
            <p:nvPr/>
          </p:nvSpPr>
          <p:spPr>
            <a:xfrm>
              <a:off x="9510712" y="2114550"/>
              <a:ext cx="59055" cy="59055"/>
            </a:xfrm>
            <a:prstGeom prst="ellipse">
              <a:avLst/>
            </a:prstGeom>
            <a:solidFill>
              <a:srgbClr val="334E68"/>
            </a:solidFill>
            <a:ln>
              <a:noFill/>
            </a:ln>
          </p:spPr>
        </p:sp>
        <p:sp>
          <p:nvSpPr>
            <p:cNvPr id="48" name="TextBox 48"/>
            <p:cNvSpPr txBox="1"/>
            <p:nvPr/>
          </p:nvSpPr>
          <p:spPr>
            <a:xfrm>
              <a:off x="9666732" y="2058352"/>
              <a:ext cx="15567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从一般原理或前提出</a:t>
              </a:r>
              <a:br/>
              <a:r>
                <a:rPr lang="zh-CN" sz="1350" dirty="0">
                  <a:solidFill>
                    <a:srgbClr val="1F2937"/>
                  </a:solidFill>
                  <a:latin typeface="+mn-lt"/>
                  <a:ea typeface="+mn-ea"/>
                  <a:cs typeface="+mn-cs"/>
                </a:rPr>
                <a:t>发，经排除和精化得</a:t>
              </a:r>
              <a:br/>
              <a:r>
                <a:rPr lang="zh-CN" sz="1350" dirty="0">
                  <a:solidFill>
                    <a:srgbClr val="1F2937"/>
                  </a:solidFill>
                  <a:latin typeface="+mn-lt"/>
                  <a:ea typeface="+mn-ea"/>
                  <a:cs typeface="+mn-cs"/>
                </a:rPr>
                <a:t>出结论</a:t>
              </a:r>
            </a:p>
          </p:txBody>
        </p:sp>
        <p:sp>
          <p:nvSpPr>
            <p:cNvPr id="49" name="Ellipse 49"/>
            <p:cNvSpPr/>
            <p:nvPr/>
          </p:nvSpPr>
          <p:spPr>
            <a:xfrm>
              <a:off x="9510712" y="2931795"/>
              <a:ext cx="59055" cy="59055"/>
            </a:xfrm>
            <a:prstGeom prst="ellipse">
              <a:avLst/>
            </a:prstGeom>
            <a:solidFill>
              <a:srgbClr val="334E68"/>
            </a:solidFill>
            <a:ln>
              <a:noFill/>
            </a:ln>
          </p:spPr>
        </p:sp>
        <p:sp>
          <p:nvSpPr>
            <p:cNvPr id="50" name="TextBox 50"/>
            <p:cNvSpPr txBox="1"/>
            <p:nvPr/>
          </p:nvSpPr>
          <p:spPr>
            <a:xfrm>
              <a:off x="9666732" y="2875598"/>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先枚举出所有可能出</a:t>
              </a:r>
              <a:br/>
              <a:r>
                <a:rPr lang="zh-CN" sz="1350" dirty="0">
                  <a:solidFill>
                    <a:srgbClr val="1F2937"/>
                  </a:solidFill>
                  <a:latin typeface="+mn-lt"/>
                  <a:ea typeface="+mn-ea"/>
                  <a:cs typeface="+mn-cs"/>
                </a:rPr>
                <a:t>错的原因作为假设</a:t>
              </a:r>
            </a:p>
          </p:txBody>
        </p:sp>
        <p:sp>
          <p:nvSpPr>
            <p:cNvPr id="51" name="Ellipse 51"/>
            <p:cNvSpPr/>
            <p:nvPr/>
          </p:nvSpPr>
          <p:spPr>
            <a:xfrm>
              <a:off x="9510712" y="3490912"/>
              <a:ext cx="59055" cy="59055"/>
            </a:xfrm>
            <a:prstGeom prst="ellipse">
              <a:avLst/>
            </a:prstGeom>
            <a:solidFill>
              <a:srgbClr val="334E68"/>
            </a:solidFill>
            <a:ln>
              <a:noFill/>
            </a:ln>
          </p:spPr>
        </p:sp>
        <p:sp>
          <p:nvSpPr>
            <p:cNvPr id="52" name="TextBox 52"/>
            <p:cNvSpPr txBox="1"/>
            <p:nvPr/>
          </p:nvSpPr>
          <p:spPr>
            <a:xfrm>
              <a:off x="9666732" y="3434715"/>
              <a:ext cx="15567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用原始测试数据或新</a:t>
              </a:r>
              <a:br/>
              <a:r>
                <a:rPr lang="zh-CN" sz="1350" dirty="0">
                  <a:solidFill>
                    <a:srgbClr val="1F2937"/>
                  </a:solidFill>
                  <a:latin typeface="+mn-lt"/>
                  <a:ea typeface="+mn-ea"/>
                  <a:cs typeface="+mn-cs"/>
                </a:rPr>
                <a:t>测试逐个排除不成立</a:t>
              </a:r>
              <a:br/>
              <a:r>
                <a:rPr lang="zh-CN" sz="1350" dirty="0">
                  <a:solidFill>
                    <a:srgbClr val="1F2937"/>
                  </a:solidFill>
                  <a:latin typeface="+mn-lt"/>
                  <a:ea typeface="+mn-ea"/>
                  <a:cs typeface="+mn-cs"/>
                </a:rPr>
                <a:t>的假设</a:t>
              </a:r>
            </a:p>
          </p:txBody>
        </p:sp>
        <p:sp>
          <p:nvSpPr>
            <p:cNvPr id="53" name="Ellipse 53"/>
            <p:cNvSpPr/>
            <p:nvPr/>
          </p:nvSpPr>
          <p:spPr>
            <a:xfrm>
              <a:off x="9510712" y="4308158"/>
              <a:ext cx="59055" cy="59055"/>
            </a:xfrm>
            <a:prstGeom prst="ellipse">
              <a:avLst/>
            </a:prstGeom>
            <a:solidFill>
              <a:srgbClr val="334E68"/>
            </a:solidFill>
            <a:ln>
              <a:noFill/>
            </a:ln>
          </p:spPr>
        </p:sp>
        <p:sp>
          <p:nvSpPr>
            <p:cNvPr id="54" name="TextBox 54"/>
            <p:cNvSpPr txBox="1"/>
            <p:nvPr/>
          </p:nvSpPr>
          <p:spPr>
            <a:xfrm>
              <a:off x="9666732" y="4251960"/>
              <a:ext cx="15567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再用测试数据验证余</a:t>
              </a:r>
              <a:br/>
              <a:r>
                <a:rPr lang="zh-CN" sz="1350" dirty="0">
                  <a:solidFill>
                    <a:srgbClr val="1F2937"/>
                  </a:solidFill>
                  <a:latin typeface="+mn-lt"/>
                  <a:ea typeface="+mn-ea"/>
                  <a:cs typeface="+mn-cs"/>
                </a:rPr>
                <a:t>下的假设确是出错原</a:t>
              </a:r>
              <a:br/>
              <a:r>
                <a:rPr lang="zh-CN" sz="1350" dirty="0">
                  <a:solidFill>
                    <a:srgbClr val="1F2937"/>
                  </a:solidFill>
                  <a:latin typeface="+mn-lt"/>
                  <a:ea typeface="+mn-ea"/>
                  <a:cs typeface="+mn-cs"/>
                </a:rPr>
                <a:t>因</a:t>
              </a:r>
            </a:p>
          </p:txBody>
        </p:sp>
        <p:sp>
          <p:nvSpPr>
            <p:cNvPr id="55" name="Ellipse 55"/>
            <p:cNvSpPr/>
            <p:nvPr/>
          </p:nvSpPr>
          <p:spPr>
            <a:xfrm>
              <a:off x="8900160" y="3185160"/>
              <a:ext cx="323850" cy="323850"/>
            </a:xfrm>
            <a:prstGeom prst="ellipse">
              <a:avLst/>
            </a:prstGeom>
            <a:solidFill>
              <a:srgbClr val="F26B3A"/>
            </a:solidFill>
            <a:ln>
              <a:noFill/>
            </a:ln>
          </p:spPr>
        </p:sp>
        <p:sp>
          <p:nvSpPr>
            <p:cNvPr id="56" name="TextBox 56"/>
            <p:cNvSpPr txBox="1"/>
            <p:nvPr/>
          </p:nvSpPr>
          <p:spPr>
            <a:xfrm>
              <a:off x="8976631" y="3286601"/>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64" name="c2-callout-2"/>
          <p:cNvGrpSpPr/>
          <p:nvPr/>
        </p:nvGrpSpPr>
        <p:grpSpPr>
          <a:xfrm>
            <a:off x="6464618" y="5344478"/>
            <a:ext cx="5193982" cy="729615"/>
            <a:chOff x="6464618" y="5344478"/>
            <a:chExt cx="5193982" cy="729615"/>
          </a:xfrm>
        </p:grpSpPr>
        <p:sp>
          <p:nvSpPr>
            <p:cNvPr id="58" name="Rectangle 58"/>
            <p:cNvSpPr/>
            <p:nvPr/>
          </p:nvSpPr>
          <p:spPr>
            <a:xfrm>
              <a:off x="6464618" y="5344478"/>
              <a:ext cx="5193982" cy="729615"/>
            </a:xfrm>
            <a:prstGeom prst="roundRect">
              <a:avLst>
                <a:gd name="adj" fmla="val 15666"/>
              </a:avLst>
            </a:prstGeom>
            <a:solidFill>
              <a:srgbClr val="F4F6FB"/>
            </a:solidFill>
            <a:ln>
              <a:noFill/>
            </a:ln>
          </p:spPr>
        </p:sp>
        <p:grpSp>
          <p:nvGrpSpPr>
            <p:cNvPr id="62" name="Group 62"/>
            <p:cNvGrpSpPr/>
            <p:nvPr/>
          </p:nvGrpSpPr>
          <p:grpSpPr>
            <a:xfrm>
              <a:off x="6669405" y="5609273"/>
              <a:ext cx="200026" cy="200026"/>
              <a:chOff x="6669405" y="5609273"/>
              <a:chExt cx="200026" cy="200026"/>
            </a:xfrm>
          </p:grpSpPr>
          <p:sp>
            <p:nvSpPr>
              <p:cNvPr id="59" name="Freeform 59"/>
              <p:cNvSpPr/>
              <p:nvPr/>
            </p:nvSpPr>
            <p:spPr>
              <a:xfrm>
                <a:off x="6669405" y="56092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0" name="Freeform 60"/>
              <p:cNvSpPr/>
              <p:nvPr/>
            </p:nvSpPr>
            <p:spPr>
              <a:xfrm>
                <a:off x="6769418" y="56759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1" name="Freeform 61"/>
              <p:cNvSpPr/>
              <p:nvPr/>
            </p:nvSpPr>
            <p:spPr>
              <a:xfrm>
                <a:off x="6758305" y="57092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3" name="TextBox 63"/>
            <p:cNvSpPr txBox="1"/>
            <p:nvPr/>
          </p:nvSpPr>
          <p:spPr>
            <a:xfrm>
              <a:off x="6972110" y="5491162"/>
              <a:ext cx="42999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归纳法手里先有数据再猜原因，演绎法先把原因列全再拿</a:t>
              </a:r>
              <a:br/>
              <a:r>
                <a:rPr lang="zh-CN" sz="1350" dirty="0">
                  <a:solidFill>
                    <a:srgbClr val="1F2937"/>
                  </a:solidFill>
                  <a:latin typeface="+mn-lt"/>
                  <a:ea typeface="+mn-ea"/>
                  <a:cs typeface="+mn-cs"/>
                </a:rPr>
                <a:t>数据去砍，两者常常交替用。</a:t>
              </a:r>
            </a:p>
          </p:txBody>
        </p:sp>
      </p:grpSp>
      <p:grpSp>
        <p:nvGrpSpPr>
          <p:cNvPr id="67" name="footer"/>
          <p:cNvGrpSpPr/>
          <p:nvPr/>
        </p:nvGrpSpPr>
        <p:grpSpPr>
          <a:xfrm>
            <a:off x="528447" y="6581299"/>
            <a:ext cx="11135106" cy="190690"/>
            <a:chOff x="528447" y="6581299"/>
            <a:chExt cx="11135106" cy="190690"/>
          </a:xfrm>
        </p:grpSpPr>
        <p:sp>
          <p:nvSpPr>
            <p:cNvPr id="65" name="TextBox 65"/>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6" name="TextBox 6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58</a:t>
              </a:r>
            </a:p>
          </p:txBody>
        </p:sp>
      </p:grpSp>
    </p:spTree>
  </p:cSld>
  <p:clrMapOvr>
    <a:masterClrMapping/>
  </p:clrMapOvr>
  <p:transition xmlns:p14="http://schemas.microsoft.com/office/powerpoint/2010/main" p14:dur="400">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调试与软件可靠性</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可靠性讲的是一段时间，可用性讲的是一个时间点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kv-1"/>
          <p:cNvGrpSpPr/>
          <p:nvPr/>
        </p:nvGrpSpPr>
        <p:grpSpPr>
          <a:xfrm>
            <a:off x="526161" y="1547336"/>
            <a:ext cx="5417439" cy="1230249"/>
            <a:chOff x="526161" y="1547336"/>
            <a:chExt cx="5417439" cy="1230249"/>
          </a:xfrm>
        </p:grpSpPr>
        <p:sp>
          <p:nvSpPr>
            <p:cNvPr id="7" name="TextBox 7"/>
            <p:cNvSpPr txBox="1"/>
            <p:nvPr/>
          </p:nvSpPr>
          <p:spPr>
            <a:xfrm>
              <a:off x="526161" y="1547336"/>
              <a:ext cx="97028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软件可靠性</a:t>
              </a:r>
            </a:p>
          </p:txBody>
        </p:sp>
        <p:sp>
          <p:nvSpPr>
            <p:cNvPr id="8" name="TextBox 8"/>
            <p:cNvSpPr txBox="1"/>
            <p:nvPr/>
          </p:nvSpPr>
          <p:spPr>
            <a:xfrm>
              <a:off x="1712976" y="1547336"/>
              <a:ext cx="398195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程序在给定的时间间隔内，按照规格说明书的规定</a:t>
              </a:r>
              <a:br/>
              <a:r>
                <a:rPr lang="zh-CN" sz="1420" dirty="0">
                  <a:solidFill>
                    <a:srgbClr val="1F2937"/>
                  </a:solidFill>
                  <a:latin typeface="+mn-lt"/>
                  <a:ea typeface="+mn-ea"/>
                  <a:cs typeface="+mn-cs"/>
                </a:rPr>
                <a:t>成功地运行的概率</a:t>
              </a:r>
            </a:p>
          </p:txBody>
        </p:sp>
        <p:sp>
          <p:nvSpPr>
            <p:cNvPr id="9" name="Rectangle 9"/>
            <p:cNvSpPr/>
            <p:nvPr/>
          </p:nvSpPr>
          <p:spPr>
            <a:xfrm>
              <a:off x="533400" y="2118360"/>
              <a:ext cx="5410200" cy="9525"/>
            </a:xfrm>
            <a:prstGeom prst="rect">
              <a:avLst/>
            </a:prstGeom>
            <a:solidFill>
              <a:srgbClr val="D9DFEA"/>
            </a:solidFill>
            <a:ln>
              <a:noFill/>
            </a:ln>
          </p:spPr>
        </p:sp>
        <p:sp>
          <p:nvSpPr>
            <p:cNvPr id="10" name="TextBox 10"/>
            <p:cNvSpPr txBox="1"/>
            <p:nvPr/>
          </p:nvSpPr>
          <p:spPr>
            <a:xfrm>
              <a:off x="526161" y="2231231"/>
              <a:ext cx="970280"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软件可用性</a:t>
              </a:r>
            </a:p>
          </p:txBody>
        </p:sp>
        <p:sp>
          <p:nvSpPr>
            <p:cNvPr id="11" name="TextBox 11"/>
            <p:cNvSpPr txBox="1"/>
            <p:nvPr/>
          </p:nvSpPr>
          <p:spPr>
            <a:xfrm>
              <a:off x="1712976" y="2231231"/>
              <a:ext cx="398195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程序在给定的时间点，按照规格说明书的规定成功</a:t>
              </a:r>
              <a:br/>
              <a:r>
                <a:rPr lang="zh-CN" sz="1420" dirty="0">
                  <a:solidFill>
                    <a:srgbClr val="1F2937"/>
                  </a:solidFill>
                  <a:latin typeface="+mn-lt"/>
                  <a:ea typeface="+mn-ea"/>
                  <a:cs typeface="+mn-cs"/>
                </a:rPr>
                <a:t>地运行的概率</a:t>
              </a:r>
            </a:p>
          </p:txBody>
        </p:sp>
      </p:grpSp>
      <p:grpSp>
        <p:nvGrpSpPr>
          <p:cNvPr id="20" name="c1-card-2"/>
          <p:cNvGrpSpPr/>
          <p:nvPr/>
        </p:nvGrpSpPr>
        <p:grpSpPr>
          <a:xfrm>
            <a:off x="533400" y="2902268"/>
            <a:ext cx="5410200" cy="1858328"/>
            <a:chOff x="533400" y="2902268"/>
            <a:chExt cx="5410200" cy="1858328"/>
          </a:xfrm>
        </p:grpSpPr>
        <p:sp>
          <p:nvSpPr>
            <p:cNvPr id="13" name="Rectangle 13"/>
            <p:cNvSpPr/>
            <p:nvPr/>
          </p:nvSpPr>
          <p:spPr>
            <a:xfrm>
              <a:off x="533400" y="2902268"/>
              <a:ext cx="5410200" cy="1858328"/>
            </a:xfrm>
            <a:prstGeom prst="roundRect">
              <a:avLst>
                <a:gd name="adj" fmla="val 7176"/>
              </a:avLst>
            </a:prstGeom>
            <a:solidFill>
              <a:srgbClr val="FFFFFF"/>
            </a:solidFill>
            <a:ln w="14288">
              <a:solidFill>
                <a:srgbClr val="D9DFEA"/>
              </a:solidFill>
            </a:ln>
          </p:spPr>
        </p:sp>
        <p:sp>
          <p:nvSpPr>
            <p:cNvPr id="14" name="Rectangle 14"/>
            <p:cNvSpPr/>
            <p:nvPr/>
          </p:nvSpPr>
          <p:spPr>
            <a:xfrm>
              <a:off x="542925" y="3035618"/>
              <a:ext cx="47625" cy="1591628"/>
            </a:xfrm>
            <a:prstGeom prst="roundRect">
              <a:avLst>
                <a:gd name="adj" fmla="val 50000"/>
              </a:avLst>
            </a:prstGeom>
            <a:solidFill>
              <a:srgbClr val="14A38B"/>
            </a:solidFill>
            <a:ln>
              <a:noFill/>
            </a:ln>
          </p:spPr>
        </p:sp>
        <p:sp>
          <p:nvSpPr>
            <p:cNvPr id="15" name="Rectangle 15"/>
            <p:cNvSpPr/>
            <p:nvPr/>
          </p:nvSpPr>
          <p:spPr>
            <a:xfrm>
              <a:off x="769620" y="3100388"/>
              <a:ext cx="476250" cy="247650"/>
            </a:xfrm>
            <a:prstGeom prst="roundRect">
              <a:avLst>
                <a:gd name="adj" fmla="val 50000"/>
              </a:avLst>
            </a:prstGeom>
            <a:solidFill>
              <a:srgbClr val="E3F5F1"/>
            </a:solidFill>
            <a:ln>
              <a:noFill/>
            </a:ln>
          </p:spPr>
        </p:sp>
        <p:sp>
          <p:nvSpPr>
            <p:cNvPr id="16" name="TextBox 16"/>
            <p:cNvSpPr txBox="1"/>
            <p:nvPr/>
          </p:nvSpPr>
          <p:spPr>
            <a:xfrm>
              <a:off x="861060" y="3134678"/>
              <a:ext cx="293370" cy="205359"/>
            </a:xfrm>
            <a:prstGeom prst="rect">
              <a:avLst/>
            </a:prstGeom>
            <a:noFill/>
            <a:ln>
              <a:noFill/>
            </a:ln>
          </p:spPr>
          <p:txBody>
            <a:bodyPr wrap="none" lIns="0" tIns="0" rIns="0" bIns="0" anchor="t" anchorCtr="0">
              <a:spAutoFit/>
            </a:bodyPr>
            <a:lstStyle/>
            <a:p>
              <a:pPr algn="ctr"/>
              <a:r>
                <a:rPr lang="zh-CN" sz="1050" b="1" dirty="0">
                  <a:solidFill>
                    <a:srgbClr val="0F7A68"/>
                  </a:solidFill>
                  <a:latin typeface="+mn-lt"/>
                  <a:ea typeface="+mn-ea"/>
                  <a:cs typeface="+mn-cs"/>
                </a:rPr>
                <a:t>读法</a:t>
              </a:r>
            </a:p>
          </p:txBody>
        </p:sp>
        <p:sp>
          <p:nvSpPr>
            <p:cNvPr id="17" name="TextBox 17"/>
            <p:cNvSpPr txBox="1"/>
            <p:nvPr/>
          </p:nvSpPr>
          <p:spPr>
            <a:xfrm>
              <a:off x="1352931" y="3135154"/>
              <a:ext cx="2619038"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同样是 0.95，说的不是一回事</a:t>
              </a:r>
            </a:p>
          </p:txBody>
        </p:sp>
        <p:sp>
          <p:nvSpPr>
            <p:cNvPr id="18" name="TextBox 18"/>
            <p:cNvSpPr txBox="1"/>
            <p:nvPr/>
          </p:nvSpPr>
          <p:spPr>
            <a:xfrm>
              <a:off x="762381" y="3479006"/>
              <a:ext cx="4640199"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R(250)=0.95：100 个相同的系统有 95 个无故障运行 250</a:t>
              </a:r>
              <a:br/>
              <a:r>
                <a:rPr lang="zh-CN" sz="1420" dirty="0">
                  <a:solidFill>
                    <a:srgbClr val="1F2937"/>
                  </a:solidFill>
                  <a:latin typeface="+mn-lt"/>
                  <a:ea typeface="+mn-ea"/>
                  <a:cs typeface="+mn-cs"/>
                </a:rPr>
                <a:t>小时，5 个在此期间发生故障。</a:t>
              </a:r>
            </a:p>
          </p:txBody>
        </p:sp>
        <p:sp>
          <p:nvSpPr>
            <p:cNvPr id="19" name="TextBox 19"/>
            <p:cNvSpPr txBox="1"/>
            <p:nvPr/>
          </p:nvSpPr>
          <p:spPr>
            <a:xfrm>
              <a:off x="762381" y="4068604"/>
              <a:ext cx="4748403"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A(250)=0.95：100 个相同的系统都运行了 250 小时，其中</a:t>
              </a:r>
              <a:br/>
              <a:r>
                <a:rPr lang="zh-CN" sz="1420" dirty="0">
                  <a:solidFill>
                    <a:srgbClr val="1F2937"/>
                  </a:solidFill>
                  <a:latin typeface="+mn-lt"/>
                  <a:ea typeface="+mn-ea"/>
                  <a:cs typeface="+mn-cs"/>
                </a:rPr>
                <a:t>95 个正处于正常运行状态，5 个出现故障等待处理。</a:t>
              </a:r>
            </a:p>
          </p:txBody>
        </p:sp>
      </p:grpSp>
      <p:grpSp>
        <p:nvGrpSpPr>
          <p:cNvPr id="27" name="c1-callout-3"/>
          <p:cNvGrpSpPr/>
          <p:nvPr/>
        </p:nvGrpSpPr>
        <p:grpSpPr>
          <a:xfrm>
            <a:off x="533400" y="4940618"/>
            <a:ext cx="5410200" cy="1288732"/>
            <a:chOff x="533400" y="4940618"/>
            <a:chExt cx="5410200" cy="1288732"/>
          </a:xfrm>
        </p:grpSpPr>
        <p:sp>
          <p:nvSpPr>
            <p:cNvPr id="21" name="Rectangle 21"/>
            <p:cNvSpPr/>
            <p:nvPr/>
          </p:nvSpPr>
          <p:spPr>
            <a:xfrm>
              <a:off x="533400" y="4940618"/>
              <a:ext cx="5410200" cy="1288732"/>
            </a:xfrm>
            <a:prstGeom prst="roundRect">
              <a:avLst>
                <a:gd name="adj" fmla="val 8869"/>
              </a:avLst>
            </a:prstGeom>
            <a:solidFill>
              <a:srgbClr val="F4F6FB"/>
            </a:solidFill>
            <a:ln>
              <a:noFill/>
            </a:ln>
          </p:spPr>
        </p:sp>
        <p:grpSp>
          <p:nvGrpSpPr>
            <p:cNvPr id="25" name="Group 25"/>
            <p:cNvGrpSpPr/>
            <p:nvPr/>
          </p:nvGrpSpPr>
          <p:grpSpPr>
            <a:xfrm>
              <a:off x="738188" y="5484495"/>
              <a:ext cx="200026" cy="200026"/>
              <a:chOff x="738188" y="5484495"/>
              <a:chExt cx="200026" cy="200026"/>
            </a:xfrm>
          </p:grpSpPr>
          <p:sp>
            <p:nvSpPr>
              <p:cNvPr id="22" name="Freeform 22"/>
              <p:cNvSpPr/>
              <p:nvPr/>
            </p:nvSpPr>
            <p:spPr>
              <a:xfrm>
                <a:off x="738188" y="54844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23" name="Freeform 23"/>
              <p:cNvSpPr/>
              <p:nvPr/>
            </p:nvSpPr>
            <p:spPr>
              <a:xfrm>
                <a:off x="838200" y="55511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24" name="Freeform 24"/>
              <p:cNvSpPr/>
              <p:nvPr/>
            </p:nvSpPr>
            <p:spPr>
              <a:xfrm>
                <a:off x="827088" y="55845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26" name="TextBox 26"/>
            <p:cNvSpPr txBox="1"/>
            <p:nvPr/>
          </p:nvSpPr>
          <p:spPr>
            <a:xfrm>
              <a:off x="1040511" y="5223034"/>
              <a:ext cx="4522978"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假定软件的故障率是不随时间变化的常量，可靠性按指数</a:t>
              </a:r>
              <a:br/>
              <a:r>
                <a:rPr lang="zh-CN" sz="1420" dirty="0">
                  <a:solidFill>
                    <a:srgbClr val="1F2937"/>
                  </a:solidFill>
                  <a:latin typeface="+mn-lt"/>
                  <a:ea typeface="+mn-ea"/>
                  <a:cs typeface="+mn-cs"/>
                </a:rPr>
                <a:t>规律下降；耗损或退化存在时故障率随时间线性增加，这</a:t>
              </a:r>
              <a:br/>
              <a:r>
                <a:rPr lang="zh-CN" sz="1420" dirty="0">
                  <a:solidFill>
                    <a:srgbClr val="1F2937"/>
                  </a:solidFill>
                  <a:latin typeface="+mn-lt"/>
                  <a:ea typeface="+mn-ea"/>
                  <a:cs typeface="+mn-cs"/>
                </a:rPr>
                <a:t>种模型一般不适用于软件产品。</a:t>
              </a:r>
            </a:p>
          </p:txBody>
        </p:sp>
      </p:grpSp>
      <mc:AlternateContent xmlns:mc="http://schemas.openxmlformats.org/markup-compatibility/2006">
        <mc:Choice xmlns:a14="http://schemas.microsoft.com/office/drawing/2010/main" Requires="a14">
          <p:sp>
            <p:nvSpPr>
              <p:cNvPr id="28" name="formula29"/>
              <p:cNvSpPr txBox="1">
                <a:spLocks noGrp="1"/>
              </p:cNvSpPr>
              <p:nvPr/>
            </p:nvSpPr>
            <p:spPr>
              <a:xfrm>
                <a:off x="6248400" y="1524000"/>
                <a:ext cx="5410200" cy="4572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00" dirty="0">
                          <a:solidFill>
                            <a:srgbClr val="1F2937"/>
                          </a:solidFill>
                          <a:latin typeface="Cambria Math"/>
                          <a:ea typeface="Cambria Math"/>
                          <a:cs typeface="Cambria Math"/>
                        </a:rPr>
                        <m:t>R</m:t>
                      </m:r>
                      <m:d>
                        <m:dPr>
                          <m:begChr m:val="("/>
                          <m:sepChr m:val=""/>
                          <m:endChr m:val=")"/>
                          <m:grow m:val="on"/>
                          <m:ctrlPr>
                            <a:rPr lang="zh-CN" sz="1800" dirty="0">
                              <a:solidFill>
                                <a:srgbClr val="1F2937"/>
                              </a:solidFill>
                              <a:latin typeface="Cambria Math"/>
                              <a:ea typeface="Cambria Math"/>
                              <a:cs typeface="Cambria Math"/>
                            </a:rPr>
                          </m:ctrlPr>
                        </m:dPr>
                        <m:e>
                          <m:r>
                            <a:rPr lang="zh-CN" sz="1800" dirty="0">
                              <a:solidFill>
                                <a:srgbClr val="1F2937"/>
                              </a:solidFill>
                              <a:latin typeface="Cambria Math"/>
                              <a:ea typeface="Cambria Math"/>
                              <a:cs typeface="Cambria Math"/>
                            </a:rPr>
                            <m:t>t</m:t>
                          </m:r>
                        </m:e>
                      </m:d>
                      <m:r>
                        <m:rPr>
                          <m:sty m:val="p"/>
                        </m:rPr>
                        <a:rPr lang="zh-CN" sz="1800" dirty="0">
                          <a:solidFill>
                            <a:srgbClr val="1F2937"/>
                          </a:solidFill>
                          <a:latin typeface="Cambria Math"/>
                          <a:ea typeface="Cambria Math"/>
                          <a:cs typeface="Cambria Math"/>
                        </a:rPr>
                        <m:t>=</m:t>
                      </m:r>
                      <m:sSup>
                        <m:e>
                          <m:r>
                            <a:rPr lang="zh-CN" sz="1800" dirty="0">
                              <a:solidFill>
                                <a:srgbClr val="1F2937"/>
                              </a:solidFill>
                              <a:latin typeface="Cambria Math"/>
                              <a:ea typeface="Cambria Math"/>
                              <a:cs typeface="Cambria Math"/>
                            </a:rPr>
                            <m:t>e</m:t>
                          </m:r>
                        </m:e>
                        <m:sup>
                          <m:r>
                            <m:rPr>
                              <m:sty m:val="p"/>
                            </m:rPr>
                            <a:rPr lang="zh-CN" sz="1800" dirty="0">
                              <a:solidFill>
                                <a:srgbClr val="1F2937"/>
                              </a:solidFill>
                              <a:latin typeface="Cambria Math"/>
                              <a:ea typeface="Cambria Math"/>
                              <a:cs typeface="Cambria Math"/>
                            </a:rPr>
                            <m:t>−</m:t>
                          </m:r>
                          <m:r>
                            <a:rPr lang="zh-CN" sz="1800" dirty="0">
                              <a:solidFill>
                                <a:srgbClr val="1F2937"/>
                              </a:solidFill>
                              <a:latin typeface="Cambria Math"/>
                              <a:ea typeface="Cambria Math"/>
                              <a:cs typeface="Cambria Math"/>
                            </a:rPr>
                            <m:t>λt</m:t>
                          </m:r>
                        </m:sup>
                      </m:sSup>
                    </m:oMath>
                  </m:oMathPara>
                </a14:m>
              </a:p>
            </p:txBody>
          </p:sp>
        </mc:Choice>
      </mc:AlternateContent>
      <mc:AlternateContent xmlns:mc="http://schemas.openxmlformats.org/markup-compatibility/2006">
        <mc:Choice xmlns:a14="http://schemas.microsoft.com/office/drawing/2010/main" Requires="a14">
          <p:sp>
            <p:nvSpPr>
              <p:cNvPr id="29" name="formula30"/>
              <p:cNvSpPr txBox="1">
                <a:spLocks noGrp="1"/>
              </p:cNvSpPr>
              <p:nvPr/>
            </p:nvSpPr>
            <p:spPr>
              <a:xfrm>
                <a:off x="6248400" y="2161222"/>
                <a:ext cx="5410200" cy="4572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00" dirty="0">
                          <a:solidFill>
                            <a:srgbClr val="1F2937"/>
                          </a:solidFill>
                          <a:latin typeface="Cambria Math"/>
                          <a:ea typeface="Cambria Math"/>
                          <a:cs typeface="Cambria Math"/>
                        </a:rPr>
                        <m:t>R</m:t>
                      </m:r>
                      <m:d>
                        <m:dPr>
                          <m:begChr m:val="("/>
                          <m:sepChr m:val=""/>
                          <m:endChr m:val=")"/>
                          <m:grow m:val="on"/>
                          <m:ctrlPr>
                            <a:rPr lang="zh-CN" sz="1800" dirty="0">
                              <a:solidFill>
                                <a:srgbClr val="1F2937"/>
                              </a:solidFill>
                              <a:latin typeface="Cambria Math"/>
                              <a:ea typeface="Cambria Math"/>
                              <a:cs typeface="Cambria Math"/>
                            </a:rPr>
                          </m:ctrlPr>
                        </m:dPr>
                        <m:e>
                          <m:r>
                            <a:rPr lang="zh-CN" sz="1800" dirty="0">
                              <a:solidFill>
                                <a:srgbClr val="1F2937"/>
                              </a:solidFill>
                              <a:latin typeface="Cambria Math"/>
                              <a:ea typeface="Cambria Math"/>
                              <a:cs typeface="Cambria Math"/>
                            </a:rPr>
                            <m:t>t</m:t>
                          </m:r>
                        </m:e>
                      </m:d>
                      <m:r>
                        <m:rPr>
                          <m:sty m:val="p"/>
                        </m:rPr>
                        <a:rPr lang="zh-CN" sz="1800" dirty="0">
                          <a:solidFill>
                            <a:srgbClr val="1F2937"/>
                          </a:solidFill>
                          <a:latin typeface="Cambria Math"/>
                          <a:ea typeface="Cambria Math"/>
                          <a:cs typeface="Cambria Math"/>
                        </a:rPr>
                        <m:t>=</m:t>
                      </m:r>
                      <m:sSup>
                        <m:e>
                          <m:r>
                            <a:rPr lang="zh-CN" sz="1800" dirty="0">
                              <a:solidFill>
                                <a:srgbClr val="1F2937"/>
                              </a:solidFill>
                              <a:latin typeface="Cambria Math"/>
                              <a:ea typeface="Cambria Math"/>
                              <a:cs typeface="Cambria Math"/>
                            </a:rPr>
                            <m:t>e</m:t>
                          </m:r>
                        </m:e>
                        <m:sup>
                          <m:r>
                            <m:rPr>
                              <m:sty m:val="p"/>
                            </m:rPr>
                            <a:rPr lang="zh-CN" sz="1800" dirty="0">
                              <a:solidFill>
                                <a:srgbClr val="1F2937"/>
                              </a:solidFill>
                              <a:latin typeface="Cambria Math"/>
                              <a:ea typeface="Cambria Math"/>
                              <a:cs typeface="Cambria Math"/>
                            </a:rPr>
                            <m:t>−</m:t>
                          </m:r>
                          <m:r>
                            <a:rPr lang="zh-CN" sz="1800" dirty="0">
                              <a:solidFill>
                                <a:srgbClr val="1F2937"/>
                              </a:solidFill>
                              <a:latin typeface="Cambria Math"/>
                              <a:ea typeface="Cambria Math"/>
                              <a:cs typeface="Cambria Math"/>
                            </a:rPr>
                            <m:t>k</m:t>
                          </m:r>
                          <m:sSup>
                            <m:e>
                              <m:r>
                                <a:rPr lang="zh-CN" sz="1800" dirty="0">
                                  <a:solidFill>
                                    <a:srgbClr val="1F2937"/>
                                  </a:solidFill>
                                  <a:latin typeface="Cambria Math"/>
                                  <a:ea typeface="Cambria Math"/>
                                  <a:cs typeface="Cambria Math"/>
                                </a:rPr>
                                <m:t>t</m:t>
                              </m:r>
                            </m:e>
                            <m:sup>
                              <m:r>
                                <a:rPr lang="zh-CN" sz="1800" dirty="0">
                                  <a:solidFill>
                                    <a:srgbClr val="1F2937"/>
                                  </a:solidFill>
                                  <a:latin typeface="Cambria Math"/>
                                  <a:ea typeface="Cambria Math"/>
                                  <a:cs typeface="Cambria Math"/>
                                </a:rPr>
                                <m:t>2</m:t>
                              </m:r>
                            </m:sup>
                          </m:sSup>
                          <m:r>
                            <m:rPr>
                              <m:sty m:val="p"/>
                            </m:rPr>
                            <a:rPr lang="zh-CN" sz="1800" dirty="0">
                              <a:solidFill>
                                <a:srgbClr val="1F2937"/>
                              </a:solidFill>
                              <a:latin typeface="Cambria Math"/>
                              <a:ea typeface="Cambria Math"/>
                              <a:cs typeface="Cambria Math"/>
                            </a:rPr>
                            <m:t>/</m:t>
                          </m:r>
                          <m:r>
                            <a:rPr lang="zh-CN" sz="1800" dirty="0">
                              <a:solidFill>
                                <a:srgbClr val="1F2937"/>
                              </a:solidFill>
                              <a:latin typeface="Cambria Math"/>
                              <a:ea typeface="Cambria Math"/>
                              <a:cs typeface="Cambria Math"/>
                            </a:rPr>
                            <m:t>2</m:t>
                          </m:r>
                        </m:sup>
                      </m:sSup>
                    </m:oMath>
                  </m:oMathPara>
                </a14:m>
              </a:p>
            </p:txBody>
          </p:sp>
        </mc:Choice>
      </mc:AlternateContent>
      <mc:AlternateContent xmlns:mc="http://schemas.openxmlformats.org/markup-compatibility/2006">
        <mc:Choice xmlns:a14="http://schemas.microsoft.com/office/drawing/2010/main" Requires="a14">
          <p:sp>
            <p:nvSpPr>
              <p:cNvPr id="30" name="formula31"/>
              <p:cNvSpPr txBox="1">
                <a:spLocks noGrp="1"/>
              </p:cNvSpPr>
              <p:nvPr/>
            </p:nvSpPr>
            <p:spPr>
              <a:xfrm>
                <a:off x="6248400" y="2798445"/>
                <a:ext cx="5410200" cy="61722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800" dirty="0">
                              <a:solidFill>
                                <a:srgbClr val="1F2937"/>
                              </a:solidFill>
                              <a:latin typeface="Cambria Math"/>
                              <a:ea typeface="Cambria Math"/>
                              <a:cs typeface="Cambria Math"/>
                            </a:rPr>
                            <m:t>A</m:t>
                          </m:r>
                        </m:e>
                        <m:sub>
                          <m:r>
                            <a:rPr lang="zh-CN" sz="1800" dirty="0">
                              <a:solidFill>
                                <a:srgbClr val="1F2937"/>
                              </a:solidFill>
                              <a:latin typeface="Cambria Math"/>
                              <a:ea typeface="Cambria Math"/>
                              <a:cs typeface="Cambria Math"/>
                            </a:rPr>
                            <m:t>ss</m:t>
                          </m:r>
                        </m:sub>
                      </m:sSub>
                      <m:r>
                        <m:rPr>
                          <m:sty m:val="p"/>
                        </m:rPr>
                        <a:rPr lang="zh-CN" sz="1800" dirty="0">
                          <a:solidFill>
                            <a:srgbClr val="1F2937"/>
                          </a:solidFill>
                          <a:latin typeface="Cambria Math"/>
                          <a:ea typeface="Cambria Math"/>
                          <a:cs typeface="Cambria Math"/>
                        </a:rPr>
                        <m:t>=</m:t>
                      </m:r>
                      <m:f>
                        <m:fPr>
                          <m:type m:val="bar"/>
                          <m:ctrlPr>
                            <a:rPr lang="zh-CN" sz="1800" dirty="0">
                              <a:solidFill>
                                <a:srgbClr val="1F2937"/>
                              </a:solidFill>
                              <a:latin typeface="Cambria Math"/>
                              <a:ea typeface="Cambria Math"/>
                              <a:cs typeface="Cambria Math"/>
                            </a:rPr>
                          </m:ctrlPr>
                        </m:fPr>
                        <m:num>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up</m:t>
                              </m:r>
                            </m:sub>
                          </m:sSub>
                        </m:num>
                        <m:den>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up</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down</m:t>
                              </m:r>
                            </m:sub>
                          </m:sSub>
                        </m:den>
                      </m:f>
                    </m:oMath>
                  </m:oMathPara>
                </a14:m>
              </a:p>
            </p:txBody>
          </p:sp>
        </mc:Choice>
      </mc:AlternateContent>
      <mc:AlternateContent xmlns:mc="http://schemas.openxmlformats.org/markup-compatibility/2006">
        <mc:Choice xmlns:a14="http://schemas.microsoft.com/office/drawing/2010/main" Requires="a14">
          <p:sp>
            <p:nvSpPr>
              <p:cNvPr id="31" name="formula32"/>
              <p:cNvSpPr txBox="1">
                <a:spLocks noGrp="1"/>
              </p:cNvSpPr>
              <p:nvPr/>
            </p:nvSpPr>
            <p:spPr>
              <a:xfrm>
                <a:off x="6248400" y="3596640"/>
                <a:ext cx="5410200" cy="4572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up</m:t>
                          </m:r>
                        </m:sub>
                      </m:sSub>
                      <m:r>
                        <m:rPr>
                          <m:sty m:val="p"/>
                        </m:rPr>
                        <a:rPr lang="zh-CN" sz="1800" dirty="0">
                          <a:solidFill>
                            <a:srgbClr val="1F2937"/>
                          </a:solidFill>
                          <a:latin typeface="Cambria Math"/>
                          <a:ea typeface="Cambria Math"/>
                          <a:cs typeface="Cambria Math"/>
                        </a:rPr>
                        <m:t>=</m:t>
                      </m:r>
                      <m:nary>
                        <m:naryPr>
                          <m:chr m:val="∑"/>
                          <m:limLoc m:val="undOvr"/>
                          <m:grow m:val="off"/>
                          <m:subHide m:val="on"/>
                          <m:supHide m:val="on"/>
                          <m:ctrlPr>
                            <a:rPr lang="zh-CN" sz="1800" dirty="0">
                              <a:solidFill>
                                <a:srgbClr val="1F2937"/>
                              </a:solidFill>
                              <a:latin typeface="Cambria Math"/>
                              <a:ea typeface="Cambria Math"/>
                              <a:cs typeface="Cambria Math"/>
                            </a:rPr>
                          </m:ctrlPr>
                        </m:naryPr>
                        <m:sub/>
                        <m:sup/>
                        <m:e>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ui</m:t>
                              </m:r>
                            </m:sub>
                          </m:sSub>
                        </m:e>
                      </m:nary>
                      <m:r>
                        <m:rPr>
                          <m:sty m:val="p"/>
                        </m:rPr>
                        <a:rPr lang="zh-CN" sz="1800" dirty="0">
                          <a:solidFill>
                            <a:srgbClr val="1F2937"/>
                          </a:solidFill>
                          <a:latin typeface="Cambria Math"/>
                          <a:ea typeface="Cambria Math"/>
                          <a:cs typeface="Cambria Math"/>
                        </a:rPr>
                        <m:t>,</m:t>
                      </m:r>
                      <m:r>
                        <a:rPr lang="zh-CN" sz="1800" dirty="0">
                          <a:solidFill>
                            <a:srgbClr val="1F2937"/>
                          </a:solidFill>
                          <a:latin typeface="Cambria Math"/>
                          <a:ea typeface="Cambria Math"/>
                          <a:cs typeface="Cambria Math"/>
                        </a:rPr>
                        <m:t xml:space="preserve">  </m:t>
                      </m:r>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down</m:t>
                          </m:r>
                        </m:sub>
                      </m:sSub>
                      <m:r>
                        <m:rPr>
                          <m:sty m:val="p"/>
                        </m:rPr>
                        <a:rPr lang="zh-CN" sz="1800" dirty="0">
                          <a:solidFill>
                            <a:srgbClr val="1F2937"/>
                          </a:solidFill>
                          <a:latin typeface="Cambria Math"/>
                          <a:ea typeface="Cambria Math"/>
                          <a:cs typeface="Cambria Math"/>
                        </a:rPr>
                        <m:t>=</m:t>
                      </m:r>
                      <m:nary>
                        <m:naryPr>
                          <m:chr m:val="∑"/>
                          <m:limLoc m:val="undOvr"/>
                          <m:grow m:val="off"/>
                          <m:subHide m:val="on"/>
                          <m:supHide m:val="on"/>
                          <m:ctrlPr>
                            <a:rPr lang="zh-CN" sz="1800" dirty="0">
                              <a:solidFill>
                                <a:srgbClr val="1F2937"/>
                              </a:solidFill>
                              <a:latin typeface="Cambria Math"/>
                              <a:ea typeface="Cambria Math"/>
                              <a:cs typeface="Cambria Math"/>
                            </a:rPr>
                          </m:ctrlPr>
                        </m:naryPr>
                        <m:sub/>
                        <m:sup/>
                        <m:e>
                          <m:sSub>
                            <m:e>
                              <m:r>
                                <a:rPr lang="zh-CN" sz="1800" dirty="0">
                                  <a:solidFill>
                                    <a:srgbClr val="1F2937"/>
                                  </a:solidFill>
                                  <a:latin typeface="Cambria Math"/>
                                  <a:ea typeface="Cambria Math"/>
                                  <a:cs typeface="Cambria Math"/>
                                </a:rPr>
                                <m:t>t</m:t>
                              </m:r>
                            </m:e>
                            <m:sub>
                              <m:r>
                                <a:rPr lang="zh-CN" sz="1800" dirty="0">
                                  <a:solidFill>
                                    <a:srgbClr val="1F2937"/>
                                  </a:solidFill>
                                  <a:latin typeface="Cambria Math"/>
                                  <a:ea typeface="Cambria Math"/>
                                  <a:cs typeface="Cambria Math"/>
                                </a:rPr>
                                <m:t>di</m:t>
                              </m:r>
                            </m:sub>
                          </m:sSub>
                        </m:e>
                      </m:nary>
                    </m:oMath>
                  </m:oMathPara>
                </a14:m>
              </a:p>
            </p:txBody>
          </p:sp>
        </mc:Choice>
      </mc:AlternateContent>
      <mc:AlternateContent xmlns:mc="http://schemas.openxmlformats.org/markup-compatibility/2006">
        <mc:Choice xmlns:a14="http://schemas.microsoft.com/office/drawing/2010/main" Requires="a14">
          <p:sp>
            <p:nvSpPr>
              <p:cNvPr id="32" name="formula33"/>
              <p:cNvSpPr txBox="1">
                <a:spLocks noGrp="1"/>
              </p:cNvSpPr>
              <p:nvPr/>
            </p:nvSpPr>
            <p:spPr>
              <a:xfrm>
                <a:off x="6248400" y="4233862"/>
                <a:ext cx="5410200" cy="61722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800" dirty="0">
                              <a:solidFill>
                                <a:srgbClr val="1F2937"/>
                              </a:solidFill>
                              <a:latin typeface="Cambria Math"/>
                              <a:ea typeface="Cambria Math"/>
                              <a:cs typeface="Cambria Math"/>
                            </a:rPr>
                            <m:t>A</m:t>
                          </m:r>
                        </m:e>
                        <m:sub>
                          <m:r>
                            <a:rPr lang="zh-CN" sz="1800" dirty="0">
                              <a:solidFill>
                                <a:srgbClr val="1F2937"/>
                              </a:solidFill>
                              <a:latin typeface="Cambria Math"/>
                              <a:ea typeface="Cambria Math"/>
                              <a:cs typeface="Cambria Math"/>
                            </a:rPr>
                            <m:t>ss</m:t>
                          </m:r>
                        </m:sub>
                      </m:sSub>
                      <m:r>
                        <m:rPr>
                          <m:sty m:val="p"/>
                        </m:rPr>
                        <a:rPr lang="zh-CN" sz="1800" dirty="0">
                          <a:solidFill>
                            <a:srgbClr val="1F2937"/>
                          </a:solidFill>
                          <a:latin typeface="Cambria Math"/>
                          <a:ea typeface="Cambria Math"/>
                          <a:cs typeface="Cambria Math"/>
                        </a:rPr>
                        <m:t>=</m:t>
                      </m:r>
                      <m:f>
                        <m:fPr>
                          <m:type m:val="bar"/>
                          <m:ctrlPr>
                            <a:rPr lang="zh-CN" sz="1800" dirty="0">
                              <a:solidFill>
                                <a:srgbClr val="1F2937"/>
                              </a:solidFill>
                              <a:latin typeface="Cambria Math"/>
                              <a:ea typeface="Cambria Math"/>
                              <a:cs typeface="Cambria Math"/>
                            </a:rPr>
                          </m:ctrlPr>
                        </m:fPr>
                        <m:num>
                          <m:r>
                            <a:rPr lang="zh-CN" sz="1800" dirty="0">
                              <a:solidFill>
                                <a:srgbClr val="1F2937"/>
                              </a:solidFill>
                              <a:latin typeface="Cambria Math"/>
                              <a:ea typeface="Cambria Math"/>
                              <a:cs typeface="Cambria Math"/>
                            </a:rPr>
                            <m:t>MTTF</m:t>
                          </m:r>
                        </m:num>
                        <m:den>
                          <m:r>
                            <a:rPr lang="zh-CN" sz="1800" dirty="0">
                              <a:solidFill>
                                <a:srgbClr val="1F2937"/>
                              </a:solidFill>
                              <a:latin typeface="Cambria Math"/>
                              <a:ea typeface="Cambria Math"/>
                              <a:cs typeface="Cambria Math"/>
                            </a:rPr>
                            <m:t>MTTF</m:t>
                          </m:r>
                          <m:r>
                            <m:rPr>
                              <m:sty m:val="p"/>
                            </m:rPr>
                            <a:rPr lang="zh-CN" sz="1800" dirty="0">
                              <a:solidFill>
                                <a:srgbClr val="1F2937"/>
                              </a:solidFill>
                              <a:latin typeface="Cambria Math"/>
                              <a:ea typeface="Cambria Math"/>
                              <a:cs typeface="Cambria Math"/>
                            </a:rPr>
                            <m:t>+</m:t>
                          </m:r>
                          <m:r>
                            <a:rPr lang="zh-CN" sz="1800" dirty="0">
                              <a:solidFill>
                                <a:srgbClr val="1F2937"/>
                              </a:solidFill>
                              <a:latin typeface="Cambria Math"/>
                              <a:ea typeface="Cambria Math"/>
                              <a:cs typeface="Cambria Math"/>
                            </a:rPr>
                            <m:t>MTTR</m:t>
                          </m:r>
                        </m:den>
                      </m:f>
                    </m:oMath>
                  </m:oMathPara>
                </a14:m>
              </a:p>
            </p:txBody>
          </p:sp>
        </mc:Choice>
      </mc:AlternateContent>
      <p:grpSp>
        <p:nvGrpSpPr>
          <p:cNvPr id="38" name="c2-kv-6"/>
          <p:cNvGrpSpPr/>
          <p:nvPr/>
        </p:nvGrpSpPr>
        <p:grpSpPr>
          <a:xfrm>
            <a:off x="6241161" y="5054441"/>
            <a:ext cx="5417439" cy="1230249"/>
            <a:chOff x="6241161" y="5054441"/>
            <a:chExt cx="5417439" cy="1230249"/>
          </a:xfrm>
        </p:grpSpPr>
        <p:sp>
          <p:nvSpPr>
            <p:cNvPr id="33" name="TextBox 33"/>
            <p:cNvSpPr txBox="1"/>
            <p:nvPr/>
          </p:nvSpPr>
          <p:spPr>
            <a:xfrm>
              <a:off x="6241161" y="5054441"/>
              <a:ext cx="523470"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MTTF</a:t>
              </a:r>
            </a:p>
          </p:txBody>
        </p:sp>
        <p:sp>
          <p:nvSpPr>
            <p:cNvPr id="34" name="TextBox 34"/>
            <p:cNvSpPr txBox="1"/>
            <p:nvPr/>
          </p:nvSpPr>
          <p:spPr>
            <a:xfrm>
              <a:off x="6962204" y="5054441"/>
              <a:ext cx="434263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平均无故障时间，主要取决于系统中潜伏的错误数目，</a:t>
              </a:r>
              <a:br/>
              <a:r>
                <a:rPr lang="zh-CN" sz="1420" dirty="0">
                  <a:solidFill>
                    <a:srgbClr val="1F2937"/>
                  </a:solidFill>
                  <a:latin typeface="+mn-lt"/>
                  <a:ea typeface="+mn-ea"/>
                  <a:cs typeface="+mn-cs"/>
                </a:rPr>
                <a:t>和测试的关系十分密切</a:t>
              </a:r>
            </a:p>
          </p:txBody>
        </p:sp>
        <p:sp>
          <p:nvSpPr>
            <p:cNvPr id="35" name="Rectangle 35"/>
            <p:cNvSpPr/>
            <p:nvPr/>
          </p:nvSpPr>
          <p:spPr>
            <a:xfrm>
              <a:off x="6248400" y="5625465"/>
              <a:ext cx="5410200" cy="9525"/>
            </a:xfrm>
            <a:prstGeom prst="rect">
              <a:avLst/>
            </a:prstGeom>
            <a:solidFill>
              <a:srgbClr val="D9DFEA"/>
            </a:solidFill>
            <a:ln>
              <a:noFill/>
            </a:ln>
          </p:spPr>
        </p:sp>
        <p:sp>
          <p:nvSpPr>
            <p:cNvPr id="36" name="TextBox 36"/>
            <p:cNvSpPr txBox="1"/>
            <p:nvPr/>
          </p:nvSpPr>
          <p:spPr>
            <a:xfrm>
              <a:off x="6241161" y="5738336"/>
              <a:ext cx="523470"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MTTR</a:t>
              </a:r>
            </a:p>
          </p:txBody>
        </p:sp>
        <p:sp>
          <p:nvSpPr>
            <p:cNvPr id="37" name="TextBox 37"/>
            <p:cNvSpPr txBox="1"/>
            <p:nvPr/>
          </p:nvSpPr>
          <p:spPr>
            <a:xfrm>
              <a:off x="6962204" y="5738336"/>
              <a:ext cx="4342638" cy="546354"/>
            </a:xfrm>
            <a:prstGeom prst="rect">
              <a:avLst/>
            </a:prstGeom>
            <a:noFill/>
            <a:ln>
              <a:noFill/>
            </a:ln>
          </p:spPr>
          <p:txBody>
            <a:bodyPr wrap="none" lIns="0" tIns="0" rIns="0" bIns="0" anchor="t" anchorCtr="0">
              <a:spAutoFit/>
            </a:bodyPr>
            <a:lstStyle/>
            <a:p>
              <a:pPr algn="l">
                <a:lnSpc>
                  <a:spcPts val="2108"/>
                </a:lnSpc>
              </a:pPr>
              <a:r>
                <a:rPr lang="zh-CN" sz="1420" dirty="0">
                  <a:solidFill>
                    <a:srgbClr val="1F2937"/>
                  </a:solidFill>
                  <a:latin typeface="+mn-lt"/>
                  <a:ea typeface="+mn-ea"/>
                  <a:cs typeface="+mn-cs"/>
                </a:rPr>
                <a:t>平均维修时间，取决于维护人员的技术水平、对系统的</a:t>
              </a:r>
              <a:br/>
              <a:r>
                <a:rPr lang="zh-CN" sz="1420" dirty="0">
                  <a:solidFill>
                    <a:srgbClr val="1F2937"/>
                  </a:solidFill>
                  <a:latin typeface="+mn-lt"/>
                  <a:ea typeface="+mn-ea"/>
                  <a:cs typeface="+mn-cs"/>
                </a:rPr>
                <a:t>熟悉程度和系统的可维护性</a:t>
              </a:r>
            </a:p>
          </p:txBody>
        </p:sp>
      </p:grpSp>
      <p:grpSp>
        <p:nvGrpSpPr>
          <p:cNvPr id="41" name="footer"/>
          <p:cNvGrpSpPr/>
          <p:nvPr/>
        </p:nvGrpSpPr>
        <p:grpSpPr>
          <a:xfrm>
            <a:off x="528447" y="6581299"/>
            <a:ext cx="11135106" cy="190690"/>
            <a:chOff x="528447" y="6581299"/>
            <a:chExt cx="11135106" cy="190690"/>
          </a:xfrm>
        </p:grpSpPr>
        <p:sp>
          <p:nvSpPr>
            <p:cNvPr id="39" name="TextBox 39"/>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40" name="TextBox 4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59</a:t>
              </a:r>
            </a:p>
          </p:txBody>
        </p:sp>
      </p:grpSp>
    </p:spTree>
  </p:cSld>
  <p:clrMapOvr>
    <a:masterClrMapping/>
  </p:clrMapOvr>
  <p:transition xmlns:p14="http://schemas.microsoft.com/office/powerpoint/2010/main" p14:dur="400">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调试与软件可靠性</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估算平均无故障时间的公式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1" name="c1-kv-1"/>
          <p:cNvGrpSpPr/>
          <p:nvPr/>
        </p:nvGrpSpPr>
        <p:grpSpPr>
          <a:xfrm>
            <a:off x="525780" y="1548765"/>
            <a:ext cx="5201602" cy="2053590"/>
            <a:chOff x="525780" y="1548765"/>
            <a:chExt cx="5201602" cy="2053590"/>
          </a:xfrm>
        </p:grpSpPr>
        <p:sp>
          <p:nvSpPr>
            <p:cNvPr id="7" name="TextBox 7"/>
            <p:cNvSpPr txBox="1"/>
            <p:nvPr/>
          </p:nvSpPr>
          <p:spPr>
            <a:xfrm>
              <a:off x="525780" y="1548765"/>
              <a:ext cx="384886"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E_T</a:t>
              </a:r>
            </a:p>
          </p:txBody>
        </p:sp>
        <p:sp>
          <p:nvSpPr>
            <p:cNvPr id="8" name="TextBox 8"/>
            <p:cNvSpPr txBox="1"/>
            <p:nvPr/>
          </p:nvSpPr>
          <p:spPr>
            <a:xfrm>
              <a:off x="1461135" y="154876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测试之前程序中的错误总数</a:t>
              </a:r>
            </a:p>
          </p:txBody>
        </p:sp>
        <p:sp>
          <p:nvSpPr>
            <p:cNvPr id="9" name="Rectangle 9"/>
            <p:cNvSpPr/>
            <p:nvPr/>
          </p:nvSpPr>
          <p:spPr>
            <a:xfrm>
              <a:off x="533400" y="1868805"/>
              <a:ext cx="5193982" cy="9525"/>
            </a:xfrm>
            <a:prstGeom prst="rect">
              <a:avLst/>
            </a:prstGeom>
            <a:solidFill>
              <a:srgbClr val="D9DFEA"/>
            </a:solidFill>
            <a:ln>
              <a:noFill/>
            </a:ln>
          </p:spPr>
        </p:sp>
        <p:sp>
          <p:nvSpPr>
            <p:cNvPr id="10" name="TextBox 10"/>
            <p:cNvSpPr txBox="1"/>
            <p:nvPr/>
          </p:nvSpPr>
          <p:spPr>
            <a:xfrm>
              <a:off x="525780" y="1988820"/>
              <a:ext cx="328879" cy="293370"/>
            </a:xfrm>
            <a:prstGeom prst="rect">
              <a:avLst/>
            </a:prstGeom>
            <a:noFill/>
            <a:ln>
              <a:noFill/>
            </a:ln>
          </p:spPr>
          <p:txBody>
            <a:bodyPr wrap="none" lIns="0" tIns="0" rIns="0" bIns="0" anchor="t" anchorCtr="0">
              <a:spAutoFit/>
            </a:bodyPr>
            <a:lstStyle/>
            <a:p>
              <a:pPr algn="l"/>
              <a:r>
                <a:rPr lang="en-US" sz="1500" b="1" dirty="0">
                  <a:solidFill>
                    <a:srgbClr val="334E68"/>
                  </a:solidFill>
                  <a:latin typeface="+mn-lt"/>
                  <a:ea typeface="+mn-ea"/>
                  <a:cs typeface="+mn-cs"/>
                </a:rPr>
                <a:t>I_T</a:t>
              </a:r>
            </a:p>
          </p:txBody>
        </p:sp>
        <p:sp>
          <p:nvSpPr>
            <p:cNvPr id="11" name="TextBox 11"/>
            <p:cNvSpPr txBox="1"/>
            <p:nvPr/>
          </p:nvSpPr>
          <p:spPr>
            <a:xfrm>
              <a:off x="1461135" y="1988820"/>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程序长度，即机器指令总数</a:t>
              </a:r>
            </a:p>
          </p:txBody>
        </p:sp>
        <p:sp>
          <p:nvSpPr>
            <p:cNvPr id="12" name="Rectangle 12"/>
            <p:cNvSpPr/>
            <p:nvPr/>
          </p:nvSpPr>
          <p:spPr>
            <a:xfrm>
              <a:off x="533400" y="2308860"/>
              <a:ext cx="5193982" cy="9525"/>
            </a:xfrm>
            <a:prstGeom prst="rect">
              <a:avLst/>
            </a:prstGeom>
            <a:solidFill>
              <a:srgbClr val="D9DFEA"/>
            </a:solidFill>
            <a:ln>
              <a:noFill/>
            </a:ln>
          </p:spPr>
        </p:sp>
        <p:sp>
          <p:nvSpPr>
            <p:cNvPr id="13" name="TextBox 13"/>
            <p:cNvSpPr txBox="1"/>
            <p:nvPr/>
          </p:nvSpPr>
          <p:spPr>
            <a:xfrm>
              <a:off x="525780" y="2428875"/>
              <a:ext cx="131855" cy="293370"/>
            </a:xfrm>
            <a:prstGeom prst="rect">
              <a:avLst/>
            </a:prstGeom>
            <a:noFill/>
            <a:ln>
              <a:noFill/>
            </a:ln>
          </p:spPr>
          <p:txBody>
            <a:bodyPr wrap="none" lIns="0" tIns="0" rIns="0" bIns="0" anchor="t" anchorCtr="0">
              <a:spAutoFit/>
            </a:bodyPr>
            <a:lstStyle/>
            <a:p>
              <a:pPr algn="l"/>
              <a:r>
                <a:rPr lang="el-GR" sz="1500" b="1" dirty="0">
                  <a:solidFill>
                    <a:srgbClr val="334E68"/>
                  </a:solidFill>
                  <a:latin typeface="+mn-lt"/>
                  <a:ea typeface="+mn-ea"/>
                  <a:cs typeface="+mn-cs"/>
                </a:rPr>
                <a:t>τ</a:t>
              </a:r>
            </a:p>
          </p:txBody>
        </p:sp>
        <p:sp>
          <p:nvSpPr>
            <p:cNvPr id="14" name="TextBox 14"/>
            <p:cNvSpPr txBox="1"/>
            <p:nvPr/>
          </p:nvSpPr>
          <p:spPr>
            <a:xfrm>
              <a:off x="1461135" y="2428875"/>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测试（包括调试）时间</a:t>
              </a:r>
            </a:p>
          </p:txBody>
        </p:sp>
        <p:sp>
          <p:nvSpPr>
            <p:cNvPr id="15" name="Rectangle 15"/>
            <p:cNvSpPr/>
            <p:nvPr/>
          </p:nvSpPr>
          <p:spPr>
            <a:xfrm>
              <a:off x="533400" y="2748915"/>
              <a:ext cx="5193982" cy="9525"/>
            </a:xfrm>
            <a:prstGeom prst="rect">
              <a:avLst/>
            </a:prstGeom>
            <a:solidFill>
              <a:srgbClr val="D9DFEA"/>
            </a:solidFill>
            <a:ln>
              <a:noFill/>
            </a:ln>
          </p:spPr>
        </p:sp>
        <p:sp>
          <p:nvSpPr>
            <p:cNvPr id="16" name="TextBox 16"/>
            <p:cNvSpPr txBox="1"/>
            <p:nvPr/>
          </p:nvSpPr>
          <p:spPr>
            <a:xfrm>
              <a:off x="525780" y="2868930"/>
              <a:ext cx="728129" cy="293370"/>
            </a:xfrm>
            <a:prstGeom prst="rect">
              <a:avLst/>
            </a:prstGeom>
            <a:noFill/>
            <a:ln>
              <a:noFill/>
            </a:ln>
          </p:spPr>
          <p:txBody>
            <a:bodyPr wrap="none" lIns="0" tIns="0" rIns="0" bIns="0" anchor="t" anchorCtr="0">
              <a:spAutoFit/>
            </a:bodyPr>
            <a:lstStyle/>
            <a:p>
              <a:pPr algn="l"/>
              <a:r>
                <a:rPr lang="el-GR" sz="1500" b="1" dirty="0">
                  <a:solidFill>
                    <a:srgbClr val="334E68"/>
                  </a:solidFill>
                  <a:latin typeface="+mn-lt"/>
                  <a:ea typeface="+mn-ea"/>
                  <a:cs typeface="+mn-cs"/>
                </a:rPr>
                <a:t>E_d(τ)</a:t>
              </a:r>
            </a:p>
          </p:txBody>
        </p:sp>
        <p:sp>
          <p:nvSpPr>
            <p:cNvPr id="17" name="TextBox 17"/>
            <p:cNvSpPr txBox="1"/>
            <p:nvPr/>
          </p:nvSpPr>
          <p:spPr>
            <a:xfrm>
              <a:off x="1461135" y="2868930"/>
              <a:ext cx="249897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 0 至 τ 期间发现的错误数</a:t>
              </a:r>
            </a:p>
          </p:txBody>
        </p:sp>
        <p:sp>
          <p:nvSpPr>
            <p:cNvPr id="18" name="Rectangle 18"/>
            <p:cNvSpPr/>
            <p:nvPr/>
          </p:nvSpPr>
          <p:spPr>
            <a:xfrm>
              <a:off x="533400" y="3188970"/>
              <a:ext cx="5193982" cy="9525"/>
            </a:xfrm>
            <a:prstGeom prst="rect">
              <a:avLst/>
            </a:prstGeom>
            <a:solidFill>
              <a:srgbClr val="D9DFEA"/>
            </a:solidFill>
            <a:ln>
              <a:noFill/>
            </a:ln>
          </p:spPr>
        </p:sp>
        <p:sp>
          <p:nvSpPr>
            <p:cNvPr id="19" name="TextBox 19"/>
            <p:cNvSpPr txBox="1"/>
            <p:nvPr/>
          </p:nvSpPr>
          <p:spPr>
            <a:xfrm>
              <a:off x="525780" y="3308985"/>
              <a:ext cx="728129" cy="293370"/>
            </a:xfrm>
            <a:prstGeom prst="rect">
              <a:avLst/>
            </a:prstGeom>
            <a:noFill/>
            <a:ln>
              <a:noFill/>
            </a:ln>
          </p:spPr>
          <p:txBody>
            <a:bodyPr wrap="none" lIns="0" tIns="0" rIns="0" bIns="0" anchor="t" anchorCtr="0">
              <a:spAutoFit/>
            </a:bodyPr>
            <a:lstStyle/>
            <a:p>
              <a:pPr algn="l"/>
              <a:r>
                <a:rPr lang="el-GR" sz="1500" b="1" dirty="0">
                  <a:solidFill>
                    <a:srgbClr val="334E68"/>
                  </a:solidFill>
                  <a:latin typeface="+mn-lt"/>
                  <a:ea typeface="+mn-ea"/>
                  <a:cs typeface="+mn-cs"/>
                </a:rPr>
                <a:t>E_c(τ)</a:t>
              </a:r>
            </a:p>
          </p:txBody>
        </p:sp>
        <p:sp>
          <p:nvSpPr>
            <p:cNvPr id="20" name="TextBox 20"/>
            <p:cNvSpPr txBox="1"/>
            <p:nvPr/>
          </p:nvSpPr>
          <p:spPr>
            <a:xfrm>
              <a:off x="1461135" y="3308985"/>
              <a:ext cx="2498979"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 0 至 τ 期间改正的错误数</a:t>
              </a:r>
            </a:p>
          </p:txBody>
        </p:sp>
      </p:grpSp>
      <p:grpSp>
        <p:nvGrpSpPr>
          <p:cNvPr id="36" name="c1-card-2"/>
          <p:cNvGrpSpPr/>
          <p:nvPr/>
        </p:nvGrpSpPr>
        <p:grpSpPr>
          <a:xfrm>
            <a:off x="533400" y="3733800"/>
            <a:ext cx="5193982" cy="2577465"/>
            <a:chOff x="533400" y="3733800"/>
            <a:chExt cx="5193982" cy="2577465"/>
          </a:xfrm>
        </p:grpSpPr>
        <p:sp>
          <p:nvSpPr>
            <p:cNvPr id="22" name="Rectangle 22"/>
            <p:cNvSpPr/>
            <p:nvPr/>
          </p:nvSpPr>
          <p:spPr>
            <a:xfrm>
              <a:off x="533400" y="3733800"/>
              <a:ext cx="5193982" cy="2577465"/>
            </a:xfrm>
            <a:prstGeom prst="roundRect">
              <a:avLst>
                <a:gd name="adj" fmla="val 5174"/>
              </a:avLst>
            </a:prstGeom>
            <a:solidFill>
              <a:srgbClr val="FFFFFF"/>
            </a:solidFill>
            <a:ln w="14288">
              <a:solidFill>
                <a:srgbClr val="D9DFEA"/>
              </a:solidFill>
            </a:ln>
          </p:spPr>
        </p:sp>
        <p:sp>
          <p:nvSpPr>
            <p:cNvPr id="23" name="Rectangle 23"/>
            <p:cNvSpPr/>
            <p:nvPr/>
          </p:nvSpPr>
          <p:spPr>
            <a:xfrm>
              <a:off x="542925" y="3867150"/>
              <a:ext cx="47625" cy="2310765"/>
            </a:xfrm>
            <a:prstGeom prst="roundRect">
              <a:avLst>
                <a:gd name="adj" fmla="val 50000"/>
              </a:avLst>
            </a:prstGeom>
            <a:solidFill>
              <a:srgbClr val="334E68"/>
            </a:solidFill>
            <a:ln>
              <a:noFill/>
            </a:ln>
          </p:spPr>
        </p:sp>
        <p:sp>
          <p:nvSpPr>
            <p:cNvPr id="24" name="Rectangle 24"/>
            <p:cNvSpPr/>
            <p:nvPr/>
          </p:nvSpPr>
          <p:spPr>
            <a:xfrm>
              <a:off x="781050" y="3943350"/>
              <a:ext cx="778192" cy="257175"/>
            </a:xfrm>
            <a:prstGeom prst="roundRect">
              <a:avLst>
                <a:gd name="adj" fmla="val 50000"/>
              </a:avLst>
            </a:prstGeom>
            <a:solidFill>
              <a:srgbClr val="E7EDF3"/>
            </a:solidFill>
            <a:ln>
              <a:noFill/>
            </a:ln>
          </p:spPr>
        </p:sp>
        <p:sp>
          <p:nvSpPr>
            <p:cNvPr id="25" name="TextBox 25"/>
            <p:cNvSpPr txBox="1"/>
            <p:nvPr/>
          </p:nvSpPr>
          <p:spPr>
            <a:xfrm>
              <a:off x="863359" y="39790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基本假定</a:t>
              </a:r>
            </a:p>
          </p:txBody>
        </p:sp>
        <p:sp>
          <p:nvSpPr>
            <p:cNvPr id="26" name="TextBox 26"/>
            <p:cNvSpPr txBox="1"/>
            <p:nvPr/>
          </p:nvSpPr>
          <p:spPr>
            <a:xfrm>
              <a:off x="1665922" y="3978592"/>
              <a:ext cx="82296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三条前提</a:t>
              </a:r>
            </a:p>
          </p:txBody>
        </p:sp>
        <p:sp>
          <p:nvSpPr>
            <p:cNvPr id="27" name="Ellipse 27"/>
            <p:cNvSpPr/>
            <p:nvPr/>
          </p:nvSpPr>
          <p:spPr>
            <a:xfrm>
              <a:off x="781050" y="4326255"/>
              <a:ext cx="213360" cy="213360"/>
            </a:xfrm>
            <a:prstGeom prst="ellipse">
              <a:avLst/>
            </a:prstGeom>
            <a:solidFill>
              <a:srgbClr val="334E68"/>
            </a:solidFill>
            <a:ln>
              <a:noFill/>
            </a:ln>
          </p:spPr>
        </p:sp>
        <p:sp>
          <p:nvSpPr>
            <p:cNvPr id="28" name="TextBox 28"/>
            <p:cNvSpPr txBox="1"/>
            <p:nvPr/>
          </p:nvSpPr>
          <p:spPr>
            <a:xfrm>
              <a:off x="842899" y="436854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29" name="TextBox 29"/>
            <p:cNvSpPr txBox="1"/>
            <p:nvPr/>
          </p:nvSpPr>
          <p:spPr>
            <a:xfrm>
              <a:off x="1082040" y="4339590"/>
              <a:ext cx="42443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类似程序中单位长度里的错误数 E_T/I_T 近似为常</a:t>
              </a:r>
              <a:br/>
              <a:r>
                <a:rPr lang="zh-CN" sz="1500" dirty="0">
                  <a:solidFill>
                    <a:srgbClr val="1F2937"/>
                  </a:solidFill>
                  <a:latin typeface="+mn-lt"/>
                  <a:ea typeface="+mn-ea"/>
                  <a:cs typeface="+mn-cs"/>
                </a:rPr>
                <a:t>数，范围 0.5×10⁻² 到 2×10⁻²</a:t>
              </a:r>
            </a:p>
          </p:txBody>
        </p:sp>
        <p:sp>
          <p:nvSpPr>
            <p:cNvPr id="30" name="Ellipse 30"/>
            <p:cNvSpPr/>
            <p:nvPr/>
          </p:nvSpPr>
          <p:spPr>
            <a:xfrm>
              <a:off x="781050" y="4947285"/>
              <a:ext cx="213360" cy="213360"/>
            </a:xfrm>
            <a:prstGeom prst="ellipse">
              <a:avLst/>
            </a:prstGeom>
            <a:solidFill>
              <a:srgbClr val="334E68"/>
            </a:solidFill>
            <a:ln>
              <a:noFill/>
            </a:ln>
          </p:spPr>
        </p:sp>
        <p:sp>
          <p:nvSpPr>
            <p:cNvPr id="31" name="TextBox 31"/>
            <p:cNvSpPr txBox="1"/>
            <p:nvPr/>
          </p:nvSpPr>
          <p:spPr>
            <a:xfrm>
              <a:off x="842899" y="498957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32" name="TextBox 32"/>
            <p:cNvSpPr txBox="1"/>
            <p:nvPr/>
          </p:nvSpPr>
          <p:spPr>
            <a:xfrm>
              <a:off x="1082040" y="4960620"/>
              <a:ext cx="41490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失效率正比于软件中剩余的错误数，MTTF 与剩余</a:t>
              </a:r>
              <a:br/>
              <a:r>
                <a:rPr lang="zh-CN" sz="1500" dirty="0">
                  <a:solidFill>
                    <a:srgbClr val="1F2937"/>
                  </a:solidFill>
                  <a:latin typeface="+mn-lt"/>
                  <a:ea typeface="+mn-ea"/>
                  <a:cs typeface="+mn-cs"/>
                </a:rPr>
                <a:t>错误数成反比</a:t>
              </a:r>
            </a:p>
          </p:txBody>
        </p:sp>
        <p:sp>
          <p:nvSpPr>
            <p:cNvPr id="33" name="Ellipse 33"/>
            <p:cNvSpPr/>
            <p:nvPr/>
          </p:nvSpPr>
          <p:spPr>
            <a:xfrm>
              <a:off x="781050" y="5568315"/>
              <a:ext cx="213360" cy="213360"/>
            </a:xfrm>
            <a:prstGeom prst="ellipse">
              <a:avLst/>
            </a:prstGeom>
            <a:solidFill>
              <a:srgbClr val="334E68"/>
            </a:solidFill>
            <a:ln>
              <a:noFill/>
            </a:ln>
          </p:spPr>
        </p:sp>
        <p:sp>
          <p:nvSpPr>
            <p:cNvPr id="34" name="TextBox 34"/>
            <p:cNvSpPr txBox="1"/>
            <p:nvPr/>
          </p:nvSpPr>
          <p:spPr>
            <a:xfrm>
              <a:off x="842899" y="561060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35" name="TextBox 35"/>
            <p:cNvSpPr txBox="1"/>
            <p:nvPr/>
          </p:nvSpPr>
          <p:spPr>
            <a:xfrm>
              <a:off x="1082040" y="5581650"/>
              <a:ext cx="4206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假设发现的每个错误都立即被正确改正，调试过程</a:t>
              </a:r>
              <a:br/>
              <a:r>
                <a:rPr lang="zh-CN" sz="1500" dirty="0">
                  <a:solidFill>
                    <a:srgbClr val="1F2937"/>
                  </a:solidFill>
                  <a:latin typeface="+mn-lt"/>
                  <a:ea typeface="+mn-ea"/>
                  <a:cs typeface="+mn-cs"/>
                </a:rPr>
                <a:t>没有引入新错误，因此 E_d(τ) = E_c(τ)</a:t>
              </a:r>
            </a:p>
          </p:txBody>
        </p:sp>
      </p:grpSp>
      <mc:AlternateContent xmlns:mc="http://schemas.openxmlformats.org/markup-compatibility/2006">
        <mc:Choice xmlns:a14="http://schemas.microsoft.com/office/drawing/2010/main" Requires="a14">
          <p:sp>
            <p:nvSpPr>
              <p:cNvPr id="37" name="formula36"/>
              <p:cNvSpPr txBox="1">
                <a:spLocks noGrp="1"/>
              </p:cNvSpPr>
              <p:nvPr/>
            </p:nvSpPr>
            <p:spPr>
              <a:xfrm>
                <a:off x="6032182" y="1524000"/>
                <a:ext cx="5626418" cy="66865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950" dirty="0">
                          <a:solidFill>
                            <a:srgbClr val="1F2937"/>
                          </a:solidFill>
                          <a:latin typeface="Cambria Math"/>
                          <a:ea typeface="Cambria Math"/>
                          <a:cs typeface="Cambria Math"/>
                        </a:rPr>
                        <m:t>MTTF</m:t>
                      </m:r>
                      <m:r>
                        <m:rPr>
                          <m:sty m:val="p"/>
                        </m:rPr>
                        <a:rPr lang="zh-CN" sz="1950" dirty="0">
                          <a:solidFill>
                            <a:srgbClr val="1F2937"/>
                          </a:solidFill>
                          <a:latin typeface="Cambria Math"/>
                          <a:ea typeface="Cambria Math"/>
                          <a:cs typeface="Cambria Math"/>
                        </a:rPr>
                        <m:t>=</m:t>
                      </m:r>
                      <m:f>
                        <m:fPr>
                          <m:type m:val="bar"/>
                          <m:ctrlPr>
                            <a:rPr lang="zh-CN" sz="1950" dirty="0">
                              <a:solidFill>
                                <a:srgbClr val="1F2937"/>
                              </a:solidFill>
                              <a:latin typeface="Cambria Math"/>
                              <a:ea typeface="Cambria Math"/>
                              <a:cs typeface="Cambria Math"/>
                            </a:rPr>
                          </m:ctrlPr>
                        </m:fPr>
                        <m:num>
                          <m:r>
                            <a:rPr lang="zh-CN" sz="1950" dirty="0">
                              <a:solidFill>
                                <a:srgbClr val="1F2937"/>
                              </a:solidFill>
                              <a:latin typeface="Cambria Math"/>
                              <a:ea typeface="Cambria Math"/>
                              <a:cs typeface="Cambria Math"/>
                            </a:rPr>
                            <m:t>1</m:t>
                          </m:r>
                        </m:num>
                        <m:den>
                          <m:r>
                            <a:rPr lang="zh-CN" sz="1950" dirty="0">
                              <a:solidFill>
                                <a:srgbClr val="1F2937"/>
                              </a:solidFill>
                              <a:latin typeface="Cambria Math"/>
                              <a:ea typeface="Cambria Math"/>
                              <a:cs typeface="Cambria Math"/>
                            </a:rPr>
                            <m:t>K</m:t>
                          </m:r>
                          <m:d>
                            <m:dPr>
                              <m:begChr m:val="("/>
                              <m:sepChr m:val=""/>
                              <m:endChr m:val=")"/>
                              <m:grow m:val="on"/>
                              <m:ctrlPr>
                                <a:rPr lang="zh-CN" sz="1950" dirty="0">
                                  <a:solidFill>
                                    <a:srgbClr val="1F2937"/>
                                  </a:solidFill>
                                  <a:latin typeface="Cambria Math"/>
                                  <a:ea typeface="Cambria Math"/>
                                  <a:cs typeface="Cambria Math"/>
                                </a:rPr>
                              </m:ctrlPr>
                            </m:dPr>
                            <m:e>
                              <m:f>
                                <m:fPr>
                                  <m:type m:val="bar"/>
                                  <m:ctrlPr>
                                    <a:rPr lang="zh-CN" sz="1950" dirty="0">
                                      <a:solidFill>
                                        <a:srgbClr val="1F2937"/>
                                      </a:solidFill>
                                      <a:latin typeface="Cambria Math"/>
                                      <a:ea typeface="Cambria Math"/>
                                      <a:cs typeface="Cambria Math"/>
                                    </a:rPr>
                                  </m:ctrlPr>
                                </m:fPr>
                                <m:num>
                                  <m:sSub>
                                    <m:e>
                                      <m:r>
                                        <a:rPr lang="zh-CN" sz="1950" dirty="0">
                                          <a:solidFill>
                                            <a:srgbClr val="1F2937"/>
                                          </a:solidFill>
                                          <a:latin typeface="Cambria Math"/>
                                          <a:ea typeface="Cambria Math"/>
                                          <a:cs typeface="Cambria Math"/>
                                        </a:rPr>
                                        <m:t>E</m:t>
                                      </m:r>
                                    </m:e>
                                    <m:sub>
                                      <m:r>
                                        <a:rPr lang="zh-CN" sz="1950" dirty="0">
                                          <a:solidFill>
                                            <a:srgbClr val="1F2937"/>
                                          </a:solidFill>
                                          <a:latin typeface="Cambria Math"/>
                                          <a:ea typeface="Cambria Math"/>
                                          <a:cs typeface="Cambria Math"/>
                                        </a:rPr>
                                        <m:t>T</m:t>
                                      </m:r>
                                    </m:sub>
                                  </m:sSub>
                                </m:num>
                                <m:den>
                                  <m:sSub>
                                    <m:e>
                                      <m:r>
                                        <a:rPr lang="zh-CN" sz="1950" dirty="0">
                                          <a:solidFill>
                                            <a:srgbClr val="1F2937"/>
                                          </a:solidFill>
                                          <a:latin typeface="Cambria Math"/>
                                          <a:ea typeface="Cambria Math"/>
                                          <a:cs typeface="Cambria Math"/>
                                        </a:rPr>
                                        <m:t>I</m:t>
                                      </m:r>
                                    </m:e>
                                    <m:sub>
                                      <m:r>
                                        <a:rPr lang="zh-CN" sz="1950" dirty="0">
                                          <a:solidFill>
                                            <a:srgbClr val="1F2937"/>
                                          </a:solidFill>
                                          <a:latin typeface="Cambria Math"/>
                                          <a:ea typeface="Cambria Math"/>
                                          <a:cs typeface="Cambria Math"/>
                                        </a:rPr>
                                        <m:t>T</m:t>
                                      </m:r>
                                    </m:sub>
                                  </m:sSub>
                                </m:den>
                              </m:f>
                              <m:r>
                                <m:rPr>
                                  <m:sty m:val="p"/>
                                </m:rPr>
                                <a:rPr lang="zh-CN" sz="1950" dirty="0">
                                  <a:solidFill>
                                    <a:srgbClr val="1F2937"/>
                                  </a:solidFill>
                                  <a:latin typeface="Cambria Math"/>
                                  <a:ea typeface="Cambria Math"/>
                                  <a:cs typeface="Cambria Math"/>
                                </a:rPr>
                                <m:t>−</m:t>
                              </m:r>
                              <m:f>
                                <m:fPr>
                                  <m:type m:val="bar"/>
                                  <m:ctrlPr>
                                    <a:rPr lang="zh-CN" sz="1950" dirty="0">
                                      <a:solidFill>
                                        <a:srgbClr val="1F2937"/>
                                      </a:solidFill>
                                      <a:latin typeface="Cambria Math"/>
                                      <a:ea typeface="Cambria Math"/>
                                      <a:cs typeface="Cambria Math"/>
                                    </a:rPr>
                                  </m:ctrlPr>
                                </m:fPr>
                                <m:num>
                                  <m:sSub>
                                    <m:e>
                                      <m:r>
                                        <a:rPr lang="zh-CN" sz="1950" dirty="0">
                                          <a:solidFill>
                                            <a:srgbClr val="1F2937"/>
                                          </a:solidFill>
                                          <a:latin typeface="Cambria Math"/>
                                          <a:ea typeface="Cambria Math"/>
                                          <a:cs typeface="Cambria Math"/>
                                        </a:rPr>
                                        <m:t>E</m:t>
                                      </m:r>
                                    </m:e>
                                    <m:sub>
                                      <m:r>
                                        <a:rPr lang="zh-CN" sz="1950" dirty="0">
                                          <a:solidFill>
                                            <a:srgbClr val="1F2937"/>
                                          </a:solidFill>
                                          <a:latin typeface="Cambria Math"/>
                                          <a:ea typeface="Cambria Math"/>
                                          <a:cs typeface="Cambria Math"/>
                                        </a:rPr>
                                        <m:t>c</m:t>
                                      </m:r>
                                    </m:sub>
                                  </m:sSub>
                                  <m:d>
                                    <m:dPr>
                                      <m:begChr m:val="("/>
                                      <m:sepChr m:val=""/>
                                      <m:endChr m:val=")"/>
                                      <m:grow m:val="on"/>
                                      <m:ctrlPr>
                                        <a:rPr lang="zh-CN" sz="1950" dirty="0">
                                          <a:solidFill>
                                            <a:srgbClr val="1F2937"/>
                                          </a:solidFill>
                                          <a:latin typeface="Cambria Math"/>
                                          <a:ea typeface="Cambria Math"/>
                                          <a:cs typeface="Cambria Math"/>
                                        </a:rPr>
                                      </m:ctrlPr>
                                    </m:dPr>
                                    <m:e>
                                      <m:r>
                                        <a:rPr lang="zh-CN" sz="1950" dirty="0">
                                          <a:solidFill>
                                            <a:srgbClr val="1F2937"/>
                                          </a:solidFill>
                                          <a:latin typeface="Cambria Math"/>
                                          <a:ea typeface="Cambria Math"/>
                                          <a:cs typeface="Cambria Math"/>
                                        </a:rPr>
                                        <m:t>τ</m:t>
                                      </m:r>
                                    </m:e>
                                  </m:d>
                                </m:num>
                                <m:den>
                                  <m:sSub>
                                    <m:e>
                                      <m:r>
                                        <a:rPr lang="zh-CN" sz="1950" dirty="0">
                                          <a:solidFill>
                                            <a:srgbClr val="1F2937"/>
                                          </a:solidFill>
                                          <a:latin typeface="Cambria Math"/>
                                          <a:ea typeface="Cambria Math"/>
                                          <a:cs typeface="Cambria Math"/>
                                        </a:rPr>
                                        <m:t>I</m:t>
                                      </m:r>
                                    </m:e>
                                    <m:sub>
                                      <m:r>
                                        <a:rPr lang="zh-CN" sz="1950" dirty="0">
                                          <a:solidFill>
                                            <a:srgbClr val="1F2937"/>
                                          </a:solidFill>
                                          <a:latin typeface="Cambria Math"/>
                                          <a:ea typeface="Cambria Math"/>
                                          <a:cs typeface="Cambria Math"/>
                                        </a:rPr>
                                        <m:t>T</m:t>
                                      </m:r>
                                    </m:sub>
                                  </m:sSub>
                                </m:den>
                              </m:f>
                            </m:e>
                          </m:d>
                        </m:den>
                      </m:f>
                    </m:oMath>
                  </m:oMathPara>
                </a14:m>
              </a:p>
            </p:txBody>
          </p:sp>
        </mc:Choice>
      </mc:AlternateContent>
      <mc:AlternateContent xmlns:mc="http://schemas.openxmlformats.org/markup-compatibility/2006">
        <mc:Choice xmlns:a14="http://schemas.microsoft.com/office/drawing/2010/main" Requires="a14">
          <p:sp>
            <p:nvSpPr>
              <p:cNvPr id="38" name="formula37"/>
              <p:cNvSpPr txBox="1">
                <a:spLocks noGrp="1"/>
              </p:cNvSpPr>
              <p:nvPr/>
            </p:nvSpPr>
            <p:spPr>
              <a:xfrm>
                <a:off x="6032182" y="2383155"/>
                <a:ext cx="5626418" cy="66865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sSub>
                        <m:e>
                          <m:r>
                            <a:rPr lang="zh-CN" sz="1950" dirty="0">
                              <a:solidFill>
                                <a:srgbClr val="1F2937"/>
                              </a:solidFill>
                              <a:latin typeface="Cambria Math"/>
                              <a:ea typeface="Cambria Math"/>
                              <a:cs typeface="Cambria Math"/>
                            </a:rPr>
                            <m:t>E</m:t>
                          </m:r>
                        </m:e>
                        <m:sub>
                          <m:r>
                            <a:rPr lang="zh-CN" sz="1950" dirty="0">
                              <a:solidFill>
                                <a:srgbClr val="1F2937"/>
                              </a:solidFill>
                              <a:latin typeface="Cambria Math"/>
                              <a:ea typeface="Cambria Math"/>
                              <a:cs typeface="Cambria Math"/>
                            </a:rPr>
                            <m:t>c</m:t>
                          </m:r>
                        </m:sub>
                      </m:sSub>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E</m:t>
                          </m:r>
                        </m:e>
                        <m:sub>
                          <m:r>
                            <a:rPr lang="zh-CN" sz="1950" dirty="0">
                              <a:solidFill>
                                <a:srgbClr val="1F2937"/>
                              </a:solidFill>
                              <a:latin typeface="Cambria Math"/>
                              <a:ea typeface="Cambria Math"/>
                              <a:cs typeface="Cambria Math"/>
                            </a:rPr>
                            <m:t>T</m:t>
                          </m:r>
                        </m:sub>
                      </m:sSub>
                      <m:r>
                        <m:rPr>
                          <m:sty m:val="p"/>
                        </m:rPr>
                        <a:rPr lang="zh-CN" sz="1950" dirty="0">
                          <a:solidFill>
                            <a:srgbClr val="1F2937"/>
                          </a:solidFill>
                          <a:latin typeface="Cambria Math"/>
                          <a:ea typeface="Cambria Math"/>
                          <a:cs typeface="Cambria Math"/>
                        </a:rPr>
                        <m:t>−</m:t>
                      </m:r>
                      <m:f>
                        <m:fPr>
                          <m:type m:val="bar"/>
                          <m:ctrlPr>
                            <a:rPr lang="zh-CN" sz="1950" dirty="0">
                              <a:solidFill>
                                <a:srgbClr val="1F2937"/>
                              </a:solidFill>
                              <a:latin typeface="Cambria Math"/>
                              <a:ea typeface="Cambria Math"/>
                              <a:cs typeface="Cambria Math"/>
                            </a:rPr>
                          </m:ctrlPr>
                        </m:fPr>
                        <m:num>
                          <m:sSub>
                            <m:e>
                              <m:r>
                                <a:rPr lang="zh-CN" sz="1950" dirty="0">
                                  <a:solidFill>
                                    <a:srgbClr val="1F2937"/>
                                  </a:solidFill>
                                  <a:latin typeface="Cambria Math"/>
                                  <a:ea typeface="Cambria Math"/>
                                  <a:cs typeface="Cambria Math"/>
                                </a:rPr>
                                <m:t>I</m:t>
                              </m:r>
                            </m:e>
                            <m:sub>
                              <m:r>
                                <a:rPr lang="zh-CN" sz="1950" dirty="0">
                                  <a:solidFill>
                                    <a:srgbClr val="1F2937"/>
                                  </a:solidFill>
                                  <a:latin typeface="Cambria Math"/>
                                  <a:ea typeface="Cambria Math"/>
                                  <a:cs typeface="Cambria Math"/>
                                </a:rPr>
                                <m:t>T</m:t>
                              </m:r>
                            </m:sub>
                          </m:sSub>
                        </m:num>
                        <m:den>
                          <m:r>
                            <a:rPr lang="zh-CN" sz="1950" dirty="0">
                              <a:solidFill>
                                <a:srgbClr val="1F2937"/>
                              </a:solidFill>
                              <a:latin typeface="Cambria Math"/>
                              <a:ea typeface="Cambria Math"/>
                              <a:cs typeface="Cambria Math"/>
                            </a:rPr>
                            <m:t>K</m:t>
                          </m:r>
                          <m:r>
                            <m:rPr>
                              <m:sty m:val="p"/>
                            </m:rPr>
                            <a:rPr lang="zh-CN" sz="1950" dirty="0">
                              <a:solidFill>
                                <a:srgbClr val="1F2937"/>
                              </a:solidFill>
                              <a:latin typeface="Cambria Math"/>
                              <a:ea typeface="Cambria Math"/>
                              <a:cs typeface="Cambria Math"/>
                            </a:rPr>
                            <m:t>×</m:t>
                          </m:r>
                          <m:r>
                            <a:rPr lang="zh-CN" sz="1950" dirty="0">
                              <a:solidFill>
                                <a:srgbClr val="1F2937"/>
                              </a:solidFill>
                              <a:latin typeface="Cambria Math"/>
                              <a:ea typeface="Cambria Math"/>
                              <a:cs typeface="Cambria Math"/>
                            </a:rPr>
                            <m:t>MTTF</m:t>
                          </m:r>
                        </m:den>
                      </m:f>
                    </m:oMath>
                  </m:oMathPara>
                </a14:m>
              </a:p>
            </p:txBody>
          </p:sp>
        </mc:Choice>
      </mc:AlternateContent>
      <p:grpSp>
        <p:nvGrpSpPr>
          <p:cNvPr id="45" name="c2-card-3"/>
          <p:cNvGrpSpPr/>
          <p:nvPr/>
        </p:nvGrpSpPr>
        <p:grpSpPr>
          <a:xfrm>
            <a:off x="6032182" y="3242310"/>
            <a:ext cx="5626418" cy="1621155"/>
            <a:chOff x="6032182" y="3242310"/>
            <a:chExt cx="5626418" cy="1621155"/>
          </a:xfrm>
        </p:grpSpPr>
        <p:sp>
          <p:nvSpPr>
            <p:cNvPr id="39" name="Rectangle 39"/>
            <p:cNvSpPr/>
            <p:nvPr/>
          </p:nvSpPr>
          <p:spPr>
            <a:xfrm>
              <a:off x="6032182" y="3242310"/>
              <a:ext cx="5626418" cy="1621155"/>
            </a:xfrm>
            <a:prstGeom prst="roundRect">
              <a:avLst>
                <a:gd name="adj" fmla="val 8226"/>
              </a:avLst>
            </a:prstGeom>
            <a:solidFill>
              <a:srgbClr val="FFFFFF"/>
            </a:solidFill>
            <a:ln w="14288">
              <a:solidFill>
                <a:srgbClr val="D9DFEA"/>
              </a:solidFill>
            </a:ln>
          </p:spPr>
        </p:sp>
        <p:sp>
          <p:nvSpPr>
            <p:cNvPr id="40" name="Rectangle 40"/>
            <p:cNvSpPr/>
            <p:nvPr/>
          </p:nvSpPr>
          <p:spPr>
            <a:xfrm>
              <a:off x="6041708" y="3375660"/>
              <a:ext cx="47625" cy="1354455"/>
            </a:xfrm>
            <a:prstGeom prst="roundRect">
              <a:avLst>
                <a:gd name="adj" fmla="val 50000"/>
              </a:avLst>
            </a:prstGeom>
            <a:solidFill>
              <a:srgbClr val="D97706"/>
            </a:solidFill>
            <a:ln>
              <a:noFill/>
            </a:ln>
          </p:spPr>
        </p:sp>
        <p:sp>
          <p:nvSpPr>
            <p:cNvPr id="41" name="Rectangle 41"/>
            <p:cNvSpPr/>
            <p:nvPr/>
          </p:nvSpPr>
          <p:spPr>
            <a:xfrm>
              <a:off x="6279832" y="3451860"/>
              <a:ext cx="621030" cy="257175"/>
            </a:xfrm>
            <a:prstGeom prst="roundRect">
              <a:avLst>
                <a:gd name="adj" fmla="val 50000"/>
              </a:avLst>
            </a:prstGeom>
            <a:solidFill>
              <a:srgbClr val="FEF3C7"/>
            </a:solidFill>
            <a:ln>
              <a:noFill/>
            </a:ln>
          </p:spPr>
        </p:sp>
        <p:sp>
          <p:nvSpPr>
            <p:cNvPr id="42" name="TextBox 42"/>
            <p:cNvSpPr txBox="1"/>
            <p:nvPr/>
          </p:nvSpPr>
          <p:spPr>
            <a:xfrm>
              <a:off x="6362767" y="3487579"/>
              <a:ext cx="455162" cy="220028"/>
            </a:xfrm>
            <a:prstGeom prst="rect">
              <a:avLst/>
            </a:prstGeom>
            <a:noFill/>
            <a:ln>
              <a:noFill/>
            </a:ln>
          </p:spPr>
          <p:txBody>
            <a:bodyPr wrap="none" lIns="0" tIns="0" rIns="0" bIns="0" anchor="t" anchorCtr="0">
              <a:spAutoFit/>
            </a:bodyPr>
            <a:lstStyle/>
            <a:p>
              <a:pPr algn="ctr"/>
              <a:r>
                <a:rPr lang="zh-CN" sz="1120" b="1" dirty="0">
                  <a:solidFill>
                    <a:srgbClr val="92400E"/>
                  </a:solidFill>
                  <a:latin typeface="+mn-lt"/>
                  <a:ea typeface="+mn-ea"/>
                  <a:cs typeface="+mn-cs"/>
                </a:rPr>
                <a:t>常数 K</a:t>
              </a:r>
            </a:p>
          </p:txBody>
        </p:sp>
        <p:sp>
          <p:nvSpPr>
            <p:cNvPr id="43" name="TextBox 43"/>
            <p:cNvSpPr txBox="1"/>
            <p:nvPr/>
          </p:nvSpPr>
          <p:spPr>
            <a:xfrm>
              <a:off x="7007542" y="3487102"/>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根据经验选取</a:t>
              </a:r>
            </a:p>
          </p:txBody>
        </p:sp>
        <p:sp>
          <p:nvSpPr>
            <p:cNvPr id="44" name="TextBox 44"/>
            <p:cNvSpPr txBox="1"/>
            <p:nvPr/>
          </p:nvSpPr>
          <p:spPr>
            <a:xfrm>
              <a:off x="6272212" y="3848100"/>
              <a:ext cx="49301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美国的一些统计数字表明，K 的典型值是 200。做题时通常</a:t>
              </a:r>
              <a:br/>
              <a:r>
                <a:rPr lang="zh-CN" sz="1500" dirty="0">
                  <a:solidFill>
                    <a:srgbClr val="1F2937"/>
                  </a:solidFill>
                  <a:latin typeface="+mn-lt"/>
                  <a:ea typeface="+mn-ea"/>
                  <a:cs typeface="+mn-cs"/>
                </a:rPr>
                <a:t>先用一个已知的 MTTF 把 K 反解出来，再用同一个 K 去算</a:t>
              </a:r>
              <a:br/>
              <a:r>
                <a:rPr lang="zh-CN" sz="1500" dirty="0">
                  <a:solidFill>
                    <a:srgbClr val="1F2937"/>
                  </a:solidFill>
                  <a:latin typeface="+mn-lt"/>
                  <a:ea typeface="+mn-ea"/>
                  <a:cs typeface="+mn-cs"/>
                </a:rPr>
                <a:t>后面的问题。</a:t>
              </a:r>
            </a:p>
          </p:txBody>
        </p:sp>
      </p:grpSp>
      <p:grpSp>
        <p:nvGrpSpPr>
          <p:cNvPr id="51" name="c2-callout-4"/>
          <p:cNvGrpSpPr/>
          <p:nvPr/>
        </p:nvGrpSpPr>
        <p:grpSpPr>
          <a:xfrm>
            <a:off x="6032182" y="5053965"/>
            <a:ext cx="5626418" cy="1257300"/>
            <a:chOff x="6032182" y="5053965"/>
            <a:chExt cx="5626418" cy="1257300"/>
          </a:xfrm>
        </p:grpSpPr>
        <p:sp>
          <p:nvSpPr>
            <p:cNvPr id="46" name="Rectangle 46"/>
            <p:cNvSpPr/>
            <p:nvPr/>
          </p:nvSpPr>
          <p:spPr>
            <a:xfrm>
              <a:off x="6032182" y="5053965"/>
              <a:ext cx="5626418" cy="1257300"/>
            </a:xfrm>
            <a:prstGeom prst="roundRect">
              <a:avLst>
                <a:gd name="adj" fmla="val 9091"/>
              </a:avLst>
            </a:prstGeom>
            <a:solidFill>
              <a:srgbClr val="334E68"/>
            </a:solidFill>
            <a:ln>
              <a:noFill/>
            </a:ln>
          </p:spPr>
        </p:sp>
        <p:grpSp>
          <p:nvGrpSpPr>
            <p:cNvPr id="49" name="Group 49"/>
            <p:cNvGrpSpPr/>
            <p:nvPr/>
          </p:nvGrpSpPr>
          <p:grpSpPr>
            <a:xfrm>
              <a:off x="6236970" y="5582605"/>
              <a:ext cx="200023" cy="200023"/>
              <a:chOff x="6236970" y="5582605"/>
              <a:chExt cx="200023" cy="200023"/>
            </a:xfrm>
          </p:grpSpPr>
          <p:sp>
            <p:nvSpPr>
              <p:cNvPr id="47" name="Freeform 47"/>
              <p:cNvSpPr/>
              <p:nvPr/>
            </p:nvSpPr>
            <p:spPr>
              <a:xfrm>
                <a:off x="6236970" y="558260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8" name="Freeform 48"/>
              <p:cNvSpPr/>
              <p:nvPr/>
            </p:nvSpPr>
            <p:spPr>
              <a:xfrm>
                <a:off x="6370320" y="564927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0" name="TextBox 50"/>
            <p:cNvSpPr txBox="1"/>
            <p:nvPr/>
          </p:nvSpPr>
          <p:spPr>
            <a:xfrm>
              <a:off x="6538912" y="5301615"/>
              <a:ext cx="4539615"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把两个分式并起来，公式就是 MTTF = I_T / (K(E_T −</a:t>
              </a:r>
              <a:br/>
              <a:r>
                <a:rPr lang="zh-CN" sz="1500" dirty="0">
                  <a:solidFill>
                    <a:srgbClr val="FFFFFF"/>
                  </a:solidFill>
                  <a:latin typeface="+mn-lt"/>
                  <a:ea typeface="+mn-ea"/>
                  <a:cs typeface="+mn-cs"/>
                </a:rPr>
                <a:t>E_c))：程序越长、剩余错误越少，平均无故障时间越</a:t>
              </a:r>
              <a:br/>
              <a:r>
                <a:rPr lang="zh-CN" sz="1500" dirty="0">
                  <a:solidFill>
                    <a:srgbClr val="FFFFFF"/>
                  </a:solidFill>
                  <a:latin typeface="+mn-lt"/>
                  <a:ea typeface="+mn-ea"/>
                  <a:cs typeface="+mn-cs"/>
                </a:rPr>
                <a:t>长。</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60</a:t>
              </a:r>
            </a:p>
          </p:txBody>
        </p:sp>
      </p:grpSp>
    </p:spTree>
  </p:cSld>
  <p:clrMapOvr>
    <a:masterClrMapping/>
  </p:clrMapOvr>
  <p:transition xmlns:p14="http://schemas.microsoft.com/office/powerpoint/2010/main" p14:dur="400">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405154" cy="909257"/>
            <a:chOff x="520446" y="342900"/>
            <a:chExt cx="7405154"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调试与软件可靠性</a:t>
              </a:r>
            </a:p>
          </p:txBody>
        </p:sp>
        <p:sp>
          <p:nvSpPr>
            <p:cNvPr id="4" name="TextBox 4"/>
            <p:cNvSpPr txBox="1"/>
            <p:nvPr/>
          </p:nvSpPr>
          <p:spPr>
            <a:xfrm>
              <a:off x="520446" y="753428"/>
              <a:ext cx="740515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错误总数 E_T 怎么估：植入错误法与分别测试法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5410200" cy="2214562"/>
            <a:chOff x="533400" y="1524000"/>
            <a:chExt cx="5410200" cy="2214562"/>
          </a:xfrm>
        </p:grpSpPr>
        <p:sp>
          <p:nvSpPr>
            <p:cNvPr id="7" name="Rectangle 7"/>
            <p:cNvSpPr/>
            <p:nvPr/>
          </p:nvSpPr>
          <p:spPr>
            <a:xfrm>
              <a:off x="533400" y="1524000"/>
              <a:ext cx="5410200" cy="2214562"/>
            </a:xfrm>
            <a:prstGeom prst="roundRect">
              <a:avLst>
                <a:gd name="adj" fmla="val 6022"/>
              </a:avLst>
            </a:prstGeom>
            <a:solidFill>
              <a:srgbClr val="FFFFFF"/>
            </a:solidFill>
            <a:ln w="14288">
              <a:solidFill>
                <a:srgbClr val="D9DFEA"/>
              </a:solidFill>
            </a:ln>
          </p:spPr>
        </p:sp>
        <p:sp>
          <p:nvSpPr>
            <p:cNvPr id="8" name="Rectangle 8"/>
            <p:cNvSpPr/>
            <p:nvPr/>
          </p:nvSpPr>
          <p:spPr>
            <a:xfrm>
              <a:off x="542925" y="1657350"/>
              <a:ext cx="47625" cy="1947862"/>
            </a:xfrm>
            <a:prstGeom prst="roundRect">
              <a:avLst>
                <a:gd name="adj" fmla="val 50000"/>
              </a:avLst>
            </a:prstGeom>
            <a:solidFill>
              <a:srgbClr val="334E68"/>
            </a:solidFill>
            <a:ln>
              <a:noFill/>
            </a:ln>
          </p:spPr>
        </p:sp>
        <p:sp>
          <p:nvSpPr>
            <p:cNvPr id="9" name="Rectangle 9"/>
            <p:cNvSpPr/>
            <p:nvPr/>
          </p:nvSpPr>
          <p:spPr>
            <a:xfrm>
              <a:off x="775335" y="1727835"/>
              <a:ext cx="921068" cy="257175"/>
            </a:xfrm>
            <a:prstGeom prst="roundRect">
              <a:avLst>
                <a:gd name="adj" fmla="val 50000"/>
              </a:avLst>
            </a:prstGeom>
            <a:solidFill>
              <a:srgbClr val="E7EDF3"/>
            </a:solidFill>
            <a:ln>
              <a:noFill/>
            </a:ln>
          </p:spPr>
        </p:sp>
        <p:sp>
          <p:nvSpPr>
            <p:cNvPr id="10" name="TextBox 10"/>
            <p:cNvSpPr txBox="1"/>
            <p:nvPr/>
          </p:nvSpPr>
          <p:spPr>
            <a:xfrm>
              <a:off x="852741" y="1763554"/>
              <a:ext cx="7653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植入错误法</a:t>
              </a:r>
            </a:p>
          </p:txBody>
        </p:sp>
        <p:sp>
          <p:nvSpPr>
            <p:cNvPr id="11" name="TextBox 11"/>
            <p:cNvSpPr txBox="1"/>
            <p:nvPr/>
          </p:nvSpPr>
          <p:spPr>
            <a:xfrm>
              <a:off x="1803464" y="1767364"/>
              <a:ext cx="2881884"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测试之前由专人随机植入一批错误</a:t>
              </a:r>
            </a:p>
          </p:txBody>
        </p:sp>
        <p:sp>
          <p:nvSpPr>
            <p:cNvPr id="12" name="TextBox 12"/>
            <p:cNvSpPr txBox="1"/>
            <p:nvPr/>
          </p:nvSpPr>
          <p:spPr>
            <a:xfrm>
              <a:off x="768096" y="211978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测试之后，根据测试小组发现的错误中原有的和植入的两种</a:t>
              </a:r>
              <a:br/>
              <a:r>
                <a:rPr lang="zh-CN" sz="1420" dirty="0">
                  <a:solidFill>
                    <a:srgbClr val="1F2937"/>
                  </a:solidFill>
                  <a:latin typeface="+mn-lt"/>
                  <a:ea typeface="+mn-ea"/>
                  <a:cs typeface="+mn-cs"/>
                </a:rPr>
                <a:t>错误的比例，估计程序中原有错误的总数 E_T。</a:t>
              </a:r>
            </a:p>
          </p:txBody>
        </p:sp>
        <p:sp>
          <p:nvSpPr>
            <p:cNvPr id="13" name="Ellipse 13"/>
            <p:cNvSpPr/>
            <p:nvPr/>
          </p:nvSpPr>
          <p:spPr>
            <a:xfrm>
              <a:off x="782955" y="2770823"/>
              <a:ext cx="60960" cy="60960"/>
            </a:xfrm>
            <a:prstGeom prst="ellipse">
              <a:avLst/>
            </a:prstGeom>
            <a:solidFill>
              <a:srgbClr val="334E68"/>
            </a:solidFill>
            <a:ln>
              <a:noFill/>
            </a:ln>
          </p:spPr>
        </p:sp>
        <p:sp>
          <p:nvSpPr>
            <p:cNvPr id="14" name="TextBox 14"/>
            <p:cNvSpPr txBox="1"/>
            <p:nvPr/>
          </p:nvSpPr>
          <p:spPr>
            <a:xfrm>
              <a:off x="939546" y="2711291"/>
              <a:ext cx="310730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植入的错误数为 Nₛ，发现其中 nₛ 个</a:t>
              </a:r>
            </a:p>
          </p:txBody>
        </p:sp>
        <p:sp>
          <p:nvSpPr>
            <p:cNvPr id="15" name="Ellipse 15"/>
            <p:cNvSpPr/>
            <p:nvPr/>
          </p:nvSpPr>
          <p:spPr>
            <a:xfrm>
              <a:off x="782955" y="3090862"/>
              <a:ext cx="60960" cy="60960"/>
            </a:xfrm>
            <a:prstGeom prst="ellipse">
              <a:avLst/>
            </a:prstGeom>
            <a:solidFill>
              <a:srgbClr val="334E68"/>
            </a:solidFill>
            <a:ln>
              <a:noFill/>
            </a:ln>
          </p:spPr>
        </p:sp>
        <p:sp>
          <p:nvSpPr>
            <p:cNvPr id="16" name="TextBox 16"/>
            <p:cNvSpPr txBox="1"/>
            <p:nvPr/>
          </p:nvSpPr>
          <p:spPr>
            <a:xfrm>
              <a:off x="939546" y="3031331"/>
              <a:ext cx="233707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同时发现了 n 个原有的错误</a:t>
              </a:r>
            </a:p>
          </p:txBody>
        </p:sp>
        <p:sp>
          <p:nvSpPr>
            <p:cNvPr id="17" name="TextBox 17"/>
            <p:cNvSpPr txBox="1"/>
            <p:nvPr/>
          </p:nvSpPr>
          <p:spPr>
            <a:xfrm>
              <a:off x="769239" y="3347085"/>
              <a:ext cx="4050792"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前提：测试方案发现植入错误和发现原有错误的能力相同</a:t>
              </a:r>
            </a:p>
          </p:txBody>
        </p:sp>
      </p:grpSp>
      <mc:AlternateContent xmlns:mc="http://schemas.openxmlformats.org/markup-compatibility/2006">
        <mc:Choice xmlns:a14="http://schemas.microsoft.com/office/drawing/2010/main" Requires="a14">
          <p:sp>
            <p:nvSpPr>
              <p:cNvPr id="19" name="formula42"/>
              <p:cNvSpPr txBox="1">
                <a:spLocks noGrp="1"/>
              </p:cNvSpPr>
              <p:nvPr/>
            </p:nvSpPr>
            <p:spPr>
              <a:xfrm>
                <a:off x="533400" y="3924300"/>
                <a:ext cx="5410200" cy="64293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bar>
                        <m:barPr>
                          <m:pos m:val="top"/>
                          <m:ctrlPr>
                            <a:rPr lang="zh-CN" sz="1880" dirty="0">
                              <a:solidFill>
                                <a:srgbClr val="1F2937"/>
                              </a:solidFill>
                              <a:latin typeface="Cambria Math"/>
                              <a:ea typeface="Cambria Math"/>
                              <a:cs typeface="Cambria Math"/>
                            </a:rPr>
                          </m:ctrlPr>
                        </m:barPr>
                        <m:e>
                          <m:r>
                            <a:rPr lang="zh-CN" sz="1880" dirty="0">
                              <a:solidFill>
                                <a:srgbClr val="1F2937"/>
                              </a:solidFill>
                              <a:latin typeface="Cambria Math"/>
                              <a:ea typeface="Cambria Math"/>
                              <a:cs typeface="Cambria Math"/>
                            </a:rPr>
                            <m:t>N</m:t>
                          </m:r>
                        </m:e>
                      </m:bar>
                      <m:r>
                        <m:rPr>
                          <m:sty m:val="p"/>
                        </m:rPr>
                        <a:rPr lang="zh-CN" sz="1880" dirty="0">
                          <a:solidFill>
                            <a:srgbClr val="1F2937"/>
                          </a:solidFill>
                          <a:latin typeface="Cambria Math"/>
                          <a:ea typeface="Cambria Math"/>
                          <a:cs typeface="Cambria Math"/>
                        </a:rPr>
                        <m:t>=</m:t>
                      </m:r>
                      <m:f>
                        <m:fPr>
                          <m:type m:val="bar"/>
                          <m:ctrlPr>
                            <a:rPr lang="zh-CN" sz="1880" dirty="0">
                              <a:solidFill>
                                <a:srgbClr val="1F2937"/>
                              </a:solidFill>
                              <a:latin typeface="Cambria Math"/>
                              <a:ea typeface="Cambria Math"/>
                              <a:cs typeface="Cambria Math"/>
                            </a:rPr>
                          </m:ctrlPr>
                        </m:fPr>
                        <m:num>
                          <m:r>
                            <a:rPr lang="zh-CN" sz="1880" dirty="0">
                              <a:solidFill>
                                <a:srgbClr val="1F2937"/>
                              </a:solidFill>
                              <a:latin typeface="Cambria Math"/>
                              <a:ea typeface="Cambria Math"/>
                              <a:cs typeface="Cambria Math"/>
                            </a:rPr>
                            <m:t>n</m:t>
                          </m:r>
                        </m:num>
                        <m:den>
                          <m:sSub>
                            <m:e>
                              <m:r>
                                <a:rPr lang="zh-CN" sz="1880" dirty="0">
                                  <a:solidFill>
                                    <a:srgbClr val="1F2937"/>
                                  </a:solidFill>
                                  <a:latin typeface="Cambria Math"/>
                                  <a:ea typeface="Cambria Math"/>
                                  <a:cs typeface="Cambria Math"/>
                                </a:rPr>
                                <m:t>n</m:t>
                              </m:r>
                            </m:e>
                            <m:sub>
                              <m:r>
                                <a:rPr lang="zh-CN" sz="1880" dirty="0">
                                  <a:solidFill>
                                    <a:srgbClr val="1F2937"/>
                                  </a:solidFill>
                                  <a:latin typeface="Cambria Math"/>
                                  <a:ea typeface="Cambria Math"/>
                                  <a:cs typeface="Cambria Math"/>
                                </a:rPr>
                                <m:t>s</m:t>
                              </m:r>
                            </m:sub>
                          </m:sSub>
                        </m:den>
                      </m:f>
                      <m:sSub>
                        <m:e>
                          <m:r>
                            <a:rPr lang="zh-CN" sz="1880" dirty="0">
                              <a:solidFill>
                                <a:srgbClr val="1F2937"/>
                              </a:solidFill>
                              <a:latin typeface="Cambria Math"/>
                              <a:ea typeface="Cambria Math"/>
                              <a:cs typeface="Cambria Math"/>
                            </a:rPr>
                            <m:t>N</m:t>
                          </m:r>
                        </m:e>
                        <m:sub>
                          <m:r>
                            <a:rPr lang="zh-CN" sz="1880" dirty="0">
                              <a:solidFill>
                                <a:srgbClr val="1F2937"/>
                              </a:solidFill>
                              <a:latin typeface="Cambria Math"/>
                              <a:ea typeface="Cambria Math"/>
                              <a:cs typeface="Cambria Math"/>
                            </a:rPr>
                            <m:t>s</m:t>
                          </m:r>
                        </m:sub>
                      </m:sSub>
                    </m:oMath>
                  </m:oMathPara>
                </a14:m>
              </a:p>
            </p:txBody>
          </p:sp>
        </mc:Choice>
      </mc:AlternateContent>
      <p:grpSp>
        <p:nvGrpSpPr>
          <p:cNvPr id="27" name="c1-card-3"/>
          <p:cNvGrpSpPr/>
          <p:nvPr/>
        </p:nvGrpSpPr>
        <p:grpSpPr>
          <a:xfrm>
            <a:off x="533400" y="4752022"/>
            <a:ext cx="5410200" cy="1574482"/>
            <a:chOff x="533400" y="4752022"/>
            <a:chExt cx="5410200" cy="1574482"/>
          </a:xfrm>
        </p:grpSpPr>
        <p:sp>
          <p:nvSpPr>
            <p:cNvPr id="20" name="Rectangle 20"/>
            <p:cNvSpPr/>
            <p:nvPr/>
          </p:nvSpPr>
          <p:spPr>
            <a:xfrm>
              <a:off x="533400" y="4752022"/>
              <a:ext cx="5410200" cy="1574482"/>
            </a:xfrm>
            <a:prstGeom prst="roundRect">
              <a:avLst>
                <a:gd name="adj" fmla="val 8469"/>
              </a:avLst>
            </a:prstGeom>
            <a:solidFill>
              <a:srgbClr val="FFFFFF"/>
            </a:solidFill>
            <a:ln w="14288">
              <a:solidFill>
                <a:srgbClr val="D9DFEA"/>
              </a:solidFill>
            </a:ln>
          </p:spPr>
        </p:sp>
        <p:sp>
          <p:nvSpPr>
            <p:cNvPr id="21" name="Rectangle 21"/>
            <p:cNvSpPr/>
            <p:nvPr/>
          </p:nvSpPr>
          <p:spPr>
            <a:xfrm>
              <a:off x="542925" y="4885372"/>
              <a:ext cx="47625" cy="1307782"/>
            </a:xfrm>
            <a:prstGeom prst="roundRect">
              <a:avLst>
                <a:gd name="adj" fmla="val 50000"/>
              </a:avLst>
            </a:prstGeom>
            <a:solidFill>
              <a:srgbClr val="14A38B"/>
            </a:solidFill>
            <a:ln>
              <a:noFill/>
            </a:ln>
          </p:spPr>
        </p:sp>
        <p:sp>
          <p:nvSpPr>
            <p:cNvPr id="22" name="Rectangle 22"/>
            <p:cNvSpPr/>
            <p:nvPr/>
          </p:nvSpPr>
          <p:spPr>
            <a:xfrm>
              <a:off x="775335" y="4955858"/>
              <a:ext cx="636270" cy="257175"/>
            </a:xfrm>
            <a:prstGeom prst="roundRect">
              <a:avLst>
                <a:gd name="adj" fmla="val 50000"/>
              </a:avLst>
            </a:prstGeom>
            <a:solidFill>
              <a:srgbClr val="E3F5F1"/>
            </a:solidFill>
            <a:ln>
              <a:noFill/>
            </a:ln>
          </p:spPr>
        </p:sp>
        <p:sp>
          <p:nvSpPr>
            <p:cNvPr id="23" name="TextBox 23"/>
            <p:cNvSpPr txBox="1"/>
            <p:nvPr/>
          </p:nvSpPr>
          <p:spPr>
            <a:xfrm>
              <a:off x="861593" y="4991576"/>
              <a:ext cx="463753"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算一算</a:t>
              </a:r>
            </a:p>
          </p:txBody>
        </p:sp>
        <p:sp>
          <p:nvSpPr>
            <p:cNvPr id="24" name="TextBox 24"/>
            <p:cNvSpPr txBox="1"/>
            <p:nvPr/>
          </p:nvSpPr>
          <p:spPr>
            <a:xfrm>
              <a:off x="1518666" y="4996339"/>
              <a:ext cx="2145439"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植入 100 个，发现 80 个</a:t>
              </a:r>
            </a:p>
          </p:txBody>
        </p:sp>
        <p:sp>
          <p:nvSpPr>
            <p:cNvPr id="25" name="TextBox 25"/>
            <p:cNvSpPr txBox="1"/>
            <p:nvPr/>
          </p:nvSpPr>
          <p:spPr>
            <a:xfrm>
              <a:off x="768096" y="5347811"/>
              <a:ext cx="4748403"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同一轮测试还发现了 160 个原有错误，则估计的错误总数是</a:t>
              </a:r>
              <a:br/>
              <a:r>
                <a:rPr lang="zh-CN" sz="1420" dirty="0">
                  <a:solidFill>
                    <a:srgbClr val="1F2937"/>
                  </a:solidFill>
                  <a:latin typeface="+mn-lt"/>
                  <a:ea typeface="+mn-ea"/>
                  <a:cs typeface="+mn-cs"/>
                </a:rPr>
                <a:t>(160 / 80) × 100 = 200 个。</a:t>
              </a:r>
            </a:p>
          </p:txBody>
        </p:sp>
        <p:sp>
          <p:nvSpPr>
            <p:cNvPr id="26" name="TextBox 26"/>
            <p:cNvSpPr txBox="1"/>
            <p:nvPr/>
          </p:nvSpPr>
          <p:spPr>
            <a:xfrm>
              <a:off x="769239" y="5935028"/>
              <a:ext cx="4583887"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植入错误被发现的比例是 80%，就假定原有错误也被发现了 80%</a:t>
              </a:r>
            </a:p>
          </p:txBody>
        </p:sp>
      </p:grpSp>
      <p:grpSp>
        <p:nvGrpSpPr>
          <p:cNvPr id="42" name="c2-card-1"/>
          <p:cNvGrpSpPr/>
          <p:nvPr/>
        </p:nvGrpSpPr>
        <p:grpSpPr>
          <a:xfrm>
            <a:off x="6248400" y="1524000"/>
            <a:ext cx="5410200" cy="2573655"/>
            <a:chOff x="6248400" y="1524000"/>
            <a:chExt cx="5410200" cy="2573655"/>
          </a:xfrm>
        </p:grpSpPr>
        <p:sp>
          <p:nvSpPr>
            <p:cNvPr id="28" name="Rectangle 28"/>
            <p:cNvSpPr/>
            <p:nvPr/>
          </p:nvSpPr>
          <p:spPr>
            <a:xfrm>
              <a:off x="6248400" y="1524000"/>
              <a:ext cx="5410200" cy="2573655"/>
            </a:xfrm>
            <a:prstGeom prst="roundRect">
              <a:avLst>
                <a:gd name="adj" fmla="val 5181"/>
              </a:avLst>
            </a:prstGeom>
            <a:solidFill>
              <a:srgbClr val="FFFFFF"/>
            </a:solidFill>
            <a:ln w="14288">
              <a:solidFill>
                <a:srgbClr val="D9DFEA"/>
              </a:solidFill>
            </a:ln>
          </p:spPr>
        </p:sp>
        <p:sp>
          <p:nvSpPr>
            <p:cNvPr id="29" name="Rectangle 29"/>
            <p:cNvSpPr/>
            <p:nvPr/>
          </p:nvSpPr>
          <p:spPr>
            <a:xfrm>
              <a:off x="6257925" y="1657350"/>
              <a:ext cx="47625" cy="2306955"/>
            </a:xfrm>
            <a:prstGeom prst="roundRect">
              <a:avLst>
                <a:gd name="adj" fmla="val 50000"/>
              </a:avLst>
            </a:prstGeom>
            <a:solidFill>
              <a:srgbClr val="334E68"/>
            </a:solidFill>
            <a:ln>
              <a:noFill/>
            </a:ln>
          </p:spPr>
        </p:sp>
        <p:sp>
          <p:nvSpPr>
            <p:cNvPr id="30" name="Rectangle 30"/>
            <p:cNvSpPr/>
            <p:nvPr/>
          </p:nvSpPr>
          <p:spPr>
            <a:xfrm>
              <a:off x="6490335" y="1727835"/>
              <a:ext cx="921068" cy="257175"/>
            </a:xfrm>
            <a:prstGeom prst="roundRect">
              <a:avLst>
                <a:gd name="adj" fmla="val 50000"/>
              </a:avLst>
            </a:prstGeom>
            <a:solidFill>
              <a:srgbClr val="E7EDF3"/>
            </a:solidFill>
            <a:ln>
              <a:noFill/>
            </a:ln>
          </p:spPr>
        </p:sp>
        <p:sp>
          <p:nvSpPr>
            <p:cNvPr id="31" name="TextBox 31"/>
            <p:cNvSpPr txBox="1"/>
            <p:nvPr/>
          </p:nvSpPr>
          <p:spPr>
            <a:xfrm>
              <a:off x="6567742" y="1763554"/>
              <a:ext cx="76530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分别测试法</a:t>
              </a:r>
            </a:p>
          </p:txBody>
        </p:sp>
        <p:sp>
          <p:nvSpPr>
            <p:cNvPr id="32" name="TextBox 32"/>
            <p:cNvSpPr txBox="1"/>
            <p:nvPr/>
          </p:nvSpPr>
          <p:spPr>
            <a:xfrm>
              <a:off x="7518464" y="1767364"/>
              <a:ext cx="233803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用两个测试员互相当“标记”</a:t>
              </a:r>
            </a:p>
          </p:txBody>
        </p:sp>
        <p:sp>
          <p:nvSpPr>
            <p:cNvPr id="33" name="TextBox 33"/>
            <p:cNvSpPr txBox="1"/>
            <p:nvPr/>
          </p:nvSpPr>
          <p:spPr>
            <a:xfrm>
              <a:off x="6483096" y="211978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两个测试员彼此独立地测试同一个程序的两个副本，把其中</a:t>
              </a:r>
              <a:br/>
              <a:r>
                <a:rPr lang="zh-CN" sz="1420" dirty="0">
                  <a:solidFill>
                    <a:srgbClr val="1F2937"/>
                  </a:solidFill>
                  <a:latin typeface="+mn-lt"/>
                  <a:ea typeface="+mn-ea"/>
                  <a:cs typeface="+mn-cs"/>
                </a:rPr>
                <a:t>一个测试员发现的错误作为有标记的错误。</a:t>
              </a:r>
            </a:p>
          </p:txBody>
        </p:sp>
        <p:sp>
          <p:nvSpPr>
            <p:cNvPr id="34" name="Ellipse 34"/>
            <p:cNvSpPr/>
            <p:nvPr/>
          </p:nvSpPr>
          <p:spPr>
            <a:xfrm>
              <a:off x="6497955" y="2770823"/>
              <a:ext cx="60960" cy="60960"/>
            </a:xfrm>
            <a:prstGeom prst="ellipse">
              <a:avLst/>
            </a:prstGeom>
            <a:solidFill>
              <a:srgbClr val="334E68"/>
            </a:solidFill>
            <a:ln>
              <a:noFill/>
            </a:ln>
          </p:spPr>
        </p:sp>
        <p:sp>
          <p:nvSpPr>
            <p:cNvPr id="35" name="TextBox 35"/>
            <p:cNvSpPr txBox="1"/>
            <p:nvPr/>
          </p:nvSpPr>
          <p:spPr>
            <a:xfrm>
              <a:off x="6654546" y="2711291"/>
              <a:ext cx="181697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τ=0 时错误总数为 B0</a:t>
              </a:r>
            </a:p>
          </p:txBody>
        </p:sp>
        <p:sp>
          <p:nvSpPr>
            <p:cNvPr id="36" name="Ellipse 36"/>
            <p:cNvSpPr/>
            <p:nvPr/>
          </p:nvSpPr>
          <p:spPr>
            <a:xfrm>
              <a:off x="6497955" y="3090862"/>
              <a:ext cx="60960" cy="60960"/>
            </a:xfrm>
            <a:prstGeom prst="ellipse">
              <a:avLst/>
            </a:prstGeom>
            <a:solidFill>
              <a:srgbClr val="334E68"/>
            </a:solidFill>
            <a:ln>
              <a:noFill/>
            </a:ln>
          </p:spPr>
        </p:sp>
        <p:sp>
          <p:nvSpPr>
            <p:cNvPr id="37" name="TextBox 37"/>
            <p:cNvSpPr txBox="1"/>
            <p:nvPr/>
          </p:nvSpPr>
          <p:spPr>
            <a:xfrm>
              <a:off x="6654546" y="3031331"/>
              <a:ext cx="306907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τ=τ1 时测试员甲发现的错误数为 B1</a:t>
              </a:r>
            </a:p>
          </p:txBody>
        </p:sp>
        <p:sp>
          <p:nvSpPr>
            <p:cNvPr id="38" name="Ellipse 38"/>
            <p:cNvSpPr/>
            <p:nvPr/>
          </p:nvSpPr>
          <p:spPr>
            <a:xfrm>
              <a:off x="6497955" y="3410902"/>
              <a:ext cx="60960" cy="60960"/>
            </a:xfrm>
            <a:prstGeom prst="ellipse">
              <a:avLst/>
            </a:prstGeom>
            <a:solidFill>
              <a:srgbClr val="334E68"/>
            </a:solidFill>
            <a:ln>
              <a:noFill/>
            </a:ln>
          </p:spPr>
        </p:sp>
        <p:sp>
          <p:nvSpPr>
            <p:cNvPr id="39" name="TextBox 39"/>
            <p:cNvSpPr txBox="1"/>
            <p:nvPr/>
          </p:nvSpPr>
          <p:spPr>
            <a:xfrm>
              <a:off x="6654546" y="3351371"/>
              <a:ext cx="306907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τ=τ1 时测试员乙发现的错误数为 B2</a:t>
              </a:r>
            </a:p>
          </p:txBody>
        </p:sp>
        <p:sp>
          <p:nvSpPr>
            <p:cNvPr id="40" name="Ellipse 40"/>
            <p:cNvSpPr/>
            <p:nvPr/>
          </p:nvSpPr>
          <p:spPr>
            <a:xfrm>
              <a:off x="6497955" y="3730942"/>
              <a:ext cx="60960" cy="60960"/>
            </a:xfrm>
            <a:prstGeom prst="ellipse">
              <a:avLst/>
            </a:prstGeom>
            <a:solidFill>
              <a:srgbClr val="334E68"/>
            </a:solidFill>
            <a:ln>
              <a:noFill/>
            </a:ln>
          </p:spPr>
        </p:sp>
        <p:sp>
          <p:nvSpPr>
            <p:cNvPr id="41" name="TextBox 41"/>
            <p:cNvSpPr txBox="1"/>
            <p:nvPr/>
          </p:nvSpPr>
          <p:spPr>
            <a:xfrm>
              <a:off x="6654546" y="3671411"/>
              <a:ext cx="315906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τ=τ1 时两人发现的相同错误数为 b_c</a:t>
              </a:r>
            </a:p>
          </p:txBody>
        </p:sp>
      </p:grpSp>
      <mc:AlternateContent xmlns:mc="http://schemas.openxmlformats.org/markup-compatibility/2006">
        <mc:Choice xmlns:a14="http://schemas.microsoft.com/office/drawing/2010/main" Requires="a14">
          <p:sp>
            <p:nvSpPr>
              <p:cNvPr id="43" name="formula43"/>
              <p:cNvSpPr txBox="1">
                <a:spLocks noGrp="1"/>
              </p:cNvSpPr>
              <p:nvPr/>
            </p:nvSpPr>
            <p:spPr>
              <a:xfrm>
                <a:off x="6248400" y="4282440"/>
                <a:ext cx="5410200" cy="642938"/>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bar>
                        <m:barPr>
                          <m:pos m:val="top"/>
                          <m:ctrlPr>
                            <a:rPr lang="zh-CN" sz="1880" dirty="0">
                              <a:solidFill>
                                <a:srgbClr val="1F2937"/>
                              </a:solidFill>
                              <a:latin typeface="Cambria Math"/>
                              <a:ea typeface="Cambria Math"/>
                              <a:cs typeface="Cambria Math"/>
                            </a:rPr>
                          </m:ctrlPr>
                        </m:barPr>
                        <m:e>
                          <m:sSub>
                            <m:e>
                              <m:r>
                                <a:rPr lang="zh-CN" sz="1880" dirty="0">
                                  <a:solidFill>
                                    <a:srgbClr val="1F2937"/>
                                  </a:solidFill>
                                  <a:latin typeface="Cambria Math"/>
                                  <a:ea typeface="Cambria Math"/>
                                  <a:cs typeface="Cambria Math"/>
                                </a:rPr>
                                <m:t>B</m:t>
                              </m:r>
                            </m:e>
                            <m:sub>
                              <m:r>
                                <a:rPr lang="zh-CN" sz="1880" dirty="0">
                                  <a:solidFill>
                                    <a:srgbClr val="1F2937"/>
                                  </a:solidFill>
                                  <a:latin typeface="Cambria Math"/>
                                  <a:ea typeface="Cambria Math"/>
                                  <a:cs typeface="Cambria Math"/>
                                </a:rPr>
                                <m:t>0</m:t>
                              </m:r>
                            </m:sub>
                          </m:sSub>
                        </m:e>
                      </m:bar>
                      <m:r>
                        <m:rPr>
                          <m:sty m:val="p"/>
                        </m:rPr>
                        <a:rPr lang="zh-CN" sz="1880" dirty="0">
                          <a:solidFill>
                            <a:srgbClr val="1F2937"/>
                          </a:solidFill>
                          <a:latin typeface="Cambria Math"/>
                          <a:ea typeface="Cambria Math"/>
                          <a:cs typeface="Cambria Math"/>
                        </a:rPr>
                        <m:t>=</m:t>
                      </m:r>
                      <m:f>
                        <m:fPr>
                          <m:type m:val="bar"/>
                          <m:ctrlPr>
                            <a:rPr lang="zh-CN" sz="1880" dirty="0">
                              <a:solidFill>
                                <a:srgbClr val="1F2937"/>
                              </a:solidFill>
                              <a:latin typeface="Cambria Math"/>
                              <a:ea typeface="Cambria Math"/>
                              <a:cs typeface="Cambria Math"/>
                            </a:rPr>
                          </m:ctrlPr>
                        </m:fPr>
                        <m:num>
                          <m:sSub>
                            <m:e>
                              <m:r>
                                <a:rPr lang="zh-CN" sz="1880" dirty="0">
                                  <a:solidFill>
                                    <a:srgbClr val="1F2937"/>
                                  </a:solidFill>
                                  <a:latin typeface="Cambria Math"/>
                                  <a:ea typeface="Cambria Math"/>
                                  <a:cs typeface="Cambria Math"/>
                                </a:rPr>
                                <m:t>B</m:t>
                              </m:r>
                            </m:e>
                            <m:sub>
                              <m:r>
                                <a:rPr lang="zh-CN" sz="1880" dirty="0">
                                  <a:solidFill>
                                    <a:srgbClr val="1F2937"/>
                                  </a:solidFill>
                                  <a:latin typeface="Cambria Math"/>
                                  <a:ea typeface="Cambria Math"/>
                                  <a:cs typeface="Cambria Math"/>
                                </a:rPr>
                                <m:t>2</m:t>
                              </m:r>
                            </m:sub>
                          </m:sSub>
                        </m:num>
                        <m:den>
                          <m:sSub>
                            <m:e>
                              <m:r>
                                <a:rPr lang="zh-CN" sz="1880" dirty="0">
                                  <a:solidFill>
                                    <a:srgbClr val="1F2937"/>
                                  </a:solidFill>
                                  <a:latin typeface="Cambria Math"/>
                                  <a:ea typeface="Cambria Math"/>
                                  <a:cs typeface="Cambria Math"/>
                                </a:rPr>
                                <m:t>b</m:t>
                              </m:r>
                            </m:e>
                            <m:sub>
                              <m:r>
                                <a:rPr lang="zh-CN" sz="1880" dirty="0">
                                  <a:solidFill>
                                    <a:srgbClr val="1F2937"/>
                                  </a:solidFill>
                                  <a:latin typeface="Cambria Math"/>
                                  <a:ea typeface="Cambria Math"/>
                                  <a:cs typeface="Cambria Math"/>
                                </a:rPr>
                                <m:t>c</m:t>
                              </m:r>
                            </m:sub>
                          </m:sSub>
                        </m:den>
                      </m:f>
                      <m:sSub>
                        <m:e>
                          <m:r>
                            <a:rPr lang="zh-CN" sz="1880" dirty="0">
                              <a:solidFill>
                                <a:srgbClr val="1F2937"/>
                              </a:solidFill>
                              <a:latin typeface="Cambria Math"/>
                              <a:ea typeface="Cambria Math"/>
                              <a:cs typeface="Cambria Math"/>
                            </a:rPr>
                            <m:t>B</m:t>
                          </m:r>
                        </m:e>
                        <m:sub>
                          <m:r>
                            <a:rPr lang="zh-CN" sz="1880" dirty="0">
                              <a:solidFill>
                                <a:srgbClr val="1F2937"/>
                              </a:solidFill>
                              <a:latin typeface="Cambria Math"/>
                              <a:ea typeface="Cambria Math"/>
                              <a:cs typeface="Cambria Math"/>
                            </a:rPr>
                            <m:t>1</m:t>
                          </m:r>
                        </m:sub>
                      </m:sSub>
                    </m:oMath>
                  </m:oMathPara>
                </a14:m>
              </a:p>
            </p:txBody>
          </p:sp>
        </mc:Choice>
      </mc:AlternateContent>
      <p:grpSp>
        <p:nvGrpSpPr>
          <p:cNvPr id="49" name="c2-callout-3"/>
          <p:cNvGrpSpPr/>
          <p:nvPr/>
        </p:nvGrpSpPr>
        <p:grpSpPr>
          <a:xfrm>
            <a:off x="6248400" y="5111115"/>
            <a:ext cx="5410200" cy="1215390"/>
            <a:chOff x="6248400" y="5111115"/>
            <a:chExt cx="5410200" cy="1215390"/>
          </a:xfrm>
        </p:grpSpPr>
        <p:sp>
          <p:nvSpPr>
            <p:cNvPr id="44" name="Rectangle 44"/>
            <p:cNvSpPr/>
            <p:nvPr/>
          </p:nvSpPr>
          <p:spPr>
            <a:xfrm>
              <a:off x="6248400" y="5111115"/>
              <a:ext cx="5410200" cy="1215390"/>
            </a:xfrm>
            <a:prstGeom prst="roundRect">
              <a:avLst>
                <a:gd name="adj" fmla="val 9404"/>
              </a:avLst>
            </a:prstGeom>
            <a:solidFill>
              <a:srgbClr val="334E68"/>
            </a:solidFill>
            <a:ln>
              <a:noFill/>
            </a:ln>
          </p:spPr>
        </p:sp>
        <p:grpSp>
          <p:nvGrpSpPr>
            <p:cNvPr id="47" name="Group 47"/>
            <p:cNvGrpSpPr/>
            <p:nvPr/>
          </p:nvGrpSpPr>
          <p:grpSpPr>
            <a:xfrm>
              <a:off x="6453188" y="5618800"/>
              <a:ext cx="200023" cy="200023"/>
              <a:chOff x="6453188" y="5618800"/>
              <a:chExt cx="200023" cy="200023"/>
            </a:xfrm>
          </p:grpSpPr>
          <p:sp>
            <p:nvSpPr>
              <p:cNvPr id="45" name="Freeform 45"/>
              <p:cNvSpPr/>
              <p:nvPr/>
            </p:nvSpPr>
            <p:spPr>
              <a:xfrm>
                <a:off x="6453188" y="561880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6" name="Freeform 46"/>
              <p:cNvSpPr/>
              <p:nvPr/>
            </p:nvSpPr>
            <p:spPr>
              <a:xfrm>
                <a:off x="6586538" y="568547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8" name="TextBox 48"/>
            <p:cNvSpPr txBox="1"/>
            <p:nvPr/>
          </p:nvSpPr>
          <p:spPr>
            <a:xfrm>
              <a:off x="6755511" y="5357336"/>
              <a:ext cx="4522978" cy="80448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两种方法用的是同一个思路：已知总量的那一部分（植入</a:t>
              </a:r>
              <a:br/>
              <a:r>
                <a:rPr lang="zh-CN" sz="1420" dirty="0">
                  <a:solidFill>
                    <a:srgbClr val="FFFFFF"/>
                  </a:solidFill>
                  <a:latin typeface="+mn-lt"/>
                  <a:ea typeface="+mn-ea"/>
                  <a:cs typeface="+mn-cs"/>
                </a:rPr>
                <a:t>错误、甲发现的错误）在样本中占多大比例，就把这个比</a:t>
              </a:r>
              <a:br/>
              <a:r>
                <a:rPr lang="zh-CN" sz="1420" dirty="0">
                  <a:solidFill>
                    <a:srgbClr val="FFFFFF"/>
                  </a:solidFill>
                  <a:latin typeface="+mn-lt"/>
                  <a:ea typeface="+mn-ea"/>
                  <a:cs typeface="+mn-cs"/>
                </a:rPr>
                <a:t>例反推到全体上。</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61</a:t>
              </a:r>
            </a:p>
          </p:txBody>
        </p:sp>
      </p:grpSp>
    </p:spTree>
  </p:cSld>
  <p:clrMapOvr>
    <a:masterClrMapping/>
  </p:clrMapOvr>
  <p:transition xmlns:p14="http://schemas.microsoft.com/office/powerpoint/2010/main" p14:dur="400">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304323" cy="909257"/>
            <a:chOff x="520446" y="342900"/>
            <a:chExt cx="7304323"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调试与软件可靠性</a:t>
              </a:r>
            </a:p>
          </p:txBody>
        </p:sp>
        <p:sp>
          <p:nvSpPr>
            <p:cNvPr id="4" name="TextBox 4"/>
            <p:cNvSpPr txBox="1"/>
            <p:nvPr/>
          </p:nvSpPr>
          <p:spPr>
            <a:xfrm>
              <a:off x="520446" y="753428"/>
              <a:ext cx="73043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例题：48000 条指令的程序还要改正多少个错误</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0560685" cy="597598"/>
            <a:chOff x="525399" y="1550194"/>
            <a:chExt cx="10560685" cy="597598"/>
          </a:xfrm>
        </p:grpSpPr>
        <p:sp>
          <p:nvSpPr>
            <p:cNvPr id="7" name="TextBox 7"/>
            <p:cNvSpPr txBox="1"/>
            <p:nvPr/>
          </p:nvSpPr>
          <p:spPr>
            <a:xfrm>
              <a:off x="525399" y="1550194"/>
              <a:ext cx="10560685" cy="597598"/>
            </a:xfrm>
            <a:prstGeom prst="rect">
              <a:avLst/>
            </a:prstGeom>
            <a:noFill/>
            <a:ln>
              <a:noFill/>
            </a:ln>
          </p:spPr>
          <p:txBody>
            <a:bodyPr wrap="none" lIns="0" tIns="0" rIns="0" bIns="0" anchor="t" anchorCtr="0">
              <a:spAutoFit/>
            </a:bodyPr>
            <a:lstStyle/>
            <a:p>
              <a:pPr algn="l">
                <a:lnSpc>
                  <a:spcPts val="2280"/>
                </a:lnSpc>
              </a:pPr>
              <a:r>
                <a:rPr lang="zh-CN" sz="1580" dirty="0">
                  <a:solidFill>
                    <a:srgbClr val="5B6475"/>
                  </a:solidFill>
                  <a:latin typeface="+mn-lt"/>
                  <a:ea typeface="+mn-ea"/>
                  <a:cs typeface="+mn-cs"/>
                </a:rPr>
                <a:t>第一个月由甲、乙两名测试员各自独立测试。甲发现并改正 20 个错误，使 MTTF 达到 8 小时；同时乙发现 24 个错误，</a:t>
              </a:r>
              <a:br/>
              <a:r>
                <a:rPr lang="zh-CN" sz="1580" dirty="0">
                  <a:solidFill>
                    <a:srgbClr val="5B6475"/>
                  </a:solidFill>
                  <a:latin typeface="+mn-lt"/>
                  <a:ea typeface="+mn-ea"/>
                  <a:cs typeface="+mn-cs"/>
                </a:rPr>
                <a:t>其中 6 个甲也发现了。以后由甲一人继续测试。</a:t>
              </a:r>
            </a:p>
          </p:txBody>
        </p:sp>
      </p:grpSp>
      <p:grpSp>
        <p:nvGrpSpPr>
          <p:cNvPr id="26" name="c1-steps-1"/>
          <p:cNvGrpSpPr/>
          <p:nvPr/>
        </p:nvGrpSpPr>
        <p:grpSpPr>
          <a:xfrm>
            <a:off x="533400" y="2266950"/>
            <a:ext cx="5773801" cy="3468339"/>
            <a:chOff x="533400" y="2266950"/>
            <a:chExt cx="5773801" cy="3468339"/>
          </a:xfrm>
        </p:grpSpPr>
        <p:sp>
          <p:nvSpPr>
            <p:cNvPr id="9" name="Rectangle 9"/>
            <p:cNvSpPr/>
            <p:nvPr/>
          </p:nvSpPr>
          <p:spPr>
            <a:xfrm>
              <a:off x="666750" y="2409825"/>
              <a:ext cx="19050" cy="2656522"/>
            </a:xfrm>
            <a:prstGeom prst="rect">
              <a:avLst/>
            </a:prstGeom>
            <a:solidFill>
              <a:srgbClr val="D9DFEA"/>
            </a:solidFill>
            <a:ln>
              <a:noFill/>
            </a:ln>
          </p:spPr>
        </p:sp>
        <p:sp>
          <p:nvSpPr>
            <p:cNvPr id="10" name="Ellipse 10"/>
            <p:cNvSpPr/>
            <p:nvPr/>
          </p:nvSpPr>
          <p:spPr>
            <a:xfrm>
              <a:off x="533400" y="2266950"/>
              <a:ext cx="285750" cy="285750"/>
            </a:xfrm>
            <a:prstGeom prst="ellipse">
              <a:avLst/>
            </a:prstGeom>
            <a:solidFill>
              <a:srgbClr val="334E68"/>
            </a:solidFill>
            <a:ln>
              <a:noFill/>
            </a:ln>
          </p:spPr>
        </p:sp>
        <p:sp>
          <p:nvSpPr>
            <p:cNvPr id="11" name="TextBox 11"/>
            <p:cNvSpPr txBox="1"/>
            <p:nvPr/>
          </p:nvSpPr>
          <p:spPr>
            <a:xfrm>
              <a:off x="627024" y="234076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3152775"/>
              <a:ext cx="285750" cy="285750"/>
            </a:xfrm>
            <a:prstGeom prst="ellipse">
              <a:avLst/>
            </a:prstGeom>
            <a:solidFill>
              <a:srgbClr val="334E68"/>
            </a:solidFill>
            <a:ln>
              <a:noFill/>
            </a:ln>
          </p:spPr>
        </p:sp>
        <p:sp>
          <p:nvSpPr>
            <p:cNvPr id="13" name="TextBox 13"/>
            <p:cNvSpPr txBox="1"/>
            <p:nvPr/>
          </p:nvSpPr>
          <p:spPr>
            <a:xfrm>
              <a:off x="627024" y="322659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4037648"/>
              <a:ext cx="285750" cy="285750"/>
            </a:xfrm>
            <a:prstGeom prst="ellipse">
              <a:avLst/>
            </a:prstGeom>
            <a:solidFill>
              <a:srgbClr val="334E68"/>
            </a:solidFill>
            <a:ln>
              <a:noFill/>
            </a:ln>
          </p:spPr>
        </p:sp>
        <p:sp>
          <p:nvSpPr>
            <p:cNvPr id="15" name="TextBox 15"/>
            <p:cNvSpPr txBox="1"/>
            <p:nvPr/>
          </p:nvSpPr>
          <p:spPr>
            <a:xfrm>
              <a:off x="627024" y="411146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4923472"/>
              <a:ext cx="285750" cy="285750"/>
            </a:xfrm>
            <a:prstGeom prst="ellipse">
              <a:avLst/>
            </a:prstGeom>
            <a:solidFill>
              <a:srgbClr val="334E68"/>
            </a:solidFill>
            <a:ln>
              <a:noFill/>
            </a:ln>
          </p:spPr>
        </p:sp>
        <p:sp>
          <p:nvSpPr>
            <p:cNvPr id="17" name="TextBox 17"/>
            <p:cNvSpPr txBox="1"/>
            <p:nvPr/>
          </p:nvSpPr>
          <p:spPr>
            <a:xfrm>
              <a:off x="627024" y="499729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TextBox 18"/>
            <p:cNvSpPr txBox="1"/>
            <p:nvPr/>
          </p:nvSpPr>
          <p:spPr>
            <a:xfrm>
              <a:off x="944880" y="2301240"/>
              <a:ext cx="26403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一、用分别测试法估错误总数</a:t>
              </a:r>
            </a:p>
          </p:txBody>
        </p:sp>
        <p:sp>
          <p:nvSpPr>
            <p:cNvPr id="19" name="TextBox 19"/>
            <p:cNvSpPr txBox="1"/>
            <p:nvPr/>
          </p:nvSpPr>
          <p:spPr>
            <a:xfrm>
              <a:off x="946023" y="2595086"/>
              <a:ext cx="536117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把甲发现的 20 个当作有标记错误（B1=20），乙发现 24 个（B2=24），其</a:t>
              </a:r>
              <a:br/>
              <a:r>
                <a:rPr lang="zh-CN" sz="1280" dirty="0">
                  <a:solidFill>
                    <a:srgbClr val="1F2937"/>
                  </a:solidFill>
                  <a:latin typeface="+mn-lt"/>
                  <a:ea typeface="+mn-ea"/>
                  <a:cs typeface="+mn-cs"/>
                </a:rPr>
                <a:t>中带标记的 6 个（b_c=6）。E_T = (24/6)×20 = 80 个。</a:t>
              </a:r>
            </a:p>
          </p:txBody>
        </p:sp>
        <p:sp>
          <p:nvSpPr>
            <p:cNvPr id="20" name="TextBox 20"/>
            <p:cNvSpPr txBox="1"/>
            <p:nvPr/>
          </p:nvSpPr>
          <p:spPr>
            <a:xfrm>
              <a:off x="944880" y="3187065"/>
              <a:ext cx="2493188"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二、用已知的 MTTF 反解 K</a:t>
              </a:r>
            </a:p>
          </p:txBody>
        </p:sp>
        <p:sp>
          <p:nvSpPr>
            <p:cNvPr id="21" name="TextBox 21"/>
            <p:cNvSpPr txBox="1"/>
            <p:nvPr/>
          </p:nvSpPr>
          <p:spPr>
            <a:xfrm>
              <a:off x="946023" y="3479959"/>
              <a:ext cx="4255770"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此时已改正 E_c=20 个，MTTF=8 小时，I_T=48000。由 8 =</a:t>
              </a:r>
              <a:br/>
              <a:r>
                <a:rPr lang="zh-CN" sz="1280" dirty="0">
                  <a:solidFill>
                    <a:srgbClr val="1F2937"/>
                  </a:solidFill>
                  <a:latin typeface="+mn-lt"/>
                  <a:ea typeface="+mn-ea"/>
                  <a:cs typeface="+mn-cs"/>
                </a:rPr>
                <a:t>48000/(K×(80−20)) = 48000/(60K)，得 K = 100。</a:t>
              </a:r>
            </a:p>
          </p:txBody>
        </p:sp>
        <p:sp>
          <p:nvSpPr>
            <p:cNvPr id="22" name="TextBox 22"/>
            <p:cNvSpPr txBox="1"/>
            <p:nvPr/>
          </p:nvSpPr>
          <p:spPr>
            <a:xfrm>
              <a:off x="944880" y="4071938"/>
              <a:ext cx="3406907"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三、求 MTTF 达到 240 小时时的 E_c</a:t>
              </a:r>
            </a:p>
          </p:txBody>
        </p:sp>
        <p:sp>
          <p:nvSpPr>
            <p:cNvPr id="23" name="TextBox 23"/>
            <p:cNvSpPr txBox="1"/>
            <p:nvPr/>
          </p:nvSpPr>
          <p:spPr>
            <a:xfrm>
              <a:off x="946023" y="4365784"/>
              <a:ext cx="52961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240 = 48000/(100×(80−E_c))，即 80−E_c = 48000/(100×240) = 2，所</a:t>
              </a:r>
              <a:br/>
              <a:r>
                <a:rPr lang="zh-CN" sz="1280" dirty="0">
                  <a:solidFill>
                    <a:srgbClr val="1F2937"/>
                  </a:solidFill>
                  <a:latin typeface="+mn-lt"/>
                  <a:ea typeface="+mn-ea"/>
                  <a:cs typeface="+mn-cs"/>
                </a:rPr>
                <a:t>以 E_c = 78 个。</a:t>
              </a:r>
            </a:p>
          </p:txBody>
        </p:sp>
        <p:sp>
          <p:nvSpPr>
            <p:cNvPr id="24" name="TextBox 24"/>
            <p:cNvSpPr txBox="1"/>
            <p:nvPr/>
          </p:nvSpPr>
          <p:spPr>
            <a:xfrm>
              <a:off x="944880" y="4957762"/>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四、回答问题</a:t>
              </a:r>
            </a:p>
          </p:txBody>
        </p:sp>
        <p:sp>
          <p:nvSpPr>
            <p:cNvPr id="25" name="TextBox 25"/>
            <p:cNvSpPr txBox="1"/>
            <p:nvPr/>
          </p:nvSpPr>
          <p:spPr>
            <a:xfrm>
              <a:off x="946023" y="5251609"/>
              <a:ext cx="5279898"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总共要改正 78 个错误；甲在与乙分别测试时已改正 20 个，因此还需要再</a:t>
              </a:r>
              <a:br/>
              <a:r>
                <a:rPr lang="zh-CN" sz="1280" dirty="0">
                  <a:solidFill>
                    <a:srgbClr val="1F2937"/>
                  </a:solidFill>
                  <a:latin typeface="+mn-lt"/>
                  <a:ea typeface="+mn-ea"/>
                  <a:cs typeface="+mn-cs"/>
                </a:rPr>
                <a:t>改正 78 − 20 = 58 个。</a:t>
              </a:r>
            </a:p>
          </p:txBody>
        </p:sp>
      </p:grpSp>
      <mc:AlternateContent xmlns:mc="http://schemas.openxmlformats.org/markup-compatibility/2006">
        <mc:Choice xmlns:a14="http://schemas.microsoft.com/office/drawing/2010/main" Requires="a14">
          <p:sp>
            <p:nvSpPr>
              <p:cNvPr id="27" name="formula45"/>
              <p:cNvSpPr txBox="1">
                <a:spLocks noGrp="1"/>
              </p:cNvSpPr>
              <p:nvPr/>
            </p:nvSpPr>
            <p:spPr>
              <a:xfrm>
                <a:off x="6898005" y="2257425"/>
                <a:ext cx="4760595" cy="66865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950" dirty="0">
                          <a:solidFill>
                            <a:srgbClr val="1F2937"/>
                          </a:solidFill>
                          <a:latin typeface="Cambria Math"/>
                          <a:ea typeface="Cambria Math"/>
                          <a:cs typeface="Cambria Math"/>
                        </a:rPr>
                        <m:t>MTTF</m:t>
                      </m:r>
                      <m:r>
                        <m:rPr>
                          <m:sty m:val="p"/>
                        </m:rPr>
                        <a:rPr lang="zh-CN" sz="1950" dirty="0">
                          <a:solidFill>
                            <a:srgbClr val="1F2937"/>
                          </a:solidFill>
                          <a:latin typeface="Cambria Math"/>
                          <a:ea typeface="Cambria Math"/>
                          <a:cs typeface="Cambria Math"/>
                        </a:rPr>
                        <m:t>=</m:t>
                      </m:r>
                      <m:f>
                        <m:fPr>
                          <m:type m:val="bar"/>
                          <m:ctrlPr>
                            <a:rPr lang="zh-CN" sz="1950" dirty="0">
                              <a:solidFill>
                                <a:srgbClr val="1F2937"/>
                              </a:solidFill>
                              <a:latin typeface="Cambria Math"/>
                              <a:ea typeface="Cambria Math"/>
                              <a:cs typeface="Cambria Math"/>
                            </a:rPr>
                          </m:ctrlPr>
                        </m:fPr>
                        <m:num>
                          <m:sSub>
                            <m:e>
                              <m:r>
                                <a:rPr lang="zh-CN" sz="1950" dirty="0">
                                  <a:solidFill>
                                    <a:srgbClr val="1F2937"/>
                                  </a:solidFill>
                                  <a:latin typeface="Cambria Math"/>
                                  <a:ea typeface="Cambria Math"/>
                                  <a:cs typeface="Cambria Math"/>
                                </a:rPr>
                                <m:t>I</m:t>
                              </m:r>
                            </m:e>
                            <m:sub>
                              <m:r>
                                <a:rPr lang="zh-CN" sz="1950" dirty="0">
                                  <a:solidFill>
                                    <a:srgbClr val="1F2937"/>
                                  </a:solidFill>
                                  <a:latin typeface="Cambria Math"/>
                                  <a:ea typeface="Cambria Math"/>
                                  <a:cs typeface="Cambria Math"/>
                                </a:rPr>
                                <m:t>T</m:t>
                              </m:r>
                            </m:sub>
                          </m:sSub>
                        </m:num>
                        <m:den>
                          <m:r>
                            <a:rPr lang="zh-CN" sz="1950" dirty="0">
                              <a:solidFill>
                                <a:srgbClr val="1F2937"/>
                              </a:solidFill>
                              <a:latin typeface="Cambria Math"/>
                              <a:ea typeface="Cambria Math"/>
                              <a:cs typeface="Cambria Math"/>
                            </a:rPr>
                            <m:t>K</m:t>
                          </m:r>
                          <m:d>
                            <m:dPr>
                              <m:begChr m:val="("/>
                              <m:sepChr m:val=""/>
                              <m:endChr m:val=")"/>
                              <m:grow m:val="on"/>
                              <m:ctrlPr>
                                <a:rPr lang="zh-CN" sz="1950" dirty="0">
                                  <a:solidFill>
                                    <a:srgbClr val="1F2937"/>
                                  </a:solidFill>
                                  <a:latin typeface="Cambria Math"/>
                                  <a:ea typeface="Cambria Math"/>
                                  <a:cs typeface="Cambria Math"/>
                                </a:rPr>
                              </m:ctrlPr>
                            </m:dPr>
                            <m:e>
                              <m:sSub>
                                <m:e>
                                  <m:r>
                                    <a:rPr lang="zh-CN" sz="1950" dirty="0">
                                      <a:solidFill>
                                        <a:srgbClr val="1F2937"/>
                                      </a:solidFill>
                                      <a:latin typeface="Cambria Math"/>
                                      <a:ea typeface="Cambria Math"/>
                                      <a:cs typeface="Cambria Math"/>
                                    </a:rPr>
                                    <m:t>E</m:t>
                                  </m:r>
                                </m:e>
                                <m:sub>
                                  <m:r>
                                    <a:rPr lang="zh-CN" sz="1950" dirty="0">
                                      <a:solidFill>
                                        <a:srgbClr val="1F2937"/>
                                      </a:solidFill>
                                      <a:latin typeface="Cambria Math"/>
                                      <a:ea typeface="Cambria Math"/>
                                      <a:cs typeface="Cambria Math"/>
                                    </a:rPr>
                                    <m:t>T</m:t>
                                  </m:r>
                                </m:sub>
                              </m:sSub>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E</m:t>
                                  </m:r>
                                </m:e>
                                <m:sub>
                                  <m:r>
                                    <a:rPr lang="zh-CN" sz="1950" dirty="0">
                                      <a:solidFill>
                                        <a:srgbClr val="1F2937"/>
                                      </a:solidFill>
                                      <a:latin typeface="Cambria Math"/>
                                      <a:ea typeface="Cambria Math"/>
                                      <a:cs typeface="Cambria Math"/>
                                    </a:rPr>
                                    <m:t>c</m:t>
                                  </m:r>
                                </m:sub>
                              </m:sSub>
                            </m:e>
                          </m:d>
                        </m:den>
                      </m:f>
                    </m:oMath>
                  </m:oMathPara>
                </a14:m>
              </a:p>
            </p:txBody>
          </p:sp>
        </mc:Choice>
      </mc:AlternateContent>
      <p:grpSp>
        <p:nvGrpSpPr>
          <p:cNvPr id="35" name="c2-card-2"/>
          <p:cNvGrpSpPr/>
          <p:nvPr/>
        </p:nvGrpSpPr>
        <p:grpSpPr>
          <a:xfrm>
            <a:off x="6898005" y="3116580"/>
            <a:ext cx="4760595" cy="1956435"/>
            <a:chOff x="6898005" y="3116580"/>
            <a:chExt cx="4760595" cy="1956435"/>
          </a:xfrm>
        </p:grpSpPr>
        <p:sp>
          <p:nvSpPr>
            <p:cNvPr id="28" name="Rectangle 28"/>
            <p:cNvSpPr/>
            <p:nvPr/>
          </p:nvSpPr>
          <p:spPr>
            <a:xfrm>
              <a:off x="6898005" y="3116580"/>
              <a:ext cx="4760595" cy="1956435"/>
            </a:xfrm>
            <a:prstGeom prst="roundRect">
              <a:avLst>
                <a:gd name="adj" fmla="val 6816"/>
              </a:avLst>
            </a:prstGeom>
            <a:solidFill>
              <a:srgbClr val="FFFFFF"/>
            </a:solidFill>
            <a:ln w="14288">
              <a:solidFill>
                <a:srgbClr val="D9DFEA"/>
              </a:solidFill>
            </a:ln>
          </p:spPr>
        </p:sp>
        <p:sp>
          <p:nvSpPr>
            <p:cNvPr id="29" name="Rectangle 29"/>
            <p:cNvSpPr/>
            <p:nvPr/>
          </p:nvSpPr>
          <p:spPr>
            <a:xfrm>
              <a:off x="6907530" y="3249930"/>
              <a:ext cx="47625" cy="1689735"/>
            </a:xfrm>
            <a:prstGeom prst="roundRect">
              <a:avLst>
                <a:gd name="adj" fmla="val 50000"/>
              </a:avLst>
            </a:prstGeom>
            <a:solidFill>
              <a:srgbClr val="5B6475"/>
            </a:solidFill>
            <a:ln>
              <a:noFill/>
            </a:ln>
          </p:spPr>
        </p:sp>
        <p:sp>
          <p:nvSpPr>
            <p:cNvPr id="30" name="Rectangle 30"/>
            <p:cNvSpPr/>
            <p:nvPr/>
          </p:nvSpPr>
          <p:spPr>
            <a:xfrm>
              <a:off x="7145655" y="3326130"/>
              <a:ext cx="494348" cy="257175"/>
            </a:xfrm>
            <a:prstGeom prst="roundRect">
              <a:avLst>
                <a:gd name="adj" fmla="val 50000"/>
              </a:avLst>
            </a:prstGeom>
            <a:solidFill>
              <a:srgbClr val="F4F6FB"/>
            </a:solidFill>
            <a:ln>
              <a:noFill/>
            </a:ln>
          </p:spPr>
        </p:sp>
        <p:sp>
          <p:nvSpPr>
            <p:cNvPr id="31" name="TextBox 31"/>
            <p:cNvSpPr txBox="1"/>
            <p:nvPr/>
          </p:nvSpPr>
          <p:spPr>
            <a:xfrm>
              <a:off x="7235863" y="3361849"/>
              <a:ext cx="312979"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复核</a:t>
              </a:r>
            </a:p>
          </p:txBody>
        </p:sp>
        <p:sp>
          <p:nvSpPr>
            <p:cNvPr id="32" name="TextBox 32"/>
            <p:cNvSpPr txBox="1"/>
            <p:nvPr/>
          </p:nvSpPr>
          <p:spPr>
            <a:xfrm>
              <a:off x="7745730" y="3361372"/>
              <a:ext cx="142875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把结果代回原式</a:t>
              </a:r>
            </a:p>
          </p:txBody>
        </p:sp>
        <p:sp>
          <p:nvSpPr>
            <p:cNvPr id="33" name="TextBox 33"/>
            <p:cNvSpPr txBox="1"/>
            <p:nvPr/>
          </p:nvSpPr>
          <p:spPr>
            <a:xfrm>
              <a:off x="7138035" y="3722370"/>
              <a:ext cx="3930015" cy="579120"/>
            </a:xfrm>
            <a:prstGeom prst="rect">
              <a:avLst/>
            </a:prstGeom>
            <a:noFill/>
            <a:ln>
              <a:noFill/>
            </a:ln>
          </p:spPr>
          <p:txBody>
            <a:bodyPr wrap="none" lIns="0" tIns="0" rIns="0" bIns="0" anchor="t" anchorCtr="0">
              <a:spAutoFit/>
            </a:bodyPr>
            <a:lstStyle/>
            <a:p>
              <a:pPr algn="l">
                <a:lnSpc>
                  <a:spcPts val="2250"/>
                </a:lnSpc>
              </a:pPr>
              <a:r>
                <a:rPr lang="en-US" sz="1500" dirty="0">
                  <a:solidFill>
                    <a:srgbClr val="1F2937"/>
                  </a:solidFill>
                  <a:latin typeface="+mn-lt"/>
                  <a:ea typeface="+mn-ea"/>
                  <a:cs typeface="+mn-cs"/>
                </a:rPr>
                <a:t>MTTF = 48000 / (100 × (80 − 78)) = 48000 /</a:t>
              </a:r>
              <a:br/>
              <a:r>
                <a:rPr lang="zh-CN" sz="1500" dirty="0">
                  <a:solidFill>
                    <a:srgbClr val="1F2937"/>
                  </a:solidFill>
                  <a:latin typeface="+mn-lt"/>
                  <a:ea typeface="+mn-ea"/>
                  <a:cs typeface="+mn-cs"/>
                </a:rPr>
                <a:t>200 = 240 小时，与题目要求一致。</a:t>
              </a:r>
            </a:p>
          </p:txBody>
        </p:sp>
        <p:sp>
          <p:nvSpPr>
            <p:cNvPr id="34" name="TextBox 34"/>
            <p:cNvSpPr txBox="1"/>
            <p:nvPr/>
          </p:nvSpPr>
          <p:spPr>
            <a:xfrm>
              <a:off x="7138035" y="4343400"/>
              <a:ext cx="38728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再验一次第二步：48000 / (100 × (80 − 20))</a:t>
              </a:r>
              <a:br/>
              <a:r>
                <a:rPr lang="zh-CN" sz="1500" dirty="0">
                  <a:solidFill>
                    <a:srgbClr val="1F2937"/>
                  </a:solidFill>
                  <a:latin typeface="+mn-lt"/>
                  <a:ea typeface="+mn-ea"/>
                  <a:cs typeface="+mn-cs"/>
                </a:rPr>
                <a:t>= 48000 / 6000 = 8 小时，也对得上。</a:t>
              </a:r>
            </a:p>
          </p:txBody>
        </p:sp>
      </p:grpSp>
      <p:grpSp>
        <p:nvGrpSpPr>
          <p:cNvPr id="42" name="c2-callout-3"/>
          <p:cNvGrpSpPr/>
          <p:nvPr/>
        </p:nvGrpSpPr>
        <p:grpSpPr>
          <a:xfrm>
            <a:off x="6898005" y="5263515"/>
            <a:ext cx="4760595" cy="782955"/>
            <a:chOff x="6898005" y="5263515"/>
            <a:chExt cx="4760595" cy="782955"/>
          </a:xfrm>
        </p:grpSpPr>
        <p:sp>
          <p:nvSpPr>
            <p:cNvPr id="36" name="Rectangle 36"/>
            <p:cNvSpPr/>
            <p:nvPr/>
          </p:nvSpPr>
          <p:spPr>
            <a:xfrm>
              <a:off x="6898005" y="5263515"/>
              <a:ext cx="4760595" cy="782955"/>
            </a:xfrm>
            <a:prstGeom prst="roundRect">
              <a:avLst>
                <a:gd name="adj" fmla="val 14599"/>
              </a:avLst>
            </a:prstGeom>
            <a:solidFill>
              <a:srgbClr val="FDECEA"/>
            </a:solidFill>
            <a:ln>
              <a:noFill/>
            </a:ln>
          </p:spPr>
        </p:sp>
        <p:grpSp>
          <p:nvGrpSpPr>
            <p:cNvPr id="40" name="Group 40"/>
            <p:cNvGrpSpPr/>
            <p:nvPr/>
          </p:nvGrpSpPr>
          <p:grpSpPr>
            <a:xfrm>
              <a:off x="7090734" y="5551288"/>
              <a:ext cx="224134" cy="192560"/>
              <a:chOff x="7090734" y="5551288"/>
              <a:chExt cx="224134" cy="192560"/>
            </a:xfrm>
          </p:grpSpPr>
          <p:sp>
            <p:nvSpPr>
              <p:cNvPr id="37" name="Freeform 37"/>
              <p:cNvSpPr/>
              <p:nvPr/>
            </p:nvSpPr>
            <p:spPr>
              <a:xfrm>
                <a:off x="7202805" y="562165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38" name="Freeform 38"/>
              <p:cNvSpPr/>
              <p:nvPr/>
            </p:nvSpPr>
            <p:spPr>
              <a:xfrm>
                <a:off x="7090734" y="555128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39" name="Freeform 39"/>
              <p:cNvSpPr/>
              <p:nvPr/>
            </p:nvSpPr>
            <p:spPr>
              <a:xfrm>
                <a:off x="7202805" y="569944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1" name="TextBox 41"/>
            <p:cNvSpPr txBox="1"/>
            <p:nvPr/>
          </p:nvSpPr>
          <p:spPr>
            <a:xfrm>
              <a:off x="7404735" y="5412105"/>
              <a:ext cx="37585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问的是“还要改正多少个”，不是“总共改正多</a:t>
              </a:r>
              <a:br/>
              <a:r>
                <a:rPr lang="zh-CN" sz="1500" dirty="0">
                  <a:solidFill>
                    <a:srgbClr val="B42318"/>
                  </a:solidFill>
                  <a:latin typeface="+mn-lt"/>
                  <a:ea typeface="+mn-ea"/>
                  <a:cs typeface="+mn-cs"/>
                </a:rPr>
                <a:t>少个”。78 是总数，58 才是答案。</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44" name="TextBox 4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62</a:t>
              </a:r>
            </a:p>
          </p:txBody>
        </p:sp>
      </p:grpSp>
    </p:spTree>
  </p:cSld>
  <p:clrMapOvr>
    <a:masterClrMapping/>
  </p:clrMapOvr>
  <p:transition xmlns:p14="http://schemas.microsoft.com/office/powerpoint/2010/main" p14:dur="400">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 · 调试与软件可靠性</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补充：程序正确性证明</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410200" cy="1545908"/>
            <a:chOff x="533400" y="1524000"/>
            <a:chExt cx="5410200" cy="1545908"/>
          </a:xfrm>
        </p:grpSpPr>
        <p:sp>
          <p:nvSpPr>
            <p:cNvPr id="7" name="Rectangle 7"/>
            <p:cNvSpPr/>
            <p:nvPr/>
          </p:nvSpPr>
          <p:spPr>
            <a:xfrm>
              <a:off x="533400" y="1524000"/>
              <a:ext cx="5410200" cy="1545908"/>
            </a:xfrm>
            <a:prstGeom prst="roundRect">
              <a:avLst>
                <a:gd name="adj" fmla="val 8626"/>
              </a:avLst>
            </a:prstGeom>
            <a:solidFill>
              <a:srgbClr val="FFFFFF"/>
            </a:solidFill>
            <a:ln w="14288">
              <a:solidFill>
                <a:srgbClr val="D9DFEA"/>
              </a:solidFill>
            </a:ln>
          </p:spPr>
        </p:sp>
        <p:sp>
          <p:nvSpPr>
            <p:cNvPr id="8" name="Rectangle 8"/>
            <p:cNvSpPr/>
            <p:nvPr/>
          </p:nvSpPr>
          <p:spPr>
            <a:xfrm>
              <a:off x="542925" y="1657350"/>
              <a:ext cx="47625" cy="1279208"/>
            </a:xfrm>
            <a:prstGeom prst="roundRect">
              <a:avLst>
                <a:gd name="adj" fmla="val 50000"/>
              </a:avLst>
            </a:prstGeom>
            <a:solidFill>
              <a:srgbClr val="334E68"/>
            </a:solidFill>
            <a:ln>
              <a:noFill/>
            </a:ln>
          </p:spPr>
        </p:sp>
        <p:sp>
          <p:nvSpPr>
            <p:cNvPr id="9" name="Rectangle 9"/>
            <p:cNvSpPr/>
            <p:nvPr/>
          </p:nvSpPr>
          <p:spPr>
            <a:xfrm>
              <a:off x="758190" y="1710690"/>
              <a:ext cx="582930" cy="238125"/>
            </a:xfrm>
            <a:prstGeom prst="roundRect">
              <a:avLst>
                <a:gd name="adj" fmla="val 50000"/>
              </a:avLst>
            </a:prstGeom>
            <a:solidFill>
              <a:srgbClr val="E7EDF3"/>
            </a:solidFill>
            <a:ln>
              <a:noFill/>
            </a:ln>
          </p:spPr>
        </p:sp>
        <p:sp>
          <p:nvSpPr>
            <p:cNvPr id="10" name="TextBox 10"/>
            <p:cNvSpPr txBox="1"/>
            <p:nvPr/>
          </p:nvSpPr>
          <p:spPr>
            <a:xfrm>
              <a:off x="846811" y="1743551"/>
              <a:ext cx="405689"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出发点</a:t>
              </a:r>
            </a:p>
          </p:txBody>
        </p:sp>
        <p:sp>
          <p:nvSpPr>
            <p:cNvPr id="11" name="TextBox 11"/>
            <p:cNvSpPr txBox="1"/>
            <p:nvPr/>
          </p:nvSpPr>
          <p:spPr>
            <a:xfrm>
              <a:off x="1448562" y="1745932"/>
              <a:ext cx="136605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Dijkstra 的判断</a:t>
              </a:r>
            </a:p>
          </p:txBody>
        </p:sp>
        <p:sp>
          <p:nvSpPr>
            <p:cNvPr id="12" name="TextBox 12"/>
            <p:cNvSpPr txBox="1"/>
            <p:nvPr/>
          </p:nvSpPr>
          <p:spPr>
            <a:xfrm>
              <a:off x="751332" y="2071688"/>
              <a:ext cx="437540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测试只能说明程序有错，不能够证明程序不存在错误。</a:t>
              </a:r>
            </a:p>
          </p:txBody>
        </p:sp>
        <p:sp>
          <p:nvSpPr>
            <p:cNvPr id="13" name="Ellipse 13"/>
            <p:cNvSpPr/>
            <p:nvPr/>
          </p:nvSpPr>
          <p:spPr>
            <a:xfrm>
              <a:off x="766762" y="2427922"/>
              <a:ext cx="59055" cy="59055"/>
            </a:xfrm>
            <a:prstGeom prst="ellipse">
              <a:avLst/>
            </a:prstGeom>
            <a:solidFill>
              <a:srgbClr val="334E68"/>
            </a:solidFill>
            <a:ln>
              <a:noFill/>
            </a:ln>
          </p:spPr>
        </p:sp>
        <p:sp>
          <p:nvSpPr>
            <p:cNvPr id="14" name="TextBox 14"/>
            <p:cNvSpPr txBox="1"/>
            <p:nvPr/>
          </p:nvSpPr>
          <p:spPr>
            <a:xfrm>
              <a:off x="922782" y="2371725"/>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基本思想：通过数学的方法，证明程序具有某些需要的性质</a:t>
              </a:r>
            </a:p>
          </p:txBody>
        </p:sp>
        <p:sp>
          <p:nvSpPr>
            <p:cNvPr id="15" name="Ellipse 15"/>
            <p:cNvSpPr/>
            <p:nvPr/>
          </p:nvSpPr>
          <p:spPr>
            <a:xfrm>
              <a:off x="766762" y="2727960"/>
              <a:ext cx="59055" cy="59055"/>
            </a:xfrm>
            <a:prstGeom prst="ellipse">
              <a:avLst/>
            </a:prstGeom>
            <a:solidFill>
              <a:srgbClr val="334E68"/>
            </a:solidFill>
            <a:ln>
              <a:noFill/>
            </a:ln>
          </p:spPr>
        </p:sp>
        <p:sp>
          <p:nvSpPr>
            <p:cNvPr id="16" name="TextBox 16"/>
            <p:cNvSpPr txBox="1"/>
            <p:nvPr/>
          </p:nvSpPr>
          <p:spPr>
            <a:xfrm>
              <a:off x="922782" y="2671762"/>
              <a:ext cx="465709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方法有输入-输出断言法、最弱前置条件法、结构归纳法等</a:t>
              </a:r>
            </a:p>
          </p:txBody>
        </p:sp>
      </p:grpSp>
      <p:grpSp>
        <p:nvGrpSpPr>
          <p:cNvPr id="24" name="c1-card-2"/>
          <p:cNvGrpSpPr/>
          <p:nvPr/>
        </p:nvGrpSpPr>
        <p:grpSpPr>
          <a:xfrm>
            <a:off x="533400" y="3239452"/>
            <a:ext cx="5410200" cy="1459230"/>
            <a:chOff x="533400" y="3239452"/>
            <a:chExt cx="5410200" cy="1459230"/>
          </a:xfrm>
        </p:grpSpPr>
        <p:sp>
          <p:nvSpPr>
            <p:cNvPr id="18" name="Rectangle 18"/>
            <p:cNvSpPr/>
            <p:nvPr/>
          </p:nvSpPr>
          <p:spPr>
            <a:xfrm>
              <a:off x="533400" y="3239452"/>
              <a:ext cx="5410200" cy="1459230"/>
            </a:xfrm>
            <a:prstGeom prst="roundRect">
              <a:avLst>
                <a:gd name="adj" fmla="val 9138"/>
              </a:avLst>
            </a:prstGeom>
            <a:solidFill>
              <a:srgbClr val="FFFFFF"/>
            </a:solidFill>
            <a:ln w="14288">
              <a:solidFill>
                <a:srgbClr val="D9DFEA"/>
              </a:solidFill>
            </a:ln>
          </p:spPr>
        </p:sp>
        <p:sp>
          <p:nvSpPr>
            <p:cNvPr id="19" name="Rectangle 19"/>
            <p:cNvSpPr/>
            <p:nvPr/>
          </p:nvSpPr>
          <p:spPr>
            <a:xfrm>
              <a:off x="542925" y="3372802"/>
              <a:ext cx="47625" cy="1192530"/>
            </a:xfrm>
            <a:prstGeom prst="roundRect">
              <a:avLst>
                <a:gd name="adj" fmla="val 50000"/>
              </a:avLst>
            </a:prstGeom>
            <a:solidFill>
              <a:srgbClr val="334E68"/>
            </a:solidFill>
            <a:ln>
              <a:noFill/>
            </a:ln>
          </p:spPr>
        </p:sp>
        <p:sp>
          <p:nvSpPr>
            <p:cNvPr id="20" name="Rectangle 20"/>
            <p:cNvSpPr/>
            <p:nvPr/>
          </p:nvSpPr>
          <p:spPr>
            <a:xfrm>
              <a:off x="758190" y="3426142"/>
              <a:ext cx="1152525" cy="238125"/>
            </a:xfrm>
            <a:prstGeom prst="roundRect">
              <a:avLst>
                <a:gd name="adj" fmla="val 50000"/>
              </a:avLst>
            </a:prstGeom>
            <a:solidFill>
              <a:srgbClr val="E7EDF3"/>
            </a:solidFill>
            <a:ln>
              <a:noFill/>
            </a:ln>
          </p:spPr>
        </p:sp>
        <p:sp>
          <p:nvSpPr>
            <p:cNvPr id="21" name="TextBox 21"/>
            <p:cNvSpPr txBox="1"/>
            <p:nvPr/>
          </p:nvSpPr>
          <p:spPr>
            <a:xfrm>
              <a:off x="829659" y="3459004"/>
              <a:ext cx="1009587"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输入-输出断言法</a:t>
              </a:r>
            </a:p>
          </p:txBody>
        </p:sp>
        <p:sp>
          <p:nvSpPr>
            <p:cNvPr id="22" name="TextBox 22"/>
            <p:cNvSpPr txBox="1"/>
            <p:nvPr/>
          </p:nvSpPr>
          <p:spPr>
            <a:xfrm>
              <a:off x="2018157" y="3461385"/>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又称公理化断言归纳法</a:t>
              </a:r>
            </a:p>
          </p:txBody>
        </p:sp>
        <p:sp>
          <p:nvSpPr>
            <p:cNvPr id="23" name="TextBox 23"/>
            <p:cNvSpPr txBox="1"/>
            <p:nvPr/>
          </p:nvSpPr>
          <p:spPr>
            <a:xfrm>
              <a:off x="751332" y="3787140"/>
              <a:ext cx="4720018"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在 Floyd 的归纳断言法基础上加 Hoare 的公理化概念形成。在</a:t>
              </a:r>
              <a:br/>
              <a:r>
                <a:rPr lang="zh-CN" sz="1350" dirty="0">
                  <a:solidFill>
                    <a:srgbClr val="1F2937"/>
                  </a:solidFill>
                  <a:latin typeface="+mn-lt"/>
                  <a:ea typeface="+mn-ea"/>
                  <a:cs typeface="+mn-cs"/>
                </a:rPr>
                <a:t>源程序的入口、出口和中间点分别设置“断言”，只须证明每段</a:t>
              </a:r>
              <a:br/>
              <a:r>
                <a:rPr lang="zh-CN" sz="1350" dirty="0">
                  <a:solidFill>
                    <a:srgbClr val="1F2937"/>
                  </a:solidFill>
                  <a:latin typeface="+mn-lt"/>
                  <a:ea typeface="+mn-ea"/>
                  <a:cs typeface="+mn-cs"/>
                </a:rPr>
                <a:t>程序执行后能把它之前的断言变成其后一点的断言。</a:t>
              </a:r>
            </a:p>
          </p:txBody>
        </p:sp>
      </p:grpSp>
      <p:grpSp>
        <p:nvGrpSpPr>
          <p:cNvPr id="30" name="c1-callout-3"/>
          <p:cNvGrpSpPr/>
          <p:nvPr/>
        </p:nvGrpSpPr>
        <p:grpSpPr>
          <a:xfrm>
            <a:off x="533400" y="4869180"/>
            <a:ext cx="5410200" cy="1414462"/>
            <a:chOff x="533400" y="4869180"/>
            <a:chExt cx="5410200" cy="1414462"/>
          </a:xfrm>
        </p:grpSpPr>
        <p:sp>
          <p:nvSpPr>
            <p:cNvPr id="25" name="Rectangle 25"/>
            <p:cNvSpPr/>
            <p:nvPr/>
          </p:nvSpPr>
          <p:spPr>
            <a:xfrm>
              <a:off x="533400" y="4869180"/>
              <a:ext cx="5410200" cy="1414462"/>
            </a:xfrm>
            <a:prstGeom prst="roundRect">
              <a:avLst>
                <a:gd name="adj" fmla="val 8081"/>
              </a:avLst>
            </a:prstGeom>
            <a:solidFill>
              <a:srgbClr val="334E68"/>
            </a:solidFill>
            <a:ln>
              <a:noFill/>
            </a:ln>
          </p:spPr>
        </p:sp>
        <p:grpSp>
          <p:nvGrpSpPr>
            <p:cNvPr id="28" name="Group 28"/>
            <p:cNvGrpSpPr/>
            <p:nvPr/>
          </p:nvGrpSpPr>
          <p:grpSpPr>
            <a:xfrm>
              <a:off x="738188" y="5476877"/>
              <a:ext cx="200023" cy="200023"/>
              <a:chOff x="738188" y="5476877"/>
              <a:chExt cx="200023" cy="200023"/>
            </a:xfrm>
          </p:grpSpPr>
          <p:sp>
            <p:nvSpPr>
              <p:cNvPr id="26" name="Freeform 26"/>
              <p:cNvSpPr/>
              <p:nvPr/>
            </p:nvSpPr>
            <p:spPr>
              <a:xfrm>
                <a:off x="738188" y="547687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7" name="Freeform 27"/>
              <p:cNvSpPr/>
              <p:nvPr/>
            </p:nvSpPr>
            <p:spPr>
              <a:xfrm>
                <a:off x="871538" y="554355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9" name="TextBox 29"/>
            <p:cNvSpPr txBox="1"/>
            <p:nvPr/>
          </p:nvSpPr>
          <p:spPr>
            <a:xfrm>
              <a:off x="1040892" y="5357812"/>
              <a:ext cx="440283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记号 {P}S{R} 表示：S 执行前断言 P 为真，则 S 执行后断</a:t>
              </a:r>
              <a:br/>
              <a:r>
                <a:rPr lang="zh-CN" sz="1350" dirty="0">
                  <a:solidFill>
                    <a:srgbClr val="FFFFFF"/>
                  </a:solidFill>
                  <a:latin typeface="+mn-lt"/>
                  <a:ea typeface="+mn-ea"/>
                  <a:cs typeface="+mn-cs"/>
                </a:rPr>
                <a:t>言 R 一定为真。例如 {1&lt;i&lt;N} i:=i+1 {2&lt;i&lt;N+1}。</a:t>
              </a:r>
            </a:p>
          </p:txBody>
        </p:sp>
      </p:grpSp>
      <p:grpSp>
        <p:nvGrpSpPr>
          <p:cNvPr id="65" name="c2-flow-1"/>
          <p:cNvGrpSpPr/>
          <p:nvPr/>
        </p:nvGrpSpPr>
        <p:grpSpPr>
          <a:xfrm>
            <a:off x="6437948" y="1692592"/>
            <a:ext cx="5240655" cy="3274695"/>
            <a:chOff x="6437948" y="1692592"/>
            <a:chExt cx="5240655" cy="3274695"/>
          </a:xfrm>
        </p:grpSpPr>
        <p:sp>
          <p:nvSpPr>
            <p:cNvPr id="31" name="Freeform 31"/>
            <p:cNvSpPr/>
            <p:nvPr/>
          </p:nvSpPr>
          <p:spPr>
            <a:xfrm>
              <a:off x="7600950" y="2078355"/>
              <a:ext cx="9525" cy="231458"/>
            </a:xfrm>
            <a:custGeom>
              <a:avLst/>
              <a:gdLst/>
              <a:ahLst/>
              <a:cxnLst/>
              <a:rect l="l" t="t" r="r" b="b"/>
              <a:pathLst>
                <a:path w="9525" h="231458">
                  <a:moveTo>
                    <a:pt x="0" y="0"/>
                  </a:moveTo>
                  <a:lnTo>
                    <a:pt x="0" y="231458"/>
                  </a:lnTo>
                </a:path>
              </a:pathLst>
            </a:custGeom>
            <a:noFill/>
            <a:ln w="15240">
              <a:solidFill>
                <a:srgbClr val="5B6475"/>
              </a:solidFill>
            </a:ln>
          </p:spPr>
        </p:sp>
        <p:sp>
          <p:nvSpPr>
            <p:cNvPr id="32" name="Freeform 32"/>
            <p:cNvSpPr/>
            <p:nvPr/>
          </p:nvSpPr>
          <p:spPr>
            <a:xfrm>
              <a:off x="7548562" y="230981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3" name="Freeform 33"/>
            <p:cNvSpPr/>
            <p:nvPr/>
          </p:nvSpPr>
          <p:spPr>
            <a:xfrm>
              <a:off x="8763952" y="2607945"/>
              <a:ext cx="274320" cy="9525"/>
            </a:xfrm>
            <a:custGeom>
              <a:avLst/>
              <a:gdLst/>
              <a:ahLst/>
              <a:cxnLst/>
              <a:rect l="l" t="t" r="r" b="b"/>
              <a:pathLst>
                <a:path w="274320" h="9525">
                  <a:moveTo>
                    <a:pt x="0" y="0"/>
                  </a:moveTo>
                  <a:lnTo>
                    <a:pt x="274320" y="0"/>
                  </a:lnTo>
                </a:path>
              </a:pathLst>
            </a:custGeom>
            <a:noFill/>
            <a:ln w="15240">
              <a:solidFill>
                <a:srgbClr val="5B6475"/>
              </a:solidFill>
              <a:custDash>
                <a:ds d="375000" sp="250000"/>
              </a:custDash>
            </a:ln>
          </p:spPr>
        </p:sp>
        <p:sp>
          <p:nvSpPr>
            <p:cNvPr id="34" name="Freeform 34"/>
            <p:cNvSpPr/>
            <p:nvPr/>
          </p:nvSpPr>
          <p:spPr>
            <a:xfrm>
              <a:off x="9038272" y="255555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5" name="Freeform 35"/>
            <p:cNvSpPr/>
            <p:nvPr/>
          </p:nvSpPr>
          <p:spPr>
            <a:xfrm>
              <a:off x="7600950" y="2800350"/>
              <a:ext cx="9525" cy="137160"/>
            </a:xfrm>
            <a:custGeom>
              <a:avLst/>
              <a:gdLst/>
              <a:ahLst/>
              <a:cxnLst/>
              <a:rect l="l" t="t" r="r" b="b"/>
              <a:pathLst>
                <a:path w="9525" h="137160">
                  <a:moveTo>
                    <a:pt x="0" y="0"/>
                  </a:moveTo>
                  <a:lnTo>
                    <a:pt x="0" y="137160"/>
                  </a:lnTo>
                </a:path>
              </a:pathLst>
            </a:custGeom>
            <a:noFill/>
            <a:ln w="15240">
              <a:solidFill>
                <a:srgbClr val="5B6475"/>
              </a:solidFill>
            </a:ln>
          </p:spPr>
        </p:sp>
        <p:sp>
          <p:nvSpPr>
            <p:cNvPr id="36" name="Freeform 36"/>
            <p:cNvSpPr/>
            <p:nvPr/>
          </p:nvSpPr>
          <p:spPr>
            <a:xfrm>
              <a:off x="7548562" y="293751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7" name="Freeform 37"/>
            <p:cNvSpPr/>
            <p:nvPr/>
          </p:nvSpPr>
          <p:spPr>
            <a:xfrm>
              <a:off x="7600950" y="3617595"/>
              <a:ext cx="9525" cy="41910"/>
            </a:xfrm>
            <a:custGeom>
              <a:avLst/>
              <a:gdLst/>
              <a:ahLst/>
              <a:cxnLst/>
              <a:rect l="l" t="t" r="r" b="b"/>
              <a:pathLst>
                <a:path w="9525" h="41910">
                  <a:moveTo>
                    <a:pt x="0" y="0"/>
                  </a:moveTo>
                  <a:lnTo>
                    <a:pt x="0" y="41910"/>
                  </a:lnTo>
                </a:path>
              </a:pathLst>
            </a:custGeom>
            <a:noFill/>
            <a:ln w="15240">
              <a:solidFill>
                <a:srgbClr val="5B6475"/>
              </a:solidFill>
            </a:ln>
          </p:spPr>
        </p:sp>
        <p:sp>
          <p:nvSpPr>
            <p:cNvPr id="38" name="Freeform 38"/>
            <p:cNvSpPr/>
            <p:nvPr/>
          </p:nvSpPr>
          <p:spPr>
            <a:xfrm>
              <a:off x="7548562" y="365950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9" name="Freeform 39"/>
            <p:cNvSpPr/>
            <p:nvPr/>
          </p:nvSpPr>
          <p:spPr>
            <a:xfrm>
              <a:off x="8763952" y="4051935"/>
              <a:ext cx="274320" cy="9525"/>
            </a:xfrm>
            <a:custGeom>
              <a:avLst/>
              <a:gdLst/>
              <a:ahLst/>
              <a:cxnLst/>
              <a:rect l="l" t="t" r="r" b="b"/>
              <a:pathLst>
                <a:path w="274320" h="9525">
                  <a:moveTo>
                    <a:pt x="0" y="0"/>
                  </a:moveTo>
                  <a:lnTo>
                    <a:pt x="274320" y="0"/>
                  </a:lnTo>
                </a:path>
              </a:pathLst>
            </a:custGeom>
            <a:noFill/>
            <a:ln w="15240">
              <a:solidFill>
                <a:srgbClr val="5B6475"/>
              </a:solidFill>
            </a:ln>
          </p:spPr>
        </p:sp>
        <p:sp>
          <p:nvSpPr>
            <p:cNvPr id="40" name="Freeform 40"/>
            <p:cNvSpPr/>
            <p:nvPr/>
          </p:nvSpPr>
          <p:spPr>
            <a:xfrm>
              <a:off x="9038272" y="399954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41" name="Freeform 41"/>
            <p:cNvSpPr/>
            <p:nvPr/>
          </p:nvSpPr>
          <p:spPr>
            <a:xfrm>
              <a:off x="8868728" y="3329940"/>
              <a:ext cx="2809875" cy="721995"/>
            </a:xfrm>
            <a:custGeom>
              <a:avLst/>
              <a:gdLst/>
              <a:ahLst/>
              <a:cxnLst/>
              <a:rect l="l" t="t" r="r" b="b"/>
              <a:pathLst>
                <a:path w="2809875" h="721995">
                  <a:moveTo>
                    <a:pt x="2600325" y="721995"/>
                  </a:moveTo>
                  <a:lnTo>
                    <a:pt x="2809875" y="721995"/>
                  </a:lnTo>
                  <a:lnTo>
                    <a:pt x="2357437" y="721995"/>
                  </a:lnTo>
                  <a:lnTo>
                    <a:pt x="2357437" y="0"/>
                  </a:lnTo>
                  <a:lnTo>
                    <a:pt x="104775" y="0"/>
                  </a:lnTo>
                  <a:lnTo>
                    <a:pt x="0" y="0"/>
                  </a:lnTo>
                </a:path>
              </a:pathLst>
            </a:custGeom>
            <a:noFill/>
            <a:ln w="15240">
              <a:solidFill>
                <a:srgbClr val="5B6475"/>
              </a:solidFill>
            </a:ln>
          </p:spPr>
        </p:sp>
        <p:sp>
          <p:nvSpPr>
            <p:cNvPr id="42" name="Freeform 42"/>
            <p:cNvSpPr/>
            <p:nvPr/>
          </p:nvSpPr>
          <p:spPr>
            <a:xfrm>
              <a:off x="8763952" y="3277552"/>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43" name="Freeform 43"/>
            <p:cNvSpPr/>
            <p:nvPr/>
          </p:nvSpPr>
          <p:spPr>
            <a:xfrm>
              <a:off x="7600950" y="4339590"/>
              <a:ext cx="1352550" cy="137160"/>
            </a:xfrm>
            <a:custGeom>
              <a:avLst/>
              <a:gdLst/>
              <a:ahLst/>
              <a:cxnLst/>
              <a:rect l="l" t="t" r="r" b="b"/>
              <a:pathLst>
                <a:path w="1352550" h="137160">
                  <a:moveTo>
                    <a:pt x="0" y="0"/>
                  </a:moveTo>
                  <a:lnTo>
                    <a:pt x="0" y="120967"/>
                  </a:lnTo>
                  <a:lnTo>
                    <a:pt x="1352550" y="120967"/>
                  </a:lnTo>
                  <a:lnTo>
                    <a:pt x="1352550" y="137160"/>
                  </a:lnTo>
                </a:path>
              </a:pathLst>
            </a:custGeom>
            <a:noFill/>
            <a:ln w="15240">
              <a:solidFill>
                <a:srgbClr val="5B6475"/>
              </a:solidFill>
            </a:ln>
          </p:spPr>
        </p:sp>
        <p:sp>
          <p:nvSpPr>
            <p:cNvPr id="44" name="Freeform 44"/>
            <p:cNvSpPr/>
            <p:nvPr/>
          </p:nvSpPr>
          <p:spPr>
            <a:xfrm>
              <a:off x="8901112" y="447675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5" name="Freeform 45"/>
            <p:cNvSpPr/>
            <p:nvPr/>
          </p:nvSpPr>
          <p:spPr>
            <a:xfrm>
              <a:off x="6437948" y="1692592"/>
              <a:ext cx="2326005" cy="385762"/>
            </a:xfrm>
            <a:custGeom>
              <a:avLst/>
              <a:gdLst/>
              <a:ahLst/>
              <a:cxnLst/>
              <a:rect l="l" t="t" r="r" b="b"/>
              <a:pathLst>
                <a:path w="2326005" h="385762">
                  <a:moveTo>
                    <a:pt x="133350" y="0"/>
                  </a:moveTo>
                  <a:lnTo>
                    <a:pt x="2326005" y="0"/>
                  </a:lnTo>
                  <a:lnTo>
                    <a:pt x="2192655" y="385762"/>
                  </a:lnTo>
                  <a:lnTo>
                    <a:pt x="0" y="385762"/>
                  </a:lnTo>
                  <a:close/>
                </a:path>
              </a:pathLst>
            </a:custGeom>
            <a:solidFill>
              <a:srgbClr val="E7EDF3"/>
            </a:solidFill>
            <a:ln w="13335">
              <a:solidFill>
                <a:srgbClr val="334E68"/>
              </a:solidFill>
            </a:ln>
          </p:spPr>
        </p:sp>
        <p:sp>
          <p:nvSpPr>
            <p:cNvPr id="46" name="Rectangle 46"/>
            <p:cNvSpPr/>
            <p:nvPr/>
          </p:nvSpPr>
          <p:spPr>
            <a:xfrm>
              <a:off x="6437948" y="2414588"/>
              <a:ext cx="2326005" cy="385762"/>
            </a:xfrm>
            <a:prstGeom prst="roundRect">
              <a:avLst>
                <a:gd name="adj" fmla="val 24691"/>
              </a:avLst>
            </a:prstGeom>
            <a:solidFill>
              <a:srgbClr val="FFFFFF"/>
            </a:solidFill>
            <a:ln w="15240">
              <a:solidFill>
                <a:srgbClr val="334E68"/>
              </a:solidFill>
            </a:ln>
          </p:spPr>
        </p:sp>
        <p:sp>
          <p:nvSpPr>
            <p:cNvPr id="47" name="Rectangle 47"/>
            <p:cNvSpPr/>
            <p:nvPr/>
          </p:nvSpPr>
          <p:spPr>
            <a:xfrm>
              <a:off x="9143048" y="2414588"/>
              <a:ext cx="2326005" cy="385762"/>
            </a:xfrm>
            <a:prstGeom prst="roundRect">
              <a:avLst>
                <a:gd name="adj" fmla="val 19753"/>
              </a:avLst>
            </a:prstGeom>
            <a:solidFill>
              <a:srgbClr val="FEF3C7"/>
            </a:solidFill>
            <a:ln>
              <a:noFill/>
            </a:ln>
          </p:spPr>
        </p:sp>
        <p:sp>
          <p:nvSpPr>
            <p:cNvPr id="48" name="Freeform 48"/>
            <p:cNvSpPr/>
            <p:nvPr/>
          </p:nvSpPr>
          <p:spPr>
            <a:xfrm>
              <a:off x="6437948" y="3042285"/>
              <a:ext cx="2326005" cy="575310"/>
            </a:xfrm>
            <a:custGeom>
              <a:avLst/>
              <a:gdLst/>
              <a:ahLst/>
              <a:cxnLst/>
              <a:rect l="l" t="t" r="r" b="b"/>
              <a:pathLst>
                <a:path w="2326005" h="575310">
                  <a:moveTo>
                    <a:pt x="1163003" y="0"/>
                  </a:moveTo>
                  <a:lnTo>
                    <a:pt x="2326005" y="287655"/>
                  </a:lnTo>
                  <a:lnTo>
                    <a:pt x="1163003" y="575310"/>
                  </a:lnTo>
                  <a:lnTo>
                    <a:pt x="0" y="287655"/>
                  </a:lnTo>
                  <a:close/>
                </a:path>
              </a:pathLst>
            </a:custGeom>
            <a:solidFill>
              <a:srgbClr val="FDEEE7"/>
            </a:solidFill>
            <a:ln w="15240">
              <a:solidFill>
                <a:srgbClr val="F26B3A"/>
              </a:solidFill>
            </a:ln>
          </p:spPr>
        </p:sp>
        <p:sp>
          <p:nvSpPr>
            <p:cNvPr id="49" name="Freeform 49"/>
            <p:cNvSpPr/>
            <p:nvPr/>
          </p:nvSpPr>
          <p:spPr>
            <a:xfrm>
              <a:off x="6437948" y="3764280"/>
              <a:ext cx="2326005" cy="575310"/>
            </a:xfrm>
            <a:custGeom>
              <a:avLst/>
              <a:gdLst/>
              <a:ahLst/>
              <a:cxnLst/>
              <a:rect l="l" t="t" r="r" b="b"/>
              <a:pathLst>
                <a:path w="2326005" h="575310">
                  <a:moveTo>
                    <a:pt x="1163003" y="0"/>
                  </a:moveTo>
                  <a:lnTo>
                    <a:pt x="2326005" y="287655"/>
                  </a:lnTo>
                  <a:lnTo>
                    <a:pt x="1163003" y="575310"/>
                  </a:lnTo>
                  <a:lnTo>
                    <a:pt x="0" y="287655"/>
                  </a:lnTo>
                  <a:close/>
                </a:path>
              </a:pathLst>
            </a:custGeom>
            <a:solidFill>
              <a:srgbClr val="FDEEE7"/>
            </a:solidFill>
            <a:ln w="15240">
              <a:solidFill>
                <a:srgbClr val="F26B3A"/>
              </a:solidFill>
            </a:ln>
          </p:spPr>
        </p:sp>
        <p:sp>
          <p:nvSpPr>
            <p:cNvPr id="50" name="Rectangle 50"/>
            <p:cNvSpPr/>
            <p:nvPr/>
          </p:nvSpPr>
          <p:spPr>
            <a:xfrm>
              <a:off x="9143048" y="3859530"/>
              <a:ext cx="2326005" cy="385762"/>
            </a:xfrm>
            <a:prstGeom prst="roundRect">
              <a:avLst>
                <a:gd name="adj" fmla="val 24691"/>
              </a:avLst>
            </a:prstGeom>
            <a:solidFill>
              <a:srgbClr val="E7EDF3"/>
            </a:solidFill>
            <a:ln w="19050">
              <a:solidFill>
                <a:srgbClr val="334E68"/>
              </a:solidFill>
            </a:ln>
          </p:spPr>
        </p:sp>
        <p:sp>
          <p:nvSpPr>
            <p:cNvPr id="51" name="Rectangle 51"/>
            <p:cNvSpPr/>
            <p:nvPr/>
          </p:nvSpPr>
          <p:spPr>
            <a:xfrm>
              <a:off x="6627495" y="4581525"/>
              <a:ext cx="4652962" cy="385762"/>
            </a:xfrm>
            <a:prstGeom prst="roundRect">
              <a:avLst>
                <a:gd name="adj" fmla="val 49877"/>
              </a:avLst>
            </a:prstGeom>
            <a:solidFill>
              <a:srgbClr val="334E68"/>
            </a:solidFill>
            <a:ln>
              <a:noFill/>
            </a:ln>
          </p:spPr>
        </p:sp>
        <p:sp>
          <p:nvSpPr>
            <p:cNvPr id="52" name="TextBox 52"/>
            <p:cNvSpPr txBox="1"/>
            <p:nvPr/>
          </p:nvSpPr>
          <p:spPr>
            <a:xfrm>
              <a:off x="7161759" y="1806416"/>
              <a:ext cx="878383"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输入：{x≥0}</a:t>
              </a:r>
            </a:p>
          </p:txBody>
        </p:sp>
        <p:sp>
          <p:nvSpPr>
            <p:cNvPr id="53" name="TextBox 53"/>
            <p:cNvSpPr txBox="1"/>
            <p:nvPr/>
          </p:nvSpPr>
          <p:spPr>
            <a:xfrm>
              <a:off x="7384151" y="2529364"/>
              <a:ext cx="433598"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 := 0</a:t>
              </a:r>
            </a:p>
          </p:txBody>
        </p:sp>
        <p:sp>
          <p:nvSpPr>
            <p:cNvPr id="54" name="TextBox 54"/>
            <p:cNvSpPr txBox="1"/>
            <p:nvPr/>
          </p:nvSpPr>
          <p:spPr>
            <a:xfrm>
              <a:off x="9881936" y="2529364"/>
              <a:ext cx="848228"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{x≥0 ∧ y=0}</a:t>
              </a:r>
            </a:p>
          </p:txBody>
        </p:sp>
        <p:sp>
          <p:nvSpPr>
            <p:cNvPr id="55" name="TextBox 55"/>
            <p:cNvSpPr txBox="1"/>
            <p:nvPr/>
          </p:nvSpPr>
          <p:spPr>
            <a:xfrm>
              <a:off x="7120296" y="3251359"/>
              <a:ext cx="961309"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循环：{y²≤x}</a:t>
              </a:r>
            </a:p>
          </p:txBody>
        </p:sp>
        <p:sp>
          <p:nvSpPr>
            <p:cNvPr id="56" name="TextBox 56"/>
            <p:cNvSpPr txBox="1"/>
            <p:nvPr/>
          </p:nvSpPr>
          <p:spPr>
            <a:xfrm>
              <a:off x="7199452" y="3973354"/>
              <a:ext cx="80299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(y+1)²≤x ?</a:t>
              </a:r>
            </a:p>
          </p:txBody>
        </p:sp>
        <p:sp>
          <p:nvSpPr>
            <p:cNvPr id="57" name="TextBox 57"/>
            <p:cNvSpPr txBox="1"/>
            <p:nvPr/>
          </p:nvSpPr>
          <p:spPr>
            <a:xfrm>
              <a:off x="10006325" y="3973354"/>
              <a:ext cx="5994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 := y+1</a:t>
              </a:r>
            </a:p>
          </p:txBody>
        </p:sp>
        <p:sp>
          <p:nvSpPr>
            <p:cNvPr id="58" name="TextBox 58"/>
            <p:cNvSpPr txBox="1"/>
            <p:nvPr/>
          </p:nvSpPr>
          <p:spPr>
            <a:xfrm>
              <a:off x="7846566" y="4696301"/>
              <a:ext cx="2213867"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输出：{x 不变 ∧ y²≤x&lt;(y+1)²}</a:t>
              </a:r>
            </a:p>
          </p:txBody>
        </p:sp>
        <p:sp>
          <p:nvSpPr>
            <p:cNvPr id="59" name="Rectangle 59"/>
            <p:cNvSpPr/>
            <p:nvPr/>
          </p:nvSpPr>
          <p:spPr>
            <a:xfrm>
              <a:off x="8874442" y="3855720"/>
              <a:ext cx="158115" cy="165735"/>
            </a:xfrm>
            <a:prstGeom prst="roundRect">
              <a:avLst>
                <a:gd name="adj" fmla="val 24096"/>
              </a:avLst>
            </a:prstGeom>
            <a:solidFill>
              <a:srgbClr val="FFFFFF"/>
            </a:solidFill>
            <a:ln>
              <a:noFill/>
            </a:ln>
          </p:spPr>
        </p:sp>
        <p:sp>
          <p:nvSpPr>
            <p:cNvPr id="60" name="TextBox 60"/>
            <p:cNvSpPr txBox="1"/>
            <p:nvPr/>
          </p:nvSpPr>
          <p:spPr>
            <a:xfrm>
              <a:off x="8913533" y="3878580"/>
              <a:ext cx="7993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T</a:t>
              </a:r>
            </a:p>
          </p:txBody>
        </p:sp>
        <p:sp>
          <p:nvSpPr>
            <p:cNvPr id="61" name="Rectangle 61"/>
            <p:cNvSpPr/>
            <p:nvPr/>
          </p:nvSpPr>
          <p:spPr>
            <a:xfrm>
              <a:off x="9937432" y="3133725"/>
              <a:ext cx="323850" cy="165735"/>
            </a:xfrm>
            <a:prstGeom prst="roundRect">
              <a:avLst>
                <a:gd name="adj" fmla="val 22989"/>
              </a:avLst>
            </a:prstGeom>
            <a:solidFill>
              <a:srgbClr val="FFFFFF"/>
            </a:solidFill>
            <a:ln>
              <a:noFill/>
            </a:ln>
          </p:spPr>
        </p:sp>
        <p:sp>
          <p:nvSpPr>
            <p:cNvPr id="62" name="TextBox 62"/>
            <p:cNvSpPr txBox="1"/>
            <p:nvPr/>
          </p:nvSpPr>
          <p:spPr>
            <a:xfrm>
              <a:off x="9973437" y="3156585"/>
              <a:ext cx="251841"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继续</a:t>
              </a:r>
            </a:p>
          </p:txBody>
        </p:sp>
        <p:sp>
          <p:nvSpPr>
            <p:cNvPr id="63" name="Rectangle 63"/>
            <p:cNvSpPr/>
            <p:nvPr/>
          </p:nvSpPr>
          <p:spPr>
            <a:xfrm>
              <a:off x="8198168" y="4387215"/>
              <a:ext cx="158115" cy="165735"/>
            </a:xfrm>
            <a:prstGeom prst="roundRect">
              <a:avLst>
                <a:gd name="adj" fmla="val 24096"/>
              </a:avLst>
            </a:prstGeom>
            <a:solidFill>
              <a:srgbClr val="FFFFFF"/>
            </a:solidFill>
            <a:ln>
              <a:noFill/>
            </a:ln>
          </p:spPr>
        </p:sp>
        <p:sp>
          <p:nvSpPr>
            <p:cNvPr id="64" name="TextBox 64"/>
            <p:cNvSpPr txBox="1"/>
            <p:nvPr/>
          </p:nvSpPr>
          <p:spPr>
            <a:xfrm>
              <a:off x="8237258" y="4410075"/>
              <a:ext cx="7993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F</a:t>
              </a:r>
            </a:p>
          </p:txBody>
        </p:sp>
      </p:grpSp>
      <p:grpSp>
        <p:nvGrpSpPr>
          <p:cNvPr id="72" name="c2-callout-2"/>
          <p:cNvGrpSpPr/>
          <p:nvPr/>
        </p:nvGrpSpPr>
        <p:grpSpPr>
          <a:xfrm>
            <a:off x="6248400" y="5305425"/>
            <a:ext cx="5410200" cy="978218"/>
            <a:chOff x="6248400" y="5305425"/>
            <a:chExt cx="5410200" cy="978218"/>
          </a:xfrm>
        </p:grpSpPr>
        <p:sp>
          <p:nvSpPr>
            <p:cNvPr id="66" name="Rectangle 66"/>
            <p:cNvSpPr/>
            <p:nvPr/>
          </p:nvSpPr>
          <p:spPr>
            <a:xfrm>
              <a:off x="6248400" y="5305425"/>
              <a:ext cx="5410200" cy="978218"/>
            </a:xfrm>
            <a:prstGeom prst="roundRect">
              <a:avLst>
                <a:gd name="adj" fmla="val 11685"/>
              </a:avLst>
            </a:prstGeom>
            <a:solidFill>
              <a:srgbClr val="F4F6FB"/>
            </a:solidFill>
            <a:ln>
              <a:noFill/>
            </a:ln>
          </p:spPr>
        </p:sp>
        <p:grpSp>
          <p:nvGrpSpPr>
            <p:cNvPr id="70" name="Group 70"/>
            <p:cNvGrpSpPr/>
            <p:nvPr/>
          </p:nvGrpSpPr>
          <p:grpSpPr>
            <a:xfrm>
              <a:off x="6453188" y="5694998"/>
              <a:ext cx="200026" cy="200026"/>
              <a:chOff x="6453188" y="5694998"/>
              <a:chExt cx="200026" cy="200026"/>
            </a:xfrm>
          </p:grpSpPr>
          <p:sp>
            <p:nvSpPr>
              <p:cNvPr id="67" name="Freeform 67"/>
              <p:cNvSpPr/>
              <p:nvPr/>
            </p:nvSpPr>
            <p:spPr>
              <a:xfrm>
                <a:off x="6453188" y="569499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8" name="Freeform 68"/>
              <p:cNvSpPr/>
              <p:nvPr/>
            </p:nvSpPr>
            <p:spPr>
              <a:xfrm>
                <a:off x="6553200" y="576167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9" name="Freeform 69"/>
              <p:cNvSpPr/>
              <p:nvPr/>
            </p:nvSpPr>
            <p:spPr>
              <a:xfrm>
                <a:off x="6542088" y="579501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1" name="TextBox 71"/>
            <p:cNvSpPr txBox="1"/>
            <p:nvPr/>
          </p:nvSpPr>
          <p:spPr>
            <a:xfrm>
              <a:off x="6755892" y="5452110"/>
              <a:ext cx="4317111"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这段程序求正整数 x 平方根的正整数部分：出口断言 y²≤</a:t>
              </a:r>
              <a:br/>
              <a:r>
                <a:rPr lang="zh-CN" sz="1350" dirty="0">
                  <a:solidFill>
                    <a:srgbClr val="1F2937"/>
                  </a:solidFill>
                  <a:latin typeface="+mn-lt"/>
                  <a:ea typeface="+mn-ea"/>
                  <a:cs typeface="+mn-cs"/>
                </a:rPr>
                <a:t>x&lt;(y+1)² 正好就是“y 是平方根的整数部分”的形式化写</a:t>
              </a:r>
              <a:br/>
              <a:r>
                <a:rPr lang="zh-CN" sz="1350" dirty="0">
                  <a:solidFill>
                    <a:srgbClr val="1F2937"/>
                  </a:solidFill>
                  <a:latin typeface="+mn-lt"/>
                  <a:ea typeface="+mn-ea"/>
                  <a:cs typeface="+mn-cs"/>
                </a:rPr>
                <a:t>法。</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63</a:t>
              </a:r>
            </a:p>
          </p:txBody>
        </p:sp>
      </p:grpSp>
    </p:spTree>
  </p:cSld>
  <p:clrMapOvr>
    <a:masterClrMapping/>
  </p:clrMapOvr>
  <p:transition xmlns:p14="http://schemas.microsoft.com/office/powerpoint/2010/main" p14:dur="400">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055751" cy="909257"/>
            <a:chOff x="520446" y="342900"/>
            <a:chExt cx="1055751"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自测</a:t>
              </a:r>
            </a:p>
          </p:txBody>
        </p:sp>
        <p:sp>
          <p:nvSpPr>
            <p:cNvPr id="4" name="TextBox 4"/>
            <p:cNvSpPr txBox="1"/>
            <p:nvPr/>
          </p:nvSpPr>
          <p:spPr>
            <a:xfrm>
              <a:off x="520446" y="753428"/>
              <a:ext cx="105575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161" y="1547336"/>
            <a:ext cx="3837686" cy="278702"/>
            <a:chOff x="526161" y="1547336"/>
            <a:chExt cx="3837686" cy="278702"/>
          </a:xfrm>
        </p:grpSpPr>
        <p:sp>
          <p:nvSpPr>
            <p:cNvPr id="7" name="TextBox 7"/>
            <p:cNvSpPr txBox="1"/>
            <p:nvPr/>
          </p:nvSpPr>
          <p:spPr>
            <a:xfrm>
              <a:off x="526161" y="1547336"/>
              <a:ext cx="3837686"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先自己写答案，再对照。计算题要写出过程。</a:t>
              </a:r>
            </a:p>
          </p:txBody>
        </p:sp>
      </p:grpSp>
      <p:grpSp>
        <p:nvGrpSpPr>
          <p:cNvPr id="14" name="c1-card-1"/>
          <p:cNvGrpSpPr/>
          <p:nvPr/>
        </p:nvGrpSpPr>
        <p:grpSpPr>
          <a:xfrm>
            <a:off x="533400" y="1941195"/>
            <a:ext cx="3505200" cy="1768792"/>
            <a:chOff x="533400" y="1941195"/>
            <a:chExt cx="3505200" cy="1768792"/>
          </a:xfrm>
        </p:grpSpPr>
        <p:sp>
          <p:nvSpPr>
            <p:cNvPr id="9" name="Rectangle 9"/>
            <p:cNvSpPr/>
            <p:nvPr/>
          </p:nvSpPr>
          <p:spPr>
            <a:xfrm>
              <a:off x="533400" y="1941195"/>
              <a:ext cx="3505200" cy="1768792"/>
            </a:xfrm>
            <a:prstGeom prst="roundRect">
              <a:avLst>
                <a:gd name="adj" fmla="val 7539"/>
              </a:avLst>
            </a:prstGeom>
            <a:solidFill>
              <a:srgbClr val="F4F6FB"/>
            </a:solidFill>
            <a:ln>
              <a:noFill/>
            </a:ln>
          </p:spPr>
        </p:sp>
        <p:sp>
          <p:nvSpPr>
            <p:cNvPr id="10" name="Rectangle 10"/>
            <p:cNvSpPr/>
            <p:nvPr/>
          </p:nvSpPr>
          <p:spPr>
            <a:xfrm>
              <a:off x="725805" y="2133600"/>
              <a:ext cx="391478" cy="247650"/>
            </a:xfrm>
            <a:prstGeom prst="roundRect">
              <a:avLst>
                <a:gd name="adj" fmla="val 50000"/>
              </a:avLst>
            </a:prstGeom>
            <a:solidFill>
              <a:srgbClr val="E7EDF3"/>
            </a:solidFill>
            <a:ln>
              <a:noFill/>
            </a:ln>
          </p:spPr>
        </p:sp>
        <p:sp>
          <p:nvSpPr>
            <p:cNvPr id="11" name="TextBox 11"/>
            <p:cNvSpPr txBox="1"/>
            <p:nvPr/>
          </p:nvSpPr>
          <p:spPr>
            <a:xfrm>
              <a:off x="814753" y="2167890"/>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Q1</a:t>
              </a:r>
            </a:p>
          </p:txBody>
        </p:sp>
        <p:sp>
          <p:nvSpPr>
            <p:cNvPr id="12" name="TextBox 12"/>
            <p:cNvSpPr txBox="1"/>
            <p:nvPr/>
          </p:nvSpPr>
          <p:spPr>
            <a:xfrm>
              <a:off x="718947" y="2490788"/>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测试的目标是什么？调试的目标又是什</a:t>
              </a:r>
              <a:br/>
              <a:r>
                <a:rPr lang="zh-CN" sz="1350" b="1" dirty="0">
                  <a:solidFill>
                    <a:srgbClr val="1F2937"/>
                  </a:solidFill>
                  <a:latin typeface="+mn-lt"/>
                  <a:ea typeface="+mn-ea"/>
                  <a:cs typeface="+mn-cs"/>
                </a:rPr>
                <a:t>么？</a:t>
              </a:r>
            </a:p>
          </p:txBody>
        </p:sp>
        <p:sp>
          <p:nvSpPr>
            <p:cNvPr id="13" name="TextBox 13"/>
            <p:cNvSpPr txBox="1"/>
            <p:nvPr/>
          </p:nvSpPr>
          <p:spPr>
            <a:xfrm>
              <a:off x="718947" y="3049905"/>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测试为发现错误，调试为诊断并改</a:t>
              </a:r>
              <a:br/>
              <a:r>
                <a:rPr lang="zh-CN" sz="1350" dirty="0">
                  <a:solidFill>
                    <a:srgbClr val="1F2937"/>
                  </a:solidFill>
                  <a:latin typeface="+mn-lt"/>
                  <a:ea typeface="+mn-ea"/>
                  <a:cs typeface="+mn-cs"/>
                </a:rPr>
                <a:t>正错误。</a:t>
              </a:r>
            </a:p>
          </p:txBody>
        </p:sp>
      </p:grpSp>
      <p:grpSp>
        <p:nvGrpSpPr>
          <p:cNvPr id="20" name="c1-card-2"/>
          <p:cNvGrpSpPr/>
          <p:nvPr/>
        </p:nvGrpSpPr>
        <p:grpSpPr>
          <a:xfrm>
            <a:off x="533400" y="3886200"/>
            <a:ext cx="3505200" cy="1768792"/>
            <a:chOff x="533400" y="3886200"/>
            <a:chExt cx="3505200" cy="1768792"/>
          </a:xfrm>
        </p:grpSpPr>
        <p:sp>
          <p:nvSpPr>
            <p:cNvPr id="15" name="Rectangle 15"/>
            <p:cNvSpPr/>
            <p:nvPr/>
          </p:nvSpPr>
          <p:spPr>
            <a:xfrm>
              <a:off x="533400" y="3886200"/>
              <a:ext cx="3505200" cy="1768792"/>
            </a:xfrm>
            <a:prstGeom prst="roundRect">
              <a:avLst>
                <a:gd name="adj" fmla="val 7539"/>
              </a:avLst>
            </a:prstGeom>
            <a:solidFill>
              <a:srgbClr val="F4F6FB"/>
            </a:solidFill>
            <a:ln>
              <a:noFill/>
            </a:ln>
          </p:spPr>
        </p:sp>
        <p:sp>
          <p:nvSpPr>
            <p:cNvPr id="16" name="Rectangle 16"/>
            <p:cNvSpPr/>
            <p:nvPr/>
          </p:nvSpPr>
          <p:spPr>
            <a:xfrm>
              <a:off x="725805" y="4078605"/>
              <a:ext cx="391478" cy="247650"/>
            </a:xfrm>
            <a:prstGeom prst="roundRect">
              <a:avLst>
                <a:gd name="adj" fmla="val 50000"/>
              </a:avLst>
            </a:prstGeom>
            <a:solidFill>
              <a:srgbClr val="E7EDF3"/>
            </a:solidFill>
            <a:ln>
              <a:noFill/>
            </a:ln>
          </p:spPr>
        </p:sp>
        <p:sp>
          <p:nvSpPr>
            <p:cNvPr id="17" name="TextBox 17"/>
            <p:cNvSpPr txBox="1"/>
            <p:nvPr/>
          </p:nvSpPr>
          <p:spPr>
            <a:xfrm>
              <a:off x="814753" y="4112895"/>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Q4</a:t>
              </a:r>
            </a:p>
          </p:txBody>
        </p:sp>
        <p:sp>
          <p:nvSpPr>
            <p:cNvPr id="18" name="TextBox 18"/>
            <p:cNvSpPr txBox="1"/>
            <p:nvPr/>
          </p:nvSpPr>
          <p:spPr>
            <a:xfrm>
              <a:off x="718947" y="4434840"/>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自顶向下集成和自底向上集成分别要写</a:t>
              </a:r>
              <a:br/>
              <a:r>
                <a:rPr lang="zh-CN" sz="1350" b="1" dirty="0">
                  <a:solidFill>
                    <a:srgbClr val="1F2937"/>
                  </a:solidFill>
                  <a:latin typeface="+mn-lt"/>
                  <a:ea typeface="+mn-ea"/>
                  <a:cs typeface="+mn-cs"/>
                </a:rPr>
                <a:t>驱动还是存根？</a:t>
              </a:r>
            </a:p>
          </p:txBody>
        </p:sp>
        <p:sp>
          <p:nvSpPr>
            <p:cNvPr id="19" name="TextBox 19"/>
            <p:cNvSpPr txBox="1"/>
            <p:nvPr/>
          </p:nvSpPr>
          <p:spPr>
            <a:xfrm>
              <a:off x="718947" y="4994910"/>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自顶向下要存根不要驱动；自底向</a:t>
              </a:r>
              <a:br/>
              <a:r>
                <a:rPr lang="zh-CN" sz="1350" dirty="0">
                  <a:solidFill>
                    <a:srgbClr val="1F2937"/>
                  </a:solidFill>
                  <a:latin typeface="+mn-lt"/>
                  <a:ea typeface="+mn-ea"/>
                  <a:cs typeface="+mn-cs"/>
                </a:rPr>
                <a:t>上要驱动不要存根。</a:t>
              </a:r>
            </a:p>
          </p:txBody>
        </p:sp>
      </p:grpSp>
      <p:grpSp>
        <p:nvGrpSpPr>
          <p:cNvPr id="26" name="c2-card-1"/>
          <p:cNvGrpSpPr/>
          <p:nvPr/>
        </p:nvGrpSpPr>
        <p:grpSpPr>
          <a:xfrm>
            <a:off x="4343400" y="1941195"/>
            <a:ext cx="3505200" cy="1768792"/>
            <a:chOff x="4343400" y="1941195"/>
            <a:chExt cx="3505200" cy="1768792"/>
          </a:xfrm>
        </p:grpSpPr>
        <p:sp>
          <p:nvSpPr>
            <p:cNvPr id="21" name="Rectangle 21"/>
            <p:cNvSpPr/>
            <p:nvPr/>
          </p:nvSpPr>
          <p:spPr>
            <a:xfrm>
              <a:off x="4343400" y="1941195"/>
              <a:ext cx="3505200" cy="1768792"/>
            </a:xfrm>
            <a:prstGeom prst="roundRect">
              <a:avLst>
                <a:gd name="adj" fmla="val 7539"/>
              </a:avLst>
            </a:prstGeom>
            <a:solidFill>
              <a:srgbClr val="F4F6FB"/>
            </a:solidFill>
            <a:ln>
              <a:noFill/>
            </a:ln>
          </p:spPr>
        </p:sp>
        <p:sp>
          <p:nvSpPr>
            <p:cNvPr id="22" name="Rectangle 22"/>
            <p:cNvSpPr/>
            <p:nvPr/>
          </p:nvSpPr>
          <p:spPr>
            <a:xfrm>
              <a:off x="4535805" y="2133600"/>
              <a:ext cx="391478" cy="247650"/>
            </a:xfrm>
            <a:prstGeom prst="roundRect">
              <a:avLst>
                <a:gd name="adj" fmla="val 50000"/>
              </a:avLst>
            </a:prstGeom>
            <a:solidFill>
              <a:srgbClr val="E7EDF3"/>
            </a:solidFill>
            <a:ln>
              <a:noFill/>
            </a:ln>
          </p:spPr>
        </p:sp>
        <p:sp>
          <p:nvSpPr>
            <p:cNvPr id="23" name="TextBox 23"/>
            <p:cNvSpPr txBox="1"/>
            <p:nvPr/>
          </p:nvSpPr>
          <p:spPr>
            <a:xfrm>
              <a:off x="4624753" y="2167890"/>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Q2</a:t>
              </a:r>
            </a:p>
          </p:txBody>
        </p:sp>
        <p:sp>
          <p:nvSpPr>
            <p:cNvPr id="24" name="TextBox 24"/>
            <p:cNvSpPr txBox="1"/>
            <p:nvPr/>
          </p:nvSpPr>
          <p:spPr>
            <a:xfrm>
              <a:off x="4528947" y="2490788"/>
              <a:ext cx="275691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序言性注释和功能性注释分别放在哪</a:t>
              </a:r>
              <a:br/>
              <a:r>
                <a:rPr lang="zh-CN" sz="1350" b="1" dirty="0">
                  <a:solidFill>
                    <a:srgbClr val="1F2937"/>
                  </a:solidFill>
                  <a:latin typeface="+mn-lt"/>
                  <a:ea typeface="+mn-ea"/>
                  <a:cs typeface="+mn-cs"/>
                </a:rPr>
                <a:t>里？</a:t>
              </a:r>
            </a:p>
          </p:txBody>
        </p:sp>
        <p:sp>
          <p:nvSpPr>
            <p:cNvPr id="25" name="TextBox 25"/>
            <p:cNvSpPr txBox="1"/>
            <p:nvPr/>
          </p:nvSpPr>
          <p:spPr>
            <a:xfrm>
              <a:off x="4528947" y="3049905"/>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前者在模块开头说明整体，后者嵌</a:t>
              </a:r>
              <a:br/>
              <a:r>
                <a:rPr lang="zh-CN" sz="1350" dirty="0">
                  <a:solidFill>
                    <a:srgbClr val="1F2937"/>
                  </a:solidFill>
                  <a:latin typeface="+mn-lt"/>
                  <a:ea typeface="+mn-ea"/>
                  <a:cs typeface="+mn-cs"/>
                </a:rPr>
                <a:t>在程序体里说明这段在做什么。</a:t>
              </a:r>
            </a:p>
          </p:txBody>
        </p:sp>
      </p:grpSp>
      <p:grpSp>
        <p:nvGrpSpPr>
          <p:cNvPr id="32" name="c2-card-2"/>
          <p:cNvGrpSpPr/>
          <p:nvPr/>
        </p:nvGrpSpPr>
        <p:grpSpPr>
          <a:xfrm>
            <a:off x="4343400" y="3886200"/>
            <a:ext cx="3505200" cy="1768792"/>
            <a:chOff x="4343400" y="3886200"/>
            <a:chExt cx="3505200" cy="1768792"/>
          </a:xfrm>
        </p:grpSpPr>
        <p:sp>
          <p:nvSpPr>
            <p:cNvPr id="27" name="Rectangle 27"/>
            <p:cNvSpPr/>
            <p:nvPr/>
          </p:nvSpPr>
          <p:spPr>
            <a:xfrm>
              <a:off x="4343400" y="3886200"/>
              <a:ext cx="3505200" cy="1768792"/>
            </a:xfrm>
            <a:prstGeom prst="roundRect">
              <a:avLst>
                <a:gd name="adj" fmla="val 7539"/>
              </a:avLst>
            </a:prstGeom>
            <a:solidFill>
              <a:srgbClr val="F4F6FB"/>
            </a:solidFill>
            <a:ln>
              <a:noFill/>
            </a:ln>
          </p:spPr>
        </p:sp>
        <p:sp>
          <p:nvSpPr>
            <p:cNvPr id="28" name="Rectangle 28"/>
            <p:cNvSpPr/>
            <p:nvPr/>
          </p:nvSpPr>
          <p:spPr>
            <a:xfrm>
              <a:off x="4535805" y="4078605"/>
              <a:ext cx="391478" cy="247650"/>
            </a:xfrm>
            <a:prstGeom prst="roundRect">
              <a:avLst>
                <a:gd name="adj" fmla="val 50000"/>
              </a:avLst>
            </a:prstGeom>
            <a:solidFill>
              <a:srgbClr val="E7EDF3"/>
            </a:solidFill>
            <a:ln>
              <a:noFill/>
            </a:ln>
          </p:spPr>
        </p:sp>
        <p:sp>
          <p:nvSpPr>
            <p:cNvPr id="29" name="TextBox 29"/>
            <p:cNvSpPr txBox="1"/>
            <p:nvPr/>
          </p:nvSpPr>
          <p:spPr>
            <a:xfrm>
              <a:off x="4624753" y="4112895"/>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Q5</a:t>
              </a:r>
            </a:p>
          </p:txBody>
        </p:sp>
        <p:sp>
          <p:nvSpPr>
            <p:cNvPr id="30" name="TextBox 30"/>
            <p:cNvSpPr txBox="1"/>
            <p:nvPr/>
          </p:nvSpPr>
          <p:spPr>
            <a:xfrm>
              <a:off x="4528947" y="4434840"/>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条件覆盖一定比判定覆盖强吗？六种覆</a:t>
              </a:r>
              <a:br/>
              <a:r>
                <a:rPr lang="zh-CN" sz="1350" b="1" dirty="0">
                  <a:solidFill>
                    <a:srgbClr val="1F2937"/>
                  </a:solidFill>
                  <a:latin typeface="+mn-lt"/>
                  <a:ea typeface="+mn-ea"/>
                  <a:cs typeface="+mn-cs"/>
                </a:rPr>
                <a:t>盖里哪个最强？</a:t>
              </a:r>
            </a:p>
          </p:txBody>
        </p:sp>
        <p:sp>
          <p:nvSpPr>
            <p:cNvPr id="31" name="TextBox 31"/>
            <p:cNvSpPr txBox="1"/>
            <p:nvPr/>
          </p:nvSpPr>
          <p:spPr>
            <a:xfrm>
              <a:off x="4528947" y="4994910"/>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条件覆盖与判定覆盖互不包含；条</a:t>
              </a:r>
              <a:br/>
              <a:r>
                <a:rPr lang="zh-CN" sz="1350" dirty="0">
                  <a:solidFill>
                    <a:srgbClr val="1F2937"/>
                  </a:solidFill>
                  <a:latin typeface="+mn-lt"/>
                  <a:ea typeface="+mn-ea"/>
                  <a:cs typeface="+mn-cs"/>
                </a:rPr>
                <a:t>件组合覆盖最强，但仍可能漏掉路径。</a:t>
              </a:r>
            </a:p>
          </p:txBody>
        </p:sp>
      </p:grpSp>
      <p:grpSp>
        <p:nvGrpSpPr>
          <p:cNvPr id="38" name="c3-card-1"/>
          <p:cNvGrpSpPr/>
          <p:nvPr/>
        </p:nvGrpSpPr>
        <p:grpSpPr>
          <a:xfrm>
            <a:off x="8153400" y="1941195"/>
            <a:ext cx="3505200" cy="1768792"/>
            <a:chOff x="8153400" y="1941195"/>
            <a:chExt cx="3505200" cy="1768792"/>
          </a:xfrm>
        </p:grpSpPr>
        <p:sp>
          <p:nvSpPr>
            <p:cNvPr id="33" name="Rectangle 33"/>
            <p:cNvSpPr/>
            <p:nvPr/>
          </p:nvSpPr>
          <p:spPr>
            <a:xfrm>
              <a:off x="8153400" y="1941195"/>
              <a:ext cx="3505200" cy="1768792"/>
            </a:xfrm>
            <a:prstGeom prst="roundRect">
              <a:avLst>
                <a:gd name="adj" fmla="val 7539"/>
              </a:avLst>
            </a:prstGeom>
            <a:solidFill>
              <a:srgbClr val="F4F6FB"/>
            </a:solidFill>
            <a:ln>
              <a:noFill/>
            </a:ln>
          </p:spPr>
        </p:sp>
        <p:sp>
          <p:nvSpPr>
            <p:cNvPr id="34" name="Rectangle 34"/>
            <p:cNvSpPr/>
            <p:nvPr/>
          </p:nvSpPr>
          <p:spPr>
            <a:xfrm>
              <a:off x="8345805" y="2133600"/>
              <a:ext cx="391478" cy="247650"/>
            </a:xfrm>
            <a:prstGeom prst="roundRect">
              <a:avLst>
                <a:gd name="adj" fmla="val 50000"/>
              </a:avLst>
            </a:prstGeom>
            <a:solidFill>
              <a:srgbClr val="E7EDF3"/>
            </a:solidFill>
            <a:ln>
              <a:noFill/>
            </a:ln>
          </p:spPr>
        </p:sp>
        <p:sp>
          <p:nvSpPr>
            <p:cNvPr id="35" name="TextBox 35"/>
            <p:cNvSpPr txBox="1"/>
            <p:nvPr/>
          </p:nvSpPr>
          <p:spPr>
            <a:xfrm>
              <a:off x="8434753" y="2167890"/>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Q3</a:t>
              </a:r>
            </a:p>
          </p:txBody>
        </p:sp>
        <p:sp>
          <p:nvSpPr>
            <p:cNvPr id="36" name="TextBox 36"/>
            <p:cNvSpPr txBox="1"/>
            <p:nvPr/>
          </p:nvSpPr>
          <p:spPr>
            <a:xfrm>
              <a:off x="8338947" y="2490788"/>
              <a:ext cx="2882503"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“班委测试里，（队长，12）为什么不</a:t>
              </a:r>
              <a:br/>
              <a:r>
                <a:rPr lang="zh-CN" sz="1350" b="1" dirty="0">
                  <a:solidFill>
                    <a:srgbClr val="1F2937"/>
                  </a:solidFill>
                  <a:latin typeface="+mn-lt"/>
                  <a:ea typeface="+mn-ea"/>
                  <a:cs typeface="+mn-cs"/>
                </a:rPr>
                <a:t>是好用例？”</a:t>
              </a:r>
            </a:p>
          </p:txBody>
        </p:sp>
        <p:sp>
          <p:nvSpPr>
            <p:cNvPr id="37" name="TextBox 37"/>
            <p:cNvSpPr txBox="1"/>
            <p:nvPr/>
          </p:nvSpPr>
          <p:spPr>
            <a:xfrm>
              <a:off x="8338947" y="3049905"/>
              <a:ext cx="29283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职务与年龄各属一个无效等价类，</a:t>
              </a:r>
              <a:br/>
              <a:r>
                <a:rPr lang="zh-CN" sz="1350" dirty="0">
                  <a:solidFill>
                    <a:srgbClr val="1F2937"/>
                  </a:solidFill>
                  <a:latin typeface="+mn-lt"/>
                  <a:ea typeface="+mn-ea"/>
                  <a:cs typeface="+mn-cs"/>
                </a:rPr>
                <a:t>两种错误会互相掩盖。</a:t>
              </a:r>
            </a:p>
          </p:txBody>
        </p:sp>
      </p:grpSp>
      <p:grpSp>
        <p:nvGrpSpPr>
          <p:cNvPr id="44" name="c3-card-2"/>
          <p:cNvGrpSpPr/>
          <p:nvPr/>
        </p:nvGrpSpPr>
        <p:grpSpPr>
          <a:xfrm>
            <a:off x="8153400" y="3886200"/>
            <a:ext cx="3505200" cy="1768792"/>
            <a:chOff x="8153400" y="3886200"/>
            <a:chExt cx="3505200" cy="1768792"/>
          </a:xfrm>
        </p:grpSpPr>
        <p:sp>
          <p:nvSpPr>
            <p:cNvPr id="39" name="Rectangle 39"/>
            <p:cNvSpPr/>
            <p:nvPr/>
          </p:nvSpPr>
          <p:spPr>
            <a:xfrm>
              <a:off x="8153400" y="3886200"/>
              <a:ext cx="3505200" cy="1768792"/>
            </a:xfrm>
            <a:prstGeom prst="roundRect">
              <a:avLst>
                <a:gd name="adj" fmla="val 7539"/>
              </a:avLst>
            </a:prstGeom>
            <a:solidFill>
              <a:srgbClr val="F4F6FB"/>
            </a:solidFill>
            <a:ln>
              <a:noFill/>
            </a:ln>
          </p:spPr>
        </p:sp>
        <p:sp>
          <p:nvSpPr>
            <p:cNvPr id="40" name="Rectangle 40"/>
            <p:cNvSpPr/>
            <p:nvPr/>
          </p:nvSpPr>
          <p:spPr>
            <a:xfrm>
              <a:off x="8345805" y="4078605"/>
              <a:ext cx="391478" cy="247650"/>
            </a:xfrm>
            <a:prstGeom prst="roundRect">
              <a:avLst>
                <a:gd name="adj" fmla="val 50000"/>
              </a:avLst>
            </a:prstGeom>
            <a:solidFill>
              <a:srgbClr val="E7EDF3"/>
            </a:solidFill>
            <a:ln>
              <a:noFill/>
            </a:ln>
          </p:spPr>
        </p:sp>
        <p:sp>
          <p:nvSpPr>
            <p:cNvPr id="41" name="TextBox 41"/>
            <p:cNvSpPr txBox="1"/>
            <p:nvPr/>
          </p:nvSpPr>
          <p:spPr>
            <a:xfrm>
              <a:off x="8434753" y="4112895"/>
              <a:ext cx="214533" cy="205359"/>
            </a:xfrm>
            <a:prstGeom prst="rect">
              <a:avLst/>
            </a:prstGeom>
            <a:noFill/>
            <a:ln>
              <a:noFill/>
            </a:ln>
          </p:spPr>
          <p:txBody>
            <a:bodyPr wrap="none" lIns="0" tIns="0" rIns="0" bIns="0" anchor="t" anchorCtr="0">
              <a:spAutoFit/>
            </a:bodyPr>
            <a:lstStyle/>
            <a:p>
              <a:pPr algn="ctr"/>
              <a:r>
                <a:rPr lang="en-US" sz="1050" b="1" dirty="0">
                  <a:solidFill>
                    <a:srgbClr val="334E68"/>
                  </a:solidFill>
                  <a:latin typeface="+mn-lt"/>
                  <a:ea typeface="+mn-ea"/>
                  <a:cs typeface="+mn-cs"/>
                </a:rPr>
                <a:t>Q6</a:t>
              </a:r>
            </a:p>
          </p:txBody>
        </p:sp>
        <p:sp>
          <p:nvSpPr>
            <p:cNvPr id="42" name="TextBox 42"/>
            <p:cNvSpPr txBox="1"/>
            <p:nvPr/>
          </p:nvSpPr>
          <p:spPr>
            <a:xfrm>
              <a:off x="8338947" y="4434840"/>
              <a:ext cx="2907792"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“程序长 20000 条指令，错误 60 个，</a:t>
              </a:r>
              <a:br/>
              <a:r>
                <a:rPr lang="zh-CN" sz="1350" b="1" dirty="0">
                  <a:solidFill>
                    <a:srgbClr val="1F2937"/>
                  </a:solidFill>
                  <a:latin typeface="+mn-lt"/>
                  <a:ea typeface="+mn-ea"/>
                  <a:cs typeface="+mn-cs"/>
                </a:rPr>
                <a:t>已改正 40 个，K=100，求 MTTF。”</a:t>
              </a:r>
            </a:p>
          </p:txBody>
        </p:sp>
        <p:sp>
          <p:nvSpPr>
            <p:cNvPr id="43" name="TextBox 43"/>
            <p:cNvSpPr txBox="1"/>
            <p:nvPr/>
          </p:nvSpPr>
          <p:spPr>
            <a:xfrm>
              <a:off x="8338947" y="4994910"/>
              <a:ext cx="2851214"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en-US" sz="1350" dirty="0">
                  <a:solidFill>
                    <a:srgbClr val="1F2937"/>
                  </a:solidFill>
                  <a:latin typeface="+mn-lt"/>
                  <a:ea typeface="+mn-ea"/>
                  <a:cs typeface="+mn-cs"/>
                </a:rPr>
                <a:t>“MTTF = 20000/(100×(60−40))</a:t>
              </a:r>
              <a:br/>
              <a:r>
                <a:rPr lang="zh-CN" sz="1350" dirty="0">
                  <a:solidFill>
                    <a:srgbClr val="1F2937"/>
                  </a:solidFill>
                  <a:latin typeface="+mn-lt"/>
                  <a:ea typeface="+mn-ea"/>
                  <a:cs typeface="+mn-cs"/>
                </a:rPr>
                <a:t>= 10 小时。”</a:t>
              </a:r>
            </a:p>
          </p:txBody>
        </p:sp>
      </p:grpSp>
      <p:grpSp>
        <p:nvGrpSpPr>
          <p:cNvPr id="50" name="takeaway"/>
          <p:cNvGrpSpPr/>
          <p:nvPr/>
        </p:nvGrpSpPr>
        <p:grpSpPr>
          <a:xfrm>
            <a:off x="533400" y="5874068"/>
            <a:ext cx="11125200" cy="488632"/>
            <a:chOff x="533400" y="5874068"/>
            <a:chExt cx="11125200" cy="488632"/>
          </a:xfrm>
        </p:grpSpPr>
        <p:sp>
          <p:nvSpPr>
            <p:cNvPr id="45" name="Rectangle 45"/>
            <p:cNvSpPr/>
            <p:nvPr/>
          </p:nvSpPr>
          <p:spPr>
            <a:xfrm>
              <a:off x="533400" y="5874068"/>
              <a:ext cx="11125200" cy="488632"/>
            </a:xfrm>
            <a:prstGeom prst="roundRect">
              <a:avLst>
                <a:gd name="adj" fmla="val 23392"/>
              </a:avLst>
            </a:prstGeom>
            <a:solidFill>
              <a:srgbClr val="334E68"/>
            </a:solidFill>
            <a:ln>
              <a:noFill/>
            </a:ln>
          </p:spPr>
        </p:sp>
        <p:grpSp>
          <p:nvGrpSpPr>
            <p:cNvPr id="48" name="Group 48"/>
            <p:cNvGrpSpPr/>
            <p:nvPr/>
          </p:nvGrpSpPr>
          <p:grpSpPr>
            <a:xfrm>
              <a:off x="738188" y="6017897"/>
              <a:ext cx="200023" cy="200023"/>
              <a:chOff x="738188" y="6017897"/>
              <a:chExt cx="200023" cy="200023"/>
            </a:xfrm>
          </p:grpSpPr>
          <p:sp>
            <p:nvSpPr>
              <p:cNvPr id="46" name="Freeform 46"/>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7" name="Freeform 47"/>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9" name="TextBox 49"/>
            <p:cNvSpPr txBox="1"/>
            <p:nvPr/>
          </p:nvSpPr>
          <p:spPr>
            <a:xfrm>
              <a:off x="1040892" y="6023610"/>
              <a:ext cx="839179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复习时按“给那段两判定的程序分别设计六种覆盖的用例”来练一遍，六种标准的强弱关系就不用死记了。</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52" name="TextBox 5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64</a:t>
              </a:r>
            </a:p>
          </p:txBody>
        </p:sp>
      </p:grpSp>
    </p:spTree>
  </p:cSld>
  <p:clrMapOvr>
    <a:masterClrMapping/>
  </p:clrMapOvr>
  <p:transition xmlns:p14="http://schemas.microsoft.com/office/powerpoint/2010/main" p14:dur="400">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399032" cy="909257"/>
            <a:chOff x="520446" y="342900"/>
            <a:chExt cx="1399032"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第7章 实现</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本章小结</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2" name="c1-bullets-1"/>
          <p:cNvGrpSpPr/>
          <p:nvPr/>
        </p:nvGrpSpPr>
        <p:grpSpPr>
          <a:xfrm>
            <a:off x="533400" y="1534478"/>
            <a:ext cx="5095113" cy="2806255"/>
            <a:chOff x="533400" y="1534478"/>
            <a:chExt cx="5095113" cy="2806255"/>
          </a:xfrm>
        </p:grpSpPr>
        <p:sp>
          <p:nvSpPr>
            <p:cNvPr id="7" name="Ellipse 7"/>
            <p:cNvSpPr/>
            <p:nvPr/>
          </p:nvSpPr>
          <p:spPr>
            <a:xfrm>
              <a:off x="533400" y="1534478"/>
              <a:ext cx="192405" cy="192405"/>
            </a:xfrm>
            <a:prstGeom prst="ellipse">
              <a:avLst/>
            </a:prstGeom>
            <a:solidFill>
              <a:srgbClr val="334E68"/>
            </a:solidFill>
            <a:ln>
              <a:noFill/>
            </a:ln>
          </p:spPr>
        </p:sp>
        <p:sp>
          <p:nvSpPr>
            <p:cNvPr id="8" name="TextBox 8"/>
            <p:cNvSpPr txBox="1"/>
            <p:nvPr/>
          </p:nvSpPr>
          <p:spPr>
            <a:xfrm>
              <a:off x="589078" y="157286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9" name="TextBox 9"/>
            <p:cNvSpPr txBox="1"/>
            <p:nvPr/>
          </p:nvSpPr>
          <p:spPr>
            <a:xfrm>
              <a:off x="814197" y="1545907"/>
              <a:ext cx="477145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实现 = 编码 + 测试；测试工作量占开发总成本 40% 以上，测试</a:t>
              </a:r>
              <a:br/>
              <a:r>
                <a:rPr lang="zh-CN" sz="1350" dirty="0">
                  <a:solidFill>
                    <a:srgbClr val="1F2937"/>
                  </a:solidFill>
                  <a:latin typeface="+mn-lt"/>
                  <a:ea typeface="+mn-ea"/>
                  <a:cs typeface="+mn-cs"/>
                </a:rPr>
                <a:t>找错、调试改错</a:t>
              </a:r>
            </a:p>
          </p:txBody>
        </p:sp>
        <p:sp>
          <p:nvSpPr>
            <p:cNvPr id="10" name="Ellipse 10"/>
            <p:cNvSpPr/>
            <p:nvPr/>
          </p:nvSpPr>
          <p:spPr>
            <a:xfrm>
              <a:off x="533400" y="2102168"/>
              <a:ext cx="192405" cy="192405"/>
            </a:xfrm>
            <a:prstGeom prst="ellipse">
              <a:avLst/>
            </a:prstGeom>
            <a:solidFill>
              <a:srgbClr val="334E68"/>
            </a:solidFill>
            <a:ln>
              <a:noFill/>
            </a:ln>
          </p:spPr>
        </p:sp>
        <p:sp>
          <p:nvSpPr>
            <p:cNvPr id="11" name="TextBox 11"/>
            <p:cNvSpPr txBox="1"/>
            <p:nvPr/>
          </p:nvSpPr>
          <p:spPr>
            <a:xfrm>
              <a:off x="589078" y="214150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2" name="TextBox 12"/>
            <p:cNvSpPr txBox="1"/>
            <p:nvPr/>
          </p:nvSpPr>
          <p:spPr>
            <a:xfrm>
              <a:off x="814197" y="2114550"/>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编码风格看五处：内部文档、数据说明、语句构造、输入输出方</a:t>
              </a:r>
              <a:br/>
              <a:r>
                <a:rPr lang="zh-CN" sz="1350" dirty="0">
                  <a:solidFill>
                    <a:srgbClr val="1F2937"/>
                  </a:solidFill>
                  <a:latin typeface="+mn-lt"/>
                  <a:ea typeface="+mn-ea"/>
                  <a:cs typeface="+mn-cs"/>
                </a:rPr>
                <a:t>法、效率问题</a:t>
              </a:r>
            </a:p>
          </p:txBody>
        </p:sp>
        <p:sp>
          <p:nvSpPr>
            <p:cNvPr id="13" name="Ellipse 13"/>
            <p:cNvSpPr/>
            <p:nvPr/>
          </p:nvSpPr>
          <p:spPr>
            <a:xfrm>
              <a:off x="533400" y="2670810"/>
              <a:ext cx="192405" cy="192405"/>
            </a:xfrm>
            <a:prstGeom prst="ellipse">
              <a:avLst/>
            </a:prstGeom>
            <a:solidFill>
              <a:srgbClr val="334E68"/>
            </a:solidFill>
            <a:ln>
              <a:noFill/>
            </a:ln>
          </p:spPr>
        </p:sp>
        <p:sp>
          <p:nvSpPr>
            <p:cNvPr id="14" name="TextBox 14"/>
            <p:cNvSpPr txBox="1"/>
            <p:nvPr/>
          </p:nvSpPr>
          <p:spPr>
            <a:xfrm>
              <a:off x="589078" y="270919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15" name="TextBox 15"/>
            <p:cNvSpPr txBox="1"/>
            <p:nvPr/>
          </p:nvSpPr>
          <p:spPr>
            <a:xfrm>
              <a:off x="814197" y="2683192"/>
              <a:ext cx="472001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测试四步：单元 → 集成 → 确认 → 平行运行；白盒早做，黑盒后</a:t>
              </a:r>
              <a:br/>
              <a:r>
                <a:rPr lang="zh-CN" sz="1350" dirty="0">
                  <a:solidFill>
                    <a:srgbClr val="1F2937"/>
                  </a:solidFill>
                  <a:latin typeface="+mn-lt"/>
                  <a:ea typeface="+mn-ea"/>
                  <a:cs typeface="+mn-cs"/>
                </a:rPr>
                <a:t>做，两者互补</a:t>
              </a:r>
            </a:p>
          </p:txBody>
        </p:sp>
        <p:sp>
          <p:nvSpPr>
            <p:cNvPr id="16" name="Ellipse 16"/>
            <p:cNvSpPr/>
            <p:nvPr/>
          </p:nvSpPr>
          <p:spPr>
            <a:xfrm>
              <a:off x="533400" y="3239452"/>
              <a:ext cx="192405" cy="192405"/>
            </a:xfrm>
            <a:prstGeom prst="ellipse">
              <a:avLst/>
            </a:prstGeom>
            <a:solidFill>
              <a:srgbClr val="334E68"/>
            </a:solidFill>
            <a:ln>
              <a:noFill/>
            </a:ln>
          </p:spPr>
        </p:sp>
        <p:sp>
          <p:nvSpPr>
            <p:cNvPr id="17" name="TextBox 17"/>
            <p:cNvSpPr txBox="1"/>
            <p:nvPr/>
          </p:nvSpPr>
          <p:spPr>
            <a:xfrm>
              <a:off x="589078" y="327783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18" name="TextBox 18"/>
            <p:cNvSpPr txBox="1"/>
            <p:nvPr/>
          </p:nvSpPr>
          <p:spPr>
            <a:xfrm>
              <a:off x="814197" y="3251835"/>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单元测试盯住接口、局部数据、重要通路、出错处理通路和边界</a:t>
              </a:r>
              <a:br/>
              <a:r>
                <a:rPr lang="zh-CN" sz="1350" dirty="0">
                  <a:solidFill>
                    <a:srgbClr val="1F2937"/>
                  </a:solidFill>
                  <a:latin typeface="+mn-lt"/>
                  <a:ea typeface="+mn-ea"/>
                  <a:cs typeface="+mn-cs"/>
                </a:rPr>
                <a:t>条件</a:t>
              </a:r>
            </a:p>
          </p:txBody>
        </p:sp>
        <p:sp>
          <p:nvSpPr>
            <p:cNvPr id="19" name="Ellipse 19"/>
            <p:cNvSpPr/>
            <p:nvPr/>
          </p:nvSpPr>
          <p:spPr>
            <a:xfrm>
              <a:off x="533400" y="3807142"/>
              <a:ext cx="192405" cy="192405"/>
            </a:xfrm>
            <a:prstGeom prst="ellipse">
              <a:avLst/>
            </a:prstGeom>
            <a:solidFill>
              <a:srgbClr val="334E68"/>
            </a:solidFill>
            <a:ln>
              <a:noFill/>
            </a:ln>
          </p:spPr>
        </p:sp>
        <p:sp>
          <p:nvSpPr>
            <p:cNvPr id="20" name="TextBox 20"/>
            <p:cNvSpPr txBox="1"/>
            <p:nvPr/>
          </p:nvSpPr>
          <p:spPr>
            <a:xfrm>
              <a:off x="589078" y="384648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21" name="TextBox 21"/>
            <p:cNvSpPr txBox="1"/>
            <p:nvPr/>
          </p:nvSpPr>
          <p:spPr>
            <a:xfrm>
              <a:off x="814197" y="3819525"/>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四种集成策略的差别在于存根和驱动谁多、主要错误发现得早还</a:t>
              </a:r>
              <a:br/>
              <a:r>
                <a:rPr lang="zh-CN" sz="1350" dirty="0">
                  <a:solidFill>
                    <a:srgbClr val="1F2937"/>
                  </a:solidFill>
                  <a:latin typeface="+mn-lt"/>
                  <a:ea typeface="+mn-ea"/>
                  <a:cs typeface="+mn-cs"/>
                </a:rPr>
                <a:t>是晚</a:t>
              </a:r>
            </a:p>
          </p:txBody>
        </p:sp>
      </p:grpSp>
      <p:grpSp>
        <p:nvGrpSpPr>
          <p:cNvPr id="33" name="c1-card-2"/>
          <p:cNvGrpSpPr/>
          <p:nvPr/>
        </p:nvGrpSpPr>
        <p:grpSpPr>
          <a:xfrm>
            <a:off x="533400" y="4462462"/>
            <a:ext cx="5410200" cy="1831658"/>
            <a:chOff x="533400" y="4462462"/>
            <a:chExt cx="5410200" cy="1831658"/>
          </a:xfrm>
        </p:grpSpPr>
        <p:sp>
          <p:nvSpPr>
            <p:cNvPr id="23" name="Rectangle 23"/>
            <p:cNvSpPr/>
            <p:nvPr/>
          </p:nvSpPr>
          <p:spPr>
            <a:xfrm>
              <a:off x="533400" y="4462462"/>
              <a:ext cx="5410200" cy="1831658"/>
            </a:xfrm>
            <a:prstGeom prst="roundRect">
              <a:avLst>
                <a:gd name="adj" fmla="val 7280"/>
              </a:avLst>
            </a:prstGeom>
            <a:solidFill>
              <a:srgbClr val="334E68"/>
            </a:solidFill>
            <a:ln>
              <a:noFill/>
            </a:ln>
          </p:spPr>
        </p:sp>
        <p:sp>
          <p:nvSpPr>
            <p:cNvPr id="24" name="Rectangle 24"/>
            <p:cNvSpPr/>
            <p:nvPr/>
          </p:nvSpPr>
          <p:spPr>
            <a:xfrm>
              <a:off x="725805" y="4654868"/>
              <a:ext cx="1009650" cy="247650"/>
            </a:xfrm>
            <a:prstGeom prst="roundRect">
              <a:avLst>
                <a:gd name="adj" fmla="val 50000"/>
              </a:avLst>
            </a:prstGeom>
            <a:solidFill>
              <a:srgbClr val="243B53"/>
            </a:solidFill>
            <a:ln>
              <a:noFill/>
            </a:ln>
          </p:spPr>
        </p:sp>
        <p:sp>
          <p:nvSpPr>
            <p:cNvPr id="25" name="TextBox 25"/>
            <p:cNvSpPr txBox="1"/>
            <p:nvPr/>
          </p:nvSpPr>
          <p:spPr>
            <a:xfrm>
              <a:off x="801243" y="4689158"/>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记住这几个数</a:t>
              </a:r>
            </a:p>
          </p:txBody>
        </p:sp>
        <p:sp>
          <p:nvSpPr>
            <p:cNvPr id="26" name="TextBox 26"/>
            <p:cNvSpPr txBox="1"/>
            <p:nvPr/>
          </p:nvSpPr>
          <p:spPr>
            <a:xfrm>
              <a:off x="1842897" y="4694872"/>
              <a:ext cx="1285875"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考试常考的比例</a:t>
              </a:r>
            </a:p>
          </p:txBody>
        </p:sp>
        <p:sp>
          <p:nvSpPr>
            <p:cNvPr id="27" name="Ellipse 27"/>
            <p:cNvSpPr/>
            <p:nvPr/>
          </p:nvSpPr>
          <p:spPr>
            <a:xfrm>
              <a:off x="734378" y="5085398"/>
              <a:ext cx="59055" cy="59055"/>
            </a:xfrm>
            <a:prstGeom prst="ellipse">
              <a:avLst/>
            </a:prstGeom>
            <a:solidFill>
              <a:srgbClr val="FFFFFF"/>
            </a:solidFill>
            <a:ln>
              <a:noFill/>
            </a:ln>
          </p:spPr>
        </p:sp>
        <p:sp>
          <p:nvSpPr>
            <p:cNvPr id="28" name="TextBox 28"/>
            <p:cNvSpPr txBox="1"/>
            <p:nvPr/>
          </p:nvSpPr>
          <p:spPr>
            <a:xfrm>
              <a:off x="890397" y="5029200"/>
              <a:ext cx="282155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测试工作量占开发总成本 40% 以上</a:t>
              </a:r>
            </a:p>
          </p:txBody>
        </p:sp>
        <p:sp>
          <p:nvSpPr>
            <p:cNvPr id="29" name="Ellipse 29"/>
            <p:cNvSpPr/>
            <p:nvPr/>
          </p:nvSpPr>
          <p:spPr>
            <a:xfrm>
              <a:off x="734378" y="5388292"/>
              <a:ext cx="59055" cy="59055"/>
            </a:xfrm>
            <a:prstGeom prst="ellipse">
              <a:avLst/>
            </a:prstGeom>
            <a:solidFill>
              <a:srgbClr val="FFFFFF"/>
            </a:solidFill>
            <a:ln>
              <a:noFill/>
            </a:ln>
          </p:spPr>
        </p:sp>
        <p:sp>
          <p:nvSpPr>
            <p:cNvPr id="30" name="TextBox 30"/>
            <p:cNvSpPr txBox="1"/>
            <p:nvPr/>
          </p:nvSpPr>
          <p:spPr>
            <a:xfrm>
              <a:off x="890397" y="5332095"/>
              <a:ext cx="453896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代码审查可查出 30% 到 70% 的逻辑设计错误和编码错误</a:t>
              </a:r>
            </a:p>
          </p:txBody>
        </p:sp>
        <p:sp>
          <p:nvSpPr>
            <p:cNvPr id="31" name="Ellipse 31"/>
            <p:cNvSpPr/>
            <p:nvPr/>
          </p:nvSpPr>
          <p:spPr>
            <a:xfrm>
              <a:off x="734378" y="5690235"/>
              <a:ext cx="59055" cy="59055"/>
            </a:xfrm>
            <a:prstGeom prst="ellipse">
              <a:avLst/>
            </a:prstGeom>
            <a:solidFill>
              <a:srgbClr val="FFFFFF"/>
            </a:solidFill>
            <a:ln>
              <a:noFill/>
            </a:ln>
          </p:spPr>
        </p:sp>
        <p:sp>
          <p:nvSpPr>
            <p:cNvPr id="32" name="TextBox 32"/>
            <p:cNvSpPr txBox="1"/>
            <p:nvPr/>
          </p:nvSpPr>
          <p:spPr>
            <a:xfrm>
              <a:off x="890397" y="5634038"/>
              <a:ext cx="350923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Pareto 原理：80% 的错误出自 20% 的模块</a:t>
              </a:r>
            </a:p>
          </p:txBody>
        </p:sp>
      </p:grpSp>
      <p:grpSp>
        <p:nvGrpSpPr>
          <p:cNvPr id="49" name="c2-bullets-1"/>
          <p:cNvGrpSpPr/>
          <p:nvPr/>
        </p:nvGrpSpPr>
        <p:grpSpPr>
          <a:xfrm>
            <a:off x="6248400" y="1534478"/>
            <a:ext cx="5215128" cy="2806255"/>
            <a:chOff x="6248400" y="1534478"/>
            <a:chExt cx="5215128" cy="2806255"/>
          </a:xfrm>
        </p:grpSpPr>
        <p:sp>
          <p:nvSpPr>
            <p:cNvPr id="34" name="Ellipse 34"/>
            <p:cNvSpPr/>
            <p:nvPr/>
          </p:nvSpPr>
          <p:spPr>
            <a:xfrm>
              <a:off x="6248400" y="1534478"/>
              <a:ext cx="192405" cy="192405"/>
            </a:xfrm>
            <a:prstGeom prst="ellipse">
              <a:avLst/>
            </a:prstGeom>
            <a:solidFill>
              <a:srgbClr val="334E68"/>
            </a:solidFill>
            <a:ln>
              <a:noFill/>
            </a:ln>
          </p:spPr>
        </p:sp>
        <p:sp>
          <p:nvSpPr>
            <p:cNvPr id="35" name="TextBox 35"/>
            <p:cNvSpPr txBox="1"/>
            <p:nvPr/>
          </p:nvSpPr>
          <p:spPr>
            <a:xfrm>
              <a:off x="6304078" y="157286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6" name="TextBox 36"/>
            <p:cNvSpPr txBox="1"/>
            <p:nvPr/>
          </p:nvSpPr>
          <p:spPr>
            <a:xfrm>
              <a:off x="6529197" y="1545907"/>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六种逻辑覆盖：语句最弱，条件组合最强；条件覆盖与判定覆盖</a:t>
              </a:r>
              <a:br/>
              <a:r>
                <a:rPr lang="zh-CN" sz="1350" dirty="0">
                  <a:solidFill>
                    <a:srgbClr val="1F2937"/>
                  </a:solidFill>
                  <a:latin typeface="+mn-lt"/>
                  <a:ea typeface="+mn-ea"/>
                  <a:cs typeface="+mn-cs"/>
                </a:rPr>
                <a:t>互不包含，路径覆盖另成一支</a:t>
              </a:r>
            </a:p>
          </p:txBody>
        </p:sp>
        <p:sp>
          <p:nvSpPr>
            <p:cNvPr id="37" name="Ellipse 37"/>
            <p:cNvSpPr/>
            <p:nvPr/>
          </p:nvSpPr>
          <p:spPr>
            <a:xfrm>
              <a:off x="6248400" y="2102168"/>
              <a:ext cx="192405" cy="192405"/>
            </a:xfrm>
            <a:prstGeom prst="ellipse">
              <a:avLst/>
            </a:prstGeom>
            <a:solidFill>
              <a:srgbClr val="334E68"/>
            </a:solidFill>
            <a:ln>
              <a:noFill/>
            </a:ln>
          </p:spPr>
        </p:sp>
        <p:sp>
          <p:nvSpPr>
            <p:cNvPr id="38" name="TextBox 38"/>
            <p:cNvSpPr txBox="1"/>
            <p:nvPr/>
          </p:nvSpPr>
          <p:spPr>
            <a:xfrm>
              <a:off x="6304078" y="214150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9" name="TextBox 39"/>
            <p:cNvSpPr txBox="1"/>
            <p:nvPr/>
          </p:nvSpPr>
          <p:spPr>
            <a:xfrm>
              <a:off x="6529197" y="2114550"/>
              <a:ext cx="478859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基本路径测试用环形复杂度定独立路径条数：边数 − 结点数 + 2</a:t>
              </a:r>
              <a:br/>
              <a:r>
                <a:rPr lang="zh-CN" sz="1350" dirty="0">
                  <a:solidFill>
                    <a:srgbClr val="1F2937"/>
                  </a:solidFill>
                  <a:latin typeface="+mn-lt"/>
                  <a:ea typeface="+mn-ea"/>
                  <a:cs typeface="+mn-cs"/>
                </a:rPr>
                <a:t>= 判定结点数 + 1</a:t>
              </a:r>
            </a:p>
          </p:txBody>
        </p:sp>
        <p:sp>
          <p:nvSpPr>
            <p:cNvPr id="40" name="Ellipse 40"/>
            <p:cNvSpPr/>
            <p:nvPr/>
          </p:nvSpPr>
          <p:spPr>
            <a:xfrm>
              <a:off x="6248400" y="2670810"/>
              <a:ext cx="192405" cy="192405"/>
            </a:xfrm>
            <a:prstGeom prst="ellipse">
              <a:avLst/>
            </a:prstGeom>
            <a:solidFill>
              <a:srgbClr val="334E68"/>
            </a:solidFill>
            <a:ln>
              <a:noFill/>
            </a:ln>
          </p:spPr>
        </p:sp>
        <p:sp>
          <p:nvSpPr>
            <p:cNvPr id="41" name="TextBox 41"/>
            <p:cNvSpPr txBox="1"/>
            <p:nvPr/>
          </p:nvSpPr>
          <p:spPr>
            <a:xfrm>
              <a:off x="6304078" y="270919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42" name="TextBox 42"/>
            <p:cNvSpPr txBox="1"/>
            <p:nvPr/>
          </p:nvSpPr>
          <p:spPr>
            <a:xfrm>
              <a:off x="6529197" y="2683192"/>
              <a:ext cx="461714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控制结构测试还包括条件测试（分支、域、BRO）和循环测试</a:t>
              </a:r>
              <a:br/>
              <a:r>
                <a:rPr lang="zh-CN" sz="1350" dirty="0">
                  <a:solidFill>
                    <a:srgbClr val="1F2937"/>
                  </a:solidFill>
                  <a:latin typeface="+mn-lt"/>
                  <a:ea typeface="+mn-ea"/>
                  <a:cs typeface="+mn-cs"/>
                </a:rPr>
                <a:t>（简单、串接、嵌套）</a:t>
              </a:r>
            </a:p>
          </p:txBody>
        </p:sp>
        <p:sp>
          <p:nvSpPr>
            <p:cNvPr id="43" name="Ellipse 43"/>
            <p:cNvSpPr/>
            <p:nvPr/>
          </p:nvSpPr>
          <p:spPr>
            <a:xfrm>
              <a:off x="6248400" y="3239452"/>
              <a:ext cx="192405" cy="192405"/>
            </a:xfrm>
            <a:prstGeom prst="ellipse">
              <a:avLst/>
            </a:prstGeom>
            <a:solidFill>
              <a:srgbClr val="334E68"/>
            </a:solidFill>
            <a:ln>
              <a:noFill/>
            </a:ln>
          </p:spPr>
        </p:sp>
        <p:sp>
          <p:nvSpPr>
            <p:cNvPr id="44" name="TextBox 44"/>
            <p:cNvSpPr txBox="1"/>
            <p:nvPr/>
          </p:nvSpPr>
          <p:spPr>
            <a:xfrm>
              <a:off x="6304078" y="327783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45" name="TextBox 45"/>
            <p:cNvSpPr txBox="1"/>
            <p:nvPr/>
          </p:nvSpPr>
          <p:spPr>
            <a:xfrm>
              <a:off x="6529197" y="3251835"/>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黑盒三招是等价划分、边界值分析、错误推测；有效等价类可合</a:t>
              </a:r>
              <a:br/>
              <a:r>
                <a:rPr lang="zh-CN" sz="1350" dirty="0">
                  <a:solidFill>
                    <a:srgbClr val="1F2937"/>
                  </a:solidFill>
                  <a:latin typeface="+mn-lt"/>
                  <a:ea typeface="+mn-ea"/>
                  <a:cs typeface="+mn-cs"/>
                </a:rPr>
                <a:t>并，无效等价类必须一个一条</a:t>
              </a:r>
            </a:p>
          </p:txBody>
        </p:sp>
        <p:sp>
          <p:nvSpPr>
            <p:cNvPr id="46" name="Ellipse 46"/>
            <p:cNvSpPr/>
            <p:nvPr/>
          </p:nvSpPr>
          <p:spPr>
            <a:xfrm>
              <a:off x="6248400" y="3807142"/>
              <a:ext cx="192405" cy="192405"/>
            </a:xfrm>
            <a:prstGeom prst="ellipse">
              <a:avLst/>
            </a:prstGeom>
            <a:solidFill>
              <a:srgbClr val="334E68"/>
            </a:solidFill>
            <a:ln>
              <a:noFill/>
            </a:ln>
          </p:spPr>
        </p:sp>
        <p:sp>
          <p:nvSpPr>
            <p:cNvPr id="47" name="TextBox 47"/>
            <p:cNvSpPr txBox="1"/>
            <p:nvPr/>
          </p:nvSpPr>
          <p:spPr>
            <a:xfrm>
              <a:off x="6304078" y="384648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48" name="TextBox 48"/>
            <p:cNvSpPr txBox="1"/>
            <p:nvPr/>
          </p:nvSpPr>
          <p:spPr>
            <a:xfrm>
              <a:off x="6529197" y="3819525"/>
              <a:ext cx="493433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可靠性：MTTF = I_T/(K(E_T − E_c))，错误总数用植入错误法或</a:t>
              </a:r>
              <a:br/>
              <a:r>
                <a:rPr lang="zh-CN" sz="1350" dirty="0">
                  <a:solidFill>
                    <a:srgbClr val="1F2937"/>
                  </a:solidFill>
                  <a:latin typeface="+mn-lt"/>
                  <a:ea typeface="+mn-ea"/>
                  <a:cs typeface="+mn-cs"/>
                </a:rPr>
                <a:t>分别测试法估计</a:t>
              </a:r>
            </a:p>
          </p:txBody>
        </p:sp>
      </p:grpSp>
      <p:grpSp>
        <p:nvGrpSpPr>
          <p:cNvPr id="60" name="c2-card-2"/>
          <p:cNvGrpSpPr/>
          <p:nvPr/>
        </p:nvGrpSpPr>
        <p:grpSpPr>
          <a:xfrm>
            <a:off x="6248400" y="4462462"/>
            <a:ext cx="5410200" cy="1831658"/>
            <a:chOff x="6248400" y="4462462"/>
            <a:chExt cx="5410200" cy="1831658"/>
          </a:xfrm>
        </p:grpSpPr>
        <p:sp>
          <p:nvSpPr>
            <p:cNvPr id="50" name="Rectangle 50"/>
            <p:cNvSpPr/>
            <p:nvPr/>
          </p:nvSpPr>
          <p:spPr>
            <a:xfrm>
              <a:off x="6248400" y="4462462"/>
              <a:ext cx="5410200" cy="1831658"/>
            </a:xfrm>
            <a:prstGeom prst="roundRect">
              <a:avLst>
                <a:gd name="adj" fmla="val 7280"/>
              </a:avLst>
            </a:prstGeom>
            <a:solidFill>
              <a:srgbClr val="334E68"/>
            </a:solidFill>
            <a:ln>
              <a:noFill/>
            </a:ln>
          </p:spPr>
        </p:sp>
        <p:sp>
          <p:nvSpPr>
            <p:cNvPr id="51" name="Rectangle 51"/>
            <p:cNvSpPr/>
            <p:nvPr/>
          </p:nvSpPr>
          <p:spPr>
            <a:xfrm>
              <a:off x="6440805" y="4654868"/>
              <a:ext cx="609600" cy="247650"/>
            </a:xfrm>
            <a:prstGeom prst="roundRect">
              <a:avLst>
                <a:gd name="adj" fmla="val 50000"/>
              </a:avLst>
            </a:prstGeom>
            <a:solidFill>
              <a:srgbClr val="243B53"/>
            </a:solidFill>
            <a:ln>
              <a:noFill/>
            </a:ln>
          </p:spPr>
        </p:sp>
        <p:sp>
          <p:nvSpPr>
            <p:cNvPr id="52" name="TextBox 52"/>
            <p:cNvSpPr txBox="1"/>
            <p:nvPr/>
          </p:nvSpPr>
          <p:spPr>
            <a:xfrm>
              <a:off x="6528245" y="4689158"/>
              <a:ext cx="434721"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公式卡</a:t>
              </a:r>
            </a:p>
          </p:txBody>
        </p:sp>
        <p:sp>
          <p:nvSpPr>
            <p:cNvPr id="53" name="TextBox 53"/>
            <p:cNvSpPr txBox="1"/>
            <p:nvPr/>
          </p:nvSpPr>
          <p:spPr>
            <a:xfrm>
              <a:off x="7157847" y="4694872"/>
              <a:ext cx="183108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三个要默写下来的式子</a:t>
              </a:r>
            </a:p>
          </p:txBody>
        </p:sp>
        <p:sp>
          <p:nvSpPr>
            <p:cNvPr id="54" name="Ellipse 54"/>
            <p:cNvSpPr/>
            <p:nvPr/>
          </p:nvSpPr>
          <p:spPr>
            <a:xfrm>
              <a:off x="6449378" y="5085398"/>
              <a:ext cx="59055" cy="59055"/>
            </a:xfrm>
            <a:prstGeom prst="ellipse">
              <a:avLst/>
            </a:prstGeom>
            <a:solidFill>
              <a:srgbClr val="FFFFFF"/>
            </a:solidFill>
            <a:ln>
              <a:noFill/>
            </a:ln>
          </p:spPr>
        </p:sp>
        <p:sp>
          <p:nvSpPr>
            <p:cNvPr id="55" name="TextBox 55"/>
            <p:cNvSpPr txBox="1"/>
            <p:nvPr/>
          </p:nvSpPr>
          <p:spPr>
            <a:xfrm>
              <a:off x="6605397" y="5029200"/>
              <a:ext cx="4476560"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环形复杂度 V(G) = 边数 − 结点数 + 2 = 判定结点数 + 1</a:t>
              </a:r>
            </a:p>
          </p:txBody>
        </p:sp>
        <p:sp>
          <p:nvSpPr>
            <p:cNvPr id="56" name="Ellipse 56"/>
            <p:cNvSpPr/>
            <p:nvPr/>
          </p:nvSpPr>
          <p:spPr>
            <a:xfrm>
              <a:off x="6449378" y="5388292"/>
              <a:ext cx="59055" cy="59055"/>
            </a:xfrm>
            <a:prstGeom prst="ellipse">
              <a:avLst/>
            </a:prstGeom>
            <a:solidFill>
              <a:srgbClr val="FFFFFF"/>
            </a:solidFill>
            <a:ln>
              <a:noFill/>
            </a:ln>
          </p:spPr>
        </p:sp>
        <p:sp>
          <p:nvSpPr>
            <p:cNvPr id="57" name="TextBox 57"/>
            <p:cNvSpPr txBox="1"/>
            <p:nvPr/>
          </p:nvSpPr>
          <p:spPr>
            <a:xfrm>
              <a:off x="6605397" y="5332095"/>
              <a:ext cx="388468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平均无故障时间 MTTF = I_T / (K(E_T − E_c))</a:t>
              </a:r>
            </a:p>
          </p:txBody>
        </p:sp>
        <p:sp>
          <p:nvSpPr>
            <p:cNvPr id="58" name="Ellipse 58"/>
            <p:cNvSpPr/>
            <p:nvPr/>
          </p:nvSpPr>
          <p:spPr>
            <a:xfrm>
              <a:off x="6449378" y="5690235"/>
              <a:ext cx="59055" cy="59055"/>
            </a:xfrm>
            <a:prstGeom prst="ellipse">
              <a:avLst/>
            </a:prstGeom>
            <a:solidFill>
              <a:srgbClr val="FFFFFF"/>
            </a:solidFill>
            <a:ln>
              <a:noFill/>
            </a:ln>
          </p:spPr>
        </p:sp>
        <p:sp>
          <p:nvSpPr>
            <p:cNvPr id="59" name="TextBox 59"/>
            <p:cNvSpPr txBox="1"/>
            <p:nvPr/>
          </p:nvSpPr>
          <p:spPr>
            <a:xfrm>
              <a:off x="6605397" y="5634038"/>
              <a:ext cx="453999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错误总数估计 E_T = (n / n_s)·N_s，或 E_T = (B₂ / b_c)·</a:t>
              </a:r>
              <a:br/>
              <a:r>
                <a:rPr lang="en-US" sz="1350" dirty="0">
                  <a:solidFill>
                    <a:srgbClr val="FFFFFF"/>
                  </a:solidFill>
                  <a:latin typeface="+mn-lt"/>
                  <a:ea typeface="+mn-ea"/>
                  <a:cs typeface="+mn-cs"/>
                </a:rPr>
                <a:t>B₁</a:t>
              </a:r>
            </a:p>
          </p:txBody>
        </p:sp>
      </p:grpSp>
      <p:grpSp>
        <p:nvGrpSpPr>
          <p:cNvPr id="63" name="footer"/>
          <p:cNvGrpSpPr/>
          <p:nvPr/>
        </p:nvGrpSpPr>
        <p:grpSpPr>
          <a:xfrm>
            <a:off x="528447" y="6581299"/>
            <a:ext cx="11135106" cy="190690"/>
            <a:chOff x="528447" y="6581299"/>
            <a:chExt cx="11135106" cy="190690"/>
          </a:xfrm>
        </p:grpSpPr>
        <p:sp>
          <p:nvSpPr>
            <p:cNvPr id="61" name="TextBox 61"/>
            <p:cNvSpPr txBox="1"/>
            <p:nvPr/>
          </p:nvSpPr>
          <p:spPr>
            <a:xfrm>
              <a:off x="528447" y="6581299"/>
              <a:ext cx="1329182"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第7章 实现</a:t>
              </a:r>
            </a:p>
          </p:txBody>
        </p:sp>
        <p:sp>
          <p:nvSpPr>
            <p:cNvPr id="62" name="TextBox 6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e_ch07">
  <a:themeElements>
    <a:clrScheme name="se_ch07">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_ch07">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e_ch07">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2026-09-23T06:11:09Z</dcterms:created>
  <dcterms:modified xsi:type="dcterms:W3CDTF">2026-09-23T06:11:09Z</dcterms:modified>
  <cp:category/>
  <cp:contentStatus/>
</cp:coreProperties>
</file>