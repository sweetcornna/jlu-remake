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uc_analysi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uc_analysi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61d6a673b90c99b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27c6d39cf7d00b1.png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0aade18b471a0f8.png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16830" cy="3437763"/>
            <a:chOff x="666750" y="1619250"/>
            <a:chExt cx="51168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5079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86578" y="1718310"/>
              <a:ext cx="23073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面向对象分析与设计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从用例事件流找出分析类，并把行为分配给它们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三种分析类与用例实现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交互图与职责分配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属性、关联与多重性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分析机制与检查点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350722" cy="205359"/>
            <a:chOff x="680466" y="6192202"/>
            <a:chExt cx="535072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3507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 DEV475《Mastering OOAD with UML 2.0》模块 6 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活动定位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9027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用例分析在 RUP 分析设计工作流的哪一步，输入什么、产出什么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找出分析类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边界、控制、实体三种构造型，以及找它们的具体办法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分配用例行为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用顺序图和协作图把职责落到具体的类上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职责、属性与关系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分析操作的写法，关联、聚合、角色名、多重性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持久性、安全、遗留接口、分布怎么挂到类上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统一与检查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跨用例合并类，收尾时按检查点自查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说出用例分析的七个步骤，并指出哪两步是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对每个用例实现做、哪三步是对每个类做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给一段用例事件流，能划分出边界类、控制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类、实体类并说明判断依据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照着顺序图写出每个类的分析操作，并把它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画成 VOPC 参与类图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给关联补上角色名和多重性，并判断该用关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联还是聚合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列出分析类和用例实现各自的检查点，能发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现职责重复或职责不相干的类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608015" cy="3351847"/>
            <a:chOff x="667512" y="1835468"/>
            <a:chExt cx="560801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60801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用例分析在 RUP 里的位置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先弄清这个活动由谁做、什么时候做、拿什么做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分析设计工作流中的一步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输入产物与产出产物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七个步骤的骨架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第一步：补充用例描述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88018" cy="909257"/>
            <a:chOff x="520446" y="342900"/>
            <a:chExt cx="72880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231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30" y="407194"/>
              <a:ext cx="2529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用例分析在 RUP 里的位置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880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用例分析是“分析行为”工作流细节里的一个活动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它排在架构分析之后：初步架构和需求一起作为输入，指导这一次用例分析。</a:t>
              </a:r>
            </a:p>
          </p:txBody>
        </p:sp>
      </p:grpSp>
      <p:grpSp>
        <p:nvGrpSpPr>
          <p:cNvPr id="33" name="c1-flow-1"/>
          <p:cNvGrpSpPr/>
          <p:nvPr/>
        </p:nvGrpSpPr>
        <p:grpSpPr>
          <a:xfrm>
            <a:off x="707708" y="2163128"/>
            <a:ext cx="4629150" cy="3591877"/>
            <a:chOff x="707708" y="2163128"/>
            <a:chExt cx="4629150" cy="3591877"/>
          </a:xfrm>
        </p:grpSpPr>
        <p:sp>
          <p:nvSpPr>
            <p:cNvPr id="9" name="Freeform 9"/>
            <p:cNvSpPr/>
            <p:nvPr/>
          </p:nvSpPr>
          <p:spPr>
            <a:xfrm>
              <a:off x="2847975" y="2477452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91815" y="24250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266248" y="2791778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213860" y="31727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266248" y="3715702"/>
              <a:ext cx="9525" cy="477202"/>
            </a:xfrm>
            <a:custGeom>
              <a:avLst/>
              <a:gdLst/>
              <a:ahLst/>
              <a:cxnLst/>
              <a:rect l="l" t="t" r="r" b="b"/>
              <a:pathLst>
                <a:path w="9525" h="477202">
                  <a:moveTo>
                    <a:pt x="0" y="0"/>
                  </a:moveTo>
                  <a:lnTo>
                    <a:pt x="0" y="47720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213860" y="41929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777365" y="4735830"/>
              <a:ext cx="2488882" cy="476250"/>
            </a:xfrm>
            <a:custGeom>
              <a:avLst/>
              <a:gdLst/>
              <a:ahLst/>
              <a:cxnLst/>
              <a:rect l="l" t="t" r="r" b="b"/>
              <a:pathLst>
                <a:path w="2488882" h="476250">
                  <a:moveTo>
                    <a:pt x="2488882" y="0"/>
                  </a:moveTo>
                  <a:lnTo>
                    <a:pt x="2488882" y="290513"/>
                  </a:lnTo>
                  <a:lnTo>
                    <a:pt x="0" y="290513"/>
                  </a:lnTo>
                  <a:lnTo>
                    <a:pt x="0" y="4762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724978" y="5212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266248" y="4735830"/>
              <a:ext cx="9525" cy="476250"/>
            </a:xfrm>
            <a:custGeom>
              <a:avLst/>
              <a:gdLst/>
              <a:ahLst/>
              <a:cxnLst/>
              <a:rect l="l" t="t" r="r" b="b"/>
              <a:pathLst>
                <a:path w="9525" h="476250">
                  <a:moveTo>
                    <a:pt x="0" y="0"/>
                  </a:moveTo>
                  <a:lnTo>
                    <a:pt x="0" y="4762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213860" y="5212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7708" y="2163128"/>
              <a:ext cx="2140268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196590" y="2163128"/>
              <a:ext cx="214026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196590" y="3277552"/>
              <a:ext cx="2140268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196590" y="4297680"/>
              <a:ext cx="214026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7708" y="5316855"/>
              <a:ext cx="214026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196590" y="5316855"/>
              <a:ext cx="214026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58088" y="2278856"/>
              <a:ext cx="16385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架构综合（先启迭代，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可选）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434778" y="2278856"/>
              <a:ext cx="166293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定义候选架构 · 架构分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71436" y="3407569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分析行为 · 用例分析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15143" y="44276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精化架构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26261" y="54468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设计构件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828986" y="54468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设计数据库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294822" y="2943225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318064" y="29698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初步架构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5815965" y="1967865"/>
            <a:ext cx="5842635" cy="1335405"/>
            <a:chOff x="5815965" y="1967865"/>
            <a:chExt cx="5842635" cy="1335405"/>
          </a:xfrm>
        </p:grpSpPr>
        <p:sp>
          <p:nvSpPr>
            <p:cNvPr id="34" name="Rectangle 34"/>
            <p:cNvSpPr/>
            <p:nvPr/>
          </p:nvSpPr>
          <p:spPr>
            <a:xfrm>
              <a:off x="5815965" y="1967865"/>
              <a:ext cx="5842635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25490" y="2101215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63615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53823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3690" y="2212658"/>
              <a:ext cx="3070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用例分析（Use-Case Analysis）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55995" y="257365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针对一个用例，找出执行它的事件流所需要的类，把用例行为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分配给这些类，并记录它们用到的架构机制。</a:t>
              </a:r>
            </a:p>
          </p:txBody>
        </p:sp>
      </p:grpSp>
      <p:grpSp>
        <p:nvGrpSpPr>
          <p:cNvPr id="52" name="c2-kv-2"/>
          <p:cNvGrpSpPr/>
          <p:nvPr/>
        </p:nvGrpSpPr>
        <p:grpSpPr>
          <a:xfrm>
            <a:off x="5808345" y="3518535"/>
            <a:ext cx="5850255" cy="1613535"/>
            <a:chOff x="5808345" y="3518535"/>
            <a:chExt cx="5850255" cy="1613535"/>
          </a:xfrm>
        </p:grpSpPr>
        <p:sp>
          <p:nvSpPr>
            <p:cNvPr id="41" name="TextBox 41"/>
            <p:cNvSpPr txBox="1"/>
            <p:nvPr/>
          </p:nvSpPr>
          <p:spPr>
            <a:xfrm>
              <a:off x="5808345" y="351853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谁来做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49428" y="3518535"/>
              <a:ext cx="20707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设计人员（Designer）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38385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08345" y="395859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做几次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49428" y="395859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每个迭代中，每个要开发的用例实现做一次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427863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808345" y="43986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做什么用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49428" y="439864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产出本系统最早的一批类，以及它们之间的协作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15965" y="47186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08345" y="48387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做完去哪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49428" y="48387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结果在用例设计、类设计里继续细化</a:t>
              </a:r>
            </a:p>
          </p:txBody>
        </p:sp>
      </p:grpSp>
      <p:grpSp>
        <p:nvGrpSpPr>
          <p:cNvPr id="59" name="c2-callout-3"/>
          <p:cNvGrpSpPr/>
          <p:nvPr/>
        </p:nvGrpSpPr>
        <p:grpSpPr>
          <a:xfrm>
            <a:off x="5815965" y="5263515"/>
            <a:ext cx="5842635" cy="782955"/>
            <a:chOff x="5815965" y="5263515"/>
            <a:chExt cx="5842635" cy="782955"/>
          </a:xfrm>
        </p:grpSpPr>
        <p:sp>
          <p:nvSpPr>
            <p:cNvPr id="53" name="Rectangle 53"/>
            <p:cNvSpPr/>
            <p:nvPr/>
          </p:nvSpPr>
          <p:spPr>
            <a:xfrm>
              <a:off x="5815965" y="526351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020753" y="5554980"/>
              <a:ext cx="200026" cy="200025"/>
              <a:chOff x="6020753" y="5554980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020753" y="55549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060491" y="55994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095207" y="57105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322695" y="541210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本次迭代要做哪些事件流，是在架构分析阶段就定下来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的，用例分析只管其中一个用例。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231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30" y="407194"/>
              <a:ext cx="2529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用例分析在 RUP 里的位置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一次用例分析要拿哪些产物、又交出哪些产物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087413" cy="278702"/>
            <a:chOff x="526161" y="1547336"/>
            <a:chExt cx="708741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输入里除了用例本身，还有三份约束性材料，它们决定职责能放在哪、命名怎么写。</a:t>
              </a:r>
            </a:p>
          </p:txBody>
        </p:sp>
      </p:grpSp>
      <p:grpSp>
        <p:nvGrpSpPr>
          <p:cNvPr id="54" name="c1-table-1"/>
          <p:cNvGrpSpPr/>
          <p:nvPr/>
        </p:nvGrpSpPr>
        <p:grpSpPr>
          <a:xfrm>
            <a:off x="533400" y="1941195"/>
            <a:ext cx="11125200" cy="3651885"/>
            <a:chOff x="533400" y="1941195"/>
            <a:chExt cx="11125200" cy="365188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461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38109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产物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8283" y="206549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在这一步起什么作用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68818" y="247126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用例模型与具体用例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06378" y="247126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事件流是找类和分配职责的主要依据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877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68818" y="2877026"/>
              <a:ext cx="30887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补充规约（Supplementary Specifications）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06378" y="287702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非功能需求，影响职责划分和要用的分析机制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53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2827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68818" y="3282791"/>
              <a:ext cx="1395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术语表（Glossary）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06378" y="328279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实体类的名字和定义的主要来源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59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6425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6885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68818" y="36885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软件架构文档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06378" y="36885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给出分层、关键抽象和可用的分析机制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65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0943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68818" y="409432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项目特定指南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06378" y="409432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命名约定、建模约定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371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37578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2925" y="4385310"/>
              <a:ext cx="131635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3412" y="45000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968818" y="450008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306378" y="450008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带构造型、职责、属性和关系的类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7767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42925" y="4791075"/>
              <a:ext cx="131635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3412" y="49058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968818" y="49058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306378" y="4905851"/>
              <a:ext cx="1997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交互图加一张 VOPC 参与类图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51825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518731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42925" y="5196840"/>
              <a:ext cx="131635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3412" y="53116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968818" y="531161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06378" y="531161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全部分析类和用例实现的集合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941195"/>
              <a:ext cx="11125200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864042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201602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1-callout-2"/>
          <p:cNvGrpSpPr/>
          <p:nvPr/>
        </p:nvGrpSpPr>
        <p:grpSpPr>
          <a:xfrm>
            <a:off x="533400" y="5768340"/>
            <a:ext cx="11125200" cy="594360"/>
            <a:chOff x="533400" y="5768340"/>
            <a:chExt cx="11125200" cy="594360"/>
          </a:xfrm>
        </p:grpSpPr>
        <p:sp>
          <p:nvSpPr>
            <p:cNvPr id="55" name="Rectangle 55"/>
            <p:cNvSpPr/>
            <p:nvPr/>
          </p:nvSpPr>
          <p:spPr>
            <a:xfrm>
              <a:off x="533400" y="5768340"/>
              <a:ext cx="11125200" cy="594360"/>
            </a:xfrm>
            <a:prstGeom prst="roundRect">
              <a:avLst>
                <a:gd name="adj" fmla="val 1923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965508"/>
              <a:ext cx="200026" cy="200026"/>
              <a:chOff x="738188" y="5965508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655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38200" y="60321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27088" y="60655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5971223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源课件注明：本课程不单独建立和维护分析模型，分析结果直接放进设计模型里继续演化。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231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30" y="407194"/>
              <a:ext cx="2529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用例分析在 RUP 里的位置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七个步骤：两层循环撑起整个活动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558130" cy="278702"/>
            <a:chOff x="526161" y="1547336"/>
            <a:chExt cx="555813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5581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后面每一节都在做其中一步，遇到不清楚自己在哪，回到这张表。</a:t>
              </a:r>
            </a:p>
          </p:txBody>
        </p:sp>
      </p:grpSp>
      <p:grpSp>
        <p:nvGrpSpPr>
          <p:cNvPr id="38" name="c1-steps-1"/>
          <p:cNvGrpSpPr/>
          <p:nvPr/>
        </p:nvGrpSpPr>
        <p:grpSpPr>
          <a:xfrm>
            <a:off x="533400" y="1950720"/>
            <a:ext cx="4043401" cy="4040982"/>
            <a:chOff x="533400" y="1950720"/>
            <a:chExt cx="4043401" cy="4040982"/>
          </a:xfrm>
        </p:grpSpPr>
        <p:sp>
          <p:nvSpPr>
            <p:cNvPr id="9" name="Rectangle 9"/>
            <p:cNvSpPr/>
            <p:nvPr/>
          </p:nvSpPr>
          <p:spPr>
            <a:xfrm>
              <a:off x="666750" y="2093595"/>
              <a:ext cx="19050" cy="35213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5072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3841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12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2515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98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71189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785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29863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3724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88537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49591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547306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7024" y="5546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1983105"/>
              <a:ext cx="1266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补充用例描述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2250281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把面向客户的黑盒描述补成能看清内部动作的白盒描述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2569845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从用例行为找类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283702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从事件流里找出边界类、实体类、控制类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642" y="3156585"/>
              <a:ext cx="18115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把用例行为分配给类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785" y="342471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画交互图，一条消息就是一次职责分配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642" y="3743325"/>
              <a:ext cx="902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描述职责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401145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把交互图上收到的消息写成类的分析操作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5642" y="433101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描述属性与关联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785" y="459819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补上属性、关联、角色名和多重性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5642" y="4917758"/>
              <a:ext cx="1266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限定分析机制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6785" y="518493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标明这个类用到持久性、安全等哪些机制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45642" y="5504498"/>
              <a:ext cx="10846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统一分析类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6785" y="577167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跨用例合并重复的类，再按检查点自查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680835" y="1941195"/>
            <a:ext cx="4977765" cy="2071688"/>
            <a:chOff x="6680835" y="1941195"/>
            <a:chExt cx="4977765" cy="2071688"/>
          </a:xfrm>
        </p:grpSpPr>
        <p:sp>
          <p:nvSpPr>
            <p:cNvPr id="39" name="Rectangle 39"/>
            <p:cNvSpPr/>
            <p:nvPr/>
          </p:nvSpPr>
          <p:spPr>
            <a:xfrm>
              <a:off x="6680835" y="1941195"/>
              <a:ext cx="4977765" cy="2071688"/>
            </a:xfrm>
            <a:prstGeom prst="roundRect">
              <a:avLst>
                <a:gd name="adj" fmla="val 643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73240" y="213360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56679" y="216789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循环结构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881812" y="25469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37832" y="2490788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2、3 步：</a:t>
              </a: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对每个用例实现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做一遍，关注的是一条事件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流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881812" y="310610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37832" y="3049905"/>
              <a:ext cx="41713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4、5、6 步：</a:t>
              </a: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对每个分析类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做一遍，关注的是一个类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在所有用例里的样子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881812" y="366617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37832" y="360997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1、7 步和检查点在两层循环之外，一头一尾各一次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680835" y="4188142"/>
            <a:ext cx="4977765" cy="729615"/>
            <a:chOff x="6680835" y="4188142"/>
            <a:chExt cx="4977765" cy="729615"/>
          </a:xfrm>
        </p:grpSpPr>
        <p:sp>
          <p:nvSpPr>
            <p:cNvPr id="49" name="Rectangle 49"/>
            <p:cNvSpPr/>
            <p:nvPr/>
          </p:nvSpPr>
          <p:spPr>
            <a:xfrm>
              <a:off x="6680835" y="4188142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873564" y="4449246"/>
              <a:ext cx="224134" cy="192560"/>
              <a:chOff x="6873564" y="4449246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985635" y="451961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873564" y="444924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85635" y="45974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188327" y="4334828"/>
              <a:ext cx="400850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2 步和第 3 步常常交织进行：一边读事件流一边补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类，不是先列完类再分配行为。</a:t>
              </a:r>
            </a:p>
          </p:txBody>
        </p:sp>
      </p:grpSp>
      <p:grpSp>
        <p:nvGrpSpPr>
          <p:cNvPr id="57" name="c2-text-3"/>
          <p:cNvGrpSpPr/>
          <p:nvPr/>
        </p:nvGrpSpPr>
        <p:grpSpPr>
          <a:xfrm>
            <a:off x="6675120" y="5111591"/>
            <a:ext cx="4605782" cy="1103948"/>
            <a:chOff x="6675120" y="5111591"/>
            <a:chExt cx="4605782" cy="1103948"/>
          </a:xfrm>
        </p:grpSpPr>
        <p:sp>
          <p:nvSpPr>
            <p:cNvPr id="56" name="TextBox 56"/>
            <p:cNvSpPr txBox="1"/>
            <p:nvPr/>
          </p:nvSpPr>
          <p:spPr>
            <a:xfrm>
              <a:off x="6675120" y="5111591"/>
              <a:ext cx="4605782" cy="11039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步骤名用的是源课件的英文条目：Supplement the Use-Case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Description、Find Classes from Use-Case Behavior、Distribute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Use-Case Behavior to Classes、Describe Responsibilities、Describe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Attributes and Associations、Qualify Analysis Mechanisms、Unify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Analysis Classes。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231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30" y="407194"/>
              <a:ext cx="2529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用例分析在 RUP 里的位置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第一步：把黑盒描述改写成看得见内部动作的白盒描述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77000" cy="293370"/>
            <a:chOff x="525780" y="1548765"/>
            <a:chExt cx="64770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客户不关心系统内部，写给客户看的用例常常缺少找对象所需要的细节。</a:t>
              </a:r>
            </a:p>
          </p:txBody>
        </p:sp>
      </p:grpSp>
      <p:grpSp>
        <p:nvGrpSpPr>
          <p:cNvPr id="29" name="c1-compare-1"/>
          <p:cNvGrpSpPr/>
          <p:nvPr/>
        </p:nvGrpSpPr>
        <p:grpSpPr>
          <a:xfrm>
            <a:off x="533400" y="1954530"/>
            <a:ext cx="5627370" cy="4048125"/>
            <a:chOff x="533400" y="1954530"/>
            <a:chExt cx="5627370" cy="404812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2099310" cy="4048125"/>
            </a:xfrm>
            <a:prstGeom prst="roundRect">
              <a:avLst>
                <a:gd name="adj" fmla="val 63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7814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68096" y="218170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黑盒（写给客户）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580323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520791"/>
              <a:ext cx="12768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系统显示课程列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1718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112294"/>
              <a:ext cx="12768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看不出信息从哪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里来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76332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703796"/>
              <a:ext cx="12768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看不出谁负责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取、谁负责显示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061460" y="1954530"/>
              <a:ext cx="2099310" cy="4048125"/>
            </a:xfrm>
            <a:prstGeom prst="roundRect">
              <a:avLst>
                <a:gd name="adj" fmla="val 63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70985" y="2087880"/>
              <a:ext cx="47625" cy="37814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96156" y="2181701"/>
              <a:ext cx="1457198" cy="523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白盒（写给建模的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人）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4311015" y="282511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67606" y="2764631"/>
              <a:ext cx="127685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系统从课程目录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遗留数据库中检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索并显示本学期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的课程列表。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4311015" y="395954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467606" y="389905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点明了信息来源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311015" y="427958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467606" y="4219099"/>
              <a:ext cx="12768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至少能看出两个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角色：取数据的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和显示数据的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2680335" y="3311842"/>
              <a:ext cx="1333500" cy="13335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705672" y="391287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同一句话的两种写法</a:t>
              </a:r>
            </a:p>
          </p:txBody>
        </p:sp>
      </p:grpSp>
      <p:grpSp>
        <p:nvGrpSpPr>
          <p:cNvPr id="36" name="c2-bullets-1"/>
          <p:cNvGrpSpPr/>
          <p:nvPr/>
        </p:nvGrpSpPr>
        <p:grpSpPr>
          <a:xfrm>
            <a:off x="6464618" y="1977866"/>
            <a:ext cx="5037708" cy="1209294"/>
            <a:chOff x="6464618" y="1977866"/>
            <a:chExt cx="5037708" cy="1209294"/>
          </a:xfrm>
        </p:grpSpPr>
        <p:sp>
          <p:nvSpPr>
            <p:cNvPr id="30" name="Freeform 30"/>
            <p:cNvSpPr/>
            <p:nvPr/>
          </p:nvSpPr>
          <p:spPr>
            <a:xfrm>
              <a:off x="6464618" y="2007870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08838" y="1977866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补充的目的：让事件流细到能看出内部有哪些对象在做事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464618" y="233743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08838" y="2307431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补充结果作为后面各步的输入，尤其用来判断职责该给谁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464618" y="266700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08838" y="263699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补写时若发现需求本身有错或没弄清，要回到需求学科去改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用例，而不是在分析模型里偷偷改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6464618" y="3315652"/>
            <a:ext cx="5193982" cy="756285"/>
            <a:chOff x="6464618" y="3315652"/>
            <a:chExt cx="5193982" cy="756285"/>
          </a:xfrm>
        </p:grpSpPr>
        <p:sp>
          <p:nvSpPr>
            <p:cNvPr id="37" name="Rectangle 37"/>
            <p:cNvSpPr/>
            <p:nvPr/>
          </p:nvSpPr>
          <p:spPr>
            <a:xfrm>
              <a:off x="6464618" y="3315652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69405" y="3593785"/>
              <a:ext cx="200023" cy="200023"/>
              <a:chOff x="6669405" y="3593785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669405" y="35937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802755" y="36604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1729" y="3463766"/>
              <a:ext cx="390080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判断标准：读完一句话，能说出“谁拿到了什么信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息”，这句话就够白了。</a:t>
              </a:r>
            </a:p>
          </p:txBody>
        </p:sp>
      </p:grpSp>
      <p:grpSp>
        <p:nvGrpSpPr>
          <p:cNvPr id="50" name="c2-card-3"/>
          <p:cNvGrpSpPr/>
          <p:nvPr/>
        </p:nvGrpSpPr>
        <p:grpSpPr>
          <a:xfrm>
            <a:off x="6464618" y="4257675"/>
            <a:ext cx="5193982" cy="1744980"/>
            <a:chOff x="6464618" y="4257675"/>
            <a:chExt cx="5193982" cy="1744980"/>
          </a:xfrm>
        </p:grpSpPr>
        <p:sp>
          <p:nvSpPr>
            <p:cNvPr id="43" name="Rectangle 43"/>
            <p:cNvSpPr/>
            <p:nvPr/>
          </p:nvSpPr>
          <p:spPr>
            <a:xfrm>
              <a:off x="6464618" y="4257675"/>
              <a:ext cx="5193982" cy="1744980"/>
            </a:xfrm>
            <a:prstGeom prst="roundRect">
              <a:avLst>
                <a:gd name="adj" fmla="val 76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4142" y="4391025"/>
              <a:ext cx="47625" cy="14782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706552" y="446151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92811" y="449722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练一练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49884" y="4501039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把下面这句补成白盒描述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99314" y="485346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原句：学生提交课表，系统确认提交成功。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00456" y="5169217"/>
              <a:ext cx="443179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参考写法：系统逐个检查课表上的教学班是否还有名额，检查通过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后把课表状态改为已提交，保存下来，再把确认结果显示给学生。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补写时要点出检查什么、谁保存、结果给谁看。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67528" cy="3351847"/>
            <a:chOff x="667512" y="1835468"/>
            <a:chExt cx="536752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从用例行为中找出分析类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三种构造型，各隔离一类会变的东西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类与用例实现的复习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边界类、实体类、控制类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名词过滤法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64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汇总成 VOPC 初版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复习：类是一组对象的抽象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uml-1"/>
          <p:cNvGrpSpPr/>
          <p:nvPr/>
        </p:nvGrpSpPr>
        <p:grpSpPr>
          <a:xfrm>
            <a:off x="2222182" y="1915478"/>
            <a:ext cx="1599248" cy="1598295"/>
            <a:chOff x="2222182" y="1915478"/>
            <a:chExt cx="1599248" cy="1598295"/>
          </a:xfrm>
        </p:grpSpPr>
        <p:sp>
          <p:nvSpPr>
            <p:cNvPr id="7" name="Rectangle 7"/>
            <p:cNvSpPr/>
            <p:nvPr/>
          </p:nvSpPr>
          <p:spPr>
            <a:xfrm>
              <a:off x="2222182" y="1915478"/>
              <a:ext cx="1599248" cy="15982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2229802" y="1923098"/>
              <a:ext cx="1584960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2222182" y="2182178"/>
              <a:ext cx="159924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222182" y="2656522"/>
              <a:ext cx="159924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622278" y="1979771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Professor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93048" y="2254568"/>
              <a:ext cx="1457516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name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professorId : UniqueId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93048" y="2728912"/>
              <a:ext cx="597408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save()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delete()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change()</a:t>
              </a:r>
            </a:p>
          </p:txBody>
        </p:sp>
      </p:grpSp>
      <p:grpSp>
        <p:nvGrpSpPr>
          <p:cNvPr id="16" name="c1-text-2"/>
          <p:cNvGrpSpPr/>
          <p:nvPr/>
        </p:nvGrpSpPr>
        <p:grpSpPr>
          <a:xfrm>
            <a:off x="526923" y="4117181"/>
            <a:ext cx="3803853" cy="249364"/>
            <a:chOff x="526923" y="4117181"/>
            <a:chExt cx="3803853" cy="249364"/>
          </a:xfrm>
        </p:grpSpPr>
        <p:sp>
          <p:nvSpPr>
            <p:cNvPr id="15" name="TextBox 15"/>
            <p:cNvSpPr txBox="1"/>
            <p:nvPr/>
          </p:nvSpPr>
          <p:spPr>
            <a:xfrm>
              <a:off x="526923" y="411718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类框三段：类名、结构（属性）、行为（操作）。</a:t>
              </a:r>
            </a:p>
          </p:txBody>
        </p:sp>
      </p:grpSp>
      <p:grpSp>
        <p:nvGrpSpPr>
          <p:cNvPr id="22" name="c1-card-3"/>
          <p:cNvGrpSpPr/>
          <p:nvPr/>
        </p:nvGrpSpPr>
        <p:grpSpPr>
          <a:xfrm>
            <a:off x="533400" y="4506278"/>
            <a:ext cx="4977765" cy="1602105"/>
            <a:chOff x="533400" y="4506278"/>
            <a:chExt cx="4977765" cy="1602105"/>
          </a:xfrm>
        </p:grpSpPr>
        <p:sp>
          <p:nvSpPr>
            <p:cNvPr id="17" name="Rectangle 17"/>
            <p:cNvSpPr/>
            <p:nvPr/>
          </p:nvSpPr>
          <p:spPr>
            <a:xfrm>
              <a:off x="533400" y="4506278"/>
              <a:ext cx="497776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639628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471582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3359" y="47515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类与对象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5093018"/>
              <a:ext cx="43300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类是描述，对象是按这个描述产生的实例。UML 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对象名写成“对象名:类名”并加下划线，类名则直接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写在类框的第一段。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5815965" y="1524000"/>
            <a:ext cx="5842635" cy="1335405"/>
            <a:chOff x="5815965" y="1524000"/>
            <a:chExt cx="5842635" cy="1335405"/>
          </a:xfrm>
        </p:grpSpPr>
        <p:sp>
          <p:nvSpPr>
            <p:cNvPr id="23" name="Rectangle 23"/>
            <p:cNvSpPr/>
            <p:nvPr/>
          </p:nvSpPr>
          <p:spPr>
            <a:xfrm>
              <a:off x="5815965" y="1524000"/>
              <a:ext cx="5842635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25490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06361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15382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3690" y="1768792"/>
              <a:ext cx="11570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类（Class）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55995" y="2129790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类描述一组具有共同属性、共同行为、共同关系和共同语义的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41" name="c2-kv-2"/>
          <p:cNvGrpSpPr/>
          <p:nvPr/>
        </p:nvGrpSpPr>
        <p:grpSpPr>
          <a:xfrm>
            <a:off x="5808345" y="3074670"/>
            <a:ext cx="5850255" cy="1613535"/>
            <a:chOff x="5808345" y="3074670"/>
            <a:chExt cx="5850255" cy="1613535"/>
          </a:xfrm>
        </p:grpSpPr>
        <p:sp>
          <p:nvSpPr>
            <p:cNvPr id="30" name="TextBox 30"/>
            <p:cNvSpPr txBox="1"/>
            <p:nvPr/>
          </p:nvSpPr>
          <p:spPr>
            <a:xfrm>
              <a:off x="5808345" y="3074670"/>
              <a:ext cx="15958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属性 attributes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94308" y="307467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对象存什么信息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339471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808345" y="3514725"/>
              <a:ext cx="15958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操作 operations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94308" y="35147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对象能做什么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815965" y="383476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808345" y="3954780"/>
              <a:ext cx="18396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关系 relationships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94308" y="39547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对象和谁连着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427482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8345" y="4394835"/>
              <a:ext cx="15216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语义 semantics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94308" y="439483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这个抽象在问题域里表示什么</a:t>
              </a:r>
            </a:p>
          </p:txBody>
        </p:sp>
      </p:grpSp>
      <p:grpSp>
        <p:nvGrpSpPr>
          <p:cNvPr id="48" name="c2-callout-3"/>
          <p:cNvGrpSpPr/>
          <p:nvPr/>
        </p:nvGrpSpPr>
        <p:grpSpPr>
          <a:xfrm>
            <a:off x="5815965" y="4819650"/>
            <a:ext cx="5842635" cy="1288732"/>
            <a:chOff x="5815965" y="4819650"/>
            <a:chExt cx="5842635" cy="1288732"/>
          </a:xfrm>
        </p:grpSpPr>
        <p:sp>
          <p:nvSpPr>
            <p:cNvPr id="42" name="Rectangle 42"/>
            <p:cNvSpPr/>
            <p:nvPr/>
          </p:nvSpPr>
          <p:spPr>
            <a:xfrm>
              <a:off x="5815965" y="4819650"/>
              <a:ext cx="5842635" cy="1288732"/>
            </a:xfrm>
            <a:prstGeom prst="roundRect">
              <a:avLst>
                <a:gd name="adj" fmla="val 886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020753" y="5364480"/>
              <a:ext cx="200026" cy="200025"/>
              <a:chOff x="6020753" y="5364480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020753" y="53644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060491" y="54089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095207" y="55200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322695" y="5221605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抽象的含义是强调与当前问题相关的特征，把其余特征压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下去，所以同一批对象在不同系统里抽象成不同的类。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用例实现把一个用例落到一群协作的对象上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用例模型说系统做什么，用例实现说这件事在设计模型里由哪些对象怎么做。</a:t>
              </a:r>
            </a:p>
          </p:txBody>
        </p:sp>
      </p:grpSp>
      <p:grpSp>
        <p:nvGrpSpPr>
          <p:cNvPr id="28" name="c1-graph-1"/>
          <p:cNvGrpSpPr/>
          <p:nvPr/>
        </p:nvGrpSpPr>
        <p:grpSpPr>
          <a:xfrm>
            <a:off x="1343025" y="1990725"/>
            <a:ext cx="3657600" cy="3896678"/>
            <a:chOff x="1343025" y="1990725"/>
            <a:chExt cx="3657600" cy="3896678"/>
          </a:xfrm>
        </p:grpSpPr>
        <p:sp>
          <p:nvSpPr>
            <p:cNvPr id="9" name="Freeform 9"/>
            <p:cNvSpPr/>
            <p:nvPr/>
          </p:nvSpPr>
          <p:spPr>
            <a:xfrm>
              <a:off x="2209800" y="2670810"/>
              <a:ext cx="1790700" cy="9525"/>
            </a:xfrm>
            <a:custGeom>
              <a:avLst/>
              <a:gdLst/>
              <a:ahLst/>
              <a:cxnLst/>
              <a:rect l="l" t="t" r="r" b="b"/>
              <a:pathLst>
                <a:path w="1790700" h="9525">
                  <a:moveTo>
                    <a:pt x="179070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2114550" y="26231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28862" y="2941320"/>
              <a:ext cx="1766888" cy="1435418"/>
            </a:xfrm>
            <a:custGeom>
              <a:avLst/>
              <a:gdLst/>
              <a:ahLst/>
              <a:cxnLst/>
              <a:rect l="l" t="t" r="r" b="b"/>
              <a:pathLst>
                <a:path w="1766888" h="1435418">
                  <a:moveTo>
                    <a:pt x="1766888" y="0"/>
                  </a:moveTo>
                  <a:lnTo>
                    <a:pt x="0" y="143541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429125" y="3099435"/>
              <a:ext cx="9525" cy="1277303"/>
            </a:xfrm>
            <a:custGeom>
              <a:avLst/>
              <a:gdLst/>
              <a:ahLst/>
              <a:cxnLst/>
              <a:rect l="l" t="t" r="r" b="b"/>
              <a:pathLst>
                <a:path w="9525" h="1277303">
                  <a:moveTo>
                    <a:pt x="0" y="0"/>
                  </a:moveTo>
                  <a:lnTo>
                    <a:pt x="0" y="12773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344228" y="3072765"/>
              <a:ext cx="936307" cy="2534602"/>
            </a:xfrm>
            <a:custGeom>
              <a:avLst/>
              <a:gdLst/>
              <a:ahLst/>
              <a:cxnLst/>
              <a:rect l="l" t="t" r="r" b="b"/>
              <a:pathLst>
                <a:path w="936307" h="2534602">
                  <a:moveTo>
                    <a:pt x="936307" y="0"/>
                  </a:moveTo>
                  <a:lnTo>
                    <a:pt x="0" y="253460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343025" y="2289810"/>
              <a:ext cx="762000" cy="762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4010025" y="2251710"/>
              <a:ext cx="838200" cy="8382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584960" y="4376738"/>
              <a:ext cx="114300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857625" y="4376738"/>
              <a:ext cx="114300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721292" y="5607368"/>
              <a:ext cx="114300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577340" y="26050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41089" y="260508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39100" y="44510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11764" y="44510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146108" y="56816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2914650" y="2591752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942374" y="2621756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76946" y="199072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用例模型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82046" y="199072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设计模型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967865"/>
            <a:ext cx="5410200" cy="1917382"/>
            <a:chOff x="6248400" y="1967865"/>
            <a:chExt cx="5410200" cy="1917382"/>
          </a:xfrm>
        </p:grpSpPr>
        <p:sp>
          <p:nvSpPr>
            <p:cNvPr id="29" name="Rectangle 29"/>
            <p:cNvSpPr/>
            <p:nvPr/>
          </p:nvSpPr>
          <p:spPr>
            <a:xfrm>
              <a:off x="6248400" y="1967865"/>
              <a:ext cx="5410200" cy="1917382"/>
            </a:xfrm>
            <a:prstGeom prst="roundRect">
              <a:avLst>
                <a:gd name="adj" fmla="val 69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57925" y="2101215"/>
              <a:ext cx="47625" cy="16506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96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86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97078" y="2212658"/>
              <a:ext cx="33670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用例实现（Use-Case Realization）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88430" y="257365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用例实现描述一个用例在设计模型里如何由协作的对象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完成，它和用例模型中的那个用例之间画一条实现关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9573" y="3476149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一个用例可以有多种实现方式，用例实现只是其中一种。</a:t>
              </a:r>
            </a:p>
          </p:txBody>
        </p:sp>
      </p:grpSp>
      <p:grpSp>
        <p:nvGrpSpPr>
          <p:cNvPr id="42" name="c2-kv-2"/>
          <p:cNvGrpSpPr/>
          <p:nvPr/>
        </p:nvGrpSpPr>
        <p:grpSpPr>
          <a:xfrm>
            <a:off x="6240780" y="4100512"/>
            <a:ext cx="5417820" cy="1015366"/>
            <a:chOff x="6240780" y="4100512"/>
            <a:chExt cx="5417820" cy="1015366"/>
          </a:xfrm>
        </p:grpSpPr>
        <p:sp>
          <p:nvSpPr>
            <p:cNvPr id="37" name="TextBox 37"/>
            <p:cNvSpPr txBox="1"/>
            <p:nvPr/>
          </p:nvSpPr>
          <p:spPr>
            <a:xfrm>
              <a:off x="6240780" y="410051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交互图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83742" y="4100512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顺序图或协作图，描述对象之间的动态协作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44205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40780" y="454056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83742" y="4540568"/>
              <a:ext cx="4206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描述参与这次协作的类和它们之间的关系，是协作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的静态上下文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248400" y="5247322"/>
            <a:ext cx="5410200" cy="782955"/>
            <a:chOff x="6248400" y="5247322"/>
            <a:chExt cx="5410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6248400" y="524732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5538788"/>
              <a:ext cx="200026" cy="200026"/>
              <a:chOff x="6453188" y="5538788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55387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56054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42088" y="56388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539591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分析阶段画出草图，到用例设计阶段再按正式的类接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口定义细化，图的数量和种类由项目自己定。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分析类是从需求走向可执行系统的第一步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flow-1"/>
          <p:cNvGrpSpPr/>
          <p:nvPr/>
        </p:nvGrpSpPr>
        <p:grpSpPr>
          <a:xfrm>
            <a:off x="666750" y="2114550"/>
            <a:ext cx="5792152" cy="629602"/>
            <a:chOff x="666750" y="2114550"/>
            <a:chExt cx="5792152" cy="629602"/>
          </a:xfrm>
        </p:grpSpPr>
        <p:sp>
          <p:nvSpPr>
            <p:cNvPr id="7" name="Freeform 7"/>
            <p:cNvSpPr/>
            <p:nvPr/>
          </p:nvSpPr>
          <p:spPr>
            <a:xfrm>
              <a:off x="1611630" y="242887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773555" y="2376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824162" y="242887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86088" y="2376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035742" y="242887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197668" y="2376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247322" y="242887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409248" y="2376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2209800"/>
              <a:ext cx="94488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878330" y="2209800"/>
              <a:ext cx="944880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090862" y="2114550"/>
              <a:ext cx="94488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02442" y="2209800"/>
              <a:ext cx="94488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514022" y="2114550"/>
              <a:ext cx="94488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0399" y="23398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85823" y="23398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12986" y="2230279"/>
              <a:ext cx="5006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09935" y="23398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36146" y="2230279"/>
              <a:ext cx="5006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可执行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3524250"/>
            <a:ext cx="6059805" cy="782955"/>
            <a:chOff x="533400" y="3524250"/>
            <a:chExt cx="6059805" cy="782955"/>
          </a:xfrm>
        </p:grpSpPr>
        <p:sp>
          <p:nvSpPr>
            <p:cNvPr id="26" name="Rectangle 26"/>
            <p:cNvSpPr/>
            <p:nvPr/>
          </p:nvSpPr>
          <p:spPr>
            <a:xfrm>
              <a:off x="533400" y="352425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3815717"/>
              <a:ext cx="200023" cy="200023"/>
              <a:chOff x="738188" y="3815717"/>
              <a:chExt cx="200023" cy="20002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38157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1538" y="38823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3672840"/>
              <a:ext cx="5092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用例分析只走最左边这一段：把“要求系统做什么”变成“系统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由哪些东西组成”。</a:t>
              </a:r>
            </a:p>
          </p:txBody>
        </p:sp>
      </p:grpSp>
      <p:grpSp>
        <p:nvGrpSpPr>
          <p:cNvPr id="43" name="c1-kv-3"/>
          <p:cNvGrpSpPr/>
          <p:nvPr/>
        </p:nvGrpSpPr>
        <p:grpSpPr>
          <a:xfrm>
            <a:off x="525780" y="4522470"/>
            <a:ext cx="6067425" cy="1613535"/>
            <a:chOff x="525780" y="4522470"/>
            <a:chExt cx="6067425" cy="1613535"/>
          </a:xfrm>
        </p:grpSpPr>
        <p:sp>
          <p:nvSpPr>
            <p:cNvPr id="32" name="TextBox 32"/>
            <p:cNvSpPr txBox="1"/>
            <p:nvPr/>
          </p:nvSpPr>
          <p:spPr>
            <a:xfrm>
              <a:off x="525780" y="452247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59368" y="452247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系统要做什么，来自需求学科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84251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5780" y="49625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559368" y="496252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系统由哪些概念组成，本讲的产物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28256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5780" y="540258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设计元素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59368" y="540258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补上接口、子系统、构件等设计决定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72262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5780" y="584263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源代码与可执行系统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559368" y="584263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实现和构建的结果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898005" y="1524000"/>
            <a:ext cx="4760595" cy="4552950"/>
            <a:chOff x="6898005" y="1524000"/>
            <a:chExt cx="4760595" cy="4552950"/>
          </a:xfrm>
        </p:grpSpPr>
        <p:sp>
          <p:nvSpPr>
            <p:cNvPr id="44" name="Rectangle 44"/>
            <p:cNvSpPr/>
            <p:nvPr/>
          </p:nvSpPr>
          <p:spPr>
            <a:xfrm>
              <a:off x="6898005" y="1524000"/>
              <a:ext cx="4760595" cy="4552950"/>
            </a:xfrm>
            <a:prstGeom prst="roundRect">
              <a:avLst>
                <a:gd name="adj" fmla="val 29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07530" y="1657350"/>
              <a:ext cx="47625" cy="42862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4565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3586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心态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45730" y="1768792"/>
              <a:ext cx="32955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分析类是“原型类”（proto-class）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38035" y="212979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分析类是一团尚未定型的行为，合在一起构成系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统最早的概念模型。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151370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309485" y="27508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这个模型变得很快，不值得花力气做成正式文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档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51370" y="34347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09485" y="337185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分析类很少原封不动活到实现阶段：有的长成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子系统或构件，有的被拆开，有的被合并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51370" y="40557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309485" y="399288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它的用处是让你可以反复挪动职责，试出一种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合理的分布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三种构造型各自圈住一类容易变的东西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83196" cy="264033"/>
            <a:chOff x="526542" y="1545907"/>
            <a:chExt cx="728319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系统里最容易变的是三样：与外界的边界、用到的信息、控制逻辑。分析类按这三样分类。</a:t>
              </a:r>
            </a:p>
          </p:txBody>
        </p:sp>
      </p:grpSp>
      <p:grpSp>
        <p:nvGrpSpPr>
          <p:cNvPr id="32" name="c1-graph-1"/>
          <p:cNvGrpSpPr/>
          <p:nvPr/>
        </p:nvGrpSpPr>
        <p:grpSpPr>
          <a:xfrm>
            <a:off x="718185" y="2592705"/>
            <a:ext cx="5253990" cy="3057049"/>
            <a:chOff x="718185" y="2592705"/>
            <a:chExt cx="5253990" cy="3057049"/>
          </a:xfrm>
        </p:grpSpPr>
        <p:sp>
          <p:nvSpPr>
            <p:cNvPr id="9" name="Freeform 9"/>
            <p:cNvSpPr/>
            <p:nvPr/>
          </p:nvSpPr>
          <p:spPr>
            <a:xfrm>
              <a:off x="1223010" y="2840355"/>
              <a:ext cx="713422" cy="9525"/>
            </a:xfrm>
            <a:custGeom>
              <a:avLst/>
              <a:gdLst/>
              <a:ahLst/>
              <a:cxnLst/>
              <a:rect l="l" t="t" r="r" b="b"/>
              <a:pathLst>
                <a:path w="713422" h="9525">
                  <a:moveTo>
                    <a:pt x="0" y="0"/>
                  </a:moveTo>
                  <a:lnTo>
                    <a:pt x="7134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23010" y="4816792"/>
              <a:ext cx="713422" cy="9525"/>
            </a:xfrm>
            <a:custGeom>
              <a:avLst/>
              <a:gdLst/>
              <a:ahLst/>
              <a:cxnLst/>
              <a:rect l="l" t="t" r="r" b="b"/>
              <a:pathLst>
                <a:path w="713422" h="9525">
                  <a:moveTo>
                    <a:pt x="0" y="0"/>
                  </a:moveTo>
                  <a:lnTo>
                    <a:pt x="7134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665095" y="2960370"/>
              <a:ext cx="1146810" cy="748665"/>
            </a:xfrm>
            <a:custGeom>
              <a:avLst/>
              <a:gdLst/>
              <a:ahLst/>
              <a:cxnLst/>
              <a:rect l="l" t="t" r="r" b="b"/>
              <a:pathLst>
                <a:path w="1146810" h="748665">
                  <a:moveTo>
                    <a:pt x="0" y="0"/>
                  </a:moveTo>
                  <a:lnTo>
                    <a:pt x="1146810" y="7486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65095" y="3949065"/>
              <a:ext cx="1146810" cy="747712"/>
            </a:xfrm>
            <a:custGeom>
              <a:avLst/>
              <a:gdLst/>
              <a:ahLst/>
              <a:cxnLst/>
              <a:rect l="l" t="t" r="r" b="b"/>
              <a:pathLst>
                <a:path w="1146810" h="747712">
                  <a:moveTo>
                    <a:pt x="0" y="747712"/>
                  </a:moveTo>
                  <a:lnTo>
                    <a:pt x="11468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179570" y="2960370"/>
              <a:ext cx="1146810" cy="748665"/>
            </a:xfrm>
            <a:custGeom>
              <a:avLst/>
              <a:gdLst/>
              <a:ahLst/>
              <a:cxnLst/>
              <a:rect l="l" t="t" r="r" b="b"/>
              <a:pathLst>
                <a:path w="1146810" h="748665">
                  <a:moveTo>
                    <a:pt x="0" y="748665"/>
                  </a:moveTo>
                  <a:lnTo>
                    <a:pt x="11468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179570" y="3949065"/>
              <a:ext cx="1146810" cy="747712"/>
            </a:xfrm>
            <a:custGeom>
              <a:avLst/>
              <a:gdLst/>
              <a:ahLst/>
              <a:cxnLst/>
              <a:rect l="l" t="t" r="r" b="b"/>
              <a:pathLst>
                <a:path w="1146810" h="747712">
                  <a:moveTo>
                    <a:pt x="0" y="0"/>
                  </a:moveTo>
                  <a:lnTo>
                    <a:pt x="1146810" y="7477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718185" y="259270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718185" y="4569142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36432" y="2720340"/>
              <a:ext cx="1089660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936432" y="4696778"/>
              <a:ext cx="1089660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92818" y="3709035"/>
              <a:ext cx="1005840" cy="240030"/>
            </a:xfrm>
            <a:prstGeom prst="roundRect">
              <a:avLst>
                <a:gd name="adj" fmla="val 3968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050155" y="2720340"/>
              <a:ext cx="922020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50155" y="4696778"/>
              <a:ext cx="922020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9492" y="2785110"/>
              <a:ext cx="4726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9492" y="4760595"/>
              <a:ext cx="4726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26656" y="2785110"/>
              <a:ext cx="7092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26656" y="4760595"/>
              <a:ext cx="7092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92018" y="3772852"/>
              <a:ext cx="60744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42430" y="2785110"/>
              <a:ext cx="5374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242430" y="4760595"/>
              <a:ext cx="5374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255723" y="548782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系统边界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59810" y="5487829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协调用例行为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85626" y="548782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系统信息</a:t>
              </a:r>
            </a:p>
          </p:txBody>
        </p:sp>
      </p:grpSp>
      <p:grpSp>
        <p:nvGrpSpPr>
          <p:cNvPr id="37" name="c1-bullets-2"/>
          <p:cNvGrpSpPr/>
          <p:nvPr/>
        </p:nvGrpSpPr>
        <p:grpSpPr>
          <a:xfrm>
            <a:off x="542925" y="5917406"/>
            <a:ext cx="5143195" cy="489586"/>
            <a:chOff x="542925" y="5917406"/>
            <a:chExt cx="5143195" cy="489586"/>
          </a:xfrm>
        </p:grpSpPr>
        <p:sp>
          <p:nvSpPr>
            <p:cNvPr id="33" name="Ellipse 33"/>
            <p:cNvSpPr/>
            <p:nvPr/>
          </p:nvSpPr>
          <p:spPr>
            <a:xfrm>
              <a:off x="542925" y="595979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99135" y="5917406"/>
              <a:ext cx="3642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只与边界类打交道，控制类和实体类被挡在里面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542925" y="622935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99135" y="6186964"/>
              <a:ext cx="4986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界面或通信协议变了，改的只是边界类；用例流程变了，改的主要是控制类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248400" y="1928812"/>
            <a:ext cx="5410200" cy="2043112"/>
            <a:chOff x="6248400" y="1928812"/>
            <a:chExt cx="5410200" cy="2043112"/>
          </a:xfrm>
        </p:grpSpPr>
        <p:sp>
          <p:nvSpPr>
            <p:cNvPr id="38" name="Rectangle 38"/>
            <p:cNvSpPr/>
            <p:nvPr/>
          </p:nvSpPr>
          <p:spPr>
            <a:xfrm>
              <a:off x="6248400" y="1928812"/>
              <a:ext cx="5410200" cy="2043112"/>
            </a:xfrm>
            <a:prstGeom prst="roundRect">
              <a:avLst>
                <a:gd name="adj" fmla="val 652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35090" y="2115502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05359" y="214836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为什么要用构造型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2459355"/>
              <a:ext cx="46600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三种构造型带着一套“罐装职责”，照着分就能得到较健壮的结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构，不必每次从零判断。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43662" y="307276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99682" y="3016568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画法：写在书名号里（«boundary»、«control»、«entity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»），也可以用三种专用图标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43662" y="363093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99682" y="357473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构造型只在分析阶段用，进入设计阶段就消失了</a:t>
              </a:r>
            </a:p>
          </p:txBody>
        </p:sp>
      </p:grpSp>
      <p:grpSp>
        <p:nvGrpSpPr>
          <p:cNvPr id="49" name="c2-image-2"/>
          <p:cNvGrpSpPr/>
          <p:nvPr/>
        </p:nvGrpSpPr>
        <p:grpSpPr>
          <a:xfrm>
            <a:off x="6248400" y="4141470"/>
            <a:ext cx="5410200" cy="2127599"/>
            <a:chOff x="6248400" y="4141470"/>
            <a:chExt cx="5410200" cy="2127599"/>
          </a:xfrm>
        </p:grpSpPr>
        <p:pic>
          <p:nvPicPr>
            <p:cNvPr id="47" name="Image 47"/>
            <p:cNvPicPr>
              <a:picLocks noChangeAspect="1"/>
            </p:cNvPicPr>
            <p:nvPr/>
          </p:nvPicPr>
          <p:blipFill>
            <a:blip r:embed="rId2"/>
            <a:srcRect l="0" t="27277" r="0" b="27277"/>
            <a:stretch>
              <a:fillRect/>
            </a:stretch>
          </p:blipFill>
          <p:spPr>
            <a:xfrm>
              <a:off x="6248400" y="4141470"/>
              <a:ext cx="5410200" cy="1844040"/>
            </a:xfrm>
            <a:prstGeom prst="roundRect">
              <a:avLst>
                <a:gd name="adj" fmla="val 7231"/>
              </a:avLst>
            </a:prstGeom>
          </p:spPr>
        </p:pic>
        <p:sp>
          <p:nvSpPr>
            <p:cNvPr id="48" name="TextBox 48"/>
            <p:cNvSpPr txBox="1"/>
            <p:nvPr/>
          </p:nvSpPr>
          <p:spPr>
            <a:xfrm>
              <a:off x="6969633" y="6078379"/>
              <a:ext cx="39677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点菜的服务员、盯单的主厨、后厨货架，正好对应边界、控制、实体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边界类：系统与外部之间的中介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120792" cy="308039"/>
            <a:chOff x="525399" y="1550194"/>
            <a:chExt cx="512079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1207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它把外部环境的变化挡在系统外面，让内部不受影响。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67865"/>
            <a:ext cx="5193982" cy="1335405"/>
            <a:chOff x="533400" y="1967865"/>
            <a:chExt cx="5193982" cy="133540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25647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边界类（Boundary Class）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边界类处在系统接口与系统外部某个东西之间，负责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两边的转换与对话。</a:t>
              </a:r>
            </a:p>
          </p:txBody>
        </p:sp>
      </p:grpSp>
      <p:grpSp>
        <p:nvGrpSpPr>
          <p:cNvPr id="24" name="c1-kv-2"/>
          <p:cNvGrpSpPr/>
          <p:nvPr/>
        </p:nvGrpSpPr>
        <p:grpSpPr>
          <a:xfrm>
            <a:off x="525780" y="3518535"/>
            <a:ext cx="5201602" cy="1737360"/>
            <a:chOff x="525780" y="3518535"/>
            <a:chExt cx="5201602" cy="1737360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351853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用户界面类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65935" y="351853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与人交互，关心显示什么信息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8385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395859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系统接口类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65935" y="3958590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与另一个系统交互，负责管理与外部系统的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对话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5605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5780" y="46805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设备接口类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65935" y="4680585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与探测外部事件的设备交互，封装设备或传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感器的职责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5387340"/>
            <a:ext cx="5193982" cy="782955"/>
            <a:chOff x="533400" y="5387340"/>
            <a:chExt cx="5193982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538734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678807"/>
              <a:ext cx="200023" cy="200023"/>
              <a:chOff x="738188" y="5678807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6788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57454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535930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初步识别的经验做法：每一对“Actor × 用例”先设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一个边界类。</a:t>
              </a:r>
            </a:p>
          </p:txBody>
        </p:sp>
      </p:grpSp>
      <p:grpSp>
        <p:nvGrpSpPr>
          <p:cNvPr id="38" name="c2-bullets-1"/>
          <p:cNvGrpSpPr/>
          <p:nvPr/>
        </p:nvGrpSpPr>
        <p:grpSpPr>
          <a:xfrm>
            <a:off x="6024562" y="1992630"/>
            <a:ext cx="5416868" cy="1908810"/>
            <a:chOff x="6024562" y="1992630"/>
            <a:chExt cx="5416868" cy="1908810"/>
          </a:xfrm>
        </p:grpSpPr>
        <p:sp>
          <p:nvSpPr>
            <p:cNvPr id="31" name="TextBox 31"/>
            <p:cNvSpPr txBox="1"/>
            <p:nvPr/>
          </p:nvSpPr>
          <p:spPr>
            <a:xfrm>
              <a:off x="6024562" y="19926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边界类的性质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32182" y="237839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82690" y="234696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依赖环境：环境变了，改的是它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032182" y="272319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82690" y="269176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它让系统边界变清楚，也提示出配套要做的事，比如识别出打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印机接口就会想到还要建输出排版的模型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032182" y="335375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4293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282690" y="332232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生命期通常与用例实例一样长；需要跨两个用例留在屏幕上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时，可以活得更久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032182" y="4032885"/>
            <a:ext cx="5626418" cy="2137410"/>
            <a:chOff x="6032182" y="4032885"/>
            <a:chExt cx="5626418" cy="2137410"/>
          </a:xfrm>
        </p:grpSpPr>
        <p:sp>
          <p:nvSpPr>
            <p:cNvPr id="39" name="Rectangle 39"/>
            <p:cNvSpPr/>
            <p:nvPr/>
          </p:nvSpPr>
          <p:spPr>
            <a:xfrm>
              <a:off x="6032182" y="4032885"/>
              <a:ext cx="5626418" cy="2137410"/>
            </a:xfrm>
            <a:prstGeom prst="roundRect">
              <a:avLst>
                <a:gd name="adj" fmla="val 62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41708" y="4166235"/>
              <a:ext cx="47625" cy="187071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79832" y="42424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61189" y="42781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窗口应用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72212" y="461962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基于窗口的图形界面，通常一个窗口一个边界类，或者一个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对话框一个边界类。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73356" y="523636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这只是起步划分，细化分析时还会调整。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98489" cy="909257"/>
            <a:chOff x="520446" y="342900"/>
            <a:chExt cx="41984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984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例：给“选课注册”找边界类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10278" cy="308039"/>
            <a:chOff x="525399" y="1550194"/>
            <a:chExt cx="661027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1027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 Register for Courses 有两个 Actor，于是先得到两个边界类。</a:t>
              </a:r>
            </a:p>
          </p:txBody>
        </p:sp>
      </p:grpSp>
      <p:grpSp>
        <p:nvGrpSpPr>
          <p:cNvPr id="28" name="c1-graph-1"/>
          <p:cNvGrpSpPr/>
          <p:nvPr/>
        </p:nvGrpSpPr>
        <p:grpSpPr>
          <a:xfrm>
            <a:off x="772478" y="1999774"/>
            <a:ext cx="5178742" cy="4387024"/>
            <a:chOff x="772478" y="1999774"/>
            <a:chExt cx="5178742" cy="4387024"/>
          </a:xfrm>
        </p:grpSpPr>
        <p:sp>
          <p:nvSpPr>
            <p:cNvPr id="9" name="Freeform 9"/>
            <p:cNvSpPr/>
            <p:nvPr/>
          </p:nvSpPr>
          <p:spPr>
            <a:xfrm>
              <a:off x="1428750" y="2907030"/>
              <a:ext cx="1148715" cy="89535"/>
            </a:xfrm>
            <a:custGeom>
              <a:avLst/>
              <a:gdLst/>
              <a:ahLst/>
              <a:cxnLst/>
              <a:rect l="l" t="t" r="r" b="b"/>
              <a:pathLst>
                <a:path w="1148715" h="89535">
                  <a:moveTo>
                    <a:pt x="0" y="89535"/>
                  </a:moveTo>
                  <a:lnTo>
                    <a:pt x="11487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115752" y="2909888"/>
              <a:ext cx="980122" cy="80010"/>
            </a:xfrm>
            <a:custGeom>
              <a:avLst/>
              <a:gdLst/>
              <a:ahLst/>
              <a:cxnLst/>
              <a:rect l="l" t="t" r="r" b="b"/>
              <a:pathLst>
                <a:path w="980122" h="80010">
                  <a:moveTo>
                    <a:pt x="0" y="0"/>
                  </a:moveTo>
                  <a:lnTo>
                    <a:pt x="980122" y="800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210628" y="3335655"/>
              <a:ext cx="701993" cy="1918335"/>
            </a:xfrm>
            <a:custGeom>
              <a:avLst/>
              <a:gdLst/>
              <a:ahLst/>
              <a:cxnLst/>
              <a:rect l="l" t="t" r="r" b="b"/>
              <a:pathLst>
                <a:path w="701993" h="1918335">
                  <a:moveTo>
                    <a:pt x="0" y="0"/>
                  </a:moveTo>
                  <a:lnTo>
                    <a:pt x="701993" y="191833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1867852" y="5237798"/>
              <a:ext cx="89535" cy="105728"/>
            </a:xfrm>
            <a:custGeom>
              <a:avLst/>
              <a:gdLst/>
              <a:ahLst/>
              <a:cxnLst/>
              <a:rect l="l" t="t" r="r" b="b"/>
              <a:pathLst>
                <a:path w="89535" h="105728">
                  <a:moveTo>
                    <a:pt x="77152" y="105728"/>
                  </a:moveTo>
                  <a:lnTo>
                    <a:pt x="0" y="32385"/>
                  </a:lnTo>
                  <a:lnTo>
                    <a:pt x="895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975860" y="3403282"/>
              <a:ext cx="421958" cy="1847850"/>
            </a:xfrm>
            <a:custGeom>
              <a:avLst/>
              <a:gdLst/>
              <a:ahLst/>
              <a:cxnLst/>
              <a:rect l="l" t="t" r="r" b="b"/>
              <a:pathLst>
                <a:path w="421958" h="1847850">
                  <a:moveTo>
                    <a:pt x="421958" y="0"/>
                  </a:moveTo>
                  <a:lnTo>
                    <a:pt x="0" y="184785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4929188" y="5239702"/>
              <a:ext cx="92393" cy="103822"/>
            </a:xfrm>
            <a:custGeom>
              <a:avLst/>
              <a:gdLst/>
              <a:ahLst/>
              <a:cxnLst/>
              <a:rect l="l" t="t" r="r" b="b"/>
              <a:pathLst>
                <a:path w="92393" h="103822">
                  <a:moveTo>
                    <a:pt x="24765" y="103822"/>
                  </a:moveTo>
                  <a:lnTo>
                    <a:pt x="0" y="0"/>
                  </a:lnTo>
                  <a:lnTo>
                    <a:pt x="92393" y="2190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72478" y="2698432"/>
              <a:ext cx="647700" cy="6477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585085" y="2084070"/>
              <a:ext cx="1524000" cy="15240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5103495" y="2641282"/>
              <a:ext cx="762000" cy="762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72490" y="5343525"/>
              <a:ext cx="224790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893820" y="5343525"/>
              <a:ext cx="205740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978" y="2956560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76322" y="2781300"/>
              <a:ext cx="1541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 for Courses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196459" y="295656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课程目录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87681" y="5418772"/>
              <a:ext cx="18175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38512" y="5418772"/>
              <a:ext cx="156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95981" y="19997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用例模型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42520" y="4291489"/>
              <a:ext cx="30091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每一对 Actor 与用例，先给一个边界类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23667" y="61374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得到的边界类</a:t>
              </a:r>
            </a:p>
          </p:txBody>
        </p:sp>
      </p:grpSp>
      <p:grpSp>
        <p:nvGrpSpPr>
          <p:cNvPr id="34" name="c2-kv-1"/>
          <p:cNvGrpSpPr/>
          <p:nvPr/>
        </p:nvGrpSpPr>
        <p:grpSpPr>
          <a:xfrm>
            <a:off x="6456998" y="1992630"/>
            <a:ext cx="5201602" cy="1297305"/>
            <a:chOff x="6456998" y="1992630"/>
            <a:chExt cx="5201602" cy="1297305"/>
          </a:xfrm>
        </p:grpSpPr>
        <p:sp>
          <p:nvSpPr>
            <p:cNvPr id="29" name="TextBox 29"/>
            <p:cNvSpPr txBox="1"/>
            <p:nvPr/>
          </p:nvSpPr>
          <p:spPr>
            <a:xfrm>
              <a:off x="6456998" y="1992630"/>
              <a:ext cx="150542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RegisterForCou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rsesForm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22933" y="1992630"/>
              <a:ext cx="30822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保存学生这次“正在编排的课表”，显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示本学期可选的教学班，供学生挑选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259461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56998" y="2714625"/>
              <a:ext cx="150542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CourseCatalogS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ystem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22933" y="271462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与提供全校课程目录的遗留系统对接，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把目录取进来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464618" y="3421380"/>
            <a:ext cx="5193982" cy="1602105"/>
            <a:chOff x="6464618" y="3421380"/>
            <a:chExt cx="5193982" cy="1602105"/>
          </a:xfrm>
        </p:grpSpPr>
        <p:sp>
          <p:nvSpPr>
            <p:cNvPr id="35" name="Rectangle 35"/>
            <p:cNvSpPr/>
            <p:nvPr/>
          </p:nvSpPr>
          <p:spPr>
            <a:xfrm>
              <a:off x="6464618" y="3421380"/>
              <a:ext cx="5193982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4142" y="355473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12268" y="363093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77825" y="366664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与架构分析的衔接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4648" y="4008120"/>
              <a:ext cx="45300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 取代了架构分析阶段识别出的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 抽象：那时只知道“有个课程目录”，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现在明确它是一个外部遗留系统，要用边界类封装。</a:t>
              </a:r>
            </a:p>
          </p:txBody>
        </p:sp>
      </p:grpSp>
      <p:grpSp>
        <p:nvGrpSpPr>
          <p:cNvPr id="47" name="c2-callout-3"/>
          <p:cNvGrpSpPr/>
          <p:nvPr/>
        </p:nvGrpSpPr>
        <p:grpSpPr>
          <a:xfrm>
            <a:off x="6464618" y="5213985"/>
            <a:ext cx="5193982" cy="782955"/>
            <a:chOff x="6464618" y="5213985"/>
            <a:chExt cx="5193982" cy="782955"/>
          </a:xfrm>
        </p:grpSpPr>
        <p:sp>
          <p:nvSpPr>
            <p:cNvPr id="41" name="Rectangle 41"/>
            <p:cNvSpPr/>
            <p:nvPr/>
          </p:nvSpPr>
          <p:spPr>
            <a:xfrm>
              <a:off x="6464618" y="521398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657347" y="5501758"/>
              <a:ext cx="224134" cy="192560"/>
              <a:chOff x="6657347" y="5501758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769418" y="557212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657347" y="550175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769418" y="56499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971348" y="536257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只为事件流里出现的现象建边界类，不要把界面上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每个按钮、列表都建成类。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边界类只记职责，不记细节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5410200" cy="2699385"/>
            <a:chOff x="533400" y="1524000"/>
            <a:chExt cx="5410200" cy="2699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495550" cy="2699385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32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2381" y="174545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7240" y="214122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3831" y="208168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关心：要呈现给用户哪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些信息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73081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670334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不关心：用什么控件、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怎么排版、什么配色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31946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259931"/>
              <a:ext cx="18178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需求阶段画的界面草图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或截图可以挂在这个类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上做参考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48050" y="1524000"/>
              <a:ext cx="2495550" cy="2699385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57575" y="1657350"/>
              <a:ext cx="47625" cy="2432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77031" y="1745456"/>
              <a:ext cx="1817878" cy="523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系统接口类与设备接口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691890" y="238601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48481" y="232552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关心：必须定义哪些协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691890" y="29746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48481" y="291512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不关心：协议怎么实现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691890" y="32927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848481" y="3232309"/>
              <a:ext cx="18178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外部系统或设备的接口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已定义好时，职责直接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照接口抄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076575" y="271176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53046" y="2813209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4403408"/>
            <a:ext cx="5410200" cy="1858328"/>
            <a:chOff x="533400" y="4403408"/>
            <a:chExt cx="5410200" cy="1858328"/>
          </a:xfrm>
        </p:grpSpPr>
        <p:sp>
          <p:nvSpPr>
            <p:cNvPr id="28" name="Rectangle 28"/>
            <p:cNvSpPr/>
            <p:nvPr/>
          </p:nvSpPr>
          <p:spPr>
            <a:xfrm>
              <a:off x="533400" y="4403408"/>
              <a:ext cx="5410200" cy="1858328"/>
            </a:xfrm>
            <a:prstGeom prst="roundRect">
              <a:avLst>
                <a:gd name="adj" fmla="val 71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536758"/>
              <a:ext cx="47625" cy="15916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9620" y="460152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65060" y="463581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219581" y="463724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这两个边界类各关心什么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77240" y="50406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33831" y="4980146"/>
              <a:ext cx="458609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 关心的是：要把哪些教学班信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息显示给学生，学生能挑什么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77240" y="562927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33831" y="5569744"/>
              <a:ext cx="446887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 关心的是：向遗留系统要数据时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按什么协议问、按什么格式收</a:t>
              </a:r>
            </a:p>
          </p:txBody>
        </p:sp>
      </p:grpSp>
      <p:grpSp>
        <p:nvGrpSpPr>
          <p:cNvPr id="45" name="c2-bullets-1"/>
          <p:cNvGrpSpPr/>
          <p:nvPr/>
        </p:nvGrpSpPr>
        <p:grpSpPr>
          <a:xfrm>
            <a:off x="6241161" y="1547336"/>
            <a:ext cx="3716416" cy="1268350"/>
            <a:chOff x="6241161" y="1547336"/>
            <a:chExt cx="3716416" cy="1268350"/>
          </a:xfrm>
        </p:grpSpPr>
        <p:sp>
          <p:nvSpPr>
            <p:cNvPr id="38" name="TextBox 38"/>
            <p:cNvSpPr txBox="1"/>
            <p:nvPr/>
          </p:nvSpPr>
          <p:spPr>
            <a:xfrm>
              <a:off x="6241161" y="154733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常见的时间浪费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48400" y="1917382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83096" y="188356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在分析阶段设计完整的界面布局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248400" y="2244090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3096" y="221027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把界面库里的控件类提前搬进模型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248400" y="2570798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83096" y="2536984"/>
              <a:ext cx="34744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为“可能会用到”的协议细节争论实现方案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6248400" y="2939415"/>
            <a:ext cx="5410200" cy="756285"/>
            <a:chOff x="6248400" y="2939415"/>
            <a:chExt cx="5410200" cy="756285"/>
          </a:xfrm>
        </p:grpSpPr>
        <p:sp>
          <p:nvSpPr>
            <p:cNvPr id="46" name="Rectangle 46"/>
            <p:cNvSpPr/>
            <p:nvPr/>
          </p:nvSpPr>
          <p:spPr>
            <a:xfrm>
              <a:off x="6248400" y="2939415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53188" y="3217547"/>
              <a:ext cx="200023" cy="200023"/>
              <a:chOff x="6453188" y="3217547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32175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86538" y="3284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511" y="308657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边界类是放置界面类的占位处，真正的界面类要到类设计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阶段才展开、细化或替换。</a:t>
              </a:r>
            </a:p>
          </p:txBody>
        </p:sp>
      </p:grpSp>
      <p:grpSp>
        <p:nvGrpSpPr>
          <p:cNvPr id="57" name="c2-kv-3"/>
          <p:cNvGrpSpPr/>
          <p:nvPr/>
        </p:nvGrpSpPr>
        <p:grpSpPr>
          <a:xfrm>
            <a:off x="6241161" y="3899059"/>
            <a:ext cx="5417439" cy="1231201"/>
            <a:chOff x="6241161" y="3899059"/>
            <a:chExt cx="5417439" cy="1231201"/>
          </a:xfrm>
        </p:grpSpPr>
        <p:sp>
          <p:nvSpPr>
            <p:cNvPr id="52" name="TextBox 52"/>
            <p:cNvSpPr txBox="1"/>
            <p:nvPr/>
          </p:nvSpPr>
          <p:spPr>
            <a:xfrm>
              <a:off x="6241161" y="389905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分析阶段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27976" y="3899059"/>
              <a:ext cx="39819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只定出边界类和它的职责，把与环境有关的行为都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圈在这里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44700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241161" y="458390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类设计阶段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27976" y="4583906"/>
              <a:ext cx="39819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把边界类展开、细化或替换成真正的界面类，多半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基于买来的界面库</a:t>
              </a:r>
            </a:p>
          </p:txBody>
        </p:sp>
      </p:grpSp>
      <p:grpSp>
        <p:nvGrpSpPr>
          <p:cNvPr id="59" name="c2-text-4"/>
          <p:cNvGrpSpPr/>
          <p:nvPr/>
        </p:nvGrpSpPr>
        <p:grpSpPr>
          <a:xfrm>
            <a:off x="6242304" y="5273992"/>
            <a:ext cx="5209032" cy="470916"/>
            <a:chOff x="6242304" y="5273992"/>
            <a:chExt cx="5209032" cy="470916"/>
          </a:xfrm>
        </p:grpSpPr>
        <p:sp>
          <p:nvSpPr>
            <p:cNvPr id="58" name="TextBox 58"/>
            <p:cNvSpPr txBox="1"/>
            <p:nvPr/>
          </p:nvSpPr>
          <p:spPr>
            <a:xfrm>
              <a:off x="6242304" y="5273992"/>
              <a:ext cx="520903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分析被称为“理想化的设计”：先把问题理清楚，给出一个不考虑实现约束的解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实体类：系统要长期保管的关键概念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293495"/>
            <a:chOff x="533400" y="1524000"/>
            <a:chExt cx="5193982" cy="1293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21565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实体类（Entity Class）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实体类表示系统所管理的关键概念，它们展示系统的逻辑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数据结构。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6161" y="3026569"/>
            <a:ext cx="3180016" cy="1604582"/>
            <a:chOff x="526161" y="3026569"/>
            <a:chExt cx="3180016" cy="1604582"/>
          </a:xfrm>
        </p:grpSpPr>
        <p:sp>
          <p:nvSpPr>
            <p:cNvPr id="14" name="TextBox 14"/>
            <p:cNvSpPr txBox="1"/>
            <p:nvPr/>
          </p:nvSpPr>
          <p:spPr>
            <a:xfrm>
              <a:off x="526161" y="302656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四个常见来源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335280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91745" y="339218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24293" y="336470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术语表（需求阶段整理）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68141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1745" y="372175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4293" y="3694271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业务领域模型（做过业务建模时）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010977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1745" y="405131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4293" y="402288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用例的事件流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34054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1745" y="437992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4293" y="435244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架构分析阶段识别出的关键抽象</a:t>
              </a:r>
            </a:p>
          </p:txBody>
        </p:sp>
      </p:grpSp>
      <p:grpSp>
        <p:nvGrpSpPr>
          <p:cNvPr id="34" name="c1-card-3"/>
          <p:cNvGrpSpPr/>
          <p:nvPr/>
        </p:nvGrpSpPr>
        <p:grpSpPr>
          <a:xfrm>
            <a:off x="533400" y="4760595"/>
            <a:ext cx="5193982" cy="1564958"/>
            <a:chOff x="533400" y="4760595"/>
            <a:chExt cx="5193982" cy="1564958"/>
          </a:xfrm>
        </p:grpSpPr>
        <p:sp>
          <p:nvSpPr>
            <p:cNvPr id="28" name="Rectangle 28"/>
            <p:cNvSpPr/>
            <p:nvPr/>
          </p:nvSpPr>
          <p:spPr>
            <a:xfrm>
              <a:off x="533400" y="4760595"/>
              <a:ext cx="5193982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893945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75335" y="496443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61593" y="500014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容易混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18666" y="500395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实体类不等于数据库表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8096" y="5356384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分析阶段只说明系统要记住哪些概念、记住什么信息。存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到哪里、用什么结构存，由持久性机制在后面的设计里决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定。</a:t>
              </a:r>
            </a:p>
          </p:txBody>
        </p:sp>
      </p:grpSp>
      <p:grpSp>
        <p:nvGrpSpPr>
          <p:cNvPr id="46" name="c2-kv-1"/>
          <p:cNvGrpSpPr/>
          <p:nvPr/>
        </p:nvGrpSpPr>
        <p:grpSpPr>
          <a:xfrm>
            <a:off x="6024944" y="1547336"/>
            <a:ext cx="5633656" cy="1811274"/>
            <a:chOff x="6024944" y="1547336"/>
            <a:chExt cx="5633656" cy="1811274"/>
          </a:xfrm>
        </p:grpSpPr>
        <p:sp>
          <p:nvSpPr>
            <p:cNvPr id="35" name="TextBox 35"/>
            <p:cNvSpPr txBox="1"/>
            <p:nvPr/>
          </p:nvSpPr>
          <p:spPr>
            <a:xfrm>
              <a:off x="6024944" y="15473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依赖关系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11758" y="1547336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与环境无关，界面换了、协议换了，实体类不动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32182" y="18535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24944" y="196929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生存期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211758" y="196929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通常是持久的，属性和关系要保持很长时间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22745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24944" y="239125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值从哪来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211758" y="2391251"/>
              <a:ext cx="16179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多数由 Actor 提供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32182" y="269652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24944" y="281225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有没有行为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11758" y="2812256"/>
              <a:ext cx="41622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有，而且可以很复杂，但行为紧扣它所代表的那个事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6032182" y="3488055"/>
            <a:ext cx="5626418" cy="2836545"/>
            <a:chOff x="6032182" y="3488055"/>
            <a:chExt cx="5626418" cy="2836545"/>
          </a:xfrm>
        </p:grpSpPr>
        <p:sp>
          <p:nvSpPr>
            <p:cNvPr id="47" name="Rectangle 47"/>
            <p:cNvSpPr/>
            <p:nvPr/>
          </p:nvSpPr>
          <p:spPr>
            <a:xfrm>
              <a:off x="6032182" y="3488055"/>
              <a:ext cx="5626418" cy="2836545"/>
            </a:xfrm>
            <a:prstGeom prst="roundRect">
              <a:avLst>
                <a:gd name="adj" fmla="val 47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041708" y="3621405"/>
              <a:ext cx="47625" cy="25698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74118" y="369189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60376" y="372760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代理类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17448" y="3732371"/>
              <a:ext cx="27363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的信息也可能成为实体类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66879" y="4083844"/>
              <a:ext cx="471233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按定义在系统外部，但系统内部常要保存关于它的信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息，这时把这些信息建成实体类，称为代理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（surrogate/proxy）。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68022" y="4942522"/>
              <a:ext cx="4965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学生扮演 Actor 与否，Student 类都存在：它保存的是学籍信息，不是那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次交互。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名词过滤法：从事件流里挑出候选实体类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366969" cy="278702"/>
            <a:chOff x="526161" y="1547336"/>
            <a:chExt cx="536696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3669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先把事件流里的名词短语划出来，再一层层筛掉不该成为类的。</a:t>
              </a:r>
            </a:p>
          </p:txBody>
        </p:sp>
      </p:grpSp>
      <p:grpSp>
        <p:nvGrpSpPr>
          <p:cNvPr id="34" name="c1-steps-1"/>
          <p:cNvGrpSpPr/>
          <p:nvPr/>
        </p:nvGrpSpPr>
        <p:grpSpPr>
          <a:xfrm>
            <a:off x="533400" y="1950720"/>
            <a:ext cx="2987980" cy="3454242"/>
            <a:chOff x="533400" y="1950720"/>
            <a:chExt cx="2987980" cy="3454242"/>
          </a:xfrm>
        </p:grpSpPr>
        <p:sp>
          <p:nvSpPr>
            <p:cNvPr id="9" name="Rectangle 9"/>
            <p:cNvSpPr/>
            <p:nvPr/>
          </p:nvSpPr>
          <p:spPr>
            <a:xfrm>
              <a:off x="666750" y="2093595"/>
              <a:ext cx="19050" cy="29346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5072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3841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12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12515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98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71189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785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29863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3724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88537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49591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198310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划名词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225028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在事件流中划出全部名词短语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256984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去重复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283702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同一个概念的不同说法只留一个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315658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去含糊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342471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说不清指什么的去掉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642" y="3743325"/>
              <a:ext cx="7840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 Actor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785" y="4011454"/>
              <a:ext cx="1682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在系统外，不是类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642" y="43310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去实现构造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4598194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数据库、队列这类技术词去掉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5642" y="491775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去属性与操作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785" y="518493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只有值的留作属性，动作名词留作职责</a:t>
              </a:r>
            </a:p>
          </p:txBody>
        </p:sp>
      </p:grpSp>
      <p:grpSp>
        <p:nvGrpSpPr>
          <p:cNvPr id="77" name="c2-table-1"/>
          <p:cNvGrpSpPr/>
          <p:nvPr/>
        </p:nvGrpSpPr>
        <p:grpSpPr>
          <a:xfrm>
            <a:off x="5166360" y="1941195"/>
            <a:ext cx="6492240" cy="3651885"/>
            <a:chOff x="5166360" y="1941195"/>
            <a:chExt cx="6492240" cy="3651885"/>
          </a:xfrm>
        </p:grpSpPr>
        <p:sp>
          <p:nvSpPr>
            <p:cNvPr id="35" name="Rectangle 35"/>
            <p:cNvSpPr/>
            <p:nvPr/>
          </p:nvSpPr>
          <p:spPr>
            <a:xfrm>
              <a:off x="5166360" y="1941195"/>
              <a:ext cx="649224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672112" y="2065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事件流里的名词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0638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1428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66372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43775" y="24712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82952" y="2471261"/>
              <a:ext cx="21499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要保存学籍信息，建成 Student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166360" y="27479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166360" y="275272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66372" y="2877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43775" y="2877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82952" y="2877026"/>
              <a:ext cx="2345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本学期选定的课程，建成 Schedule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66360" y="315372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6372" y="32827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教学班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43775" y="32827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82952" y="3282791"/>
              <a:ext cx="25767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一次具体开课，建成 CourseOffering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166360" y="35594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166360" y="356425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66372" y="3688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课程目录遗留数据库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43775" y="36885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82952" y="36885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实现构造，由边界类封装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166360" y="39652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66372" y="40943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343775" y="40943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82952" y="409432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含糊，指被建的系统本身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166360" y="43710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166360" y="437578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266372" y="45000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课程列表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43775" y="45000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82952" y="4500086"/>
              <a:ext cx="17177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CourseOffering 重复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166360" y="47767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266372" y="490585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本学期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343775" y="49058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82952" y="4905851"/>
              <a:ext cx="24715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只有值，做 CourseOffering 的属性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166360" y="518255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166360" y="518731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266372" y="53116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43775" y="53116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382952" y="531161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是动作，留作边界类的职责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166360" y="1941195"/>
              <a:ext cx="6492240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7239000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8278178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4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8" name="Rectangle 7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1040892" y="602361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真正做的时候是边划边筛，不会先老老实实抄下全部名词再回头删。</a:t>
              </a:r>
            </a:p>
          </p:txBody>
        </p:sp>
      </p:grpSp>
      <p:grpSp>
        <p:nvGrpSpPr>
          <p:cNvPr id="8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5" name="TextBox 85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例：选课用例的三个候选实体类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uml-1"/>
          <p:cNvGrpSpPr/>
          <p:nvPr/>
        </p:nvGrpSpPr>
        <p:grpSpPr>
          <a:xfrm>
            <a:off x="912495" y="1814512"/>
            <a:ext cx="5061585" cy="383572"/>
            <a:chOff x="912495" y="1814512"/>
            <a:chExt cx="5061585" cy="383572"/>
          </a:xfrm>
        </p:grpSpPr>
        <p:sp>
          <p:nvSpPr>
            <p:cNvPr id="7" name="Rectangle 7"/>
            <p:cNvSpPr/>
            <p:nvPr/>
          </p:nvSpPr>
          <p:spPr>
            <a:xfrm>
              <a:off x="912495" y="1814512"/>
              <a:ext cx="1190625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919162" y="1821180"/>
              <a:ext cx="1176338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2883218" y="1814512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2890838" y="1821180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4831080" y="1814512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838700" y="1821180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73037" y="1867376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7763" y="2007394"/>
              <a:ext cx="10781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20899" y="1867376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60293" y="2007394"/>
              <a:ext cx="588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168762" y="1867376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28812" y="2007394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28066" y="2652712"/>
            <a:ext cx="5847969" cy="2502789"/>
            <a:chOff x="528066" y="2652712"/>
            <a:chExt cx="5847969" cy="2502789"/>
          </a:xfrm>
        </p:grpSpPr>
        <p:sp>
          <p:nvSpPr>
            <p:cNvPr id="20" name="Rectangle 20"/>
            <p:cNvSpPr/>
            <p:nvPr/>
          </p:nvSpPr>
          <p:spPr>
            <a:xfrm>
              <a:off x="533400" y="2652712"/>
              <a:ext cx="584263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70495" y="277701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16505" y="277701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原课件给的定义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31956" y="2777014"/>
              <a:ext cx="1844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对应“创建课表”子流的哪句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3412" y="3282791"/>
              <a:ext cx="1232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69808" y="3182779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一门课程的一次具体开课，含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上课的星期和时间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31030" y="3182779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显示本学期可选的教学班列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6595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664268"/>
              <a:ext cx="584263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888581"/>
              <a:ext cx="6730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69808" y="388858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一名学生为本学期选定的课程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31030" y="3788569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新建一张课表；显示空白课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表供学生挑选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6529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3412" y="4494371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269808" y="449437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在校注册学习的人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31030" y="4394359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课表属于哪个学生，要由它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2652712"/>
              <a:ext cx="5842635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165032" y="2652712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26255" y="2652712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8066" y="4950142"/>
              <a:ext cx="29366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子流原句取自原课件第 31 页顺序图左侧的注释</a:t>
              </a:r>
            </a:p>
          </p:txBody>
        </p:sp>
      </p:grpSp>
      <p:grpSp>
        <p:nvGrpSpPr>
          <p:cNvPr id="47" name="c1-callout-3"/>
          <p:cNvGrpSpPr/>
          <p:nvPr/>
        </p:nvGrpSpPr>
        <p:grpSpPr>
          <a:xfrm>
            <a:off x="533400" y="5289232"/>
            <a:ext cx="5842635" cy="729615"/>
            <a:chOff x="533400" y="5289232"/>
            <a:chExt cx="5842635" cy="729615"/>
          </a:xfrm>
        </p:grpSpPr>
        <p:sp>
          <p:nvSpPr>
            <p:cNvPr id="41" name="Rectangle 41"/>
            <p:cNvSpPr/>
            <p:nvPr/>
          </p:nvSpPr>
          <p:spPr>
            <a:xfrm>
              <a:off x="533400" y="5289232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554028"/>
              <a:ext cx="200026" cy="200025"/>
              <a:chOff x="738188" y="5554028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5540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55984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57096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892" y="5434965"/>
              <a:ext cx="484860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定义写成“它代表什么”，别写成“它能做什么”：职责要等画完交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互图才分得出来。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680835" y="1524000"/>
            <a:ext cx="4977765" cy="1226820"/>
            <a:chOff x="6680835" y="1524000"/>
            <a:chExt cx="4977765" cy="1226820"/>
          </a:xfrm>
        </p:grpSpPr>
        <p:sp>
          <p:nvSpPr>
            <p:cNvPr id="48" name="Rectangle 48"/>
            <p:cNvSpPr/>
            <p:nvPr/>
          </p:nvSpPr>
          <p:spPr>
            <a:xfrm>
              <a:off x="6680835" y="1524000"/>
              <a:ext cx="4977765" cy="1226820"/>
            </a:xfrm>
            <a:prstGeom prst="roundRect">
              <a:avLst>
                <a:gd name="adj" fmla="val 1087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873240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64680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56932" y="1756410"/>
              <a:ext cx="2767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这一步只要求“识别、命名、简述”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66382" y="2090738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每个类用一两句话说清它代表什么就够了，属性、操作、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关系都放到后面几步。</a:t>
              </a:r>
            </a:p>
          </p:txBody>
        </p:sp>
      </p:grpSp>
      <p:grpSp>
        <p:nvGrpSpPr>
          <p:cNvPr id="60" name="c2-callout-2"/>
          <p:cNvGrpSpPr/>
          <p:nvPr/>
        </p:nvGrpSpPr>
        <p:grpSpPr>
          <a:xfrm>
            <a:off x="6680835" y="2926080"/>
            <a:ext cx="4977765" cy="978218"/>
            <a:chOff x="6680835" y="2926080"/>
            <a:chExt cx="4977765" cy="978218"/>
          </a:xfrm>
        </p:grpSpPr>
        <p:sp>
          <p:nvSpPr>
            <p:cNvPr id="54" name="Rectangle 54"/>
            <p:cNvSpPr/>
            <p:nvPr/>
          </p:nvSpPr>
          <p:spPr>
            <a:xfrm>
              <a:off x="6680835" y="2926080"/>
              <a:ext cx="4977765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885623" y="3314700"/>
              <a:ext cx="200026" cy="200026"/>
              <a:chOff x="6885623" y="3314700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885623" y="33147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985635" y="33813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974523" y="34147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7188327" y="3071812"/>
              <a:ext cx="399135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 在用例图里是 Actor，在类图里是实体类，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两者不矛盾：前者是外部角色，后者是系统内保存的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信息。</a:t>
              </a:r>
            </a:p>
          </p:txBody>
        </p:sp>
      </p:grpSp>
      <p:grpSp>
        <p:nvGrpSpPr>
          <p:cNvPr id="66" name="c2-bullets-3"/>
          <p:cNvGrpSpPr/>
          <p:nvPr/>
        </p:nvGrpSpPr>
        <p:grpSpPr>
          <a:xfrm>
            <a:off x="6673977" y="4101465"/>
            <a:ext cx="3528822" cy="894588"/>
            <a:chOff x="6673977" y="4101465"/>
            <a:chExt cx="3528822" cy="894588"/>
          </a:xfrm>
        </p:grpSpPr>
        <p:sp>
          <p:nvSpPr>
            <p:cNvPr id="61" name="TextBox 61"/>
            <p:cNvSpPr txBox="1"/>
            <p:nvPr/>
          </p:nvSpPr>
          <p:spPr>
            <a:xfrm>
              <a:off x="6673977" y="410146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自查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6680835" y="4449128"/>
              <a:ext cx="129540" cy="105727"/>
            </a:xfrm>
            <a:custGeom>
              <a:avLst/>
              <a:gdLst/>
              <a:ahLst/>
              <a:cxnLst/>
              <a:rect l="l" t="t" r="r" b="b"/>
              <a:pathLst>
                <a:path w="129540" h="105727">
                  <a:moveTo>
                    <a:pt x="0" y="56197"/>
                  </a:moveTo>
                  <a:lnTo>
                    <a:pt x="49530" y="105727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917817" y="442150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每个类的名字是不是问题域里的说法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6680835" y="476059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917817" y="47320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去掉它，事件流里是不是有信息没人保管</a:t>
              </a:r>
            </a:p>
          </p:txBody>
        </p:sp>
      </p:grpSp>
      <p:grpSp>
        <p:nvGrpSpPr>
          <p:cNvPr id="68" name="c2-text-4"/>
          <p:cNvGrpSpPr/>
          <p:nvPr/>
        </p:nvGrpSpPr>
        <p:grpSpPr>
          <a:xfrm>
            <a:off x="6675120" y="5137309"/>
            <a:ext cx="4705350" cy="441008"/>
            <a:chOff x="6675120" y="5137309"/>
            <a:chExt cx="4705350" cy="441008"/>
          </a:xfrm>
        </p:grpSpPr>
        <p:sp>
          <p:nvSpPr>
            <p:cNvPr id="67" name="TextBox 67"/>
            <p:cNvSpPr txBox="1"/>
            <p:nvPr/>
          </p:nvSpPr>
          <p:spPr>
            <a:xfrm>
              <a:off x="6675120" y="5137309"/>
              <a:ext cx="4705350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这三个类的定义都能在术语表里找到对应词条，分析阶段写类的简述时可以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直接沿用术语表的说法。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控制类：把用例的流程从别处抽出来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293495"/>
            <a:chOff x="533400" y="1524000"/>
            <a:chExt cx="5410200" cy="1293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22669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控制类（Control Class）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控制类为系统提供协调行为，用来给一个或多个用例特有的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控制逻辑建模。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26161" y="3026569"/>
            <a:ext cx="3897986" cy="1275017"/>
            <a:chOff x="526161" y="3026569"/>
            <a:chExt cx="3897986" cy="1275017"/>
          </a:xfrm>
        </p:grpSpPr>
        <p:sp>
          <p:nvSpPr>
            <p:cNvPr id="14" name="TextBox 14"/>
            <p:cNvSpPr txBox="1"/>
            <p:nvPr/>
          </p:nvSpPr>
          <p:spPr>
            <a:xfrm>
              <a:off x="526161" y="302656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什么时候需要它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33400" y="339471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7621" y="3364706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事件流有好几个状态，每次执行走法不同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533400" y="372427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77621" y="369427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要读写好几个实体类，需要有人统一调度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533400" y="4052888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77621" y="402288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有事务管理、资源协调、错误处理这类责任</a:t>
              </a:r>
            </a:p>
          </p:txBody>
        </p:sp>
      </p:grpSp>
      <p:grpSp>
        <p:nvGrpSpPr>
          <p:cNvPr id="25" name="c1-bullets-3"/>
          <p:cNvGrpSpPr/>
          <p:nvPr/>
        </p:nvGrpSpPr>
        <p:grpSpPr>
          <a:xfrm>
            <a:off x="526161" y="4454366"/>
            <a:ext cx="5125593" cy="889254"/>
            <a:chOff x="526161" y="4454366"/>
            <a:chExt cx="5125593" cy="889254"/>
          </a:xfrm>
        </p:grpSpPr>
        <p:sp>
          <p:nvSpPr>
            <p:cNvPr id="22" name="TextBox 22"/>
            <p:cNvSpPr txBox="1"/>
            <p:nvPr/>
          </p:nvSpPr>
          <p:spPr>
            <a:xfrm>
              <a:off x="526161" y="445436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什么时候可以不要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533400" y="4827270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8096" y="479345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用例只是对一个实体对象做简单存取，边界类配合实体类就够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</a:t>
              </a:r>
            </a:p>
          </p:txBody>
        </p:sp>
      </p:grpSp>
      <p:grpSp>
        <p:nvGrpSpPr>
          <p:cNvPr id="32" name="c1-callout-4"/>
          <p:cNvGrpSpPr/>
          <p:nvPr/>
        </p:nvGrpSpPr>
        <p:grpSpPr>
          <a:xfrm>
            <a:off x="533400" y="5473065"/>
            <a:ext cx="5410200" cy="518160"/>
            <a:chOff x="533400" y="5473065"/>
            <a:chExt cx="5410200" cy="518160"/>
          </a:xfrm>
        </p:grpSpPr>
        <p:sp>
          <p:nvSpPr>
            <p:cNvPr id="26" name="Rectangle 26"/>
            <p:cNvSpPr/>
            <p:nvPr/>
          </p:nvSpPr>
          <p:spPr>
            <a:xfrm>
              <a:off x="533400" y="5473065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632133"/>
              <a:ext cx="200026" cy="200025"/>
              <a:chOff x="738188" y="5632133"/>
              <a:chExt cx="200026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6321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77926" y="56765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2642" y="57877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5632609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常见的控制类：事务管理器、资源协调器、错误处理器。</a:t>
              </a:r>
            </a:p>
          </p:txBody>
        </p:sp>
      </p:grpSp>
      <p:grpSp>
        <p:nvGrpSpPr>
          <p:cNvPr id="44" name="c2-kv-1"/>
          <p:cNvGrpSpPr/>
          <p:nvPr/>
        </p:nvGrpSpPr>
        <p:grpSpPr>
          <a:xfrm>
            <a:off x="6241161" y="1547336"/>
            <a:ext cx="5417439" cy="1811275"/>
            <a:chOff x="6241161" y="1547336"/>
            <a:chExt cx="5417439" cy="1811275"/>
          </a:xfrm>
        </p:grpSpPr>
        <p:sp>
          <p:nvSpPr>
            <p:cNvPr id="33" name="TextBox 33"/>
            <p:cNvSpPr txBox="1"/>
            <p:nvPr/>
          </p:nvSpPr>
          <p:spPr>
            <a:xfrm>
              <a:off x="6241161" y="15473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依赖关系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40334" y="154733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与环境无关，与用例有关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8535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1161" y="196929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主要作用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40334" y="196929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把边界对象和实体对象解耦，边界变了实体不受影响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27457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1161" y="239125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复用性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40334" y="2391251"/>
              <a:ext cx="41622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用例特有的逻辑抽出来后，实体类在别的用例里更容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易复用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9641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1161" y="307990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生命期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40334" y="307990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用例开始时创建，用例执行完通常就消亡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248400" y="3488055"/>
            <a:ext cx="5410200" cy="2503170"/>
            <a:chOff x="6248400" y="3488055"/>
            <a:chExt cx="5410200" cy="2503170"/>
          </a:xfrm>
        </p:grpSpPr>
        <p:sp>
          <p:nvSpPr>
            <p:cNvPr id="45" name="Rectangle 45"/>
            <p:cNvSpPr/>
            <p:nvPr/>
          </p:nvSpPr>
          <p:spPr>
            <a:xfrm>
              <a:off x="6248400" y="3488055"/>
              <a:ext cx="5410200" cy="2503170"/>
            </a:xfrm>
            <a:prstGeom prst="roundRect">
              <a:avLst>
                <a:gd name="adj" fmla="val 53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7925" y="3621405"/>
              <a:ext cx="47625" cy="22364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90335" y="36918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80543" y="37276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83096" y="4064794"/>
              <a:ext cx="463118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22、24 页写作“one or more control cases”，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按上下文应为 control classes（控制类）。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84239" y="4652962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初步识别时的建议：一个用例先建一个控制类，随着分析深入，复杂用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例的控制类可能分裂成多个。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三种分析类摆在一起看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302263" cy="264033"/>
            <a:chOff x="526542" y="1545907"/>
            <a:chExt cx="53022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3022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遇到一段行为不知道放哪，按这张表的“主要职责”一列对号入座。</a:t>
              </a:r>
            </a:p>
          </p:txBody>
        </p:sp>
      </p:grpSp>
      <p:grpSp>
        <p:nvGrpSpPr>
          <p:cNvPr id="38" name="c1-table-1"/>
          <p:cNvGrpSpPr/>
          <p:nvPr/>
        </p:nvGrpSpPr>
        <p:grpSpPr>
          <a:xfrm>
            <a:off x="533400" y="1928812"/>
            <a:ext cx="11125200" cy="2715578"/>
            <a:chOff x="533400" y="1928812"/>
            <a:chExt cx="11125200" cy="271557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3910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33082" y="20535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389185" y="20535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主要职责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79617" y="205359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受什么影响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64462" y="20535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生命期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12274" y="205359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选课用例中的例子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9412" y="2612708"/>
              <a:ext cx="1229297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 边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86750" y="2612708"/>
              <a:ext cx="298837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Actor 或外部系统通信，做转换和呈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24310" y="2612708"/>
              <a:ext cx="18996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依赖环境，不依赖用例内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部逻辑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9349" y="2612708"/>
              <a:ext cx="13853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一般与用例实例同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寿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529572" y="2492692"/>
              <a:ext cx="1856804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rm、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2813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3286125"/>
              <a:ext cx="11125200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9412" y="3411855"/>
              <a:ext cx="11577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«entity» 实体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86750" y="353187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存储和管理系统的信息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24310" y="3411855"/>
              <a:ext cx="18996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依赖问题域，不依赖环境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也不依赖单个用例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49349" y="3411855"/>
              <a:ext cx="13853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持久，常比系统的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一次运行更久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529572" y="3411855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Student、Schedule、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9604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9412" y="4090988"/>
              <a:ext cx="1256728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«control» 控制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86750" y="4090988"/>
              <a:ext cx="29283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协调用例行为，定义事件之间的先后和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524310" y="421100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依赖用例，不依赖环境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49349" y="4090988"/>
              <a:ext cx="13853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用例开始时创建，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结束时消亡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529572" y="4211002"/>
              <a:ext cx="20413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928812"/>
              <a:ext cx="11125200" cy="271557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085975" y="1928812"/>
              <a:ext cx="9525" cy="27155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3535" y="1928812"/>
              <a:ext cx="9525" cy="27155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648575" y="1928812"/>
              <a:ext cx="9525" cy="27155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28798" y="1928812"/>
              <a:ext cx="9525" cy="27155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callout-2"/>
          <p:cNvGrpSpPr/>
          <p:nvPr/>
        </p:nvGrpSpPr>
        <p:grpSpPr>
          <a:xfrm>
            <a:off x="533400" y="4813935"/>
            <a:ext cx="11125200" cy="481012"/>
            <a:chOff x="533400" y="4813935"/>
            <a:chExt cx="11125200" cy="481012"/>
          </a:xfrm>
        </p:grpSpPr>
        <p:sp>
          <p:nvSpPr>
            <p:cNvPr id="39" name="Rectangle 39"/>
            <p:cNvSpPr/>
            <p:nvPr/>
          </p:nvSpPr>
          <p:spPr>
            <a:xfrm>
              <a:off x="533400" y="4813935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26129" y="4951213"/>
              <a:ext cx="224134" cy="192560"/>
              <a:chOff x="726129" y="4951213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838200" y="502158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26129" y="495121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8200" y="50993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892" y="4960620"/>
              <a:ext cx="96639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一个控制对象可以参与多个联系紧密的用例，一个用例也可以有多个控制对象，“一个用例一个控制类”只是起步的建议。</a:t>
              </a:r>
            </a:p>
          </p:txBody>
        </p:sp>
      </p:grpSp>
      <p:grpSp>
        <p:nvGrpSpPr>
          <p:cNvPr id="51" name="c1-kv-3"/>
          <p:cNvGrpSpPr/>
          <p:nvPr/>
        </p:nvGrpSpPr>
        <p:grpSpPr>
          <a:xfrm>
            <a:off x="526542" y="5487352"/>
            <a:ext cx="11132058" cy="909829"/>
            <a:chOff x="526542" y="5487352"/>
            <a:chExt cx="11132058" cy="909829"/>
          </a:xfrm>
        </p:grpSpPr>
        <p:sp>
          <p:nvSpPr>
            <p:cNvPr id="46" name="TextBox 46"/>
            <p:cNvSpPr txBox="1"/>
            <p:nvPr/>
          </p:nvSpPr>
          <p:spPr>
            <a:xfrm>
              <a:off x="526542" y="548735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本例的命名习惯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023872" y="5487352"/>
              <a:ext cx="912628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边界类叫 RegisterForCoursesForm、CourseCatalogSystem，控制类叫 RegistrationController，实体类直接用问题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域里的名词 Student、Schedule、CourseOffering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60274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6542" y="613314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构造型怎么画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023872" y="6133148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写在书名号里，或者用三种专用图标；分析阶段用，设计阶段去掉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3412" cy="909257"/>
            <a:chOff x="520446" y="342900"/>
            <a:chExt cx="62034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7175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1722" y="407194"/>
              <a:ext cx="2455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从用例行为中找出分析类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34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汇总：选课用例的参与类（VOPC 初版）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9721272" cy="278702"/>
            <a:chOff x="526161" y="1547336"/>
            <a:chExt cx="972127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97212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一个用例实现配一张参与类视图（View of Participating Classes，VOPC）类图，先只放类，关系和职责后面补。</a:t>
              </a:r>
            </a:p>
          </p:txBody>
        </p:sp>
      </p:grpSp>
      <p:grpSp>
        <p:nvGrpSpPr>
          <p:cNvPr id="33" name="c1-uml-1"/>
          <p:cNvGrpSpPr/>
          <p:nvPr/>
        </p:nvGrpSpPr>
        <p:grpSpPr>
          <a:xfrm>
            <a:off x="768668" y="2124075"/>
            <a:ext cx="6130290" cy="1119854"/>
            <a:chOff x="768668" y="2124075"/>
            <a:chExt cx="6130290" cy="1119854"/>
          </a:xfrm>
        </p:grpSpPr>
        <p:sp>
          <p:nvSpPr>
            <p:cNvPr id="9" name="Rectangle 9"/>
            <p:cNvSpPr/>
            <p:nvPr/>
          </p:nvSpPr>
          <p:spPr>
            <a:xfrm>
              <a:off x="768668" y="2124075"/>
              <a:ext cx="1764982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776288" y="2130742"/>
              <a:ext cx="1750695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3067050" y="2124075"/>
              <a:ext cx="1641158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3074670" y="2130742"/>
              <a:ext cx="1626870" cy="36480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49240" y="2124075"/>
              <a:ext cx="1549718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355908" y="2130742"/>
              <a:ext cx="1535430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80135" y="2860358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086802" y="2867978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3316605" y="2860358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323272" y="2867978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529262" y="2860358"/>
              <a:ext cx="1190625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535930" y="2867978"/>
              <a:ext cx="1176338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343304" y="2176939"/>
              <a:ext cx="6166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3486" y="2316956"/>
              <a:ext cx="16962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23930" y="2176939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10388" y="2316956"/>
              <a:ext cx="1555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815292" y="2176939"/>
              <a:ext cx="6166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391907" y="2316956"/>
              <a:ext cx="14634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17817" y="2913221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77867" y="3053239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54287" y="2913221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593681" y="3053239"/>
              <a:ext cx="588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889804" y="2913221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584531" y="3053239"/>
              <a:ext cx="10781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</p:grpSp>
      <p:grpSp>
        <p:nvGrpSpPr>
          <p:cNvPr id="59" name="c1-table-2"/>
          <p:cNvGrpSpPr/>
          <p:nvPr/>
        </p:nvGrpSpPr>
        <p:grpSpPr>
          <a:xfrm>
            <a:off x="528066" y="3589972"/>
            <a:ext cx="6713792" cy="2708529"/>
            <a:chOff x="528066" y="3589972"/>
            <a:chExt cx="6713792" cy="2708529"/>
          </a:xfrm>
        </p:grpSpPr>
        <p:sp>
          <p:nvSpPr>
            <p:cNvPr id="34" name="Rectangle 34"/>
            <p:cNvSpPr/>
            <p:nvPr/>
          </p:nvSpPr>
          <p:spPr>
            <a:xfrm>
              <a:off x="533400" y="3589972"/>
              <a:ext cx="6708458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266660" y="371427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用例模型里的来源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67302" y="371427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得到的分析类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06096" y="371427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3412" y="4120039"/>
              <a:ext cx="22174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Student 与本用例的交互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316605" y="4120039"/>
              <a:ext cx="18469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34100" y="4120039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39674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4401502"/>
              <a:ext cx="670845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3412" y="4525804"/>
              <a:ext cx="2296871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Course Catalog System 与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本用例的交互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316605" y="4625816"/>
              <a:ext cx="15934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34100" y="4625816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00253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3412" y="5131594"/>
              <a:ext cx="23430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 Register for Courses 本身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316605" y="5131594"/>
              <a:ext cx="1693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134100" y="5131594"/>
              <a:ext cx="720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5408295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5413058"/>
              <a:ext cx="670845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3412" y="563737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事件流里的名词（名词过滤）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16605" y="5537359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Student、Schedule、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34100" y="5637371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3589972"/>
              <a:ext cx="6708458" cy="2428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3211830" y="3589972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029325" y="3589972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28066" y="6093142"/>
              <a:ext cx="49155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原课件第 25 页把用例模型画在上方、设计模型画在下方，这张表是两者的对应</a:t>
              </a:r>
            </a:p>
          </p:txBody>
        </p:sp>
      </p:grpSp>
      <p:grpSp>
        <p:nvGrpSpPr>
          <p:cNvPr id="70" name="c2-card-1"/>
          <p:cNvGrpSpPr/>
          <p:nvPr/>
        </p:nvGrpSpPr>
        <p:grpSpPr>
          <a:xfrm>
            <a:off x="7546658" y="1941195"/>
            <a:ext cx="4111942" cy="1535430"/>
            <a:chOff x="7546658" y="1941195"/>
            <a:chExt cx="4111942" cy="1535430"/>
          </a:xfrm>
        </p:grpSpPr>
        <p:sp>
          <p:nvSpPr>
            <p:cNvPr id="60" name="Rectangle 60"/>
            <p:cNvSpPr/>
            <p:nvPr/>
          </p:nvSpPr>
          <p:spPr>
            <a:xfrm>
              <a:off x="7546658" y="1941195"/>
              <a:ext cx="4111942" cy="1535430"/>
            </a:xfrm>
            <a:prstGeom prst="roundRect">
              <a:avLst>
                <a:gd name="adj" fmla="val 86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556182" y="2074545"/>
              <a:ext cx="47625" cy="12687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777162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868602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60854" y="2173605"/>
              <a:ext cx="16485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VOPC 类图里放什么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785735" y="25641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941754" y="250793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实例出现在该用例实现交互图里的类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785735" y="286702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941754" y="2810827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支撑这些交互所需要的类间关系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771448" y="3109436"/>
              <a:ext cx="27031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一个用例实现可以配一张或多张 VOPC。</a:t>
              </a:r>
            </a:p>
          </p:txBody>
        </p:sp>
      </p:grpSp>
      <p:grpSp>
        <p:nvGrpSpPr>
          <p:cNvPr id="76" name="c2-callout-2"/>
          <p:cNvGrpSpPr/>
          <p:nvPr/>
        </p:nvGrpSpPr>
        <p:grpSpPr>
          <a:xfrm>
            <a:off x="7546658" y="3652838"/>
            <a:ext cx="4111942" cy="729615"/>
            <a:chOff x="7546658" y="3652838"/>
            <a:chExt cx="4111942" cy="729615"/>
          </a:xfrm>
        </p:grpSpPr>
        <p:sp>
          <p:nvSpPr>
            <p:cNvPr id="71" name="Rectangle 71"/>
            <p:cNvSpPr/>
            <p:nvPr/>
          </p:nvSpPr>
          <p:spPr>
            <a:xfrm>
              <a:off x="7546658" y="3652838"/>
              <a:ext cx="4111942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751445" y="3917635"/>
              <a:ext cx="200023" cy="200023"/>
              <a:chOff x="7751445" y="3917635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751445" y="391763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884795" y="39843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8054149" y="3798570"/>
              <a:ext cx="32198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VOPC 的用处是检查同一个用例的实现在跨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子系统时是否前后一致。</a:t>
              </a:r>
            </a:p>
          </p:txBody>
        </p:sp>
      </p:grpSp>
      <p:grpSp>
        <p:nvGrpSpPr>
          <p:cNvPr id="82" name="c2-card-3"/>
          <p:cNvGrpSpPr/>
          <p:nvPr/>
        </p:nvGrpSpPr>
        <p:grpSpPr>
          <a:xfrm>
            <a:off x="7546658" y="4556760"/>
            <a:ext cx="4111942" cy="1700212"/>
            <a:chOff x="7546658" y="4556760"/>
            <a:chExt cx="4111942" cy="1700212"/>
          </a:xfrm>
        </p:grpSpPr>
        <p:sp>
          <p:nvSpPr>
            <p:cNvPr id="77" name="Rectangle 77"/>
            <p:cNvSpPr/>
            <p:nvPr/>
          </p:nvSpPr>
          <p:spPr>
            <a:xfrm>
              <a:off x="7546658" y="4556760"/>
              <a:ext cx="4111942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7556182" y="4690110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7777162" y="474916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864602" y="478345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下一步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770304" y="5106352"/>
              <a:ext cx="34427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类找齐之后，把用例的每一句行为分配到这六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个类上，这就是第 3 步要做的事。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398264" cy="3351847"/>
            <a:chOff x="667512" y="1835468"/>
            <a:chExt cx="439826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把用例行为分配给类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每画一条消息，就是把一项职责交给一个类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按构造型分配职责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数据在哪职责就在哪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顺序图与协作图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一个用例要画几张图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分配行为要做的三件事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073140" cy="293370"/>
            <a:chOff x="525780" y="1548765"/>
            <a:chExt cx="60731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对用例的每一条事件流，都走一遍这三步，得到一张或几张交互图。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64055"/>
            <a:ext cx="3494532" cy="1790129"/>
            <a:chOff x="533400" y="1964055"/>
            <a:chExt cx="3494532" cy="1790129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8508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58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0611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799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9969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标识分析类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277428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顺着事件流走，确认这段行为由哪些类参与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6179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分配职责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898457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把事件流里的每一项动作交给某一个类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2389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画交互图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519488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用顺序图或协作图把类之间的交互画出来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3930015"/>
            <a:ext cx="4977765" cy="756285"/>
            <a:chOff x="533400" y="3930015"/>
            <a:chExt cx="4977765" cy="756285"/>
          </a:xfrm>
        </p:grpSpPr>
        <p:sp>
          <p:nvSpPr>
            <p:cNvPr id="23" name="Rectangle 23"/>
            <p:cNvSpPr/>
            <p:nvPr/>
          </p:nvSpPr>
          <p:spPr>
            <a:xfrm>
              <a:off x="533400" y="3930015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26129" y="4204453"/>
              <a:ext cx="224134" cy="192560"/>
              <a:chOff x="726129" y="4204453"/>
              <a:chExt cx="224134" cy="19256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838200" y="427482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26129" y="420445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38200" y="43526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511" y="4077176"/>
              <a:ext cx="405409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交互图必须从 Actor 发起，因为用例总是由 Actor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触发；有多个 Actor 实例时把它们放在图的两侧。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5815965" y="1954530"/>
            <a:ext cx="5842635" cy="1720215"/>
            <a:chOff x="5815965" y="1954530"/>
            <a:chExt cx="5842635" cy="1720215"/>
          </a:xfrm>
        </p:grpSpPr>
        <p:sp>
          <p:nvSpPr>
            <p:cNvPr id="30" name="Rectangle 30"/>
            <p:cNvSpPr/>
            <p:nvPr/>
          </p:nvSpPr>
          <p:spPr>
            <a:xfrm>
              <a:off x="5815965" y="1954530"/>
              <a:ext cx="5842635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43853" y="208597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42082" y="208597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接手哪一类行为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21312" y="2515552"/>
              <a:ext cx="945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73912" y="2515552"/>
              <a:ext cx="26595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涉及与 Actor 或外部系统通信的行为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815965" y="2809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815965" y="2814638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21312" y="2946082"/>
              <a:ext cx="716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73912" y="294608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涉及该抽象所封装数据的行为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32404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21312" y="3376612"/>
              <a:ext cx="809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578090" y="3254692"/>
              <a:ext cx="4070985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73912" y="3376612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某个用例特有的行为，或一条很重要的事件流中的行为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1954530"/>
              <a:ext cx="584263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563802" y="195453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rd-2"/>
          <p:cNvGrpSpPr/>
          <p:nvPr/>
        </p:nvGrpSpPr>
        <p:grpSpPr>
          <a:xfrm>
            <a:off x="5815965" y="3860482"/>
            <a:ext cx="5842635" cy="1274445"/>
            <a:chOff x="5815965" y="3860482"/>
            <a:chExt cx="5842635" cy="1274445"/>
          </a:xfrm>
        </p:grpSpPr>
        <p:sp>
          <p:nvSpPr>
            <p:cNvPr id="46" name="Rectangle 46"/>
            <p:cNvSpPr/>
            <p:nvPr/>
          </p:nvSpPr>
          <p:spPr>
            <a:xfrm>
              <a:off x="5815965" y="3860482"/>
              <a:ext cx="5842635" cy="1274445"/>
            </a:xfrm>
            <a:prstGeom prst="roundRect">
              <a:avLst>
                <a:gd name="adj" fmla="val 1046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19800" y="4064318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084405" y="410003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为什么按构造型分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12561" y="4437221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三种构造型各带一套现成职责，照着分，正好把最容易变的三部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分隔开：界面、流程、持久数据。</a:t>
              </a:r>
            </a:p>
          </p:txBody>
        </p:sp>
      </p:grpSp>
      <p:grpSp>
        <p:nvGrpSpPr>
          <p:cNvPr id="57" name="c2-callout-3"/>
          <p:cNvGrpSpPr/>
          <p:nvPr/>
        </p:nvGrpSpPr>
        <p:grpSpPr>
          <a:xfrm>
            <a:off x="5815965" y="5320665"/>
            <a:ext cx="5842635" cy="756285"/>
            <a:chOff x="5815965" y="5320665"/>
            <a:chExt cx="5842635" cy="756285"/>
          </a:xfrm>
        </p:grpSpPr>
        <p:sp>
          <p:nvSpPr>
            <p:cNvPr id="51" name="Rectangle 51"/>
            <p:cNvSpPr/>
            <p:nvPr/>
          </p:nvSpPr>
          <p:spPr>
            <a:xfrm>
              <a:off x="5815965" y="5320665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020753" y="5598795"/>
              <a:ext cx="200026" cy="200026"/>
              <a:chOff x="6020753" y="5598795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020753" y="55987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120765" y="56654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109653" y="56988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323076" y="5467826"/>
              <a:ext cx="489267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之间的交互不画进系统模型。要给外部各方之间的交互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建模，那属于业务模型。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数据在哪里，职责就放在哪里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758891" cy="308039"/>
            <a:chOff x="525399" y="1550194"/>
            <a:chExt cx="57588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7588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决定职责归属时，首先看完成这项职责需要的数据在谁手里。</a:t>
              </a:r>
            </a:p>
          </p:txBody>
        </p:sp>
      </p:grpSp>
      <p:grpSp>
        <p:nvGrpSpPr>
          <p:cNvPr id="31" name="c1-flow-1"/>
          <p:cNvGrpSpPr/>
          <p:nvPr/>
        </p:nvGrpSpPr>
        <p:grpSpPr>
          <a:xfrm>
            <a:off x="738188" y="2190750"/>
            <a:ext cx="5434012" cy="2615565"/>
            <a:chOff x="738188" y="2190750"/>
            <a:chExt cx="5434012" cy="2615565"/>
          </a:xfrm>
        </p:grpSpPr>
        <p:sp>
          <p:nvSpPr>
            <p:cNvPr id="9" name="Freeform 9"/>
            <p:cNvSpPr/>
            <p:nvPr/>
          </p:nvSpPr>
          <p:spPr>
            <a:xfrm>
              <a:off x="1994535" y="2791778"/>
              <a:ext cx="1460182" cy="423862"/>
            </a:xfrm>
            <a:custGeom>
              <a:avLst/>
              <a:gdLst/>
              <a:ahLst/>
              <a:cxnLst/>
              <a:rect l="l" t="t" r="r" b="b"/>
              <a:pathLst>
                <a:path w="1460182" h="423862">
                  <a:moveTo>
                    <a:pt x="1460182" y="0"/>
                  </a:moveTo>
                  <a:lnTo>
                    <a:pt x="1460182" y="263842"/>
                  </a:lnTo>
                  <a:lnTo>
                    <a:pt x="0" y="263842"/>
                  </a:lnTo>
                  <a:lnTo>
                    <a:pt x="0" y="423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42148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454718" y="2791778"/>
              <a:ext cx="1461135" cy="423862"/>
            </a:xfrm>
            <a:custGeom>
              <a:avLst/>
              <a:gdLst/>
              <a:ahLst/>
              <a:cxnLst/>
              <a:rect l="l" t="t" r="r" b="b"/>
              <a:pathLst>
                <a:path w="1461135" h="423862">
                  <a:moveTo>
                    <a:pt x="0" y="0"/>
                  </a:moveTo>
                  <a:lnTo>
                    <a:pt x="0" y="263842"/>
                  </a:lnTo>
                  <a:lnTo>
                    <a:pt x="1461135" y="263842"/>
                  </a:lnTo>
                  <a:lnTo>
                    <a:pt x="1461135" y="423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863465" y="3215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994535" y="375856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942148" y="42633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915852" y="3758565"/>
              <a:ext cx="9525" cy="504825"/>
            </a:xfrm>
            <a:custGeom>
              <a:avLst/>
              <a:gdLst/>
              <a:ahLst/>
              <a:cxnLst/>
              <a:rect l="l" t="t" r="r" b="b"/>
              <a:pathLst>
                <a:path w="952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863465" y="42633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942022" y="2190750"/>
              <a:ext cx="5025390" cy="601028"/>
            </a:xfrm>
            <a:custGeom>
              <a:avLst/>
              <a:gdLst/>
              <a:ahLst/>
              <a:cxnLst/>
              <a:rect l="l" t="t" r="r" b="b"/>
              <a:pathLst>
                <a:path w="5025390" h="601028">
                  <a:moveTo>
                    <a:pt x="2512695" y="0"/>
                  </a:moveTo>
                  <a:lnTo>
                    <a:pt x="5025390" y="300990"/>
                  </a:lnTo>
                  <a:lnTo>
                    <a:pt x="2512695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8188" y="332041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659505" y="332041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8188" y="436816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659505" y="436816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55888" y="240268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完成这项职责要的数据在谁手里？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71117" y="34504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只有一个类有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33964" y="34504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好几个类都有一部分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84960" y="44981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职责跟着数据走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06278" y="44981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三种做法选一种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476500" y="2839402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506790" y="2866073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情况一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937635" y="2839402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67924" y="2866073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情况二</a:t>
              </a:r>
            </a:p>
          </p:txBody>
        </p:sp>
      </p:grpSp>
      <p:grpSp>
        <p:nvGrpSpPr>
          <p:cNvPr id="37" name="c1-callout-2"/>
          <p:cNvGrpSpPr/>
          <p:nvPr/>
        </p:nvGrpSpPr>
        <p:grpSpPr>
          <a:xfrm>
            <a:off x="533400" y="5301615"/>
            <a:ext cx="5842635" cy="1021080"/>
            <a:chOff x="533400" y="5301615"/>
            <a:chExt cx="5842635" cy="1021080"/>
          </a:xfrm>
        </p:grpSpPr>
        <p:sp>
          <p:nvSpPr>
            <p:cNvPr id="32" name="Rectangle 32"/>
            <p:cNvSpPr/>
            <p:nvPr/>
          </p:nvSpPr>
          <p:spPr>
            <a:xfrm>
              <a:off x="533400" y="5301615"/>
              <a:ext cx="5842635" cy="1021080"/>
            </a:xfrm>
            <a:prstGeom prst="roundRect">
              <a:avLst>
                <a:gd name="adj" fmla="val 1119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712145"/>
              <a:ext cx="200023" cy="200023"/>
              <a:chOff x="738188" y="5712145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71214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57788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70738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数据和操作放在一起，本来就是面向对象的基本主张。</a:t>
              </a:r>
            </a:p>
          </p:txBody>
        </p:sp>
      </p:grpSp>
      <p:grpSp>
        <p:nvGrpSpPr>
          <p:cNvPr id="48" name="c2-bullets-1"/>
          <p:cNvGrpSpPr/>
          <p:nvPr/>
        </p:nvGrpSpPr>
        <p:grpSpPr>
          <a:xfrm>
            <a:off x="6673215" y="1992630"/>
            <a:ext cx="4705350" cy="1623060"/>
            <a:chOff x="6673215" y="1992630"/>
            <a:chExt cx="4705350" cy="1623060"/>
          </a:xfrm>
        </p:grpSpPr>
        <p:sp>
          <p:nvSpPr>
            <p:cNvPr id="38" name="TextBox 38"/>
            <p:cNvSpPr txBox="1"/>
            <p:nvPr/>
          </p:nvSpPr>
          <p:spPr>
            <a:xfrm>
              <a:off x="6673215" y="1992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数据分散时的三种做法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80835" y="233362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42684" y="23759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81825" y="234696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放到其中一个类里，再向另一个类加一条关系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680835" y="2678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42684" y="2720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81825" y="269176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新建一个类承担这项职责，向所需要的类各加一条关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680835" y="33089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42684" y="3351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81825" y="332232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放到控制类里，向所需要的类各加一条关系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6680835" y="3747135"/>
            <a:ext cx="4977765" cy="1602105"/>
            <a:chOff x="6680835" y="3747135"/>
            <a:chExt cx="4977765" cy="1602105"/>
          </a:xfrm>
        </p:grpSpPr>
        <p:sp>
          <p:nvSpPr>
            <p:cNvPr id="49" name="Rectangle 49"/>
            <p:cNvSpPr/>
            <p:nvPr/>
          </p:nvSpPr>
          <p:spPr>
            <a:xfrm>
              <a:off x="6680835" y="3747135"/>
              <a:ext cx="497776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90360" y="388048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928485" y="395668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001942" y="399240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加关系要克制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920865" y="4333875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加进来的每条关系都要与两端的抽象讲得通。不要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为了实现方便随手加关系，先想想它对整个模型意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味着什么。</a:t>
              </a:r>
            </a:p>
          </p:txBody>
        </p:sp>
      </p:grpSp>
      <p:grpSp>
        <p:nvGrpSpPr>
          <p:cNvPr id="61" name="c2-callout-3"/>
          <p:cNvGrpSpPr/>
          <p:nvPr/>
        </p:nvGrpSpPr>
        <p:grpSpPr>
          <a:xfrm>
            <a:off x="6680835" y="5539740"/>
            <a:ext cx="4977765" cy="782955"/>
            <a:chOff x="6680835" y="5539740"/>
            <a:chExt cx="4977765" cy="782955"/>
          </a:xfrm>
        </p:grpSpPr>
        <p:sp>
          <p:nvSpPr>
            <p:cNvPr id="55" name="Rectangle 55"/>
            <p:cNvSpPr/>
            <p:nvPr/>
          </p:nvSpPr>
          <p:spPr>
            <a:xfrm>
              <a:off x="6680835" y="553974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885623" y="5831205"/>
              <a:ext cx="200026" cy="200025"/>
              <a:chOff x="6885623" y="5831205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885623" y="58312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925361" y="58756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960077" y="59867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7187565" y="568833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出现新行为时先找有没有职责相近的现有类，确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认没有类能承担，再建新类。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300859" cy="909257"/>
            <a:chOff x="520446" y="342900"/>
            <a:chExt cx="23008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顺序图的组成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seqana"/>
          <p:cNvGrpSpPr/>
          <p:nvPr/>
        </p:nvGrpSpPr>
        <p:grpSpPr>
          <a:xfrm>
            <a:off x="1741904" y="1962150"/>
            <a:ext cx="9419575" cy="3371850"/>
            <a:chOff x="1741904" y="1962150"/>
            <a:chExt cx="9419575" cy="3371850"/>
          </a:xfrm>
        </p:grpSpPr>
        <p:sp>
          <p:nvSpPr>
            <p:cNvPr id="7" name="Rectangle 7"/>
            <p:cNvSpPr/>
            <p:nvPr/>
          </p:nvSpPr>
          <p:spPr>
            <a:xfrm>
              <a:off x="2905125" y="1962150"/>
              <a:ext cx="1809750" cy="438150"/>
            </a:xfrm>
            <a:prstGeom prst="roundRect">
              <a:avLst>
                <a:gd name="adj" fmla="val 13043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536609" y="2111216"/>
              <a:ext cx="5467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:Client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3810000" y="240030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10" name="Rectangle 10"/>
            <p:cNvSpPr/>
            <p:nvPr/>
          </p:nvSpPr>
          <p:spPr>
            <a:xfrm>
              <a:off x="7000875" y="1962150"/>
              <a:ext cx="1809750" cy="438150"/>
            </a:xfrm>
            <a:prstGeom prst="roundRect">
              <a:avLst>
                <a:gd name="adj" fmla="val 13043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45296" y="2111216"/>
              <a:ext cx="720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:Supplier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905750" y="240030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13" name="Rectangle 13"/>
            <p:cNvSpPr/>
            <p:nvPr/>
          </p:nvSpPr>
          <p:spPr>
            <a:xfrm>
              <a:off x="3752850" y="2857500"/>
              <a:ext cx="114300" cy="18097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848600" y="3028950"/>
              <a:ext cx="114300" cy="12382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3867150" y="3028950"/>
              <a:ext cx="3981450" cy="9525"/>
            </a:xfrm>
            <a:custGeom>
              <a:avLst/>
              <a:gdLst/>
              <a:ahLst/>
              <a:cxnLst/>
              <a:rect l="l" t="t" r="r" b="b"/>
              <a:pathLst>
                <a:path w="3981450" h="9525">
                  <a:moveTo>
                    <a:pt x="0" y="0"/>
                  </a:moveTo>
                  <a:lnTo>
                    <a:pt x="398145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7759065" y="29765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908467" y="2861072"/>
              <a:ext cx="189881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1: // PerformResponsibility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7962900" y="3657600"/>
              <a:ext cx="457200" cy="285750"/>
            </a:xfrm>
            <a:custGeom>
              <a:avLst/>
              <a:gdLst/>
              <a:ahLst/>
              <a:cxnLst/>
              <a:rect l="l" t="t" r="r" b="b"/>
              <a:pathLst>
                <a:path w="457200" h="285750">
                  <a:moveTo>
                    <a:pt x="0" y="0"/>
                  </a:moveTo>
                  <a:lnTo>
                    <a:pt x="457200" y="0"/>
                  </a:lnTo>
                  <a:lnTo>
                    <a:pt x="457200" y="285750"/>
                  </a:lnTo>
                  <a:lnTo>
                    <a:pt x="95250" y="28575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8058150" y="38909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89535" y="0"/>
                  </a:moveTo>
                  <a:lnTo>
                    <a:pt x="89535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10588" y="3737372"/>
              <a:ext cx="253026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1.1: // PerformAnotherResponsibility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905125" y="4953000"/>
              <a:ext cx="5905500" cy="247650"/>
            </a:xfrm>
            <a:prstGeom prst="roundRect">
              <a:avLst>
                <a:gd name="adj" fmla="val 15385"/>
              </a:avLst>
            </a:prstGeom>
            <a:solidFill>
              <a:srgbClr val="F4F6FB"/>
            </a:solidFill>
            <a:ln w="12382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905125" y="4953000"/>
              <a:ext cx="381000" cy="142875"/>
            </a:xfrm>
            <a:prstGeom prst="rect">
              <a:avLst/>
            </a:prstGeom>
            <a:solidFill>
              <a:srgbClr val="E7EDF3"/>
            </a:solidFill>
            <a:ln w="9525">
              <a:solidFill>
                <a:srgbClr val="334E6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998737" y="4975622"/>
              <a:ext cx="193776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9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ref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77198" y="5035391"/>
              <a:ext cx="11613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 Offerings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73720" y="2070497"/>
              <a:ext cx="102186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对象（客户对象）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920162" y="2070497"/>
              <a:ext cx="114841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对象（供应者对象）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66901" y="3232547"/>
              <a:ext cx="85736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生命线 lifeline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41904" y="3899297"/>
              <a:ext cx="188235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执行发生 execution occurrence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329738" y="2927747"/>
              <a:ext cx="163560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事件发生 event occurrence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29738" y="4375547"/>
              <a:ext cx="183174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反身消息，编号 1.1 挂在 1 下面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33133" y="4975622"/>
              <a:ext cx="762455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4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交互引用 ref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3638550" y="3295650"/>
              <a:ext cx="133350" cy="9525"/>
            </a:xfrm>
            <a:custGeom>
              <a:avLst/>
              <a:gdLst/>
              <a:ahLst/>
              <a:cxnLst/>
              <a:rect l="l" t="t" r="r" b="b"/>
              <a:pathLst>
                <a:path w="133350" h="952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/>
            <a:ln w="11430">
              <a:solidFill>
                <a:srgbClr val="D9DFEA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3638550" y="396240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1430">
              <a:solidFill>
                <a:srgbClr val="D9DFEA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8001000" y="2990850"/>
              <a:ext cx="1285875" cy="9525"/>
            </a:xfrm>
            <a:custGeom>
              <a:avLst/>
              <a:gdLst/>
              <a:ahLst/>
              <a:cxnLst/>
              <a:rect l="l" t="t" r="r" b="b"/>
              <a:pathLst>
                <a:path w="1285875" h="9525">
                  <a:moveTo>
                    <a:pt x="0" y="0"/>
                  </a:moveTo>
                  <a:lnTo>
                    <a:pt x="1285875" y="0"/>
                  </a:lnTo>
                </a:path>
              </a:pathLst>
            </a:custGeom>
            <a:noFill/>
            <a:ln w="11430">
              <a:solidFill>
                <a:srgbClr val="D9DFEA"/>
              </a:solidFill>
            </a:ln>
          </p:spPr>
        </p:sp>
      </p:grpSp>
      <p:grpSp>
        <p:nvGrpSpPr>
          <p:cNvPr id="40" name="seqananote"/>
          <p:cNvGrpSpPr/>
          <p:nvPr/>
        </p:nvGrpSpPr>
        <p:grpSpPr>
          <a:xfrm>
            <a:off x="533400" y="5524500"/>
            <a:ext cx="11125200" cy="838200"/>
            <a:chOff x="533400" y="5524500"/>
            <a:chExt cx="11125200" cy="838200"/>
          </a:xfrm>
        </p:grpSpPr>
        <p:sp>
          <p:nvSpPr>
            <p:cNvPr id="36" name="Rectangle 36"/>
            <p:cNvSpPr/>
            <p:nvPr/>
          </p:nvSpPr>
          <p:spPr>
            <a:xfrm>
              <a:off x="533400" y="5524500"/>
              <a:ext cx="11125200" cy="838200"/>
            </a:xfrm>
            <a:prstGeom prst="roundRect">
              <a:avLst>
                <a:gd name="adj" fmla="val 11364"/>
              </a:avLst>
            </a:prstGeom>
            <a:solidFill>
              <a:srgbClr val="F4F6FB"/>
            </a:solidFill>
            <a:ln w="11430">
              <a:solidFill>
                <a:srgbClr val="D9DFE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37044" y="5656183"/>
              <a:ext cx="1261085" cy="2273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6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几个容易混的名词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7426" y="5911929"/>
              <a:ext cx="6467424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生命线是对象存在的时间轴（竖虚线）；执行发生是控制焦点停在该对象上的那一段（窄长方形）。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7426" y="6140529"/>
              <a:ext cx="5161476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层次编号把从属消息挂在上级消息下面：1.1 是在消息 1 的执行过程中发出的。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14894" cy="909257"/>
            <a:chOff x="520446" y="342900"/>
            <a:chExt cx="5914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14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例：选课用例“创建课表”子流的顺序图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8" name="seqsch"/>
          <p:cNvGrpSpPr/>
          <p:nvPr/>
        </p:nvGrpSpPr>
        <p:grpSpPr>
          <a:xfrm>
            <a:off x="712470" y="1657350"/>
            <a:ext cx="10767060" cy="3638550"/>
            <a:chOff x="712470" y="1657350"/>
            <a:chExt cx="10767060" cy="3638550"/>
          </a:xfrm>
        </p:grpSpPr>
        <p:sp>
          <p:nvSpPr>
            <p:cNvPr id="7" name="Rectangle 7"/>
            <p:cNvSpPr/>
            <p:nvPr/>
          </p:nvSpPr>
          <p:spPr>
            <a:xfrm>
              <a:off x="712470" y="1657350"/>
              <a:ext cx="1866900" cy="514350"/>
            </a:xfrm>
            <a:prstGeom prst="roundRect">
              <a:avLst>
                <a:gd name="adj" fmla="val 14815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18294" y="1755696"/>
              <a:ext cx="45525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«actor»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88982" y="1944052"/>
              <a:ext cx="713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Student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937510" y="1657350"/>
              <a:ext cx="1866900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547821" y="175569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63332" y="1949291"/>
              <a:ext cx="18152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RegisterForCoursesForm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162550" y="1657350"/>
              <a:ext cx="1866900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19170" y="175569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199302" y="1944052"/>
              <a:ext cx="17933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RegistrationController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387590" y="1657350"/>
              <a:ext cx="1866900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997901" y="175569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73390" y="1944052"/>
              <a:ext cx="1695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CourseCatalogSystem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612630" y="1657350"/>
              <a:ext cx="1866900" cy="514350"/>
            </a:xfrm>
            <a:prstGeom prst="roundRect">
              <a:avLst>
                <a:gd name="adj" fmla="val 14815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18454" y="1755696"/>
              <a:ext cx="45525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«actor»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38159" y="1944052"/>
              <a:ext cx="121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Course Catalog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1645920" y="2171700"/>
              <a:ext cx="9525" cy="3124200"/>
            </a:xfrm>
            <a:custGeom>
              <a:avLst/>
              <a:gdLst/>
              <a:ahLst/>
              <a:cxnLst/>
              <a:rect l="l" t="t" r="r" b="b"/>
              <a:pathLst>
                <a:path w="9525" h="3124200">
                  <a:moveTo>
                    <a:pt x="0" y="0"/>
                  </a:moveTo>
                  <a:lnTo>
                    <a:pt x="0" y="31242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3" name="Line 23"/>
            <p:cNvSpPr/>
            <p:nvPr/>
          </p:nvSpPr>
          <p:spPr>
            <a:xfrm>
              <a:off x="3870960" y="2171700"/>
              <a:ext cx="9525" cy="3124200"/>
            </a:xfrm>
            <a:custGeom>
              <a:avLst/>
              <a:gdLst/>
              <a:ahLst/>
              <a:cxnLst/>
              <a:rect l="l" t="t" r="r" b="b"/>
              <a:pathLst>
                <a:path w="9525" h="3124200">
                  <a:moveTo>
                    <a:pt x="0" y="0"/>
                  </a:moveTo>
                  <a:lnTo>
                    <a:pt x="0" y="31242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4" name="Line 24"/>
            <p:cNvSpPr/>
            <p:nvPr/>
          </p:nvSpPr>
          <p:spPr>
            <a:xfrm>
              <a:off x="6096000" y="2171700"/>
              <a:ext cx="9525" cy="3124200"/>
            </a:xfrm>
            <a:custGeom>
              <a:avLst/>
              <a:gdLst/>
              <a:ahLst/>
              <a:cxnLst/>
              <a:rect l="l" t="t" r="r" b="b"/>
              <a:pathLst>
                <a:path w="9525" h="3124200">
                  <a:moveTo>
                    <a:pt x="0" y="0"/>
                  </a:moveTo>
                  <a:lnTo>
                    <a:pt x="0" y="31242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5" name="Line 25"/>
            <p:cNvSpPr/>
            <p:nvPr/>
          </p:nvSpPr>
          <p:spPr>
            <a:xfrm>
              <a:off x="8321040" y="2171700"/>
              <a:ext cx="9525" cy="3124200"/>
            </a:xfrm>
            <a:custGeom>
              <a:avLst/>
              <a:gdLst/>
              <a:ahLst/>
              <a:cxnLst/>
              <a:rect l="l" t="t" r="r" b="b"/>
              <a:pathLst>
                <a:path w="9525" h="3124200">
                  <a:moveTo>
                    <a:pt x="0" y="0"/>
                  </a:moveTo>
                  <a:lnTo>
                    <a:pt x="0" y="31242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6" name="Line 26"/>
            <p:cNvSpPr/>
            <p:nvPr/>
          </p:nvSpPr>
          <p:spPr>
            <a:xfrm>
              <a:off x="10546080" y="2171700"/>
              <a:ext cx="9525" cy="3124200"/>
            </a:xfrm>
            <a:custGeom>
              <a:avLst/>
              <a:gdLst/>
              <a:ahLst/>
              <a:cxnLst/>
              <a:rect l="l" t="t" r="r" b="b"/>
              <a:pathLst>
                <a:path w="9525" h="3124200">
                  <a:moveTo>
                    <a:pt x="0" y="0"/>
                  </a:moveTo>
                  <a:lnTo>
                    <a:pt x="0" y="31242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7" name="Rectangle 27"/>
            <p:cNvSpPr/>
            <p:nvPr/>
          </p:nvSpPr>
          <p:spPr>
            <a:xfrm>
              <a:off x="1588770" y="240982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813810" y="2409825"/>
              <a:ext cx="114300" cy="199453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038850" y="2774632"/>
              <a:ext cx="114300" cy="16297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263890" y="3139440"/>
              <a:ext cx="114300" cy="5362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488930" y="3504248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703070" y="2495550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0" y="0"/>
                  </a:moveTo>
                  <a:lnTo>
                    <a:pt x="211074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3" name="Polygon 33"/>
            <p:cNvSpPr/>
            <p:nvPr/>
          </p:nvSpPr>
          <p:spPr>
            <a:xfrm>
              <a:off x="3724275" y="24431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954035" y="2331720"/>
              <a:ext cx="16088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1: // create schedule( )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3928110" y="2860358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0" y="0"/>
                  </a:moveTo>
                  <a:lnTo>
                    <a:pt x="211074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5949315" y="2807970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012482" y="2696528"/>
              <a:ext cx="19419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2: // get course offerings( )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153150" y="3225165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0" y="0"/>
                  </a:moveTo>
                  <a:lnTo>
                    <a:pt x="211074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9" name="Polygon 39"/>
            <p:cNvSpPr/>
            <p:nvPr/>
          </p:nvSpPr>
          <p:spPr>
            <a:xfrm>
              <a:off x="8174355" y="3172778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01802" y="3061335"/>
              <a:ext cx="26134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3: // get course offerings(forSemester)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8378190" y="3589972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0" y="0"/>
                  </a:moveTo>
                  <a:lnTo>
                    <a:pt x="211074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10400348" y="3537585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62562" y="3426142"/>
              <a:ext cx="19419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4: // get course offerings( )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3928110" y="3953828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2110740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5" name="Polygon 45"/>
            <p:cNvSpPr/>
            <p:nvPr/>
          </p:nvSpPr>
          <p:spPr>
            <a:xfrm>
              <a:off x="3928110" y="3901440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89535" y="0"/>
                  </a:moveTo>
                  <a:lnTo>
                    <a:pt x="89535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879209" y="3789998"/>
              <a:ext cx="22085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5: // display course offerings( )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3928110" y="4318635"/>
              <a:ext cx="2110740" cy="9525"/>
            </a:xfrm>
            <a:custGeom>
              <a:avLst/>
              <a:gdLst/>
              <a:ahLst/>
              <a:cxnLst/>
              <a:rect l="l" t="t" r="r" b="b"/>
              <a:pathLst>
                <a:path w="2110740" h="9525">
                  <a:moveTo>
                    <a:pt x="2110740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3928110" y="4266248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89535" y="0"/>
                  </a:moveTo>
                  <a:lnTo>
                    <a:pt x="89535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945846" y="4154805"/>
              <a:ext cx="20752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6: // display blank schedule( )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12470" y="4559618"/>
              <a:ext cx="10767060" cy="247650"/>
            </a:xfrm>
            <a:prstGeom prst="roundRect">
              <a:avLst>
                <a:gd name="adj" fmla="val 15385"/>
              </a:avLst>
            </a:prstGeom>
            <a:solidFill>
              <a:srgbClr val="F4F6FB"/>
            </a:solidFill>
            <a:ln w="12382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2470" y="4559618"/>
              <a:ext cx="381000" cy="142875"/>
            </a:xfrm>
            <a:prstGeom prst="rect">
              <a:avLst/>
            </a:prstGeom>
            <a:solidFill>
              <a:srgbClr val="E7EDF3"/>
            </a:solidFill>
            <a:ln w="9525">
              <a:solidFill>
                <a:srgbClr val="334E6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06082" y="4582239"/>
              <a:ext cx="193776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9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ref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515323" y="4642009"/>
              <a:ext cx="11613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 Offerings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12470" y="4924425"/>
              <a:ext cx="10767060" cy="247650"/>
            </a:xfrm>
            <a:prstGeom prst="roundRect">
              <a:avLst>
                <a:gd name="adj" fmla="val 15385"/>
              </a:avLst>
            </a:prstGeom>
            <a:solidFill>
              <a:srgbClr val="F4F6FB"/>
            </a:solidFill>
            <a:ln w="12382">
              <a:solidFill>
                <a:srgbClr val="334E6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2470" y="4924425"/>
              <a:ext cx="381000" cy="142875"/>
            </a:xfrm>
            <a:prstGeom prst="rect">
              <a:avLst/>
            </a:prstGeom>
            <a:solidFill>
              <a:srgbClr val="E7EDF3"/>
            </a:solidFill>
            <a:ln w="9525">
              <a:solidFill>
                <a:srgbClr val="334E6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06082" y="4947047"/>
              <a:ext cx="193776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9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ref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553417" y="5006816"/>
              <a:ext cx="10851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Submit Schedule</a:t>
              </a:r>
            </a:p>
          </p:txBody>
        </p:sp>
      </p:grpSp>
      <p:grpSp>
        <p:nvGrpSpPr>
          <p:cNvPr id="63" name="seqschnote"/>
          <p:cNvGrpSpPr/>
          <p:nvPr/>
        </p:nvGrpSpPr>
        <p:grpSpPr>
          <a:xfrm>
            <a:off x="533400" y="5448300"/>
            <a:ext cx="11125200" cy="876300"/>
            <a:chOff x="533400" y="5448300"/>
            <a:chExt cx="11125200" cy="876300"/>
          </a:xfrm>
        </p:grpSpPr>
        <p:sp>
          <p:nvSpPr>
            <p:cNvPr id="59" name="Rectangle 59"/>
            <p:cNvSpPr/>
            <p:nvPr/>
          </p:nvSpPr>
          <p:spPr>
            <a:xfrm>
              <a:off x="533400" y="5448300"/>
              <a:ext cx="11125200" cy="876300"/>
            </a:xfrm>
            <a:prstGeom prst="roundRect">
              <a:avLst>
                <a:gd name="adj" fmla="val 10870"/>
              </a:avLst>
            </a:prstGeom>
            <a:solidFill>
              <a:srgbClr val="F4F6FB"/>
            </a:solidFill>
            <a:ln w="11430">
              <a:solidFill>
                <a:srgbClr val="D9DFEA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37044" y="5579983"/>
              <a:ext cx="4465081" cy="2273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6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这张图画的是“创建课表”子流，后面两段用 ref 引用另外两张图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7426" y="5835729"/>
              <a:ext cx="6630072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 1 由 Student 发起：交互图总是从 Actor 开始画，图上也画出 Actor，好看清谁在与外界通信。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7426" y="6064329"/>
              <a:ext cx="6878284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 5、6 在原课件里画成没有标明发送者的箭头，这里按“控制类取回数据后交还表单显示”补全了起点。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这张图为什么这样分配职责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bullets-1"/>
          <p:cNvGrpSpPr/>
          <p:nvPr/>
        </p:nvGrpSpPr>
        <p:grpSpPr>
          <a:xfrm>
            <a:off x="533400" y="1547336"/>
            <a:ext cx="9143280" cy="932117"/>
            <a:chOff x="533400" y="1547336"/>
            <a:chExt cx="9143280" cy="932117"/>
          </a:xfrm>
        </p:grpSpPr>
        <p:sp>
          <p:nvSpPr>
            <p:cNvPr id="7" name="Freeform 7"/>
            <p:cNvSpPr/>
            <p:nvPr/>
          </p:nvSpPr>
          <p:spPr>
            <a:xfrm>
              <a:off x="533400" y="1577340"/>
              <a:ext cx="137160" cy="111443"/>
            </a:xfrm>
            <a:custGeom>
              <a:avLst/>
              <a:gdLst/>
              <a:ahLst/>
              <a:cxnLst/>
              <a:rect l="l" t="t" r="r" b="b"/>
              <a:pathLst>
                <a:path w="137160" h="111443">
                  <a:moveTo>
                    <a:pt x="0" y="59055"/>
                  </a:moveTo>
                  <a:lnTo>
                    <a:pt x="52388" y="111443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77621" y="1547336"/>
              <a:ext cx="8899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 知道自己要显示什么、怎么显示，但不知道去哪里取，取数据是控制类的职责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533400" y="1904048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7621" y="1874044"/>
              <a:ext cx="65809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RegisterForCoursesForm 与 Student 交互，其他类都不直接碰 Actor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533400" y="2230755"/>
              <a:ext cx="137160" cy="111443"/>
            </a:xfrm>
            <a:custGeom>
              <a:avLst/>
              <a:gdLst/>
              <a:ahLst/>
              <a:cxnLst/>
              <a:rect l="l" t="t" r="r" b="b"/>
              <a:pathLst>
                <a:path w="137160" h="111443">
                  <a:moveTo>
                    <a:pt x="0" y="59055"/>
                  </a:moveTo>
                  <a:lnTo>
                    <a:pt x="52388" y="111443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77621" y="2200751"/>
              <a:ext cx="59592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CourseCatalogSystem 与外部遗留系统交互，换课程目录只改它</a:t>
              </a:r>
            </a:p>
          </p:txBody>
        </p:sp>
      </p:grpSp>
      <p:grpSp>
        <p:nvGrpSpPr>
          <p:cNvPr id="43" name="c1-table-2"/>
          <p:cNvGrpSpPr/>
          <p:nvPr/>
        </p:nvGrpSpPr>
        <p:grpSpPr>
          <a:xfrm>
            <a:off x="528066" y="2604135"/>
            <a:ext cx="11130534" cy="3059049"/>
            <a:chOff x="528066" y="2604135"/>
            <a:chExt cx="11130534" cy="3059049"/>
          </a:xfrm>
        </p:grpSpPr>
        <p:sp>
          <p:nvSpPr>
            <p:cNvPr id="14" name="Rectangle 14"/>
            <p:cNvSpPr/>
            <p:nvPr/>
          </p:nvSpPr>
          <p:spPr>
            <a:xfrm>
              <a:off x="533400" y="2604135"/>
              <a:ext cx="11125200" cy="4629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560041" y="27360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69723" y="273605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接收方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24962" y="273605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形成的分析操作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4746" y="3198971"/>
              <a:ext cx="24130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1: // create schedule( 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84826" y="3198971"/>
              <a:ext cx="23416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645271" y="3198971"/>
              <a:ext cx="19738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create schedule()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252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529965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746" y="3662839"/>
              <a:ext cx="29148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2: // get course offerings( 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84826" y="3662839"/>
              <a:ext cx="21472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45271" y="3662839"/>
              <a:ext cx="2451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get course offerings()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9890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746" y="4125754"/>
              <a:ext cx="41171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3: // get course offerings(forSemester)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84826" y="4125754"/>
              <a:ext cx="20203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45271" y="4125754"/>
              <a:ext cx="2451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get course offerings()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451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456748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4746" y="4588669"/>
              <a:ext cx="32560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5: // display course offerings( 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84826" y="4588669"/>
              <a:ext cx="23416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45271" y="4588669"/>
              <a:ext cx="27767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display course offerings()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9158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746" y="5052536"/>
              <a:ext cx="29851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6: // display blank schedule( 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84826" y="5052536"/>
              <a:ext cx="23416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645271" y="5052536"/>
              <a:ext cx="25186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display blank schedule()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604135"/>
              <a:ext cx="11125200" cy="27793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78718" y="2604135"/>
              <a:ext cx="9525" cy="27793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539162" y="2604135"/>
              <a:ext cx="9525" cy="27793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066" y="5457825"/>
              <a:ext cx="4696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消息 4 发给的是外部课程目录系统，它在本系统之外，不产生本系统的职责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4" name="Rectangle 4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6011704"/>
              <a:ext cx="88269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给某个对象发一条消息，就等于把完成这件事的职责判给了它，所以画图时要边画边问“这件事该归谁”。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协作图：同一段协作，换成链和序号来看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482694" cy="308039"/>
            <a:chOff x="525399" y="1550194"/>
            <a:chExt cx="448269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协作图不画时间轴，靠消息上的序号表示先后。</a:t>
              </a:r>
            </a:p>
          </p:txBody>
        </p:sp>
      </p:grpSp>
      <p:grpSp>
        <p:nvGrpSpPr>
          <p:cNvPr id="39" name="c1-graph-1"/>
          <p:cNvGrpSpPr/>
          <p:nvPr/>
        </p:nvGrpSpPr>
        <p:grpSpPr>
          <a:xfrm>
            <a:off x="765116" y="2169795"/>
            <a:ext cx="5992872" cy="2156459"/>
            <a:chOff x="765116" y="2169795"/>
            <a:chExt cx="5992872" cy="2156459"/>
          </a:xfrm>
        </p:grpSpPr>
        <p:sp>
          <p:nvSpPr>
            <p:cNvPr id="9" name="Freeform 9"/>
            <p:cNvSpPr/>
            <p:nvPr/>
          </p:nvSpPr>
          <p:spPr>
            <a:xfrm>
              <a:off x="1393508" y="2653665"/>
              <a:ext cx="729615" cy="9525"/>
            </a:xfrm>
            <a:custGeom>
              <a:avLst/>
              <a:gdLst/>
              <a:ahLst/>
              <a:cxnLst/>
              <a:rect l="l" t="t" r="r" b="b"/>
              <a:pathLst>
                <a:path w="729615" h="9525">
                  <a:moveTo>
                    <a:pt x="0" y="0"/>
                  </a:moveTo>
                  <a:lnTo>
                    <a:pt x="7296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23122" y="26060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37322" y="2169795"/>
              <a:ext cx="1630680" cy="353377"/>
            </a:xfrm>
            <a:custGeom>
              <a:avLst/>
              <a:gdLst/>
              <a:ahLst/>
              <a:cxnLst/>
              <a:rect l="l" t="t" r="r" b="b"/>
              <a:pathLst>
                <a:path w="1630680" h="353377">
                  <a:moveTo>
                    <a:pt x="1630680" y="353377"/>
                  </a:moveTo>
                  <a:cubicBezTo>
                    <a:pt x="1049655" y="21273"/>
                    <a:pt x="506095" y="0"/>
                    <a:pt x="0" y="28956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354455" y="2418398"/>
              <a:ext cx="106680" cy="88582"/>
            </a:xfrm>
            <a:custGeom>
              <a:avLst/>
              <a:gdLst/>
              <a:ahLst/>
              <a:cxnLst/>
              <a:rect l="l" t="t" r="r" b="b"/>
              <a:pathLst>
                <a:path w="106680" h="88582">
                  <a:moveTo>
                    <a:pt x="0" y="88582"/>
                  </a:moveTo>
                  <a:lnTo>
                    <a:pt x="59055" y="0"/>
                  </a:lnTo>
                  <a:lnTo>
                    <a:pt x="106680" y="819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080385" y="2783205"/>
              <a:ext cx="193358" cy="1188720"/>
            </a:xfrm>
            <a:custGeom>
              <a:avLst/>
              <a:gdLst/>
              <a:ahLst/>
              <a:cxnLst/>
              <a:rect l="l" t="t" r="r" b="b"/>
              <a:pathLst>
                <a:path w="193358" h="1188720">
                  <a:moveTo>
                    <a:pt x="193358" y="0"/>
                  </a:moveTo>
                  <a:lnTo>
                    <a:pt x="0" y="11887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032760" y="3964305"/>
              <a:ext cx="94298" cy="101917"/>
            </a:xfrm>
            <a:custGeom>
              <a:avLst/>
              <a:gdLst/>
              <a:ahLst/>
              <a:cxnLst/>
              <a:rect l="l" t="t" r="r" b="b"/>
              <a:pathLst>
                <a:path w="94298" h="101917">
                  <a:moveTo>
                    <a:pt x="32385" y="101917"/>
                  </a:moveTo>
                  <a:lnTo>
                    <a:pt x="0" y="0"/>
                  </a:lnTo>
                  <a:lnTo>
                    <a:pt x="94298" y="152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044315" y="4196715"/>
              <a:ext cx="713422" cy="9525"/>
            </a:xfrm>
            <a:custGeom>
              <a:avLst/>
              <a:gdLst/>
              <a:ahLst/>
              <a:cxnLst/>
              <a:rect l="l" t="t" r="r" b="b"/>
              <a:pathLst>
                <a:path w="713422" h="9525">
                  <a:moveTo>
                    <a:pt x="0" y="0"/>
                  </a:moveTo>
                  <a:lnTo>
                    <a:pt x="7134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757738" y="41490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826442" y="3057525"/>
              <a:ext cx="163830" cy="1008697"/>
            </a:xfrm>
            <a:custGeom>
              <a:avLst/>
              <a:gdLst/>
              <a:ahLst/>
              <a:cxnLst/>
              <a:rect l="l" t="t" r="r" b="b"/>
              <a:pathLst>
                <a:path w="163830" h="1008697">
                  <a:moveTo>
                    <a:pt x="0" y="1008697"/>
                  </a:moveTo>
                  <a:lnTo>
                    <a:pt x="16383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943600" y="2963228"/>
              <a:ext cx="93345" cy="101917"/>
            </a:xfrm>
            <a:custGeom>
              <a:avLst/>
              <a:gdLst/>
              <a:ahLst/>
              <a:cxnLst/>
              <a:rect l="l" t="t" r="r" b="b"/>
              <a:pathLst>
                <a:path w="93345" h="101917">
                  <a:moveTo>
                    <a:pt x="61912" y="0"/>
                  </a:moveTo>
                  <a:lnTo>
                    <a:pt x="93345" y="101917"/>
                  </a:lnTo>
                  <a:lnTo>
                    <a:pt x="0" y="8667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12482" y="2367915"/>
              <a:ext cx="571500" cy="571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18372" y="2523172"/>
              <a:ext cx="2152650" cy="260032"/>
            </a:xfrm>
            <a:prstGeom prst="roundRect">
              <a:avLst>
                <a:gd name="adj" fmla="val 36630"/>
              </a:avLst>
            </a:prstGeom>
            <a:solidFill>
              <a:srgbClr val="E7EDF3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044065" y="4066222"/>
              <a:ext cx="2000250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852988" y="4066222"/>
              <a:ext cx="1905000" cy="260032"/>
            </a:xfrm>
            <a:prstGeom prst="roundRect">
              <a:avLst>
                <a:gd name="adj" fmla="val 36630"/>
              </a:avLst>
            </a:prstGeom>
            <a:solidFill>
              <a:srgbClr val="E7EDF3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5751195" y="2348865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5116" y="2592229"/>
              <a:ext cx="6662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Student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87069" y="2592229"/>
              <a:ext cx="18152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: RegisterForCoursesForm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07297" y="4135279"/>
              <a:ext cx="16737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RegistrationController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14373" y="4135279"/>
              <a:ext cx="15822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: CourseCatalogSystem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88628" y="2592229"/>
              <a:ext cx="11347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: Course Catalog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739265" y="257460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770821" y="260365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056448" y="2190750"/>
              <a:ext cx="29527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083415" y="2220754"/>
              <a:ext cx="24134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5、6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102292" y="3346132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133848" y="3375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381500" y="4117658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413056" y="414670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49302" y="3436620"/>
              <a:ext cx="133350" cy="146685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80858" y="346567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  <p:grpSp>
        <p:nvGrpSpPr>
          <p:cNvPr id="42" name="c1-text-2"/>
          <p:cNvGrpSpPr/>
          <p:nvPr/>
        </p:nvGrpSpPr>
        <p:grpSpPr>
          <a:xfrm>
            <a:off x="526923" y="5036344"/>
            <a:ext cx="5995162" cy="1048511"/>
            <a:chOff x="526923" y="5036344"/>
            <a:chExt cx="5995162" cy="1048511"/>
          </a:xfrm>
        </p:grpSpPr>
        <p:sp>
          <p:nvSpPr>
            <p:cNvPr id="40" name="TextBox 40"/>
            <p:cNvSpPr txBox="1"/>
            <p:nvPr/>
          </p:nvSpPr>
          <p:spPr>
            <a:xfrm>
              <a:off x="526923" y="5036344"/>
              <a:ext cx="599516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// create schedule( )　　2 // get course offerings( )　　3 // get course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offerings(forSemester)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6923" y="5584031"/>
              <a:ext cx="577570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// get course offerings( )　　5 // display course offerings( )　　6 //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display blank schedule( )</a:t>
              </a:r>
            </a:p>
          </p:txBody>
        </p:sp>
      </p:grpSp>
      <p:grpSp>
        <p:nvGrpSpPr>
          <p:cNvPr id="54" name="c2-kv-1"/>
          <p:cNvGrpSpPr/>
          <p:nvPr/>
        </p:nvGrpSpPr>
        <p:grpSpPr>
          <a:xfrm>
            <a:off x="7106602" y="1992630"/>
            <a:ext cx="4551998" cy="2459355"/>
            <a:chOff x="7106602" y="1992630"/>
            <a:chExt cx="4551998" cy="2459355"/>
          </a:xfrm>
        </p:grpSpPr>
        <p:sp>
          <p:nvSpPr>
            <p:cNvPr id="43" name="TextBox 43"/>
            <p:cNvSpPr txBox="1"/>
            <p:nvPr/>
          </p:nvSpPr>
          <p:spPr>
            <a:xfrm>
              <a:off x="7106602" y="19926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3895" y="199263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对象名:类名、对象名 或 :类名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114222" y="231267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06602" y="2432685"/>
              <a:ext cx="9814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链（link）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03895" y="243268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两个对象之间可以传消息的通路，画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成实线，它是关联的一个实例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114222" y="303466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06602" y="3154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消息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3895" y="315468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画在链旁边的带标号箭头，箭头指向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接收方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114222" y="375666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106602" y="38766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序号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03895" y="387667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协作图里表示先后的唯一手段，所以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几乎不能省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7114222" y="4583430"/>
            <a:ext cx="4544378" cy="1059180"/>
            <a:chOff x="7114222" y="4583430"/>
            <a:chExt cx="4544378" cy="1059180"/>
          </a:xfrm>
        </p:grpSpPr>
        <p:sp>
          <p:nvSpPr>
            <p:cNvPr id="55" name="Rectangle 55"/>
            <p:cNvSpPr/>
            <p:nvPr/>
          </p:nvSpPr>
          <p:spPr>
            <a:xfrm>
              <a:off x="7114222" y="458343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19010" y="5013008"/>
              <a:ext cx="200026" cy="200026"/>
              <a:chOff x="7319010" y="5013008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19010" y="50130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419023" y="50796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407910" y="51130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7620952" y="473202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消息可以先不落实到具体操作，用一句话描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述它的意思，以后再指定成接收方的某个操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作。</a:t>
              </a:r>
            </a:p>
          </p:txBody>
        </p:sp>
      </p:grpSp>
      <p:grpSp>
        <p:nvGrpSpPr>
          <p:cNvPr id="63" name="c2-text-3"/>
          <p:cNvGrpSpPr/>
          <p:nvPr/>
        </p:nvGrpSpPr>
        <p:grpSpPr>
          <a:xfrm>
            <a:off x="7107746" y="5853589"/>
            <a:ext cx="4377690" cy="500824"/>
            <a:chOff x="7107746" y="5853589"/>
            <a:chExt cx="4377690" cy="500824"/>
          </a:xfrm>
        </p:grpSpPr>
        <p:sp>
          <p:nvSpPr>
            <p:cNvPr id="62" name="TextBox 62"/>
            <p:cNvSpPr txBox="1"/>
            <p:nvPr/>
          </p:nvSpPr>
          <p:spPr>
            <a:xfrm>
              <a:off x="7107746" y="5853589"/>
              <a:ext cx="437769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5、6 两条消息发给的是同一条 Form 与 Student 之间的链，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为省地方写在图的左侧。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顺序图还是协作图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两种图表达的信息相近，看问题的角度不同，都能用来发现类、交互和职责。</a:t>
              </a:r>
            </a:p>
          </p:txBody>
        </p:sp>
      </p:grpSp>
      <p:grpSp>
        <p:nvGrpSpPr>
          <p:cNvPr id="39" name="c1-table-1"/>
          <p:cNvGrpSpPr/>
          <p:nvPr/>
        </p:nvGrpSpPr>
        <p:grpSpPr>
          <a:xfrm>
            <a:off x="533400" y="1967865"/>
            <a:ext cx="11125200" cy="2692718"/>
            <a:chOff x="533400" y="1967865"/>
            <a:chExt cx="11125200" cy="269271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92415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72354" y="2102644"/>
              <a:ext cx="21556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协作图（Communication）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50683" y="2102644"/>
              <a:ext cx="16762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顺序图（Sequence）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强调什么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990850" y="2426018"/>
              <a:ext cx="4319588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89148" y="255127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对象之间的结构性协作，链就是关系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329488" y="2426018"/>
              <a:ext cx="4319588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27786" y="255127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消息的明确先后次序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擅长什么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9148" y="300085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看清协作的模式，看清某个对象受到的全部影响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7786" y="300085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看清整体流程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44947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适合什么场合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9148" y="34494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头脑风暴、过程式设计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7786" y="344947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实时规格说明、复杂场景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8981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不擅长什么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9148" y="389810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消息多了以后次序不易读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27786" y="38981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看不出对象之间的关系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43467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次序怎么表示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89148" y="43467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靠消息序号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27786" y="434673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靠箭头的上下位置，序号常省略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967865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97656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1520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callout-2"/>
          <p:cNvGrpSpPr/>
          <p:nvPr/>
        </p:nvGrpSpPr>
        <p:grpSpPr>
          <a:xfrm>
            <a:off x="533400" y="4851082"/>
            <a:ext cx="11125200" cy="533400"/>
            <a:chOff x="533400" y="4851082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4851082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017772"/>
              <a:ext cx="200023" cy="200023"/>
              <a:chOff x="738188" y="5017772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01777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50844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013008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对象多、消息多的时候顺序图更好读；想看清一个对象和谁连着、被谁影响时用协作图。</a:t>
              </a:r>
            </a:p>
          </p:txBody>
        </p:sp>
      </p:grpSp>
      <p:grpSp>
        <p:nvGrpSpPr>
          <p:cNvPr id="51" name="c1-kv-3"/>
          <p:cNvGrpSpPr/>
          <p:nvPr/>
        </p:nvGrpSpPr>
        <p:grpSpPr>
          <a:xfrm>
            <a:off x="525780" y="5599748"/>
            <a:ext cx="11132820" cy="733424"/>
            <a:chOff x="525780" y="5599748"/>
            <a:chExt cx="11132820" cy="733424"/>
          </a:xfrm>
        </p:grpSpPr>
        <p:sp>
          <p:nvSpPr>
            <p:cNvPr id="46" name="TextBox 46"/>
            <p:cNvSpPr txBox="1"/>
            <p:nvPr/>
          </p:nvSpPr>
          <p:spPr>
            <a:xfrm>
              <a:off x="525780" y="559974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共同点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68742" y="5599748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两种图都能表达用例事件流的语义，都能帮着发现类、交互和职责，也都能用来验证架构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9197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5780" y="603980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怎么选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68742" y="6039802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项目通常定一种为主；同一个用例的不同事件流可以混用，只要图之间的关系写清楚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879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574" y="407194"/>
              <a:ext cx="21535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把用例行为分配给类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一个用例画一张交互图是不够的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705092" cy="278702"/>
            <a:chOff x="526161" y="1547336"/>
            <a:chExt cx="670509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先画基本流，再画重要的变体，直到参与对象的每个操作都在某张图里出现过。</a:t>
              </a:r>
            </a:p>
          </p:txBody>
        </p:sp>
      </p:grpSp>
      <p:grpSp>
        <p:nvGrpSpPr>
          <p:cNvPr id="23" name="c1-flow-1"/>
          <p:cNvGrpSpPr/>
          <p:nvPr/>
        </p:nvGrpSpPr>
        <p:grpSpPr>
          <a:xfrm>
            <a:off x="707708" y="2146935"/>
            <a:ext cx="4629150" cy="2016443"/>
            <a:chOff x="707708" y="2146935"/>
            <a:chExt cx="4629150" cy="2016443"/>
          </a:xfrm>
        </p:grpSpPr>
        <p:sp>
          <p:nvSpPr>
            <p:cNvPr id="9" name="Freeform 9"/>
            <p:cNvSpPr/>
            <p:nvPr/>
          </p:nvSpPr>
          <p:spPr>
            <a:xfrm>
              <a:off x="1777365" y="2649855"/>
              <a:ext cx="2488882" cy="305753"/>
            </a:xfrm>
            <a:custGeom>
              <a:avLst/>
              <a:gdLst/>
              <a:ahLst/>
              <a:cxnLst/>
              <a:rect l="l" t="t" r="r" b="b"/>
              <a:pathLst>
                <a:path w="2488882" h="305753">
                  <a:moveTo>
                    <a:pt x="0" y="305753"/>
                  </a:moveTo>
                  <a:lnTo>
                    <a:pt x="0" y="100965"/>
                  </a:lnTo>
                  <a:lnTo>
                    <a:pt x="2488882" y="100965"/>
                  </a:lnTo>
                  <a:lnTo>
                    <a:pt x="248888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213860" y="2545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47975" y="315468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91815" y="31022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777365" y="3354705"/>
              <a:ext cx="2488882" cy="304800"/>
            </a:xfrm>
            <a:custGeom>
              <a:avLst/>
              <a:gdLst/>
              <a:ahLst/>
              <a:cxnLst/>
              <a:rect l="l" t="t" r="r" b="b"/>
              <a:pathLst>
                <a:path w="2488882" h="304800">
                  <a:moveTo>
                    <a:pt x="0" y="0"/>
                  </a:moveTo>
                  <a:lnTo>
                    <a:pt x="0" y="204788"/>
                  </a:lnTo>
                  <a:lnTo>
                    <a:pt x="2488882" y="204788"/>
                  </a:lnTo>
                  <a:lnTo>
                    <a:pt x="2488882" y="3048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213860" y="36595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07708" y="295560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196590" y="2146935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196590" y="2955608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196590" y="3764280"/>
              <a:ext cx="214026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545488" y="307609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70292" y="226742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备选流 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70292" y="307609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备选流 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70292" y="388572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备选流 n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543425"/>
            <a:ext cx="4977765" cy="488632"/>
            <a:chOff x="533400" y="4543425"/>
            <a:chExt cx="4977765" cy="488632"/>
          </a:xfrm>
        </p:grpSpPr>
        <p:sp>
          <p:nvSpPr>
            <p:cNvPr id="24" name="Rectangle 24"/>
            <p:cNvSpPr/>
            <p:nvPr/>
          </p:nvSpPr>
          <p:spPr>
            <a:xfrm>
              <a:off x="533400" y="4543425"/>
              <a:ext cx="4977765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688205"/>
              <a:ext cx="200026" cy="200025"/>
              <a:chOff x="738188" y="4688205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6882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47326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48437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469392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只牵涉一个对象的琐碎流程可以不画。</a:t>
              </a:r>
            </a:p>
          </p:txBody>
        </p:sp>
      </p:grpSp>
      <p:grpSp>
        <p:nvGrpSpPr>
          <p:cNvPr id="38" name="c1-bullets-3"/>
          <p:cNvGrpSpPr/>
          <p:nvPr/>
        </p:nvGrpSpPr>
        <p:grpSpPr>
          <a:xfrm>
            <a:off x="526542" y="5230178"/>
            <a:ext cx="2747188" cy="1080611"/>
            <a:chOff x="526542" y="5230178"/>
            <a:chExt cx="2747188" cy="1080611"/>
          </a:xfrm>
        </p:grpSpPr>
        <p:sp>
          <p:nvSpPr>
            <p:cNvPr id="31" name="TextBox 31"/>
            <p:cNvSpPr txBox="1"/>
            <p:nvPr/>
          </p:nvSpPr>
          <p:spPr>
            <a:xfrm>
              <a:off x="526542" y="523017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选课用例里可能要画的变体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42925" y="558927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99135" y="554593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教学班已满，或者不满足先修条件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42925" y="586073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9135" y="581834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学生选的两个教学班上课时间冲突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42925" y="613314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9135" y="609076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提交课表时遗留课程目录系统没有响应</a:t>
              </a:r>
            </a:p>
          </p:txBody>
        </p:sp>
      </p:grpSp>
      <p:grpSp>
        <p:nvGrpSpPr>
          <p:cNvPr id="46" name="c2-bullets-1"/>
          <p:cNvGrpSpPr/>
          <p:nvPr/>
        </p:nvGrpSpPr>
        <p:grpSpPr>
          <a:xfrm>
            <a:off x="5809107" y="1964055"/>
            <a:ext cx="3274695" cy="1206055"/>
            <a:chOff x="5809107" y="1964055"/>
            <a:chExt cx="3274695" cy="1206055"/>
          </a:xfrm>
        </p:grpSpPr>
        <p:sp>
          <p:nvSpPr>
            <p:cNvPr id="39" name="TextBox 39"/>
            <p:cNvSpPr txBox="1"/>
            <p:nvPr/>
          </p:nvSpPr>
          <p:spPr>
            <a:xfrm>
              <a:off x="5809107" y="196405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例外流举例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824538" y="234029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80557" y="228409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出错处理：遇到错误时系统怎么办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24538" y="265080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80557" y="259461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超时处理：用户在规定时间内没有回应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24538" y="29622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80557" y="2906077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非法输入：参与对象收到不合法的数据</a:t>
              </a:r>
            </a:p>
          </p:txBody>
        </p:sp>
      </p:grpSp>
      <p:grpSp>
        <p:nvGrpSpPr>
          <p:cNvPr id="54" name="c2-bullets-2"/>
          <p:cNvGrpSpPr/>
          <p:nvPr/>
        </p:nvGrpSpPr>
        <p:grpSpPr>
          <a:xfrm>
            <a:off x="5809107" y="3314700"/>
            <a:ext cx="4380479" cy="1206055"/>
            <a:chOff x="5809107" y="3314700"/>
            <a:chExt cx="4380479" cy="1206055"/>
          </a:xfrm>
        </p:grpSpPr>
        <p:sp>
          <p:nvSpPr>
            <p:cNvPr id="47" name="TextBox 47"/>
            <p:cNvSpPr txBox="1"/>
            <p:nvPr/>
          </p:nvSpPr>
          <p:spPr>
            <a:xfrm>
              <a:off x="5809107" y="33147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可选流举例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5824538" y="36899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80557" y="3633788"/>
              <a:ext cx="4209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从几个选项里挑一个，决定系统接下来做什么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824538" y="400145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80557" y="394525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后续流程取决于某个属性或关系的当前取值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5824538" y="43129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980557" y="425672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后续流程取决于要处理的数据类型</a:t>
              </a:r>
            </a:p>
          </p:txBody>
        </p:sp>
      </p:grpSp>
      <p:grpSp>
        <p:nvGrpSpPr>
          <p:cNvPr id="61" name="c2-callout-3"/>
          <p:cNvGrpSpPr/>
          <p:nvPr/>
        </p:nvGrpSpPr>
        <p:grpSpPr>
          <a:xfrm>
            <a:off x="5815965" y="4642485"/>
            <a:ext cx="5842635" cy="1624012"/>
            <a:chOff x="5815965" y="4642485"/>
            <a:chExt cx="5842635" cy="1624012"/>
          </a:xfrm>
        </p:grpSpPr>
        <p:sp>
          <p:nvSpPr>
            <p:cNvPr id="55" name="Rectangle 55"/>
            <p:cNvSpPr/>
            <p:nvPr/>
          </p:nvSpPr>
          <p:spPr>
            <a:xfrm>
              <a:off x="5815965" y="4642485"/>
              <a:ext cx="5842635" cy="1624012"/>
            </a:xfrm>
            <a:prstGeom prst="roundRect">
              <a:avLst>
                <a:gd name="adj" fmla="val 7038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008694" y="5350311"/>
              <a:ext cx="224134" cy="192560"/>
              <a:chOff x="6008694" y="5350311"/>
              <a:chExt cx="224134" cy="19256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120765" y="542067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008694" y="535031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120765" y="549846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323457" y="5235892"/>
              <a:ext cx="48143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判断画够了没有的标准：参与对象的全部操作都被用到并示范过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一次。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882896" cy="3351847"/>
            <a:chOff x="667512" y="1835468"/>
            <a:chExt cx="488289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描述职责、属性与关系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把交互图上的动态协作固化成类的静态定义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消息变成分析操作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一致性检查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属性与关联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聚合、角色名、多重性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职责来自交互图上的消息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flow-1"/>
          <p:cNvGrpSpPr/>
          <p:nvPr/>
        </p:nvGrpSpPr>
        <p:grpSpPr>
          <a:xfrm>
            <a:off x="912495" y="1651635"/>
            <a:ext cx="4652962" cy="1707833"/>
            <a:chOff x="912495" y="1651635"/>
            <a:chExt cx="4652962" cy="1707833"/>
          </a:xfrm>
        </p:grpSpPr>
        <p:sp>
          <p:nvSpPr>
            <p:cNvPr id="7" name="Freeform 7"/>
            <p:cNvSpPr/>
            <p:nvPr/>
          </p:nvSpPr>
          <p:spPr>
            <a:xfrm>
              <a:off x="3238500" y="2050732"/>
              <a:ext cx="9525" cy="150495"/>
            </a:xfrm>
            <a:custGeom>
              <a:avLst/>
              <a:gdLst/>
              <a:ahLst/>
              <a:cxnLst/>
              <a:rect l="l" t="t" r="r" b="b"/>
              <a:pathLst>
                <a:path w="9525" h="150495">
                  <a:moveTo>
                    <a:pt x="0" y="0"/>
                  </a:moveTo>
                  <a:lnTo>
                    <a:pt x="0" y="150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186112" y="2201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238500" y="2705100"/>
              <a:ext cx="9525" cy="150495"/>
            </a:xfrm>
            <a:custGeom>
              <a:avLst/>
              <a:gdLst/>
              <a:ahLst/>
              <a:cxnLst/>
              <a:rect l="l" t="t" r="r" b="b"/>
              <a:pathLst>
                <a:path w="9525" h="150495">
                  <a:moveTo>
                    <a:pt x="0" y="0"/>
                  </a:moveTo>
                  <a:lnTo>
                    <a:pt x="0" y="150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186112" y="28555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912495" y="1651635"/>
              <a:ext cx="465296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912495" y="2306002"/>
              <a:ext cx="4652962" cy="399098"/>
            </a:xfrm>
            <a:prstGeom prst="roundRect">
              <a:avLst>
                <a:gd name="adj" fmla="val 23866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912495" y="2960370"/>
              <a:ext cx="465296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554300" y="177307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交互图上的一条消息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29687" y="242744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接收方的一项职责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328139" y="308181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设计阶段的一个或多个操作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267075" y="2092642"/>
              <a:ext cx="121539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290697" y="211788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收到消息就要能应答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267075" y="2747010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290697" y="27722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细化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662362"/>
            <a:ext cx="5410200" cy="1226820"/>
            <a:chOff x="533400" y="3662362"/>
            <a:chExt cx="5410200" cy="1226820"/>
          </a:xfrm>
        </p:grpSpPr>
        <p:sp>
          <p:nvSpPr>
            <p:cNvPr id="22" name="Rectangle 22"/>
            <p:cNvSpPr/>
            <p:nvPr/>
          </p:nvSpPr>
          <p:spPr>
            <a:xfrm>
              <a:off x="533400" y="3662362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3795712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385476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5345" y="388905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47597" y="3894772"/>
              <a:ext cx="202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职责（Responsibility）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7047" y="422910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职责是可以要求一个对象提供的东西，包括它能执行的动作，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以及它掌握并提供给别人的知识。</a:t>
              </a:r>
            </a:p>
          </p:txBody>
        </p:sp>
      </p:grpSp>
      <p:grpSp>
        <p:nvGrpSpPr>
          <p:cNvPr id="35" name="c1-callout-3"/>
          <p:cNvGrpSpPr/>
          <p:nvPr/>
        </p:nvGrpSpPr>
        <p:grpSpPr>
          <a:xfrm>
            <a:off x="533400" y="5064442"/>
            <a:ext cx="5410200" cy="1262062"/>
            <a:chOff x="533400" y="5064442"/>
            <a:chExt cx="5410200" cy="1262062"/>
          </a:xfrm>
        </p:grpSpPr>
        <p:sp>
          <p:nvSpPr>
            <p:cNvPr id="29" name="Rectangle 29"/>
            <p:cNvSpPr/>
            <p:nvPr/>
          </p:nvSpPr>
          <p:spPr>
            <a:xfrm>
              <a:off x="533400" y="5064442"/>
              <a:ext cx="5410200" cy="1262062"/>
            </a:xfrm>
            <a:prstGeom prst="roundRect">
              <a:avLst>
                <a:gd name="adj" fmla="val 905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594985"/>
              <a:ext cx="200026" cy="200025"/>
              <a:chOff x="738188" y="5594985"/>
              <a:chExt cx="200026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5949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77926" y="56394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12642" y="57505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892" y="5352098"/>
              <a:ext cx="449713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// get course offerings() 是分析阶段的职责；到了设计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阶段，它可能变成 getCourseOfferings(semester) 这样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带参数和返回类型的操作，也可能拆成两个。</a:t>
              </a:r>
            </a:p>
          </p:txBody>
        </p:sp>
      </p:grpSp>
      <p:grpSp>
        <p:nvGrpSpPr>
          <p:cNvPr id="46" name="c2-bullets-1"/>
          <p:cNvGrpSpPr/>
          <p:nvPr/>
        </p:nvGrpSpPr>
        <p:grpSpPr>
          <a:xfrm>
            <a:off x="6241542" y="1545907"/>
            <a:ext cx="5101971" cy="1464183"/>
            <a:chOff x="6241542" y="1545907"/>
            <a:chExt cx="5101971" cy="1464183"/>
          </a:xfrm>
        </p:grpSpPr>
        <p:sp>
          <p:nvSpPr>
            <p:cNvPr id="36" name="TextBox 36"/>
            <p:cNvSpPr txBox="1"/>
            <p:nvPr/>
          </p:nvSpPr>
          <p:spPr>
            <a:xfrm>
              <a:off x="6241542" y="1545907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找职责的做法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48400" y="185356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4078" y="18929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9197" y="1865947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逐条看交互图上的消息，找到消息的接收对象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248400" y="216503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04078" y="220341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29197" y="217741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该类没有对应职责时，新增一条能提供这个行为的职责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48400" y="247650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04078" y="251488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29197" y="248888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新增职责时回头查补充规约，看有没有相关的非功能需求要一并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记下</a:t>
              </a:r>
            </a:p>
          </p:txBody>
        </p:sp>
      </p:grpSp>
      <p:grpSp>
        <p:nvGrpSpPr>
          <p:cNvPr id="52" name="c2-kv-2"/>
          <p:cNvGrpSpPr/>
          <p:nvPr/>
        </p:nvGrpSpPr>
        <p:grpSpPr>
          <a:xfrm>
            <a:off x="6241542" y="3153727"/>
            <a:ext cx="5417058" cy="662178"/>
            <a:chOff x="6241542" y="3153727"/>
            <a:chExt cx="5417058" cy="662178"/>
          </a:xfrm>
        </p:grpSpPr>
        <p:sp>
          <p:nvSpPr>
            <p:cNvPr id="47" name="TextBox 47"/>
            <p:cNvSpPr txBox="1"/>
            <p:nvPr/>
          </p:nvSpPr>
          <p:spPr>
            <a:xfrm>
              <a:off x="6241542" y="3153727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写成分析操作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60754" y="3153727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在类图上写成操作，需要一套命名约定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4423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241542" y="355187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写成文字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60754" y="355187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在类的描述里用文字记下来</a:t>
              </a:r>
            </a:p>
          </p:txBody>
        </p:sp>
      </p:grpSp>
      <p:grpSp>
        <p:nvGrpSpPr>
          <p:cNvPr id="58" name="c2-callout-3"/>
          <p:cNvGrpSpPr/>
          <p:nvPr/>
        </p:nvGrpSpPr>
        <p:grpSpPr>
          <a:xfrm>
            <a:off x="6248400" y="3937635"/>
            <a:ext cx="5410200" cy="729615"/>
            <a:chOff x="6248400" y="3937635"/>
            <a:chExt cx="5410200" cy="729615"/>
          </a:xfrm>
        </p:grpSpPr>
        <p:sp>
          <p:nvSpPr>
            <p:cNvPr id="53" name="Rectangle 53"/>
            <p:cNvSpPr/>
            <p:nvPr/>
          </p:nvSpPr>
          <p:spPr>
            <a:xfrm>
              <a:off x="6248400" y="393763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453188" y="4202432"/>
              <a:ext cx="200023" cy="200023"/>
              <a:chOff x="6453188" y="4202432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53188" y="420243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86538" y="42691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755892" y="4084320"/>
              <a:ext cx="43685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本课程约定分析操作名前面加 //，提醒这些操作在设计阶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段多半还会改。</a:t>
              </a:r>
            </a:p>
          </p:txBody>
        </p:sp>
      </p:grpSp>
      <p:grpSp>
        <p:nvGrpSpPr>
          <p:cNvPr id="65" name="c2-card-4"/>
          <p:cNvGrpSpPr/>
          <p:nvPr/>
        </p:nvGrpSpPr>
        <p:grpSpPr>
          <a:xfrm>
            <a:off x="6248400" y="4842510"/>
            <a:ext cx="5410200" cy="1483995"/>
            <a:chOff x="6248400" y="4842510"/>
            <a:chExt cx="5410200" cy="1483995"/>
          </a:xfrm>
        </p:grpSpPr>
        <p:sp>
          <p:nvSpPr>
            <p:cNvPr id="59" name="Rectangle 59"/>
            <p:cNvSpPr/>
            <p:nvPr/>
          </p:nvSpPr>
          <p:spPr>
            <a:xfrm>
              <a:off x="6248400" y="4842510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257925" y="497586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78905" y="503491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574346" y="506920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29247" y="507492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非功能需求也会带出职责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72047" y="5408295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补充规约要求课程列表要在几秒内显示出来，这条约束就记在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控制类取数据那条职责上；要求只有本人能看自己的课表，则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记在实体类的读写职责上。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01261" cy="909257"/>
            <a:chOff x="520446" y="342900"/>
            <a:chExt cx="46012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012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例：把职责写到 VOPC 类图上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22389" cy="308039"/>
            <a:chOff x="525399" y="1550194"/>
            <a:chExt cx="68223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223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这是上一节那张顺序图的静态版本，每条职责都能追到图上的一条消息。</a:t>
              </a:r>
            </a:p>
          </p:txBody>
        </p:sp>
      </p:grpSp>
      <p:grpSp>
        <p:nvGrpSpPr>
          <p:cNvPr id="31" name="c1-uml-1"/>
          <p:cNvGrpSpPr/>
          <p:nvPr/>
        </p:nvGrpSpPr>
        <p:grpSpPr>
          <a:xfrm>
            <a:off x="1126808" y="2553652"/>
            <a:ext cx="5007445" cy="3047048"/>
            <a:chOff x="1126808" y="2553652"/>
            <a:chExt cx="5007445" cy="3047048"/>
          </a:xfrm>
        </p:grpSpPr>
        <p:sp>
          <p:nvSpPr>
            <p:cNvPr id="9" name="Freeform 9"/>
            <p:cNvSpPr/>
            <p:nvPr/>
          </p:nvSpPr>
          <p:spPr>
            <a:xfrm>
              <a:off x="3077528" y="3066098"/>
              <a:ext cx="1290638" cy="9525"/>
            </a:xfrm>
            <a:custGeom>
              <a:avLst/>
              <a:gdLst/>
              <a:ahLst/>
              <a:cxnLst/>
              <a:rect l="l" t="t" r="r" b="b"/>
              <a:pathLst>
                <a:path w="1290638" h="9525">
                  <a:moveTo>
                    <a:pt x="0" y="0"/>
                  </a:moveTo>
                  <a:lnTo>
                    <a:pt x="129063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263390" y="300894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240655" y="3402330"/>
              <a:ext cx="9525" cy="1524952"/>
            </a:xfrm>
            <a:custGeom>
              <a:avLst/>
              <a:gdLst/>
              <a:ahLst/>
              <a:cxnLst/>
              <a:rect l="l" t="t" r="r" b="b"/>
              <a:pathLst>
                <a:path w="9525" h="1524952">
                  <a:moveTo>
                    <a:pt x="0" y="0"/>
                  </a:moveTo>
                  <a:lnTo>
                    <a:pt x="0" y="152495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82552" y="4822508"/>
              <a:ext cx="115253" cy="104775"/>
            </a:xfrm>
            <a:custGeom>
              <a:avLst/>
              <a:gdLst/>
              <a:ahLst/>
              <a:cxnLst/>
              <a:rect l="l" t="t" r="r" b="b"/>
              <a:pathLst>
                <a:path w="115253" h="104775">
                  <a:moveTo>
                    <a:pt x="0" y="0"/>
                  </a:moveTo>
                  <a:lnTo>
                    <a:pt x="58103" y="104775"/>
                  </a:lnTo>
                  <a:lnTo>
                    <a:pt x="11525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126808" y="2553652"/>
              <a:ext cx="1950720" cy="102489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134428" y="2561272"/>
              <a:ext cx="1936432" cy="39433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126808" y="2950845"/>
              <a:ext cx="195072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68165" y="2729865"/>
              <a:ext cx="1744980" cy="67341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74832" y="2736532"/>
              <a:ext cx="1730692" cy="39433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68165" y="3127058"/>
              <a:ext cx="174498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71022" y="4927282"/>
              <a:ext cx="1739265" cy="67341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7690" y="4934902"/>
              <a:ext cx="1724978" cy="39433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371022" y="5324475"/>
              <a:ext cx="1739265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764220" y="2610802"/>
              <a:ext cx="6758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93409" y="2762250"/>
              <a:ext cx="18175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98054" y="3021806"/>
              <a:ext cx="1808353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display course offerings()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display blank schedule()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create schedule()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51171" y="2787015"/>
              <a:ext cx="5789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07359" y="2938462"/>
              <a:ext cx="16665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39412" y="3198019"/>
              <a:ext cx="1691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get course offerings()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02708" y="4984432"/>
              <a:ext cx="6758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56647" y="5135880"/>
              <a:ext cx="156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42270" y="5395436"/>
              <a:ext cx="1691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 get course offerings()</a:t>
              </a:r>
            </a:p>
          </p:txBody>
        </p:sp>
      </p:grpSp>
      <p:grpSp>
        <p:nvGrpSpPr>
          <p:cNvPr id="43" name="c2-kv-1"/>
          <p:cNvGrpSpPr/>
          <p:nvPr/>
        </p:nvGrpSpPr>
        <p:grpSpPr>
          <a:xfrm>
            <a:off x="7106602" y="1992630"/>
            <a:ext cx="4551998" cy="2741295"/>
            <a:chOff x="7106602" y="1992630"/>
            <a:chExt cx="4551998" cy="2741295"/>
          </a:xfrm>
        </p:grpSpPr>
        <p:sp>
          <p:nvSpPr>
            <p:cNvPr id="32" name="TextBox 32"/>
            <p:cNvSpPr txBox="1"/>
            <p:nvPr/>
          </p:nvSpPr>
          <p:spPr>
            <a:xfrm>
              <a:off x="7106602" y="1992630"/>
              <a:ext cx="1065371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// create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schedule()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97340" y="199263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来自消息 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114222" y="259461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06602" y="2714625"/>
              <a:ext cx="134540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// get course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offerings()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7340" y="2714625"/>
              <a:ext cx="22726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控制类的来自消息 2，边界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类的来自消息 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114222" y="33166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106602" y="3436620"/>
              <a:ext cx="1685449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// display course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offerings()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97340" y="343662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来自消息 5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114222" y="40386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06602" y="4158615"/>
              <a:ext cx="1525429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// display blank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schedule()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97340" y="4158615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来自消息 6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7114222" y="4865370"/>
            <a:ext cx="4544378" cy="1059180"/>
            <a:chOff x="7114222" y="4865370"/>
            <a:chExt cx="4544378" cy="1059180"/>
          </a:xfrm>
        </p:grpSpPr>
        <p:sp>
          <p:nvSpPr>
            <p:cNvPr id="44" name="Rectangle 44"/>
            <p:cNvSpPr/>
            <p:nvPr/>
          </p:nvSpPr>
          <p:spPr>
            <a:xfrm>
              <a:off x="7114222" y="486537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19010" y="5294948"/>
              <a:ext cx="200026" cy="200026"/>
              <a:chOff x="7319010" y="529494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19010" y="52949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419023" y="5361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407910" y="53949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620952" y="5013960"/>
              <a:ext cx="36442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两个类都有 // get course offerings()：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名字一样，职责不同，一个是向外要数据，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一个是去遗留系统取数据。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收尾前检查职责分配是否一致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908093" cy="308039"/>
            <a:chOff x="525399" y="1550194"/>
            <a:chExt cx="490809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9080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按严重程度从上往下查，越靠上的问题越该先处理。</a:t>
              </a:r>
            </a:p>
          </p:txBody>
        </p:sp>
      </p:grpSp>
      <p:grpSp>
        <p:nvGrpSpPr>
          <p:cNvPr id="44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9001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24950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0534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处理办法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42925" y="2426018"/>
              <a:ext cx="265080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跨类的重复职责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311080" y="255127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两个类做着差不多的事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61161" y="255127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合并这两个类，同时改掉相关交互图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2874645"/>
              <a:ext cx="2650808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类内职责互不相干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11080" y="300085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一个类里的职责各管各的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61161" y="300085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拆成两个或多个类，同时改交互图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44947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只有一个职责的类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11080" y="344947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本身不一定是问题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761161" y="344947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追问它为什么存在，答不上来就合并掉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8981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没有职责的类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311080" y="38981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谁也没给它发过消息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61161" y="3898106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删掉，或者回头看是不是漏了消息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43467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有更好的行为分布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11080" y="434673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画别的图时发现更合理的分法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61161" y="434673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回头重画之前那张交互图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479536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与很多类都有交互的类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311080" y="479536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可能承担了过多协调工作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61161" y="479536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检查是否该把一部分职责挪走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3198495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48575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1-callout-2"/>
          <p:cNvGrpSpPr/>
          <p:nvPr/>
        </p:nvGrpSpPr>
        <p:grpSpPr>
          <a:xfrm>
            <a:off x="533400" y="5299710"/>
            <a:ext cx="11125200" cy="1062990"/>
            <a:chOff x="533400" y="5299710"/>
            <a:chExt cx="11125200" cy="1062990"/>
          </a:xfrm>
        </p:grpSpPr>
        <p:sp>
          <p:nvSpPr>
            <p:cNvPr id="45" name="Rectangle 45"/>
            <p:cNvSpPr/>
            <p:nvPr/>
          </p:nvSpPr>
          <p:spPr>
            <a:xfrm>
              <a:off x="533400" y="5299710"/>
              <a:ext cx="11125200" cy="1062990"/>
            </a:xfrm>
            <a:prstGeom prst="roundRect">
              <a:avLst>
                <a:gd name="adj" fmla="val 1075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26129" y="5727501"/>
              <a:ext cx="224134" cy="192560"/>
              <a:chOff x="726129" y="5727501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579786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26129" y="572750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587565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726430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现在改图比设计阶段改代码便宜，但也不要为了优化交互而无休止地调整。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属性：先记住存什么，别急着定签名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uml-1"/>
          <p:cNvGrpSpPr/>
          <p:nvPr/>
        </p:nvGrpSpPr>
        <p:grpSpPr>
          <a:xfrm>
            <a:off x="2283142" y="2093595"/>
            <a:ext cx="1478280" cy="1279208"/>
            <a:chOff x="2283142" y="2093595"/>
            <a:chExt cx="1478280" cy="1279208"/>
          </a:xfrm>
        </p:grpSpPr>
        <p:sp>
          <p:nvSpPr>
            <p:cNvPr id="7" name="Rectangle 7"/>
            <p:cNvSpPr/>
            <p:nvPr/>
          </p:nvSpPr>
          <p:spPr>
            <a:xfrm>
              <a:off x="2283142" y="2093595"/>
              <a:ext cx="1478280" cy="1279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2289810" y="2100262"/>
              <a:ext cx="146399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2283142" y="2461260"/>
              <a:ext cx="147828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788464" y="2146459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83191" y="2286476"/>
              <a:ext cx="10781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54580" y="2530792"/>
              <a:ext cx="1335405" cy="8239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number : String = "100"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startTime : Time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endTime : Time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days : Enum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numStudents : Int</a:t>
              </a:r>
            </a:p>
          </p:txBody>
        </p:sp>
      </p:grpSp>
      <p:grpSp>
        <p:nvGrpSpPr>
          <p:cNvPr id="15" name="c1-text-2"/>
          <p:cNvGrpSpPr/>
          <p:nvPr/>
        </p:nvGrpSpPr>
        <p:grpSpPr>
          <a:xfrm>
            <a:off x="527304" y="4141470"/>
            <a:ext cx="2160727" cy="234696"/>
            <a:chOff x="527304" y="4141470"/>
            <a:chExt cx="2160727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527304" y="4141470"/>
              <a:ext cx="21607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写法：属性名 : 类型 = 初值。</a:t>
              </a:r>
            </a:p>
          </p:txBody>
        </p:sp>
      </p:grpSp>
      <p:grpSp>
        <p:nvGrpSpPr>
          <p:cNvPr id="27" name="c1-kv-3"/>
          <p:cNvGrpSpPr/>
          <p:nvPr/>
        </p:nvGrpSpPr>
        <p:grpSpPr>
          <a:xfrm>
            <a:off x="526161" y="4532471"/>
            <a:ext cx="4985004" cy="1795082"/>
            <a:chOff x="526161" y="4532471"/>
            <a:chExt cx="4985004" cy="1795082"/>
          </a:xfrm>
        </p:grpSpPr>
        <p:sp>
          <p:nvSpPr>
            <p:cNvPr id="16" name="TextBox 16"/>
            <p:cNvSpPr txBox="1"/>
            <p:nvPr/>
          </p:nvSpPr>
          <p:spPr>
            <a:xfrm>
              <a:off x="526161" y="4532471"/>
              <a:ext cx="7169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number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18754" y="4532471"/>
              <a:ext cx="30826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教学班编号，示例里给了初值 "100"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83584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161" y="4948714"/>
              <a:ext cx="110328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en-US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startTime /</a:t>
              </a:r>
              <a:br/>
              <a:r>
                <a:rPr lang="en-US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endTime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18754" y="494871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上课的起止时间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551973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6161" y="5632609"/>
              <a:ext cx="456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days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18754" y="563260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每周哪几天上课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593598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6161" y="6048851"/>
              <a:ext cx="12754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numStudents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18754" y="604885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已选这个教学班的人数</a:t>
              </a:r>
            </a:p>
          </p:txBody>
        </p:sp>
      </p:grpSp>
      <p:grpSp>
        <p:nvGrpSpPr>
          <p:cNvPr id="36" name="c2-bullets-1"/>
          <p:cNvGrpSpPr/>
          <p:nvPr/>
        </p:nvGrpSpPr>
        <p:grpSpPr>
          <a:xfrm>
            <a:off x="5815965" y="1547336"/>
            <a:ext cx="4845597" cy="1258825"/>
            <a:chOff x="5815965" y="1547336"/>
            <a:chExt cx="4845597" cy="1258825"/>
          </a:xfrm>
        </p:grpSpPr>
        <p:sp>
          <p:nvSpPr>
            <p:cNvPr id="28" name="Freeform 28"/>
            <p:cNvSpPr/>
            <p:nvPr/>
          </p:nvSpPr>
          <p:spPr>
            <a:xfrm>
              <a:off x="5815965" y="1577340"/>
              <a:ext cx="136207" cy="111443"/>
            </a:xfrm>
            <a:custGeom>
              <a:avLst/>
              <a:gdLst/>
              <a:ahLst/>
              <a:cxnLst/>
              <a:rect l="l" t="t" r="r" b="b"/>
              <a:pathLst>
                <a:path w="136207" h="111443">
                  <a:moveTo>
                    <a:pt x="0" y="59055"/>
                  </a:moveTo>
                  <a:lnTo>
                    <a:pt x="51435" y="111443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059234" y="1547336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属性名用名词，一看就知道存的是什么信息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5815965" y="1904048"/>
              <a:ext cx="136207" cy="111442"/>
            </a:xfrm>
            <a:custGeom>
              <a:avLst/>
              <a:gdLst/>
              <a:ahLst/>
              <a:cxnLst/>
              <a:rect l="l" t="t" r="r" b="b"/>
              <a:pathLst>
                <a:path w="136207" h="111442">
                  <a:moveTo>
                    <a:pt x="0" y="59055"/>
                  </a:moveTo>
                  <a:lnTo>
                    <a:pt x="51435" y="111442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59234" y="1874044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名字说不清时再补一句描述，名字够清楚就不用写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5815965" y="2230755"/>
              <a:ext cx="136207" cy="111443"/>
            </a:xfrm>
            <a:custGeom>
              <a:avLst/>
              <a:gdLst/>
              <a:ahLst/>
              <a:cxnLst/>
              <a:rect l="l" t="t" r="r" b="b"/>
              <a:pathLst>
                <a:path w="136207" h="111443">
                  <a:moveTo>
                    <a:pt x="0" y="59055"/>
                  </a:moveTo>
                  <a:lnTo>
                    <a:pt x="51435" y="111443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59234" y="220075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类型用问题域里的类型，不要迁就将来要用的编程语言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5815965" y="2557462"/>
              <a:ext cx="136207" cy="111442"/>
            </a:xfrm>
            <a:custGeom>
              <a:avLst/>
              <a:gdLst/>
              <a:ahLst/>
              <a:cxnLst/>
              <a:rect l="l" t="t" r="r" b="b"/>
              <a:pathLst>
                <a:path w="136207" h="111442">
                  <a:moveTo>
                    <a:pt x="0" y="59055"/>
                  </a:moveTo>
                  <a:lnTo>
                    <a:pt x="51435" y="111442"/>
                  </a:lnTo>
                  <a:lnTo>
                    <a:pt x="13620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059234" y="2527459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分析阶段不要在签名、可见性上花时间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5815965" y="2930842"/>
            <a:ext cx="5842635" cy="1529715"/>
            <a:chOff x="5815965" y="2930842"/>
            <a:chExt cx="5842635" cy="1529715"/>
          </a:xfrm>
        </p:grpSpPr>
        <p:sp>
          <p:nvSpPr>
            <p:cNvPr id="37" name="Rectangle 37"/>
            <p:cNvSpPr/>
            <p:nvPr/>
          </p:nvSpPr>
          <p:spPr>
            <a:xfrm>
              <a:off x="5815965" y="2930842"/>
              <a:ext cx="5842635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825490" y="3064192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52185" y="312896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43625" y="31632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44946" y="3489484"/>
              <a:ext cx="512711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图中 days : Enum 只是占位：分析阶段应换成真正能说明上课是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星期几的枚举，比如周一三五、周二四。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46089" y="4074795"/>
              <a:ext cx="4331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原课件在备注里也指出了这一点，正文的图却仍写着 Enum。</a:t>
              </a:r>
            </a:p>
          </p:txBody>
        </p:sp>
      </p:grpSp>
      <p:grpSp>
        <p:nvGrpSpPr>
          <p:cNvPr id="50" name="c2-callout-3"/>
          <p:cNvGrpSpPr/>
          <p:nvPr/>
        </p:nvGrpSpPr>
        <p:grpSpPr>
          <a:xfrm>
            <a:off x="5815965" y="4640580"/>
            <a:ext cx="5842635" cy="1631632"/>
            <a:chOff x="5815965" y="4640580"/>
            <a:chExt cx="5842635" cy="1631632"/>
          </a:xfrm>
        </p:grpSpPr>
        <p:sp>
          <p:nvSpPr>
            <p:cNvPr id="44" name="Rectangle 44"/>
            <p:cNvSpPr/>
            <p:nvPr/>
          </p:nvSpPr>
          <p:spPr>
            <a:xfrm>
              <a:off x="5815965" y="4640580"/>
              <a:ext cx="5842635" cy="1631632"/>
            </a:xfrm>
            <a:prstGeom prst="roundRect">
              <a:avLst>
                <a:gd name="adj" fmla="val 700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020753" y="5355908"/>
              <a:ext cx="200026" cy="200025"/>
              <a:chOff x="6020753" y="5355908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020753" y="53559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060491" y="54003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095207" y="55114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323076" y="5225891"/>
              <a:ext cx="472135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属性是原子的，没有职责；一旦发现某个“属性”自己还有行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为，它就该是一个类。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什么做成属性，什么做成独立的类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5410200" cy="4769168"/>
            <a:chOff x="533400" y="1524000"/>
            <a:chExt cx="5410200" cy="47691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324100" cy="4769168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5024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8096" y="17511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做成属性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2955" y="21497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9546" y="209026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只关心它的值，不关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心它在哪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74129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681764"/>
              <a:ext cx="16375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被某个对象唯一拥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有，别的对象不引用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60426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544729"/>
              <a:ext cx="16375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除了取值、赋值和简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单换算，没有真正的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619500" y="1524000"/>
              <a:ext cx="2324100" cy="4769168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629025" y="1657350"/>
              <a:ext cx="47625" cy="450246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854196" y="175117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做成类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869055" y="21497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25646" y="209026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有复杂行为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869055" y="24698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025646" y="241030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被两个或更多对象共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869055" y="306133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025646" y="3001804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自己还要和别的东西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连着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2905125" y="3575685"/>
              <a:ext cx="666750" cy="6667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950464" y="38433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三条判据</a:t>
              </a:r>
            </a:p>
          </p:txBody>
        </p:sp>
      </p:grpSp>
      <p:grpSp>
        <p:nvGrpSpPr>
          <p:cNvPr id="35" name="c2-bullets-1"/>
          <p:cNvGrpSpPr/>
          <p:nvPr/>
        </p:nvGrpSpPr>
        <p:grpSpPr>
          <a:xfrm>
            <a:off x="6241161" y="1547336"/>
            <a:ext cx="3053334" cy="1275970"/>
            <a:chOff x="6241161" y="1547336"/>
            <a:chExt cx="3053334" cy="1275970"/>
          </a:xfrm>
        </p:grpSpPr>
        <p:sp>
          <p:nvSpPr>
            <p:cNvPr id="28" name="TextBox 28"/>
            <p:cNvSpPr txBox="1"/>
            <p:nvPr/>
          </p:nvSpPr>
          <p:spPr>
            <a:xfrm>
              <a:off x="6241161" y="154733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属性从哪来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56020" y="19459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611" y="188642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已识别类的性质和特征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256020" y="227552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611" y="221503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类要保存的信息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256020" y="260508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611" y="254460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名词过滤时没能成为类的那些名词</a:t>
              </a:r>
            </a:p>
          </p:txBody>
        </p:sp>
      </p:grpSp>
      <p:grpSp>
        <p:nvGrpSpPr>
          <p:cNvPr id="41" name="c2-kv-2"/>
          <p:cNvGrpSpPr/>
          <p:nvPr/>
        </p:nvGrpSpPr>
        <p:grpSpPr>
          <a:xfrm>
            <a:off x="6241161" y="2976086"/>
            <a:ext cx="5417439" cy="700660"/>
            <a:chOff x="6241161" y="2976086"/>
            <a:chExt cx="5417439" cy="700660"/>
          </a:xfrm>
        </p:grpSpPr>
        <p:sp>
          <p:nvSpPr>
            <p:cNvPr id="36" name="TextBox 36"/>
            <p:cNvSpPr txBox="1"/>
            <p:nvPr/>
          </p:nvSpPr>
          <p:spPr>
            <a:xfrm>
              <a:off x="6241161" y="29760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本学期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52691" y="2976086"/>
              <a:ext cx="41786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课表只需要知道是哪个学期，做 Schedule 的属性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32823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1161" y="339804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教学班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52691" y="3398044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有上课时间、人数上限，还被多张课表引用，做实体类</a:t>
              </a:r>
            </a:p>
          </p:txBody>
        </p:sp>
      </p:grpSp>
      <p:grpSp>
        <p:nvGrpSpPr>
          <p:cNvPr id="47" name="c2-callout-3"/>
          <p:cNvGrpSpPr/>
          <p:nvPr/>
        </p:nvGrpSpPr>
        <p:grpSpPr>
          <a:xfrm>
            <a:off x="6248400" y="3806190"/>
            <a:ext cx="5410200" cy="756285"/>
            <a:chOff x="6248400" y="3806190"/>
            <a:chExt cx="5410200" cy="756285"/>
          </a:xfrm>
        </p:grpSpPr>
        <p:sp>
          <p:nvSpPr>
            <p:cNvPr id="42" name="Rectangle 42"/>
            <p:cNvSpPr/>
            <p:nvPr/>
          </p:nvSpPr>
          <p:spPr>
            <a:xfrm>
              <a:off x="6248400" y="3806190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453188" y="4083370"/>
              <a:ext cx="200023" cy="200023"/>
              <a:chOff x="6453188" y="4083370"/>
              <a:chExt cx="200023" cy="20002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453188" y="408337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586538" y="41500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755511" y="3953351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过程是用例驱动的：每个属性都应该至少支持一个用例，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找不到用例的属性先不要加。</a:t>
              </a:r>
            </a:p>
          </p:txBody>
        </p:sp>
      </p:grpSp>
      <p:grpSp>
        <p:nvGrpSpPr>
          <p:cNvPr id="53" name="c2-card-4"/>
          <p:cNvGrpSpPr/>
          <p:nvPr/>
        </p:nvGrpSpPr>
        <p:grpSpPr>
          <a:xfrm>
            <a:off x="6248400" y="4747260"/>
            <a:ext cx="5410200" cy="1545908"/>
            <a:chOff x="6248400" y="4747260"/>
            <a:chExt cx="5410200" cy="1545908"/>
          </a:xfrm>
        </p:grpSpPr>
        <p:sp>
          <p:nvSpPr>
            <p:cNvPr id="48" name="Rectangle 48"/>
            <p:cNvSpPr/>
            <p:nvPr/>
          </p:nvSpPr>
          <p:spPr>
            <a:xfrm>
              <a:off x="6248400" y="4747260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488061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90335" y="495109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72644" y="49868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再举一例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3096" y="532399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学生的家庭住址只有一个值、只属于这名学生、没有自己的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行为，做 Student 的属性；课表被控制类和教学班同时引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用，还要随选课变化，做独立的实体类。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关联：协作图上每条链都要有一条关系撑着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graph-1"/>
          <p:cNvGrpSpPr/>
          <p:nvPr/>
        </p:nvGrpSpPr>
        <p:grpSpPr>
          <a:xfrm>
            <a:off x="1039178" y="2167890"/>
            <a:ext cx="4550092" cy="3887152"/>
            <a:chOff x="1039178" y="2167890"/>
            <a:chExt cx="4550092" cy="3887152"/>
          </a:xfrm>
        </p:grpSpPr>
        <p:sp>
          <p:nvSpPr>
            <p:cNvPr id="7" name="Freeform 7"/>
            <p:cNvSpPr/>
            <p:nvPr/>
          </p:nvSpPr>
          <p:spPr>
            <a:xfrm>
              <a:off x="2277428" y="2298382"/>
              <a:ext cx="1883093" cy="9525"/>
            </a:xfrm>
            <a:custGeom>
              <a:avLst/>
              <a:gdLst/>
              <a:ahLst/>
              <a:cxnLst/>
              <a:rect l="l" t="t" r="r" b="b"/>
              <a:pathLst>
                <a:path w="1883093" h="9525">
                  <a:moveTo>
                    <a:pt x="0" y="0"/>
                  </a:moveTo>
                  <a:lnTo>
                    <a:pt x="188309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160520" y="22507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277428" y="5104448"/>
              <a:ext cx="1978343" cy="9525"/>
            </a:xfrm>
            <a:custGeom>
              <a:avLst/>
              <a:gdLst/>
              <a:ahLst/>
              <a:cxnLst/>
              <a:rect l="l" t="t" r="r" b="b"/>
              <a:pathLst>
                <a:path w="1978343" h="9525">
                  <a:moveTo>
                    <a:pt x="0" y="0"/>
                  </a:moveTo>
                  <a:lnTo>
                    <a:pt x="197834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58302" y="2427922"/>
              <a:ext cx="9525" cy="2451735"/>
            </a:xfrm>
            <a:custGeom>
              <a:avLst/>
              <a:gdLst/>
              <a:ahLst/>
              <a:cxnLst/>
              <a:rect l="l" t="t" r="r" b="b"/>
              <a:pathLst>
                <a:path w="9525" h="2451735">
                  <a:moveTo>
                    <a:pt x="0" y="0"/>
                  </a:moveTo>
                  <a:lnTo>
                    <a:pt x="0" y="245173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1610678" y="48796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039178" y="2167890"/>
              <a:ext cx="1238250" cy="260032"/>
            </a:xfrm>
            <a:prstGeom prst="roundRect">
              <a:avLst>
                <a:gd name="adj" fmla="val 36630"/>
              </a:avLst>
            </a:prstGeom>
            <a:solidFill>
              <a:srgbClr val="E7EDF3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255770" y="2167890"/>
              <a:ext cx="1333500" cy="260032"/>
            </a:xfrm>
            <a:prstGeom prst="roundRect">
              <a:avLst>
                <a:gd name="adj" fmla="val 36630"/>
              </a:avLst>
            </a:prstGeom>
            <a:solidFill>
              <a:srgbClr val="E7EDF3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039178" y="4974908"/>
              <a:ext cx="123825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255770" y="4974908"/>
              <a:ext cx="133350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419133" y="2237899"/>
              <a:ext cx="4783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:Client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7170" y="2237899"/>
              <a:ext cx="6306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:Supplier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57586" y="5043964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45534" y="5043964"/>
              <a:ext cx="5539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Supplier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668905" y="2219325"/>
              <a:ext cx="119538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665776" y="2249329"/>
              <a:ext cx="12025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PerformResponsibility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874645" y="5026342"/>
              <a:ext cx="78390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002900" y="5055394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0..* 0..*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360170" y="3623310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377569" y="3652361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链变成关联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39427" y="3071812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协作图：链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39427" y="5878830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类图：关联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464618" y="1524000"/>
            <a:ext cx="5193982" cy="1335405"/>
            <a:chOff x="6464618" y="1524000"/>
            <a:chExt cx="5193982" cy="1335405"/>
          </a:xfrm>
        </p:grpSpPr>
        <p:sp>
          <p:nvSpPr>
            <p:cNvPr id="29" name="Rectangle 29"/>
            <p:cNvSpPr/>
            <p:nvPr/>
          </p:nvSpPr>
          <p:spPr>
            <a:xfrm>
              <a:off x="6464618" y="1524000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13295" y="1768792"/>
              <a:ext cx="2005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关联（Association）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21297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关联是两个或多个分类器之间的语义关系，说明它们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的实例之间存在连接；它是一种结构关系。</a:t>
              </a:r>
            </a:p>
          </p:txBody>
        </p:sp>
      </p:grpSp>
      <p:grpSp>
        <p:nvGrpSpPr>
          <p:cNvPr id="44" name="c2-bullets-2"/>
          <p:cNvGrpSpPr/>
          <p:nvPr/>
        </p:nvGrpSpPr>
        <p:grpSpPr>
          <a:xfrm>
            <a:off x="6464618" y="3074670"/>
            <a:ext cx="4910137" cy="2185035"/>
            <a:chOff x="6464618" y="3074670"/>
            <a:chExt cx="4910137" cy="2185035"/>
          </a:xfrm>
        </p:grpSpPr>
        <p:sp>
          <p:nvSpPr>
            <p:cNvPr id="36" name="Freeform 36"/>
            <p:cNvSpPr/>
            <p:nvPr/>
          </p:nvSpPr>
          <p:spPr>
            <a:xfrm>
              <a:off x="6464618" y="3106102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15125" y="307467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两个类的对象要互相发消息，就得有关联或聚合把它们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连起来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464618" y="373665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15125" y="370522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导航方向要支持消息方向，方向不对消息就发不出去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464618" y="408146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5125" y="405003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反身链不一定需要反身关联：对象给自己发消息不需要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关系；同类的两个不同对象通信才需要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464618" y="471201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5125" y="4680585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只加交互图需要的关联，不要凭猜测加“可能存在”的关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</p:grpSp>
      <p:grpSp>
        <p:nvGrpSpPr>
          <p:cNvPr id="51" name="c2-callout-3"/>
          <p:cNvGrpSpPr/>
          <p:nvPr/>
        </p:nvGrpSpPr>
        <p:grpSpPr>
          <a:xfrm>
            <a:off x="6464618" y="5391150"/>
            <a:ext cx="5193982" cy="782955"/>
            <a:chOff x="6464618" y="5391150"/>
            <a:chExt cx="5193982" cy="782955"/>
          </a:xfrm>
        </p:grpSpPr>
        <p:sp>
          <p:nvSpPr>
            <p:cNvPr id="45" name="Rectangle 45"/>
            <p:cNvSpPr/>
            <p:nvPr/>
          </p:nvSpPr>
          <p:spPr>
            <a:xfrm>
              <a:off x="6464618" y="539115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669405" y="5682615"/>
              <a:ext cx="200026" cy="200026"/>
              <a:chOff x="6669405" y="5682615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669405" y="56826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769418" y="57492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58305" y="57826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971348" y="5539740"/>
              <a:ext cx="42443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关联名用动词短语，避免“有”“包含”这类不提供信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息的名字；用了角色名就不再另起关联名。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给关联补齐三样标注：聚合、角色名、多重性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relagg"/>
          <p:cNvGrpSpPr/>
          <p:nvPr/>
        </p:nvGrpSpPr>
        <p:grpSpPr>
          <a:xfrm>
            <a:off x="843999" y="2038350"/>
            <a:ext cx="1474302" cy="3381089"/>
            <a:chOff x="843999" y="2038350"/>
            <a:chExt cx="1474302" cy="3381089"/>
          </a:xfrm>
        </p:grpSpPr>
        <p:sp>
          <p:nvSpPr>
            <p:cNvPr id="7" name="Rectangle 7"/>
            <p:cNvSpPr/>
            <p:nvPr/>
          </p:nvSpPr>
          <p:spPr>
            <a:xfrm>
              <a:off x="914400" y="2038350"/>
              <a:ext cx="133350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922020" y="2045970"/>
              <a:ext cx="131826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36158" y="20985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87800" y="2275522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14400" y="2441258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914400" y="3143250"/>
              <a:ext cx="133350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922020" y="3150870"/>
              <a:ext cx="131826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36158" y="32034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65668" y="3380423"/>
              <a:ext cx="630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14400" y="3546158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14400" y="4305300"/>
              <a:ext cx="133350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922020" y="4312920"/>
              <a:ext cx="131826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36158" y="43655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03524" y="4542472"/>
              <a:ext cx="115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914400" y="4708208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1581150" y="2555558"/>
              <a:ext cx="9525" cy="587692"/>
            </a:xfrm>
            <a:custGeom>
              <a:avLst/>
              <a:gdLst/>
              <a:ahLst/>
              <a:cxnLst/>
              <a:rect l="l" t="t" r="r" b="b"/>
              <a:pathLst>
                <a:path w="9525" h="587692">
                  <a:moveTo>
                    <a:pt x="0" y="0"/>
                  </a:moveTo>
                  <a:lnTo>
                    <a:pt x="0" y="587692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1527810" y="2555558"/>
              <a:ext cx="106680" cy="171450"/>
            </a:xfrm>
            <a:custGeom>
              <a:avLst/>
              <a:gdLst/>
              <a:ahLst/>
              <a:cxnLst/>
              <a:rect l="l" t="t" r="r" b="b"/>
              <a:pathLst>
                <a:path w="106680" h="171450">
                  <a:moveTo>
                    <a:pt x="53340" y="0"/>
                  </a:moveTo>
                  <a:lnTo>
                    <a:pt x="0" y="85725"/>
                  </a:lnTo>
                  <a:lnTo>
                    <a:pt x="53340" y="171450"/>
                  </a:lnTo>
                  <a:lnTo>
                    <a:pt x="106680" y="85725"/>
                  </a:lnTo>
                  <a:close/>
                </a:path>
              </a:pathLst>
            </a:cu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633538" y="2629852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33538" y="296989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1581150" y="3660458"/>
              <a:ext cx="9525" cy="644842"/>
            </a:xfrm>
            <a:custGeom>
              <a:avLst/>
              <a:gdLst/>
              <a:ahLst/>
              <a:cxnLst/>
              <a:rect l="l" t="t" r="r" b="b"/>
              <a:pathLst>
                <a:path w="9525" h="644842">
                  <a:moveTo>
                    <a:pt x="0" y="0"/>
                  </a:moveTo>
                  <a:lnTo>
                    <a:pt x="0" y="644842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633538" y="3734752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33538" y="413194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3999" y="5038249"/>
              <a:ext cx="14743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空心菱形画在“整体”一端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0595" y="522874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课表离开学生就没有意义</a:t>
              </a:r>
            </a:p>
          </p:txBody>
        </p:sp>
      </p:grpSp>
      <p:grpSp>
        <p:nvGrpSpPr>
          <p:cNvPr id="53" name="relrole"/>
          <p:cNvGrpSpPr/>
          <p:nvPr/>
        </p:nvGrpSpPr>
        <p:grpSpPr>
          <a:xfrm>
            <a:off x="3721608" y="2038350"/>
            <a:ext cx="2183892" cy="3381089"/>
            <a:chOff x="3721608" y="2038350"/>
            <a:chExt cx="2183892" cy="3381089"/>
          </a:xfrm>
        </p:grpSpPr>
        <p:sp>
          <p:nvSpPr>
            <p:cNvPr id="32" name="Rectangle 32"/>
            <p:cNvSpPr/>
            <p:nvPr/>
          </p:nvSpPr>
          <p:spPr>
            <a:xfrm>
              <a:off x="4476750" y="314325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4484370" y="315087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946133" y="32034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16145" y="3380423"/>
              <a:ext cx="7499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Professor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4476750" y="354615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905250" y="203835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3912870" y="204597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374633" y="20985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041999" y="2275522"/>
              <a:ext cx="115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3905250" y="244125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3905250" y="430530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912870" y="431292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374633" y="43655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188904" y="4542472"/>
              <a:ext cx="8614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Department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3905250" y="470820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47" name="Line 47"/>
            <p:cNvSpPr/>
            <p:nvPr/>
          </p:nvSpPr>
          <p:spPr>
            <a:xfrm>
              <a:off x="4419600" y="2555558"/>
              <a:ext cx="9525" cy="587692"/>
            </a:xfrm>
            <a:custGeom>
              <a:avLst/>
              <a:gdLst/>
              <a:ahLst/>
              <a:cxnLst/>
              <a:rect l="l" t="t" r="r" b="b"/>
              <a:pathLst>
                <a:path w="9525" h="587692">
                  <a:moveTo>
                    <a:pt x="0" y="0"/>
                  </a:moveTo>
                  <a:lnTo>
                    <a:pt x="0" y="587692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721608" y="2789873"/>
              <a:ext cx="6456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instructor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4819650" y="3660458"/>
              <a:ext cx="9525" cy="644842"/>
            </a:xfrm>
            <a:custGeom>
              <a:avLst/>
              <a:gdLst/>
              <a:ahLst/>
              <a:cxnLst/>
              <a:rect l="l" t="t" r="r" b="b"/>
              <a:pathLst>
                <a:path w="9525" h="644842">
                  <a:moveTo>
                    <a:pt x="0" y="0"/>
                  </a:moveTo>
                  <a:lnTo>
                    <a:pt x="0" y="644842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764242" y="3923348"/>
              <a:ext cx="10030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department head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156481" y="503824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同一个教师类在两条关联里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13740" y="5228749"/>
              <a:ext cx="10785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扮演不同的“面孔”</a:t>
              </a:r>
            </a:p>
          </p:txBody>
        </p:sp>
      </p:grpSp>
      <p:grpSp>
        <p:nvGrpSpPr>
          <p:cNvPr id="74" name="relmult"/>
          <p:cNvGrpSpPr/>
          <p:nvPr/>
        </p:nvGrpSpPr>
        <p:grpSpPr>
          <a:xfrm>
            <a:off x="6777190" y="2495550"/>
            <a:ext cx="4081310" cy="2542889"/>
            <a:chOff x="6777190" y="2495550"/>
            <a:chExt cx="4081310" cy="2542889"/>
          </a:xfrm>
        </p:grpSpPr>
        <p:sp>
          <p:nvSpPr>
            <p:cNvPr id="54" name="Rectangle 54"/>
            <p:cNvSpPr/>
            <p:nvPr/>
          </p:nvSpPr>
          <p:spPr>
            <a:xfrm>
              <a:off x="7105650" y="249555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13270" y="250317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75033" y="25557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67490" y="2732723"/>
              <a:ext cx="5050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7105650" y="289845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39250" y="2495550"/>
              <a:ext cx="16192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9246870" y="2503170"/>
              <a:ext cx="16040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803883" y="255579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71249" y="2732723"/>
              <a:ext cx="115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63" name="Line 63"/>
            <p:cNvSpPr/>
            <p:nvPr/>
          </p:nvSpPr>
          <p:spPr>
            <a:xfrm>
              <a:off x="9239250" y="2898458"/>
              <a:ext cx="1619250" cy="9525"/>
            </a:xfrm>
            <a:custGeom>
              <a:avLst/>
              <a:gdLst/>
              <a:ahLst/>
              <a:cxnLst/>
              <a:rect l="l" t="t" r="r" b="b"/>
              <a:pathLst>
                <a:path w="1619250" h="9525">
                  <a:moveTo>
                    <a:pt x="0" y="0"/>
                  </a:moveTo>
                  <a:lnTo>
                    <a:pt x="16192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64" name="Line 64"/>
            <p:cNvSpPr/>
            <p:nvPr/>
          </p:nvSpPr>
          <p:spPr>
            <a:xfrm>
              <a:off x="8534400" y="2753678"/>
              <a:ext cx="704850" cy="9525"/>
            </a:xfrm>
            <a:custGeom>
              <a:avLst/>
              <a:gdLst/>
              <a:ahLst/>
              <a:cxnLst/>
              <a:rect l="l" t="t" r="r" b="b"/>
              <a:pathLst>
                <a:path w="704850" h="952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605838" y="2580323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91740" y="2580323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6781800" y="2661285"/>
              <a:ext cx="866775" cy="552450"/>
            </a:xfrm>
            <a:custGeom>
              <a:avLst/>
              <a:gdLst/>
              <a:ahLst/>
              <a:cxnLst/>
              <a:rect l="l" t="t" r="r" b="b"/>
              <a:pathLst>
                <a:path w="866775" h="552450">
                  <a:moveTo>
                    <a:pt x="323850" y="0"/>
                  </a:moveTo>
                  <a:lnTo>
                    <a:pt x="0" y="0"/>
                  </a:lnTo>
                  <a:lnTo>
                    <a:pt x="0" y="552450"/>
                  </a:lnTo>
                  <a:lnTo>
                    <a:pt x="866775" y="552450"/>
                  </a:lnTo>
                  <a:lnTo>
                    <a:pt x="866775" y="351473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77190" y="249745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320115" y="3068002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834188" y="3278505"/>
              <a:ext cx="815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prerequisites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949195" y="4371499"/>
              <a:ext cx="20086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一门课程可以开 0 到多个教学班，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827162" y="45619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一个教学班必须属于且只属于一门课程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156981" y="484774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自关联要靠角色名区分两端</a:t>
              </a:r>
            </a:p>
          </p:txBody>
        </p:sp>
      </p:grpSp>
      <p:grpSp>
        <p:nvGrpSpPr>
          <p:cNvPr id="79" name="relnote"/>
          <p:cNvGrpSpPr/>
          <p:nvPr/>
        </p:nvGrpSpPr>
        <p:grpSpPr>
          <a:xfrm>
            <a:off x="533400" y="5543550"/>
            <a:ext cx="11125200" cy="828722"/>
            <a:chOff x="533400" y="5543550"/>
            <a:chExt cx="11125200" cy="828722"/>
          </a:xfrm>
        </p:grpSpPr>
        <p:sp>
          <p:nvSpPr>
            <p:cNvPr id="75" name="Rectangle 75"/>
            <p:cNvSpPr/>
            <p:nvPr/>
          </p:nvSpPr>
          <p:spPr>
            <a:xfrm>
              <a:off x="533400" y="5543550"/>
              <a:ext cx="11125200" cy="81915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 w="11430">
              <a:solidFill>
                <a:srgbClr val="D9DFEA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37044" y="5675233"/>
              <a:ext cx="1729562" cy="2273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6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三样标注各回答一个问题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37426" y="5930979"/>
              <a:ext cx="7245124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聚合问的是“谁是整体”，角色名问的是“这个类在这条关联里扮演什么”，多重性问的是“必须连吗、能连几个”。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37426" y="6159579"/>
              <a:ext cx="6027217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多重性的下界大于 0 就表示这条关联是必须的：教学班必须属于一门课程，所以那一端写 1。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聚合还是关联：拿不准就用关联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5627370" cy="2560320"/>
            <a:chOff x="533400" y="1524000"/>
            <a:chExt cx="5627370" cy="25603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165985" cy="2560320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2038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 4S 店建模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车总是带着门一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起卖，门不单卖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车门离开车没有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独立身份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1757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35470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建成聚合：车是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整体，门是部分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994785" y="1524000"/>
              <a:ext cx="2165985" cy="2560320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004310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234815" y="17583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给汽车配件店建模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4248150" y="217551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406265" y="211264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车门单独上架、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单独卖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4248150" y="27965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06265" y="273367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车身与车门各自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4248150" y="341757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406265" y="335470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建成普通关联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2747010" y="2204085"/>
              <a:ext cx="1200150" cy="12001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776347" y="273843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同样是汽车和车门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4274820"/>
            <a:ext cx="5626418" cy="1347788"/>
            <a:chOff x="533400" y="4274820"/>
            <a:chExt cx="5626418" cy="1347788"/>
          </a:xfrm>
        </p:grpSpPr>
        <p:sp>
          <p:nvSpPr>
            <p:cNvPr id="28" name="Rectangle 28"/>
            <p:cNvSpPr/>
            <p:nvPr/>
          </p:nvSpPr>
          <p:spPr>
            <a:xfrm>
              <a:off x="533400" y="4274820"/>
              <a:ext cx="5626418" cy="1347788"/>
            </a:xfrm>
            <a:prstGeom prst="roundRect">
              <a:avLst>
                <a:gd name="adj" fmla="val 8481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849180"/>
              <a:ext cx="200023" cy="200023"/>
              <a:chOff x="738188" y="4849180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48491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49158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706302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聚合与否取决于你在给哪个系统建模，而不是现实世界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里谁装在谁身上。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464618" y="1524000"/>
            <a:ext cx="5193982" cy="1631632"/>
            <a:chOff x="6464618" y="1524000"/>
            <a:chExt cx="5193982" cy="1631632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1657350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13295" y="1768792"/>
              <a:ext cx="20590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聚合（Aggregation）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04648" y="2129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聚合是关联的一种特殊形式，表示整体与部分的关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系，空心菱形画在整体一端。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05791" y="2747486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多重性、角色名、导航方向的用法与普通关联完全一样。</a:t>
              </a:r>
            </a:p>
          </p:txBody>
        </p:sp>
      </p:grpSp>
      <p:grpSp>
        <p:nvGrpSpPr>
          <p:cNvPr id="49" name="c2-bullets-2"/>
          <p:cNvGrpSpPr/>
          <p:nvPr/>
        </p:nvGrpSpPr>
        <p:grpSpPr>
          <a:xfrm>
            <a:off x="6456998" y="3370898"/>
            <a:ext cx="5234940" cy="1337310"/>
            <a:chOff x="6456998" y="3370898"/>
            <a:chExt cx="5234940" cy="1337310"/>
          </a:xfrm>
        </p:grpSpPr>
        <p:sp>
          <p:nvSpPr>
            <p:cNvPr id="42" name="TextBox 42"/>
            <p:cNvSpPr txBox="1"/>
            <p:nvPr/>
          </p:nvSpPr>
          <p:spPr>
            <a:xfrm>
              <a:off x="6456998" y="33708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判断办法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70333" y="3788093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28448" y="3725228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部分离开整体就不完整，用聚合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470333" y="4132898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28448" y="4070032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部分能独立存在、只是经常连在一起，用关联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470333" y="4477702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28448" y="4414838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好的聚合一眼就看得出来，需要反复论证的多半不是聚合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464618" y="4839652"/>
            <a:ext cx="5193982" cy="782955"/>
            <a:chOff x="6464618" y="4839652"/>
            <a:chExt cx="5193982" cy="782955"/>
          </a:xfrm>
        </p:grpSpPr>
        <p:sp>
          <p:nvSpPr>
            <p:cNvPr id="50" name="Rectangle 50"/>
            <p:cNvSpPr/>
            <p:nvPr/>
          </p:nvSpPr>
          <p:spPr>
            <a:xfrm>
              <a:off x="6464618" y="4839652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669405" y="5131118"/>
              <a:ext cx="200026" cy="200025"/>
              <a:chOff x="6669405" y="513111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669405" y="51311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709144" y="51755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743859" y="52866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971348" y="4988242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选聚合只是为了让模型更好懂，它不是建模成败的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关键，拿不准时用关联。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多重关联必须对应多重角色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uml-1"/>
          <p:cNvGrpSpPr/>
          <p:nvPr/>
        </p:nvGrpSpPr>
        <p:grpSpPr>
          <a:xfrm>
            <a:off x="1314450" y="1967865"/>
            <a:ext cx="3871913" cy="403574"/>
            <a:chOff x="1314450" y="1967865"/>
            <a:chExt cx="3871913" cy="403574"/>
          </a:xfrm>
        </p:grpSpPr>
        <p:sp>
          <p:nvSpPr>
            <p:cNvPr id="7" name="Freeform 7"/>
            <p:cNvSpPr/>
            <p:nvPr/>
          </p:nvSpPr>
          <p:spPr>
            <a:xfrm>
              <a:off x="2457450" y="2173605"/>
              <a:ext cx="1538288" cy="9525"/>
            </a:xfrm>
            <a:custGeom>
              <a:avLst/>
              <a:gdLst/>
              <a:ahLst/>
              <a:cxnLst/>
              <a:rect l="l" t="t" r="r" b="b"/>
              <a:pathLst>
                <a:path w="1538288" h="9525">
                  <a:moveTo>
                    <a:pt x="0" y="0"/>
                  </a:moveTo>
                  <a:lnTo>
                    <a:pt x="153828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890962" y="211645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314450" y="1987868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322070" y="1994535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3995738" y="1987868"/>
              <a:ext cx="1190625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003358" y="1994535"/>
              <a:ext cx="1176338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52132" y="2040731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1526" y="2180749"/>
              <a:ext cx="588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57232" y="2040731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051958" y="2180749"/>
              <a:ext cx="10781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703195" y="1967865"/>
              <a:ext cx="104775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715454" y="1993106"/>
              <a:ext cx="10232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primaryCourses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2999422"/>
            <a:ext cx="5410200" cy="978218"/>
            <a:chOff x="533400" y="2999422"/>
            <a:chExt cx="5410200" cy="978218"/>
          </a:xfrm>
        </p:grpSpPr>
        <p:sp>
          <p:nvSpPr>
            <p:cNvPr id="20" name="Rectangle 20"/>
            <p:cNvSpPr/>
            <p:nvPr/>
          </p:nvSpPr>
          <p:spPr>
            <a:xfrm>
              <a:off x="533400" y="2999422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3388043"/>
              <a:ext cx="200026" cy="200026"/>
              <a:chOff x="738188" y="3388043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33880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04863" y="346583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892" y="3145155"/>
              <a:ext cx="42999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成立：一张课表可以同时连着主修的教学班和备选的教学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班，是两种不同的角色，所以要两条关联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（primaryCourses、alternateCourses）。</a:t>
              </a:r>
            </a:p>
          </p:txBody>
        </p:sp>
      </p:grpSp>
      <p:grpSp>
        <p:nvGrpSpPr>
          <p:cNvPr id="38" name="c1-uml-3"/>
          <p:cNvGrpSpPr/>
          <p:nvPr/>
        </p:nvGrpSpPr>
        <p:grpSpPr>
          <a:xfrm>
            <a:off x="1314450" y="4595812"/>
            <a:ext cx="3871913" cy="403574"/>
            <a:chOff x="1314450" y="4595812"/>
            <a:chExt cx="3871913" cy="403574"/>
          </a:xfrm>
        </p:grpSpPr>
        <p:sp>
          <p:nvSpPr>
            <p:cNvPr id="26" name="Freeform 26"/>
            <p:cNvSpPr/>
            <p:nvPr/>
          </p:nvSpPr>
          <p:spPr>
            <a:xfrm>
              <a:off x="2457450" y="4802505"/>
              <a:ext cx="1538288" cy="9525"/>
            </a:xfrm>
            <a:custGeom>
              <a:avLst/>
              <a:gdLst/>
              <a:ahLst/>
              <a:cxnLst/>
              <a:rect l="l" t="t" r="r" b="b"/>
              <a:pathLst>
                <a:path w="1538288" h="9525">
                  <a:moveTo>
                    <a:pt x="0" y="0"/>
                  </a:moveTo>
                  <a:lnTo>
                    <a:pt x="153828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890962" y="474440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314450" y="4615815"/>
              <a:ext cx="1143000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322070" y="4623435"/>
              <a:ext cx="112871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995738" y="4615815"/>
              <a:ext cx="1190625" cy="37242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003358" y="4623435"/>
              <a:ext cx="1176338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652132" y="4668679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91526" y="4808696"/>
              <a:ext cx="588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57232" y="4668679"/>
              <a:ext cx="4676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051958" y="4808696"/>
              <a:ext cx="10781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730818" y="4595812"/>
              <a:ext cx="9915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747178" y="4621054"/>
              <a:ext cx="9597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add student to</a:t>
              </a:r>
            </a:p>
          </p:txBody>
        </p:sp>
      </p:grpSp>
      <p:grpSp>
        <p:nvGrpSpPr>
          <p:cNvPr id="45" name="c1-callout-4"/>
          <p:cNvGrpSpPr/>
          <p:nvPr/>
        </p:nvGrpSpPr>
        <p:grpSpPr>
          <a:xfrm>
            <a:off x="533400" y="5627370"/>
            <a:ext cx="5410200" cy="729615"/>
            <a:chOff x="533400" y="5627370"/>
            <a:chExt cx="5410200" cy="729615"/>
          </a:xfrm>
        </p:grpSpPr>
        <p:sp>
          <p:nvSpPr>
            <p:cNvPr id="39" name="Rectangle 39"/>
            <p:cNvSpPr/>
            <p:nvPr/>
          </p:nvSpPr>
          <p:spPr>
            <a:xfrm>
              <a:off x="533400" y="562737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26129" y="5888473"/>
              <a:ext cx="224134" cy="192560"/>
              <a:chOff x="726129" y="5888473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838200" y="595884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26129" y="588847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8200" y="60366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892" y="5774055"/>
              <a:ext cx="450570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不成立：“加选”和“退选”是两个操作，不是两种角色，画成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两条关联是错的。</a:t>
              </a:r>
            </a:p>
          </p:txBody>
        </p:sp>
      </p:grpSp>
      <p:grpSp>
        <p:nvGrpSpPr>
          <p:cNvPr id="53" name="c2-bullets-1"/>
          <p:cNvGrpSpPr/>
          <p:nvPr/>
        </p:nvGrpSpPr>
        <p:grpSpPr>
          <a:xfrm>
            <a:off x="6241542" y="1545907"/>
            <a:ext cx="5109591" cy="1464183"/>
            <a:chOff x="6241542" y="1545907"/>
            <a:chExt cx="5109591" cy="1464183"/>
          </a:xfrm>
        </p:grpSpPr>
        <p:sp>
          <p:nvSpPr>
            <p:cNvPr id="46" name="TextBox 46"/>
            <p:cNvSpPr txBox="1"/>
            <p:nvPr/>
          </p:nvSpPr>
          <p:spPr>
            <a:xfrm>
              <a:off x="6241542" y="154590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248400" y="1894522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85382" y="1865947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两个类之间不止一条关联时，每条都必须命名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248400" y="220599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85382" y="217741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两个类之间有多条关联本身就少见，遇到了要仔细检查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6248400" y="2516505"/>
              <a:ext cx="129540" cy="105728"/>
            </a:xfrm>
            <a:custGeom>
              <a:avLst/>
              <a:gdLst/>
              <a:ahLst/>
              <a:cxnLst/>
              <a:rect l="l" t="t" r="r" b="b"/>
              <a:pathLst>
                <a:path w="129540" h="105728">
                  <a:moveTo>
                    <a:pt x="0" y="56198"/>
                  </a:moveTo>
                  <a:lnTo>
                    <a:pt x="49530" y="105728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85382" y="2488882"/>
              <a:ext cx="48657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判断办法：看实例。若 A 的一个实例能同时连到 B 的两个不同实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例，多重关联才成立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3131820"/>
            <a:ext cx="5410200" cy="1209675"/>
            <a:chOff x="6248400" y="3131820"/>
            <a:chExt cx="5410200" cy="1209675"/>
          </a:xfrm>
        </p:grpSpPr>
        <p:sp>
          <p:nvSpPr>
            <p:cNvPr id="54" name="Rectangle 54"/>
            <p:cNvSpPr/>
            <p:nvPr/>
          </p:nvSpPr>
          <p:spPr>
            <a:xfrm>
              <a:off x="6248400" y="3131820"/>
              <a:ext cx="5410200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326517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78905" y="332422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62344" y="335851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顺带澄清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72047" y="368046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学生和教学班之间没有直接关联，两者通过课表连接：某个教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学班出现在某个学生的课表上，就表示这名学生选了它。</a:t>
              </a:r>
            </a:p>
          </p:txBody>
        </p:sp>
      </p:grpSp>
      <p:grpSp>
        <p:nvGrpSpPr>
          <p:cNvPr id="65" name="c2-callout-3"/>
          <p:cNvGrpSpPr/>
          <p:nvPr/>
        </p:nvGrpSpPr>
        <p:grpSpPr>
          <a:xfrm>
            <a:off x="6248400" y="4515802"/>
            <a:ext cx="5410200" cy="1841182"/>
            <a:chOff x="6248400" y="4515802"/>
            <a:chExt cx="5410200" cy="1841182"/>
          </a:xfrm>
        </p:grpSpPr>
        <p:sp>
          <p:nvSpPr>
            <p:cNvPr id="60" name="Rectangle 60"/>
            <p:cNvSpPr/>
            <p:nvPr/>
          </p:nvSpPr>
          <p:spPr>
            <a:xfrm>
              <a:off x="6248400" y="4515802"/>
              <a:ext cx="5410200" cy="1841182"/>
            </a:xfrm>
            <a:prstGeom prst="roundRect">
              <a:avLst>
                <a:gd name="adj" fmla="val 6208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453188" y="5336860"/>
              <a:ext cx="200023" cy="200023"/>
              <a:chOff x="6453188" y="5336860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453188" y="53368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586538" y="54035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755892" y="5217795"/>
              <a:ext cx="44885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角色名是一个类在关联中呈现的“面孔”，两端的角色名不能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重名；自关联必须靠角色名区分两端。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89974" cy="909257"/>
            <a:chOff x="520446" y="342900"/>
            <a:chExt cx="68899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899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例：选课用例的 VOPC（补上关系与多重性）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4" name="vopcrel"/>
          <p:cNvGrpSpPr/>
          <p:nvPr/>
        </p:nvGrpSpPr>
        <p:grpSpPr>
          <a:xfrm>
            <a:off x="914400" y="1962150"/>
            <a:ext cx="10420350" cy="2978467"/>
            <a:chOff x="914400" y="1962150"/>
            <a:chExt cx="10420350" cy="2978467"/>
          </a:xfrm>
        </p:grpSpPr>
        <p:sp>
          <p:nvSpPr>
            <p:cNvPr id="7" name="Rectangle 7"/>
            <p:cNvSpPr/>
            <p:nvPr/>
          </p:nvSpPr>
          <p:spPr>
            <a:xfrm>
              <a:off x="914400" y="1962150"/>
              <a:ext cx="2286000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922020" y="1969770"/>
              <a:ext cx="2270760" cy="39528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34261" y="202239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48641" y="2199322"/>
              <a:ext cx="18175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14400" y="2365058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10478">
              <a:solidFill>
                <a:srgbClr val="0F7A6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5838" y="2458402"/>
              <a:ext cx="19419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// display course offerings()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5838" y="2635568"/>
              <a:ext cx="18087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// display blank schedule()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5838" y="2812732"/>
              <a:ext cx="13422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// create schedule()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1962150"/>
              <a:ext cx="2286000" cy="67532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94120" y="1969770"/>
              <a:ext cx="2270760" cy="3952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52670" y="202239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96204" y="2199322"/>
              <a:ext cx="16665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6286500" y="2365058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10478">
              <a:solidFill>
                <a:srgbClr val="C2410C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7938" y="2458402"/>
              <a:ext cx="16754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// get course offerings()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914400" y="430530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922020" y="431292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383783" y="43655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35425" y="4542472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914400" y="470820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000500" y="4305300"/>
              <a:ext cx="142875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008120" y="4312920"/>
              <a:ext cx="141351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469883" y="43655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99393" y="4542472"/>
              <a:ext cx="630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000500" y="4708208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239000" y="4305300"/>
              <a:ext cx="1714500" cy="51720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246620" y="4312920"/>
              <a:ext cx="1699260" cy="39528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851258" y="43655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18624" y="4542472"/>
              <a:ext cx="115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7239000" y="4708208"/>
              <a:ext cx="1714500" cy="9525"/>
            </a:xfrm>
            <a:custGeom>
              <a:avLst/>
              <a:gdLst/>
              <a:ahLst/>
              <a:cxnLst/>
              <a:rect l="l" t="t" r="r" b="b"/>
              <a:pathLst>
                <a:path w="1714500" h="9525">
                  <a:moveTo>
                    <a:pt x="0" y="0"/>
                  </a:moveTo>
                  <a:lnTo>
                    <a:pt x="1714500" y="0"/>
                  </a:lnTo>
                </a:path>
              </a:pathLst>
            </a:custGeom>
            <a:noFill/>
            <a:ln w="10478">
              <a:solidFill>
                <a:srgbClr val="243B53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525000" y="1962150"/>
              <a:ext cx="1809750" cy="67532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532620" y="1969770"/>
              <a:ext cx="1794510" cy="39528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106736" y="202239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645867" y="2199322"/>
              <a:ext cx="156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9525000" y="2365058"/>
              <a:ext cx="1809750" cy="9525"/>
            </a:xfrm>
            <a:custGeom>
              <a:avLst/>
              <a:gdLst/>
              <a:ahLst/>
              <a:cxnLst/>
              <a:rect l="l" t="t" r="r" b="b"/>
              <a:pathLst>
                <a:path w="1809750" h="9525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noFill/>
            <a:ln w="10478">
              <a:solidFill>
                <a:srgbClr val="0F7A6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596438" y="2458402"/>
              <a:ext cx="16754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// get course offerings()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3200400" y="239458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271838" y="222123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138901" y="222123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8572500" y="2468880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643938" y="229552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377401" y="229552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2343150" y="4537710"/>
              <a:ext cx="1657350" cy="9525"/>
            </a:xfrm>
            <a:custGeom>
              <a:avLst/>
              <a:gdLst/>
              <a:ahLst/>
              <a:cxnLst/>
              <a:rect l="l" t="t" r="r" b="b"/>
              <a:pathLst>
                <a:path w="1657350" h="9525">
                  <a:moveTo>
                    <a:pt x="0" y="0"/>
                  </a:moveTo>
                  <a:lnTo>
                    <a:pt x="165735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49" name="Polygon 49"/>
            <p:cNvSpPr/>
            <p:nvPr/>
          </p:nvSpPr>
          <p:spPr>
            <a:xfrm>
              <a:off x="2343150" y="4485322"/>
              <a:ext cx="171450" cy="105728"/>
            </a:xfrm>
            <a:custGeom>
              <a:avLst/>
              <a:gdLst/>
              <a:ahLst/>
              <a:cxnLst/>
              <a:rect l="l" t="t" r="r" b="b"/>
              <a:pathLst>
                <a:path w="171450" h="105728">
                  <a:moveTo>
                    <a:pt x="0" y="52388"/>
                  </a:moveTo>
                  <a:lnTo>
                    <a:pt x="85725" y="105728"/>
                  </a:lnTo>
                  <a:lnTo>
                    <a:pt x="171450" y="52388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414588" y="436435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652990" y="436435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5429250" y="4486275"/>
              <a:ext cx="1809750" cy="9525"/>
            </a:xfrm>
            <a:custGeom>
              <a:avLst/>
              <a:gdLst/>
              <a:ahLst/>
              <a:cxnLst/>
              <a:rect l="l" t="t" r="r" b="b"/>
              <a:pathLst>
                <a:path w="1809750" h="9525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500688" y="4312920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91490" y="4312920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864059" y="4312920"/>
              <a:ext cx="9401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primaryCourses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5429250" y="4709160"/>
              <a:ext cx="1809750" cy="9525"/>
            </a:xfrm>
            <a:custGeom>
              <a:avLst/>
              <a:gdLst/>
              <a:ahLst/>
              <a:cxnLst/>
              <a:rect l="l" t="t" r="r" b="b"/>
              <a:pathLst>
                <a:path w="1809750" h="9525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500688" y="476440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0..*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891490" y="476440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809580" y="4764405"/>
              <a:ext cx="10490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alternateCourses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4886325" y="2637472"/>
              <a:ext cx="2085975" cy="1667828"/>
            </a:xfrm>
            <a:custGeom>
              <a:avLst/>
              <a:gdLst/>
              <a:ahLst/>
              <a:cxnLst/>
              <a:rect l="l" t="t" r="r" b="b"/>
              <a:pathLst>
                <a:path w="2085975" h="1667828">
                  <a:moveTo>
                    <a:pt x="2085975" y="0"/>
                  </a:moveTo>
                  <a:lnTo>
                    <a:pt x="2085975" y="1039178"/>
                  </a:lnTo>
                  <a:lnTo>
                    <a:pt x="0" y="1039178"/>
                  </a:lnTo>
                  <a:lnTo>
                    <a:pt x="0" y="1667828"/>
                  </a:lnTo>
                </a:path>
              </a:pathLst>
            </a:custGeom>
            <a:noFill/>
            <a:ln w="14288">
              <a:solidFill>
                <a:srgbClr val="334E6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43738" y="2711768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957762" y="4112895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0..1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43738" y="3503295"/>
              <a:ext cx="9824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currentSchedule</a:t>
              </a:r>
            </a:p>
          </p:txBody>
        </p:sp>
      </p:grpSp>
      <p:grpSp>
        <p:nvGrpSpPr>
          <p:cNvPr id="69" name="vopcnote"/>
          <p:cNvGrpSpPr/>
          <p:nvPr/>
        </p:nvGrpSpPr>
        <p:grpSpPr>
          <a:xfrm>
            <a:off x="533400" y="5524500"/>
            <a:ext cx="11125200" cy="838200"/>
            <a:chOff x="533400" y="5524500"/>
            <a:chExt cx="11125200" cy="838200"/>
          </a:xfrm>
        </p:grpSpPr>
        <p:sp>
          <p:nvSpPr>
            <p:cNvPr id="65" name="Rectangle 65"/>
            <p:cNvSpPr/>
            <p:nvPr/>
          </p:nvSpPr>
          <p:spPr>
            <a:xfrm>
              <a:off x="533400" y="5524500"/>
              <a:ext cx="11125200" cy="838200"/>
            </a:xfrm>
            <a:prstGeom prst="roundRect">
              <a:avLst>
                <a:gd name="adj" fmla="val 11364"/>
              </a:avLst>
            </a:prstGeom>
            <a:solidFill>
              <a:srgbClr val="F4F6FB"/>
            </a:solidFill>
            <a:ln w="11430">
              <a:solidFill>
                <a:srgbClr val="D9DFE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37044" y="5656183"/>
              <a:ext cx="1417244" cy="2273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6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这张图是怎么得到的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37426" y="5911929"/>
              <a:ext cx="7054367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类来自第二部分的识别，职责来自顺序图上的消息，关系来自协作图上的链，多重性来自对业务规则的确认。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7426" y="6140529"/>
              <a:ext cx="6027217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9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画完要反过来核对：每条关系都能说出为什么存在，每条职责都能指到交互图上的某条消息。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0445" cy="909257"/>
            <a:chOff x="520446" y="342900"/>
            <a:chExt cx="38004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描述职责、属性与关系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04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VOPC 上每条关系的理由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4861560" cy="293370"/>
            <a:chOff x="525780" y="1548765"/>
            <a:chExt cx="48615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关系不是凭感觉连的，每条都来自前面那几张交互图。</a:t>
              </a:r>
            </a:p>
          </p:txBody>
        </p:sp>
      </p:grpSp>
      <p:grpSp>
        <p:nvGrpSpPr>
          <p:cNvPr id="37" name="c1-table-1"/>
          <p:cNvGrpSpPr/>
          <p:nvPr/>
        </p:nvGrpSpPr>
        <p:grpSpPr>
          <a:xfrm>
            <a:off x="533400" y="1954530"/>
            <a:ext cx="6924675" cy="3827145"/>
            <a:chOff x="533400" y="1954530"/>
            <a:chExt cx="6924675" cy="382714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924675" cy="4686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42758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09290" y="208930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多重性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81550" y="208930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为什么是这个数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7604" y="2558891"/>
              <a:ext cx="17444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Form — Controller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4071" y="2558891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: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61828" y="255889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每次注册会话配一个控制对象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8798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92742"/>
              <a:ext cx="6924675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7604" y="3027521"/>
              <a:ext cx="1122216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Controller —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54071" y="3027521"/>
              <a:ext cx="564515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0..1 :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61828" y="3027521"/>
              <a:ext cx="30802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一个控制对象一次只处理一张课表，角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色名 currentSchedule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60997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7604" y="3749516"/>
              <a:ext cx="1747095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 — Schedule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（聚合）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4071" y="3876199"/>
              <a:ext cx="7600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: 0..*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61828" y="3749516"/>
              <a:ext cx="30802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学生可以有多张课表也可以没有；课表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离开学生不存在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33292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337685"/>
              <a:ext cx="6924675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7604" y="4472464"/>
              <a:ext cx="1463059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 —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54071" y="4472464"/>
              <a:ext cx="564515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0..* :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61828" y="4472464"/>
              <a:ext cx="3107309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每张课表最多 4 门主修班，一个教学班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可出现在很多课表上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05491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7604" y="5194459"/>
              <a:ext cx="1463059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 —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4071" y="5194459"/>
              <a:ext cx="564515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0..* :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61828" y="5194459"/>
              <a:ext cx="2746629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每张课表最多 2 门备选班，角色名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alternateCourses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954530"/>
              <a:ext cx="6924675" cy="38271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745105" y="1954530"/>
              <a:ext cx="9525" cy="38271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852862" y="1954530"/>
              <a:ext cx="9525" cy="38271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2-card-1"/>
          <p:cNvGrpSpPr/>
          <p:nvPr/>
        </p:nvGrpSpPr>
        <p:grpSpPr>
          <a:xfrm>
            <a:off x="7762875" y="1954530"/>
            <a:ext cx="3895725" cy="2812732"/>
            <a:chOff x="7762875" y="1954530"/>
            <a:chExt cx="3895725" cy="2812732"/>
          </a:xfrm>
        </p:grpSpPr>
        <p:sp>
          <p:nvSpPr>
            <p:cNvPr id="38" name="Rectangle 38"/>
            <p:cNvSpPr/>
            <p:nvPr/>
          </p:nvSpPr>
          <p:spPr>
            <a:xfrm>
              <a:off x="7762875" y="1954530"/>
              <a:ext cx="3895725" cy="2812732"/>
            </a:xfrm>
            <a:prstGeom prst="roundRect">
              <a:avLst>
                <a:gd name="adj" fmla="val 47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772400" y="2087880"/>
              <a:ext cx="47625" cy="25460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004810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095971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97571" y="2531269"/>
              <a:ext cx="3287649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50 页的 VOPC 只画了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primaryCourses（0..4），但同页备注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和第 49 页都写明课表还有最多 2 门备选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课，图上漏了 alternateCourses 这条关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联。本页图已补上。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98714" y="3933825"/>
              <a:ext cx="328117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另外第 45 页讲聚合时把 Schedule 到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CourseOffering 画成 0..2，那条对应的是备选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课关联，不要与主修课的 0..4 混起来。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7762875" y="4952048"/>
            <a:ext cx="3895725" cy="1281112"/>
            <a:chOff x="7762875" y="4952048"/>
            <a:chExt cx="3895725" cy="1281112"/>
          </a:xfrm>
        </p:grpSpPr>
        <p:sp>
          <p:nvSpPr>
            <p:cNvPr id="45" name="Rectangle 45"/>
            <p:cNvSpPr/>
            <p:nvPr/>
          </p:nvSpPr>
          <p:spPr>
            <a:xfrm>
              <a:off x="7762875" y="4952048"/>
              <a:ext cx="3895725" cy="1281112"/>
            </a:xfrm>
            <a:prstGeom prst="roundRect">
              <a:avLst>
                <a:gd name="adj" fmla="val 892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967663" y="5493068"/>
              <a:ext cx="200026" cy="200025"/>
              <a:chOff x="7967663" y="549306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967663" y="54930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007401" y="55375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042117" y="56486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8269986" y="5099209"/>
              <a:ext cx="2963037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同时可以有很多个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RegisterForCoursesForm 在活动，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属于不同学生的不同会话，各自配一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个控制对象。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882896" cy="3351847"/>
            <a:chOff x="667512" y="1835468"/>
            <a:chExt cx="488289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分析机制、统一与检查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技术细节先挂起来，最后把模型收干净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分析机制是占位符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类到机制的映射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跨用例统一分析类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两组检查点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分析机制、统一与检查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分析机制：先占个位，技术细节以后再定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842635" cy="1621155"/>
            <a:chOff x="533400" y="1524000"/>
            <a:chExt cx="5842635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32117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分析机制（Analysis Mechanism）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分析机制是对一类常见问题的通用解法，可以是结构上的模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式，也可以是行为上的模式。它在分析阶段给复杂行为一个简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写记号，降低分析的复杂度，也让不同人做出的模型更一致。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35655"/>
            <a:ext cx="5842635" cy="1937385"/>
            <a:chOff x="533400" y="3335655"/>
            <a:chExt cx="5842635" cy="1937385"/>
          </a:xfrm>
        </p:grpSpPr>
        <p:sp>
          <p:nvSpPr>
            <p:cNvPr id="14" name="Rectangle 14"/>
            <p:cNvSpPr/>
            <p:nvPr/>
          </p:nvSpPr>
          <p:spPr>
            <a:xfrm>
              <a:off x="533400" y="3335655"/>
              <a:ext cx="584263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900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5452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3359" y="35809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典型场景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392239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问：我找到一组类要持久保存，可连用什么数据库都还没定，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怎么设计？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454342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答：这就是持久性机制存在的理由。现在信息不够，先记上这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一笔，以后再回来补。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5463540"/>
            <a:ext cx="5842635" cy="782955"/>
            <a:chOff x="533400" y="5463540"/>
            <a:chExt cx="5842635" cy="782955"/>
          </a:xfrm>
        </p:grpSpPr>
        <p:sp>
          <p:nvSpPr>
            <p:cNvPr id="21" name="Rectangle 21"/>
            <p:cNvSpPr/>
            <p:nvPr/>
          </p:nvSpPr>
          <p:spPr>
            <a:xfrm>
              <a:off x="533400" y="546354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755007"/>
              <a:ext cx="200023" cy="200023"/>
              <a:chOff x="738188" y="5755007"/>
              <a:chExt cx="200023" cy="20002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7550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71538" y="58216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130" y="5612130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机制多半是计算机科学层面的概念，与问题域无关，通常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落在架构的中下层。</a:t>
              </a:r>
            </a:p>
          </p:txBody>
        </p:sp>
      </p:grpSp>
      <p:grpSp>
        <p:nvGrpSpPr>
          <p:cNvPr id="29" name="c2-image-1"/>
          <p:cNvGrpSpPr/>
          <p:nvPr/>
        </p:nvGrpSpPr>
        <p:grpSpPr>
          <a:xfrm>
            <a:off x="6680835" y="1524000"/>
            <a:ext cx="4977765" cy="2696052"/>
            <a:chOff x="6680835" y="1524000"/>
            <a:chExt cx="4977765" cy="2696052"/>
          </a:xfrm>
        </p:grpSpPr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2"/>
            <a:srcRect l="0" t="18108" r="0" b="18108"/>
            <a:stretch>
              <a:fillRect/>
            </a:stretch>
          </p:blipFill>
          <p:spPr>
            <a:xfrm>
              <a:off x="6680835" y="1524000"/>
              <a:ext cx="4977765" cy="2381250"/>
            </a:xfrm>
            <a:prstGeom prst="roundRect">
              <a:avLst>
                <a:gd name="adj" fmla="val 5600"/>
              </a:avLst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7430097" y="400002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墙先砌好，管线的洞留着，挂个牌子说明以后装什么</a:t>
              </a:r>
            </a:p>
          </p:txBody>
        </p:sp>
      </p:grpSp>
      <p:grpSp>
        <p:nvGrpSpPr>
          <p:cNvPr id="36" name="c2-bullets-2"/>
          <p:cNvGrpSpPr/>
          <p:nvPr/>
        </p:nvGrpSpPr>
        <p:grpSpPr>
          <a:xfrm>
            <a:off x="6680835" y="4410075"/>
            <a:ext cx="4648200" cy="1554480"/>
            <a:chOff x="6680835" y="4410075"/>
            <a:chExt cx="4648200" cy="1554480"/>
          </a:xfrm>
        </p:grpSpPr>
        <p:sp>
          <p:nvSpPr>
            <p:cNvPr id="30" name="Freeform 30"/>
            <p:cNvSpPr/>
            <p:nvPr/>
          </p:nvSpPr>
          <p:spPr>
            <a:xfrm>
              <a:off x="6680835" y="4441508"/>
              <a:ext cx="144780" cy="117158"/>
            </a:xfrm>
            <a:custGeom>
              <a:avLst/>
              <a:gdLst/>
              <a:ahLst/>
              <a:cxnLst/>
              <a:rect l="l" t="t" r="r" b="b"/>
              <a:pathLst>
                <a:path w="144780" h="117158">
                  <a:moveTo>
                    <a:pt x="0" y="61912"/>
                  </a:moveTo>
                  <a:lnTo>
                    <a:pt x="55245" y="117158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32295" y="441007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架构分析阶段定义有哪些机制可用，用例分析阶段只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管把类挂到机制上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680835" y="5072062"/>
              <a:ext cx="144780" cy="117157"/>
            </a:xfrm>
            <a:custGeom>
              <a:avLst/>
              <a:gdLst/>
              <a:ahLst/>
              <a:cxnLst/>
              <a:rect l="l" t="t" r="r" b="b"/>
              <a:pathLst>
                <a:path w="144780" h="117157">
                  <a:moveTo>
                    <a:pt x="0" y="61912"/>
                  </a:moveTo>
                  <a:lnTo>
                    <a:pt x="55245" y="117157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932295" y="504063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一个类可以用到好几个机制，也可以一个都不用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680835" y="5416868"/>
              <a:ext cx="144780" cy="117157"/>
            </a:xfrm>
            <a:custGeom>
              <a:avLst/>
              <a:gdLst/>
              <a:ahLst/>
              <a:cxnLst/>
              <a:rect l="l" t="t" r="r" b="b"/>
              <a:pathLst>
                <a:path w="144780" h="117157">
                  <a:moveTo>
                    <a:pt x="0" y="61912"/>
                  </a:moveTo>
                  <a:lnTo>
                    <a:pt x="55245" y="117157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32295" y="538543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持久对象指生存期超出创建它的那个程序的对象，这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类需求正是持久性机制要满足的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分析机制、统一与检查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描述分析机制：列清单、画映射、定特征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3354908" cy="1878615"/>
            <a:chOff x="533400" y="1533525"/>
            <a:chExt cx="3354908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列清单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把本项目可用的分析机制收集成一张表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画映射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把每个客户类连到它要用的机制上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定特征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给机制的各项特征填上数值或范围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3590925"/>
            <a:ext cx="4111942" cy="1059180"/>
            <a:chOff x="533400" y="3590925"/>
            <a:chExt cx="4111942" cy="1059180"/>
          </a:xfrm>
        </p:grpSpPr>
        <p:sp>
          <p:nvSpPr>
            <p:cNvPr id="21" name="Rectangle 21"/>
            <p:cNvSpPr/>
            <p:nvPr/>
          </p:nvSpPr>
          <p:spPr>
            <a:xfrm>
              <a:off x="533400" y="3590925"/>
              <a:ext cx="4111942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020503"/>
              <a:ext cx="200026" cy="200026"/>
              <a:chOff x="738188" y="4020503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0205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40871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41205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3739515"/>
              <a:ext cx="3253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分析阶段填的数字多半是估计值，随着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了解加深再修正；能记下来就比空着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4950142" y="1524000"/>
            <a:ext cx="6708458" cy="3372802"/>
            <a:chOff x="4950142" y="1524000"/>
            <a:chExt cx="6708458" cy="3372802"/>
          </a:xfrm>
        </p:grpSpPr>
        <p:sp>
          <p:nvSpPr>
            <p:cNvPr id="28" name="Rectangle 28"/>
            <p:cNvSpPr/>
            <p:nvPr/>
          </p:nvSpPr>
          <p:spPr>
            <a:xfrm>
              <a:off x="4950142" y="1524000"/>
              <a:ext cx="670845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5673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91388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用到的分析机制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1727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7966" y="2221706"/>
              <a:ext cx="7151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01993" y="22217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持久性、安全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14626" y="2108359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学籍信息要长期保存，且要控制谁能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读、谁能改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950142" y="26431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950142" y="2647950"/>
              <a:ext cx="670845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057966" y="2897029"/>
              <a:ext cx="7691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01993" y="289702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持久性、安全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14626" y="2783681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课表要长期保存，只有本人和教务能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950142" y="331946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057966" y="3459004"/>
              <a:ext cx="1408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703695" y="3333750"/>
              <a:ext cx="1993582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01993" y="345900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持久性、遗留接口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14626" y="345900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数据由外部课程目录系统维护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950142" y="376809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950142" y="3772852"/>
              <a:ext cx="670845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057966" y="3907631"/>
              <a:ext cx="6156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703695" y="3782378"/>
              <a:ext cx="1993582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01993" y="39076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持久性、遗留接口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14626" y="39076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同上，来自遗留系统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950142" y="421671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057966" y="4357211"/>
              <a:ext cx="142966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roller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01993" y="44705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14626" y="447055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本例把全部控制类都当成分布式的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950142" y="1524000"/>
              <a:ext cx="6708458" cy="337280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689408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702040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llout-2"/>
          <p:cNvGrpSpPr/>
          <p:nvPr/>
        </p:nvGrpSpPr>
        <p:grpSpPr>
          <a:xfrm>
            <a:off x="4950142" y="5087302"/>
            <a:ext cx="6708458" cy="782955"/>
            <a:chOff x="4950142" y="5087302"/>
            <a:chExt cx="6708458" cy="782955"/>
          </a:xfrm>
        </p:grpSpPr>
        <p:sp>
          <p:nvSpPr>
            <p:cNvPr id="59" name="Rectangle 59"/>
            <p:cNvSpPr/>
            <p:nvPr/>
          </p:nvSpPr>
          <p:spPr>
            <a:xfrm>
              <a:off x="4950142" y="5087302"/>
              <a:ext cx="670845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5154930" y="5378768"/>
              <a:ext cx="200026" cy="200025"/>
              <a:chOff x="5154930" y="5378768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5154930" y="53787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5194669" y="54232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5229384" y="55343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456873" y="5235892"/>
              <a:ext cx="5539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遗留接口类不额外挂安全机制：它们是只读的，被视为对所有人可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30766" cy="909257"/>
            <a:chOff x="520446" y="342900"/>
            <a:chExt cx="47307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分析机制、统一与检查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307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例：Schedule 类的持久性特征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4861560" cy="293370"/>
            <a:chOff x="525780" y="1548765"/>
            <a:chExt cx="48615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特征分两部分，一部分讲功能，一部分讲规模与性能。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54530"/>
            <a:ext cx="4977765" cy="3283268"/>
            <a:chOff x="533400" y="1954530"/>
            <a:chExt cx="4977765" cy="328326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977765" cy="4686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30363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19246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7604" y="255889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粒度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28328" y="2558891"/>
              <a:ext cx="17556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每张课表 1 到 10 KB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8798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92742"/>
              <a:ext cx="4977765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7604" y="30275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28328" y="3027521"/>
              <a:ext cx="1505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 2000 张课表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35661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04" y="349615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创建频率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28328" y="3496151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每天 500 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8261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830955"/>
              <a:ext cx="4977765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604" y="396573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读取频率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28328" y="3965734"/>
              <a:ext cx="13143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每小时 2000 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9482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7604" y="443436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更新频率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28328" y="4434364"/>
              <a:ext cx="11232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每天 1000 次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7634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4768215"/>
              <a:ext cx="4977765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7604" y="49039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删除频率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28328" y="4903946"/>
              <a:ext cx="912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每天 50 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954530"/>
              <a:ext cx="4977765" cy="328326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519362" y="1954530"/>
              <a:ext cx="9525" cy="32832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llout-2"/>
          <p:cNvGrpSpPr/>
          <p:nvPr/>
        </p:nvGrpSpPr>
        <p:grpSpPr>
          <a:xfrm>
            <a:off x="533400" y="5422582"/>
            <a:ext cx="4977765" cy="756285"/>
            <a:chOff x="533400" y="5422582"/>
            <a:chExt cx="4977765" cy="756285"/>
          </a:xfrm>
        </p:grpSpPr>
        <p:sp>
          <p:nvSpPr>
            <p:cNvPr id="35" name="Rectangle 35"/>
            <p:cNvSpPr/>
            <p:nvPr/>
          </p:nvSpPr>
          <p:spPr>
            <a:xfrm>
              <a:off x="533400" y="5422582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700713"/>
              <a:ext cx="200026" cy="200025"/>
              <a:chOff x="738188" y="5700713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7007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77926" y="57451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12642" y="58562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5570696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读远多于写，持久化方案可以考虑加缓存；写入量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小，事务开销不是瓶颈。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5815965" y="1954530"/>
            <a:ext cx="5842635" cy="2457450"/>
            <a:chOff x="5815965" y="1954530"/>
            <a:chExt cx="5842635" cy="2457450"/>
          </a:xfrm>
        </p:grpSpPr>
        <p:sp>
          <p:nvSpPr>
            <p:cNvPr id="42" name="Rectangle 42"/>
            <p:cNvSpPr/>
            <p:nvPr/>
          </p:nvSpPr>
          <p:spPr>
            <a:xfrm>
              <a:off x="5815965" y="1954530"/>
              <a:ext cx="5842635" cy="2457450"/>
            </a:xfrm>
            <a:prstGeom prst="roundRect">
              <a:avLst>
                <a:gd name="adj" fmla="val 542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19800" y="215836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84405" y="219408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自己把数字算一遍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027420" y="259175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184011" y="2531269"/>
              <a:ext cx="485390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存储上限：2000 × 10 KB ≈ </a:t>
              </a:r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20 MB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，一台普通服务器完全放得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下，选型时不必为容量纠结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027420" y="318325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84011" y="3122771"/>
              <a:ext cx="501846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每天净增课表 500 − 50 = 450 张，约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4.4 天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就能填满 2000 张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的上限，说明 2000 是注册高峰期的在线规模，不是全年累计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027420" y="377475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84011" y="3714274"/>
              <a:ext cx="499186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写操作合计每天 500 + 1000 + 50 = 1550 次，折合每小时约 65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次；读是每小时 2000 次，读写比约 30 : 1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5815965" y="4597718"/>
            <a:ext cx="5842635" cy="1581150"/>
            <a:chOff x="5815965" y="4597718"/>
            <a:chExt cx="5842635" cy="1581150"/>
          </a:xfrm>
        </p:grpSpPr>
        <p:sp>
          <p:nvSpPr>
            <p:cNvPr id="52" name="Rectangle 52"/>
            <p:cNvSpPr/>
            <p:nvPr/>
          </p:nvSpPr>
          <p:spPr>
            <a:xfrm>
              <a:off x="5815965" y="4597718"/>
              <a:ext cx="5842635" cy="1581150"/>
            </a:xfrm>
            <a:prstGeom prst="roundRect">
              <a:avLst>
                <a:gd name="adj" fmla="val 84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825490" y="4731068"/>
              <a:ext cx="47625" cy="13144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057900" y="480155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148108" y="483727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50661" y="5174456"/>
              <a:ext cx="51451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原课件把粒度写成 “1 to 10 Kbytes per product”，这一行描述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的是 Schedule 对象，应为“每张课表 1 到 10 KB”。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051804" y="5762625"/>
              <a:ext cx="51466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源课件只给出了 Schedule 一个类的机制特征，其余类出于篇幅没有列。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分析机制、统一与检查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统一分析类：同一个类会在多个用例里冒出来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940450" cy="278702"/>
            <a:chOff x="526161" y="1547336"/>
            <a:chExt cx="594045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9404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每个用例各做一遍用例分析，做完要横向比一比，把重复的概念并掉。</a:t>
              </a:r>
            </a:p>
          </p:txBody>
        </p:sp>
      </p:grpSp>
      <p:grpSp>
        <p:nvGrpSpPr>
          <p:cNvPr id="56" name="c1-table-1"/>
          <p:cNvGrpSpPr/>
          <p:nvPr/>
        </p:nvGrpSpPr>
        <p:grpSpPr>
          <a:xfrm>
            <a:off x="528066" y="1941195"/>
            <a:ext cx="5631752" cy="4338256"/>
            <a:chOff x="528066" y="1941195"/>
            <a:chExt cx="5631752" cy="4338256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626418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76958" y="20654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6131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选课注册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3342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关闭注册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1672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CourseCatalogSystem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84282" y="2471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22532" y="2471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877026"/>
              <a:ext cx="1232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CourseOffering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84282" y="28770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22532" y="28770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5372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282791"/>
              <a:ext cx="6730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Schedule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84282" y="32827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22532" y="32827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594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6425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688556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4282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22532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652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4094321"/>
              <a:ext cx="1938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RegisterForCoursesForm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84282" y="40943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22532" y="40943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3710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37578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500086"/>
              <a:ext cx="17777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RegistrationController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784282" y="45000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022532" y="45000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7767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4905851"/>
              <a:ext cx="17669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CloseRegistrationForm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84282" y="49058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22532" y="49058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51825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518731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3412" y="5311616"/>
              <a:ext cx="21780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CloseRegistrationController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784282" y="531161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22532" y="531161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58831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3412" y="5717381"/>
              <a:ext cx="1025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BillingSystem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784282" y="57173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022532" y="57173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1941195"/>
              <a:ext cx="5626418" cy="40576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3679508" y="1941195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917758" y="1941195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8066" y="607409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两列都打勾的四个类是同一个概念，合并成一个类</a:t>
              </a:r>
            </a:p>
          </p:txBody>
        </p:sp>
      </p:grpSp>
      <p:grpSp>
        <p:nvGrpSpPr>
          <p:cNvPr id="64" name="c2-bullets-1"/>
          <p:cNvGrpSpPr/>
          <p:nvPr/>
        </p:nvGrpSpPr>
        <p:grpSpPr>
          <a:xfrm>
            <a:off x="6457760" y="1964055"/>
            <a:ext cx="4886705" cy="1720405"/>
            <a:chOff x="6457760" y="1964055"/>
            <a:chExt cx="4886705" cy="1720405"/>
          </a:xfrm>
        </p:grpSpPr>
        <p:sp>
          <p:nvSpPr>
            <p:cNvPr id="57" name="TextBox 57"/>
            <p:cNvSpPr txBox="1"/>
            <p:nvPr/>
          </p:nvSpPr>
          <p:spPr>
            <a:xfrm>
              <a:off x="6457760" y="196405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合并规则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6464618" y="2311718"/>
              <a:ext cx="129540" cy="105728"/>
            </a:xfrm>
            <a:custGeom>
              <a:avLst/>
              <a:gdLst/>
              <a:ahLst/>
              <a:cxnLst/>
              <a:rect l="l" t="t" r="r" b="b"/>
              <a:pathLst>
                <a:path w="129540" h="105728">
                  <a:moveTo>
                    <a:pt x="0" y="56198"/>
                  </a:moveTo>
                  <a:lnTo>
                    <a:pt x="49530" y="105728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01599" y="228409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行为相似或表示同一现象的类合并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6464618" y="262318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01599" y="259461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实体类只要属性相同就合并，哪怕行为不同，合并后把行为并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起来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6464618" y="319182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701599" y="316325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一个类可以参与任意多个用例，边界类和控制类通常跟着用例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</a:t>
              </a:r>
            </a:p>
          </p:txBody>
        </p:sp>
      </p:grpSp>
      <p:grpSp>
        <p:nvGrpSpPr>
          <p:cNvPr id="71" name="c2-card-2"/>
          <p:cNvGrpSpPr/>
          <p:nvPr/>
        </p:nvGrpSpPr>
        <p:grpSpPr>
          <a:xfrm>
            <a:off x="6464618" y="3806190"/>
            <a:ext cx="5193982" cy="2431732"/>
            <a:chOff x="6464618" y="3806190"/>
            <a:chExt cx="5193982" cy="2431732"/>
          </a:xfrm>
        </p:grpSpPr>
        <p:sp>
          <p:nvSpPr>
            <p:cNvPr id="65" name="Rectangle 65"/>
            <p:cNvSpPr/>
            <p:nvPr/>
          </p:nvSpPr>
          <p:spPr>
            <a:xfrm>
              <a:off x="6464618" y="3806190"/>
              <a:ext cx="5193982" cy="2431732"/>
            </a:xfrm>
            <a:prstGeom prst="roundRect">
              <a:avLst>
                <a:gd name="adj" fmla="val 54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74142" y="3939540"/>
              <a:ext cx="47625" cy="216503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695122" y="399859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62560" y="403288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改类要跟着改文档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688264" y="4355782"/>
              <a:ext cx="45844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合并或拆分类之后，要回头更新第 1 步补写的用例描述。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689408" y="4654391"/>
              <a:ext cx="45631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若连原始用例也需要改，必须走受控流程：用例是与客户的约定，任何改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动都要经过确认。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982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5672" y="407194"/>
              <a:ext cx="2304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分析机制、统一与检查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收尾：评估结果，再按检查点自查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035089" cy="308039"/>
            <a:chOff x="525399" y="1550194"/>
            <a:chExt cx="70350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0350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检查点都只针对本次迭代正在开发的那些用例，不要拿全系统的标准去卡。</a:t>
              </a:r>
            </a:p>
          </p:txBody>
        </p:sp>
      </p:grpSp>
      <p:grpSp>
        <p:nvGrpSpPr>
          <p:cNvPr id="39" name="c1-compare-1"/>
          <p:cNvGrpSpPr/>
          <p:nvPr/>
        </p:nvGrpSpPr>
        <p:grpSpPr>
          <a:xfrm>
            <a:off x="533400" y="1967865"/>
            <a:ext cx="5410200" cy="4137660"/>
            <a:chOff x="533400" y="1967865"/>
            <a:chExt cx="5410200" cy="413766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2495550" cy="4137660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387096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3430" y="22021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分析类检查点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6193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55651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这些类合理吗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9546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89179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类名是否说清了它扮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演的角色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575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51282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是否只表示一个界定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清楚的抽象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1967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13385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属性和职责是否都与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这个抽象相关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8177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75488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是否提供了协作所要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求的行为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4387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37591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针对这个类的具体需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求是否都落实了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448050" y="1967865"/>
              <a:ext cx="2495550" cy="4137660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457575" y="2101215"/>
              <a:ext cx="47625" cy="387096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688080" y="22021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用例实现检查点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701415" y="26193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859530" y="255651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主流程、子流程和例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外情况是否都处理了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701415" y="32404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859530" y="317754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需要的对象是否都找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齐了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3701415" y="38614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859530" y="379857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行为是否都明确分配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给了参与对象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3701415" y="44824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859530" y="44196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行为是否分给了合适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的对象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3701415" y="51034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859530" y="504063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多张交互图之间的关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系是否清楚一致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3076575" y="387477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146915" y="3970973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45" name="c2-bullets-1"/>
          <p:cNvGrpSpPr/>
          <p:nvPr/>
        </p:nvGrpSpPr>
        <p:grpSpPr>
          <a:xfrm>
            <a:off x="6240780" y="1992630"/>
            <a:ext cx="4311968" cy="992505"/>
            <a:chOff x="6240780" y="1992630"/>
            <a:chExt cx="4311968" cy="992505"/>
          </a:xfrm>
        </p:grpSpPr>
        <p:sp>
          <p:nvSpPr>
            <p:cNvPr id="40" name="TextBox 40"/>
            <p:cNvSpPr txBox="1"/>
            <p:nvPr/>
          </p:nvSpPr>
          <p:spPr>
            <a:xfrm>
              <a:off x="6240780" y="1992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评估结果时核对两件事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248400" y="237839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8908" y="234696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分析类是否满足系统的功能需求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248400" y="272319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8908" y="269176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分析类和它们的关系是否与所支持的协作一致</a:t>
              </a:r>
            </a:p>
          </p:txBody>
        </p:sp>
      </p:grpSp>
      <p:grpSp>
        <p:nvGrpSpPr>
          <p:cNvPr id="51" name="c2-bullets-2"/>
          <p:cNvGrpSpPr/>
          <p:nvPr/>
        </p:nvGrpSpPr>
        <p:grpSpPr>
          <a:xfrm>
            <a:off x="6240780" y="3141345"/>
            <a:ext cx="4301490" cy="992505"/>
            <a:chOff x="6240780" y="3141345"/>
            <a:chExt cx="4301490" cy="992505"/>
          </a:xfrm>
        </p:grpSpPr>
        <p:sp>
          <p:nvSpPr>
            <p:cNvPr id="46" name="TextBox 46"/>
            <p:cNvSpPr txBox="1"/>
            <p:nvPr/>
          </p:nvSpPr>
          <p:spPr>
            <a:xfrm>
              <a:off x="6240780" y="31413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顺手清理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248400" y="353187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88430" y="34956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多余的属性和关系，用例实现用不上的就删掉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248400" y="387667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88430" y="38404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没有职责的类</a:t>
              </a:r>
            </a:p>
          </p:txBody>
        </p:sp>
      </p:grpSp>
      <p:grpSp>
        <p:nvGrpSpPr>
          <p:cNvPr id="58" name="c2-callout-3"/>
          <p:cNvGrpSpPr/>
          <p:nvPr/>
        </p:nvGrpSpPr>
        <p:grpSpPr>
          <a:xfrm>
            <a:off x="6248400" y="4265295"/>
            <a:ext cx="5410200" cy="1840230"/>
            <a:chOff x="6248400" y="4265295"/>
            <a:chExt cx="5410200" cy="1840230"/>
          </a:xfrm>
        </p:grpSpPr>
        <p:sp>
          <p:nvSpPr>
            <p:cNvPr id="52" name="Rectangle 52"/>
            <p:cNvSpPr/>
            <p:nvPr/>
          </p:nvSpPr>
          <p:spPr>
            <a:xfrm>
              <a:off x="6248400" y="4265295"/>
              <a:ext cx="5410200" cy="1840230"/>
            </a:xfrm>
            <a:prstGeom prst="roundRect">
              <a:avLst>
                <a:gd name="adj" fmla="val 621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453188" y="5085398"/>
              <a:ext cx="200026" cy="200026"/>
              <a:chOff x="6453188" y="5085398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453188" y="50853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553200" y="51520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42088" y="51854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755130" y="494252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评审开几次、要多正式、放在什么时间，由项目定义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的过程决定。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429000" cy="3351847"/>
            <a:chOff x="667512" y="1835468"/>
            <a:chExt cx="342900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课堂练习与自测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换一个系统，把这七步自己走一遍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工资系统练习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交付物清单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互评问题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31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473" y="407194"/>
              <a:ext cx="1852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课堂练习与自测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练习：给工资系统做一次用例分析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5780" y="1548765"/>
            <a:ext cx="4985385" cy="2177415"/>
            <a:chOff x="525780" y="1548765"/>
            <a:chExt cx="4985385" cy="217741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已给出的材料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964055" y="154876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工资系统的用例模型，重点是各用例的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已给出的材料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64055" y="227076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架构分析阶段得到的关键抽象与类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已给出的材料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64055" y="2710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补充规约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03085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15087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已给出的材料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64055" y="315087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可用的分析机制：持久性、分布、安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全、遗留接口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3857625"/>
            <a:ext cx="4977765" cy="1436370"/>
            <a:chOff x="533400" y="3857625"/>
            <a:chExt cx="4977765" cy="1436370"/>
          </a:xfrm>
        </p:grpSpPr>
        <p:sp>
          <p:nvSpPr>
            <p:cNvPr id="19" name="Rectangle 19"/>
            <p:cNvSpPr/>
            <p:nvPr/>
          </p:nvSpPr>
          <p:spPr>
            <a:xfrm>
              <a:off x="533400" y="3857625"/>
              <a:ext cx="4977765" cy="1436370"/>
            </a:xfrm>
            <a:prstGeom prst="roundRect">
              <a:avLst>
                <a:gd name="adj" fmla="val 795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475798"/>
              <a:ext cx="200026" cy="200025"/>
              <a:chOff x="738188" y="4475798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4757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45202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6313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332922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分析类的好来源是术语表和架构分析阶段定义的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类，先去那里找，再从事件流里补。</a:t>
              </a:r>
            </a:p>
          </p:txBody>
        </p:sp>
      </p:grpSp>
      <p:grpSp>
        <p:nvGrpSpPr>
          <p:cNvPr id="36" name="c2-bullets-1"/>
          <p:cNvGrpSpPr/>
          <p:nvPr/>
        </p:nvGrpSpPr>
        <p:grpSpPr>
          <a:xfrm>
            <a:off x="5808345" y="1548765"/>
            <a:ext cx="4564380" cy="1337310"/>
            <a:chOff x="5808345" y="1548765"/>
            <a:chExt cx="4564380" cy="1337310"/>
          </a:xfrm>
        </p:grpSpPr>
        <p:sp>
          <p:nvSpPr>
            <p:cNvPr id="26" name="TextBox 26"/>
            <p:cNvSpPr txBox="1"/>
            <p:nvPr/>
          </p:nvSpPr>
          <p:spPr>
            <a:xfrm>
              <a:off x="5808345" y="15487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针对某一个用例，识别出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815965" y="18897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877814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16955" y="190309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分析类，以及每个类的简要描述、构造型、职责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22345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77814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6955" y="224790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实现这个用例所需要的协作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815965" y="257937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77814" y="26216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16955" y="259270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分析类的属性和关系</a:t>
              </a:r>
            </a:p>
          </p:txBody>
        </p:sp>
      </p:grpSp>
      <p:grpSp>
        <p:nvGrpSpPr>
          <p:cNvPr id="44" name="c2-bullets-2"/>
          <p:cNvGrpSpPr/>
          <p:nvPr/>
        </p:nvGrpSpPr>
        <p:grpSpPr>
          <a:xfrm>
            <a:off x="5808345" y="3042285"/>
            <a:ext cx="5523548" cy="1337310"/>
            <a:chOff x="5808345" y="3042285"/>
            <a:chExt cx="5523548" cy="1337310"/>
          </a:xfrm>
        </p:grpSpPr>
        <p:sp>
          <p:nvSpPr>
            <p:cNvPr id="37" name="TextBox 37"/>
            <p:cNvSpPr txBox="1"/>
            <p:nvPr/>
          </p:nvSpPr>
          <p:spPr>
            <a:xfrm>
              <a:off x="5808345" y="3042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交付三样东西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5815965" y="3428048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66473" y="3396615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至少一条事件流的用例实现交互图（顺序图或协作图都行）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15965" y="3772852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4292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66473" y="3741420"/>
              <a:ext cx="38221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VOPC 类图，含构造型、职责、属性和关系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5815965" y="4117658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4292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66473" y="40862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分析类到分析机制的映射表</a:t>
              </a:r>
            </a:p>
          </p:txBody>
        </p:sp>
      </p:grpSp>
      <p:grpSp>
        <p:nvGrpSpPr>
          <p:cNvPr id="50" name="c2-callout-3"/>
          <p:cNvGrpSpPr/>
          <p:nvPr/>
        </p:nvGrpSpPr>
        <p:grpSpPr>
          <a:xfrm>
            <a:off x="5815965" y="4511040"/>
            <a:ext cx="5842635" cy="782955"/>
            <a:chOff x="5815965" y="4511040"/>
            <a:chExt cx="5842635" cy="782955"/>
          </a:xfrm>
        </p:grpSpPr>
        <p:sp>
          <p:nvSpPr>
            <p:cNvPr id="45" name="Rectangle 45"/>
            <p:cNvSpPr/>
            <p:nvPr/>
          </p:nvSpPr>
          <p:spPr>
            <a:xfrm>
              <a:off x="5815965" y="451104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020753" y="4802507"/>
              <a:ext cx="200023" cy="200023"/>
              <a:chOff x="6020753" y="4802507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020753" y="48025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154103" y="48691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322695" y="4659630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先画基本流，有时间再画子流程。给对象发消息就是在给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它分配职责，别忘了职责名用 // 开头。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31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473" y="407194"/>
              <a:ext cx="1852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课堂练习与自测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练习讲评：互相检查这五件事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546192" cy="308039"/>
            <a:chOff x="525399" y="1550194"/>
            <a:chExt cx="554619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546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做完与同学对照，按下面五个问题逐条过一遍自己的模型。</a:t>
              </a:r>
            </a:p>
          </p:txBody>
        </p:sp>
      </p:grpSp>
      <p:grpSp>
        <p:nvGrpSpPr>
          <p:cNvPr id="30" name="c1-table-1"/>
          <p:cNvGrpSpPr/>
          <p:nvPr/>
        </p:nvGrpSpPr>
        <p:grpSpPr>
          <a:xfrm>
            <a:off x="533400" y="1967865"/>
            <a:ext cx="11125200" cy="2692718"/>
            <a:chOff x="533400" y="1967865"/>
            <a:chExt cx="11125200" cy="269271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74071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0331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常见毛病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55127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交互图是不是真的走完了用例的事件流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59006" y="255127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模型里的流程和用例规格说明对不上，或悄悄增删了行为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00085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各个构造型的行为是否守规矩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59006" y="3000851"/>
              <a:ext cx="31291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直接与实体类通信，跳过了边界类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44947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控制类是不是只管用例流程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759006" y="344947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控制类顺手改了别人的数据，变成万能类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89810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每条关联是否都有链支撑，是否都标了多重性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59006" y="389810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关联凭感觉画，没有交互图依据，也没写多重性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34673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角色名是否分配了，是否准确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59006" y="4346734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自关联两端分不清，或者角色名与关联名重复使用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967865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64642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llout-2"/>
          <p:cNvGrpSpPr/>
          <p:nvPr/>
        </p:nvGrpSpPr>
        <p:grpSpPr>
          <a:xfrm>
            <a:off x="533400" y="4851082"/>
            <a:ext cx="11125200" cy="1511618"/>
            <a:chOff x="533400" y="4851082"/>
            <a:chExt cx="11125200" cy="1511618"/>
          </a:xfrm>
        </p:grpSpPr>
        <p:sp>
          <p:nvSpPr>
            <p:cNvPr id="31" name="Rectangle 31"/>
            <p:cNvSpPr/>
            <p:nvPr/>
          </p:nvSpPr>
          <p:spPr>
            <a:xfrm>
              <a:off x="533400" y="4851082"/>
              <a:ext cx="11125200" cy="1511618"/>
            </a:xfrm>
            <a:prstGeom prst="roundRect">
              <a:avLst>
                <a:gd name="adj" fmla="val 756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26129" y="5502711"/>
              <a:ext cx="224134" cy="192560"/>
              <a:chOff x="726129" y="5502711"/>
              <a:chExt cx="224134" cy="19256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38200" y="557307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26129" y="550271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565086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501640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还要专门看一眼：有没有哪个类在操作不属于自己的属性。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16062" cy="909257"/>
            <a:chOff x="520446" y="342900"/>
            <a:chExt cx="20160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31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473" y="407194"/>
              <a:ext cx="1852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课堂练习与自测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自测（上）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3206496" cy="308039"/>
            <a:chOff x="525399" y="1550194"/>
            <a:chExt cx="320649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32064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先盖住答案自己说一遍，再对照。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67865"/>
            <a:ext cx="5410200" cy="1651635"/>
            <a:chOff x="533400" y="1967865"/>
            <a:chExt cx="5410200" cy="165163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30437" y="221313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55460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用例分析由谁执行？做几次？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2889885"/>
              <a:ext cx="4806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由设计人员（Designer）执行；每个迭代中，对每个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要开发的用例实现各做一次。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810000"/>
            <a:ext cx="5410200" cy="1937385"/>
            <a:chOff x="533400" y="3810000"/>
            <a:chExt cx="5410200" cy="1937385"/>
          </a:xfrm>
        </p:grpSpPr>
        <p:sp>
          <p:nvSpPr>
            <p:cNvPr id="15" name="Rectangle 15"/>
            <p:cNvSpPr/>
            <p:nvPr/>
          </p:nvSpPr>
          <p:spPr>
            <a:xfrm>
              <a:off x="533400" y="3810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42950" y="4019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0437" y="4055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330" y="439674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初步识别边界类和控制类时，各有什么经验规则？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473202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每一对“Actor × 用例”先设一个边界类；每个用例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先设一个控制类，分析深入后复杂用例的控制类可以分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裂。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67865"/>
            <a:ext cx="5410200" cy="1651635"/>
            <a:chOff x="6248400" y="1967865"/>
            <a:chExt cx="5410200" cy="1651635"/>
          </a:xfrm>
        </p:grpSpPr>
        <p:sp>
          <p:nvSpPr>
            <p:cNvPr id="21" name="Rectangle 21"/>
            <p:cNvSpPr/>
            <p:nvPr/>
          </p:nvSpPr>
          <p:spPr>
            <a:xfrm>
              <a:off x="6248400" y="1967865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57950" y="217741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45437" y="221313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50330" y="255460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三种分析类构造型分别隔离系统里的哪一类变化？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50330" y="2889885"/>
              <a:ext cx="4787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边界类隔离系统与 Actor、外部系统之间的边界；控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制类隔离用例的控制逻辑；实体类隔离系统使用的信息。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810000"/>
            <a:ext cx="5410200" cy="1937385"/>
            <a:chOff x="6248400" y="3810000"/>
            <a:chExt cx="5410200" cy="1937385"/>
          </a:xfrm>
        </p:grpSpPr>
        <p:sp>
          <p:nvSpPr>
            <p:cNvPr id="27" name="Rectangle 27"/>
            <p:cNvSpPr/>
            <p:nvPr/>
          </p:nvSpPr>
          <p:spPr>
            <a:xfrm>
              <a:off x="6248400" y="3810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57950" y="4019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45437" y="4055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50330" y="439674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什么样的用例可以没有控制类？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50330" y="47320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只对存储的信息做简单存取的用例，由边界类与实体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类配合就能完成。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16062" cy="909257"/>
            <a:chOff x="520446" y="342900"/>
            <a:chExt cx="20160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031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473" y="407194"/>
              <a:ext cx="1852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 · 课堂练习与自测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自测（下）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51635"/>
            <a:chOff x="533400" y="1524000"/>
            <a:chExt cx="5410200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交互图上的一条消息，在类图上对应什么？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对应接收方类的一项职责，写成该类的分析操作，本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课程约定操作名前加 //。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66135"/>
            <a:ext cx="5410200" cy="1937385"/>
            <a:chOff x="533400" y="33661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3661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9528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什么时候用聚合而不是关联？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28815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部分离开整体就不完整时用聚合，空心菱形画在整体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一端；能独立存在只是经常连着，用关联；拿不准用关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651635"/>
            <a:chOff x="6248400" y="1524000"/>
            <a:chExt cx="5410200" cy="165163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多重性回答哪两个问题？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615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这条关联是必须的还是可选的（下界大于 0 就是必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须）；一个实例最少和最多能连到另一端多少个实例。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366135"/>
            <a:ext cx="5410200" cy="1937385"/>
            <a:chOff x="6248400" y="336613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3661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395287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同一个用例为什么要画不止一张交互图？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28815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一张图只画得下一条流程。要画到参与对象的全部操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作都被用到过，基本流之外还要画例外流和重要的可选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5844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答不上第 2、3 题的，回到第四部分那张 VOPC 关系表重看一遍。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bullets-1"/>
          <p:cNvGrpSpPr/>
          <p:nvPr/>
        </p:nvGrpSpPr>
        <p:grpSpPr>
          <a:xfrm>
            <a:off x="533400" y="1533525"/>
            <a:ext cx="5322062" cy="2111978"/>
            <a:chOff x="533400" y="1533525"/>
            <a:chExt cx="5322062" cy="2111978"/>
          </a:xfrm>
        </p:grpSpPr>
        <p:sp>
          <p:nvSpPr>
            <p:cNvPr id="7" name="Ellipse 7"/>
            <p:cNvSpPr/>
            <p:nvPr/>
          </p:nvSpPr>
          <p:spPr>
            <a:xfrm>
              <a:off x="533400" y="1533525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5307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03148" y="1545431"/>
              <a:ext cx="50523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用例分析是分析设计工作流里的一个活动，由设计人员对每个用例实现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做一次，输入是用例、补充规约、术语表和软件架构文档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069782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5307" y="21054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3148" y="2080736"/>
              <a:ext cx="50523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七个步骤：补充用例描述，找类，分配行为，描述职责，描述属性与关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联，限定分析机制，统一分析类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06040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5307" y="264166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148" y="2616994"/>
              <a:ext cx="50523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分析类分边界、控制、实体三种构造型，各自圈住一类容易变的东西，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构造型到设计阶段消失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141345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5307" y="317696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3148" y="3153251"/>
              <a:ext cx="500354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交互图上的每条消息都是一次职责分配，接收方得到一条以 // 开头的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分析操作</a:t>
              </a:r>
            </a:p>
          </p:txBody>
        </p:sp>
      </p:grpSp>
      <p:grpSp>
        <p:nvGrpSpPr>
          <p:cNvPr id="34" name="c1-kv-2"/>
          <p:cNvGrpSpPr/>
          <p:nvPr/>
        </p:nvGrpSpPr>
        <p:grpSpPr>
          <a:xfrm>
            <a:off x="526923" y="3780949"/>
            <a:ext cx="5632895" cy="1745741"/>
            <a:chOff x="526923" y="3780949"/>
            <a:chExt cx="5632895" cy="1745741"/>
          </a:xfrm>
        </p:grpSpPr>
        <p:sp>
          <p:nvSpPr>
            <p:cNvPr id="20" name="TextBox 20"/>
            <p:cNvSpPr txBox="1"/>
            <p:nvPr/>
          </p:nvSpPr>
          <p:spPr>
            <a:xfrm>
              <a:off x="526923" y="378094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21346" y="3780949"/>
              <a:ext cx="17523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Use-Case Realization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0528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923" y="41552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分析类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21346" y="4155281"/>
              <a:ext cx="36502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Analysis Class：boundary / control / entity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42722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923" y="452866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参与类视图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21346" y="4528661"/>
              <a:ext cx="30763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View of Participating Classes，VOPC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8006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6923" y="49029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分析机制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21346" y="4902994"/>
              <a:ext cx="1626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Analysis Mechanism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51749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6923" y="527732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职责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21346" y="5277326"/>
              <a:ext cx="11721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Responsibility</a:t>
              </a:r>
            </a:p>
          </p:txBody>
        </p:sp>
      </p:grpSp>
      <p:grpSp>
        <p:nvGrpSpPr>
          <p:cNvPr id="44" name="c2-bullets-1"/>
          <p:cNvGrpSpPr/>
          <p:nvPr/>
        </p:nvGrpSpPr>
        <p:grpSpPr>
          <a:xfrm>
            <a:off x="6464618" y="1533525"/>
            <a:ext cx="4997894" cy="1332833"/>
            <a:chOff x="6464618" y="1533525"/>
            <a:chExt cx="4997894" cy="1332833"/>
          </a:xfrm>
        </p:grpSpPr>
        <p:sp>
          <p:nvSpPr>
            <p:cNvPr id="35" name="Ellipse 35"/>
            <p:cNvSpPr/>
            <p:nvPr/>
          </p:nvSpPr>
          <p:spPr>
            <a:xfrm>
              <a:off x="6464618" y="1533525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16524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35318" y="1545431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协作图上的每条链都要在类图上有一条关联撑着，关联要补角色名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和多重性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64618" y="2069782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16524" y="21054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35318" y="208073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分析机制是技术细节的占位符，分析阶段只需把类挂到机制上并估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出特征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64618" y="2606040"/>
              <a:ext cx="180975" cy="18097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16524" y="264166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35318" y="261699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收尾时跨用例统一分析类，再按两组检查点自查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6464618" y="2981325"/>
            <a:ext cx="5193982" cy="2200275"/>
            <a:chOff x="6464618" y="2981325"/>
            <a:chExt cx="5193982" cy="2200275"/>
          </a:xfrm>
        </p:grpSpPr>
        <p:sp>
          <p:nvSpPr>
            <p:cNvPr id="45" name="Rectangle 45"/>
            <p:cNvSpPr/>
            <p:nvPr/>
          </p:nvSpPr>
          <p:spPr>
            <a:xfrm>
              <a:off x="6464618" y="2981325"/>
              <a:ext cx="5193982" cy="2200275"/>
            </a:xfrm>
            <a:prstGeom prst="roundRect">
              <a:avLst>
                <a:gd name="adj" fmla="val 606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45592" y="316230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15862" y="319516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三个容易记混的点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655118" y="3554730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10566" y="3501866"/>
              <a:ext cx="432892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“每对 Actor 与用例一个边界类”“每个用例一个控制类”都只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</a:t>
              </a: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起步建议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，不是硬规定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655118" y="4082415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10566" y="4029551"/>
              <a:ext cx="44752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多重性的下界大于 0 才表示关联是必须的，0..* 与 1..* 差别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就在这里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655118" y="4610100"/>
              <a:ext cx="57150" cy="571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810566" y="455818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构造型只活在分析阶段，用例设计会把它们换成具体的设计元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</p:grpSp>
      <p:grpSp>
        <p:nvGrpSpPr>
          <p:cNvPr id="60" name="c2-callout-3"/>
          <p:cNvGrpSpPr/>
          <p:nvPr/>
        </p:nvGrpSpPr>
        <p:grpSpPr>
          <a:xfrm>
            <a:off x="6464618" y="5345430"/>
            <a:ext cx="5193982" cy="937260"/>
            <a:chOff x="6464618" y="5345430"/>
            <a:chExt cx="5193982" cy="937260"/>
          </a:xfrm>
        </p:grpSpPr>
        <p:sp>
          <p:nvSpPr>
            <p:cNvPr id="55" name="Rectangle 55"/>
            <p:cNvSpPr/>
            <p:nvPr/>
          </p:nvSpPr>
          <p:spPr>
            <a:xfrm>
              <a:off x="6464618" y="5345430"/>
              <a:ext cx="5193982" cy="937260"/>
            </a:xfrm>
            <a:prstGeom prst="roundRect">
              <a:avLst>
                <a:gd name="adj" fmla="val 12195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669405" y="5714050"/>
              <a:ext cx="200023" cy="200023"/>
              <a:chOff x="6669405" y="5714050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69405" y="57140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802755" y="57807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972491" y="5490686"/>
              <a:ext cx="423951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判断一次用例分析做完了没有：用例的每一句行为都能在某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张交互图上找到，图上的每条消息都能在类图上找到对应的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409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用例分析（DEV475）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uc_analysis">
  <a:themeElements>
    <a:clrScheme name="se_uc_analys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uc_analysis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uc_analys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2026-09-23T05:16:56Z</dcterms:created>
  <dcterms:modified xsi:type="dcterms:W3CDTF">2026-09-23T05:16:56Z</dcterms:modified>
  <cp:category/>
  <cp:contentStatus/>
</cp:coreProperties>
</file>