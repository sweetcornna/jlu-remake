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e_ch09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e_ch09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5a7946326dd3ded0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d35703e22d1fdb16.png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d2b5cf20a6b41350.png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126736" cy="3437763"/>
            <a:chOff x="666750" y="1619250"/>
            <a:chExt cx="5126736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593532" cy="3429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4010" y="1718310"/>
              <a:ext cx="13380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软件工程 · 第九章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512673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面向对象方法学引论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553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从对象、类、继承到 UML 九种图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面向对象方法学的优点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对象与类的基本概念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7563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建模原则与 UML 词汇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用例图、类图与动态图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131050" cy="205359"/>
            <a:chOff x="680466" y="6192202"/>
            <a:chExt cx="4131050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1310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自学复习版｜据吉林大学《软件工程》第九章课件整理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面向对象方法学概述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四要素定义、六条优点、喷泉模型式的开发过程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面向对象的概念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对象、类、消息、封装、继承、多态、重载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面向对象建模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模型是什么、为什么建模、建模的四条原则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4350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与用例图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5060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UML 词汇、九种图、用例图与用例规约的写法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类图与对象图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关联、聚合、组合、泛化、依赖、细化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动态图与扩展机制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48118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顺序图、协作图、状态图、活动图、构件图、配置图、5 个视图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7114222" y="1524000"/>
            <a:ext cx="4544378" cy="4421505"/>
            <a:chOff x="7114222" y="1524000"/>
            <a:chExt cx="4544378" cy="442150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21505"/>
            </a:xfrm>
            <a:prstGeom prst="roundRect">
              <a:avLst>
                <a:gd name="adj" fmla="val 30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548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82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默写 Coad 与 Yourdon 的面向对象定义，并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解释四个要素各自解决什么问题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区分封装、继承、多态、重载，并能各举一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个代码级的例子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说出建模的四条原则，判断一个项目该建到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什么精度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596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画出用例图并按标准模板写出含 If / For /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While 的用例规约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画出类图并正确使用关联、聚合、组合、泛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化、依赖、细化六种关系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367588" y="527875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525702" y="521589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为一个对象画出状态图，为一次交互画出顺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序图并改写成协作图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398264" cy="2997517"/>
            <a:chOff x="667512" y="1835468"/>
            <a:chExt cx="4398264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982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面向对象方法学概述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先看清它和结构化方法差在哪里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面向对象的四要素定义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六条优点的成因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开发过程与喷泉模型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46608" cy="909257"/>
            <a:chOff x="520446" y="342900"/>
            <a:chExt cx="614660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面向对象方法学概述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4660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 = 对象 + 类 + 继承 + 消息通信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014919" cy="264033"/>
            <a:chOff x="526542" y="1545907"/>
            <a:chExt cx="601491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0149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Coad 和 Yourdon 用一个等式给出定义，四个要素缺一个都不算面向对象。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28812"/>
            <a:ext cx="5842635" cy="1413510"/>
            <a:chOff x="533400" y="1928812"/>
            <a:chExt cx="5842635" cy="141351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842635" cy="1413510"/>
            </a:xfrm>
            <a:prstGeom prst="roundRect">
              <a:avLst>
                <a:gd name="adj" fmla="val 94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14681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26719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面向对象（Object-Oriented）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39392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 = 对象 + 类 + 继承 + 通过消息进行通信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2475" y="2773204"/>
              <a:ext cx="513207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一个面向对象程序的每一成份都应是对象，计算通过建立新对象和对象之间的通信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来完成。</a:t>
              </a:r>
            </a:p>
          </p:txBody>
        </p:sp>
      </p:grpSp>
      <p:grpSp>
        <p:nvGrpSpPr>
          <p:cNvPr id="30" name="c1-bullets-2"/>
          <p:cNvGrpSpPr/>
          <p:nvPr/>
        </p:nvGrpSpPr>
        <p:grpSpPr>
          <a:xfrm>
            <a:off x="526542" y="3534727"/>
            <a:ext cx="5616321" cy="2021396"/>
            <a:chOff x="526542" y="3534727"/>
            <a:chExt cx="5616321" cy="2021396"/>
          </a:xfrm>
        </p:grpSpPr>
        <p:sp>
          <p:nvSpPr>
            <p:cNvPr id="17" name="TextBox 17"/>
            <p:cNvSpPr txBox="1"/>
            <p:nvPr/>
          </p:nvSpPr>
          <p:spPr>
            <a:xfrm>
              <a:off x="526542" y="3534727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这个定义的四个要点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3839527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89078" y="387791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4197" y="3851910"/>
              <a:ext cx="5328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客观世界由对象组成，任何事物都是对象，复杂对象由较简单的对象组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合而成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33400" y="440531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89078" y="444369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4197" y="4417695"/>
              <a:ext cx="51932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把所有对象划分成类（class），每个类定义一组数据和一组方法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33400" y="471392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89078" y="475230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14197" y="4726305"/>
              <a:ext cx="5328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按子类（派生类）与父类（基类）的关系把类组成层次结构，称为类等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级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33400" y="527970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89078" y="531809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4197" y="529209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对象彼此之间仅能通过传递消息互相联系</a:t>
              </a:r>
            </a:p>
          </p:txBody>
        </p:sp>
      </p:grpSp>
      <p:grpSp>
        <p:nvGrpSpPr>
          <p:cNvPr id="57" name="c2-tree-1"/>
          <p:cNvGrpSpPr/>
          <p:nvPr/>
        </p:nvGrpSpPr>
        <p:grpSpPr>
          <a:xfrm>
            <a:off x="6680835" y="2132648"/>
            <a:ext cx="4977765" cy="2609850"/>
            <a:chOff x="6680835" y="2132648"/>
            <a:chExt cx="4977765" cy="2609850"/>
          </a:xfrm>
        </p:grpSpPr>
        <p:sp>
          <p:nvSpPr>
            <p:cNvPr id="31" name="Freeform 31"/>
            <p:cNvSpPr/>
            <p:nvPr/>
          </p:nvSpPr>
          <p:spPr>
            <a:xfrm>
              <a:off x="9196388" y="2306002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196388" y="3060382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196388" y="3814762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9196388" y="4569142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7871460" y="2306002"/>
              <a:ext cx="419100" cy="1131570"/>
            </a:xfrm>
            <a:custGeom>
              <a:avLst/>
              <a:gdLst/>
              <a:ahLst/>
              <a:cxnLst/>
              <a:rect l="l" t="t" r="r" b="b"/>
              <a:pathLst>
                <a:path w="419100" h="1131570">
                  <a:moveTo>
                    <a:pt x="0" y="1131570"/>
                  </a:moveTo>
                  <a:lnTo>
                    <a:pt x="209550" y="113157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7871460" y="3060382"/>
              <a:ext cx="419100" cy="377190"/>
            </a:xfrm>
            <a:custGeom>
              <a:avLst/>
              <a:gdLst/>
              <a:ahLst/>
              <a:cxnLst/>
              <a:rect l="l" t="t" r="r" b="b"/>
              <a:pathLst>
                <a:path w="419100" h="377190">
                  <a:moveTo>
                    <a:pt x="0" y="377190"/>
                  </a:moveTo>
                  <a:lnTo>
                    <a:pt x="209550" y="37719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871460" y="3437572"/>
              <a:ext cx="419100" cy="377190"/>
            </a:xfrm>
            <a:custGeom>
              <a:avLst/>
              <a:gdLst/>
              <a:ahLst/>
              <a:cxnLst/>
              <a:rect l="l" t="t" r="r" b="b"/>
              <a:pathLst>
                <a:path w="419100" h="377190">
                  <a:moveTo>
                    <a:pt x="0" y="0"/>
                  </a:moveTo>
                  <a:lnTo>
                    <a:pt x="209550" y="0"/>
                  </a:lnTo>
                  <a:lnTo>
                    <a:pt x="209550" y="377190"/>
                  </a:lnTo>
                  <a:lnTo>
                    <a:pt x="419100" y="37719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871460" y="3437572"/>
              <a:ext cx="419100" cy="1131570"/>
            </a:xfrm>
            <a:custGeom>
              <a:avLst/>
              <a:gdLst/>
              <a:ahLst/>
              <a:cxnLst/>
              <a:rect l="l" t="t" r="r" b="b"/>
              <a:pathLst>
                <a:path w="419100" h="1131570">
                  <a:moveTo>
                    <a:pt x="0" y="0"/>
                  </a:moveTo>
                  <a:lnTo>
                    <a:pt x="209550" y="0"/>
                  </a:lnTo>
                  <a:lnTo>
                    <a:pt x="209550" y="1131570"/>
                  </a:lnTo>
                  <a:lnTo>
                    <a:pt x="419100" y="113157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9615488" y="2132648"/>
              <a:ext cx="2043112" cy="346710"/>
            </a:xfrm>
            <a:prstGeom prst="roundRect">
              <a:avLst>
                <a:gd name="adj" fmla="val 27473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8290560" y="2132648"/>
              <a:ext cx="905828" cy="346710"/>
            </a:xfrm>
            <a:prstGeom prst="roundRect">
              <a:avLst>
                <a:gd name="adj" fmla="val 27473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615488" y="2887028"/>
              <a:ext cx="2043112" cy="346710"/>
            </a:xfrm>
            <a:prstGeom prst="roundRect">
              <a:avLst>
                <a:gd name="adj" fmla="val 27473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290560" y="2887028"/>
              <a:ext cx="905828" cy="346710"/>
            </a:xfrm>
            <a:prstGeom prst="roundRect">
              <a:avLst>
                <a:gd name="adj" fmla="val 27473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9615488" y="3641408"/>
              <a:ext cx="2043112" cy="346710"/>
            </a:xfrm>
            <a:prstGeom prst="roundRect">
              <a:avLst>
                <a:gd name="adj" fmla="val 27473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8290560" y="3641408"/>
              <a:ext cx="905828" cy="346710"/>
            </a:xfrm>
            <a:prstGeom prst="roundRect">
              <a:avLst>
                <a:gd name="adj" fmla="val 27473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9615488" y="4395788"/>
              <a:ext cx="2043112" cy="346710"/>
            </a:xfrm>
            <a:prstGeom prst="roundRect">
              <a:avLst>
                <a:gd name="adj" fmla="val 27473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8290560" y="4395788"/>
              <a:ext cx="905828" cy="346710"/>
            </a:xfrm>
            <a:prstGeom prst="roundRect">
              <a:avLst>
                <a:gd name="adj" fmla="val 27473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680835" y="3264218"/>
              <a:ext cx="1189672" cy="346710"/>
            </a:xfrm>
            <a:prstGeom prst="roundRect">
              <a:avLst>
                <a:gd name="adj" fmla="val 2747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705022" y="222742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数据与操作的统一体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380095" y="222742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对象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705022" y="298180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同类对象的共同描述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80095" y="298180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705022" y="373618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类等级中共享性质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380095" y="37361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继承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705022" y="449056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对象间唯一的联系方式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380095" y="449056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消息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770370" y="335899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面向对象</a:t>
              </a:r>
            </a:p>
          </p:txBody>
        </p:sp>
      </p:grpSp>
      <p:grpSp>
        <p:nvGrpSpPr>
          <p:cNvPr id="63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8" name="Rectangle 5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892" y="6028373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只用对象不用类，或只用类不用继承，都只是“基于对象”，不是面向对象。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面向对象方法学概述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结构化方法以算法为核心，面向对象方法以对象为核心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056359" cy="308039"/>
            <a:chOff x="525399" y="1550194"/>
            <a:chExt cx="705635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05635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两种方法学对“系统由什么构成”的回答不同，后面的一切差别都由此而来。</a:t>
              </a:r>
            </a:p>
          </p:txBody>
        </p:sp>
      </p:grpSp>
      <p:grpSp>
        <p:nvGrpSpPr>
          <p:cNvPr id="39" name="c1-table-1"/>
          <p:cNvGrpSpPr/>
          <p:nvPr/>
        </p:nvGrpSpPr>
        <p:grpSpPr>
          <a:xfrm>
            <a:off x="533400" y="1967865"/>
            <a:ext cx="11125200" cy="2692718"/>
            <a:chOff x="533400" y="1967865"/>
            <a:chExt cx="11125200" cy="269271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879130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252022" y="210264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结构化方法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118740" y="210264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面向对象方法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55127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分解系统的依据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61626" y="255127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功能（做什么）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32586" y="255127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问题域中的实体（是什么）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300085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数据与操作的关系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861626" y="300085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分离，数据在模块之外流动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732586" y="300085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封装在一起构成对象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344947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解空间与问题空间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861626" y="3449479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结构不一致，需要人脑翻译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732586" y="344947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结构一致，可直接对应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389810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需求变化的影响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861626" y="38981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功能变则整体结构改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34288" y="3771900"/>
              <a:ext cx="401478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732586" y="38981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实体稳定则结构稳定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207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23" y="434673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重用的单位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861626" y="434673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标准函数库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34288" y="4221480"/>
              <a:ext cx="401478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732586" y="434673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类与对象，可实例化、可继承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1967865"/>
              <a:ext cx="1112520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3749040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620000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c1-callout-2"/>
          <p:cNvGrpSpPr/>
          <p:nvPr/>
        </p:nvGrpSpPr>
        <p:grpSpPr>
          <a:xfrm>
            <a:off x="533400" y="4851082"/>
            <a:ext cx="11125200" cy="533400"/>
            <a:chOff x="533400" y="4851082"/>
            <a:chExt cx="11125200" cy="533400"/>
          </a:xfrm>
        </p:grpSpPr>
        <p:sp>
          <p:nvSpPr>
            <p:cNvPr id="40" name="Rectangle 40"/>
            <p:cNvSpPr/>
            <p:nvPr/>
          </p:nvSpPr>
          <p:spPr>
            <a:xfrm>
              <a:off x="533400" y="4851082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5017770"/>
              <a:ext cx="200026" cy="200025"/>
              <a:chOff x="738188" y="5017770"/>
              <a:chExt cx="200026" cy="20002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501777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77926" y="506222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12642" y="517334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130" y="5013008"/>
              <a:ext cx="86982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标准函数缺乏柔性：即使是功能内聚的模块也必须运行在特定的数据结构上，不是自含和独立的。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面向对象方法学概述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优点一：与人类习惯的思维方法一致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880860" cy="293370"/>
            <a:chOff x="525780" y="1548765"/>
            <a:chExt cx="688086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8808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对象是对现实世界实体的抽象，因此解空间的结构可以和问题空间保持一致。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54530"/>
            <a:ext cx="5410200" cy="1268730"/>
            <a:chOff x="533400" y="1954530"/>
            <a:chExt cx="5410200" cy="1268730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410200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9620" y="215265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1058" y="218694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传统方法的困难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19681" y="218741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解空间与问题空间不一致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381" y="253126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传统技术忽略了数据和操作之间的内在联系，软件结构与问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题结构对不上，读代码的人要在脑子里做一次翻译。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403282"/>
            <a:ext cx="5410200" cy="1249680"/>
            <a:chOff x="533400" y="3403282"/>
            <a:chExt cx="5410200" cy="1249680"/>
          </a:xfrm>
        </p:grpSpPr>
        <p:sp>
          <p:nvSpPr>
            <p:cNvPr id="16" name="Rectangle 16"/>
            <p:cNvSpPr/>
            <p:nvPr/>
          </p:nvSpPr>
          <p:spPr>
            <a:xfrm>
              <a:off x="533400" y="3403282"/>
              <a:ext cx="5410200" cy="1249680"/>
            </a:xfrm>
            <a:prstGeom prst="roundRect">
              <a:avLst>
                <a:gd name="adj" fmla="val 1067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536632"/>
              <a:ext cx="47625" cy="98298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2381" y="362569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面向对象怎么解决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381" y="3960971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以对象为核心，对象是数据和操作的统一体，是对现实世界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实体的正确抽象，系统结构直接照搬问题结构。</a:t>
              </a:r>
            </a:p>
          </p:txBody>
        </p:sp>
      </p:grpSp>
      <p:grpSp>
        <p:nvGrpSpPr>
          <p:cNvPr id="27" name="c1-card-3"/>
          <p:cNvGrpSpPr/>
          <p:nvPr/>
        </p:nvGrpSpPr>
        <p:grpSpPr>
          <a:xfrm>
            <a:off x="533400" y="4832985"/>
            <a:ext cx="5410200" cy="1268730"/>
            <a:chOff x="533400" y="4832985"/>
            <a:chExt cx="5410200" cy="1268730"/>
          </a:xfrm>
        </p:grpSpPr>
        <p:sp>
          <p:nvSpPr>
            <p:cNvPr id="21" name="Rectangle 21"/>
            <p:cNvSpPr/>
            <p:nvPr/>
          </p:nvSpPr>
          <p:spPr>
            <a:xfrm>
              <a:off x="533400" y="4832985"/>
              <a:ext cx="5410200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4966335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9620" y="50311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61060" y="50653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52931" y="506682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图书馆借阅系统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381" y="5409724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面向对象方法直接把图书、借阅者、借阅记录做成类。规则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改成“可续借两次”时，只改借阅记录类。</a:t>
              </a:r>
            </a:p>
          </p:txBody>
        </p:sp>
      </p:grpSp>
      <p:grpSp>
        <p:nvGrpSpPr>
          <p:cNvPr id="39" name="c2-kv-1"/>
          <p:cNvGrpSpPr/>
          <p:nvPr/>
        </p:nvGrpSpPr>
        <p:grpSpPr>
          <a:xfrm>
            <a:off x="6241161" y="1977866"/>
            <a:ext cx="5417439" cy="1795082"/>
            <a:chOff x="6241161" y="1977866"/>
            <a:chExt cx="5417439" cy="1795082"/>
          </a:xfrm>
        </p:grpSpPr>
        <p:sp>
          <p:nvSpPr>
            <p:cNvPr id="28" name="TextBox 28"/>
            <p:cNvSpPr txBox="1"/>
            <p:nvPr/>
          </p:nvSpPr>
          <p:spPr>
            <a:xfrm>
              <a:off x="6241161" y="197786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抽象机制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240334" y="1977866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用户可以沿用习惯的抽象思维工具来处理复杂问题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48400" y="22812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241161" y="239410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归纳思维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40334" y="2394109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对象分类过程支持从特殊到一般的归纳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48400" y="269748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241161" y="281035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演绎思维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240334" y="2810351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类等级带来的继承支持从一般到特殊的演绎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248400" y="31137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241161" y="322659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渐进深化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40334" y="3226594"/>
              <a:ext cx="416229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先搭出抽象类构成的框架，认识深入后再派生出更具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体的类</a:t>
              </a:r>
            </a:p>
          </p:txBody>
        </p:sp>
      </p:grpSp>
      <p:grpSp>
        <p:nvGrpSpPr>
          <p:cNvPr id="60" name="c2-compare-2"/>
          <p:cNvGrpSpPr/>
          <p:nvPr/>
        </p:nvGrpSpPr>
        <p:grpSpPr>
          <a:xfrm>
            <a:off x="6248400" y="3897630"/>
            <a:ext cx="5410200" cy="2205038"/>
            <a:chOff x="6248400" y="3897630"/>
            <a:chExt cx="5410200" cy="2205038"/>
          </a:xfrm>
        </p:grpSpPr>
        <p:sp>
          <p:nvSpPr>
            <p:cNvPr id="40" name="Rectangle 40"/>
            <p:cNvSpPr/>
            <p:nvPr/>
          </p:nvSpPr>
          <p:spPr>
            <a:xfrm>
              <a:off x="6248400" y="3897630"/>
              <a:ext cx="2533650" cy="2205038"/>
            </a:xfrm>
            <a:prstGeom prst="roundRect">
              <a:avLst>
                <a:gd name="adj" fmla="val 60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57925" y="4030980"/>
              <a:ext cx="47625" cy="1938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77381" y="411908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归纳：特殊到一般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492240" y="451485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648831" y="4454366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先看到圆、方、三角都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要画出来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492240" y="510444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648831" y="5043964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抽出共同点，定义出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Shape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492240" y="569309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648831" y="5633561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对应的是对象分类过程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9124950" y="3897630"/>
              <a:ext cx="2533650" cy="2205038"/>
            </a:xfrm>
            <a:prstGeom prst="roundRect">
              <a:avLst>
                <a:gd name="adj" fmla="val 60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9134475" y="4030980"/>
              <a:ext cx="47625" cy="19383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353931" y="411908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演绎：一般到特殊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9368790" y="451485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525381" y="4454366"/>
              <a:ext cx="15599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先有抽象类 Shape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9368790" y="483298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525381" y="4772501"/>
              <a:ext cx="147523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再派生出 Circle、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Square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9368790" y="542163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525381" y="5362099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对应的是类等级与继承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8791575" y="483774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861915" y="493395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面向对象方法学概述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优点二到五：稳定、可重用、适合大型产品、易维护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374511" cy="264033"/>
            <a:chOff x="526542" y="1545907"/>
            <a:chExt cx="6374511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四条优点都可以回溯到同一个原因，即对象把数据和操作封装成了自含的单元。</a:t>
              </a:r>
            </a:p>
          </p:txBody>
        </p:sp>
      </p:grpSp>
      <p:grpSp>
        <p:nvGrpSpPr>
          <p:cNvPr id="33" name="c1-table-1"/>
          <p:cNvGrpSpPr/>
          <p:nvPr/>
        </p:nvGrpSpPr>
        <p:grpSpPr>
          <a:xfrm>
            <a:off x="533400" y="1928812"/>
            <a:ext cx="11125200" cy="2000250"/>
            <a:chOff x="533400" y="1928812"/>
            <a:chExt cx="11125200" cy="200025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1112520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77988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53331" y="20502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直接原因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165628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表现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0555" y="24503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稳定性好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632710" y="245030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以问题域中相对稳定的实体为中心构造系统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082790" y="2450306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功能需求变化时改动局限在少数类内部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241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28912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0555" y="285035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可重用性好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632710" y="2850356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对象自含、封装、信息隐藏，独立性强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082790" y="285035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通过实例化和继承两种方式灵活重用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12420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0555" y="325040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易开发大型软件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32710" y="325040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每个对象像一个微型程序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82790" y="3250406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大产品分解成一系列本质上相互独立的小产品，便于管理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5242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529012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0555" y="365045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可维护性好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632710" y="3650456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稳定 + 封装 + 继承 + 多态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82790" y="3650456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容易修改、容易理解、易于测试和调试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928812"/>
              <a:ext cx="1112520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2530792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980872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4" name="c1-compare-2"/>
          <p:cNvGrpSpPr/>
          <p:nvPr/>
        </p:nvGrpSpPr>
        <p:grpSpPr>
          <a:xfrm>
            <a:off x="533400" y="4098608"/>
            <a:ext cx="11125200" cy="1524000"/>
            <a:chOff x="533400" y="4098608"/>
            <a:chExt cx="11125200" cy="1524000"/>
          </a:xfrm>
        </p:grpSpPr>
        <p:sp>
          <p:nvSpPr>
            <p:cNvPr id="34" name="Rectangle 34"/>
            <p:cNvSpPr/>
            <p:nvPr/>
          </p:nvSpPr>
          <p:spPr>
            <a:xfrm>
              <a:off x="533400" y="4098608"/>
              <a:ext cx="5391150" cy="1524000"/>
            </a:xfrm>
            <a:prstGeom prst="roundRect">
              <a:avLst>
                <a:gd name="adj" fmla="val 87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42925" y="4231958"/>
              <a:ext cx="47625" cy="12573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1332" y="430815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传统重用：标准函数库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66762" y="468058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22782" y="462438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函数缺乏柔性，必须运行在约定好的数据结构上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66762" y="498157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22782" y="492537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功能内聚的模块也不是自含和独立的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66762" y="528161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782" y="522541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换一种数据结构就得重写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67450" y="4098608"/>
              <a:ext cx="5391150" cy="1524000"/>
            </a:xfrm>
            <a:prstGeom prst="roundRect">
              <a:avLst>
                <a:gd name="adj" fmla="val 87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76975" y="4231958"/>
              <a:ext cx="47625" cy="12573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485382" y="430815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面向对象重用：类与对象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500812" y="468058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656832" y="462438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对象是数据与操作的统一体，自含性强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500812" y="498157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56832" y="492537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封装和信息隐藏把内部实现与外界隔离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500812" y="528161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656832" y="522541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实例化与继承两种方式都能重用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5934075" y="469868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004415" y="4794885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60" name="c1-callout-3"/>
          <p:cNvGrpSpPr/>
          <p:nvPr/>
        </p:nvGrpSpPr>
        <p:grpSpPr>
          <a:xfrm>
            <a:off x="533400" y="5793105"/>
            <a:ext cx="11125200" cy="481012"/>
            <a:chOff x="533400" y="5793105"/>
            <a:chExt cx="11125200" cy="481012"/>
          </a:xfrm>
        </p:grpSpPr>
        <p:sp>
          <p:nvSpPr>
            <p:cNvPr id="55" name="Rectangle 55"/>
            <p:cNvSpPr/>
            <p:nvPr/>
          </p:nvSpPr>
          <p:spPr>
            <a:xfrm>
              <a:off x="533400" y="5793105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5933125"/>
              <a:ext cx="200023" cy="200023"/>
              <a:chOff x="738188" y="5933125"/>
              <a:chExt cx="200023" cy="200023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593312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71538" y="59997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892" y="5938838"/>
              <a:ext cx="71378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重用的两条路：实例化用的是“同一个类的多个对象”，继承用的是“在已有类上加差异”。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面向对象方法学概述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面向对象开发过程：阶段界限模糊，可以反复迭代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587484" cy="308039"/>
            <a:chOff x="525399" y="1550194"/>
            <a:chExt cx="958748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58748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对象同时连接了问题空间与求解空间，也连接了各个开发阶段，所以阶段之间不必像瀑布那样一刀切。</a:t>
              </a:r>
            </a:p>
          </p:txBody>
        </p:sp>
      </p:grpSp>
      <p:grpSp>
        <p:nvGrpSpPr>
          <p:cNvPr id="16" name="c1-bullets-1"/>
          <p:cNvGrpSpPr/>
          <p:nvPr/>
        </p:nvGrpSpPr>
        <p:grpSpPr>
          <a:xfrm>
            <a:off x="525780" y="1992630"/>
            <a:ext cx="5033010" cy="1623060"/>
            <a:chOff x="525780" y="1992630"/>
            <a:chExt cx="5033010" cy="1623060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面向对象开发的优势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9115" y="240982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97230" y="234696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易于表示含有大量交互的系统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9115" y="275463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97230" y="269176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能用相同术语描述问题及其解决方案：对象连接了问题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空间和求解空间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9115" y="33851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97230" y="332232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开发各阶段使用同一套术语：对象连接了各个开发阶段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747135"/>
            <a:ext cx="4977765" cy="1621155"/>
            <a:chOff x="533400" y="3747135"/>
            <a:chExt cx="4977765" cy="1621155"/>
          </a:xfrm>
        </p:grpSpPr>
        <p:sp>
          <p:nvSpPr>
            <p:cNvPr id="17" name="Rectangle 17"/>
            <p:cNvSpPr/>
            <p:nvPr/>
          </p:nvSpPr>
          <p:spPr>
            <a:xfrm>
              <a:off x="533400" y="3747135"/>
              <a:ext cx="4977765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3880485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81050" y="395668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71258" y="39924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2078" y="3991928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面向对象不是生命周期模型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3430" y="4352925"/>
              <a:ext cx="42252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面向对象是一种关于“问题及其解答该如何表述”的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观点，它可以配合瀑布、增量、螺旋等任何生命周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期模型使用。</a:t>
              </a:r>
            </a:p>
          </p:txBody>
        </p:sp>
      </p:grpSp>
      <p:grpSp>
        <p:nvGrpSpPr>
          <p:cNvPr id="66" name="c2-flow-1"/>
          <p:cNvGrpSpPr/>
          <p:nvPr/>
        </p:nvGrpSpPr>
        <p:grpSpPr>
          <a:xfrm>
            <a:off x="5810250" y="2018348"/>
            <a:ext cx="5644515" cy="3136582"/>
            <a:chOff x="5810250" y="2018348"/>
            <a:chExt cx="5644515" cy="3136582"/>
          </a:xfrm>
        </p:grpSpPr>
        <p:sp>
          <p:nvSpPr>
            <p:cNvPr id="24" name="Freeform 24"/>
            <p:cNvSpPr/>
            <p:nvPr/>
          </p:nvSpPr>
          <p:spPr>
            <a:xfrm>
              <a:off x="7276148" y="245364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2857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7223760" y="24536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7276148" y="2992755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381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7223760" y="29927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7276148" y="353282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2858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7223760" y="35328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7276148" y="407289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2857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223760" y="40728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7276148" y="4612005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381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7223760" y="46120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5810250" y="2237422"/>
              <a:ext cx="209550" cy="540068"/>
            </a:xfrm>
            <a:custGeom>
              <a:avLst/>
              <a:gdLst/>
              <a:ahLst/>
              <a:cxnLst/>
              <a:rect l="l" t="t" r="r" b="b"/>
              <a:pathLst>
                <a:path w="209550" h="540068">
                  <a:moveTo>
                    <a:pt x="209550" y="540068"/>
                  </a:moveTo>
                  <a:lnTo>
                    <a:pt x="0" y="540068"/>
                  </a:lnTo>
                  <a:lnTo>
                    <a:pt x="0" y="442912"/>
                  </a:lnTo>
                  <a:lnTo>
                    <a:pt x="0" y="0"/>
                  </a:lnTo>
                  <a:lnTo>
                    <a:pt x="10477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5915025" y="218503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5810250" y="2777490"/>
              <a:ext cx="209550" cy="647700"/>
            </a:xfrm>
            <a:custGeom>
              <a:avLst/>
              <a:gdLst/>
              <a:ahLst/>
              <a:cxnLst/>
              <a:rect l="l" t="t" r="r" b="b"/>
              <a:pathLst>
                <a:path w="209550" h="647700">
                  <a:moveTo>
                    <a:pt x="209550" y="539115"/>
                  </a:moveTo>
                  <a:lnTo>
                    <a:pt x="0" y="539115"/>
                  </a:lnTo>
                  <a:lnTo>
                    <a:pt x="0" y="647700"/>
                  </a:lnTo>
                  <a:lnTo>
                    <a:pt x="0" y="0"/>
                  </a:lnTo>
                  <a:lnTo>
                    <a:pt x="10477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5915025" y="27251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5810250" y="3856672"/>
              <a:ext cx="209550" cy="637223"/>
            </a:xfrm>
            <a:custGeom>
              <a:avLst/>
              <a:gdLst/>
              <a:ahLst/>
              <a:cxnLst/>
              <a:rect l="l" t="t" r="r" b="b"/>
              <a:pathLst>
                <a:path w="209550" h="637223">
                  <a:moveTo>
                    <a:pt x="209550" y="540068"/>
                  </a:moveTo>
                  <a:lnTo>
                    <a:pt x="0" y="540068"/>
                  </a:lnTo>
                  <a:lnTo>
                    <a:pt x="0" y="637223"/>
                  </a:lnTo>
                  <a:lnTo>
                    <a:pt x="0" y="0"/>
                  </a:lnTo>
                  <a:lnTo>
                    <a:pt x="10477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5915025" y="38042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7276148" y="3640455"/>
              <a:ext cx="2921317" cy="1076325"/>
            </a:xfrm>
            <a:custGeom>
              <a:avLst/>
              <a:gdLst/>
              <a:ahLst/>
              <a:cxnLst/>
              <a:rect l="l" t="t" r="r" b="b"/>
              <a:pathLst>
                <a:path w="2921317" h="1076325">
                  <a:moveTo>
                    <a:pt x="0" y="1076325"/>
                  </a:moveTo>
                  <a:lnTo>
                    <a:pt x="0" y="485775"/>
                  </a:lnTo>
                  <a:lnTo>
                    <a:pt x="2921317" y="485775"/>
                  </a:lnTo>
                  <a:lnTo>
                    <a:pt x="2921317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41" name="Freeform 41"/>
            <p:cNvSpPr/>
            <p:nvPr/>
          </p:nvSpPr>
          <p:spPr>
            <a:xfrm>
              <a:off x="10145078" y="35356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7276148" y="3047048"/>
              <a:ext cx="2921317" cy="54293"/>
            </a:xfrm>
            <a:custGeom>
              <a:avLst/>
              <a:gdLst/>
              <a:ahLst/>
              <a:cxnLst/>
              <a:rect l="l" t="t" r="r" b="b"/>
              <a:pathLst>
                <a:path w="2921317" h="54293">
                  <a:moveTo>
                    <a:pt x="2921317" y="50483"/>
                  </a:moveTo>
                  <a:lnTo>
                    <a:pt x="2921317" y="0"/>
                  </a:lnTo>
                  <a:lnTo>
                    <a:pt x="0" y="0"/>
                  </a:lnTo>
                  <a:lnTo>
                    <a:pt x="0" y="54293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43" name="Freeform 43"/>
            <p:cNvSpPr/>
            <p:nvPr/>
          </p:nvSpPr>
          <p:spPr>
            <a:xfrm>
              <a:off x="7223760" y="29965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019800" y="2018348"/>
              <a:ext cx="2512695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019800" y="2558415"/>
              <a:ext cx="251269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019800" y="3097530"/>
              <a:ext cx="251269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019800" y="3637598"/>
              <a:ext cx="251269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019800" y="4177665"/>
              <a:ext cx="251269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019800" y="4716780"/>
              <a:ext cx="2512695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942070" y="3097530"/>
              <a:ext cx="2512695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925043" y="21483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需求阶段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752730" y="26884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面向对象分析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752730" y="322754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面向对象设计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925043" y="3767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编码阶段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838886" y="430768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集成和测试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925043" y="484679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运行状态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501734" y="322754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维护期进一步开发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838825" y="2366962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862066" y="239363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反复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838825" y="300894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5862066" y="303561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反复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838825" y="408336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862066" y="411003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反复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556308" y="2830830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590598" y="285750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再入</a:t>
              </a:r>
            </a:p>
          </p:txBody>
        </p:sp>
      </p:grpSp>
      <p:grpSp>
        <p:nvGrpSpPr>
          <p:cNvPr id="7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7" name="Rectangle 6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1040130" y="5991225"/>
              <a:ext cx="67899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源课件称这种相邻阶段大量重叠、可以回流的过程为喷泉模型（见第1章）。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802761" cy="2997517"/>
            <a:chOff x="667512" y="1835468"/>
            <a:chExt cx="3802761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面向对象的概念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七个术语，考试要求能默写定义并举例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对象与类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消息、方法与属性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封装、继承、多态与重载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面向对象的概念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对象是数据与操作封装在一起的统一体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556248" cy="264033"/>
            <a:chOff x="526542" y="1545907"/>
            <a:chExt cx="655624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556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应用领域中有明确边界和意义、又与待解问题有关的任何事物，都可以作为对象。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28812"/>
            <a:ext cx="5626418" cy="2017395"/>
            <a:chOff x="533400" y="1928812"/>
            <a:chExt cx="5626418" cy="201739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626418" cy="2017395"/>
            </a:xfrm>
            <a:prstGeom prst="roundRect">
              <a:avLst>
                <a:gd name="adj" fmla="val 66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75069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13666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对象（Object）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49857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在应用领域中有意义的、与所要解决的问题有关系的任何事物都可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以作为对象。它既可以是具体物理实体的抽象，也可以是人为的概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念，或者任何有明确边界和意义的东西。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1332" y="3290888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对象由描述该对象属性的数据，以及可以对这些数据施加的所有操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作，封装在一起构成。</a:t>
              </a:r>
            </a:p>
          </p:txBody>
        </p:sp>
      </p:grpSp>
      <p:grpSp>
        <p:nvGrpSpPr>
          <p:cNvPr id="26" name="c1-bullets-2"/>
          <p:cNvGrpSpPr/>
          <p:nvPr/>
        </p:nvGrpSpPr>
        <p:grpSpPr>
          <a:xfrm>
            <a:off x="526542" y="4137660"/>
            <a:ext cx="2194560" cy="1507046"/>
            <a:chOff x="526542" y="4137660"/>
            <a:chExt cx="2194560" cy="1507046"/>
          </a:xfrm>
        </p:grpSpPr>
        <p:sp>
          <p:nvSpPr>
            <p:cNvPr id="17" name="TextBox 17"/>
            <p:cNvSpPr txBox="1"/>
            <p:nvPr/>
          </p:nvSpPr>
          <p:spPr>
            <a:xfrm>
              <a:off x="526542" y="413766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判断一样东西能不能当对象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533400" y="4483418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70382" y="445484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有明确的边界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533400" y="4792028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70382" y="476345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有需要记住的状态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533400" y="5100638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70382" y="507206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有可以施加的操作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533400" y="5409248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70382" y="5380673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与待解问题有关</a:t>
              </a:r>
            </a:p>
          </p:txBody>
        </p:sp>
      </p:grpSp>
      <p:grpSp>
        <p:nvGrpSpPr>
          <p:cNvPr id="39" name="c2-graph-1"/>
          <p:cNvGrpSpPr/>
          <p:nvPr/>
        </p:nvGrpSpPr>
        <p:grpSpPr>
          <a:xfrm>
            <a:off x="6733222" y="2248852"/>
            <a:ext cx="4231006" cy="2516982"/>
            <a:chOff x="6733222" y="2248852"/>
            <a:chExt cx="4231006" cy="2516982"/>
          </a:xfrm>
        </p:grpSpPr>
        <p:sp>
          <p:nvSpPr>
            <p:cNvPr id="27" name="Rectangle 27"/>
            <p:cNvSpPr/>
            <p:nvPr/>
          </p:nvSpPr>
          <p:spPr>
            <a:xfrm>
              <a:off x="8198168" y="2248852"/>
              <a:ext cx="2766060" cy="2095500"/>
            </a:xfrm>
            <a:prstGeom prst="roundRect">
              <a:avLst>
                <a:gd name="adj" fmla="val 4545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843838" y="2429828"/>
              <a:ext cx="670560" cy="251460"/>
            </a:xfrm>
            <a:prstGeom prst="roundRect">
              <a:avLst>
                <a:gd name="adj" fmla="val 37879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7843838" y="3170872"/>
              <a:ext cx="670560" cy="251460"/>
            </a:xfrm>
            <a:prstGeom prst="roundRect">
              <a:avLst>
                <a:gd name="adj" fmla="val 37879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843838" y="3911918"/>
              <a:ext cx="670560" cy="251460"/>
            </a:xfrm>
            <a:prstGeom prst="roundRect">
              <a:avLst>
                <a:gd name="adj" fmla="val 37879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9984105" y="2459355"/>
              <a:ext cx="647700" cy="6477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991617" y="2489835"/>
              <a:ext cx="3750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91617" y="3230880"/>
              <a:ext cx="3750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991617" y="3971925"/>
              <a:ext cx="3750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094622" y="2718435"/>
              <a:ext cx="4266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537099" y="3858578"/>
              <a:ext cx="13340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 1、2、3 的实现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33222" y="323088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界面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90076" y="4603909"/>
              <a:ext cx="78224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对象的形象表示</a:t>
              </a:r>
            </a:p>
          </p:txBody>
        </p:sp>
      </p:grpSp>
      <p:grpSp>
        <p:nvGrpSpPr>
          <p:cNvPr id="45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0" name="Rectangle 40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892" y="6028373"/>
              <a:ext cx="6556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界面（操作名的集合）露在外面，状态和实现藏在里面，这就是对象的基本形状。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面向对象的概念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对象的三个定义和自动机模型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647563" cy="264033"/>
            <a:chOff x="526542" y="1545907"/>
            <a:chExt cx="564756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三个定义分别从程序设计、信息模拟、形式化三个角度描述同一件事。</a:t>
              </a:r>
            </a:p>
          </p:txBody>
        </p:sp>
      </p:grpSp>
      <p:grpSp>
        <p:nvGrpSpPr>
          <p:cNvPr id="17" name="c1-kv-1"/>
          <p:cNvGrpSpPr/>
          <p:nvPr/>
        </p:nvGrpSpPr>
        <p:grpSpPr>
          <a:xfrm>
            <a:off x="526542" y="1950720"/>
            <a:ext cx="5200840" cy="1809940"/>
            <a:chOff x="526542" y="1950720"/>
            <a:chExt cx="5200840" cy="1809940"/>
          </a:xfrm>
        </p:grpSpPr>
        <p:sp>
          <p:nvSpPr>
            <p:cNvPr id="9" name="TextBox 9"/>
            <p:cNvSpPr txBox="1"/>
            <p:nvPr/>
          </p:nvSpPr>
          <p:spPr>
            <a:xfrm>
              <a:off x="526542" y="1950720"/>
              <a:ext cx="4821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34250" y="1950720"/>
              <a:ext cx="42999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对象是具有相同状态的一组操作的集合（从面向对象程序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设计角度）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4907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6542" y="2597468"/>
              <a:ext cx="4821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34250" y="2597468"/>
              <a:ext cx="4299966" cy="7707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对象是对问题域中某个东西的抽象，这种抽象反映了系统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保存有关这个东西的信息或与它交互的能力，即对属性值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和操作的封装（从信息模拟角度）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39090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6542" y="3496627"/>
              <a:ext cx="4821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34250" y="3496627"/>
              <a:ext cx="2285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 ∷= (ID，MS，DS，MI)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877628"/>
            <a:ext cx="5193982" cy="1824038"/>
            <a:chOff x="533400" y="3877628"/>
            <a:chExt cx="5193982" cy="1824038"/>
          </a:xfrm>
        </p:grpSpPr>
        <p:sp>
          <p:nvSpPr>
            <p:cNvPr id="18" name="Rectangle 18"/>
            <p:cNvSpPr/>
            <p:nvPr/>
          </p:nvSpPr>
          <p:spPr>
            <a:xfrm>
              <a:off x="533400" y="3877628"/>
              <a:ext cx="5193982" cy="1824038"/>
            </a:xfrm>
            <a:prstGeom prst="roundRect">
              <a:avLst>
                <a:gd name="adj" fmla="val 731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13232" y="4087177"/>
              <a:ext cx="19932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定义3 中四个分量的含义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28662" y="44596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84682" y="4403408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ID：对象的标识或名字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28662" y="476059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84682" y="4704398"/>
              <a:ext cx="1898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MS：对象中的操作集合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28662" y="506063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84682" y="5004435"/>
              <a:ext cx="16788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DS：对象的数据结构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28662" y="536067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84682" y="5304473"/>
              <a:ext cx="33048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MI：对象受理的消息名集合，即对外接口</a:t>
              </a:r>
            </a:p>
          </p:txBody>
        </p:sp>
      </p:grpSp>
      <p:grpSp>
        <p:nvGrpSpPr>
          <p:cNvPr id="30" name="c2-text-1"/>
          <p:cNvGrpSpPr/>
          <p:nvPr/>
        </p:nvGrpSpPr>
        <p:grpSpPr>
          <a:xfrm>
            <a:off x="6026467" y="1947386"/>
            <a:ext cx="5416550" cy="441008"/>
            <a:chOff x="6026467" y="1947386"/>
            <a:chExt cx="5416550" cy="441008"/>
          </a:xfrm>
        </p:grpSpPr>
        <p:sp>
          <p:nvSpPr>
            <p:cNvPr id="29" name="TextBox 29"/>
            <p:cNvSpPr txBox="1"/>
            <p:nvPr/>
          </p:nvSpPr>
          <p:spPr>
            <a:xfrm>
              <a:off x="6026467" y="1947386"/>
              <a:ext cx="5416550" cy="4410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对象中的数据表示对象的状态。一个对象的状态只能由该对象自己的操作来改变，别的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对象想改变它，只能发消息。对象收到消息后按消息模式找出与之匹配的方法并执行。</a:t>
              </a:r>
            </a:p>
          </p:txBody>
        </p:sp>
      </p:grpSp>
      <p:grpSp>
        <p:nvGrpSpPr>
          <p:cNvPr id="43" name="c2-graph-2"/>
          <p:cNvGrpSpPr/>
          <p:nvPr/>
        </p:nvGrpSpPr>
        <p:grpSpPr>
          <a:xfrm>
            <a:off x="6173581" y="2766060"/>
            <a:ext cx="5444564" cy="1749266"/>
            <a:chOff x="6173581" y="2766060"/>
            <a:chExt cx="5444564" cy="1749266"/>
          </a:xfrm>
        </p:grpSpPr>
        <p:sp>
          <p:nvSpPr>
            <p:cNvPr id="31" name="Freeform 31"/>
            <p:cNvSpPr/>
            <p:nvPr/>
          </p:nvSpPr>
          <p:spPr>
            <a:xfrm>
              <a:off x="6916102" y="3059430"/>
              <a:ext cx="580072" cy="329565"/>
            </a:xfrm>
            <a:custGeom>
              <a:avLst/>
              <a:gdLst/>
              <a:ahLst/>
              <a:cxnLst/>
              <a:rect l="l" t="t" r="r" b="b"/>
              <a:pathLst>
                <a:path w="580072" h="329565">
                  <a:moveTo>
                    <a:pt x="0" y="0"/>
                  </a:moveTo>
                  <a:lnTo>
                    <a:pt x="580072" y="3295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7472362" y="3348038"/>
              <a:ext cx="105728" cy="88583"/>
            </a:xfrm>
            <a:custGeom>
              <a:avLst/>
              <a:gdLst/>
              <a:ahLst/>
              <a:cxnLst/>
              <a:rect l="l" t="t" r="r" b="b"/>
              <a:pathLst>
                <a:path w="105728" h="88583">
                  <a:moveTo>
                    <a:pt x="105728" y="88583"/>
                  </a:moveTo>
                  <a:lnTo>
                    <a:pt x="0" y="82867"/>
                  </a:lnTo>
                  <a:lnTo>
                    <a:pt x="4667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10111740" y="3110865"/>
              <a:ext cx="502920" cy="325755"/>
            </a:xfrm>
            <a:custGeom>
              <a:avLst/>
              <a:gdLst/>
              <a:ahLst/>
              <a:cxnLst/>
              <a:rect l="l" t="t" r="r" b="b"/>
              <a:pathLst>
                <a:path w="502920" h="325755">
                  <a:moveTo>
                    <a:pt x="0" y="325755"/>
                  </a:moveTo>
                  <a:lnTo>
                    <a:pt x="50292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10588942" y="3059430"/>
              <a:ext cx="105727" cy="91440"/>
            </a:xfrm>
            <a:custGeom>
              <a:avLst/>
              <a:gdLst/>
              <a:ahLst/>
              <a:cxnLst/>
              <a:rect l="l" t="t" r="r" b="b"/>
              <a:pathLst>
                <a:path w="105727" h="91440">
                  <a:moveTo>
                    <a:pt x="105727" y="0"/>
                  </a:moveTo>
                  <a:lnTo>
                    <a:pt x="51435" y="91440"/>
                  </a:lnTo>
                  <a:lnTo>
                    <a:pt x="0" y="1143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587615" y="2766060"/>
              <a:ext cx="2514600" cy="1341120"/>
            </a:xfrm>
            <a:prstGeom prst="roundRect">
              <a:avLst>
                <a:gd name="adj" fmla="val 710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6" name="Ellipse 36"/>
            <p:cNvSpPr/>
            <p:nvPr/>
          </p:nvSpPr>
          <p:spPr>
            <a:xfrm>
              <a:off x="8559165" y="2773680"/>
              <a:ext cx="571500" cy="571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631582" y="2993708"/>
              <a:ext cx="4266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S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29822" y="3580448"/>
              <a:ext cx="14301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操作：f₁，f₂，…，fₙ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129822" y="3873818"/>
              <a:ext cx="14301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转换：g₁，g₂，…，gₙ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173581" y="2993708"/>
              <a:ext cx="7287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 fᵢ，X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685595" y="2993708"/>
              <a:ext cx="9325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 fᵢ(X,S)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140748" y="4353401"/>
              <a:ext cx="140833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转换：新状态 S′ = gᵢ(X,S)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4" name="Rectangle 44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892" y="6028373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把对象看成自动机：收到消息就查表、执行、改状态、给回一个输出。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8875" cy="909257"/>
            <a:chOff x="520446" y="342900"/>
            <a:chExt cx="24288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面向对象的概念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对象的五个特点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247788" cy="308039"/>
            <a:chOff x="525399" y="1550194"/>
            <a:chExt cx="72477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2477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这五条既是对象的性质，也是面向对象方法能带来前面那些优点的直接原因。</a:t>
              </a:r>
            </a:p>
          </p:txBody>
        </p:sp>
      </p:grpSp>
      <p:grpSp>
        <p:nvGrpSpPr>
          <p:cNvPr id="23" name="c1-kv-1"/>
          <p:cNvGrpSpPr/>
          <p:nvPr/>
        </p:nvGrpSpPr>
        <p:grpSpPr>
          <a:xfrm>
            <a:off x="525780" y="1992630"/>
            <a:ext cx="4985385" cy="3181350"/>
            <a:chOff x="525780" y="1992630"/>
            <a:chExt cx="4985385" cy="3181350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以数据为中心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18372" y="1992630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操作是围绕对象自己的数据设计的，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不设无关的操作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59461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5780" y="271462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对象是主动的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218372" y="2714625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对象不是被调用的子程序，而是请求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它工作的服务提供者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31660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5780" y="343662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实现了数据封装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218372" y="343662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数据藏在边界内，外界只见接口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375666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5780" y="3876675"/>
              <a:ext cx="1348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本质上具有并行</a:t>
              </a:r>
              <a:br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性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18372" y="3876675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各对象各自独立地处理自己收到的消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47865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5780" y="459867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模块独立性好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218372" y="4598670"/>
              <a:ext cx="30822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内聚来自“同一组数据”，耦合只剩消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5815965" y="1967865"/>
            <a:ext cx="5842635" cy="1602105"/>
            <a:chOff x="5815965" y="1967865"/>
            <a:chExt cx="5842635" cy="1602105"/>
          </a:xfrm>
        </p:grpSpPr>
        <p:sp>
          <p:nvSpPr>
            <p:cNvPr id="24" name="Rectangle 24"/>
            <p:cNvSpPr/>
            <p:nvPr/>
          </p:nvSpPr>
          <p:spPr>
            <a:xfrm>
              <a:off x="5815965" y="1967865"/>
              <a:ext cx="584263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825490" y="2101215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063615" y="2177415"/>
              <a:ext cx="122682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131915" y="2213134"/>
              <a:ext cx="109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怎么理解“主动”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55995" y="2554605"/>
              <a:ext cx="51777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传统的子程序是被动的：调用方准备好全部数据，子程序只负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责算。对象是主动的：调用方只说“做什么”，怎么做、用哪些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内部数据由对象自己决定。</a:t>
              </a:r>
            </a:p>
          </p:txBody>
        </p:sp>
      </p:grpSp>
      <p:grpSp>
        <p:nvGrpSpPr>
          <p:cNvPr id="35" name="c2-card-2"/>
          <p:cNvGrpSpPr/>
          <p:nvPr/>
        </p:nvGrpSpPr>
        <p:grpSpPr>
          <a:xfrm>
            <a:off x="5815965" y="3760470"/>
            <a:ext cx="5842635" cy="1602105"/>
            <a:chOff x="5815965" y="3760470"/>
            <a:chExt cx="5842635" cy="1602105"/>
          </a:xfrm>
        </p:grpSpPr>
        <p:sp>
          <p:nvSpPr>
            <p:cNvPr id="30" name="Rectangle 30"/>
            <p:cNvSpPr/>
            <p:nvPr/>
          </p:nvSpPr>
          <p:spPr>
            <a:xfrm>
              <a:off x="5815965" y="3760470"/>
              <a:ext cx="584263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5825490" y="389382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063615" y="3970020"/>
              <a:ext cx="122682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131915" y="4005739"/>
              <a:ext cx="109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怎么理解“并行”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055995" y="4347210"/>
              <a:ext cx="5158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每个对象都有自己的状态和操作，逻辑上可以同时接收和处理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消息，天然适合映射到并发实现上。具体语言是否真的并行执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行是实现问题。</a:t>
              </a:r>
            </a:p>
          </p:txBody>
        </p:sp>
      </p:grpSp>
      <p:grpSp>
        <p:nvGrpSpPr>
          <p:cNvPr id="4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6" name="Rectangle 3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130" y="5991225"/>
              <a:ext cx="7890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模块独立性好是可推导的结论：数据和操作在一起，内聚必高；只能发消息，耦合必低。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面向对象的概念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类、实例、消息、方法、属性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4482694" cy="308039"/>
            <a:chOff x="525399" y="1550194"/>
            <a:chExt cx="448269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4482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五个术语是一组，配套记忆比单独背定义省力。</a:t>
              </a:r>
            </a:p>
          </p:txBody>
        </p:sp>
      </p:grpSp>
      <p:grpSp>
        <p:nvGrpSpPr>
          <p:cNvPr id="23" name="c1-kv-1"/>
          <p:cNvGrpSpPr/>
          <p:nvPr/>
        </p:nvGrpSpPr>
        <p:grpSpPr>
          <a:xfrm>
            <a:off x="525780" y="1992630"/>
            <a:ext cx="5417820" cy="3463290"/>
            <a:chOff x="525780" y="1992630"/>
            <a:chExt cx="5417820" cy="3463290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8108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类 class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932622" y="1992630"/>
              <a:ext cx="3825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对具有相同属性和行为的一组对象的描述，定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义一组数据和一组方法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59461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5780" y="2714625"/>
              <a:ext cx="845344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实例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instance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932622" y="271462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由某个类描述出来的一个具体对象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3166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5780" y="3436620"/>
              <a:ext cx="122480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方法 method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932622" y="3436620"/>
              <a:ext cx="3825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对象所能执行的操作，即类中定义的服务的实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现代码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40386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5780" y="4158615"/>
              <a:ext cx="955358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属性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attribute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32622" y="4158615"/>
              <a:ext cx="3825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类中定义的数据，类的每个实例各有自己的一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份取值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76059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5780" y="4880610"/>
              <a:ext cx="825341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消息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message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932622" y="488061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要求某个对象执行它的某个操作的一次请求</a:t>
              </a:r>
            </a:p>
          </p:txBody>
        </p:sp>
      </p:grpSp>
      <p:grpSp>
        <p:nvGrpSpPr>
          <p:cNvPr id="38" name="c2-card-1"/>
          <p:cNvGrpSpPr/>
          <p:nvPr/>
        </p:nvGrpSpPr>
        <p:grpSpPr>
          <a:xfrm>
            <a:off x="6248400" y="1967865"/>
            <a:ext cx="5410200" cy="1720215"/>
            <a:chOff x="6248400" y="1967865"/>
            <a:chExt cx="5410200" cy="1720215"/>
          </a:xfrm>
        </p:grpSpPr>
        <p:sp>
          <p:nvSpPr>
            <p:cNvPr id="24" name="Rectangle 24"/>
            <p:cNvSpPr/>
            <p:nvPr/>
          </p:nvSpPr>
          <p:spPr>
            <a:xfrm>
              <a:off x="6248400" y="1967865"/>
              <a:ext cx="5410200" cy="1720215"/>
            </a:xfrm>
            <a:prstGeom prst="roundRect">
              <a:avLst>
                <a:gd name="adj" fmla="val 77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57925" y="2101215"/>
              <a:ext cx="47625" cy="145351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96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86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97078" y="221265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消息的三个组成部分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496050" y="256032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57899" y="26026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797040" y="25736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接收消息的对象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496050" y="289560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57899" y="293789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97040" y="290893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消息选择符，也称为消息名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496050" y="323088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57899" y="327317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97040" y="32442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零个或多个变元</a:t>
              </a:r>
            </a:p>
          </p:txBody>
        </p:sp>
      </p:grpSp>
      <p:grpSp>
        <p:nvGrpSpPr>
          <p:cNvPr id="42" name="c2-code-2"/>
          <p:cNvGrpSpPr/>
          <p:nvPr/>
        </p:nvGrpSpPr>
        <p:grpSpPr>
          <a:xfrm>
            <a:off x="6248400" y="3878580"/>
            <a:ext cx="5410200" cy="907732"/>
            <a:chOff x="6248400" y="3878580"/>
            <a:chExt cx="5410200" cy="907732"/>
          </a:xfrm>
        </p:grpSpPr>
        <p:sp>
          <p:nvSpPr>
            <p:cNvPr id="39" name="Rectangle 39"/>
            <p:cNvSpPr/>
            <p:nvPr/>
          </p:nvSpPr>
          <p:spPr>
            <a:xfrm>
              <a:off x="6248400" y="3878580"/>
              <a:ext cx="5410200" cy="907732"/>
            </a:xfrm>
            <a:prstGeom prst="roundRect">
              <a:avLst>
                <a:gd name="adj" fmla="val 1049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76797" y="403050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一条消息的三部分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76035" y="4292441"/>
              <a:ext cx="2088134" cy="4229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myCircle.setRadius(5.0);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 ^接收者   ^选择符  ^变元</a:t>
              </a:r>
            </a:p>
          </p:txBody>
        </p:sp>
      </p:grpSp>
      <p:grpSp>
        <p:nvGrpSpPr>
          <p:cNvPr id="49" name="c2-callout-3"/>
          <p:cNvGrpSpPr/>
          <p:nvPr/>
        </p:nvGrpSpPr>
        <p:grpSpPr>
          <a:xfrm>
            <a:off x="6248400" y="4976812"/>
            <a:ext cx="5410200" cy="782955"/>
            <a:chOff x="6248400" y="4976812"/>
            <a:chExt cx="5410200" cy="782955"/>
          </a:xfrm>
        </p:grpSpPr>
        <p:sp>
          <p:nvSpPr>
            <p:cNvPr id="43" name="Rectangle 43"/>
            <p:cNvSpPr/>
            <p:nvPr/>
          </p:nvSpPr>
          <p:spPr>
            <a:xfrm>
              <a:off x="6248400" y="4976812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441129" y="5264586"/>
              <a:ext cx="224134" cy="192560"/>
              <a:chOff x="6441129" y="5264586"/>
              <a:chExt cx="224134" cy="19256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553200" y="533495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441129" y="526458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553200" y="541274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755130" y="512540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类是模板，实例是产品。属性写在类里，属性值存在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实例里。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面向对象的概念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封装：清晰的边界、确定的接口、受保护的实现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184290" cy="308039"/>
            <a:chOff x="525399" y="1550194"/>
            <a:chExt cx="618429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18429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类封装了它的实例对象的属性与行为，把实现细节挡在边界之内。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67865"/>
            <a:ext cx="5842635" cy="1049655"/>
            <a:chOff x="533400" y="1967865"/>
            <a:chExt cx="5842635" cy="104965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842635" cy="1049655"/>
            </a:xfrm>
            <a:prstGeom prst="roundRect">
              <a:avLst>
                <a:gd name="adj" fmla="val 127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7829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22390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封装（Encapsulation）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类封装了它的实例对象的属性与行为，隐藏实现细节。</a:t>
              </a:r>
            </a:p>
          </p:txBody>
        </p:sp>
      </p:grpSp>
      <p:grpSp>
        <p:nvGrpSpPr>
          <p:cNvPr id="26" name="c1-bullets-2"/>
          <p:cNvGrpSpPr/>
          <p:nvPr/>
        </p:nvGrpSpPr>
        <p:grpSpPr>
          <a:xfrm>
            <a:off x="525780" y="3232785"/>
            <a:ext cx="5467350" cy="1908810"/>
            <a:chOff x="525780" y="3232785"/>
            <a:chExt cx="5467350" cy="1908810"/>
          </a:xfrm>
        </p:grpSpPr>
        <p:sp>
          <p:nvSpPr>
            <p:cNvPr id="16" name="TextBox 16"/>
            <p:cNvSpPr txBox="1"/>
            <p:nvPr/>
          </p:nvSpPr>
          <p:spPr>
            <a:xfrm>
              <a:off x="525780" y="32327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对象具有封装性的三个条件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357378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95249" y="361607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4390" y="3587115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有一个清晰的边界：所有私有数据和实现操作的代码都被封装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在这个边界内，从外面看不见，更不能直接访问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420433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95249" y="42466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4390" y="421767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有确定的接口（即协议）：这些接口就是对象可以接受的消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息，只能通过向对象发送消息来使用它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33400" y="483489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95249" y="48771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4390" y="484822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受保护的内部实现：实现细节的改动不影响外部使用者</a:t>
              </a:r>
            </a:p>
          </p:txBody>
        </p:sp>
      </p:grpSp>
      <p:grpSp>
        <p:nvGrpSpPr>
          <p:cNvPr id="33" name="c1-callout-3"/>
          <p:cNvGrpSpPr/>
          <p:nvPr/>
        </p:nvGrpSpPr>
        <p:grpSpPr>
          <a:xfrm>
            <a:off x="533400" y="5273040"/>
            <a:ext cx="5842635" cy="782955"/>
            <a:chOff x="533400" y="5273040"/>
            <a:chExt cx="5842635" cy="782955"/>
          </a:xfrm>
        </p:grpSpPr>
        <p:sp>
          <p:nvSpPr>
            <p:cNvPr id="27" name="Rectangle 27"/>
            <p:cNvSpPr/>
            <p:nvPr/>
          </p:nvSpPr>
          <p:spPr>
            <a:xfrm>
              <a:off x="533400" y="5273040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5564505"/>
              <a:ext cx="200026" cy="200025"/>
              <a:chOff x="738188" y="5564505"/>
              <a:chExt cx="200026" cy="2000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556450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77926" y="560895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12642" y="572008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5421630"/>
              <a:ext cx="4939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封装常被叫作信息隐藏（information hiding），两者说的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是同一件事。</a:t>
              </a:r>
            </a:p>
          </p:txBody>
        </p:sp>
      </p:grpSp>
      <p:grpSp>
        <p:nvGrpSpPr>
          <p:cNvPr id="36" name="c2-image-1"/>
          <p:cNvGrpSpPr/>
          <p:nvPr/>
        </p:nvGrpSpPr>
        <p:grpSpPr>
          <a:xfrm>
            <a:off x="6680835" y="1967865"/>
            <a:ext cx="4977765" cy="3458052"/>
            <a:chOff x="6680835" y="1967865"/>
            <a:chExt cx="4977765" cy="3458052"/>
          </a:xfrm>
        </p:grpSpPr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2"/>
            <a:srcRect l="0" t="7903" r="0" b="7903"/>
            <a:stretch>
              <a:fillRect/>
            </a:stretch>
          </p:blipFill>
          <p:spPr>
            <a:xfrm>
              <a:off x="6680835" y="1967865"/>
              <a:ext cx="4977765" cy="3143250"/>
            </a:xfrm>
            <a:prstGeom prst="roundRect">
              <a:avLst>
                <a:gd name="adj" fmla="val 4242"/>
              </a:avLst>
            </a:prstGeom>
          </p:spPr>
        </p:pic>
        <p:sp>
          <p:nvSpPr>
            <p:cNvPr id="35" name="TextBox 35"/>
            <p:cNvSpPr txBox="1"/>
            <p:nvPr/>
          </p:nvSpPr>
          <p:spPr>
            <a:xfrm>
              <a:off x="7656259" y="5205889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只留接口的机柜：能插线，够不着里面的齿轮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面向对象的概念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继承：子类自动共享基类中定义的数据和方法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822389" cy="308039"/>
            <a:chOff x="525399" y="1550194"/>
            <a:chExt cx="682238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82238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把有异同的类按层次组织起来，下层的类直接获得上层类的性质和特征。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67865"/>
            <a:ext cx="5410200" cy="2152650"/>
            <a:chOff x="533400" y="1967865"/>
            <a:chExt cx="5410200" cy="215265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2152650"/>
            </a:xfrm>
            <a:prstGeom prst="roundRect">
              <a:avLst>
                <a:gd name="adj" fmla="val 61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18859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20057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继承（Inheritance）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继承是指能够直接获得已有的性质和特征，而不必重复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定义它们。根据各类之间的异同点把它们组成层次结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构，位于下层的类继承上层中某个类的特点。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4573" y="3476149"/>
              <a:ext cx="475970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反方向看，继承也是一种从“特殊性”概念归纳出“一般性”概念的机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制。</a:t>
              </a:r>
            </a:p>
          </p:txBody>
        </p:sp>
      </p:grpSp>
      <p:grpSp>
        <p:nvGrpSpPr>
          <p:cNvPr id="26" name="c1-bullets-2"/>
          <p:cNvGrpSpPr/>
          <p:nvPr/>
        </p:nvGrpSpPr>
        <p:grpSpPr>
          <a:xfrm>
            <a:off x="525780" y="4334828"/>
            <a:ext cx="5035868" cy="1967864"/>
            <a:chOff x="525780" y="4334828"/>
            <a:chExt cx="5035868" cy="1967864"/>
          </a:xfrm>
        </p:grpSpPr>
        <p:sp>
          <p:nvSpPr>
            <p:cNvPr id="17" name="TextBox 17"/>
            <p:cNvSpPr txBox="1"/>
            <p:nvPr/>
          </p:nvSpPr>
          <p:spPr>
            <a:xfrm>
              <a:off x="525780" y="433482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使用继承的好处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533400" y="4720590"/>
              <a:ext cx="143827" cy="117157"/>
            </a:xfrm>
            <a:custGeom>
              <a:avLst/>
              <a:gdLst/>
              <a:ahLst/>
              <a:cxnLst/>
              <a:rect l="l" t="t" r="r" b="b"/>
              <a:pathLst>
                <a:path w="143827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83908" y="4689158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相似的对象共享程序代码和数据结构，大大减少程序中的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冗余信息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533400" y="5351145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83908" y="5319712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易于修改软件，共同部分只改一处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533400" y="5695950"/>
              <a:ext cx="143827" cy="117157"/>
            </a:xfrm>
            <a:custGeom>
              <a:avLst/>
              <a:gdLst/>
              <a:ahLst/>
              <a:cxnLst/>
              <a:rect l="l" t="t" r="r" b="b"/>
              <a:pathLst>
                <a:path w="143827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83908" y="5664518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方便新应用系统的开发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533400" y="6040755"/>
              <a:ext cx="143827" cy="117157"/>
            </a:xfrm>
            <a:custGeom>
              <a:avLst/>
              <a:gdLst/>
              <a:ahLst/>
              <a:cxnLst/>
              <a:rect l="l" t="t" r="r" b="b"/>
              <a:pathLst>
                <a:path w="143827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83908" y="600932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利于软件重用</a:t>
              </a:r>
            </a:p>
          </p:txBody>
        </p:sp>
      </p:grpSp>
      <p:grpSp>
        <p:nvGrpSpPr>
          <p:cNvPr id="50" name="c2-uml-1"/>
          <p:cNvGrpSpPr/>
          <p:nvPr/>
        </p:nvGrpSpPr>
        <p:grpSpPr>
          <a:xfrm>
            <a:off x="7029450" y="2238375"/>
            <a:ext cx="3848100" cy="2412683"/>
            <a:chOff x="7029450" y="2238375"/>
            <a:chExt cx="3848100" cy="2412683"/>
          </a:xfrm>
        </p:grpSpPr>
        <p:sp>
          <p:nvSpPr>
            <p:cNvPr id="27" name="Freeform 27"/>
            <p:cNvSpPr/>
            <p:nvPr/>
          </p:nvSpPr>
          <p:spPr>
            <a:xfrm>
              <a:off x="7600950" y="3393758"/>
              <a:ext cx="1352550" cy="605790"/>
            </a:xfrm>
            <a:custGeom>
              <a:avLst/>
              <a:gdLst/>
              <a:ahLst/>
              <a:cxnLst/>
              <a:rect l="l" t="t" r="r" b="b"/>
              <a:pathLst>
                <a:path w="1352550" h="605790">
                  <a:moveTo>
                    <a:pt x="0" y="605790"/>
                  </a:moveTo>
                  <a:lnTo>
                    <a:pt x="0" y="240030"/>
                  </a:lnTo>
                  <a:lnTo>
                    <a:pt x="1352550" y="240030"/>
                  </a:lnTo>
                  <a:lnTo>
                    <a:pt x="135255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8880158" y="326802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953500" y="3393758"/>
              <a:ext cx="1352550" cy="605790"/>
            </a:xfrm>
            <a:custGeom>
              <a:avLst/>
              <a:gdLst/>
              <a:ahLst/>
              <a:cxnLst/>
              <a:rect l="l" t="t" r="r" b="b"/>
              <a:pathLst>
                <a:path w="1352550" h="605790">
                  <a:moveTo>
                    <a:pt x="1352550" y="605790"/>
                  </a:moveTo>
                  <a:lnTo>
                    <a:pt x="1352550" y="240030"/>
                  </a:lnTo>
                  <a:lnTo>
                    <a:pt x="0" y="24003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8880158" y="326802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8382000" y="2238375"/>
              <a:ext cx="1143000" cy="10296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89620" y="2245042"/>
              <a:ext cx="1128712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8382000" y="2505075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8382000" y="2979420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029450" y="3999548"/>
              <a:ext cx="1143000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7037070" y="4006215"/>
              <a:ext cx="1128712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029450" y="426624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029450" y="436149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9734550" y="3999548"/>
              <a:ext cx="1143000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9742170" y="4006215"/>
              <a:ext cx="1128712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734550" y="426624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9734550" y="436149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646236" y="23026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i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交通工具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452866" y="2577465"/>
              <a:ext cx="390715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速度</a:t>
              </a:r>
            </a:p>
            <a:p>
              <a:pPr algn="l">
                <a:lnSpc>
                  <a:spcPts val="149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载重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452866" y="3050858"/>
              <a:ext cx="6396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drive()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444461" y="406384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汽车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100316" y="4433888"/>
              <a:ext cx="6396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drive()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224948" y="406384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船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805416" y="4433888"/>
              <a:ext cx="6396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drive()</a:t>
              </a:r>
            </a:p>
          </p:txBody>
        </p:sp>
      </p:grpSp>
      <p:grpSp>
        <p:nvGrpSpPr>
          <p:cNvPr id="57" name="c2-callout-2"/>
          <p:cNvGrpSpPr/>
          <p:nvPr/>
        </p:nvGrpSpPr>
        <p:grpSpPr>
          <a:xfrm>
            <a:off x="6248400" y="5301615"/>
            <a:ext cx="5410200" cy="942975"/>
            <a:chOff x="6248400" y="5301615"/>
            <a:chExt cx="5410200" cy="942975"/>
          </a:xfrm>
        </p:grpSpPr>
        <p:sp>
          <p:nvSpPr>
            <p:cNvPr id="51" name="Rectangle 51"/>
            <p:cNvSpPr/>
            <p:nvPr/>
          </p:nvSpPr>
          <p:spPr>
            <a:xfrm>
              <a:off x="6248400" y="5301615"/>
              <a:ext cx="5410200" cy="942975"/>
            </a:xfrm>
            <a:prstGeom prst="roundRect">
              <a:avLst>
                <a:gd name="adj" fmla="val 1212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6453188" y="5672138"/>
              <a:ext cx="200026" cy="200026"/>
              <a:chOff x="6453188" y="5672138"/>
              <a:chExt cx="200026" cy="200026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6453188" y="567213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553200" y="57388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542088" y="577215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6755130" y="552926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只用来被继承、不直接产生实例的类叫抽象类，交通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工具就是抽象类。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面向对象的概念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多态：同一个消息，不同的类各自回答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362230" cy="308039"/>
            <a:chOff x="525399" y="1550194"/>
            <a:chExt cx="636223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36223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Polymorphism means "many forms"，一个多态操作有多种实现。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67865"/>
            <a:ext cx="5193982" cy="1335405"/>
            <a:chOff x="533400" y="1967865"/>
            <a:chExt cx="5193982" cy="133540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193982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22076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多态（Polymorphism）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类的一个行为在其子类中有不同的表现形式。不同类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的对象收到同一个消息时，各自以不同的方式响应。</a:t>
              </a:r>
            </a:p>
          </p:txBody>
        </p:sp>
      </p:grpSp>
      <p:grpSp>
        <p:nvGrpSpPr>
          <p:cNvPr id="24" name="c1-kv-2"/>
          <p:cNvGrpSpPr/>
          <p:nvPr/>
        </p:nvGrpSpPr>
        <p:grpSpPr>
          <a:xfrm>
            <a:off x="525780" y="3518535"/>
            <a:ext cx="5201602" cy="1455420"/>
            <a:chOff x="525780" y="3518535"/>
            <a:chExt cx="5201602" cy="1455420"/>
          </a:xfrm>
        </p:grpSpPr>
        <p:sp>
          <p:nvSpPr>
            <p:cNvPr id="16" name="TextBox 16"/>
            <p:cNvSpPr txBox="1"/>
            <p:nvPr/>
          </p:nvSpPr>
          <p:spPr>
            <a:xfrm>
              <a:off x="525780" y="3518535"/>
              <a:ext cx="13692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行为 Behavior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84070" y="351853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一个对象所能执行的动作或者变换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8385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5780" y="3958590"/>
              <a:ext cx="995362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操作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Operation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84070" y="395859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行为在类的定义中被进一步明确为操作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56057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5780" y="4680585"/>
              <a:ext cx="12324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方法 Method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84070" y="468058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一个操作在某个类中的一种特定实现</a:t>
              </a:r>
            </a:p>
          </p:txBody>
        </p:sp>
      </p:grpSp>
      <p:grpSp>
        <p:nvGrpSpPr>
          <p:cNvPr id="29" name="c1-bullets-3"/>
          <p:cNvGrpSpPr/>
          <p:nvPr/>
        </p:nvGrpSpPr>
        <p:grpSpPr>
          <a:xfrm>
            <a:off x="542925" y="5125879"/>
            <a:ext cx="4476242" cy="555116"/>
            <a:chOff x="542925" y="5125879"/>
            <a:chExt cx="4476242" cy="555116"/>
          </a:xfrm>
        </p:grpSpPr>
        <p:sp>
          <p:nvSpPr>
            <p:cNvPr id="25" name="Ellipse 25"/>
            <p:cNvSpPr/>
            <p:nvPr/>
          </p:nvSpPr>
          <p:spPr>
            <a:xfrm>
              <a:off x="542925" y="517874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8373" y="5125879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具体子类必须实现它继承来的全部抽象操作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42925" y="5484495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98373" y="5431631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让具体操作也成为多态的在语法上可行，但属于不良风格</a:t>
              </a:r>
            </a:p>
          </p:txBody>
        </p:sp>
      </p:grpSp>
      <p:grpSp>
        <p:nvGrpSpPr>
          <p:cNvPr id="61" name="c2-uml-1"/>
          <p:cNvGrpSpPr/>
          <p:nvPr/>
        </p:nvGrpSpPr>
        <p:grpSpPr>
          <a:xfrm>
            <a:off x="6758940" y="2262188"/>
            <a:ext cx="4326254" cy="2554605"/>
            <a:chOff x="6758940" y="2262188"/>
            <a:chExt cx="4326254" cy="2554605"/>
          </a:xfrm>
        </p:grpSpPr>
        <p:sp>
          <p:nvSpPr>
            <p:cNvPr id="30" name="Freeform 30"/>
            <p:cNvSpPr/>
            <p:nvPr/>
          </p:nvSpPr>
          <p:spPr>
            <a:xfrm>
              <a:off x="8010525" y="2777490"/>
              <a:ext cx="1408747" cy="9525"/>
            </a:xfrm>
            <a:custGeom>
              <a:avLst/>
              <a:gdLst/>
              <a:ahLst/>
              <a:cxnLst/>
              <a:rect l="l" t="t" r="r" b="b"/>
              <a:pathLst>
                <a:path w="1408747" h="9525">
                  <a:moveTo>
                    <a:pt x="0" y="0"/>
                  </a:moveTo>
                  <a:lnTo>
                    <a:pt x="1408747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9314498" y="2719388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8103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7439025" y="3417570"/>
              <a:ext cx="2812732" cy="558165"/>
            </a:xfrm>
            <a:custGeom>
              <a:avLst/>
              <a:gdLst/>
              <a:ahLst/>
              <a:cxnLst/>
              <a:rect l="l" t="t" r="r" b="b"/>
              <a:pathLst>
                <a:path w="2812732" h="558165">
                  <a:moveTo>
                    <a:pt x="0" y="558165"/>
                  </a:moveTo>
                  <a:lnTo>
                    <a:pt x="0" y="216217"/>
                  </a:lnTo>
                  <a:lnTo>
                    <a:pt x="2812732" y="216217"/>
                  </a:lnTo>
                  <a:lnTo>
                    <a:pt x="281273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10178415" y="329184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10251758" y="3417570"/>
              <a:ext cx="9525" cy="558165"/>
            </a:xfrm>
            <a:custGeom>
              <a:avLst/>
              <a:gdLst/>
              <a:ahLst/>
              <a:cxnLst/>
              <a:rect l="l" t="t" r="r" b="b"/>
              <a:pathLst>
                <a:path w="9525" h="558165">
                  <a:moveTo>
                    <a:pt x="0" y="55816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0178415" y="329184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867525" y="2546032"/>
              <a:ext cx="1143000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874192" y="2553652"/>
              <a:ext cx="1128712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867525" y="2812732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867525" y="2907982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9419272" y="2262188"/>
              <a:ext cx="1665922" cy="10296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9425940" y="2268855"/>
              <a:ext cx="1651635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9419272" y="2528888"/>
              <a:ext cx="1665922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9419272" y="2624138"/>
              <a:ext cx="1665922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758940" y="3975735"/>
              <a:ext cx="1359218" cy="8410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766560" y="3983355"/>
              <a:ext cx="1344930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758940" y="4242435"/>
              <a:ext cx="135921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758940" y="4337685"/>
              <a:ext cx="135921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572625" y="3975735"/>
              <a:ext cx="1359218" cy="8410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9579292" y="3983355"/>
              <a:ext cx="1344930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572625" y="4242435"/>
              <a:ext cx="135921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572625" y="4337685"/>
              <a:ext cx="135921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169629" y="2610326"/>
              <a:ext cx="5387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Canvas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025898" y="2326481"/>
              <a:ext cx="4517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i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Shape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490138" y="2696528"/>
              <a:ext cx="1524191" cy="5844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draw(g: Graphics)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getArea(): int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getBoundingArea(): int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169629" y="4040029"/>
              <a:ext cx="5387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Square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829806" y="4410075"/>
              <a:ext cx="1217486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draw(g: Graphics)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getArea(): int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022313" y="4040029"/>
              <a:ext cx="4588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Circle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643491" y="4410075"/>
              <a:ext cx="1217486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draw(g: Graphics)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getArea(): int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486775" y="2561272"/>
              <a:ext cx="455295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518265" y="2587943"/>
              <a:ext cx="3923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 对 *</a:t>
              </a:r>
            </a:p>
          </p:txBody>
        </p:sp>
      </p:grpSp>
      <p:grpSp>
        <p:nvGrpSpPr>
          <p:cNvPr id="6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2" name="Rectangle 6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130" y="5991225"/>
              <a:ext cx="76519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Canvas 只认识 Shape，调 draw() 时画出的是方还是圆，由运行时的实际对象决定。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面向对象的概念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重载：同一个名字，靠参数或操作数类型区分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885887" cy="308039"/>
            <a:chOff x="525399" y="1550194"/>
            <a:chExt cx="7885887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88588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重载发生在编译期，靠签名选实现；多态发生在运行期，靠对象的实际类型选实现。</a:t>
              </a:r>
            </a:p>
          </p:txBody>
        </p:sp>
      </p:grpSp>
      <p:grpSp>
        <p:nvGrpSpPr>
          <p:cNvPr id="17" name="c1-card-1"/>
          <p:cNvGrpSpPr/>
          <p:nvPr/>
        </p:nvGrpSpPr>
        <p:grpSpPr>
          <a:xfrm>
            <a:off x="533400" y="1967865"/>
            <a:ext cx="5193982" cy="2487930"/>
            <a:chOff x="533400" y="1967865"/>
            <a:chExt cx="5193982" cy="248793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193982" cy="2487930"/>
            </a:xfrm>
            <a:prstGeom prst="roundRect">
              <a:avLst>
                <a:gd name="adj" fmla="val 53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222123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19997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重载（overloading）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函数重载：同一作用域内若干个参数特征不同的函数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可以使用相同的函数名字。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3430" y="319468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运算符重载：同一个运算符可以施加于不同类型的操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作数上面。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4573" y="3811429"/>
              <a:ext cx="45646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参数特征不同或被操作数类型不同时，实现函数的算法或运算符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的语义并不相同。</a:t>
              </a:r>
            </a:p>
          </p:txBody>
        </p:sp>
      </p:grpSp>
      <p:grpSp>
        <p:nvGrpSpPr>
          <p:cNvPr id="21" name="c1-code-2"/>
          <p:cNvGrpSpPr/>
          <p:nvPr/>
        </p:nvGrpSpPr>
        <p:grpSpPr>
          <a:xfrm>
            <a:off x="533400" y="4645342"/>
            <a:ext cx="5193982" cy="1516380"/>
            <a:chOff x="533400" y="4645342"/>
            <a:chExt cx="5193982" cy="1516380"/>
          </a:xfrm>
        </p:grpSpPr>
        <p:sp>
          <p:nvSpPr>
            <p:cNvPr id="18" name="Rectangle 18"/>
            <p:cNvSpPr/>
            <p:nvPr/>
          </p:nvSpPr>
          <p:spPr>
            <a:xfrm>
              <a:off x="533400" y="4645342"/>
              <a:ext cx="5193982" cy="1516380"/>
            </a:xfrm>
            <a:prstGeom prst="roundRect">
              <a:avLst>
                <a:gd name="adj" fmla="val 628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61797" y="479726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两种重载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1035" y="5060156"/>
              <a:ext cx="3474974" cy="1031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max(</a:t>
              </a:r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a, </a:t>
              </a:r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b);</a:t>
              </a:r>
              <a:br/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max(</a:t>
              </a:r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a, </a:t>
              </a:r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b);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函数重载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Complex </a:t>
              </a:r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operator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+(Complex a, Complex b);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运算符重载：+ 作用于复数</a:t>
              </a:r>
            </a:p>
          </p:txBody>
        </p:sp>
      </p:grpSp>
      <p:grpSp>
        <p:nvGrpSpPr>
          <p:cNvPr id="48" name="c2-table-1"/>
          <p:cNvGrpSpPr/>
          <p:nvPr/>
        </p:nvGrpSpPr>
        <p:grpSpPr>
          <a:xfrm>
            <a:off x="6032182" y="1967865"/>
            <a:ext cx="5626418" cy="2244090"/>
            <a:chOff x="6032182" y="1967865"/>
            <a:chExt cx="5626418" cy="2244090"/>
          </a:xfrm>
        </p:grpSpPr>
        <p:sp>
          <p:nvSpPr>
            <p:cNvPr id="22" name="Rectangle 22"/>
            <p:cNvSpPr/>
            <p:nvPr/>
          </p:nvSpPr>
          <p:spPr>
            <a:xfrm>
              <a:off x="6032182" y="1967865"/>
              <a:ext cx="5626418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69240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4132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重载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52049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多态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140006" y="255127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何时确定实现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45718" y="2426018"/>
              <a:ext cx="1747838" cy="42957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744016" y="255127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编译期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9413558" y="2426018"/>
              <a:ext cx="2235518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511856" y="255127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运行期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32182" y="28603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032182" y="2865120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140006" y="30008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区分依据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744016" y="300085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参数个数与类型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11856" y="300085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接收消息对象的实际类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32182" y="330898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40006" y="344947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是否需要继承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744016" y="344947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不需要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511856" y="344947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需要（覆盖基类操作）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32182" y="375761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032182" y="3762375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140006" y="389810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名字是否相同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44016" y="38981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511856" y="38981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相同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32182" y="1967865"/>
              <a:ext cx="5626418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631430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399270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c2-callout-2"/>
          <p:cNvGrpSpPr/>
          <p:nvPr/>
        </p:nvGrpSpPr>
        <p:grpSpPr>
          <a:xfrm>
            <a:off x="6032182" y="4402455"/>
            <a:ext cx="5626418" cy="1760220"/>
            <a:chOff x="6032182" y="4402455"/>
            <a:chExt cx="5626418" cy="1760220"/>
          </a:xfrm>
        </p:grpSpPr>
        <p:sp>
          <p:nvSpPr>
            <p:cNvPr id="49" name="Rectangle 49"/>
            <p:cNvSpPr/>
            <p:nvPr/>
          </p:nvSpPr>
          <p:spPr>
            <a:xfrm>
              <a:off x="6032182" y="4402455"/>
              <a:ext cx="5626418" cy="1760220"/>
            </a:xfrm>
            <a:prstGeom prst="roundRect">
              <a:avLst>
                <a:gd name="adj" fmla="val 649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224912" y="5177908"/>
              <a:ext cx="224134" cy="192560"/>
              <a:chOff x="6224912" y="5177908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336983" y="524827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224912" y="517790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336983" y="53260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538912" y="5038725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重载的几个函数彼此无关，只是共用一个名字；多态的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几个方法实现的是同一个抽象操作。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802761" cy="2997517"/>
            <a:chOff x="667512" y="1835468"/>
            <a:chExt cx="3802761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面向对象建模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模型是什么，为什么建，建到什么精度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模型的定义与作用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建模的四个目的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建模的四条原则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面向对象建模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模型是对现实的简化，用来帮人理解复杂系统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294370" cy="293370"/>
            <a:chOff x="525780" y="1548765"/>
            <a:chExt cx="829437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2943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模型由一组图示符号和组织这些符号的规则组成，用它们定义和描述问题域中的术语和概念。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54530"/>
            <a:ext cx="5626418" cy="1547812"/>
            <a:chOff x="533400" y="1954530"/>
            <a:chExt cx="5626418" cy="154781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626418" cy="1547812"/>
            </a:xfrm>
            <a:prstGeom prst="roundRect">
              <a:avLst>
                <a:gd name="adj" fmla="val 86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28111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9620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1060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52931" y="2187416"/>
              <a:ext cx="13271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模型（Model）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381" y="2531269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为了理解事物而对事物作出的一种抽象，是对事物的一种无歧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义的书面描述。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3524" y="3116580"/>
              <a:ext cx="29413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model is a simplification of reality.</a:t>
              </a:r>
            </a:p>
          </p:txBody>
        </p:sp>
      </p:grpSp>
      <p:grpSp>
        <p:nvGrpSpPr>
          <p:cNvPr id="30" name="c1-bullets-2"/>
          <p:cNvGrpSpPr/>
          <p:nvPr/>
        </p:nvGrpSpPr>
        <p:grpSpPr>
          <a:xfrm>
            <a:off x="526161" y="3705701"/>
            <a:ext cx="3562337" cy="1595057"/>
            <a:chOff x="526161" y="3705701"/>
            <a:chExt cx="3562337" cy="1595057"/>
          </a:xfrm>
        </p:grpSpPr>
        <p:sp>
          <p:nvSpPr>
            <p:cNvPr id="17" name="TextBox 17"/>
            <p:cNvSpPr txBox="1"/>
            <p:nvPr/>
          </p:nvSpPr>
          <p:spPr>
            <a:xfrm>
              <a:off x="526161" y="3705701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建模要达到的四个目的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029075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91745" y="406941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4293" y="4041934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帮助你按照希望的样子可视化一个系统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33400" y="435578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91745" y="439612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24293" y="4368641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允许你规约系统的结构或行为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33400" y="468249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91745" y="472282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4293" y="4695349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给出一个指导你构造系统的模板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33400" y="5009198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91745" y="504953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24293" y="502205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记录下你所做的决定</a:t>
              </a:r>
            </a:p>
          </p:txBody>
        </p:sp>
      </p:grpSp>
      <p:grpSp>
        <p:nvGrpSpPr>
          <p:cNvPr id="37" name="c1-callout-3"/>
          <p:cNvGrpSpPr/>
          <p:nvPr/>
        </p:nvGrpSpPr>
        <p:grpSpPr>
          <a:xfrm>
            <a:off x="533400" y="5424488"/>
            <a:ext cx="5626418" cy="503872"/>
            <a:chOff x="533400" y="5424488"/>
            <a:chExt cx="5626418" cy="503872"/>
          </a:xfrm>
        </p:grpSpPr>
        <p:sp>
          <p:nvSpPr>
            <p:cNvPr id="31" name="Rectangle 31"/>
            <p:cNvSpPr/>
            <p:nvPr/>
          </p:nvSpPr>
          <p:spPr>
            <a:xfrm>
              <a:off x="533400" y="5424488"/>
              <a:ext cx="5626418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576888"/>
              <a:ext cx="200026" cy="200025"/>
              <a:chOff x="738188" y="5576888"/>
              <a:chExt cx="200026" cy="200025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5768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77926" y="56213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12642" y="57324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511" y="5577364"/>
              <a:ext cx="4984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系统复杂到你没法在脑子里一次装下的时候，就必须建模。</a:t>
              </a:r>
            </a:p>
          </p:txBody>
        </p:sp>
      </p:grpSp>
      <p:grpSp>
        <p:nvGrpSpPr>
          <p:cNvPr id="40" name="c2-image-1"/>
          <p:cNvGrpSpPr/>
          <p:nvPr/>
        </p:nvGrpSpPr>
        <p:grpSpPr>
          <a:xfrm>
            <a:off x="6464618" y="1954530"/>
            <a:ext cx="5193982" cy="2984754"/>
            <a:chOff x="6464618" y="1954530"/>
            <a:chExt cx="5193982" cy="2984754"/>
          </a:xfrm>
        </p:grpSpPr>
        <p:pic>
          <p:nvPicPr>
            <p:cNvPr id="38" name="Image 38"/>
            <p:cNvPicPr>
              <a:picLocks noChangeAspect="1"/>
            </p:cNvPicPr>
            <p:nvPr/>
          </p:nvPicPr>
          <p:blipFill>
            <a:blip r:embed="rId2"/>
            <a:srcRect l="0" t="15524" r="0" b="15523"/>
            <a:stretch>
              <a:fillRect/>
            </a:stretch>
          </p:blipFill>
          <p:spPr>
            <a:xfrm>
              <a:off x="6464618" y="1954530"/>
              <a:ext cx="5193982" cy="2686050"/>
            </a:xfrm>
            <a:prstGeom prst="roundRect">
              <a:avLst>
                <a:gd name="adj" fmla="val 4964"/>
              </a:avLst>
            </a:prstGeom>
          </p:spPr>
        </p:pic>
        <p:sp>
          <p:nvSpPr>
            <p:cNvPr id="39" name="TextBox 39"/>
            <p:cNvSpPr txBox="1"/>
            <p:nvPr/>
          </p:nvSpPr>
          <p:spPr>
            <a:xfrm>
              <a:off x="7572566" y="4733925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纸飞机折了就飞，战斗机得先有图纸和风洞模型</a:t>
              </a:r>
            </a:p>
          </p:txBody>
        </p:sp>
      </p:grpSp>
      <p:grpSp>
        <p:nvGrpSpPr>
          <p:cNvPr id="47" name="c2-callout-2"/>
          <p:cNvGrpSpPr/>
          <p:nvPr/>
        </p:nvGrpSpPr>
        <p:grpSpPr>
          <a:xfrm>
            <a:off x="6464618" y="5097780"/>
            <a:ext cx="5193982" cy="830580"/>
            <a:chOff x="6464618" y="5097780"/>
            <a:chExt cx="5193982" cy="830580"/>
          </a:xfrm>
        </p:grpSpPr>
        <p:sp>
          <p:nvSpPr>
            <p:cNvPr id="41" name="Rectangle 41"/>
            <p:cNvSpPr/>
            <p:nvPr/>
          </p:nvSpPr>
          <p:spPr>
            <a:xfrm>
              <a:off x="6464618" y="5097780"/>
              <a:ext cx="5193982" cy="830580"/>
            </a:xfrm>
            <a:prstGeom prst="roundRect">
              <a:avLst>
                <a:gd name="adj" fmla="val 1376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6657347" y="5409366"/>
              <a:ext cx="224134" cy="192560"/>
              <a:chOff x="6657347" y="5409366"/>
              <a:chExt cx="224134" cy="19256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6769418" y="54797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657347" y="54093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769418" y="55575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6971729" y="5282089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常见做法：拿到需求就写代码、加班堆代码、没有规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划过的体系结构，结果注定失败。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8875" cy="909257"/>
            <a:chOff x="520446" y="342900"/>
            <a:chExt cx="24288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面向对象建模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建模的四条原则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4908093" cy="308039"/>
            <a:chOff x="525399" y="1550194"/>
            <a:chExt cx="4908093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490809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这四条决定了你该建什么模型、建到多细、建几个。</a:t>
              </a:r>
            </a:p>
          </p:txBody>
        </p:sp>
      </p:grpSp>
      <p:grpSp>
        <p:nvGrpSpPr>
          <p:cNvPr id="34" name="c1-table-1"/>
          <p:cNvGrpSpPr/>
          <p:nvPr/>
        </p:nvGrpSpPr>
        <p:grpSpPr>
          <a:xfrm>
            <a:off x="533400" y="1967865"/>
            <a:ext cx="11125200" cy="2470785"/>
            <a:chOff x="533400" y="1967865"/>
            <a:chExt cx="11125200" cy="247078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80050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原则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24950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193898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实践含义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55127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模型的选择很重要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33966" y="255127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你所建的模型深刻影响问题被如何解决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39228" y="255127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选错模型会把方案引向错误的世界观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300085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精度可以不同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533966" y="300085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每个模型都可以在不同精度层次上表达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9228" y="300085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好模型让你按需要选择细节程度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344947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最好的模型与现实相连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533966" y="344947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所有模型都简化现实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440930" y="3323272"/>
              <a:ext cx="42081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39228" y="3449479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好模型反映潜在的致命特性，不能为简化而丢掉它们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3762375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401145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单一模型不充分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533966" y="3898106"/>
              <a:ext cx="35892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任何非平凡系统都要用一小组几乎独立的模型来逼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近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9228" y="401145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模型可分别建立和研究，但彼此仍相互关联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1967865"/>
              <a:ext cx="11125200" cy="24707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3421380" y="1967865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426642" y="1967865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1-kv-2"/>
          <p:cNvGrpSpPr/>
          <p:nvPr/>
        </p:nvGrpSpPr>
        <p:grpSpPr>
          <a:xfrm>
            <a:off x="525780" y="4653915"/>
            <a:ext cx="11132820" cy="733425"/>
            <a:chOff x="525780" y="4653915"/>
            <a:chExt cx="11132820" cy="733425"/>
          </a:xfrm>
        </p:grpSpPr>
        <p:sp>
          <p:nvSpPr>
            <p:cNvPr id="35" name="TextBox 35"/>
            <p:cNvSpPr txBox="1"/>
            <p:nvPr/>
          </p:nvSpPr>
          <p:spPr>
            <a:xfrm>
              <a:off x="525780" y="46539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精度由谁定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765935" y="4653915"/>
              <a:ext cx="82943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取决于谁在看这个模型、他为什么要看：给客户看的电路图和给设计者看的电路图不是同一张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97395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5780" y="509397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模型与代码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765935" y="5093970"/>
              <a:ext cx="6477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每种世界观导向一种不同的系统，模型选择在写第一行代码之前就起作用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247007" cy="2997517"/>
            <a:chOff x="667512" y="1835468"/>
            <a:chExt cx="4247007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13108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与用例图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统一建模语言的词汇，以及最先画的那张图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894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的四种用途与历史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要素、关系与九种图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用例图与用例规约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53631" cy="909257"/>
            <a:chOff x="520446" y="342900"/>
            <a:chExt cx="805363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5363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是一种用于可视化、规约、构造和文档化的语言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657715" cy="597598"/>
            <a:chOff x="525399" y="1550194"/>
            <a:chExt cx="9657715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657715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en-US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The UML is a language for visualizing, specifying, constructing and documenting the artifacts of a</a:t>
              </a:r>
              <a:br/>
              <a:r>
                <a:rPr lang="en-US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software-intensive system.</a:t>
              </a:r>
            </a:p>
          </p:txBody>
        </p:sp>
      </p:grpSp>
      <p:grpSp>
        <p:nvGrpSpPr>
          <p:cNvPr id="20" name="c1-kv-1"/>
          <p:cNvGrpSpPr/>
          <p:nvPr/>
        </p:nvGrpSpPr>
        <p:grpSpPr>
          <a:xfrm>
            <a:off x="525780" y="2282190"/>
            <a:ext cx="5417820" cy="3023235"/>
            <a:chOff x="525780" y="2282190"/>
            <a:chExt cx="5417820" cy="3023235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2282190"/>
              <a:ext cx="1275874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Visualizing 可</a:t>
              </a:r>
              <a:br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视化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40255" y="2282190"/>
              <a:ext cx="3634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把只存在于脑子里的概念模型显式画出来，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团队才可能说同一种语言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88417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5780" y="3004185"/>
              <a:ext cx="1265872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Specifying 规</a:t>
              </a:r>
              <a:br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约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40255" y="300418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建立精确、无歧义、完整的模型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60616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5780" y="3726180"/>
              <a:ext cx="1285399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Constructing</a:t>
              </a:r>
              <a:br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构造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40255" y="3726180"/>
              <a:ext cx="36347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模型可直接连到 Java、C++、Visual Basic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等语言，也可映射到关系库表或对象库，支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持正向与逆向工程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46101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5780" y="4730115"/>
              <a:ext cx="12153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Documenting</a:t>
              </a:r>
              <a:br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文档化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40255" y="4730115"/>
              <a:ext cx="3634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覆盖体系结构、需求、测试、项目计划与发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布管理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5436870"/>
            <a:ext cx="5410200" cy="782955"/>
            <a:chOff x="533400" y="5436870"/>
            <a:chExt cx="5410200" cy="782955"/>
          </a:xfrm>
        </p:grpSpPr>
        <p:sp>
          <p:nvSpPr>
            <p:cNvPr id="21" name="Rectangle 21"/>
            <p:cNvSpPr/>
            <p:nvPr/>
          </p:nvSpPr>
          <p:spPr>
            <a:xfrm>
              <a:off x="533400" y="543687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5728335"/>
              <a:ext cx="200026" cy="200026"/>
              <a:chOff x="738188" y="5728335"/>
              <a:chExt cx="200026" cy="2000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572833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579501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27088" y="582834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130" y="5585460"/>
              <a:ext cx="44253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是一种建模语言，不是一种方法，也不是一种过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2257425"/>
            <a:ext cx="5410200" cy="1602105"/>
            <a:chOff x="6248400" y="2257425"/>
            <a:chExt cx="5410200" cy="1602105"/>
          </a:xfrm>
        </p:grpSpPr>
        <p:sp>
          <p:nvSpPr>
            <p:cNvPr id="28" name="Rectangle 28"/>
            <p:cNvSpPr/>
            <p:nvPr/>
          </p:nvSpPr>
          <p:spPr>
            <a:xfrm>
              <a:off x="6248400" y="2257425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57950" y="2466975"/>
              <a:ext cx="1774508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09753" y="250269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为什么需要一种统一语言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50330" y="2844165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把概念模型口头传递给别人一定会走样，除非所有相关的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人讲同一种语言。软件系统里有些东西你不建模就理解不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了，而显式的模型本身就在促成沟通。</a:t>
              </a:r>
            </a:p>
          </p:txBody>
        </p:sp>
      </p:grpSp>
      <p:grpSp>
        <p:nvGrpSpPr>
          <p:cNvPr id="40" name="c2-bullets-2"/>
          <p:cNvGrpSpPr/>
          <p:nvPr/>
        </p:nvGrpSpPr>
        <p:grpSpPr>
          <a:xfrm>
            <a:off x="6240780" y="4074795"/>
            <a:ext cx="2102930" cy="1337310"/>
            <a:chOff x="6240780" y="4074795"/>
            <a:chExt cx="2102930" cy="1337310"/>
          </a:xfrm>
        </p:grpSpPr>
        <p:sp>
          <p:nvSpPr>
            <p:cNvPr id="33" name="TextBox 33"/>
            <p:cNvSpPr txBox="1"/>
            <p:nvPr/>
          </p:nvSpPr>
          <p:spPr>
            <a:xfrm>
              <a:off x="6240780" y="407479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语言之外还需要什么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6248400" y="4460558"/>
              <a:ext cx="143828" cy="117158"/>
            </a:xfrm>
            <a:custGeom>
              <a:avLst/>
              <a:gdLst/>
              <a:ahLst/>
              <a:cxnLst/>
              <a:rect l="l" t="t" r="r" b="b"/>
              <a:pathLst>
                <a:path w="143828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98908" y="4429125"/>
              <a:ext cx="16215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建模语言（UML）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6248400" y="4805362"/>
              <a:ext cx="143828" cy="117157"/>
            </a:xfrm>
            <a:custGeom>
              <a:avLst/>
              <a:gdLst/>
              <a:ahLst/>
              <a:cxnLst/>
              <a:rect l="l" t="t" r="r" b="b"/>
              <a:pathLst>
                <a:path w="143828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498908" y="4773930"/>
              <a:ext cx="18448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统一过程（如 RUP）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6248400" y="5150168"/>
              <a:ext cx="143828" cy="117157"/>
            </a:xfrm>
            <a:custGeom>
              <a:avLst/>
              <a:gdLst/>
              <a:ahLst/>
              <a:cxnLst/>
              <a:rect l="l" t="t" r="r" b="b"/>
              <a:pathLst>
                <a:path w="143828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8908" y="511873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基于团队的开发方式</a:t>
              </a:r>
            </a:p>
          </p:txBody>
        </p:sp>
      </p:grpSp>
      <p:grpSp>
        <p:nvGrpSpPr>
          <p:cNvPr id="47" name="c2-callout-3"/>
          <p:cNvGrpSpPr/>
          <p:nvPr/>
        </p:nvGrpSpPr>
        <p:grpSpPr>
          <a:xfrm>
            <a:off x="6248400" y="5543550"/>
            <a:ext cx="5410200" cy="676275"/>
            <a:chOff x="6248400" y="5543550"/>
            <a:chExt cx="5410200" cy="676275"/>
          </a:xfrm>
        </p:grpSpPr>
        <p:sp>
          <p:nvSpPr>
            <p:cNvPr id="41" name="Rectangle 41"/>
            <p:cNvSpPr/>
            <p:nvPr/>
          </p:nvSpPr>
          <p:spPr>
            <a:xfrm>
              <a:off x="6248400" y="5543550"/>
              <a:ext cx="5410200" cy="676275"/>
            </a:xfrm>
            <a:prstGeom prst="roundRect">
              <a:avLst>
                <a:gd name="adj" fmla="val 1690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6441129" y="5777983"/>
              <a:ext cx="224134" cy="192560"/>
              <a:chOff x="6441129" y="5777983"/>
              <a:chExt cx="224134" cy="19256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6553200" y="58483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441129" y="577798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553200" y="59261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6755130" y="5776912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只有语言不足以建成一个系统，三者要配齐。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590978" cy="909257"/>
            <a:chOff x="520446" y="342900"/>
            <a:chExt cx="359097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59097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的来源与版本演进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232678" cy="264033"/>
            <a:chOff x="526542" y="1545907"/>
            <a:chExt cx="723267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2326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UML 由 Booch、Rumbaugh、Jacobson 三人的方法合流而成，又吸收了其他多家的记号。</a:t>
              </a:r>
            </a:p>
          </p:txBody>
        </p:sp>
      </p:grpSp>
      <p:grpSp>
        <p:nvGrpSpPr>
          <p:cNvPr id="35" name="c1-table-1"/>
          <p:cNvGrpSpPr/>
          <p:nvPr/>
        </p:nvGrpSpPr>
        <p:grpSpPr>
          <a:xfrm>
            <a:off x="533400" y="1928812"/>
            <a:ext cx="5410200" cy="3312795"/>
            <a:chOff x="533400" y="1928812"/>
            <a:chExt cx="5410200" cy="331279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439102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62062" y="205359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76294" y="205359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29412" y="2612708"/>
              <a:ext cx="10727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1991 / 1993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64879" y="2492692"/>
              <a:ext cx="2679763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Booch'91、Booch'93 与 OMT-1、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OMT-2 各自发展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0413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3046095"/>
              <a:ext cx="5410200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9412" y="3171825"/>
              <a:ext cx="15430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1995（OOPSLA）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64879" y="3171825"/>
              <a:ext cx="16819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Unified Method 0.8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48043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9412" y="3610927"/>
              <a:ext cx="4335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1996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464879" y="3610927"/>
              <a:ext cx="27697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0.9（6月）与 0.91（10月）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9195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924300"/>
              <a:ext cx="5410200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9412" y="4049077"/>
              <a:ext cx="6434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1997.1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464879" y="4049077"/>
              <a:ext cx="16157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1.0 提交 OMG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3586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9412" y="4488180"/>
              <a:ext cx="6434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1997.9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378392" y="4372928"/>
              <a:ext cx="3555682" cy="420052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464879" y="4488180"/>
              <a:ext cx="2400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1.1 被 OMG 采纳为标准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47977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4802505"/>
              <a:ext cx="5410200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29412" y="4927283"/>
              <a:ext cx="15216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1998 秋 / 2001.9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464879" y="4927283"/>
              <a:ext cx="1654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1.3、UML 1.4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928812"/>
              <a:ext cx="5410200" cy="33127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364105" y="1928812"/>
              <a:ext cx="9525" cy="33127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5" name="c2-kv-1"/>
          <p:cNvGrpSpPr/>
          <p:nvPr/>
        </p:nvGrpSpPr>
        <p:grpSpPr>
          <a:xfrm>
            <a:off x="6241542" y="1950720"/>
            <a:ext cx="5417058" cy="3795903"/>
            <a:chOff x="6241542" y="1950720"/>
            <a:chExt cx="5417058" cy="3795903"/>
          </a:xfrm>
        </p:grpSpPr>
        <p:sp>
          <p:nvSpPr>
            <p:cNvPr id="36" name="TextBox 36"/>
            <p:cNvSpPr txBox="1"/>
            <p:nvPr/>
          </p:nvSpPr>
          <p:spPr>
            <a:xfrm>
              <a:off x="6241542" y="1950720"/>
              <a:ext cx="5444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Booch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726489" y="195072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面向对象设计记号，三位主创之一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22374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41542" y="2343150"/>
              <a:ext cx="8977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Rumbaugh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26489" y="2343150"/>
              <a:ext cx="21006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OMT 方法，三位主创之一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26298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41542" y="2735580"/>
              <a:ext cx="8592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Jacobson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26489" y="2735580"/>
              <a:ext cx="27514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OOSE 与用例驱动，三位主创之一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30222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241542" y="3128010"/>
              <a:ext cx="4961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Harel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726489" y="3128010"/>
              <a:ext cx="20764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状态图（state charts）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34147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241542" y="3520440"/>
              <a:ext cx="5830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Meyer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726489" y="352044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前置条件与后置条件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248400" y="3807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241542" y="3912870"/>
              <a:ext cx="861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Gamma 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726489" y="391287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框架、模式与注释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48400" y="41995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241542" y="4305300"/>
              <a:ext cx="12850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Shlaer-Mellor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726489" y="43053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对象生命周期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248400" y="45920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241542" y="4697730"/>
              <a:ext cx="4865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Odell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726489" y="469773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分类法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248400" y="49844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241542" y="5090160"/>
              <a:ext cx="11716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Wirfs-Brock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726489" y="509016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职责驱动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248400" y="53768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241542" y="5482590"/>
              <a:ext cx="6012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Fusion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726489" y="548259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操作描述与消息编号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6" name="Rectangle 6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892" y="6028373"/>
              <a:ext cx="77568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本章讲的九种图属于 UML 1.x；UML 2.0 之后图的数量扩到十几种，九种图仍是最常用的核心。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307383" cy="909257"/>
            <a:chOff x="520446" y="342900"/>
            <a:chExt cx="530738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30738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的三类词汇：要素、关系、图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497193" cy="293370"/>
            <a:chOff x="525780" y="1548765"/>
            <a:chExt cx="6497193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4971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记住“四种要素、四种关系、九种图”这条主线，后面每张图都能挂上去。</a:t>
              </a:r>
            </a:p>
          </p:txBody>
        </p:sp>
      </p:grpSp>
      <p:grpSp>
        <p:nvGrpSpPr>
          <p:cNvPr id="32" name="c1-tree-1"/>
          <p:cNvGrpSpPr/>
          <p:nvPr/>
        </p:nvGrpSpPr>
        <p:grpSpPr>
          <a:xfrm>
            <a:off x="533400" y="2021205"/>
            <a:ext cx="4761547" cy="2822258"/>
            <a:chOff x="533400" y="2021205"/>
            <a:chExt cx="4761547" cy="2822258"/>
          </a:xfrm>
        </p:grpSpPr>
        <p:sp>
          <p:nvSpPr>
            <p:cNvPr id="9" name="Freeform 9"/>
            <p:cNvSpPr/>
            <p:nvPr/>
          </p:nvSpPr>
          <p:spPr>
            <a:xfrm>
              <a:off x="3616642" y="2200275"/>
              <a:ext cx="419100" cy="739140"/>
            </a:xfrm>
            <a:custGeom>
              <a:avLst/>
              <a:gdLst/>
              <a:ahLst/>
              <a:cxnLst/>
              <a:rect l="l" t="t" r="r" b="b"/>
              <a:pathLst>
                <a:path w="419100" h="739140">
                  <a:moveTo>
                    <a:pt x="0" y="739140"/>
                  </a:moveTo>
                  <a:lnTo>
                    <a:pt x="209550" y="73914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616642" y="2693670"/>
              <a:ext cx="419100" cy="245745"/>
            </a:xfrm>
            <a:custGeom>
              <a:avLst/>
              <a:gdLst/>
              <a:ahLst/>
              <a:cxnLst/>
              <a:rect l="l" t="t" r="r" b="b"/>
              <a:pathLst>
                <a:path w="419100" h="245745">
                  <a:moveTo>
                    <a:pt x="0" y="245745"/>
                  </a:moveTo>
                  <a:lnTo>
                    <a:pt x="209550" y="24574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616642" y="2939415"/>
              <a:ext cx="419100" cy="245745"/>
            </a:xfrm>
            <a:custGeom>
              <a:avLst/>
              <a:gdLst/>
              <a:ahLst/>
              <a:cxnLst/>
              <a:rect l="l" t="t" r="r" b="b"/>
              <a:pathLst>
                <a:path w="419100" h="245745">
                  <a:moveTo>
                    <a:pt x="0" y="0"/>
                  </a:moveTo>
                  <a:lnTo>
                    <a:pt x="209550" y="0"/>
                  </a:lnTo>
                  <a:lnTo>
                    <a:pt x="209550" y="245745"/>
                  </a:lnTo>
                  <a:lnTo>
                    <a:pt x="419100" y="24574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616642" y="2939415"/>
              <a:ext cx="419100" cy="738188"/>
            </a:xfrm>
            <a:custGeom>
              <a:avLst/>
              <a:gdLst/>
              <a:ahLst/>
              <a:cxnLst/>
              <a:rect l="l" t="t" r="r" b="b"/>
              <a:pathLst>
                <a:path w="419100" h="738188">
                  <a:moveTo>
                    <a:pt x="0" y="0"/>
                  </a:moveTo>
                  <a:lnTo>
                    <a:pt x="209550" y="0"/>
                  </a:lnTo>
                  <a:lnTo>
                    <a:pt x="209550" y="738188"/>
                  </a:lnTo>
                  <a:lnTo>
                    <a:pt x="419100" y="738188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526858" y="2939415"/>
              <a:ext cx="419100" cy="862012"/>
            </a:xfrm>
            <a:custGeom>
              <a:avLst/>
              <a:gdLst/>
              <a:ahLst/>
              <a:cxnLst/>
              <a:rect l="l" t="t" r="r" b="b"/>
              <a:pathLst>
                <a:path w="419100" h="862012">
                  <a:moveTo>
                    <a:pt x="0" y="862012"/>
                  </a:moveTo>
                  <a:lnTo>
                    <a:pt x="209550" y="86201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526858" y="3801428"/>
              <a:ext cx="419100" cy="368617"/>
            </a:xfrm>
            <a:custGeom>
              <a:avLst/>
              <a:gdLst/>
              <a:ahLst/>
              <a:cxnLst/>
              <a:rect l="l" t="t" r="r" b="b"/>
              <a:pathLst>
                <a:path w="419100" h="368617">
                  <a:moveTo>
                    <a:pt x="0" y="0"/>
                  </a:moveTo>
                  <a:lnTo>
                    <a:pt x="209550" y="0"/>
                  </a:lnTo>
                  <a:lnTo>
                    <a:pt x="209550" y="368617"/>
                  </a:lnTo>
                  <a:lnTo>
                    <a:pt x="419100" y="368617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526858" y="3801428"/>
              <a:ext cx="419100" cy="861060"/>
            </a:xfrm>
            <a:custGeom>
              <a:avLst/>
              <a:gdLst/>
              <a:ahLst/>
              <a:cxnLst/>
              <a:rect l="l" t="t" r="r" b="b"/>
              <a:pathLst>
                <a:path w="419100" h="861060">
                  <a:moveTo>
                    <a:pt x="0" y="0"/>
                  </a:moveTo>
                  <a:lnTo>
                    <a:pt x="209550" y="0"/>
                  </a:lnTo>
                  <a:lnTo>
                    <a:pt x="209550" y="861060"/>
                  </a:lnTo>
                  <a:lnTo>
                    <a:pt x="419100" y="86106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035742" y="2021205"/>
              <a:ext cx="125920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035742" y="2513648"/>
              <a:ext cx="125920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035742" y="3006090"/>
              <a:ext cx="125920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035742" y="3498532"/>
              <a:ext cx="125920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945958" y="2759392"/>
              <a:ext cx="1670685" cy="360045"/>
            </a:xfrm>
            <a:prstGeom prst="roundRect">
              <a:avLst>
                <a:gd name="adj" fmla="val 2645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945958" y="3990975"/>
              <a:ext cx="167068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1945958" y="4483418"/>
              <a:ext cx="167068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3621405"/>
              <a:ext cx="993458" cy="360045"/>
            </a:xfrm>
            <a:prstGeom prst="roundRect">
              <a:avLst>
                <a:gd name="adj" fmla="val 26455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124896" y="21164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结构要素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24896" y="26098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行为要素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124896" y="310134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组织要素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124896" y="359378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辅助说明要素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035112" y="2855595"/>
              <a:ext cx="9088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要素 Things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035112" y="4086225"/>
              <a:ext cx="1422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关系 Relationships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035112" y="4578668"/>
              <a:ext cx="9302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 Diagrams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22554" y="3717607"/>
              <a:ext cx="7206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UML 词汇</a:t>
              </a:r>
            </a:p>
          </p:txBody>
        </p:sp>
      </p:grpSp>
      <p:grpSp>
        <p:nvGrpSpPr>
          <p:cNvPr id="44" name="c2-kv-1"/>
          <p:cNvGrpSpPr/>
          <p:nvPr/>
        </p:nvGrpSpPr>
        <p:grpSpPr>
          <a:xfrm>
            <a:off x="5591556" y="1977866"/>
            <a:ext cx="6067044" cy="1795082"/>
            <a:chOff x="5591556" y="1977866"/>
            <a:chExt cx="6067044" cy="1795082"/>
          </a:xfrm>
        </p:grpSpPr>
        <p:sp>
          <p:nvSpPr>
            <p:cNvPr id="33" name="TextBox 33"/>
            <p:cNvSpPr txBox="1"/>
            <p:nvPr/>
          </p:nvSpPr>
          <p:spPr>
            <a:xfrm>
              <a:off x="5591556" y="1977866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表述结构的要素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409879" y="1977866"/>
              <a:ext cx="23499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 Case、类、接口、协作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598795" y="22812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591556" y="239410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表述行为的要素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409879" y="239410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交互、状态机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598795" y="269748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591556" y="281035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用于组织的要素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409879" y="2810351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598795" y="311372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591556" y="3226594"/>
              <a:ext cx="145719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用于辅助说明的要</a:t>
              </a:r>
              <a:br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素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09879" y="322659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注释</a:t>
              </a:r>
            </a:p>
          </p:txBody>
        </p:sp>
      </p:grpSp>
      <p:grpSp>
        <p:nvGrpSpPr>
          <p:cNvPr id="69" name="c2-table-2"/>
          <p:cNvGrpSpPr/>
          <p:nvPr/>
        </p:nvGrpSpPr>
        <p:grpSpPr>
          <a:xfrm>
            <a:off x="5598795" y="3897630"/>
            <a:ext cx="6059805" cy="2335530"/>
            <a:chOff x="5598795" y="3897630"/>
            <a:chExt cx="6059805" cy="2335530"/>
          </a:xfrm>
        </p:grpSpPr>
        <p:sp>
          <p:nvSpPr>
            <p:cNvPr id="45" name="Rectangle 45"/>
            <p:cNvSpPr/>
            <p:nvPr/>
          </p:nvSpPr>
          <p:spPr>
            <a:xfrm>
              <a:off x="5598795" y="3897630"/>
              <a:ext cx="6059805" cy="4248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097905" y="40262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673340" y="40262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955720" y="402621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701284" y="45567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关联关系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034784" y="455676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有联系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852154" y="4450080"/>
              <a:ext cx="2450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两个类的实例之间存在稳定的结构性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联系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598795" y="495490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598795" y="4959668"/>
              <a:ext cx="605980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701284" y="50882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依赖关系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034784" y="508825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852154" y="5088255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一方改变会影响另一方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598795" y="537972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701284" y="5512117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泛化关系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034784" y="5512117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特殊到一般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852154" y="5512117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子类继承父类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598795" y="580358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5598795" y="5808345"/>
              <a:ext cx="605980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701284" y="593693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实现关系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034784" y="593693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规约到解决方案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852154" y="593693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类实现接口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5598795" y="3897630"/>
              <a:ext cx="6059805" cy="2335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6927532" y="3897630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8744902" y="3897630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590978" cy="909257"/>
            <a:chOff x="520446" y="342900"/>
            <a:chExt cx="359097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59097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的九种图各画什么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780161" cy="308039"/>
            <a:chOff x="525399" y="1550194"/>
            <a:chExt cx="578016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78016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按静态与动态分成两组记，考试常考“给一个场景选一张图”。</a:t>
              </a:r>
            </a:p>
          </p:txBody>
        </p:sp>
      </p:grpSp>
      <p:grpSp>
        <p:nvGrpSpPr>
          <p:cNvPr id="30" name="c1-table-1"/>
          <p:cNvGrpSpPr/>
          <p:nvPr/>
        </p:nvGrpSpPr>
        <p:grpSpPr>
          <a:xfrm>
            <a:off x="533400" y="1967865"/>
            <a:ext cx="5410200" cy="2692718"/>
            <a:chOff x="533400" y="1967865"/>
            <a:chExt cx="5410200" cy="269271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79983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静态图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612769" y="210264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展示的内容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2551271"/>
              <a:ext cx="10034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 Case 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264283" y="2551271"/>
              <a:ext cx="21326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 Case、Actor 及其关系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8603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86512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300085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264283" y="300085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类、接口、包及其关系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30898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1223" y="344947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对象图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64283" y="3449479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某个时间点上各对象的快照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7576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76237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389810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构件图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64283" y="38981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系统各构件及其关系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2071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434673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264283" y="434673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交付系统中软硬件间的物理关系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967865"/>
              <a:ext cx="541020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151698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1" name="c2-table-1"/>
          <p:cNvGrpSpPr/>
          <p:nvPr/>
        </p:nvGrpSpPr>
        <p:grpSpPr>
          <a:xfrm>
            <a:off x="6248400" y="1967865"/>
            <a:ext cx="5410200" cy="2244090"/>
            <a:chOff x="6248400" y="1967865"/>
            <a:chExt cx="5410200" cy="2244090"/>
          </a:xfrm>
        </p:grpSpPr>
        <p:sp>
          <p:nvSpPr>
            <p:cNvPr id="31" name="Rectangle 31"/>
            <p:cNvSpPr/>
            <p:nvPr/>
          </p:nvSpPr>
          <p:spPr>
            <a:xfrm>
              <a:off x="6248400" y="1967865"/>
              <a:ext cx="5410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94983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动态图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327769" y="210264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展示的内容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57925" y="2426018"/>
              <a:ext cx="160401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56223" y="255127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79283" y="255127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按时序展示对象间消息传递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48400" y="28603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48400" y="286512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56223" y="300085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协作图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79283" y="300085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收发消息的对象间的组织结构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330898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257925" y="3323272"/>
              <a:ext cx="160401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56223" y="344947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979283" y="3449479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对象在生命周期中的状态及对事件的响应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48400" y="37576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48400" y="376237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56223" y="389810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活动图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979283" y="3898106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从一个活动转到另一活动的路径和条件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1967865"/>
              <a:ext cx="54102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866698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2" name="Rectangle 5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130" y="5991225"/>
              <a:ext cx="54673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顺序图与协作图合称交互图，二者信息等价，可以互相转换。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197729" cy="909257"/>
            <a:chOff x="520446" y="342900"/>
            <a:chExt cx="919772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1977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最能发挥 UML 的过程：用例驱动、以架构为中心、迭代增量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151730" cy="264033"/>
            <a:chOff x="526542" y="1545907"/>
            <a:chExt cx="515173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1517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UML 本身与过程无关，但配上这三条特征的过程才能把它用足。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28812"/>
            <a:ext cx="5410200" cy="1202055"/>
            <a:chOff x="533400" y="1928812"/>
            <a:chExt cx="5410200" cy="120205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2759" y="214836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用例驱动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73340" y="2150745"/>
              <a:ext cx="15119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Use-Case Driven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为系统定义的用例是整个开发过程的基础。用例简洁、简单、能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被广泛的相关人员理解，并且帮助各个模型的内容保持同步。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301365"/>
            <a:ext cx="5410200" cy="2201228"/>
            <a:chOff x="533400" y="3301365"/>
            <a:chExt cx="5410200" cy="2201228"/>
          </a:xfrm>
        </p:grpSpPr>
        <p:sp>
          <p:nvSpPr>
            <p:cNvPr id="16" name="Rectangle 16"/>
            <p:cNvSpPr/>
            <p:nvPr/>
          </p:nvSpPr>
          <p:spPr>
            <a:xfrm>
              <a:off x="533400" y="3301365"/>
              <a:ext cx="5410200" cy="2201228"/>
            </a:xfrm>
            <a:prstGeom prst="roundRect">
              <a:avLst>
                <a:gd name="adj" fmla="val 60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434715"/>
              <a:ext cx="47625" cy="193452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58190" y="3488055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35609" y="3520916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以架构为中心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821942" y="3522345"/>
              <a:ext cx="20293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Architecture-Centric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1332" y="3849052"/>
              <a:ext cx="48143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体系结构是概念化、构造、管理和演化系统的首要产物。它带来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对项目复杂性的智力控制、大规模重用的有效基础、项目管理的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依据和基于构件开发的支撑。</a:t>
              </a:r>
            </a:p>
          </p:txBody>
        </p:sp>
      </p:grpSp>
      <p:grpSp>
        <p:nvGrpSpPr>
          <p:cNvPr id="38" name="c2-card-1"/>
          <p:cNvGrpSpPr/>
          <p:nvPr/>
        </p:nvGrpSpPr>
        <p:grpSpPr>
          <a:xfrm>
            <a:off x="6248400" y="1928812"/>
            <a:ext cx="5410200" cy="2145982"/>
            <a:chOff x="6248400" y="1928812"/>
            <a:chExt cx="5410200" cy="2145982"/>
          </a:xfrm>
        </p:grpSpPr>
        <p:sp>
          <p:nvSpPr>
            <p:cNvPr id="23" name="Rectangle 23"/>
            <p:cNvSpPr/>
            <p:nvPr/>
          </p:nvSpPr>
          <p:spPr>
            <a:xfrm>
              <a:off x="6248400" y="1928812"/>
              <a:ext cx="5410200" cy="2145982"/>
            </a:xfrm>
            <a:prstGeom prst="roundRect">
              <a:avLst>
                <a:gd name="adj" fmla="val 621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57925" y="2062162"/>
              <a:ext cx="47625" cy="18792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73190" y="2115502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54660" y="214836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迭代与增量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12164" y="2150745"/>
              <a:ext cx="24011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Iterative and Incremental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481762" y="253269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637782" y="24765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关键风险在大笔投入之前就被解决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481762" y="283273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37782" y="277653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早期迭代就能拿到用户反馈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481762" y="313277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37782" y="30765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测试与集成是持续进行的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481762" y="343281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37782" y="337661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里程碑客观，关注短期目标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481762" y="373380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37782" y="3677602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用评估实现来度量进度，部分实现可以部署</a:t>
              </a:r>
            </a:p>
          </p:txBody>
        </p:sp>
      </p:grpSp>
      <p:grpSp>
        <p:nvGrpSpPr>
          <p:cNvPr id="53" name="c2-flow-2"/>
          <p:cNvGrpSpPr/>
          <p:nvPr/>
        </p:nvGrpSpPr>
        <p:grpSpPr>
          <a:xfrm>
            <a:off x="6381750" y="4676775"/>
            <a:ext cx="5143500" cy="389572"/>
            <a:chOff x="6381750" y="4676775"/>
            <a:chExt cx="5143500" cy="389572"/>
          </a:xfrm>
        </p:grpSpPr>
        <p:sp>
          <p:nvSpPr>
            <p:cNvPr id="39" name="Freeform 39"/>
            <p:cNvSpPr/>
            <p:nvPr/>
          </p:nvSpPr>
          <p:spPr>
            <a:xfrm>
              <a:off x="7918132" y="487299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080058" y="48206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9722168" y="487299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9884092" y="48206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381750" y="4680585"/>
              <a:ext cx="153638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8184832" y="4680585"/>
              <a:ext cx="153638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9988868" y="4680585"/>
              <a:ext cx="153638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952465" y="4794409"/>
              <a:ext cx="395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755548" y="4794409"/>
              <a:ext cx="395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迭代2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558630" y="4794409"/>
              <a:ext cx="395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迭代3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7718108" y="4676775"/>
              <a:ext cx="6667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743825" y="4699635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可执行版本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9693592" y="4676775"/>
              <a:ext cx="3238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729597" y="4699635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增量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4" name="Rectangle 54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892" y="6028373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每次迭代都包含需求、设计、编码、集成和测试，最早的迭代先啃最大的风险。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用例图描述系统与外部环境的关系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843659" cy="308039"/>
            <a:chOff x="525399" y="1550194"/>
            <a:chExt cx="684365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84365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用例图是需求阶段最先画的图，它回答“谁，通过系统，能做成什么事”。</a:t>
              </a:r>
            </a:p>
          </p:txBody>
        </p:sp>
      </p:grpSp>
      <p:grpSp>
        <p:nvGrpSpPr>
          <p:cNvPr id="20" name="c1-kv-1"/>
          <p:cNvGrpSpPr/>
          <p:nvPr/>
        </p:nvGrpSpPr>
        <p:grpSpPr>
          <a:xfrm>
            <a:off x="525780" y="1992630"/>
            <a:ext cx="5417820" cy="3023235"/>
            <a:chOff x="525780" y="1992630"/>
            <a:chExt cx="5417820" cy="3023235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1095851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Use Case 用</a:t>
              </a:r>
              <a:br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24038" y="1992630"/>
              <a:ext cx="39014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对系统提供的功能的一种描述（A use case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describes behavior that the system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exhibits to benefit one or more actors.）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87655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5780" y="2996565"/>
              <a:ext cx="1006316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Actor 参与</a:t>
              </a:r>
              <a:br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者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24038" y="2996565"/>
              <a:ext cx="3834765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可能使用这些用例的人或外部系统。Actor 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与系统直接交互的事物所扮演的角色，角色像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一顶在特定场合戴上的帽子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88048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5780" y="40005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系统边界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24038" y="4000500"/>
              <a:ext cx="25608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 Case 在内，Actor 在外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43205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5780" y="4440555"/>
              <a:ext cx="967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用例间的关</a:t>
              </a:r>
              <a:br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824038" y="4440555"/>
              <a:ext cx="39787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《extend》、《include》、Generalization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5147310"/>
            <a:ext cx="5410200" cy="782955"/>
            <a:chOff x="533400" y="5147310"/>
            <a:chExt cx="5410200" cy="782955"/>
          </a:xfrm>
        </p:grpSpPr>
        <p:sp>
          <p:nvSpPr>
            <p:cNvPr id="21" name="Rectangle 21"/>
            <p:cNvSpPr/>
            <p:nvPr/>
          </p:nvSpPr>
          <p:spPr>
            <a:xfrm>
              <a:off x="533400" y="514731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26129" y="5435083"/>
              <a:ext cx="224134" cy="192560"/>
              <a:chOff x="726129" y="5435083"/>
              <a:chExt cx="224134" cy="19256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838200" y="55054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26129" y="543508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38200" y="55832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130" y="5295900"/>
              <a:ext cx="44062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Actor 是角色不是具体的人。同一个人可以在不同时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刻扮演“客户”和“管理员”两个 Actor。</a:t>
              </a:r>
            </a:p>
          </p:txBody>
        </p:sp>
      </p:grpSp>
      <p:grpSp>
        <p:nvGrpSpPr>
          <p:cNvPr id="45" name="c2-graph-1"/>
          <p:cNvGrpSpPr/>
          <p:nvPr/>
        </p:nvGrpSpPr>
        <p:grpSpPr>
          <a:xfrm>
            <a:off x="6336142" y="1994059"/>
            <a:ext cx="5181018" cy="4072413"/>
            <a:chOff x="6336142" y="1994059"/>
            <a:chExt cx="5181018" cy="4072413"/>
          </a:xfrm>
        </p:grpSpPr>
        <p:sp>
          <p:nvSpPr>
            <p:cNvPr id="28" name="Freeform 28"/>
            <p:cNvSpPr/>
            <p:nvPr/>
          </p:nvSpPr>
          <p:spPr>
            <a:xfrm>
              <a:off x="6970395" y="2920365"/>
              <a:ext cx="1995488" cy="1035367"/>
            </a:xfrm>
            <a:custGeom>
              <a:avLst/>
              <a:gdLst/>
              <a:ahLst/>
              <a:cxnLst/>
              <a:rect l="l" t="t" r="r" b="b"/>
              <a:pathLst>
                <a:path w="1995488" h="1035367">
                  <a:moveTo>
                    <a:pt x="0" y="1035367"/>
                  </a:moveTo>
                  <a:lnTo>
                    <a:pt x="199548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7123748" y="3830955"/>
              <a:ext cx="1392555" cy="192405"/>
            </a:xfrm>
            <a:custGeom>
              <a:avLst/>
              <a:gdLst/>
              <a:ahLst/>
              <a:cxnLst/>
              <a:rect l="l" t="t" r="r" b="b"/>
              <a:pathLst>
                <a:path w="1392555" h="192405">
                  <a:moveTo>
                    <a:pt x="0" y="192405"/>
                  </a:moveTo>
                  <a:lnTo>
                    <a:pt x="139255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123748" y="4170998"/>
              <a:ext cx="1484947" cy="360045"/>
            </a:xfrm>
            <a:custGeom>
              <a:avLst/>
              <a:gdLst/>
              <a:ahLst/>
              <a:cxnLst/>
              <a:rect l="l" t="t" r="r" b="b"/>
              <a:pathLst>
                <a:path w="1484947" h="360045">
                  <a:moveTo>
                    <a:pt x="0" y="0"/>
                  </a:moveTo>
                  <a:lnTo>
                    <a:pt x="1484947" y="3600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6931342" y="4199572"/>
              <a:ext cx="2086927" cy="1298258"/>
            </a:xfrm>
            <a:custGeom>
              <a:avLst/>
              <a:gdLst/>
              <a:ahLst/>
              <a:cxnLst/>
              <a:rect l="l" t="t" r="r" b="b"/>
              <a:pathLst>
                <a:path w="2086927" h="1298258">
                  <a:moveTo>
                    <a:pt x="0" y="0"/>
                  </a:moveTo>
                  <a:lnTo>
                    <a:pt x="2086927" y="129825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10135552" y="5659755"/>
              <a:ext cx="489585" cy="9525"/>
            </a:xfrm>
            <a:custGeom>
              <a:avLst/>
              <a:gdLst/>
              <a:ahLst/>
              <a:cxnLst/>
              <a:rect l="l" t="t" r="r" b="b"/>
              <a:pathLst>
                <a:path w="489585" h="9525">
                  <a:moveTo>
                    <a:pt x="0" y="0"/>
                  </a:moveTo>
                  <a:lnTo>
                    <a:pt x="48958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7420928" y="2351722"/>
              <a:ext cx="3714750" cy="3714750"/>
            </a:xfrm>
            <a:prstGeom prst="roundRect">
              <a:avLst>
                <a:gd name="adj" fmla="val 256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8563928" y="2596515"/>
              <a:ext cx="1428750" cy="323850"/>
            </a:xfrm>
            <a:prstGeom prst="roundRect">
              <a:avLst>
                <a:gd name="adj" fmla="val 2941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516302" y="3563302"/>
              <a:ext cx="1524000" cy="323850"/>
            </a:xfrm>
            <a:prstGeom prst="roundRect">
              <a:avLst>
                <a:gd name="adj" fmla="val 2941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8325802" y="4531042"/>
              <a:ext cx="1905000" cy="323850"/>
            </a:xfrm>
            <a:prstGeom prst="roundRect">
              <a:avLst>
                <a:gd name="adj" fmla="val 2941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421052" y="5497830"/>
              <a:ext cx="1714500" cy="323850"/>
            </a:xfrm>
            <a:prstGeom prst="roundRect">
              <a:avLst>
                <a:gd name="adj" fmla="val 2941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36142" y="4002405"/>
              <a:ext cx="7979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Customer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804756" y="2684145"/>
              <a:ext cx="9470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PlaceOrder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758106" y="3650932"/>
              <a:ext cx="10403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CancelOrder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500810" y="4617720"/>
              <a:ext cx="15549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CheckOrderStatus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635258" y="5584508"/>
              <a:ext cx="128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RequestCatalog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609416" y="5584508"/>
              <a:ext cx="9077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Dispatcher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665020" y="1994059"/>
              <a:ext cx="12265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Mail order system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用例图示例：保险业务与通信关联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378134" cy="308039"/>
            <a:chOff x="525399" y="1550194"/>
            <a:chExt cx="637813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37813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Actor 与 Use Case 之间的连线叫通信关联，表示二者之间的交互。</a:t>
              </a:r>
            </a:p>
          </p:txBody>
        </p:sp>
      </p:grpSp>
      <p:grpSp>
        <p:nvGrpSpPr>
          <p:cNvPr id="23" name="c1-graph-1"/>
          <p:cNvGrpSpPr/>
          <p:nvPr/>
        </p:nvGrpSpPr>
        <p:grpSpPr>
          <a:xfrm>
            <a:off x="833437" y="2125504"/>
            <a:ext cx="5391341" cy="3977164"/>
            <a:chOff x="833437" y="2125504"/>
            <a:chExt cx="5391341" cy="3977164"/>
          </a:xfrm>
        </p:grpSpPr>
        <p:sp>
          <p:nvSpPr>
            <p:cNvPr id="9" name="Freeform 9"/>
            <p:cNvSpPr/>
            <p:nvPr/>
          </p:nvSpPr>
          <p:spPr>
            <a:xfrm>
              <a:off x="1191578" y="3193732"/>
              <a:ext cx="1944052" cy="1044892"/>
            </a:xfrm>
            <a:custGeom>
              <a:avLst/>
              <a:gdLst/>
              <a:ahLst/>
              <a:cxnLst/>
              <a:rect l="l" t="t" r="r" b="b"/>
              <a:pathLst>
                <a:path w="1944052" h="1044892">
                  <a:moveTo>
                    <a:pt x="0" y="1044892"/>
                  </a:moveTo>
                  <a:lnTo>
                    <a:pt x="194405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750945" y="3193732"/>
              <a:ext cx="1771650" cy="1024890"/>
            </a:xfrm>
            <a:custGeom>
              <a:avLst/>
              <a:gdLst/>
              <a:ahLst/>
              <a:cxnLst/>
              <a:rect l="l" t="t" r="r" b="b"/>
              <a:pathLst>
                <a:path w="1771650" h="1024890">
                  <a:moveTo>
                    <a:pt x="0" y="0"/>
                  </a:moveTo>
                  <a:lnTo>
                    <a:pt x="1771650" y="102489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169092" y="4340542"/>
              <a:ext cx="1069658" cy="9525"/>
            </a:xfrm>
            <a:custGeom>
              <a:avLst/>
              <a:gdLst/>
              <a:ahLst/>
              <a:cxnLst/>
              <a:rect l="l" t="t" r="r" b="b"/>
              <a:pathLst>
                <a:path w="1069658" h="9525">
                  <a:moveTo>
                    <a:pt x="0" y="0"/>
                  </a:moveTo>
                  <a:lnTo>
                    <a:pt x="106965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750945" y="4462462"/>
              <a:ext cx="1771650" cy="1025843"/>
            </a:xfrm>
            <a:custGeom>
              <a:avLst/>
              <a:gdLst/>
              <a:ahLst/>
              <a:cxnLst/>
              <a:rect l="l" t="t" r="r" b="b"/>
              <a:pathLst>
                <a:path w="1771650" h="1025843">
                  <a:moveTo>
                    <a:pt x="0" y="1025843"/>
                  </a:moveTo>
                  <a:lnTo>
                    <a:pt x="177165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1835468" y="2578418"/>
              <a:ext cx="3238500" cy="3524250"/>
            </a:xfrm>
            <a:prstGeom prst="roundRect">
              <a:avLst>
                <a:gd name="adj" fmla="val 2941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645092" y="2850832"/>
              <a:ext cx="1619250" cy="342900"/>
            </a:xfrm>
            <a:prstGeom prst="roundRect">
              <a:avLst>
                <a:gd name="adj" fmla="val 27778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2740342" y="4169092"/>
              <a:ext cx="1428750" cy="342900"/>
            </a:xfrm>
            <a:prstGeom prst="roundRect">
              <a:avLst>
                <a:gd name="adj" fmla="val 27778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740342" y="5488305"/>
              <a:ext cx="1428750" cy="342900"/>
            </a:xfrm>
            <a:prstGeom prst="roundRect">
              <a:avLst>
                <a:gd name="adj" fmla="val 27778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33437" y="426624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43322" y="426624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保险销售人员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963990" y="294798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签署保险文件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044761" y="426624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销售统计表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44761" y="558450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客户统计表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303067" y="212550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保险业务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680835" y="1967865"/>
            <a:ext cx="4977765" cy="1316355"/>
            <a:chOff x="6680835" y="1967865"/>
            <a:chExt cx="4977765" cy="1316355"/>
          </a:xfrm>
        </p:grpSpPr>
        <p:sp>
          <p:nvSpPr>
            <p:cNvPr id="24" name="Rectangle 24"/>
            <p:cNvSpPr/>
            <p:nvPr/>
          </p:nvSpPr>
          <p:spPr>
            <a:xfrm>
              <a:off x="6680835" y="1967865"/>
              <a:ext cx="4977765" cy="1316355"/>
            </a:xfrm>
            <a:prstGeom prst="roundRect">
              <a:avLst>
                <a:gd name="adj" fmla="val 1013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890385" y="217741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72694" y="22131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通信关联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82765" y="2554605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无论有没有箭头，通信关联都表示双向会话。箭头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只表示是哪一方触发了这个 Use Case。</a:t>
              </a:r>
            </a:p>
          </p:txBody>
        </p:sp>
      </p:grpSp>
      <p:grpSp>
        <p:nvGrpSpPr>
          <p:cNvPr id="34" name="c2-kv-2"/>
          <p:cNvGrpSpPr/>
          <p:nvPr/>
        </p:nvGrpSpPr>
        <p:grpSpPr>
          <a:xfrm>
            <a:off x="6673215" y="3499485"/>
            <a:ext cx="4985385" cy="1015365"/>
            <a:chOff x="6673215" y="3499485"/>
            <a:chExt cx="4985385" cy="1015365"/>
          </a:xfrm>
        </p:grpSpPr>
        <p:sp>
          <p:nvSpPr>
            <p:cNvPr id="29" name="TextBox 29"/>
            <p:cNvSpPr txBox="1"/>
            <p:nvPr/>
          </p:nvSpPr>
          <p:spPr>
            <a:xfrm>
              <a:off x="6673215" y="3499485"/>
              <a:ext cx="1073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主动 Actor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953375" y="3499485"/>
              <a:ext cx="339661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触发 Use Case 的一方，箭头由它指向用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680835" y="410146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673215" y="4221480"/>
              <a:ext cx="1073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被动 Actor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53375" y="422148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不触发用例，只在用例执行中被用到</a:t>
              </a:r>
            </a:p>
          </p:txBody>
        </p:sp>
      </p:grpSp>
      <p:grpSp>
        <p:nvGrpSpPr>
          <p:cNvPr id="41" name="c2-callout-3"/>
          <p:cNvGrpSpPr/>
          <p:nvPr/>
        </p:nvGrpSpPr>
        <p:grpSpPr>
          <a:xfrm>
            <a:off x="6680835" y="4646295"/>
            <a:ext cx="4977765" cy="782955"/>
            <a:chOff x="6680835" y="4646295"/>
            <a:chExt cx="4977765" cy="782955"/>
          </a:xfrm>
        </p:grpSpPr>
        <p:sp>
          <p:nvSpPr>
            <p:cNvPr id="35" name="Rectangle 35"/>
            <p:cNvSpPr/>
            <p:nvPr/>
          </p:nvSpPr>
          <p:spPr>
            <a:xfrm>
              <a:off x="6680835" y="4646295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6885623" y="4937760"/>
              <a:ext cx="200026" cy="200025"/>
              <a:chOff x="6885623" y="4937760"/>
              <a:chExt cx="200026" cy="200025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6885623" y="493776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925361" y="498221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960077" y="509333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7187565" y="4794885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画完用例图先自查：每个用例是否都至少连着一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个 Actor，每个 Actor 是否都在边界之外。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用例规约：用结构化英语把一个用例写清楚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374511" cy="264033"/>
            <a:chOff x="526542" y="1545907"/>
            <a:chExt cx="6374511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图只给出名字，真正的需求写在规约里。先定一份规约模板，全项目统一使用。</a:t>
              </a:r>
            </a:p>
          </p:txBody>
        </p:sp>
      </p:grpSp>
      <p:grpSp>
        <p:nvGrpSpPr>
          <p:cNvPr id="38" name="c1-table-1"/>
          <p:cNvGrpSpPr/>
          <p:nvPr/>
        </p:nvGrpSpPr>
        <p:grpSpPr>
          <a:xfrm>
            <a:off x="533400" y="1928812"/>
            <a:ext cx="6059805" cy="4231005"/>
            <a:chOff x="533400" y="1928812"/>
            <a:chExt cx="6059805" cy="423100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059805" cy="439102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53490" y="205359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栏目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630592" y="2053590"/>
              <a:ext cx="16827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示例：PaySalesTax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29412" y="2492692"/>
              <a:ext cx="12094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 case / ID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46782" y="2492692"/>
              <a:ext cx="13977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PaySalesTax / 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80130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806065"/>
              <a:ext cx="6059805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9412" y="2931795"/>
              <a:ext cx="16127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Brief description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46782" y="293179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在每个财务季度末向税务机关缴纳销售税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24040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9412" y="3370898"/>
              <a:ext cx="1255871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Primary /</a:t>
              </a:r>
              <a:br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Second actors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446782" y="3490912"/>
              <a:ext cx="18411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Time / Tax Authority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9195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924300"/>
              <a:ext cx="6059805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9412" y="4049077"/>
              <a:ext cx="12882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Preconditions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446782" y="4049077"/>
              <a:ext cx="15403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 到了财务季度末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35864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9412" y="4608195"/>
              <a:ext cx="8977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 flow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360295" y="4372928"/>
              <a:ext cx="4222432" cy="6600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446782" y="4488180"/>
              <a:ext cx="3631311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 季度末到来时用例开始 2. 系统算出应缴税额</a:t>
              </a:r>
            </a:p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 系统向税务机关发出电子支付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503777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5042535"/>
              <a:ext cx="6059805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29412" y="5167312"/>
              <a:ext cx="13932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Postconditions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446782" y="5167312"/>
              <a:ext cx="22672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 税务机关收到正确的税额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547592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29412" y="5606415"/>
              <a:ext cx="1012841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Alternative</a:t>
              </a:r>
              <a:br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flows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446782" y="5726430"/>
              <a:ext cx="419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None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1928812"/>
              <a:ext cx="6059805" cy="42310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346008" y="1928812"/>
              <a:ext cx="9525" cy="42310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c2-bullets-1"/>
          <p:cNvGrpSpPr/>
          <p:nvPr/>
        </p:nvGrpSpPr>
        <p:grpSpPr>
          <a:xfrm>
            <a:off x="6891147" y="1950720"/>
            <a:ext cx="3669822" cy="2124265"/>
            <a:chOff x="6891147" y="1950720"/>
            <a:chExt cx="3669822" cy="2124265"/>
          </a:xfrm>
        </p:grpSpPr>
        <p:sp>
          <p:nvSpPr>
            <p:cNvPr id="39" name="TextBox 39"/>
            <p:cNvSpPr txBox="1"/>
            <p:nvPr/>
          </p:nvSpPr>
          <p:spPr>
            <a:xfrm>
              <a:off x="6891147" y="195072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写规约的几条约定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6898005" y="2296478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8577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134987" y="226790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全项目先定好一份规约标准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6898005" y="2605088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8577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134987" y="2576512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用结构化英语书写，步骤编号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6898005" y="2913698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8577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134987" y="2885122"/>
              <a:ext cx="3425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主动 Actor 触发用例，被动 Actor 不触发</a:t>
              </a:r>
            </a:p>
          </p:txBody>
        </p:sp>
        <p:sp>
          <p:nvSpPr>
            <p:cNvPr id="46" name="Freeform 46"/>
            <p:cNvSpPr/>
            <p:nvPr/>
          </p:nvSpPr>
          <p:spPr>
            <a:xfrm>
              <a:off x="6898005" y="3222308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8577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134987" y="319373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前置条件约束用例开始之前的系统状态</a:t>
              </a:r>
            </a:p>
          </p:txBody>
        </p:sp>
        <p:sp>
          <p:nvSpPr>
            <p:cNvPr id="48" name="Freeform 48"/>
            <p:cNvSpPr/>
            <p:nvPr/>
          </p:nvSpPr>
          <p:spPr>
            <a:xfrm>
              <a:off x="6898005" y="3530918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8577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134987" y="350234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后置条件约束用例执行之后的系统状态</a:t>
              </a:r>
            </a:p>
          </p:txBody>
        </p:sp>
        <p:sp>
          <p:nvSpPr>
            <p:cNvPr id="50" name="Freeform 50"/>
            <p:cNvSpPr/>
            <p:nvPr/>
          </p:nvSpPr>
          <p:spPr>
            <a:xfrm>
              <a:off x="6898005" y="3839528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8577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134987" y="3810952"/>
              <a:ext cx="29396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主事件流只描述“完美世界”下的步骤</a:t>
              </a:r>
            </a:p>
          </p:txBody>
        </p:sp>
      </p:grpSp>
      <p:grpSp>
        <p:nvGrpSpPr>
          <p:cNvPr id="58" name="c2-card-2"/>
          <p:cNvGrpSpPr/>
          <p:nvPr/>
        </p:nvGrpSpPr>
        <p:grpSpPr>
          <a:xfrm>
            <a:off x="6898005" y="4191952"/>
            <a:ext cx="4760595" cy="1967865"/>
            <a:chOff x="6898005" y="4191952"/>
            <a:chExt cx="4760595" cy="1967865"/>
          </a:xfrm>
        </p:grpSpPr>
        <p:sp>
          <p:nvSpPr>
            <p:cNvPr id="53" name="Rectangle 53"/>
            <p:cNvSpPr/>
            <p:nvPr/>
          </p:nvSpPr>
          <p:spPr>
            <a:xfrm>
              <a:off x="6898005" y="4191952"/>
              <a:ext cx="4760595" cy="1967865"/>
            </a:xfrm>
            <a:prstGeom prst="roundRect">
              <a:avLst>
                <a:gd name="adj" fmla="val 67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907530" y="4325302"/>
              <a:ext cx="47625" cy="17011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7122795" y="437864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214514" y="441150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115937" y="4722495"/>
              <a:ext cx="412080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源课件该页把 Tax Authority 误拼为 </a:t>
              </a:r>
              <a:r>
                <a:rPr lang="en-US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Tax Autority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amount 误拼为 </a:t>
              </a:r>
              <a:r>
                <a:rPr lang="en-US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amunt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，此处已改正。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02654" cy="909257"/>
            <a:chOff x="520446" y="342900"/>
            <a:chExt cx="630265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0265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事件流里的分支与循环：If、For、While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284089" cy="264033"/>
            <a:chOff x="526542" y="1545907"/>
            <a:chExt cx="528408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主事件流用三个关键字表达控制结构，子步骤用小数点编号缩进。</a:t>
              </a:r>
            </a:p>
          </p:txBody>
        </p:sp>
      </p:grpSp>
      <p:grpSp>
        <p:nvGrpSpPr>
          <p:cNvPr id="23" name="c1-card-1"/>
          <p:cNvGrpSpPr/>
          <p:nvPr/>
        </p:nvGrpSpPr>
        <p:grpSpPr>
          <a:xfrm>
            <a:off x="533400" y="1928812"/>
            <a:ext cx="5410200" cy="1545908"/>
            <a:chOff x="533400" y="1928812"/>
            <a:chExt cx="5410200" cy="1545908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32099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2718" y="2148364"/>
              <a:ext cx="1309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If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86624" y="2150745"/>
              <a:ext cx="20297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ManageBasket（ID 2）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58190" y="246411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3868" y="250250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38987" y="2476500"/>
              <a:ext cx="34548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Customer 选中购物篮中的一项，用例开始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58190" y="276415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3868" y="280254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38987" y="2776538"/>
              <a:ext cx="46422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If Customer 选择“删除该项” 2.1 系统把该项移出购物篮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58190" y="306419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3868" y="310353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38987" y="3076575"/>
              <a:ext cx="44423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If Customer 输入了新的数量 3.1 系统更新该项的数量</a:t>
              </a:r>
            </a:p>
          </p:txBody>
        </p:sp>
      </p:grpSp>
      <p:grpSp>
        <p:nvGrpSpPr>
          <p:cNvPr id="38" name="c1-card-2"/>
          <p:cNvGrpSpPr/>
          <p:nvPr/>
        </p:nvGrpSpPr>
        <p:grpSpPr>
          <a:xfrm>
            <a:off x="533400" y="3644265"/>
            <a:ext cx="5410200" cy="1803082"/>
            <a:chOff x="533400" y="3644265"/>
            <a:chExt cx="5410200" cy="1803082"/>
          </a:xfrm>
        </p:grpSpPr>
        <p:sp>
          <p:nvSpPr>
            <p:cNvPr id="24" name="Rectangle 24"/>
            <p:cNvSpPr/>
            <p:nvPr/>
          </p:nvSpPr>
          <p:spPr>
            <a:xfrm>
              <a:off x="533400" y="3644265"/>
              <a:ext cx="5410200" cy="1803082"/>
            </a:xfrm>
            <a:prstGeom prst="roundRect">
              <a:avLst>
                <a:gd name="adj" fmla="val 73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3777615"/>
              <a:ext cx="47625" cy="15363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58190" y="3830955"/>
              <a:ext cx="529590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46419" y="3863816"/>
              <a:ext cx="3531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While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95222" y="3866198"/>
              <a:ext cx="2607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ShowCompanyDetails（ID 4）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58190" y="417957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13868" y="421795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38987" y="4191952"/>
              <a:ext cx="34730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Customer 选择“显示公司详情”，用例开始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58190" y="447960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13868" y="451894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38987" y="449199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系统显示公司详情网页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58190" y="478059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13868" y="481898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38987" y="4792028"/>
              <a:ext cx="445427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While Customer 正在浏览 3.1 系统播放背景音乐并显示特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价横幅</a:t>
              </a:r>
            </a:p>
          </p:txBody>
        </p:sp>
      </p:grpSp>
      <p:grpSp>
        <p:nvGrpSpPr>
          <p:cNvPr id="60" name="c2-card-1"/>
          <p:cNvGrpSpPr/>
          <p:nvPr/>
        </p:nvGrpSpPr>
        <p:grpSpPr>
          <a:xfrm>
            <a:off x="6248400" y="1928812"/>
            <a:ext cx="5410200" cy="3518535"/>
            <a:chOff x="6248400" y="1928812"/>
            <a:chExt cx="5410200" cy="3518535"/>
          </a:xfrm>
        </p:grpSpPr>
        <p:sp>
          <p:nvSpPr>
            <p:cNvPr id="39" name="Rectangle 39"/>
            <p:cNvSpPr/>
            <p:nvPr/>
          </p:nvSpPr>
          <p:spPr>
            <a:xfrm>
              <a:off x="6248400" y="1928812"/>
              <a:ext cx="5410200" cy="3518535"/>
            </a:xfrm>
            <a:prstGeom prst="roundRect">
              <a:avLst>
                <a:gd name="adj" fmla="val 379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57925" y="2062162"/>
              <a:ext cx="47625" cy="32518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73190" y="2115502"/>
              <a:ext cx="88296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47627" y="2148364"/>
              <a:ext cx="7331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For 与 Else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63599" y="2150745"/>
              <a:ext cx="18381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FindProduct（ID 3）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473190" y="246411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28868" y="250250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753987" y="2476500"/>
              <a:ext cx="31095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Customer 选择“查找商品”，用例开始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473190" y="276415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28868" y="280254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753987" y="2776538"/>
              <a:ext cx="42562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系统索要检索条件；3. Customer 输入所要求的条件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473190" y="306419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28868" y="310353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753987" y="30765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系统按条件检索商品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473190" y="336518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528868" y="340356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753987" y="3376612"/>
              <a:ext cx="41821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If 系统找到了匹配的商品 then 5.1 For 每一件商品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466332" y="3677602"/>
              <a:ext cx="39755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5.1.1～5.1.3 依次显示缩略图、详情摘要、价格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473190" y="3965257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528868" y="400364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753987" y="3977640"/>
              <a:ext cx="37386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Else 6.1 系统告诉 Customer 没有匹配的商品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1" name="Rectangle 61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892" y="6028373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编号层次就是控制结构的嵌套层次，读规约时先看缩进再看文字。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备选流：一个用例一条主流，可以有多条备选流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5669280" cy="293370"/>
            <a:chOff x="525780" y="1548765"/>
            <a:chExt cx="566928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6692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备选流往往不回到主流，需要回到主流时必须写明回到第几步。</a:t>
              </a:r>
            </a:p>
          </p:txBody>
        </p:sp>
      </p:grpSp>
      <p:grpSp>
        <p:nvGrpSpPr>
          <p:cNvPr id="19" name="c1-bullets-1"/>
          <p:cNvGrpSpPr/>
          <p:nvPr/>
        </p:nvGrpSpPr>
        <p:grpSpPr>
          <a:xfrm>
            <a:off x="526161" y="1977866"/>
            <a:ext cx="4649787" cy="2354199"/>
            <a:chOff x="526161" y="1977866"/>
            <a:chExt cx="4649787" cy="2354199"/>
          </a:xfrm>
        </p:grpSpPr>
        <p:sp>
          <p:nvSpPr>
            <p:cNvPr id="9" name="TextBox 9"/>
            <p:cNvSpPr txBox="1"/>
            <p:nvPr/>
          </p:nvSpPr>
          <p:spPr>
            <a:xfrm>
              <a:off x="526161" y="197786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备选流被触发的三种方式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0124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1745" y="234157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24293" y="2314099"/>
              <a:ext cx="435165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代替主流被触发，写成“The alternative flow may be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triggered instead of the main flow”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89941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1745" y="293974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4293" y="2912269"/>
              <a:ext cx="426148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在主流的某个特定步骤之后被触发，写成“The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alternative flow begins after step X of the main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flow”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76904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1745" y="380938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4293" y="3781901"/>
              <a:ext cx="365734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在主流执行期间的任何时刻被触发，写成“The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alternative flow begins at any time”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4455795"/>
            <a:ext cx="4977765" cy="1226820"/>
            <a:chOff x="533400" y="4455795"/>
            <a:chExt cx="4977765" cy="1226820"/>
          </a:xfrm>
        </p:grpSpPr>
        <p:sp>
          <p:nvSpPr>
            <p:cNvPr id="20" name="Rectangle 20"/>
            <p:cNvSpPr/>
            <p:nvPr/>
          </p:nvSpPr>
          <p:spPr>
            <a:xfrm>
              <a:off x="533400" y="4455795"/>
              <a:ext cx="4977765" cy="1226820"/>
            </a:xfrm>
            <a:prstGeom prst="roundRect">
              <a:avLst>
                <a:gd name="adj" fmla="val 9317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4969195"/>
              <a:ext cx="200023" cy="200023"/>
              <a:chOff x="738188" y="4969195"/>
              <a:chExt cx="200023" cy="20002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496919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71538" y="50358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511" y="4838224"/>
              <a:ext cx="393687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希望备选流回到主流时，写 “N. The alternative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flow returns to step M of the main flow.”。</a:t>
              </a:r>
            </a:p>
          </p:txBody>
        </p:sp>
      </p:grpSp>
      <p:grpSp>
        <p:nvGrpSpPr>
          <p:cNvPr id="40" name="c2-card-1"/>
          <p:cNvGrpSpPr/>
          <p:nvPr/>
        </p:nvGrpSpPr>
        <p:grpSpPr>
          <a:xfrm>
            <a:off x="5815965" y="1954530"/>
            <a:ext cx="5842635" cy="1904048"/>
            <a:chOff x="5815965" y="1954530"/>
            <a:chExt cx="5842635" cy="1904048"/>
          </a:xfrm>
        </p:grpSpPr>
        <p:sp>
          <p:nvSpPr>
            <p:cNvPr id="26" name="Rectangle 26"/>
            <p:cNvSpPr/>
            <p:nvPr/>
          </p:nvSpPr>
          <p:spPr>
            <a:xfrm>
              <a:off x="5815965" y="1954530"/>
              <a:ext cx="5842635" cy="1904048"/>
            </a:xfrm>
            <a:prstGeom prst="roundRect">
              <a:avLst>
                <a:gd name="adj" fmla="val 70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825490" y="2087880"/>
              <a:ext cx="47625" cy="163734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52185" y="215265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139624" y="218694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主用例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68846" y="2187416"/>
              <a:ext cx="351285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CreateNewCustomerAccount（ID 5）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052185" y="251936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110530" y="255874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42126" y="2531269"/>
              <a:ext cx="28885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Customer 选择“创建新客户账户”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052185" y="2836545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110530" y="287688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42126" y="2849404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While 客户资料无效 2.1 要求输入邮箱、口令、确认口令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 校验资料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052185" y="342614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110530" y="346552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42126" y="343804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系统创建新账户</a:t>
              </a:r>
            </a:p>
          </p:txBody>
        </p:sp>
      </p:grpSp>
      <p:grpSp>
        <p:nvGrpSpPr>
          <p:cNvPr id="56" name="c2-table-2"/>
          <p:cNvGrpSpPr/>
          <p:nvPr/>
        </p:nvGrpSpPr>
        <p:grpSpPr>
          <a:xfrm>
            <a:off x="5815965" y="4039552"/>
            <a:ext cx="5842635" cy="1643062"/>
            <a:chOff x="5815965" y="4039552"/>
            <a:chExt cx="5842635" cy="1643062"/>
          </a:xfrm>
        </p:grpSpPr>
        <p:sp>
          <p:nvSpPr>
            <p:cNvPr id="41" name="Rectangle 41"/>
            <p:cNvSpPr/>
            <p:nvPr/>
          </p:nvSpPr>
          <p:spPr>
            <a:xfrm>
              <a:off x="5815965" y="4039552"/>
              <a:ext cx="5842635" cy="4629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14490" y="417147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备选流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288668" y="417147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触发方式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217480" y="417147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后置条件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917311" y="4634389"/>
              <a:ext cx="1690287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InvalidEmailAddres</a:t>
              </a:r>
              <a:br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5.1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903274" y="4634389"/>
              <a:ext cx="1321943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主流第 2.2 步之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656826" y="4761071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815965" y="521398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815965" y="5218748"/>
              <a:ext cx="5842635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917311" y="5351621"/>
              <a:ext cx="10275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Cancel 5.2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903274" y="53516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任何时刻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656826" y="535162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账户未被创建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815965" y="4039552"/>
              <a:ext cx="5842635" cy="16430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7797165" y="4039552"/>
              <a:ext cx="9525" cy="16430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550718" y="4039552"/>
              <a:ext cx="9525" cy="16430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7" name="Rectangle 57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511" y="6011704"/>
              <a:ext cx="86408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更正：源课件 CreateNewCustomerAccount 的后置条件把 created 误拼为 </a:t>
              </a:r>
              <a:r>
                <a:rPr lang="en-US" sz="14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cteated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，此处已改正。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64806" cy="909257"/>
            <a:chOff x="520446" y="342900"/>
            <a:chExt cx="716480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6480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泛化：把公共的用例提到抽象 Actor 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862316" cy="293370"/>
            <a:chOff x="525780" y="1548765"/>
            <a:chExt cx="7862316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8623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 Actor 用到同一批用例时，抽出一个父 Actor，子 Actor 继承它的全部通信关联。</a:t>
              </a:r>
            </a:p>
          </p:txBody>
        </p:sp>
      </p:grpSp>
      <p:grpSp>
        <p:nvGrpSpPr>
          <p:cNvPr id="30" name="c1-graph-1"/>
          <p:cNvGrpSpPr/>
          <p:nvPr/>
        </p:nvGrpSpPr>
        <p:grpSpPr>
          <a:xfrm>
            <a:off x="577231" y="2340292"/>
            <a:ext cx="5203491" cy="3599022"/>
            <a:chOff x="577231" y="2340292"/>
            <a:chExt cx="5203491" cy="3599022"/>
          </a:xfrm>
        </p:grpSpPr>
        <p:sp>
          <p:nvSpPr>
            <p:cNvPr id="9" name="Freeform 9"/>
            <p:cNvSpPr/>
            <p:nvPr/>
          </p:nvSpPr>
          <p:spPr>
            <a:xfrm>
              <a:off x="1756410" y="2574608"/>
              <a:ext cx="2346008" cy="300038"/>
            </a:xfrm>
            <a:custGeom>
              <a:avLst/>
              <a:gdLst/>
              <a:ahLst/>
              <a:cxnLst/>
              <a:rect l="l" t="t" r="r" b="b"/>
              <a:pathLst>
                <a:path w="2346008" h="300038">
                  <a:moveTo>
                    <a:pt x="0" y="300038"/>
                  </a:moveTo>
                  <a:lnTo>
                    <a:pt x="234600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756410" y="2999422"/>
              <a:ext cx="2313622" cy="442912"/>
            </a:xfrm>
            <a:custGeom>
              <a:avLst/>
              <a:gdLst/>
              <a:ahLst/>
              <a:cxnLst/>
              <a:rect l="l" t="t" r="r" b="b"/>
              <a:pathLst>
                <a:path w="2313622" h="442912">
                  <a:moveTo>
                    <a:pt x="0" y="0"/>
                  </a:moveTo>
                  <a:lnTo>
                    <a:pt x="2313622" y="44291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967740" y="3132772"/>
              <a:ext cx="365760" cy="2322195"/>
            </a:xfrm>
            <a:custGeom>
              <a:avLst/>
              <a:gdLst/>
              <a:ahLst/>
              <a:cxnLst/>
              <a:rect l="l" t="t" r="r" b="b"/>
              <a:pathLst>
                <a:path w="365760" h="2322195">
                  <a:moveTo>
                    <a:pt x="0" y="2322195"/>
                  </a:moveTo>
                  <a:lnTo>
                    <a:pt x="36576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286828" y="3038475"/>
              <a:ext cx="94298" cy="101917"/>
            </a:xfrm>
            <a:custGeom>
              <a:avLst/>
              <a:gdLst/>
              <a:ahLst/>
              <a:cxnLst/>
              <a:rect l="l" t="t" r="r" b="b"/>
              <a:pathLst>
                <a:path w="94298" h="101917">
                  <a:moveTo>
                    <a:pt x="61912" y="0"/>
                  </a:moveTo>
                  <a:lnTo>
                    <a:pt x="94298" y="101917"/>
                  </a:lnTo>
                  <a:lnTo>
                    <a:pt x="0" y="8667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426845" y="3129915"/>
              <a:ext cx="680085" cy="2325052"/>
            </a:xfrm>
            <a:custGeom>
              <a:avLst/>
              <a:gdLst/>
              <a:ahLst/>
              <a:cxnLst/>
              <a:rect l="l" t="t" r="r" b="b"/>
              <a:pathLst>
                <a:path w="680085" h="2325052">
                  <a:moveTo>
                    <a:pt x="680085" y="232505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381125" y="3038475"/>
              <a:ext cx="91440" cy="104775"/>
            </a:xfrm>
            <a:custGeom>
              <a:avLst/>
              <a:gdLst/>
              <a:ahLst/>
              <a:cxnLst/>
              <a:rect l="l" t="t" r="r" b="b"/>
              <a:pathLst>
                <a:path w="91440" h="104775">
                  <a:moveTo>
                    <a:pt x="19050" y="0"/>
                  </a:moveTo>
                  <a:lnTo>
                    <a:pt x="91440" y="7810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373630" y="4831080"/>
              <a:ext cx="2009775" cy="661035"/>
            </a:xfrm>
            <a:custGeom>
              <a:avLst/>
              <a:gdLst/>
              <a:ahLst/>
              <a:cxnLst/>
              <a:rect l="l" t="t" r="r" b="b"/>
              <a:pathLst>
                <a:path w="2009775" h="661035">
                  <a:moveTo>
                    <a:pt x="0" y="661035"/>
                  </a:moveTo>
                  <a:lnTo>
                    <a:pt x="200977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373630" y="5588318"/>
              <a:ext cx="1482090" cy="121920"/>
            </a:xfrm>
            <a:custGeom>
              <a:avLst/>
              <a:gdLst/>
              <a:ahLst/>
              <a:cxnLst/>
              <a:rect l="l" t="t" r="r" b="b"/>
              <a:pathLst>
                <a:path w="1482090" h="121920">
                  <a:moveTo>
                    <a:pt x="0" y="0"/>
                  </a:moveTo>
                  <a:lnTo>
                    <a:pt x="1482090" y="12192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102418" y="2340292"/>
              <a:ext cx="1432560" cy="286702"/>
            </a:xfrm>
            <a:prstGeom prst="roundRect">
              <a:avLst>
                <a:gd name="adj" fmla="val 3322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034790" y="3442335"/>
              <a:ext cx="1566862" cy="286702"/>
            </a:xfrm>
            <a:prstGeom prst="roundRect">
              <a:avLst>
                <a:gd name="adj" fmla="val 3322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012882" y="4544378"/>
              <a:ext cx="1611630" cy="286702"/>
            </a:xfrm>
            <a:prstGeom prst="roundRect">
              <a:avLst>
                <a:gd name="adj" fmla="val 3322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855720" y="5646420"/>
              <a:ext cx="1925002" cy="286702"/>
            </a:xfrm>
            <a:prstGeom prst="roundRect">
              <a:avLst>
                <a:gd name="adj" fmla="val 3322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6833" y="2854166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Purchaser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7231" y="5499259"/>
              <a:ext cx="744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Customer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914408" y="5499259"/>
              <a:ext cx="4517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Agent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305596" y="2413159"/>
              <a:ext cx="10262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ListProducts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226115" y="3515201"/>
              <a:ext cx="1185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OrderProducts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226115" y="4617244"/>
              <a:ext cx="1185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AcceptPayment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28645" y="5719286"/>
              <a:ext cx="15801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CalculateCommission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05840" y="4161472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32320" y="4192905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泛化</a:t>
              </a:r>
            </a:p>
          </p:txBody>
        </p:sp>
      </p:grpSp>
      <p:grpSp>
        <p:nvGrpSpPr>
          <p:cNvPr id="39" name="c2-kv-1"/>
          <p:cNvGrpSpPr/>
          <p:nvPr/>
        </p:nvGrpSpPr>
        <p:grpSpPr>
          <a:xfrm>
            <a:off x="6782181" y="1977866"/>
            <a:ext cx="4876419" cy="1646492"/>
            <a:chOff x="6782181" y="1977866"/>
            <a:chExt cx="4876419" cy="1646492"/>
          </a:xfrm>
        </p:grpSpPr>
        <p:sp>
          <p:nvSpPr>
            <p:cNvPr id="31" name="TextBox 31"/>
            <p:cNvSpPr txBox="1"/>
            <p:nvPr/>
          </p:nvSpPr>
          <p:spPr>
            <a:xfrm>
              <a:off x="6782181" y="1977866"/>
              <a:ext cx="10159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抽象 Actor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07096" y="1977866"/>
              <a:ext cx="3431921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Purchaser，本身不对应具体的人，只承载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公共关联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789420" y="2548890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82181" y="2661761"/>
              <a:ext cx="8187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祖先 / 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007096" y="266176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被继承的一方，箭头指向它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789420" y="296513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82181" y="3078004"/>
              <a:ext cx="8187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后代 / 子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007096" y="3078004"/>
              <a:ext cx="3431921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Customer 和 Agent，自动获得父的全部通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信关联</a:t>
              </a:r>
            </a:p>
          </p:txBody>
        </p:sp>
      </p:grpSp>
      <p:grpSp>
        <p:nvGrpSpPr>
          <p:cNvPr id="45" name="c2-card-2"/>
          <p:cNvGrpSpPr/>
          <p:nvPr/>
        </p:nvGrpSpPr>
        <p:grpSpPr>
          <a:xfrm>
            <a:off x="6789420" y="3749040"/>
            <a:ext cx="4869180" cy="1566862"/>
            <a:chOff x="6789420" y="3749040"/>
            <a:chExt cx="4869180" cy="1566862"/>
          </a:xfrm>
        </p:grpSpPr>
        <p:sp>
          <p:nvSpPr>
            <p:cNvPr id="40" name="Rectangle 40"/>
            <p:cNvSpPr/>
            <p:nvPr/>
          </p:nvSpPr>
          <p:spPr>
            <a:xfrm>
              <a:off x="6789420" y="3749040"/>
              <a:ext cx="4869180" cy="1566862"/>
            </a:xfrm>
            <a:prstGeom prst="roundRect">
              <a:avLst>
                <a:gd name="adj" fmla="val 8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798945" y="3882390"/>
              <a:ext cx="47625" cy="130016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018401" y="397049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这张图表达的意思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18401" y="4306729"/>
              <a:ext cx="43650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Customer 能做：ListProducts、OrderProducts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18401" y="4623911"/>
              <a:ext cx="393687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Agent 能做：ListProducts、OrderProducts、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AcceptPayment、CalculateCommission</a:t>
              </a:r>
            </a:p>
          </p:txBody>
        </p:sp>
      </p:grpSp>
      <p:grpSp>
        <p:nvGrpSpPr>
          <p:cNvPr id="52" name="c2-callout-3"/>
          <p:cNvGrpSpPr/>
          <p:nvPr/>
        </p:nvGrpSpPr>
        <p:grpSpPr>
          <a:xfrm>
            <a:off x="6789420" y="5496878"/>
            <a:ext cx="4869180" cy="503872"/>
            <a:chOff x="6789420" y="5496878"/>
            <a:chExt cx="4869180" cy="503872"/>
          </a:xfrm>
        </p:grpSpPr>
        <p:sp>
          <p:nvSpPr>
            <p:cNvPr id="46" name="Rectangle 46"/>
            <p:cNvSpPr/>
            <p:nvPr/>
          </p:nvSpPr>
          <p:spPr>
            <a:xfrm>
              <a:off x="6789420" y="5496878"/>
              <a:ext cx="486918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994208" y="5648325"/>
              <a:ext cx="200026" cy="200025"/>
              <a:chOff x="6994208" y="5648325"/>
              <a:chExt cx="200026" cy="200025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994208" y="564832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033946" y="569277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068662" y="580390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7296531" y="5648801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泛化箭头是空心三角形，方向永远由子指向父。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用例泛化：子用例在父用例的步骤上做覆盖与插入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647563" cy="264033"/>
            <a:chOff x="526542" y="1545907"/>
            <a:chExt cx="564756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子用例继承父用例的事件流，可以改写某些步骤，也可以插入新步骤。</a:t>
              </a:r>
            </a:p>
          </p:txBody>
        </p:sp>
      </p:grpSp>
      <p:grpSp>
        <p:nvGrpSpPr>
          <p:cNvPr id="22" name="c1-graph-1"/>
          <p:cNvGrpSpPr/>
          <p:nvPr/>
        </p:nvGrpSpPr>
        <p:grpSpPr>
          <a:xfrm>
            <a:off x="638631" y="1949291"/>
            <a:ext cx="4173399" cy="1881665"/>
            <a:chOff x="638631" y="1949291"/>
            <a:chExt cx="4173399" cy="1881665"/>
          </a:xfrm>
        </p:grpSpPr>
        <p:sp>
          <p:nvSpPr>
            <p:cNvPr id="9" name="Freeform 9"/>
            <p:cNvSpPr/>
            <p:nvPr/>
          </p:nvSpPr>
          <p:spPr>
            <a:xfrm>
              <a:off x="1332548" y="2615565"/>
              <a:ext cx="1463993" cy="377190"/>
            </a:xfrm>
            <a:custGeom>
              <a:avLst/>
              <a:gdLst/>
              <a:ahLst/>
              <a:cxnLst/>
              <a:rect l="l" t="t" r="r" b="b"/>
              <a:pathLst>
                <a:path w="1463993" h="377190">
                  <a:moveTo>
                    <a:pt x="0" y="377190"/>
                  </a:moveTo>
                  <a:lnTo>
                    <a:pt x="146399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548890" y="2691765"/>
              <a:ext cx="638175" cy="854392"/>
            </a:xfrm>
            <a:custGeom>
              <a:avLst/>
              <a:gdLst/>
              <a:ahLst/>
              <a:cxnLst/>
              <a:rect l="l" t="t" r="r" b="b"/>
              <a:pathLst>
                <a:path w="638175" h="854392">
                  <a:moveTo>
                    <a:pt x="0" y="854392"/>
                  </a:moveTo>
                  <a:lnTo>
                    <a:pt x="63817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148965" y="2615565"/>
              <a:ext cx="95250" cy="104775"/>
            </a:xfrm>
            <a:custGeom>
              <a:avLst/>
              <a:gdLst/>
              <a:ahLst/>
              <a:cxnLst/>
              <a:rect l="l" t="t" r="r" b="b"/>
              <a:pathLst>
                <a:path w="95250" h="104775">
                  <a:moveTo>
                    <a:pt x="95250" y="0"/>
                  </a:moveTo>
                  <a:lnTo>
                    <a:pt x="76200" y="104775"/>
                  </a:lnTo>
                  <a:lnTo>
                    <a:pt x="0" y="4857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3529012" y="2689860"/>
              <a:ext cx="704850" cy="856298"/>
            </a:xfrm>
            <a:custGeom>
              <a:avLst/>
              <a:gdLst/>
              <a:ahLst/>
              <a:cxnLst/>
              <a:rect l="l" t="t" r="r" b="b"/>
              <a:pathLst>
                <a:path w="704850" h="856298">
                  <a:moveTo>
                    <a:pt x="704850" y="856298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468052" y="2615565"/>
              <a:ext cx="97155" cy="103822"/>
            </a:xfrm>
            <a:custGeom>
              <a:avLst/>
              <a:gdLst/>
              <a:ahLst/>
              <a:cxnLst/>
              <a:rect l="l" t="t" r="r" b="b"/>
              <a:pathLst>
                <a:path w="97155" h="103822">
                  <a:moveTo>
                    <a:pt x="0" y="0"/>
                  </a:moveTo>
                  <a:lnTo>
                    <a:pt x="97155" y="43815"/>
                  </a:lnTo>
                  <a:lnTo>
                    <a:pt x="23812" y="10382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722245" y="2330768"/>
              <a:ext cx="1257300" cy="284798"/>
            </a:xfrm>
            <a:prstGeom prst="roundRect">
              <a:avLst>
                <a:gd name="adj" fmla="val 33445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1918335" y="3546158"/>
              <a:ext cx="1047750" cy="284798"/>
            </a:xfrm>
            <a:prstGeom prst="roundRect">
              <a:avLst>
                <a:gd name="adj" fmla="val 33445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890010" y="3546158"/>
              <a:ext cx="922020" cy="284798"/>
            </a:xfrm>
            <a:prstGeom prst="roundRect">
              <a:avLst>
                <a:gd name="adj" fmla="val 33445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8631" y="3015615"/>
              <a:ext cx="6982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Customer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10718" y="2407920"/>
              <a:ext cx="8803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FindProduct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124549" y="3623310"/>
              <a:ext cx="6353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FindBook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12942" y="3623310"/>
              <a:ext cx="4761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FindCD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81023" y="1949291"/>
              <a:ext cx="73974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sales system</a:t>
              </a:r>
            </a:p>
          </p:txBody>
        </p:sp>
      </p:grpSp>
      <p:grpSp>
        <p:nvGrpSpPr>
          <p:cNvPr id="29" name="c1-callout-2"/>
          <p:cNvGrpSpPr/>
          <p:nvPr/>
        </p:nvGrpSpPr>
        <p:grpSpPr>
          <a:xfrm>
            <a:off x="533400" y="4193858"/>
            <a:ext cx="4544378" cy="1286828"/>
            <a:chOff x="533400" y="4193858"/>
            <a:chExt cx="4544378" cy="1286828"/>
          </a:xfrm>
        </p:grpSpPr>
        <p:sp>
          <p:nvSpPr>
            <p:cNvPr id="23" name="Rectangle 23"/>
            <p:cNvSpPr/>
            <p:nvPr/>
          </p:nvSpPr>
          <p:spPr>
            <a:xfrm>
              <a:off x="533400" y="4193858"/>
              <a:ext cx="4544378" cy="1286828"/>
            </a:xfrm>
            <a:prstGeom prst="roundRect">
              <a:avLst>
                <a:gd name="adj" fmla="val 888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4737735"/>
              <a:ext cx="200026" cy="200026"/>
              <a:chOff x="738188" y="4737735"/>
              <a:chExt cx="200026" cy="200026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473773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38200" y="480441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27088" y="483774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892" y="4618672"/>
              <a:ext cx="354558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FindBook 的规约里写 Parent ID: 6，表示它泛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化自 FindProduct。</a:t>
              </a:r>
            </a:p>
          </p:txBody>
        </p:sp>
      </p:grpSp>
      <p:grpSp>
        <p:nvGrpSpPr>
          <p:cNvPr id="64" name="c2-table-1"/>
          <p:cNvGrpSpPr/>
          <p:nvPr/>
        </p:nvGrpSpPr>
        <p:grpSpPr>
          <a:xfrm>
            <a:off x="5382578" y="1928812"/>
            <a:ext cx="6276022" cy="3552825"/>
            <a:chOff x="5382578" y="1928812"/>
            <a:chExt cx="6276022" cy="3552825"/>
          </a:xfrm>
        </p:grpSpPr>
        <p:sp>
          <p:nvSpPr>
            <p:cNvPr id="30" name="Rectangle 30"/>
            <p:cNvSpPr/>
            <p:nvPr/>
          </p:nvSpPr>
          <p:spPr>
            <a:xfrm>
              <a:off x="5382578" y="1928812"/>
              <a:ext cx="6276022" cy="439102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508308" y="205359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步骤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22244" y="2053590"/>
              <a:ext cx="2412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“FindProduct（父，ID 6）”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3726" y="2053590"/>
              <a:ext cx="20979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“FindBook（子，ID 7）”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478589" y="2492692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“1”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106287" y="2492692"/>
              <a:ext cx="13040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选择“查找商品”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741854" y="2492692"/>
              <a:ext cx="18583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“o1. 选择“查找图书””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82578" y="280130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82578" y="2806065"/>
              <a:ext cx="6276022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478589" y="2931795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“2”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106287" y="293179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索要检索条件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741854" y="2931795"/>
              <a:ext cx="24020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“o2. 索要作者、书名、ISBN”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82578" y="324040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478589" y="3370898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“3”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106287" y="337089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输入条件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655368" y="3254692"/>
              <a:ext cx="2993708" cy="420052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741854" y="3370898"/>
              <a:ext cx="940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“原样继承”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82578" y="367950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382578" y="3684270"/>
              <a:ext cx="6276022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478589" y="3809048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“4”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106287" y="380904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按条件检索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741854" y="3809048"/>
              <a:ext cx="12949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“o4. 检索图书”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82578" y="411861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478589" y="4368165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“5”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106287" y="436816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若找到则列出匹配商品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741854" y="4248150"/>
              <a:ext cx="2696908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“o5. 先显示畅销书，再最多列 5 本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并支持翻页”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382578" y="479774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5382578" y="4802505"/>
              <a:ext cx="6276022" cy="67913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478589" y="5047298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“6”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106287" y="504729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否则提示没有匹配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741854" y="4927283"/>
              <a:ext cx="2671191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“o6. 先显示畅销书，再提示没有匹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配”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382578" y="1928812"/>
              <a:ext cx="6276022" cy="3552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005512" y="1928812"/>
              <a:ext cx="9525" cy="3552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8641080" y="1928812"/>
              <a:ext cx="9525" cy="3552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0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5" name="Rectangle 65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0892" y="6028373"/>
              <a:ext cx="77011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规约里带 o 前缀的编号表示覆盖（override）父用例的对应步骤，不带前缀的是新插入的步骤。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069176" cy="909257"/>
            <a:chOff x="520446" y="342900"/>
            <a:chExt cx="70691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06917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《include》：把公共步骤抽成一个被包含用例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618558" cy="264033"/>
            <a:chOff x="526542" y="1545907"/>
            <a:chExt cx="661855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6185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基用例在自己的主流里显式写一句 Include(…)，缺了这个被包含用例它就不完整。</a:t>
              </a:r>
            </a:p>
          </p:txBody>
        </p:sp>
      </p:grpSp>
      <p:grpSp>
        <p:nvGrpSpPr>
          <p:cNvPr id="30" name="c1-graph-1"/>
          <p:cNvGrpSpPr/>
          <p:nvPr/>
        </p:nvGrpSpPr>
        <p:grpSpPr>
          <a:xfrm>
            <a:off x="619423" y="1972151"/>
            <a:ext cx="5303222" cy="3910108"/>
            <a:chOff x="619423" y="1972151"/>
            <a:chExt cx="5303222" cy="3910108"/>
          </a:xfrm>
        </p:grpSpPr>
        <p:sp>
          <p:nvSpPr>
            <p:cNvPr id="9" name="Freeform 9"/>
            <p:cNvSpPr/>
            <p:nvPr/>
          </p:nvSpPr>
          <p:spPr>
            <a:xfrm>
              <a:off x="1034415" y="2861310"/>
              <a:ext cx="1277302" cy="1266825"/>
            </a:xfrm>
            <a:custGeom>
              <a:avLst/>
              <a:gdLst/>
              <a:ahLst/>
              <a:cxnLst/>
              <a:rect l="l" t="t" r="r" b="b"/>
              <a:pathLst>
                <a:path w="1277302" h="1266825">
                  <a:moveTo>
                    <a:pt x="0" y="1266825"/>
                  </a:moveTo>
                  <a:lnTo>
                    <a:pt x="127730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235392" y="4234815"/>
              <a:ext cx="435293" cy="9525"/>
            </a:xfrm>
            <a:custGeom>
              <a:avLst/>
              <a:gdLst/>
              <a:ahLst/>
              <a:cxnLst/>
              <a:rect l="l" t="t" r="r" b="b"/>
              <a:pathLst>
                <a:path w="435293" h="9525">
                  <a:moveTo>
                    <a:pt x="0" y="0"/>
                  </a:moveTo>
                  <a:lnTo>
                    <a:pt x="43529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034415" y="4341495"/>
              <a:ext cx="1277302" cy="1265873"/>
            </a:xfrm>
            <a:custGeom>
              <a:avLst/>
              <a:gdLst/>
              <a:ahLst/>
              <a:cxnLst/>
              <a:rect l="l" t="t" r="r" b="b"/>
              <a:pathLst>
                <a:path w="1277302" h="1265873">
                  <a:moveTo>
                    <a:pt x="0" y="0"/>
                  </a:moveTo>
                  <a:lnTo>
                    <a:pt x="1277302" y="126587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687002" y="2861310"/>
              <a:ext cx="2136457" cy="1192530"/>
            </a:xfrm>
            <a:custGeom>
              <a:avLst/>
              <a:gdLst/>
              <a:ahLst/>
              <a:cxnLst/>
              <a:rect l="l" t="t" r="r" b="b"/>
              <a:pathLst>
                <a:path w="2136457" h="1192530">
                  <a:moveTo>
                    <a:pt x="0" y="0"/>
                  </a:moveTo>
                  <a:lnTo>
                    <a:pt x="2136457" y="119253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3" name="Freeform 13"/>
            <p:cNvSpPr/>
            <p:nvPr/>
          </p:nvSpPr>
          <p:spPr>
            <a:xfrm>
              <a:off x="4800600" y="4011930"/>
              <a:ext cx="106680" cy="88583"/>
            </a:xfrm>
            <a:custGeom>
              <a:avLst/>
              <a:gdLst/>
              <a:ahLst/>
              <a:cxnLst/>
              <a:rect l="l" t="t" r="r" b="b"/>
              <a:pathLst>
                <a:path w="106680" h="88583">
                  <a:moveTo>
                    <a:pt x="106680" y="88583"/>
                  </a:moveTo>
                  <a:lnTo>
                    <a:pt x="0" y="83820"/>
                  </a:lnTo>
                  <a:lnTo>
                    <a:pt x="4667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3221355" y="4234815"/>
              <a:ext cx="1055370" cy="9525"/>
            </a:xfrm>
            <a:custGeom>
              <a:avLst/>
              <a:gdLst/>
              <a:ahLst/>
              <a:cxnLst/>
              <a:rect l="l" t="t" r="r" b="b"/>
              <a:pathLst>
                <a:path w="1055370" h="9525">
                  <a:moveTo>
                    <a:pt x="0" y="0"/>
                  </a:moveTo>
                  <a:lnTo>
                    <a:pt x="105537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5" name="Freeform 15"/>
            <p:cNvSpPr/>
            <p:nvPr/>
          </p:nvSpPr>
          <p:spPr>
            <a:xfrm>
              <a:off x="4276725" y="41871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2687002" y="4414838"/>
              <a:ext cx="2136457" cy="1192530"/>
            </a:xfrm>
            <a:custGeom>
              <a:avLst/>
              <a:gdLst/>
              <a:ahLst/>
              <a:cxnLst/>
              <a:rect l="l" t="t" r="r" b="b"/>
              <a:pathLst>
                <a:path w="2136457" h="1192530">
                  <a:moveTo>
                    <a:pt x="0" y="1192530"/>
                  </a:moveTo>
                  <a:lnTo>
                    <a:pt x="213645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7" name="Freeform 17"/>
            <p:cNvSpPr/>
            <p:nvPr/>
          </p:nvSpPr>
          <p:spPr>
            <a:xfrm>
              <a:off x="4800600" y="4368165"/>
              <a:ext cx="106680" cy="88582"/>
            </a:xfrm>
            <a:custGeom>
              <a:avLst/>
              <a:gdLst/>
              <a:ahLst/>
              <a:cxnLst/>
              <a:rect l="l" t="t" r="r" b="b"/>
              <a:pathLst>
                <a:path w="106680" h="88582">
                  <a:moveTo>
                    <a:pt x="106680" y="0"/>
                  </a:moveTo>
                  <a:lnTo>
                    <a:pt x="46672" y="88582"/>
                  </a:lnTo>
                  <a:lnTo>
                    <a:pt x="0" y="476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1607820" y="2592705"/>
              <a:ext cx="1676400" cy="268605"/>
            </a:xfrm>
            <a:prstGeom prst="roundRect">
              <a:avLst>
                <a:gd name="adj" fmla="val 3546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1670685" y="4100512"/>
              <a:ext cx="1550670" cy="268605"/>
            </a:xfrm>
            <a:prstGeom prst="roundRect">
              <a:avLst>
                <a:gd name="adj" fmla="val 3546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607820" y="5607368"/>
              <a:ext cx="1676400" cy="268605"/>
            </a:xfrm>
            <a:prstGeom prst="roundRect">
              <a:avLst>
                <a:gd name="adj" fmla="val 3546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371975" y="4100512"/>
              <a:ext cx="1550670" cy="268605"/>
            </a:xfrm>
            <a:prstGeom prst="roundRect">
              <a:avLst>
                <a:gd name="adj" fmla="val 3546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9423" y="4169093"/>
              <a:ext cx="6166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Manager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17783" y="2661285"/>
              <a:ext cx="16564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ChangeEmployeeDetails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3192" y="4169093"/>
              <a:ext cx="14856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ViewEmployeeDetails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636485" y="5676900"/>
              <a:ext cx="16190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DeleteEmployeeDetails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419456" y="4169093"/>
              <a:ext cx="14557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FindEmployeeDetails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480435" y="4155758"/>
              <a:ext cx="63341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496614" y="4184809"/>
              <a:ext cx="60010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《include》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847855" y="1972151"/>
              <a:ext cx="99845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Personnel system</a:t>
              </a:r>
            </a:p>
          </p:txBody>
        </p:sp>
      </p:grpSp>
      <p:grpSp>
        <p:nvGrpSpPr>
          <p:cNvPr id="39" name="c2-kv-1"/>
          <p:cNvGrpSpPr/>
          <p:nvPr/>
        </p:nvGrpSpPr>
        <p:grpSpPr>
          <a:xfrm>
            <a:off x="6457760" y="1950720"/>
            <a:ext cx="5277872" cy="1303211"/>
            <a:chOff x="6457760" y="1950720"/>
            <a:chExt cx="5277872" cy="1303211"/>
          </a:xfrm>
        </p:grpSpPr>
        <p:sp>
          <p:nvSpPr>
            <p:cNvPr id="31" name="TextBox 31"/>
            <p:cNvSpPr txBox="1"/>
            <p:nvPr/>
          </p:nvSpPr>
          <p:spPr>
            <a:xfrm>
              <a:off x="6457760" y="1950720"/>
              <a:ext cx="10359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基用例 base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16049" y="1950720"/>
              <a:ext cx="37195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ChangeEmployeeDetails 等三个，箭头的起点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64618" y="223742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57760" y="2343150"/>
              <a:ext cx="8709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被包含用例</a:t>
              </a:r>
              <a:br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inclusion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016049" y="2343150"/>
              <a:ext cx="28735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FindEmployeeDetails，箭头的终点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464618" y="288321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457760" y="298989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箭头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016049" y="2989898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虚线加开放箭头，从基用例指向被包含用例</a:t>
              </a:r>
            </a:p>
          </p:txBody>
        </p:sp>
      </p:grpSp>
      <p:grpSp>
        <p:nvGrpSpPr>
          <p:cNvPr id="48" name="c2-card-2"/>
          <p:cNvGrpSpPr/>
          <p:nvPr/>
        </p:nvGrpSpPr>
        <p:grpSpPr>
          <a:xfrm>
            <a:off x="6464618" y="3369945"/>
            <a:ext cx="5193982" cy="1803082"/>
            <a:chOff x="6464618" y="3369945"/>
            <a:chExt cx="5193982" cy="1803082"/>
          </a:xfrm>
        </p:grpSpPr>
        <p:sp>
          <p:nvSpPr>
            <p:cNvPr id="40" name="Rectangle 40"/>
            <p:cNvSpPr/>
            <p:nvPr/>
          </p:nvSpPr>
          <p:spPr>
            <a:xfrm>
              <a:off x="6464618" y="3369945"/>
              <a:ext cx="5193982" cy="1803082"/>
            </a:xfrm>
            <a:prstGeom prst="roundRect">
              <a:avLst>
                <a:gd name="adj" fmla="val 73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74142" y="3503295"/>
              <a:ext cx="47625" cy="15363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689408" y="355663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74929" y="358949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规约写法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504557" y="3591877"/>
              <a:ext cx="28359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ChangeEmployeeDetails（ID 1）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82549" y="3917632"/>
              <a:ext cx="31149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Preconditions：Manager 已登录系统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82549" y="4218622"/>
              <a:ext cx="44114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 flow：1. Include (FindEmployeeDetails). 2. 系统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显示员工详情 3. Manager 修改员工详情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82549" y="4775835"/>
              <a:ext cx="32175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Postconditions：1. 员工详情已被修改</a:t>
              </a:r>
            </a:p>
          </p:txBody>
        </p:sp>
      </p:grpSp>
      <p:grpSp>
        <p:nvGrpSpPr>
          <p:cNvPr id="54" name="c2-callout-3"/>
          <p:cNvGrpSpPr/>
          <p:nvPr/>
        </p:nvGrpSpPr>
        <p:grpSpPr>
          <a:xfrm>
            <a:off x="6464618" y="5343525"/>
            <a:ext cx="5193982" cy="729615"/>
            <a:chOff x="6464618" y="5343525"/>
            <a:chExt cx="5193982" cy="729615"/>
          </a:xfrm>
        </p:grpSpPr>
        <p:sp>
          <p:nvSpPr>
            <p:cNvPr id="49" name="Rectangle 49"/>
            <p:cNvSpPr/>
            <p:nvPr/>
          </p:nvSpPr>
          <p:spPr>
            <a:xfrm>
              <a:off x="6464618" y="5343525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669405" y="5608322"/>
              <a:ext cx="200023" cy="200023"/>
              <a:chOff x="6669405" y="5608322"/>
              <a:chExt cx="200023" cy="200023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669405" y="560832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802755" y="56749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6972110" y="5489258"/>
              <a:ext cx="431711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三个基用例都要先找到员工，于是把“找员工”抽出来，改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一处即可全体生效。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37716" cy="909257"/>
            <a:chOff x="520446" y="342900"/>
            <a:chExt cx="773771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3771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《extend》：基用例留下扩展点，扩展用例挂上去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011037" cy="264033"/>
            <a:chOff x="526542" y="1545907"/>
            <a:chExt cx="601103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0110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基用例完全不知道扩展用例的存在，它只提供挂钩，去掉扩展它照样完整。</a:t>
              </a:r>
            </a:p>
          </p:txBody>
        </p:sp>
      </p:grpSp>
      <p:grpSp>
        <p:nvGrpSpPr>
          <p:cNvPr id="26" name="c1-graph-1"/>
          <p:cNvGrpSpPr/>
          <p:nvPr/>
        </p:nvGrpSpPr>
        <p:grpSpPr>
          <a:xfrm>
            <a:off x="628193" y="1949291"/>
            <a:ext cx="5027752" cy="2331816"/>
            <a:chOff x="628193" y="1949291"/>
            <a:chExt cx="5027752" cy="2331816"/>
          </a:xfrm>
        </p:grpSpPr>
        <p:sp>
          <p:nvSpPr>
            <p:cNvPr id="9" name="Freeform 9"/>
            <p:cNvSpPr/>
            <p:nvPr/>
          </p:nvSpPr>
          <p:spPr>
            <a:xfrm>
              <a:off x="1188720" y="2566035"/>
              <a:ext cx="1336358" cy="639128"/>
            </a:xfrm>
            <a:custGeom>
              <a:avLst/>
              <a:gdLst/>
              <a:ahLst/>
              <a:cxnLst/>
              <a:rect l="l" t="t" r="r" b="b"/>
              <a:pathLst>
                <a:path w="1336358" h="639128">
                  <a:moveTo>
                    <a:pt x="0" y="639128"/>
                  </a:moveTo>
                  <a:lnTo>
                    <a:pt x="133635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301115" y="3295650"/>
              <a:ext cx="855345" cy="11430"/>
            </a:xfrm>
            <a:custGeom>
              <a:avLst/>
              <a:gdLst/>
              <a:ahLst/>
              <a:cxnLst/>
              <a:rect l="l" t="t" r="r" b="b"/>
              <a:pathLst>
                <a:path w="855345" h="11430">
                  <a:moveTo>
                    <a:pt x="0" y="11430"/>
                  </a:moveTo>
                  <a:lnTo>
                    <a:pt x="85534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203008" y="3418522"/>
              <a:ext cx="1304925" cy="588645"/>
            </a:xfrm>
            <a:custGeom>
              <a:avLst/>
              <a:gdLst/>
              <a:ahLst/>
              <a:cxnLst/>
              <a:rect l="l" t="t" r="r" b="b"/>
              <a:pathLst>
                <a:path w="1304925" h="588645">
                  <a:moveTo>
                    <a:pt x="0" y="0"/>
                  </a:moveTo>
                  <a:lnTo>
                    <a:pt x="1304925" y="5886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462338" y="2587942"/>
              <a:ext cx="1145858" cy="272415"/>
            </a:xfrm>
            <a:custGeom>
              <a:avLst/>
              <a:gdLst/>
              <a:ahLst/>
              <a:cxnLst/>
              <a:rect l="l" t="t" r="r" b="b"/>
              <a:pathLst>
                <a:path w="1145858" h="272415">
                  <a:moveTo>
                    <a:pt x="1145858" y="27241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3" name="Freeform 13"/>
            <p:cNvSpPr/>
            <p:nvPr/>
          </p:nvSpPr>
          <p:spPr>
            <a:xfrm>
              <a:off x="3369945" y="2541270"/>
              <a:ext cx="103822" cy="92392"/>
            </a:xfrm>
            <a:custGeom>
              <a:avLst/>
              <a:gdLst/>
              <a:ahLst/>
              <a:cxnLst/>
              <a:rect l="l" t="t" r="r" b="b"/>
              <a:pathLst>
                <a:path w="103822" h="92392">
                  <a:moveTo>
                    <a:pt x="0" y="24765"/>
                  </a:moveTo>
                  <a:lnTo>
                    <a:pt x="103822" y="0"/>
                  </a:lnTo>
                  <a:lnTo>
                    <a:pt x="80962" y="9239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177415" y="2297430"/>
              <a:ext cx="1257300" cy="268605"/>
            </a:xfrm>
            <a:prstGeom prst="roundRect">
              <a:avLst>
                <a:gd name="adj" fmla="val 3546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2156460" y="3152775"/>
              <a:ext cx="1299210" cy="268605"/>
            </a:xfrm>
            <a:prstGeom prst="roundRect">
              <a:avLst>
                <a:gd name="adj" fmla="val 3546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240280" y="4007168"/>
              <a:ext cx="1131570" cy="268605"/>
            </a:xfrm>
            <a:prstGeom prst="roundRect">
              <a:avLst>
                <a:gd name="adj" fmla="val 3546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608195" y="2850832"/>
              <a:ext cx="1047750" cy="268605"/>
            </a:xfrm>
            <a:prstGeom prst="roundRect">
              <a:avLst>
                <a:gd name="adj" fmla="val 3546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8193" y="3246120"/>
              <a:ext cx="675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Librarian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367881" y="2366010"/>
              <a:ext cx="8763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Return book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52955" y="3221355"/>
              <a:ext cx="90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Borrow book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468163" y="4075748"/>
              <a:ext cx="6758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Find book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72025" y="2919412"/>
              <a:ext cx="7200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Issue fine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74745" y="2634615"/>
              <a:ext cx="6276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691778" y="2663666"/>
              <a:ext cx="59458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《extend》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803011" y="1949291"/>
              <a:ext cx="87097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Library system</a:t>
              </a:r>
            </a:p>
          </p:txBody>
        </p:sp>
      </p:grpSp>
      <p:grpSp>
        <p:nvGrpSpPr>
          <p:cNvPr id="33" name="c1-callout-2"/>
          <p:cNvGrpSpPr/>
          <p:nvPr/>
        </p:nvGrpSpPr>
        <p:grpSpPr>
          <a:xfrm>
            <a:off x="533400" y="4612958"/>
            <a:ext cx="5410200" cy="1091565"/>
            <a:chOff x="533400" y="4612958"/>
            <a:chExt cx="5410200" cy="1091565"/>
          </a:xfrm>
        </p:grpSpPr>
        <p:sp>
          <p:nvSpPr>
            <p:cNvPr id="27" name="Rectangle 27"/>
            <p:cNvSpPr/>
            <p:nvPr/>
          </p:nvSpPr>
          <p:spPr>
            <a:xfrm>
              <a:off x="533400" y="4612958"/>
              <a:ext cx="5410200" cy="1091565"/>
            </a:xfrm>
            <a:prstGeom prst="roundRect">
              <a:avLst>
                <a:gd name="adj" fmla="val 1047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26129" y="5055036"/>
              <a:ext cx="224134" cy="192560"/>
              <a:chOff x="726129" y="5055036"/>
              <a:chExt cx="224134" cy="19256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838200" y="51254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26129" y="50550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52031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892" y="4940618"/>
              <a:ext cx="441140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《extend》的箭头方向与《include》相反：由扩展用例指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向基用例。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6248400" y="1928812"/>
            <a:ext cx="5410200" cy="1803082"/>
            <a:chOff x="6248400" y="1928812"/>
            <a:chExt cx="5410200" cy="1803082"/>
          </a:xfrm>
        </p:grpSpPr>
        <p:sp>
          <p:nvSpPr>
            <p:cNvPr id="34" name="Rectangle 34"/>
            <p:cNvSpPr/>
            <p:nvPr/>
          </p:nvSpPr>
          <p:spPr>
            <a:xfrm>
              <a:off x="6248400" y="1928812"/>
              <a:ext cx="5410200" cy="1803082"/>
            </a:xfrm>
            <a:prstGeom prst="roundRect">
              <a:avLst>
                <a:gd name="adj" fmla="val 73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57925" y="2062162"/>
              <a:ext cx="47625" cy="15363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73190" y="2115502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61811" y="214836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基用例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63562" y="2150745"/>
              <a:ext cx="17813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ReturnBook（ID 9）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66332" y="2476500"/>
              <a:ext cx="472001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 flow：1. Librarian 输入借阅者证号 2. 系统显示借阅者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详情及已借图书清单 3. Librarian 在清单中找到要还的书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66332" y="3033712"/>
              <a:ext cx="26850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Extension point: OverdueBook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473190" y="332136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28868" y="33607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53987" y="3333750"/>
              <a:ext cx="16093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Librarian 办理还书</a:t>
              </a:r>
            </a:p>
          </p:txBody>
        </p:sp>
      </p:grpSp>
      <p:grpSp>
        <p:nvGrpSpPr>
          <p:cNvPr id="53" name="c2-card-2"/>
          <p:cNvGrpSpPr/>
          <p:nvPr/>
        </p:nvGrpSpPr>
        <p:grpSpPr>
          <a:xfrm>
            <a:off x="6248400" y="3901440"/>
            <a:ext cx="5410200" cy="1803082"/>
            <a:chOff x="6248400" y="3901440"/>
            <a:chExt cx="5410200" cy="1803082"/>
          </a:xfrm>
        </p:grpSpPr>
        <p:sp>
          <p:nvSpPr>
            <p:cNvPr id="45" name="Rectangle 45"/>
            <p:cNvSpPr/>
            <p:nvPr/>
          </p:nvSpPr>
          <p:spPr>
            <a:xfrm>
              <a:off x="6248400" y="3901440"/>
              <a:ext cx="5410200" cy="1803082"/>
            </a:xfrm>
            <a:prstGeom prst="roundRect">
              <a:avLst>
                <a:gd name="adj" fmla="val 73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57925" y="4034790"/>
              <a:ext cx="47625" cy="15363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73190" y="408813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57759" y="412099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扩展用例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288339" y="4123372"/>
              <a:ext cx="16906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IssueFine（ID 10）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466332" y="4449128"/>
              <a:ext cx="36333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Segment 1 Preconditions：所还图书已逾期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66332" y="4749165"/>
              <a:ext cx="46771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Segment 1 flow：1. Librarian 把罚款明细录入系统 2. 系统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打印罚单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66332" y="5306378"/>
              <a:ext cx="44602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Segment 1 Postconditions：罚款已记录，罚单已打印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4" name="Rectangle 54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892" y="6028373"/>
              <a:ext cx="74077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更正：源课件 ReturnBook 规约把 Librarian 误拼为 </a:t>
              </a:r>
              <a:r>
                <a:rPr lang="en-US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Libratian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 </a:t>
              </a:r>
              <a:r>
                <a:rPr lang="en-US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libarain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，此处已改正。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69116" cy="909257"/>
            <a:chOff x="520446" y="342900"/>
            <a:chExt cx="516911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886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4957" y="407194"/>
              <a:ext cx="2205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UML 与用例图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6911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《include》与《extend》的区别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4695393" cy="308039"/>
            <a:chOff x="525399" y="1550194"/>
            <a:chExt cx="4695393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469539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判断标准只有一条，看基用例离了它还完不完整。</a:t>
              </a:r>
            </a:p>
          </p:txBody>
        </p:sp>
      </p:grpSp>
      <p:grpSp>
        <p:nvGrpSpPr>
          <p:cNvPr id="39" name="c1-table-1"/>
          <p:cNvGrpSpPr/>
          <p:nvPr/>
        </p:nvGrpSpPr>
        <p:grpSpPr>
          <a:xfrm>
            <a:off x="533400" y="1967865"/>
            <a:ext cx="11125200" cy="2692718"/>
            <a:chOff x="533400" y="1967865"/>
            <a:chExt cx="11125200" cy="269271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824838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207435" y="2102644"/>
              <a:ext cx="9636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《include》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19126" y="2102644"/>
              <a:ext cx="9546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《extend》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55127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基用例是否完整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655695" y="2426018"/>
              <a:ext cx="4069080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753993" y="255127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不完整，缺了被包含用例走不下去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742872" y="2426018"/>
              <a:ext cx="3906202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841170" y="255127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完整，去掉扩展照样能执行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00085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基用例是否知道对方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53993" y="3000851"/>
              <a:ext cx="24844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知道，主流里显式写 Include(…)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41170" y="300085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不知道，只留下扩展点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34494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箭头方向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53993" y="3449479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基用例 → 被包含用例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41170" y="3449479"/>
              <a:ext cx="1417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扩展用例 → 基用例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38981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触发条件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753993" y="3898106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无条件，执行到那一步必定进入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841170" y="3898106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有条件，满足扩展点条件才进入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207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1223" y="434673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典型用途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753993" y="434673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抽取多个用例的公共步骤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841170" y="434673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处理可选的、例外的附加行为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1967865"/>
              <a:ext cx="1112520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3641408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728585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5" name="c1-callout-2"/>
          <p:cNvGrpSpPr/>
          <p:nvPr/>
        </p:nvGrpSpPr>
        <p:grpSpPr>
          <a:xfrm>
            <a:off x="533400" y="4851082"/>
            <a:ext cx="11125200" cy="782955"/>
            <a:chOff x="533400" y="4851082"/>
            <a:chExt cx="11125200" cy="782955"/>
          </a:xfrm>
        </p:grpSpPr>
        <p:sp>
          <p:nvSpPr>
            <p:cNvPr id="40" name="Rectangle 40"/>
            <p:cNvSpPr/>
            <p:nvPr/>
          </p:nvSpPr>
          <p:spPr>
            <a:xfrm>
              <a:off x="533400" y="4851082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5142550"/>
              <a:ext cx="200023" cy="200023"/>
              <a:chOff x="738188" y="5142550"/>
              <a:chExt cx="200023" cy="200023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514255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71538" y="52092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130" y="4999672"/>
              <a:ext cx="92735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还书用例不带罚款也是一次完整的还书，所以罚款是 extend；三个员工用例都必须先找到员工，所以找员工是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include。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802761" cy="2997517"/>
            <a:chOff x="667512" y="1835468"/>
            <a:chExt cx="3802761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类图与对象图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应用最广的一张图，六种关系要分得清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类与对象的表示法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关联、聚合、组合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泛化、依赖、细化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类图与对象图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类图用方框表示类，三栏分别是名字、属性、操作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477000" cy="293370"/>
            <a:chOff x="525780" y="1548765"/>
            <a:chExt cx="647700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477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类图可在各个层次上描述系统的静态结构，是九种图里应用最广的一种。</a:t>
              </a:r>
            </a:p>
          </p:txBody>
        </p:sp>
      </p:grpSp>
      <p:grpSp>
        <p:nvGrpSpPr>
          <p:cNvPr id="16" name="c1-uml-1"/>
          <p:cNvGrpSpPr/>
          <p:nvPr/>
        </p:nvGrpSpPr>
        <p:grpSpPr>
          <a:xfrm>
            <a:off x="2558415" y="2319338"/>
            <a:ext cx="1359218" cy="971550"/>
            <a:chOff x="2558415" y="2319338"/>
            <a:chExt cx="1359218" cy="971550"/>
          </a:xfrm>
        </p:grpSpPr>
        <p:sp>
          <p:nvSpPr>
            <p:cNvPr id="9" name="Rectangle 9"/>
            <p:cNvSpPr/>
            <p:nvPr/>
          </p:nvSpPr>
          <p:spPr>
            <a:xfrm>
              <a:off x="2558415" y="2319338"/>
              <a:ext cx="1359218" cy="9715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2566035" y="2326958"/>
              <a:ext cx="1344930" cy="24574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558415" y="2567940"/>
              <a:ext cx="135921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558415" y="3014662"/>
              <a:ext cx="135921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985965" y="2379345"/>
              <a:ext cx="5050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Person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629662" y="2638901"/>
              <a:ext cx="1217168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name : string(idl)</a:t>
              </a:r>
            </a:p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age : int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629662" y="3085624"/>
              <a:ext cx="5969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print()</a:t>
              </a:r>
            </a:p>
          </p:txBody>
        </p:sp>
      </p:grpSp>
      <p:grpSp>
        <p:nvGrpSpPr>
          <p:cNvPr id="25" name="c1-kv-2"/>
          <p:cNvGrpSpPr/>
          <p:nvPr/>
        </p:nvGrpSpPr>
        <p:grpSpPr>
          <a:xfrm>
            <a:off x="526161" y="3859054"/>
            <a:ext cx="5417439" cy="1111187"/>
            <a:chOff x="526161" y="3859054"/>
            <a:chExt cx="5417439" cy="1111187"/>
          </a:xfrm>
        </p:grpSpPr>
        <p:sp>
          <p:nvSpPr>
            <p:cNvPr id="17" name="TextBox 17"/>
            <p:cNvSpPr txBox="1"/>
            <p:nvPr/>
          </p:nvSpPr>
          <p:spPr>
            <a:xfrm>
              <a:off x="526161" y="3859054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61454" y="3859054"/>
              <a:ext cx="22701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public，任何类都可以访问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416242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161" y="4275296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1454" y="4275296"/>
              <a:ext cx="24230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private，只有本类可以访问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5786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161" y="4691539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61454" y="4691539"/>
              <a:ext cx="28723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protected，本类与子类可以访问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954530"/>
            <a:ext cx="5410200" cy="1268730"/>
            <a:chOff x="6248400" y="1954530"/>
            <a:chExt cx="5410200" cy="1268730"/>
          </a:xfrm>
        </p:grpSpPr>
        <p:sp>
          <p:nvSpPr>
            <p:cNvPr id="26" name="Rectangle 26"/>
            <p:cNvSpPr/>
            <p:nvPr/>
          </p:nvSpPr>
          <p:spPr>
            <a:xfrm>
              <a:off x="6248400" y="1954530"/>
              <a:ext cx="5410200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57925" y="2087880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84620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76060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067931" y="2187416"/>
              <a:ext cx="24584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对象图（Object Diagram）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77381" y="253126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类图的一种变形，画某一时刻各对象的快照。对象名加下划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线。</a:t>
              </a:r>
            </a:p>
          </p:txBody>
        </p:sp>
      </p:grpSp>
      <p:grpSp>
        <p:nvGrpSpPr>
          <p:cNvPr id="38" name="c2-uml-2"/>
          <p:cNvGrpSpPr/>
          <p:nvPr/>
        </p:nvGrpSpPr>
        <p:grpSpPr>
          <a:xfrm>
            <a:off x="8382000" y="3629025"/>
            <a:ext cx="1143000" cy="443865"/>
            <a:chOff x="8382000" y="3629025"/>
            <a:chExt cx="1143000" cy="443865"/>
          </a:xfrm>
        </p:grpSpPr>
        <p:sp>
          <p:nvSpPr>
            <p:cNvPr id="33" name="Rectangle 33"/>
            <p:cNvSpPr/>
            <p:nvPr/>
          </p:nvSpPr>
          <p:spPr>
            <a:xfrm>
              <a:off x="8382000" y="3629025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8389620" y="3636645"/>
              <a:ext cx="1128712" cy="24574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8382000" y="387762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382000" y="397287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511311" y="3689032"/>
              <a:ext cx="8843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joe : Person</a:t>
              </a:r>
            </a:p>
          </p:txBody>
        </p:sp>
      </p:grpSp>
      <p:grpSp>
        <p:nvGrpSpPr>
          <p:cNvPr id="47" name="c2-kv-3"/>
          <p:cNvGrpSpPr/>
          <p:nvPr/>
        </p:nvGrpSpPr>
        <p:grpSpPr>
          <a:xfrm>
            <a:off x="6241161" y="4502944"/>
            <a:ext cx="5417439" cy="1111187"/>
            <a:chOff x="6241161" y="4502944"/>
            <a:chExt cx="5417439" cy="1111187"/>
          </a:xfrm>
        </p:grpSpPr>
        <p:sp>
          <p:nvSpPr>
            <p:cNvPr id="39" name="TextBox 39"/>
            <p:cNvSpPr txBox="1"/>
            <p:nvPr/>
          </p:nvSpPr>
          <p:spPr>
            <a:xfrm>
              <a:off x="6241161" y="450294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概念层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52691" y="4502944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应用域中的概念，要理解问题时用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48063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41161" y="491918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说明层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52691" y="4919186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软件的接口而非实现，区分类型与类，要理解软件时用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52225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241161" y="5335429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实现层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52691" y="5335429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软件实现体的构成，只有这层才有严格意义上的类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8" name="Rectangle 48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0511" y="6011704"/>
              <a:ext cx="65521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属性写成“可见性 名字 : 类型”，操作写成“可见性 名字(参数) : 返回类型”。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类图与对象图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关联：同级类之间稳定的结构性联系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822389" cy="308039"/>
            <a:chOff x="525399" y="1550194"/>
            <a:chExt cx="682238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82238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关联可以有名字和方向，也可以是双向的；两端可以写角色名和多重性。</a:t>
              </a:r>
            </a:p>
          </p:txBody>
        </p:sp>
      </p:grpSp>
      <p:grpSp>
        <p:nvGrpSpPr>
          <p:cNvPr id="18" name="c1-bullets-1"/>
          <p:cNvGrpSpPr/>
          <p:nvPr/>
        </p:nvGrpSpPr>
        <p:grpSpPr>
          <a:xfrm>
            <a:off x="525780" y="1992630"/>
            <a:ext cx="4427220" cy="1682115"/>
            <a:chOff x="525780" y="1992630"/>
            <a:chExt cx="4427220" cy="1682115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关联的四项要素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9115" y="240982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97230" y="234696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结构性关系，连接的是地位平等的类（或对象）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9115" y="275463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97230" y="269176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关联可以有名称和方向，也可以是双向的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9115" y="30994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97230" y="3036570"/>
              <a:ext cx="3781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关联的每一端可以有角色名（role name）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9115" y="344424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97230" y="3381375"/>
              <a:ext cx="39629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关联的每一端可以标多重性（multiplicity）</a:t>
              </a:r>
            </a:p>
          </p:txBody>
        </p:sp>
      </p:grpSp>
      <p:grpSp>
        <p:nvGrpSpPr>
          <p:cNvPr id="33" name="c1-graph-2"/>
          <p:cNvGrpSpPr/>
          <p:nvPr/>
        </p:nvGrpSpPr>
        <p:grpSpPr>
          <a:xfrm>
            <a:off x="860108" y="4053840"/>
            <a:ext cx="4612004" cy="1337976"/>
            <a:chOff x="860108" y="4053840"/>
            <a:chExt cx="4612004" cy="1337976"/>
          </a:xfrm>
        </p:grpSpPr>
        <p:sp>
          <p:nvSpPr>
            <p:cNvPr id="19" name="Freeform 19"/>
            <p:cNvSpPr/>
            <p:nvPr/>
          </p:nvSpPr>
          <p:spPr>
            <a:xfrm>
              <a:off x="1764982" y="4272915"/>
              <a:ext cx="2659380" cy="9525"/>
            </a:xfrm>
            <a:custGeom>
              <a:avLst/>
              <a:gdLst/>
              <a:ahLst/>
              <a:cxnLst/>
              <a:rect l="l" t="t" r="r" b="b"/>
              <a:pathLst>
                <a:path w="2659380" h="9525">
                  <a:moveTo>
                    <a:pt x="0" y="0"/>
                  </a:moveTo>
                  <a:lnTo>
                    <a:pt x="265938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764982" y="5106352"/>
              <a:ext cx="2659380" cy="9525"/>
            </a:xfrm>
            <a:custGeom>
              <a:avLst/>
              <a:gdLst/>
              <a:ahLst/>
              <a:cxnLst/>
              <a:rect l="l" t="t" r="r" b="b"/>
              <a:pathLst>
                <a:path w="2659380" h="9525">
                  <a:moveTo>
                    <a:pt x="0" y="0"/>
                  </a:moveTo>
                  <a:lnTo>
                    <a:pt x="265938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860108" y="4053840"/>
              <a:ext cx="90487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424362" y="4053840"/>
              <a:ext cx="10477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860108" y="4887278"/>
              <a:ext cx="90487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424362" y="4887278"/>
              <a:ext cx="10477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26574" y="4197668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person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98659" y="4197668"/>
              <a:ext cx="6991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company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26574" y="5031105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person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98659" y="5031105"/>
              <a:ext cx="6991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company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751772" y="4179570"/>
              <a:ext cx="68580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761923" y="4214336"/>
              <a:ext cx="6654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Works For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962460" y="5201126"/>
              <a:ext cx="9861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-employee 1..*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681025" y="5201126"/>
              <a:ext cx="7684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-employer *</a:t>
              </a:r>
            </a:p>
          </p:txBody>
        </p:sp>
      </p:grpSp>
      <p:grpSp>
        <p:nvGrpSpPr>
          <p:cNvPr id="37" name="c2-code-1"/>
          <p:cNvGrpSpPr/>
          <p:nvPr/>
        </p:nvGrpSpPr>
        <p:grpSpPr>
          <a:xfrm>
            <a:off x="6032182" y="1967865"/>
            <a:ext cx="5626418" cy="2733675"/>
            <a:chOff x="6032182" y="1967865"/>
            <a:chExt cx="5626418" cy="2733675"/>
          </a:xfrm>
        </p:grpSpPr>
        <p:sp>
          <p:nvSpPr>
            <p:cNvPr id="34" name="Rectangle 34"/>
            <p:cNvSpPr/>
            <p:nvPr/>
          </p:nvSpPr>
          <p:spPr>
            <a:xfrm>
              <a:off x="6032182" y="1967865"/>
              <a:ext cx="5626418" cy="2733675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160580" y="211978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关联在代码里的样子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59817" y="2381726"/>
              <a:ext cx="3290062" cy="22488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Person {</a:t>
              </a:r>
              <a:br/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:</a:t>
              </a:r>
              <a:br/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: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Company *employer;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指向雇主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Company {</a:t>
              </a:r>
              <a:br/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:</a:t>
              </a:r>
              <a:br/>
              <a:r>
                <a:rPr lang="en-US" sz="112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: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Person **employee;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一组雇员指针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grpSp>
        <p:nvGrpSpPr>
          <p:cNvPr id="46" name="c2-kv-2"/>
          <p:cNvGrpSpPr/>
          <p:nvPr/>
        </p:nvGrpSpPr>
        <p:grpSpPr>
          <a:xfrm>
            <a:off x="6024562" y="4916805"/>
            <a:ext cx="5634038" cy="1455420"/>
            <a:chOff x="6024562" y="4916805"/>
            <a:chExt cx="5634038" cy="1455420"/>
          </a:xfrm>
        </p:grpSpPr>
        <p:sp>
          <p:nvSpPr>
            <p:cNvPr id="38" name="TextBox 38"/>
            <p:cNvSpPr txBox="1"/>
            <p:nvPr/>
          </p:nvSpPr>
          <p:spPr>
            <a:xfrm>
              <a:off x="6024562" y="4916805"/>
              <a:ext cx="11510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多重性 1..*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88542" y="491680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一家公司至少有一名雇员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32182" y="523684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024562" y="5356860"/>
              <a:ext cx="8012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多重性 *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388542" y="535686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一个人可以在零到多家公司任职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032182" y="567690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024562" y="57969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链属性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388542" y="5796915"/>
              <a:ext cx="38633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关联本身也可以有属性，例如 salary 和 title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挂在 person 与 company 的关联上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类图与对象图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聚合与组合：都是整体与部分，强度不同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011037" cy="264033"/>
            <a:chOff x="526542" y="1545907"/>
            <a:chExt cx="601103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0110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聚合是共享的包容，部分可以脱离整体存在；组合是不能独立存在的包容。</a:t>
              </a:r>
            </a:p>
          </p:txBody>
        </p:sp>
      </p:grpSp>
      <p:grpSp>
        <p:nvGrpSpPr>
          <p:cNvPr id="25" name="c1-graph-1"/>
          <p:cNvGrpSpPr/>
          <p:nvPr/>
        </p:nvGrpSpPr>
        <p:grpSpPr>
          <a:xfrm>
            <a:off x="922972" y="1953101"/>
            <a:ext cx="4847273" cy="1365409"/>
            <a:chOff x="922972" y="1953101"/>
            <a:chExt cx="4847273" cy="1365409"/>
          </a:xfrm>
        </p:grpSpPr>
        <p:sp>
          <p:nvSpPr>
            <p:cNvPr id="9" name="Freeform 9"/>
            <p:cNvSpPr/>
            <p:nvPr/>
          </p:nvSpPr>
          <p:spPr>
            <a:xfrm>
              <a:off x="1719262" y="2385060"/>
              <a:ext cx="3359468" cy="9525"/>
            </a:xfrm>
            <a:custGeom>
              <a:avLst/>
              <a:gdLst/>
              <a:ahLst/>
              <a:cxnLst/>
              <a:rect l="l" t="t" r="r" b="b"/>
              <a:pathLst>
                <a:path w="3359468" h="9525">
                  <a:moveTo>
                    <a:pt x="0" y="0"/>
                  </a:moveTo>
                  <a:lnTo>
                    <a:pt x="335946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677352" y="3125152"/>
              <a:ext cx="3296602" cy="9525"/>
            </a:xfrm>
            <a:custGeom>
              <a:avLst/>
              <a:gdLst/>
              <a:ahLst/>
              <a:cxnLst/>
              <a:rect l="l" t="t" r="r" b="b"/>
              <a:pathLst>
                <a:path w="3296602" h="9525">
                  <a:moveTo>
                    <a:pt x="0" y="0"/>
                  </a:moveTo>
                  <a:lnTo>
                    <a:pt x="329660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922972" y="2191702"/>
              <a:ext cx="796290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078730" y="2191702"/>
              <a:ext cx="586740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964882" y="2932748"/>
              <a:ext cx="712470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973955" y="2932748"/>
              <a:ext cx="796290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103757" y="231933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课题组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296091" y="231933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74432" y="306038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窗口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154740" y="306038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文本框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256598" y="2306002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284322" y="2335054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成员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183255" y="3047048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210979" y="3076099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包含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746225" y="1953101"/>
              <a:ext cx="120172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聚合（空心菱形） * 1…*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806939" y="2694146"/>
              <a:ext cx="108029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组合（实心菱形） 1 *</a:t>
              </a:r>
            </a:p>
          </p:txBody>
        </p:sp>
      </p:grpSp>
      <p:grpSp>
        <p:nvGrpSpPr>
          <p:cNvPr id="31" name="c1-card-2"/>
          <p:cNvGrpSpPr/>
          <p:nvPr/>
        </p:nvGrpSpPr>
        <p:grpSpPr>
          <a:xfrm>
            <a:off x="533400" y="3523298"/>
            <a:ext cx="5626418" cy="2431732"/>
            <a:chOff x="533400" y="3523298"/>
            <a:chExt cx="5626418" cy="2431732"/>
          </a:xfrm>
        </p:grpSpPr>
        <p:sp>
          <p:nvSpPr>
            <p:cNvPr id="26" name="Rectangle 26"/>
            <p:cNvSpPr/>
            <p:nvPr/>
          </p:nvSpPr>
          <p:spPr>
            <a:xfrm>
              <a:off x="533400" y="3523298"/>
              <a:ext cx="5626418" cy="2431732"/>
            </a:xfrm>
            <a:prstGeom prst="roundRect">
              <a:avLst>
                <a:gd name="adj" fmla="val 54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42925" y="3656648"/>
              <a:ext cx="47625" cy="21650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58190" y="37099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50862" y="37428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1332" y="4054792"/>
              <a:ext cx="5002911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源课件在聚合页把聚合注为“physical containment（物理包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容）”，与后一页“组合是不能独立存在的聚集”相矛盾。按 UML 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通行用法，</a:t>
              </a:r>
              <a:r>
                <a:rPr lang="zh-CN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物理包容是组合的特征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</a:t>
              </a: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聚合是共享的整体-部分关</a:t>
              </a:r>
              <a:br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系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51" name="c2-compare-1"/>
          <p:cNvGrpSpPr/>
          <p:nvPr/>
        </p:nvGrpSpPr>
        <p:grpSpPr>
          <a:xfrm>
            <a:off x="6464618" y="1928812"/>
            <a:ext cx="5193982" cy="2295525"/>
            <a:chOff x="6464618" y="1928812"/>
            <a:chExt cx="5193982" cy="2295525"/>
          </a:xfrm>
        </p:grpSpPr>
        <p:sp>
          <p:nvSpPr>
            <p:cNvPr id="32" name="Rectangle 32"/>
            <p:cNvSpPr/>
            <p:nvPr/>
          </p:nvSpPr>
          <p:spPr>
            <a:xfrm>
              <a:off x="6464618" y="1928812"/>
              <a:ext cx="2425065" cy="2295525"/>
            </a:xfrm>
            <a:prstGeom prst="roundRect">
              <a:avLst>
                <a:gd name="adj" fmla="val 58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74142" y="2062162"/>
              <a:ext cx="47625" cy="202882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82549" y="2137410"/>
              <a:ext cx="15472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 Aggregation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697980" y="251079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853999" y="2454592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共享的包容，部分可同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时属于多个整体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697980" y="306800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853999" y="3011805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部分可脱离整体独立存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在，如 string、list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697980" y="362521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853999" y="3569018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空心菱形；例：课题组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与成员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233535" y="1928812"/>
              <a:ext cx="2425065" cy="2295525"/>
            </a:xfrm>
            <a:prstGeom prst="roundRect">
              <a:avLst>
                <a:gd name="adj" fmla="val 5809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413367" y="2137410"/>
              <a:ext cx="1537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组合 Composition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9428798" y="251079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584817" y="2454592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独占的包容，部分只属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于一个整体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9428798" y="306800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584817" y="3011805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部分不能独立存在，如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脚、手臂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9428798" y="362521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584817" y="3569018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实心菱形；例：窗口与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它的文本框、按钮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8900160" y="291465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970500" y="301085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5" name="c2-code-2"/>
          <p:cNvGrpSpPr/>
          <p:nvPr/>
        </p:nvGrpSpPr>
        <p:grpSpPr>
          <a:xfrm>
            <a:off x="6464618" y="4393882"/>
            <a:ext cx="5193982" cy="1561148"/>
            <a:chOff x="6464618" y="4393882"/>
            <a:chExt cx="5193982" cy="1561148"/>
          </a:xfrm>
        </p:grpSpPr>
        <p:sp>
          <p:nvSpPr>
            <p:cNvPr id="52" name="Rectangle 52"/>
            <p:cNvSpPr/>
            <p:nvPr/>
          </p:nvSpPr>
          <p:spPr>
            <a:xfrm>
              <a:off x="6464618" y="4393882"/>
              <a:ext cx="5193982" cy="1561148"/>
            </a:xfrm>
            <a:prstGeom prst="roundRect">
              <a:avLst>
                <a:gd name="adj" fmla="val 610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593015" y="4545806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聚合的代码形态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593015" y="4806791"/>
              <a:ext cx="2934716" cy="1071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university {</a:t>
              </a:r>
              <a:br/>
              <a:r>
                <a:rPr lang="en-US" sz="98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: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university();</a:t>
              </a:r>
              <a:br/>
              <a:r>
                <a:rPr lang="en-US" sz="98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: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department* dept[n];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持有部分的指针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类图与对象图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关联还是聚合？看两个对象是否构成整体与部分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465826" cy="264033"/>
            <a:chOff x="526542" y="1545907"/>
            <a:chExt cx="5465826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同样两个类，语义不同画法就不同，这是画类图时最常犹豫的一处。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28812"/>
            <a:ext cx="5410200" cy="1743075"/>
            <a:chOff x="533400" y="1928812"/>
            <a:chExt cx="5410200" cy="174307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0090" y="211550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4659" y="214836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判断规则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3232" y="2459355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两个对象被紧密地绑成整体与部分的关系时，用聚合（或组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合）。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3232" y="3016568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两个对象通常被认为是独立的，尽管它们经常被连在一起，用普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通关联。</a:t>
              </a:r>
            </a:p>
          </p:txBody>
        </p:sp>
      </p:grpSp>
      <p:grpSp>
        <p:nvGrpSpPr>
          <p:cNvPr id="27" name="c1-graph-2"/>
          <p:cNvGrpSpPr/>
          <p:nvPr/>
        </p:nvGrpSpPr>
        <p:grpSpPr>
          <a:xfrm>
            <a:off x="1009650" y="4026218"/>
            <a:ext cx="4499610" cy="1464468"/>
            <a:chOff x="1009650" y="4026218"/>
            <a:chExt cx="4499610" cy="1464468"/>
          </a:xfrm>
        </p:grpSpPr>
        <p:sp>
          <p:nvSpPr>
            <p:cNvPr id="15" name="Freeform 15"/>
            <p:cNvSpPr/>
            <p:nvPr/>
          </p:nvSpPr>
          <p:spPr>
            <a:xfrm>
              <a:off x="1680210" y="4210050"/>
              <a:ext cx="3074670" cy="9525"/>
            </a:xfrm>
            <a:custGeom>
              <a:avLst/>
              <a:gdLst/>
              <a:ahLst/>
              <a:cxnLst/>
              <a:rect l="l" t="t" r="r" b="b"/>
              <a:pathLst>
                <a:path w="3074670" h="9525">
                  <a:moveTo>
                    <a:pt x="0" y="0"/>
                  </a:moveTo>
                  <a:lnTo>
                    <a:pt x="307467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680210" y="5082540"/>
              <a:ext cx="3074670" cy="9525"/>
            </a:xfrm>
            <a:custGeom>
              <a:avLst/>
              <a:gdLst/>
              <a:ahLst/>
              <a:cxnLst/>
              <a:rect l="l" t="t" r="r" b="b"/>
              <a:pathLst>
                <a:path w="3074670" h="9525">
                  <a:moveTo>
                    <a:pt x="0" y="0"/>
                  </a:moveTo>
                  <a:lnTo>
                    <a:pt x="307467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009650" y="4026218"/>
              <a:ext cx="670560" cy="368618"/>
            </a:xfrm>
            <a:prstGeom prst="roundRect">
              <a:avLst>
                <a:gd name="adj" fmla="val 2584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754880" y="4026218"/>
              <a:ext cx="754380" cy="368618"/>
            </a:xfrm>
            <a:prstGeom prst="roundRect">
              <a:avLst>
                <a:gd name="adj" fmla="val 2584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1009650" y="4897755"/>
              <a:ext cx="670560" cy="368618"/>
            </a:xfrm>
            <a:prstGeom prst="roundRect">
              <a:avLst>
                <a:gd name="adj" fmla="val 2584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754880" y="4897755"/>
              <a:ext cx="754380" cy="368618"/>
            </a:xfrm>
            <a:prstGeom prst="roundRect">
              <a:avLst>
                <a:gd name="adj" fmla="val 2584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214840" y="4145280"/>
              <a:ext cx="2601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Car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961165" y="4145280"/>
              <a:ext cx="3418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Door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14840" y="5016818"/>
              <a:ext cx="2601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961165" y="5016818"/>
              <a:ext cx="3418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Door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877735" y="4456271"/>
              <a:ext cx="72153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聚合 1 0..2,4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877735" y="5328761"/>
              <a:ext cx="72153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关联 1 0..2,4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6248400" y="1928812"/>
            <a:ext cx="5410200" cy="1503045"/>
            <a:chOff x="6248400" y="1928812"/>
            <a:chExt cx="5410200" cy="1503045"/>
          </a:xfrm>
        </p:grpSpPr>
        <p:sp>
          <p:nvSpPr>
            <p:cNvPr id="28" name="Rectangle 28"/>
            <p:cNvSpPr/>
            <p:nvPr/>
          </p:nvSpPr>
          <p:spPr>
            <a:xfrm>
              <a:off x="6248400" y="1928812"/>
              <a:ext cx="5410200" cy="1503045"/>
            </a:xfrm>
            <a:prstGeom prst="roundRect">
              <a:avLst>
                <a:gd name="adj" fmla="val 88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57925" y="2062162"/>
              <a:ext cx="47625" cy="123634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73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65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38784" y="215074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受限泛化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66332" y="247650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可以给泛化关系附加约束条件，进一步说明该泛化关系的使用方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法或扩充方法，这样的泛化关系称为受限泛化。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66332" y="3033712"/>
              <a:ext cx="44026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预定义的约束有 4 种：多重、不相交、完全、不完全。</a:t>
              </a:r>
            </a:p>
          </p:txBody>
        </p:sp>
      </p:grpSp>
      <p:grpSp>
        <p:nvGrpSpPr>
          <p:cNvPr id="47" name="c2-kv-2"/>
          <p:cNvGrpSpPr/>
          <p:nvPr/>
        </p:nvGrpSpPr>
        <p:grpSpPr>
          <a:xfrm>
            <a:off x="6241542" y="3623310"/>
            <a:ext cx="5417058" cy="1695641"/>
            <a:chOff x="6241542" y="3623310"/>
            <a:chExt cx="5417058" cy="1695641"/>
          </a:xfrm>
        </p:grpSpPr>
        <p:sp>
          <p:nvSpPr>
            <p:cNvPr id="36" name="TextBox 36"/>
            <p:cNvSpPr txBox="1"/>
            <p:nvPr/>
          </p:nvSpPr>
          <p:spPr>
            <a:xfrm>
              <a:off x="6241542" y="362331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多重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024497" y="3623310"/>
              <a:ext cx="42999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一个子类可以同时继承多个父类，例如水陆两用车既是汽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车又是船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416337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41542" y="427005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不相交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24497" y="4270058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各子类的实例集合互不重叠，一个对象只能属于一个子类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45558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41542" y="466248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完全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24497" y="466248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父类已被划分完，不会再有新的子类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49482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241542" y="50549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不完全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24497" y="505491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还可能派生出别的子类</a:t>
              </a:r>
            </a:p>
          </p:txBody>
        </p:sp>
      </p:grpSp>
      <p:grpSp>
        <p:nvGrpSpPr>
          <p:cNvPr id="54" name="c2-callout-3"/>
          <p:cNvGrpSpPr/>
          <p:nvPr/>
        </p:nvGrpSpPr>
        <p:grpSpPr>
          <a:xfrm>
            <a:off x="6248400" y="5434965"/>
            <a:ext cx="5410200" cy="481012"/>
            <a:chOff x="6248400" y="5434965"/>
            <a:chExt cx="5410200" cy="481012"/>
          </a:xfrm>
        </p:grpSpPr>
        <p:sp>
          <p:nvSpPr>
            <p:cNvPr id="48" name="Rectangle 48"/>
            <p:cNvSpPr/>
            <p:nvPr/>
          </p:nvSpPr>
          <p:spPr>
            <a:xfrm>
              <a:off x="6248400" y="5434965"/>
              <a:ext cx="5410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453188" y="5575935"/>
              <a:ext cx="200026" cy="200026"/>
              <a:chOff x="6453188" y="5575935"/>
              <a:chExt cx="200026" cy="200026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453188" y="557593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553200" y="564261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542088" y="567594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6755892" y="5581650"/>
              <a:ext cx="42663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约束写在花括号里，标在泛化线旁边，例如 {多重}。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类图与对象图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泛化、依赖与细化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284089" cy="264033"/>
            <a:chOff x="526542" y="1545907"/>
            <a:chExt cx="528408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三种关系都画成带三角或箭头的线，区别在线型和三角是否空心。</a:t>
              </a:r>
            </a:p>
          </p:txBody>
        </p:sp>
      </p:grpSp>
      <p:grpSp>
        <p:nvGrpSpPr>
          <p:cNvPr id="33" name="c1-table-1"/>
          <p:cNvGrpSpPr/>
          <p:nvPr/>
        </p:nvGrpSpPr>
        <p:grpSpPr>
          <a:xfrm>
            <a:off x="533400" y="1928812"/>
            <a:ext cx="5410200" cy="2200275"/>
            <a:chOff x="533400" y="1928812"/>
            <a:chExt cx="5410200" cy="220027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17931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98612" y="205025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线型与箭头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488853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0555" y="24503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12595" y="2450306"/>
              <a:ext cx="1089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 + 空心三角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444240" y="245030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子类指向父类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2415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28912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0555" y="2850356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 / 细化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12595" y="2850356"/>
              <a:ext cx="1089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虚线 + 空心三角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444240" y="285035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类指向接口；详细指向抽象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1242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0555" y="32504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12595" y="3250406"/>
              <a:ext cx="1089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虚线 + 开放箭头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444240" y="325040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一方改变会影响另一方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52425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529012"/>
              <a:ext cx="5410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0555" y="3650456"/>
              <a:ext cx="752145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 / 聚合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 组合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12595" y="375046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实线，后两者加菱形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444240" y="3750469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结构性联系；整体与部分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928812"/>
              <a:ext cx="5410200" cy="22002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610678" y="1928812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3342322" y="1928812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1-card-2"/>
          <p:cNvGrpSpPr/>
          <p:nvPr/>
        </p:nvGrpSpPr>
        <p:grpSpPr>
          <a:xfrm>
            <a:off x="533400" y="4298632"/>
            <a:ext cx="5410200" cy="1202055"/>
            <a:chOff x="533400" y="4298632"/>
            <a:chExt cx="5410200" cy="1202055"/>
          </a:xfrm>
        </p:grpSpPr>
        <p:sp>
          <p:nvSpPr>
            <p:cNvPr id="34" name="Rectangle 34"/>
            <p:cNvSpPr/>
            <p:nvPr/>
          </p:nvSpPr>
          <p:spPr>
            <a:xfrm>
              <a:off x="533400" y="4298632"/>
              <a:ext cx="5410200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42925" y="4431982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58190" y="448532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50862" y="451818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323784" y="4520565"/>
              <a:ext cx="1796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依赖（Dependency）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51332" y="484632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两个模型元素之间的语义连接：一个独立，另一个依赖它；独立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的一方改变会影响依赖它的一方。</a:t>
              </a:r>
            </a:p>
          </p:txBody>
        </p:sp>
      </p:grpSp>
      <p:grpSp>
        <p:nvGrpSpPr>
          <p:cNvPr id="51" name="c2-graph-1"/>
          <p:cNvGrpSpPr/>
          <p:nvPr/>
        </p:nvGrpSpPr>
        <p:grpSpPr>
          <a:xfrm>
            <a:off x="6565582" y="2066925"/>
            <a:ext cx="4461510" cy="1189673"/>
            <a:chOff x="6565582" y="2066925"/>
            <a:chExt cx="4461510" cy="1189673"/>
          </a:xfrm>
        </p:grpSpPr>
        <p:sp>
          <p:nvSpPr>
            <p:cNvPr id="41" name="Freeform 41"/>
            <p:cNvSpPr/>
            <p:nvPr/>
          </p:nvSpPr>
          <p:spPr>
            <a:xfrm>
              <a:off x="7445692" y="2356485"/>
              <a:ext cx="1978342" cy="249555"/>
            </a:xfrm>
            <a:custGeom>
              <a:avLst/>
              <a:gdLst/>
              <a:ahLst/>
              <a:cxnLst/>
              <a:rect l="l" t="t" r="r" b="b"/>
              <a:pathLst>
                <a:path w="1978342" h="249555">
                  <a:moveTo>
                    <a:pt x="0" y="249555"/>
                  </a:moveTo>
                  <a:lnTo>
                    <a:pt x="197834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42" name="Freeform 42"/>
            <p:cNvSpPr/>
            <p:nvPr/>
          </p:nvSpPr>
          <p:spPr>
            <a:xfrm>
              <a:off x="9418320" y="2308860"/>
              <a:ext cx="100012" cy="94298"/>
            </a:xfrm>
            <a:custGeom>
              <a:avLst/>
              <a:gdLst/>
              <a:ahLst/>
              <a:cxnLst/>
              <a:rect l="l" t="t" r="r" b="b"/>
              <a:pathLst>
                <a:path w="100012" h="94298">
                  <a:moveTo>
                    <a:pt x="100012" y="35242"/>
                  </a:moveTo>
                  <a:lnTo>
                    <a:pt x="11430" y="94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7445692" y="2717482"/>
              <a:ext cx="1936432" cy="244792"/>
            </a:xfrm>
            <a:custGeom>
              <a:avLst/>
              <a:gdLst/>
              <a:ahLst/>
              <a:cxnLst/>
              <a:rect l="l" t="t" r="r" b="b"/>
              <a:pathLst>
                <a:path w="1936432" h="244792">
                  <a:moveTo>
                    <a:pt x="0" y="0"/>
                  </a:moveTo>
                  <a:lnTo>
                    <a:pt x="1936432" y="244792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44" name="Freeform 44"/>
            <p:cNvSpPr/>
            <p:nvPr/>
          </p:nvSpPr>
          <p:spPr>
            <a:xfrm>
              <a:off x="9376410" y="2915602"/>
              <a:ext cx="100012" cy="94297"/>
            </a:xfrm>
            <a:custGeom>
              <a:avLst/>
              <a:gdLst/>
              <a:ahLst/>
              <a:cxnLst/>
              <a:rect l="l" t="t" r="r" b="b"/>
              <a:pathLst>
                <a:path w="100012" h="94297">
                  <a:moveTo>
                    <a:pt x="100012" y="59055"/>
                  </a:moveTo>
                  <a:lnTo>
                    <a:pt x="0" y="94297"/>
                  </a:lnTo>
                  <a:lnTo>
                    <a:pt x="1143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565582" y="2477452"/>
              <a:ext cx="880110" cy="368618"/>
            </a:xfrm>
            <a:prstGeom prst="roundRect">
              <a:avLst>
                <a:gd name="adj" fmla="val 2584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9518332" y="2066925"/>
              <a:ext cx="1466850" cy="368618"/>
            </a:xfrm>
            <a:prstGeom prst="roundRect">
              <a:avLst>
                <a:gd name="adj" fmla="val 2584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9476422" y="2887980"/>
              <a:ext cx="1550670" cy="368618"/>
            </a:xfrm>
            <a:prstGeom prst="roundRect">
              <a:avLst>
                <a:gd name="adj" fmla="val 2584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692335" y="2596515"/>
              <a:ext cx="62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windchill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635611" y="2185988"/>
              <a:ext cx="12322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windspeedSensor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535365" y="3007043"/>
              <a:ext cx="14327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temperatureSensor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6248400" y="3565208"/>
            <a:ext cx="5410200" cy="1935480"/>
            <a:chOff x="6248400" y="3565208"/>
            <a:chExt cx="5410200" cy="1935480"/>
          </a:xfrm>
        </p:grpSpPr>
        <p:sp>
          <p:nvSpPr>
            <p:cNvPr id="52" name="Rectangle 52"/>
            <p:cNvSpPr/>
            <p:nvPr/>
          </p:nvSpPr>
          <p:spPr>
            <a:xfrm>
              <a:off x="6248400" y="3565208"/>
              <a:ext cx="5410200" cy="1935480"/>
            </a:xfrm>
            <a:prstGeom prst="roundRect">
              <a:avLst>
                <a:gd name="adj" fmla="val 689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257925" y="3698558"/>
              <a:ext cx="47625" cy="166878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473190" y="375189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565862" y="378475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038784" y="3787140"/>
              <a:ext cx="13281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细化（Refine）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466332" y="4112895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对同一事物在不同抽象层次上描述时，这些描述之间具有细化关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系。若 B 是在 A 的基础上更详细的描述，则称 B 细化了 A。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67475" y="4666774"/>
              <a:ext cx="3996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符号：由元素 B 指向元素 A 的、一端为空心三角形的虚线。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0" name="Rectangle 60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892" y="6028373"/>
              <a:ext cx="73540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更正：源课件依赖示例把 temperatureSensor 误拼为 </a:t>
              </a:r>
              <a:r>
                <a:rPr lang="en-US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tempatureSensor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，此处已改正。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类图与对象图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类图示例：简单手表与银行账户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073140" cy="293370"/>
            <a:chOff x="525780" y="1548765"/>
            <a:chExt cx="607314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0731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同一个系统，类图画的是结构，对象图画的是某一时刻的具体取值。</a:t>
              </a:r>
            </a:p>
          </p:txBody>
        </p:sp>
      </p:grpSp>
      <p:grpSp>
        <p:nvGrpSpPr>
          <p:cNvPr id="50" name="c1-uml-1"/>
          <p:cNvGrpSpPr/>
          <p:nvPr/>
        </p:nvGrpSpPr>
        <p:grpSpPr>
          <a:xfrm>
            <a:off x="1260158" y="2198370"/>
            <a:ext cx="3740467" cy="2198370"/>
            <a:chOff x="1260158" y="2198370"/>
            <a:chExt cx="3740467" cy="2198370"/>
          </a:xfrm>
        </p:grpSpPr>
        <p:sp>
          <p:nvSpPr>
            <p:cNvPr id="9" name="Freeform 9"/>
            <p:cNvSpPr/>
            <p:nvPr/>
          </p:nvSpPr>
          <p:spPr>
            <a:xfrm>
              <a:off x="1831658" y="2815590"/>
              <a:ext cx="1298258" cy="278130"/>
            </a:xfrm>
            <a:custGeom>
              <a:avLst/>
              <a:gdLst/>
              <a:ahLst/>
              <a:cxnLst/>
              <a:rect l="l" t="t" r="r" b="b"/>
              <a:pathLst>
                <a:path w="1298258" h="278130">
                  <a:moveTo>
                    <a:pt x="0" y="278130"/>
                  </a:moveTo>
                  <a:lnTo>
                    <a:pt x="0" y="34290"/>
                  </a:lnTo>
                  <a:lnTo>
                    <a:pt x="1298258" y="34290"/>
                  </a:lnTo>
                  <a:lnTo>
                    <a:pt x="1298258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072765" y="2606040"/>
              <a:ext cx="115252" cy="209550"/>
            </a:xfrm>
            <a:custGeom>
              <a:avLst/>
              <a:gdLst/>
              <a:ahLst/>
              <a:cxnLst/>
              <a:rect l="l" t="t" r="r" b="b"/>
              <a:pathLst>
                <a:path w="115252" h="209550">
                  <a:moveTo>
                    <a:pt x="57150" y="0"/>
                  </a:moveTo>
                  <a:lnTo>
                    <a:pt x="115252" y="104775"/>
                  </a:lnTo>
                  <a:lnTo>
                    <a:pt x="57150" y="209550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1F2937"/>
            </a:solidFill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129915" y="2815590"/>
              <a:ext cx="1299210" cy="278130"/>
            </a:xfrm>
            <a:custGeom>
              <a:avLst/>
              <a:gdLst/>
              <a:ahLst/>
              <a:cxnLst/>
              <a:rect l="l" t="t" r="r" b="b"/>
              <a:pathLst>
                <a:path w="1299210" h="278130">
                  <a:moveTo>
                    <a:pt x="1299210" y="278130"/>
                  </a:moveTo>
                  <a:lnTo>
                    <a:pt x="1299210" y="34290"/>
                  </a:lnTo>
                  <a:lnTo>
                    <a:pt x="0" y="3429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072765" y="2606040"/>
              <a:ext cx="115252" cy="209550"/>
            </a:xfrm>
            <a:custGeom>
              <a:avLst/>
              <a:gdLst/>
              <a:ahLst/>
              <a:cxnLst/>
              <a:rect l="l" t="t" r="r" b="b"/>
              <a:pathLst>
                <a:path w="115252" h="209550">
                  <a:moveTo>
                    <a:pt x="57150" y="0"/>
                  </a:moveTo>
                  <a:lnTo>
                    <a:pt x="115252" y="104775"/>
                  </a:lnTo>
                  <a:lnTo>
                    <a:pt x="57150" y="209550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1F2937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831658" y="2815590"/>
              <a:ext cx="1298258" cy="1173480"/>
            </a:xfrm>
            <a:custGeom>
              <a:avLst/>
              <a:gdLst/>
              <a:ahLst/>
              <a:cxnLst/>
              <a:rect l="l" t="t" r="r" b="b"/>
              <a:pathLst>
                <a:path w="1298258" h="1173480">
                  <a:moveTo>
                    <a:pt x="0" y="1173480"/>
                  </a:moveTo>
                  <a:lnTo>
                    <a:pt x="0" y="481965"/>
                  </a:lnTo>
                  <a:lnTo>
                    <a:pt x="1298258" y="481965"/>
                  </a:lnTo>
                  <a:lnTo>
                    <a:pt x="1298258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072765" y="2606040"/>
              <a:ext cx="115252" cy="209550"/>
            </a:xfrm>
            <a:custGeom>
              <a:avLst/>
              <a:gdLst/>
              <a:ahLst/>
              <a:cxnLst/>
              <a:rect l="l" t="t" r="r" b="b"/>
              <a:pathLst>
                <a:path w="115252" h="209550">
                  <a:moveTo>
                    <a:pt x="57150" y="0"/>
                  </a:moveTo>
                  <a:lnTo>
                    <a:pt x="115252" y="104775"/>
                  </a:lnTo>
                  <a:lnTo>
                    <a:pt x="57150" y="209550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1F2937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129915" y="2815590"/>
              <a:ext cx="1299210" cy="1173480"/>
            </a:xfrm>
            <a:custGeom>
              <a:avLst/>
              <a:gdLst/>
              <a:ahLst/>
              <a:cxnLst/>
              <a:rect l="l" t="t" r="r" b="b"/>
              <a:pathLst>
                <a:path w="1299210" h="1173480">
                  <a:moveTo>
                    <a:pt x="1299210" y="1173480"/>
                  </a:moveTo>
                  <a:lnTo>
                    <a:pt x="1299210" y="481965"/>
                  </a:lnTo>
                  <a:lnTo>
                    <a:pt x="0" y="48196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072765" y="2606040"/>
              <a:ext cx="115252" cy="209550"/>
            </a:xfrm>
            <a:custGeom>
              <a:avLst/>
              <a:gdLst/>
              <a:ahLst/>
              <a:cxnLst/>
              <a:rect l="l" t="t" r="r" b="b"/>
              <a:pathLst>
                <a:path w="115252" h="209550">
                  <a:moveTo>
                    <a:pt x="57150" y="0"/>
                  </a:moveTo>
                  <a:lnTo>
                    <a:pt x="115252" y="104775"/>
                  </a:lnTo>
                  <a:lnTo>
                    <a:pt x="57150" y="209550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1F2937"/>
            </a:solidFill>
            <a:ln w="15240">
              <a:solidFill>
                <a:srgbClr val="1F2937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2558415" y="2198370"/>
              <a:ext cx="1143000" cy="4076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566035" y="2205038"/>
              <a:ext cx="1128712" cy="209550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558415" y="241077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2558415" y="250602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260158" y="3093720"/>
              <a:ext cx="1143000" cy="4076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1267778" y="3101340"/>
              <a:ext cx="1128712" cy="209550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260158" y="330612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1260158" y="340137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3857625" y="3093720"/>
              <a:ext cx="1143000" cy="4076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864292" y="3101340"/>
              <a:ext cx="1128712" cy="209550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3857625" y="330612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3857625" y="340137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1260158" y="3989070"/>
              <a:ext cx="1143000" cy="4076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1267778" y="3996690"/>
              <a:ext cx="1128712" cy="209550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1260158" y="420147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1260158" y="429672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3857625" y="3989070"/>
              <a:ext cx="1143000" cy="4076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3864292" y="3996690"/>
              <a:ext cx="1128712" cy="209550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857625" y="420147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3857625" y="429672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2882837" y="224980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简单手表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705737" y="3145155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按钮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242626" y="3145155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显示屏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705737" y="4040505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电池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303204" y="4040505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399348" y="2644140"/>
              <a:ext cx="163830" cy="179070"/>
            </a:xfrm>
            <a:prstGeom prst="roundRect">
              <a:avLst>
                <a:gd name="adj" fmla="val 2325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2440029" y="266842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3697605" y="2644140"/>
              <a:ext cx="163830" cy="179070"/>
            </a:xfrm>
            <a:prstGeom prst="roundRect">
              <a:avLst>
                <a:gd name="adj" fmla="val 2325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3738287" y="266842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2399348" y="3091815"/>
              <a:ext cx="163830" cy="179070"/>
            </a:xfrm>
            <a:prstGeom prst="roundRect">
              <a:avLst>
                <a:gd name="adj" fmla="val 2325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2440029" y="311610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3697605" y="3091815"/>
              <a:ext cx="163830" cy="179070"/>
            </a:xfrm>
            <a:prstGeom prst="roundRect">
              <a:avLst>
                <a:gd name="adj" fmla="val 2325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738287" y="311610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57" name="c1-callout-2"/>
          <p:cNvGrpSpPr/>
          <p:nvPr/>
        </p:nvGrpSpPr>
        <p:grpSpPr>
          <a:xfrm>
            <a:off x="533400" y="4820602"/>
            <a:ext cx="5193982" cy="756285"/>
            <a:chOff x="533400" y="4820602"/>
            <a:chExt cx="5193982" cy="756285"/>
          </a:xfrm>
        </p:grpSpPr>
        <p:sp>
          <p:nvSpPr>
            <p:cNvPr id="51" name="Rectangle 51"/>
            <p:cNvSpPr/>
            <p:nvPr/>
          </p:nvSpPr>
          <p:spPr>
            <a:xfrm>
              <a:off x="533400" y="4820602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5098733"/>
              <a:ext cx="200026" cy="200026"/>
              <a:chOff x="738188" y="5098733"/>
              <a:chExt cx="200026" cy="200026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509873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38200" y="51654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27088" y="519874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511" y="4967764"/>
              <a:ext cx="4135247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一块简单手表由 2 个按钮、1 块显示屏、2 节电池和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个时间部件组合而成。</a:t>
              </a:r>
            </a:p>
          </p:txBody>
        </p:sp>
      </p:grpSp>
      <p:grpSp>
        <p:nvGrpSpPr>
          <p:cNvPr id="74" name="c2-uml-1"/>
          <p:cNvGrpSpPr/>
          <p:nvPr/>
        </p:nvGrpSpPr>
        <p:grpSpPr>
          <a:xfrm>
            <a:off x="6867525" y="2205990"/>
            <a:ext cx="3955733" cy="795338"/>
            <a:chOff x="6867525" y="2205990"/>
            <a:chExt cx="3955733" cy="795338"/>
          </a:xfrm>
        </p:grpSpPr>
        <p:sp>
          <p:nvSpPr>
            <p:cNvPr id="58" name="Freeform 58"/>
            <p:cNvSpPr/>
            <p:nvPr/>
          </p:nvSpPr>
          <p:spPr>
            <a:xfrm>
              <a:off x="8010525" y="2603182"/>
              <a:ext cx="1669732" cy="9525"/>
            </a:xfrm>
            <a:custGeom>
              <a:avLst/>
              <a:gdLst/>
              <a:ahLst/>
              <a:cxnLst/>
              <a:rect l="l" t="t" r="r" b="b"/>
              <a:pathLst>
                <a:path w="1669732" h="9525">
                  <a:moveTo>
                    <a:pt x="0" y="0"/>
                  </a:moveTo>
                  <a:lnTo>
                    <a:pt x="166973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9575482" y="2546032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0" y="115252"/>
                  </a:moveTo>
                  <a:lnTo>
                    <a:pt x="104775" y="5715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867525" y="2205990"/>
              <a:ext cx="1143000" cy="79533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874192" y="2212658"/>
              <a:ext cx="1128712" cy="24574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867525" y="2454592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867525" y="2901315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9680258" y="2205990"/>
              <a:ext cx="1143000" cy="79533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9687878" y="2212658"/>
              <a:ext cx="1128712" cy="24574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9680258" y="2454592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9680258" y="2901315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292340" y="226599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客户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938772" y="2525554"/>
              <a:ext cx="258826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姓名</a:t>
              </a:r>
              <a:br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电话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105072" y="226599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帐户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751504" y="2525554"/>
              <a:ext cx="258826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帐号</a:t>
              </a:r>
              <a:br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余额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8629650" y="2397442"/>
              <a:ext cx="43148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8661860" y="2422684"/>
              <a:ext cx="3661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 对 *</a:t>
              </a:r>
            </a:p>
          </p:txBody>
        </p:sp>
      </p:grpSp>
      <p:grpSp>
        <p:nvGrpSpPr>
          <p:cNvPr id="97" name="c2-uml-2"/>
          <p:cNvGrpSpPr/>
          <p:nvPr/>
        </p:nvGrpSpPr>
        <p:grpSpPr>
          <a:xfrm>
            <a:off x="6867525" y="3449002"/>
            <a:ext cx="4093845" cy="1624014"/>
            <a:chOff x="6867525" y="3449002"/>
            <a:chExt cx="4093845" cy="1624014"/>
          </a:xfrm>
        </p:grpSpPr>
        <p:sp>
          <p:nvSpPr>
            <p:cNvPr id="75" name="Freeform 75"/>
            <p:cNvSpPr/>
            <p:nvPr/>
          </p:nvSpPr>
          <p:spPr>
            <a:xfrm>
              <a:off x="8010525" y="3847148"/>
              <a:ext cx="1532572" cy="9525"/>
            </a:xfrm>
            <a:custGeom>
              <a:avLst/>
              <a:gdLst/>
              <a:ahLst/>
              <a:cxnLst/>
              <a:rect l="l" t="t" r="r" b="b"/>
              <a:pathLst>
                <a:path w="1532572" h="9525">
                  <a:moveTo>
                    <a:pt x="0" y="0"/>
                  </a:moveTo>
                  <a:lnTo>
                    <a:pt x="153257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9438322" y="3789045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0" y="115252"/>
                  </a:moveTo>
                  <a:lnTo>
                    <a:pt x="104775" y="5810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77" name="Freeform 77"/>
            <p:cNvSpPr/>
            <p:nvPr/>
          </p:nvSpPr>
          <p:spPr>
            <a:xfrm>
              <a:off x="7439025" y="4245292"/>
              <a:ext cx="2812732" cy="32385"/>
            </a:xfrm>
            <a:custGeom>
              <a:avLst/>
              <a:gdLst/>
              <a:ahLst/>
              <a:cxnLst/>
              <a:rect l="l" t="t" r="r" b="b"/>
              <a:pathLst>
                <a:path w="2812732" h="32385">
                  <a:moveTo>
                    <a:pt x="0" y="0"/>
                  </a:moveTo>
                  <a:lnTo>
                    <a:pt x="0" y="16192"/>
                  </a:lnTo>
                  <a:lnTo>
                    <a:pt x="2812732" y="16192"/>
                  </a:lnTo>
                  <a:lnTo>
                    <a:pt x="2812732" y="32385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78" name="Freeform 78"/>
            <p:cNvSpPr/>
            <p:nvPr/>
          </p:nvSpPr>
          <p:spPr>
            <a:xfrm>
              <a:off x="10194608" y="4172902"/>
              <a:ext cx="115253" cy="104775"/>
            </a:xfrm>
            <a:custGeom>
              <a:avLst/>
              <a:gdLst/>
              <a:ahLst/>
              <a:cxnLst/>
              <a:rect l="l" t="t" r="r" b="b"/>
              <a:pathLst>
                <a:path w="115253" h="104775">
                  <a:moveTo>
                    <a:pt x="0" y="0"/>
                  </a:moveTo>
                  <a:lnTo>
                    <a:pt x="57150" y="104775"/>
                  </a:lnTo>
                  <a:lnTo>
                    <a:pt x="115253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6867525" y="3449002"/>
              <a:ext cx="1143000" cy="79533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6874192" y="3456622"/>
              <a:ext cx="1128712" cy="24574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6867525" y="3697605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6867525" y="4145280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9543098" y="3449002"/>
              <a:ext cx="1418272" cy="79533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84" name="Rectangle 84"/>
            <p:cNvSpPr/>
            <p:nvPr/>
          </p:nvSpPr>
          <p:spPr>
            <a:xfrm>
              <a:off x="9549765" y="3456622"/>
              <a:ext cx="1403985" cy="24574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9543098" y="3697605"/>
              <a:ext cx="1418272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9543098" y="4145280"/>
              <a:ext cx="1418272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9543098" y="4277678"/>
              <a:ext cx="1418272" cy="79533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88" name="Rectangle 88"/>
            <p:cNvSpPr/>
            <p:nvPr/>
          </p:nvSpPr>
          <p:spPr>
            <a:xfrm>
              <a:off x="9549765" y="4284345"/>
              <a:ext cx="1403985" cy="24574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9543098" y="4526280"/>
              <a:ext cx="1418272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9543098" y="4973002"/>
              <a:ext cx="1418272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7065648" y="3509010"/>
              <a:ext cx="7467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小强 : 客户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6938772" y="3768566"/>
              <a:ext cx="881126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姓名 = 张小强</a:t>
              </a:r>
              <a:br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电话 = 1234567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9595679" y="3509010"/>
              <a:ext cx="13121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小强的老帐户 : 帐户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9614344" y="3768566"/>
              <a:ext cx="744220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帐号 = 00456</a:t>
              </a:r>
              <a:br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余额 = 1,000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595679" y="4337685"/>
              <a:ext cx="13121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小强的新帐户 : 帐户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9614344" y="4597241"/>
              <a:ext cx="1018032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帐号 = 00123</a:t>
              </a:r>
              <a:br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余额 = 1,000,000</a:t>
              </a:r>
            </a:p>
          </p:txBody>
        </p:sp>
      </p:grpSp>
      <p:grpSp>
        <p:nvGrpSpPr>
          <p:cNvPr id="103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98" name="Rectangle 98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101" name="Group 101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00" name="Freeform 100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02" name="TextBox 102"/>
            <p:cNvSpPr txBox="1"/>
            <p:nvPr/>
          </p:nvSpPr>
          <p:spPr>
            <a:xfrm>
              <a:off x="1040511" y="6011704"/>
              <a:ext cx="50133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类图里的多重性 * 在对象图里落实成具体的两个帐户对象。</a:t>
              </a:r>
            </a:p>
          </p:txBody>
        </p:sp>
      </p:grpSp>
      <p:grpSp>
        <p:nvGrpSpPr>
          <p:cNvPr id="10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4" name="TextBox 104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367528" cy="2997517"/>
            <a:chOff x="667512" y="1835468"/>
            <a:chExt cx="536752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动态图、扩展机制与视图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系统怎么动起来，以及从几个角度去看它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顺序图与协作图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状态图与活动图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686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构件图、配置图与 5 个视图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动态图、扩展机制与视图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顺序图：按时间顺序展示对象之间的消息传递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737985" cy="264033"/>
            <a:chOff x="526542" y="1545907"/>
            <a:chExt cx="6737985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顺序图描述几个对象之间的动态协作，一个对象通过发送消息与其他对象相互作用。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28812"/>
            <a:ext cx="4544378" cy="1202055"/>
            <a:chOff x="533400" y="1928812"/>
            <a:chExt cx="4544378" cy="120205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4544378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25566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顺序图（Sequence Diagram）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39570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一种交互图，强调消息的时间顺序。图中展示参与交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互的对象，以及它们之间交换的消息序列。</a:t>
              </a:r>
            </a:p>
          </p:txBody>
        </p:sp>
      </p:grpSp>
      <p:grpSp>
        <p:nvGrpSpPr>
          <p:cNvPr id="25" name="c1-bullets-2"/>
          <p:cNvGrpSpPr/>
          <p:nvPr/>
        </p:nvGrpSpPr>
        <p:grpSpPr>
          <a:xfrm>
            <a:off x="526542" y="3323272"/>
            <a:ext cx="4325341" cy="2278571"/>
            <a:chOff x="526542" y="3323272"/>
            <a:chExt cx="4325341" cy="2278571"/>
          </a:xfrm>
        </p:grpSpPr>
        <p:sp>
          <p:nvSpPr>
            <p:cNvPr id="16" name="TextBox 16"/>
            <p:cNvSpPr txBox="1"/>
            <p:nvPr/>
          </p:nvSpPr>
          <p:spPr>
            <a:xfrm>
              <a:off x="526542" y="332327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顺序图的四类内容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41972" y="369665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97992" y="3640455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对象：矩形框加对象名，名字带下划线；匿名对象只写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“:类名”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41972" y="426243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7992" y="4206240"/>
              <a:ext cx="41538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Actor：画在最左或最右，代表参与交互的外部角色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41972" y="457104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7992" y="4514850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生命线：对象下方的竖虚线，表示对象在这段时间内存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41972" y="513683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97992" y="5080635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控制焦点：生命线上的细长矩形，表示对象正在执行操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</a:t>
              </a:r>
            </a:p>
          </p:txBody>
        </p:sp>
      </p:grpSp>
      <p:grpSp>
        <p:nvGrpSpPr>
          <p:cNvPr id="62" name="c2-graph-1"/>
          <p:cNvGrpSpPr/>
          <p:nvPr/>
        </p:nvGrpSpPr>
        <p:grpSpPr>
          <a:xfrm>
            <a:off x="5700331" y="1972628"/>
            <a:ext cx="5623941" cy="2944653"/>
            <a:chOff x="5700331" y="1972628"/>
            <a:chExt cx="5623941" cy="2944653"/>
          </a:xfrm>
        </p:grpSpPr>
        <p:sp>
          <p:nvSpPr>
            <p:cNvPr id="26" name="Freeform 26"/>
            <p:cNvSpPr/>
            <p:nvPr/>
          </p:nvSpPr>
          <p:spPr>
            <a:xfrm>
              <a:off x="5947410" y="2198370"/>
              <a:ext cx="9525" cy="2257425"/>
            </a:xfrm>
            <a:custGeom>
              <a:avLst/>
              <a:gdLst/>
              <a:ahLst/>
              <a:cxnLst/>
              <a:rect l="l" t="t" r="r" b="b"/>
              <a:pathLst>
                <a:path w="9525" h="2257425">
                  <a:moveTo>
                    <a:pt x="0" y="0"/>
                  </a:moveTo>
                  <a:lnTo>
                    <a:pt x="0" y="2257425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27" name="Freeform 27"/>
            <p:cNvSpPr/>
            <p:nvPr/>
          </p:nvSpPr>
          <p:spPr>
            <a:xfrm>
              <a:off x="7641908" y="2241232"/>
              <a:ext cx="9525" cy="2214562"/>
            </a:xfrm>
            <a:custGeom>
              <a:avLst/>
              <a:gdLst/>
              <a:ahLst/>
              <a:cxnLst/>
              <a:rect l="l" t="t" r="r" b="b"/>
              <a:pathLst>
                <a:path w="9525" h="2214562">
                  <a:moveTo>
                    <a:pt x="0" y="0"/>
                  </a:moveTo>
                  <a:lnTo>
                    <a:pt x="0" y="2214562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28" name="Freeform 28"/>
            <p:cNvSpPr/>
            <p:nvPr/>
          </p:nvSpPr>
          <p:spPr>
            <a:xfrm>
              <a:off x="9399270" y="2241232"/>
              <a:ext cx="9525" cy="1262062"/>
            </a:xfrm>
            <a:custGeom>
              <a:avLst/>
              <a:gdLst/>
              <a:ahLst/>
              <a:cxnLst/>
              <a:rect l="l" t="t" r="r" b="b"/>
              <a:pathLst>
                <a:path w="9525" h="1262062">
                  <a:moveTo>
                    <a:pt x="0" y="0"/>
                  </a:moveTo>
                  <a:lnTo>
                    <a:pt x="0" y="1262062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29" name="Freeform 29"/>
            <p:cNvSpPr/>
            <p:nvPr/>
          </p:nvSpPr>
          <p:spPr>
            <a:xfrm>
              <a:off x="11030902" y="2241232"/>
              <a:ext cx="9525" cy="1738312"/>
            </a:xfrm>
            <a:custGeom>
              <a:avLst/>
              <a:gdLst/>
              <a:ahLst/>
              <a:cxnLst/>
              <a:rect l="l" t="t" r="r" b="b"/>
              <a:pathLst>
                <a:path w="9525" h="1738312">
                  <a:moveTo>
                    <a:pt x="0" y="0"/>
                  </a:moveTo>
                  <a:lnTo>
                    <a:pt x="0" y="1738312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0" name="Freeform 30"/>
            <p:cNvSpPr/>
            <p:nvPr/>
          </p:nvSpPr>
          <p:spPr>
            <a:xfrm>
              <a:off x="5985510" y="2643188"/>
              <a:ext cx="1523047" cy="9525"/>
            </a:xfrm>
            <a:custGeom>
              <a:avLst/>
              <a:gdLst/>
              <a:ahLst/>
              <a:cxnLst/>
              <a:rect l="l" t="t" r="r" b="b"/>
              <a:pathLst>
                <a:path w="1523047" h="9525">
                  <a:moveTo>
                    <a:pt x="0" y="0"/>
                  </a:moveTo>
                  <a:lnTo>
                    <a:pt x="152304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508558" y="259556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7680008" y="3118485"/>
              <a:ext cx="1585912" cy="9525"/>
            </a:xfrm>
            <a:custGeom>
              <a:avLst/>
              <a:gdLst/>
              <a:ahLst/>
              <a:cxnLst/>
              <a:rect l="l" t="t" r="r" b="b"/>
              <a:pathLst>
                <a:path w="1585912" h="9525">
                  <a:moveTo>
                    <a:pt x="0" y="0"/>
                  </a:moveTo>
                  <a:lnTo>
                    <a:pt x="158591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265920" y="307086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5985510" y="3594735"/>
              <a:ext cx="1523047" cy="9525"/>
            </a:xfrm>
            <a:custGeom>
              <a:avLst/>
              <a:gdLst/>
              <a:ahLst/>
              <a:cxnLst/>
              <a:rect l="l" t="t" r="r" b="b"/>
              <a:pathLst>
                <a:path w="1523047" h="9525">
                  <a:moveTo>
                    <a:pt x="0" y="0"/>
                  </a:moveTo>
                  <a:lnTo>
                    <a:pt x="152304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7508558" y="35471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7680008" y="3594735"/>
              <a:ext cx="1585912" cy="9525"/>
            </a:xfrm>
            <a:custGeom>
              <a:avLst/>
              <a:gdLst/>
              <a:ahLst/>
              <a:cxnLst/>
              <a:rect l="l" t="t" r="r" b="b"/>
              <a:pathLst>
                <a:path w="1585912" h="9525">
                  <a:moveTo>
                    <a:pt x="0" y="0"/>
                  </a:moveTo>
                  <a:lnTo>
                    <a:pt x="158591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9265920" y="35471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7680008" y="4070985"/>
              <a:ext cx="3217545" cy="9525"/>
            </a:xfrm>
            <a:custGeom>
              <a:avLst/>
              <a:gdLst/>
              <a:ahLst/>
              <a:cxnLst/>
              <a:rect l="l" t="t" r="r" b="b"/>
              <a:pathLst>
                <a:path w="3217545" h="9525">
                  <a:moveTo>
                    <a:pt x="0" y="0"/>
                  </a:moveTo>
                  <a:lnTo>
                    <a:pt x="321754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10897552" y="402336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5985510" y="4547235"/>
              <a:ext cx="1523047" cy="9525"/>
            </a:xfrm>
            <a:custGeom>
              <a:avLst/>
              <a:gdLst/>
              <a:ahLst/>
              <a:cxnLst/>
              <a:rect l="l" t="t" r="r" b="b"/>
              <a:pathLst>
                <a:path w="1523047" h="9525">
                  <a:moveTo>
                    <a:pt x="0" y="0"/>
                  </a:moveTo>
                  <a:lnTo>
                    <a:pt x="152304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7508558" y="44996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243762" y="1972628"/>
              <a:ext cx="796290" cy="268605"/>
            </a:xfrm>
            <a:prstGeom prst="roundRect">
              <a:avLst>
                <a:gd name="adj" fmla="val 3546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9043035" y="1972628"/>
              <a:ext cx="712470" cy="268605"/>
            </a:xfrm>
            <a:prstGeom prst="roundRect">
              <a:avLst>
                <a:gd name="adj" fmla="val 3546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737532" y="1972628"/>
              <a:ext cx="586740" cy="268605"/>
            </a:xfrm>
            <a:prstGeom prst="roundRect">
              <a:avLst>
                <a:gd name="adj" fmla="val 3546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700331" y="2050732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手表用户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394829" y="2050732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简单手表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212770" y="2050732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显示屏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904982" y="2050732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438900" y="2564130"/>
              <a:ext cx="71151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453688" y="2593181"/>
              <a:ext cx="68289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按下按钮1和2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274368" y="3040380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295526" y="306943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闪烁小时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519862" y="3516630"/>
              <a:ext cx="54959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539239" y="3545681"/>
              <a:ext cx="51179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按下按钮2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8274368" y="3516630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295526" y="354568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增加分钟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9194482" y="3992880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221254" y="402193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刷新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496050" y="4468178"/>
              <a:ext cx="59721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514402" y="4498181"/>
              <a:ext cx="5614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确认新时间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853972" y="4755356"/>
              <a:ext cx="133418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顺序图示例：简单手表调时</a:t>
              </a:r>
            </a:p>
          </p:txBody>
        </p:sp>
      </p:grpSp>
      <p:grpSp>
        <p:nvGrpSpPr>
          <p:cNvPr id="69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3" name="Rectangle 63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892" y="6028373"/>
              <a:ext cx="74649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对象收到消息触发一个操作的执行，执行中还可能向别的对象发消息，形成嵌套的控制焦点。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动态图、扩展机制与视图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协作图：强调哪些对象之间有消息传递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102352" cy="264033"/>
            <a:chOff x="526542" y="1545907"/>
            <a:chExt cx="510235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协作图和顺序图描述同一件事，一个强调结构，一个强调时序。</a:t>
              </a:r>
            </a:p>
          </p:txBody>
        </p:sp>
      </p:grpSp>
      <p:grpSp>
        <p:nvGrpSpPr>
          <p:cNvPr id="30" name="c1-graph-1"/>
          <p:cNvGrpSpPr/>
          <p:nvPr/>
        </p:nvGrpSpPr>
        <p:grpSpPr>
          <a:xfrm>
            <a:off x="920115" y="2285048"/>
            <a:ext cx="4685347" cy="4061936"/>
            <a:chOff x="920115" y="2285048"/>
            <a:chExt cx="4685347" cy="4061936"/>
          </a:xfrm>
        </p:grpSpPr>
        <p:sp>
          <p:nvSpPr>
            <p:cNvPr id="9" name="Freeform 9"/>
            <p:cNvSpPr/>
            <p:nvPr/>
          </p:nvSpPr>
          <p:spPr>
            <a:xfrm>
              <a:off x="1404938" y="2636520"/>
              <a:ext cx="93345" cy="2834640"/>
            </a:xfrm>
            <a:custGeom>
              <a:avLst/>
              <a:gdLst/>
              <a:ahLst/>
              <a:cxnLst/>
              <a:rect l="l" t="t" r="r" b="b"/>
              <a:pathLst>
                <a:path w="93345" h="2834640">
                  <a:moveTo>
                    <a:pt x="0" y="0"/>
                  </a:moveTo>
                  <a:lnTo>
                    <a:pt x="93345" y="283464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450658" y="5469255"/>
              <a:ext cx="95250" cy="96202"/>
            </a:xfrm>
            <a:custGeom>
              <a:avLst/>
              <a:gdLst/>
              <a:ahLst/>
              <a:cxnLst/>
              <a:rect l="l" t="t" r="r" b="b"/>
              <a:pathLst>
                <a:path w="95250" h="96202">
                  <a:moveTo>
                    <a:pt x="50482" y="96202"/>
                  </a:moveTo>
                  <a:lnTo>
                    <a:pt x="0" y="2857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093595" y="5741670"/>
              <a:ext cx="2578418" cy="9525"/>
            </a:xfrm>
            <a:custGeom>
              <a:avLst/>
              <a:gdLst/>
              <a:ahLst/>
              <a:cxnLst/>
              <a:rect l="l" t="t" r="r" b="b"/>
              <a:pathLst>
                <a:path w="2578418" h="9525">
                  <a:moveTo>
                    <a:pt x="0" y="0"/>
                  </a:moveTo>
                  <a:lnTo>
                    <a:pt x="257841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672012" y="569404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699260" y="2701290"/>
              <a:ext cx="3116580" cy="2864167"/>
            </a:xfrm>
            <a:custGeom>
              <a:avLst/>
              <a:gdLst/>
              <a:ahLst/>
              <a:cxnLst/>
              <a:rect l="l" t="t" r="r" b="b"/>
              <a:pathLst>
                <a:path w="3116580" h="2864167">
                  <a:moveTo>
                    <a:pt x="0" y="2864167"/>
                  </a:moveTo>
                  <a:lnTo>
                    <a:pt x="311658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784408" y="2636520"/>
              <a:ext cx="101917" cy="100012"/>
            </a:xfrm>
            <a:custGeom>
              <a:avLst/>
              <a:gdLst/>
              <a:ahLst/>
              <a:cxnLst/>
              <a:rect l="l" t="t" r="r" b="b"/>
              <a:pathLst>
                <a:path w="101917" h="100012">
                  <a:moveTo>
                    <a:pt x="101917" y="0"/>
                  </a:moveTo>
                  <a:lnTo>
                    <a:pt x="63817" y="100012"/>
                  </a:lnTo>
                  <a:lnTo>
                    <a:pt x="0" y="2952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980122" y="2285048"/>
              <a:ext cx="838200" cy="352425"/>
            </a:xfrm>
            <a:prstGeom prst="roundRect">
              <a:avLst>
                <a:gd name="adj" fmla="val 27027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595812" y="2285048"/>
              <a:ext cx="963930" cy="352425"/>
            </a:xfrm>
            <a:prstGeom prst="roundRect">
              <a:avLst>
                <a:gd name="adj" fmla="val 27027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920115" y="5565458"/>
              <a:ext cx="1173480" cy="352425"/>
            </a:xfrm>
            <a:prstGeom prst="roundRect">
              <a:avLst>
                <a:gd name="adj" fmla="val 27027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767262" y="5565458"/>
              <a:ext cx="838200" cy="352425"/>
            </a:xfrm>
            <a:prstGeom prst="roundRect">
              <a:avLst>
                <a:gd name="adj" fmla="val 27027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181862" y="2395537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789742" y="2395537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打印队列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77468" y="567690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打印服务程序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969002" y="567690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125855" y="4022408"/>
              <a:ext cx="65436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42425" y="4052411"/>
              <a:ext cx="62218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1：打印文件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712720" y="5663565"/>
              <a:ext cx="143541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705858" y="5692616"/>
              <a:ext cx="145009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1.1：[打印机空闲] 打印文件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626995" y="4022408"/>
              <a:ext cx="13306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622940" y="4052411"/>
              <a:ext cx="133970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1.2：[打印机忙] 保存文件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626601" y="6185059"/>
              <a:ext cx="122379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协作图示例：打印服务器</a:t>
              </a:r>
            </a:p>
          </p:txBody>
        </p:sp>
      </p:grpSp>
      <p:grpSp>
        <p:nvGrpSpPr>
          <p:cNvPr id="56" name="c2-table-1"/>
          <p:cNvGrpSpPr/>
          <p:nvPr/>
        </p:nvGrpSpPr>
        <p:grpSpPr>
          <a:xfrm>
            <a:off x="6248400" y="1928812"/>
            <a:ext cx="5410200" cy="2000250"/>
            <a:chOff x="6248400" y="1928812"/>
            <a:chExt cx="5410200" cy="2000250"/>
          </a:xfrm>
        </p:grpSpPr>
        <p:sp>
          <p:nvSpPr>
            <p:cNvPr id="31" name="Rectangle 31"/>
            <p:cNvSpPr/>
            <p:nvPr/>
          </p:nvSpPr>
          <p:spPr>
            <a:xfrm>
              <a:off x="6248400" y="1928812"/>
              <a:ext cx="541020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05181" y="20502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94903" y="20502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顺序图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311346" y="20502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协作图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45555" y="24503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强调什么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721917" y="245030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消息传递的时间顺序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25952" y="245030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哪些对象之间有消息传递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272415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48400" y="2728912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45555" y="28503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布局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721917" y="28503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对象横排，时间向下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525952" y="285035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对象自由摆放，按关联连线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48400" y="31242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45555" y="325040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顺序怎么表示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721917" y="32504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靠上下位置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438322" y="3138488"/>
              <a:ext cx="2210752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525952" y="32504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靠消息编号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48400" y="352425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248400" y="3529012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45555" y="36504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激活嵌套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721917" y="36504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用控制焦点显式表示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525952" y="36504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用层次编号隐式表示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48400" y="1928812"/>
              <a:ext cx="541020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7620000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424035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c2-card-2"/>
          <p:cNvGrpSpPr/>
          <p:nvPr/>
        </p:nvGrpSpPr>
        <p:grpSpPr>
          <a:xfrm>
            <a:off x="6248400" y="4098608"/>
            <a:ext cx="5410200" cy="1443038"/>
            <a:chOff x="6248400" y="4098608"/>
            <a:chExt cx="5410200" cy="1443038"/>
          </a:xfrm>
        </p:grpSpPr>
        <p:sp>
          <p:nvSpPr>
            <p:cNvPr id="57" name="Rectangle 57"/>
            <p:cNvSpPr/>
            <p:nvPr/>
          </p:nvSpPr>
          <p:spPr>
            <a:xfrm>
              <a:off x="6248400" y="4098608"/>
              <a:ext cx="5410200" cy="1443038"/>
            </a:xfrm>
            <a:prstGeom prst="roundRect">
              <a:avLst>
                <a:gd name="adj" fmla="val 924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435090" y="428529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519659" y="431815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消息编号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428232" y="4630102"/>
              <a:ext cx="471144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协作图中要给消息编号来标明执行顺序。层次编号（1、1.1、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1.2、2.1.1）能反映激活的嵌套性质，这一点在顺序图中是用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控制焦点显式画出来的。</a:t>
              </a:r>
            </a:p>
          </p:txBody>
        </p:sp>
      </p:grpSp>
      <p:grpSp>
        <p:nvGrpSpPr>
          <p:cNvPr id="68" name="c2-callout-3"/>
          <p:cNvGrpSpPr/>
          <p:nvPr/>
        </p:nvGrpSpPr>
        <p:grpSpPr>
          <a:xfrm>
            <a:off x="6248400" y="5711190"/>
            <a:ext cx="5410200" cy="481012"/>
            <a:chOff x="6248400" y="5711190"/>
            <a:chExt cx="5410200" cy="481012"/>
          </a:xfrm>
        </p:grpSpPr>
        <p:sp>
          <p:nvSpPr>
            <p:cNvPr id="62" name="Rectangle 62"/>
            <p:cNvSpPr/>
            <p:nvPr/>
          </p:nvSpPr>
          <p:spPr>
            <a:xfrm>
              <a:off x="6248400" y="5711190"/>
              <a:ext cx="5410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6453188" y="5852160"/>
              <a:ext cx="200026" cy="200025"/>
              <a:chOff x="6453188" y="5852160"/>
              <a:chExt cx="200026" cy="20002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453188" y="585216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492926" y="589661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6527642" y="600773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6755892" y="58578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两种图信息等价，多数建模工具可以互相自动转换。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动态图、扩展机制与视图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状态图：一个对象在生命周期里的状态与转移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4738878" cy="264033"/>
            <a:chOff x="526542" y="1545907"/>
            <a:chExt cx="473887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状态是对象满足的一种条件，可以看作类的属性值的抽象。</a:t>
              </a:r>
            </a:p>
          </p:txBody>
        </p:sp>
      </p:grpSp>
      <p:grpSp>
        <p:nvGrpSpPr>
          <p:cNvPr id="20" name="c1-kv-1"/>
          <p:cNvGrpSpPr/>
          <p:nvPr/>
        </p:nvGrpSpPr>
        <p:grpSpPr>
          <a:xfrm>
            <a:off x="526542" y="1950720"/>
            <a:ext cx="4551236" cy="1949005"/>
            <a:chOff x="526542" y="1950720"/>
            <a:chExt cx="4551236" cy="1949005"/>
          </a:xfrm>
        </p:grpSpPr>
        <p:sp>
          <p:nvSpPr>
            <p:cNvPr id="9" name="TextBox 9"/>
            <p:cNvSpPr txBox="1"/>
            <p:nvPr/>
          </p:nvSpPr>
          <p:spPr>
            <a:xfrm>
              <a:off x="526542" y="195072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状态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35227" y="195072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对象满足的一种条件，是类属性值的抽象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23742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6542" y="23431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转移标注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435227" y="2343150"/>
              <a:ext cx="15130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事件[条件] / 动作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2985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6542" y="2735580"/>
              <a:ext cx="562785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动作</a:t>
              </a:r>
              <a:br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action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35227" y="273558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伴随转移发生，不会被中断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3275648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6542" y="3382327"/>
              <a:ext cx="715804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活动</a:t>
              </a:r>
              <a:br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activity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435227" y="3382327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在某一状态中进行，可以被中断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4016692"/>
            <a:ext cx="4544378" cy="1443038"/>
            <a:chOff x="533400" y="4016692"/>
            <a:chExt cx="4544378" cy="1443038"/>
          </a:xfrm>
        </p:grpSpPr>
        <p:sp>
          <p:nvSpPr>
            <p:cNvPr id="21" name="Rectangle 21"/>
            <p:cNvSpPr/>
            <p:nvPr/>
          </p:nvSpPr>
          <p:spPr>
            <a:xfrm>
              <a:off x="533400" y="4016692"/>
              <a:ext cx="4544378" cy="1443038"/>
            </a:xfrm>
            <a:prstGeom prst="roundRect">
              <a:avLst>
                <a:gd name="adj" fmla="val 924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20090" y="420338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2762" y="423624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用途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13232" y="4547235"/>
              <a:ext cx="39570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用一个对象的多个状态及状态之间的转换来描述该对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象的行为。状态图刻画单个对象，交互图刻画多个对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象的协作。</a:t>
              </a:r>
            </a:p>
          </p:txBody>
        </p:sp>
      </p:grpSp>
      <p:grpSp>
        <p:nvGrpSpPr>
          <p:cNvPr id="76" name="c2-flow-1"/>
          <p:cNvGrpSpPr/>
          <p:nvPr/>
        </p:nvGrpSpPr>
        <p:grpSpPr>
          <a:xfrm>
            <a:off x="5529262" y="2107882"/>
            <a:ext cx="5982652" cy="2617470"/>
            <a:chOff x="5529262" y="2107882"/>
            <a:chExt cx="5982652" cy="2617470"/>
          </a:xfrm>
        </p:grpSpPr>
        <p:sp>
          <p:nvSpPr>
            <p:cNvPr id="26" name="Freeform 26"/>
            <p:cNvSpPr/>
            <p:nvPr/>
          </p:nvSpPr>
          <p:spPr>
            <a:xfrm>
              <a:off x="8521065" y="2493645"/>
              <a:ext cx="9525" cy="253365"/>
            </a:xfrm>
            <a:custGeom>
              <a:avLst/>
              <a:gdLst/>
              <a:ahLst/>
              <a:cxnLst/>
              <a:rect l="l" t="t" r="r" b="b"/>
              <a:pathLst>
                <a:path w="9525" h="253365">
                  <a:moveTo>
                    <a:pt x="0" y="0"/>
                  </a:moveTo>
                  <a:lnTo>
                    <a:pt x="0" y="2533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8468678" y="27470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9420225" y="3044190"/>
              <a:ext cx="187643" cy="9525"/>
            </a:xfrm>
            <a:custGeom>
              <a:avLst/>
              <a:gdLst/>
              <a:ahLst/>
              <a:cxnLst/>
              <a:rect l="l" t="t" r="r" b="b"/>
              <a:pathLst>
                <a:path w="187643" h="9525">
                  <a:moveTo>
                    <a:pt x="0" y="0"/>
                  </a:moveTo>
                  <a:lnTo>
                    <a:pt x="18764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607868" y="29918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9525000" y="3044190"/>
              <a:ext cx="187643" cy="9525"/>
            </a:xfrm>
            <a:custGeom>
              <a:avLst/>
              <a:gdLst/>
              <a:ahLst/>
              <a:cxnLst/>
              <a:rect l="l" t="t" r="r" b="b"/>
              <a:pathLst>
                <a:path w="187643" h="9525">
                  <a:moveTo>
                    <a:pt x="187643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9420225" y="29918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8521065" y="3237548"/>
              <a:ext cx="9525" cy="253365"/>
            </a:xfrm>
            <a:custGeom>
              <a:avLst/>
              <a:gdLst/>
              <a:ahLst/>
              <a:cxnLst/>
              <a:rect l="l" t="t" r="r" b="b"/>
              <a:pathLst>
                <a:path w="9525" h="253365">
                  <a:moveTo>
                    <a:pt x="0" y="0"/>
                  </a:moveTo>
                  <a:lnTo>
                    <a:pt x="0" y="2533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468678" y="34909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9420225" y="3788092"/>
              <a:ext cx="187643" cy="9525"/>
            </a:xfrm>
            <a:custGeom>
              <a:avLst/>
              <a:gdLst/>
              <a:ahLst/>
              <a:cxnLst/>
              <a:rect l="l" t="t" r="r" b="b"/>
              <a:pathLst>
                <a:path w="187643" h="9525">
                  <a:moveTo>
                    <a:pt x="0" y="0"/>
                  </a:moveTo>
                  <a:lnTo>
                    <a:pt x="18764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607868" y="37357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9525000" y="3788092"/>
              <a:ext cx="187643" cy="9525"/>
            </a:xfrm>
            <a:custGeom>
              <a:avLst/>
              <a:gdLst/>
              <a:ahLst/>
              <a:cxnLst/>
              <a:rect l="l" t="t" r="r" b="b"/>
              <a:pathLst>
                <a:path w="187643" h="9525">
                  <a:moveTo>
                    <a:pt x="187643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9420225" y="37357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8521065" y="3981450"/>
              <a:ext cx="9525" cy="253365"/>
            </a:xfrm>
            <a:custGeom>
              <a:avLst/>
              <a:gdLst/>
              <a:ahLst/>
              <a:cxnLst/>
              <a:rect l="l" t="t" r="r" b="b"/>
              <a:pathLst>
                <a:path w="9525" h="253365">
                  <a:moveTo>
                    <a:pt x="0" y="0"/>
                  </a:moveTo>
                  <a:lnTo>
                    <a:pt x="0" y="2533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8468678" y="42348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9420225" y="4531995"/>
              <a:ext cx="187643" cy="9525"/>
            </a:xfrm>
            <a:custGeom>
              <a:avLst/>
              <a:gdLst/>
              <a:ahLst/>
              <a:cxnLst/>
              <a:rect l="l" t="t" r="r" b="b"/>
              <a:pathLst>
                <a:path w="187643" h="9525">
                  <a:moveTo>
                    <a:pt x="0" y="0"/>
                  </a:moveTo>
                  <a:lnTo>
                    <a:pt x="18764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9607868" y="447960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9525000" y="4531995"/>
              <a:ext cx="187643" cy="9525"/>
            </a:xfrm>
            <a:custGeom>
              <a:avLst/>
              <a:gdLst/>
              <a:ahLst/>
              <a:cxnLst/>
              <a:rect l="l" t="t" r="r" b="b"/>
              <a:pathLst>
                <a:path w="187643" h="9525">
                  <a:moveTo>
                    <a:pt x="187643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420225" y="447960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7433310" y="4531995"/>
              <a:ext cx="187643" cy="9525"/>
            </a:xfrm>
            <a:custGeom>
              <a:avLst/>
              <a:gdLst/>
              <a:ahLst/>
              <a:cxnLst/>
              <a:rect l="l" t="t" r="r" b="b"/>
              <a:pathLst>
                <a:path w="187643" h="9525">
                  <a:moveTo>
                    <a:pt x="187643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7328535" y="447960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620952" y="2107882"/>
              <a:ext cx="1799272" cy="385762"/>
            </a:xfrm>
            <a:prstGeom prst="roundRect">
              <a:avLst>
                <a:gd name="adj" fmla="val 49877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620952" y="2851785"/>
              <a:ext cx="1799272" cy="385762"/>
            </a:xfrm>
            <a:prstGeom prst="roundRect">
              <a:avLst>
                <a:gd name="adj" fmla="val 24691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9712642" y="2851785"/>
              <a:ext cx="179927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620952" y="3595688"/>
              <a:ext cx="1799272" cy="385762"/>
            </a:xfrm>
            <a:prstGeom prst="roundRect">
              <a:avLst>
                <a:gd name="adj" fmla="val 24691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9712642" y="3595688"/>
              <a:ext cx="179927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620952" y="4339590"/>
              <a:ext cx="1799272" cy="385762"/>
            </a:xfrm>
            <a:prstGeom prst="roundRect">
              <a:avLst>
                <a:gd name="adj" fmla="val 24691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9712642" y="4339590"/>
              <a:ext cx="179927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5529262" y="4339590"/>
              <a:ext cx="1799272" cy="385762"/>
            </a:xfrm>
            <a:prstGeom prst="roundRect">
              <a:avLst>
                <a:gd name="adj" fmla="val 49877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364576" y="22217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开始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213801" y="29656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小时闪烁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305491" y="29656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增加小时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213801" y="370951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分钟闪烁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305491" y="370951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增加分钟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289188" y="445341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秒闪烁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380878" y="445341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增加秒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121159" y="445341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停止闪烁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549640" y="2593658"/>
              <a:ext cx="79248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573452" y="2616518"/>
              <a:ext cx="7485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按下按钮1和2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9259252" y="2847975"/>
              <a:ext cx="61531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9286513" y="2870835"/>
              <a:ext cx="5607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按下按钮2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549640" y="3337560"/>
              <a:ext cx="61531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573452" y="3360420"/>
              <a:ext cx="5607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按下按钮1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9259252" y="3591878"/>
              <a:ext cx="61531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286513" y="3614738"/>
              <a:ext cx="5607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按下按钮2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8549640" y="4081462"/>
              <a:ext cx="61531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573452" y="4104323"/>
              <a:ext cx="5607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按下按钮1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9259252" y="4335780"/>
              <a:ext cx="61531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9286513" y="4358640"/>
              <a:ext cx="5607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按下按钮2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7078028" y="4335780"/>
              <a:ext cx="79248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099973" y="4358640"/>
              <a:ext cx="7485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按下按钮1和2</a:t>
              </a:r>
            </a:p>
          </p:txBody>
        </p:sp>
      </p:grpSp>
      <p:grpSp>
        <p:nvGrpSpPr>
          <p:cNvPr id="83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77" name="Rectangle 77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2" name="TextBox 82"/>
            <p:cNvSpPr txBox="1"/>
            <p:nvPr/>
          </p:nvSpPr>
          <p:spPr>
            <a:xfrm>
              <a:off x="1040892" y="6028373"/>
              <a:ext cx="65925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简单手表“设置时间”用例的状态图：按钮1切换要改的字段，按钮2把该字段加一。</a:t>
              </a:r>
            </a:p>
          </p:txBody>
        </p:sp>
      </p:grpSp>
      <p:grpSp>
        <p:nvGrpSpPr>
          <p:cNvPr id="8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4" name="TextBox 84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动态图、扩展机制与视图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活动图：一个用例的处理流程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011037" cy="264033"/>
            <a:chOff x="526542" y="1545907"/>
            <a:chExt cx="601103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0110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活动图类似流程图，描述各项活动的执行流程，能方便地表示判断和并行。</a:t>
              </a:r>
            </a:p>
          </p:txBody>
        </p:sp>
      </p:grpSp>
      <p:grpSp>
        <p:nvGrpSpPr>
          <p:cNvPr id="16" name="c1-bullets-1"/>
          <p:cNvGrpSpPr/>
          <p:nvPr/>
        </p:nvGrpSpPr>
        <p:grpSpPr>
          <a:xfrm>
            <a:off x="526542" y="1950720"/>
            <a:ext cx="3819906" cy="1198435"/>
            <a:chOff x="526542" y="1950720"/>
            <a:chExt cx="3819906" cy="1198435"/>
          </a:xfrm>
        </p:grpSpPr>
        <p:sp>
          <p:nvSpPr>
            <p:cNvPr id="9" name="TextBox 9"/>
            <p:cNvSpPr txBox="1"/>
            <p:nvPr/>
          </p:nvSpPr>
          <p:spPr>
            <a:xfrm>
              <a:off x="526542" y="195072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活动图的用途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41972" y="232410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97992" y="2267902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描述所要进行的各项活动的执行流程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41972" y="263271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97992" y="2576512"/>
              <a:ext cx="25265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描述一个 Use Case 的处理流程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41972" y="294132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97992" y="2885122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方便地描述控制转移条件以及并行执行等要求</a:t>
              </a:r>
            </a:p>
          </p:txBody>
        </p:sp>
      </p:grpSp>
      <p:grpSp>
        <p:nvGrpSpPr>
          <p:cNvPr id="45" name="c1-flow-2"/>
          <p:cNvGrpSpPr/>
          <p:nvPr/>
        </p:nvGrpSpPr>
        <p:grpSpPr>
          <a:xfrm>
            <a:off x="722948" y="3317558"/>
            <a:ext cx="5031105" cy="2341244"/>
            <a:chOff x="722948" y="3317558"/>
            <a:chExt cx="5031105" cy="2341244"/>
          </a:xfrm>
        </p:grpSpPr>
        <p:sp>
          <p:nvSpPr>
            <p:cNvPr id="17" name="Freeform 17"/>
            <p:cNvSpPr/>
            <p:nvPr/>
          </p:nvSpPr>
          <p:spPr>
            <a:xfrm>
              <a:off x="1885950" y="3607118"/>
              <a:ext cx="9525" cy="96203"/>
            </a:xfrm>
            <a:custGeom>
              <a:avLst/>
              <a:gdLst/>
              <a:ahLst/>
              <a:cxnLst/>
              <a:rect l="l" t="t" r="r" b="b"/>
              <a:pathLst>
                <a:path w="9525" h="96203">
                  <a:moveTo>
                    <a:pt x="0" y="96203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833562" y="36071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3048952" y="3999548"/>
              <a:ext cx="274320" cy="9525"/>
            </a:xfrm>
            <a:custGeom>
              <a:avLst/>
              <a:gdLst/>
              <a:ahLst/>
              <a:cxnLst/>
              <a:rect l="l" t="t" r="r" b="b"/>
              <a:pathLst>
                <a:path w="274320" h="9525">
                  <a:moveTo>
                    <a:pt x="0" y="0"/>
                  </a:moveTo>
                  <a:lnTo>
                    <a:pt x="2743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323272" y="39471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1885950" y="4191000"/>
              <a:ext cx="9525" cy="96203"/>
            </a:xfrm>
            <a:custGeom>
              <a:avLst/>
              <a:gdLst/>
              <a:ahLst/>
              <a:cxnLst/>
              <a:rect l="l" t="t" r="r" b="b"/>
              <a:pathLst>
                <a:path w="9525" h="96203">
                  <a:moveTo>
                    <a:pt x="0" y="96203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1833562" y="41910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1885950" y="467963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95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1833562" y="467963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1885950" y="5168265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190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1833562" y="51682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3153728" y="4191952"/>
              <a:ext cx="1437322" cy="1274445"/>
            </a:xfrm>
            <a:custGeom>
              <a:avLst/>
              <a:gdLst/>
              <a:ahLst/>
              <a:cxnLst/>
              <a:rect l="l" t="t" r="r" b="b"/>
              <a:pathLst>
                <a:path w="1437322" h="1274445">
                  <a:moveTo>
                    <a:pt x="1437322" y="0"/>
                  </a:moveTo>
                  <a:lnTo>
                    <a:pt x="1437322" y="209550"/>
                  </a:lnTo>
                  <a:lnTo>
                    <a:pt x="1437322" y="1274445"/>
                  </a:lnTo>
                  <a:lnTo>
                    <a:pt x="104775" y="1274445"/>
                  </a:lnTo>
                  <a:lnTo>
                    <a:pt x="0" y="127444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048952" y="54140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22948" y="3317558"/>
              <a:ext cx="2326005" cy="385762"/>
            </a:xfrm>
            <a:prstGeom prst="roundRect">
              <a:avLst>
                <a:gd name="adj" fmla="val 49877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722948" y="3711892"/>
              <a:ext cx="2326005" cy="575310"/>
            </a:xfrm>
            <a:custGeom>
              <a:avLst/>
              <a:gdLst/>
              <a:ahLst/>
              <a:cxnLst/>
              <a:rect l="l" t="t" r="r" b="b"/>
              <a:pathLst>
                <a:path w="2326005" h="575310">
                  <a:moveTo>
                    <a:pt x="1163002" y="0"/>
                  </a:moveTo>
                  <a:lnTo>
                    <a:pt x="2326005" y="287655"/>
                  </a:lnTo>
                  <a:lnTo>
                    <a:pt x="1163002" y="575310"/>
                  </a:lnTo>
                  <a:lnTo>
                    <a:pt x="0" y="287655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428048" y="3806190"/>
              <a:ext cx="2326005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22948" y="4295775"/>
              <a:ext cx="2326005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722948" y="4784408"/>
              <a:ext cx="2326005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722948" y="5273040"/>
              <a:ext cx="2326005" cy="385762"/>
            </a:xfrm>
            <a:prstGeom prst="roundRect">
              <a:avLst>
                <a:gd name="adj" fmla="val 49877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729461" y="34313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503299" y="392096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磁盘满了吗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50086" y="3920966"/>
              <a:ext cx="10819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显示“磁盘已满”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427912" y="440959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创建打印文件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52525" y="489823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打印机打印文件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26363" y="538781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删除显示信息的对话框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899410" y="3803332"/>
              <a:ext cx="67818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924785" y="3826192"/>
              <a:ext cx="627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[磁盘已满]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1914525" y="4211955"/>
              <a:ext cx="67818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938338" y="4234815"/>
              <a:ext cx="627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[尚有空间]</a:t>
              </a:r>
            </a:p>
          </p:txBody>
        </p:sp>
      </p:grpSp>
      <p:grpSp>
        <p:nvGrpSpPr>
          <p:cNvPr id="60" name="c2-kv-1"/>
          <p:cNvGrpSpPr/>
          <p:nvPr/>
        </p:nvGrpSpPr>
        <p:grpSpPr>
          <a:xfrm>
            <a:off x="6241542" y="1950720"/>
            <a:ext cx="5417058" cy="1833753"/>
            <a:chOff x="6241542" y="1950720"/>
            <a:chExt cx="5417058" cy="1833753"/>
          </a:xfrm>
        </p:grpSpPr>
        <p:sp>
          <p:nvSpPr>
            <p:cNvPr id="46" name="TextBox 46"/>
            <p:cNvSpPr txBox="1"/>
            <p:nvPr/>
          </p:nvSpPr>
          <p:spPr>
            <a:xfrm>
              <a:off x="6241542" y="195072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活动状态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634097" y="195072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圆角矩形，表示一步要做的事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48400" y="22374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241542" y="23431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转移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634097" y="23431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带箭头的实线，活动做完自动流向下一个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248400" y="26298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241542" y="2735580"/>
              <a:ext cx="11843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判定 Decision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634097" y="273558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菱形，出边上用方括号写监护条件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30222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241542" y="3128010"/>
              <a:ext cx="10427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同步条 Fork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634097" y="312801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粗横线，一条输入分成多条并发的输出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248400" y="34147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241542" y="3520440"/>
              <a:ext cx="9943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同步条 Join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634097" y="352044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粗横线，多条并发输入汇合成一条输出</a:t>
              </a:r>
            </a:p>
          </p:txBody>
        </p:sp>
      </p:grpSp>
      <p:grpSp>
        <p:nvGrpSpPr>
          <p:cNvPr id="87" name="c2-flow-2"/>
          <p:cNvGrpSpPr/>
          <p:nvPr/>
        </p:nvGrpSpPr>
        <p:grpSpPr>
          <a:xfrm>
            <a:off x="6381750" y="4010025"/>
            <a:ext cx="5143500" cy="1591627"/>
            <a:chOff x="6381750" y="4010025"/>
            <a:chExt cx="5143500" cy="1591627"/>
          </a:xfrm>
        </p:grpSpPr>
        <p:sp>
          <p:nvSpPr>
            <p:cNvPr id="61" name="Freeform 61"/>
            <p:cNvSpPr/>
            <p:nvPr/>
          </p:nvSpPr>
          <p:spPr>
            <a:xfrm>
              <a:off x="7150418" y="4395788"/>
              <a:ext cx="1803082" cy="112395"/>
            </a:xfrm>
            <a:custGeom>
              <a:avLst/>
              <a:gdLst/>
              <a:ahLst/>
              <a:cxnLst/>
              <a:rect l="l" t="t" r="r" b="b"/>
              <a:pathLst>
                <a:path w="1803082" h="112395">
                  <a:moveTo>
                    <a:pt x="1803082" y="0"/>
                  </a:moveTo>
                  <a:lnTo>
                    <a:pt x="1803082" y="108585"/>
                  </a:lnTo>
                  <a:lnTo>
                    <a:pt x="0" y="108585"/>
                  </a:lnTo>
                  <a:lnTo>
                    <a:pt x="0" y="1123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7098030" y="450818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3" name="Freeform 63"/>
            <p:cNvSpPr/>
            <p:nvPr/>
          </p:nvSpPr>
          <p:spPr>
            <a:xfrm>
              <a:off x="8953500" y="4395788"/>
              <a:ext cx="9525" cy="112395"/>
            </a:xfrm>
            <a:custGeom>
              <a:avLst/>
              <a:gdLst/>
              <a:ahLst/>
              <a:cxnLst/>
              <a:rect l="l" t="t" r="r" b="b"/>
              <a:pathLst>
                <a:path w="9525" h="112395">
                  <a:moveTo>
                    <a:pt x="0" y="0"/>
                  </a:moveTo>
                  <a:lnTo>
                    <a:pt x="0" y="1123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8901112" y="450818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5" name="Freeform 65"/>
            <p:cNvSpPr/>
            <p:nvPr/>
          </p:nvSpPr>
          <p:spPr>
            <a:xfrm>
              <a:off x="8953500" y="4395788"/>
              <a:ext cx="1803082" cy="112395"/>
            </a:xfrm>
            <a:custGeom>
              <a:avLst/>
              <a:gdLst/>
              <a:ahLst/>
              <a:cxnLst/>
              <a:rect l="l" t="t" r="r" b="b"/>
              <a:pathLst>
                <a:path w="1803082" h="112395">
                  <a:moveTo>
                    <a:pt x="0" y="0"/>
                  </a:moveTo>
                  <a:lnTo>
                    <a:pt x="0" y="108585"/>
                  </a:lnTo>
                  <a:lnTo>
                    <a:pt x="1803082" y="108585"/>
                  </a:lnTo>
                  <a:lnTo>
                    <a:pt x="1803082" y="1123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10704195" y="450818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7" name="Freeform 67"/>
            <p:cNvSpPr/>
            <p:nvPr/>
          </p:nvSpPr>
          <p:spPr>
            <a:xfrm>
              <a:off x="7150418" y="4998720"/>
              <a:ext cx="1803082" cy="112395"/>
            </a:xfrm>
            <a:custGeom>
              <a:avLst/>
              <a:gdLst/>
              <a:ahLst/>
              <a:cxnLst/>
              <a:rect l="l" t="t" r="r" b="b"/>
              <a:pathLst>
                <a:path w="1803082" h="112395">
                  <a:moveTo>
                    <a:pt x="0" y="0"/>
                  </a:moveTo>
                  <a:lnTo>
                    <a:pt x="0" y="108585"/>
                  </a:lnTo>
                  <a:lnTo>
                    <a:pt x="1803082" y="108585"/>
                  </a:lnTo>
                  <a:lnTo>
                    <a:pt x="1803082" y="1123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8901112" y="51111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9" name="Freeform 69"/>
            <p:cNvSpPr/>
            <p:nvPr/>
          </p:nvSpPr>
          <p:spPr>
            <a:xfrm>
              <a:off x="8953500" y="4998720"/>
              <a:ext cx="9525" cy="112395"/>
            </a:xfrm>
            <a:custGeom>
              <a:avLst/>
              <a:gdLst/>
              <a:ahLst/>
              <a:cxnLst/>
              <a:rect l="l" t="t" r="r" b="b"/>
              <a:pathLst>
                <a:path w="9525" h="112395">
                  <a:moveTo>
                    <a:pt x="0" y="0"/>
                  </a:moveTo>
                  <a:lnTo>
                    <a:pt x="0" y="1123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8901112" y="51111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71" name="Freeform 71"/>
            <p:cNvSpPr/>
            <p:nvPr/>
          </p:nvSpPr>
          <p:spPr>
            <a:xfrm>
              <a:off x="8953500" y="4998720"/>
              <a:ext cx="1803082" cy="112395"/>
            </a:xfrm>
            <a:custGeom>
              <a:avLst/>
              <a:gdLst/>
              <a:ahLst/>
              <a:cxnLst/>
              <a:rect l="l" t="t" r="r" b="b"/>
              <a:pathLst>
                <a:path w="1803082" h="112395">
                  <a:moveTo>
                    <a:pt x="1803082" y="0"/>
                  </a:moveTo>
                  <a:lnTo>
                    <a:pt x="1803082" y="108585"/>
                  </a:lnTo>
                  <a:lnTo>
                    <a:pt x="0" y="108585"/>
                  </a:lnTo>
                  <a:lnTo>
                    <a:pt x="0" y="1123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8901112" y="51111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8184832" y="4010025"/>
              <a:ext cx="153638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6381750" y="4612958"/>
              <a:ext cx="153638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8184832" y="4612958"/>
              <a:ext cx="153638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9988868" y="4612958"/>
              <a:ext cx="153638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8184832" y="5215890"/>
              <a:ext cx="153638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609938" y="4124801"/>
              <a:ext cx="687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Activity1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806856" y="4727734"/>
              <a:ext cx="687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Activity2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609938" y="4727734"/>
              <a:ext cx="687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Activity3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0413021" y="4727734"/>
              <a:ext cx="687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Activity4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8609938" y="5330666"/>
              <a:ext cx="687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Activity5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7889558" y="4308158"/>
              <a:ext cx="3238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7925562" y="4331018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分叉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8982075" y="5028248"/>
              <a:ext cx="3238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9005888" y="5051108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汇合</a:t>
              </a:r>
            </a:p>
          </p:txBody>
        </p:sp>
      </p:grpSp>
      <p:grpSp>
        <p:nvGrpSpPr>
          <p:cNvPr id="93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88" name="Rectangle 8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91" name="Group 91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92" name="TextBox 92"/>
            <p:cNvSpPr txBox="1"/>
            <p:nvPr/>
          </p:nvSpPr>
          <p:spPr>
            <a:xfrm>
              <a:off x="1040892" y="6028373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分叉与汇合成对出现，中间几条分支可以并发执行，全部完成后才继续往下走。</a:t>
              </a:r>
            </a:p>
          </p:txBody>
        </p:sp>
      </p:grpSp>
      <p:grpSp>
        <p:nvGrpSpPr>
          <p:cNvPr id="9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4" name="TextBox 94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动态图、扩展机制与视图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构件图与配置图：代码的组织与硬件的部署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4738878" cy="264033"/>
            <a:chOff x="526542" y="1545907"/>
            <a:chExt cx="473887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前面八种图都在描述软件的逻辑，这两种图落到物理层面。</a:t>
              </a:r>
            </a:p>
          </p:txBody>
        </p:sp>
      </p:grpSp>
      <p:grpSp>
        <p:nvGrpSpPr>
          <p:cNvPr id="23" name="c1-card-1"/>
          <p:cNvGrpSpPr/>
          <p:nvPr/>
        </p:nvGrpSpPr>
        <p:grpSpPr>
          <a:xfrm>
            <a:off x="533400" y="1928812"/>
            <a:ext cx="5410200" cy="2145982"/>
            <a:chOff x="533400" y="1928812"/>
            <a:chExt cx="5410200" cy="214598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2145982"/>
            </a:xfrm>
            <a:prstGeom prst="roundRect">
              <a:avLst>
                <a:gd name="adj" fmla="val 621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87928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2700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构件图（Component Diagram）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构件图描述程序代码的组织结构，反映构件之间的依赖关系。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283273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277653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源代码构件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6762" y="313277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2782" y="30765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二进制目标代码构件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66762" y="343281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22782" y="337661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可执行构件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66762" y="373380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22782" y="367760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文档构件</a:t>
              </a:r>
            </a:p>
          </p:txBody>
        </p:sp>
      </p:grpSp>
      <p:grpSp>
        <p:nvGrpSpPr>
          <p:cNvPr id="50" name="c1-graph-2"/>
          <p:cNvGrpSpPr/>
          <p:nvPr/>
        </p:nvGrpSpPr>
        <p:grpSpPr>
          <a:xfrm>
            <a:off x="821055" y="4363402"/>
            <a:ext cx="4805363" cy="1396366"/>
            <a:chOff x="821055" y="4363402"/>
            <a:chExt cx="4805363" cy="1396366"/>
          </a:xfrm>
        </p:grpSpPr>
        <p:sp>
          <p:nvSpPr>
            <p:cNvPr id="24" name="Freeform 24"/>
            <p:cNvSpPr/>
            <p:nvPr/>
          </p:nvSpPr>
          <p:spPr>
            <a:xfrm>
              <a:off x="1880235" y="5617845"/>
              <a:ext cx="918210" cy="9525"/>
            </a:xfrm>
            <a:custGeom>
              <a:avLst/>
              <a:gdLst/>
              <a:ahLst/>
              <a:cxnLst/>
              <a:rect l="l" t="t" r="r" b="b"/>
              <a:pathLst>
                <a:path w="918210" h="9525">
                  <a:moveTo>
                    <a:pt x="918210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25" name="Freeform 25"/>
            <p:cNvSpPr/>
            <p:nvPr/>
          </p:nvSpPr>
          <p:spPr>
            <a:xfrm>
              <a:off x="1784985" y="557022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1964055" y="5061585"/>
              <a:ext cx="750570" cy="9525"/>
            </a:xfrm>
            <a:custGeom>
              <a:avLst/>
              <a:gdLst/>
              <a:ahLst/>
              <a:cxnLst/>
              <a:rect l="l" t="t" r="r" b="b"/>
              <a:pathLst>
                <a:path w="750570" h="9525">
                  <a:moveTo>
                    <a:pt x="750570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27" name="Freeform 27"/>
            <p:cNvSpPr/>
            <p:nvPr/>
          </p:nvSpPr>
          <p:spPr>
            <a:xfrm>
              <a:off x="1868805" y="501396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1901190" y="4506278"/>
              <a:ext cx="876300" cy="9525"/>
            </a:xfrm>
            <a:custGeom>
              <a:avLst/>
              <a:gdLst/>
              <a:ahLst/>
              <a:cxnLst/>
              <a:rect l="l" t="t" r="r" b="b"/>
              <a:pathLst>
                <a:path w="876300" h="9525">
                  <a:moveTo>
                    <a:pt x="876300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29" name="Freeform 29"/>
            <p:cNvSpPr/>
            <p:nvPr/>
          </p:nvSpPr>
          <p:spPr>
            <a:xfrm>
              <a:off x="1805940" y="445865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3769995" y="5187315"/>
              <a:ext cx="976312" cy="279082"/>
            </a:xfrm>
            <a:custGeom>
              <a:avLst/>
              <a:gdLst/>
              <a:ahLst/>
              <a:cxnLst/>
              <a:rect l="l" t="t" r="r" b="b"/>
              <a:pathLst>
                <a:path w="976312" h="279082">
                  <a:moveTo>
                    <a:pt x="976312" y="0"/>
                  </a:moveTo>
                  <a:lnTo>
                    <a:pt x="0" y="279082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1" name="Freeform 31"/>
            <p:cNvSpPr/>
            <p:nvPr/>
          </p:nvSpPr>
          <p:spPr>
            <a:xfrm>
              <a:off x="3678555" y="5419725"/>
              <a:ext cx="104775" cy="92393"/>
            </a:xfrm>
            <a:custGeom>
              <a:avLst/>
              <a:gdLst/>
              <a:ahLst/>
              <a:cxnLst/>
              <a:rect l="l" t="t" r="r" b="b"/>
              <a:pathLst>
                <a:path w="104775" h="92393">
                  <a:moveTo>
                    <a:pt x="0" y="72390"/>
                  </a:moveTo>
                  <a:lnTo>
                    <a:pt x="78105" y="0"/>
                  </a:lnTo>
                  <a:lnTo>
                    <a:pt x="104775" y="9239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3857625" y="5061585"/>
              <a:ext cx="888683" cy="9525"/>
            </a:xfrm>
            <a:custGeom>
              <a:avLst/>
              <a:gdLst/>
              <a:ahLst/>
              <a:cxnLst/>
              <a:rect l="l" t="t" r="r" b="b"/>
              <a:pathLst>
                <a:path w="888683" h="9525">
                  <a:moveTo>
                    <a:pt x="888683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3" name="Freeform 33"/>
            <p:cNvSpPr/>
            <p:nvPr/>
          </p:nvSpPr>
          <p:spPr>
            <a:xfrm>
              <a:off x="3762375" y="501396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3790950" y="4663440"/>
              <a:ext cx="955358" cy="273367"/>
            </a:xfrm>
            <a:custGeom>
              <a:avLst/>
              <a:gdLst/>
              <a:ahLst/>
              <a:cxnLst/>
              <a:rect l="l" t="t" r="r" b="b"/>
              <a:pathLst>
                <a:path w="955358" h="273367">
                  <a:moveTo>
                    <a:pt x="955358" y="273367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5" name="Freeform 35"/>
            <p:cNvSpPr/>
            <p:nvPr/>
          </p:nvSpPr>
          <p:spPr>
            <a:xfrm>
              <a:off x="3699510" y="4617720"/>
              <a:ext cx="104775" cy="92392"/>
            </a:xfrm>
            <a:custGeom>
              <a:avLst/>
              <a:gdLst/>
              <a:ahLst/>
              <a:cxnLst/>
              <a:rect l="l" t="t" r="r" b="b"/>
              <a:pathLst>
                <a:path w="104775" h="92392">
                  <a:moveTo>
                    <a:pt x="0" y="20002"/>
                  </a:moveTo>
                  <a:lnTo>
                    <a:pt x="104775" y="0"/>
                  </a:lnTo>
                  <a:lnTo>
                    <a:pt x="78105" y="9239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04875" y="5474970"/>
              <a:ext cx="880110" cy="284798"/>
            </a:xfrm>
            <a:prstGeom prst="roundRect">
              <a:avLst>
                <a:gd name="adj" fmla="val 33445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798445" y="5474970"/>
              <a:ext cx="880110" cy="284798"/>
            </a:xfrm>
            <a:prstGeom prst="roundRect">
              <a:avLst>
                <a:gd name="adj" fmla="val 33445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21055" y="4919662"/>
              <a:ext cx="1047750" cy="284798"/>
            </a:xfrm>
            <a:prstGeom prst="roundRect">
              <a:avLst>
                <a:gd name="adj" fmla="val 33445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2714625" y="4919662"/>
              <a:ext cx="1047750" cy="284798"/>
            </a:xfrm>
            <a:prstGeom prst="roundRect">
              <a:avLst>
                <a:gd name="adj" fmla="val 33445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883920" y="4363402"/>
              <a:ext cx="922020" cy="284798"/>
            </a:xfrm>
            <a:prstGeom prst="roundRect">
              <a:avLst>
                <a:gd name="adj" fmla="val 33445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2777490" y="4363402"/>
              <a:ext cx="922020" cy="284798"/>
            </a:xfrm>
            <a:prstGeom prst="roundRect">
              <a:avLst>
                <a:gd name="adj" fmla="val 33445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4746308" y="4919662"/>
              <a:ext cx="880110" cy="284798"/>
            </a:xfrm>
            <a:prstGeom prst="roundRect">
              <a:avLst>
                <a:gd name="adj" fmla="val 33445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63473" y="5561648"/>
              <a:ext cx="56291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main.cpp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972945" y="5561648"/>
              <a:ext cx="5311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main.obj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75322" y="5006340"/>
              <a:ext cx="73921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Comhnd.cpp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884894" y="5006340"/>
              <a:ext cx="7072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Comhnd.obj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45205" y="4450080"/>
              <a:ext cx="59945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Whnd.cpp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954805" y="4450080"/>
              <a:ext cx="5673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Whnd.obj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861560" y="5006340"/>
              <a:ext cx="6496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Client.exe</a:t>
              </a:r>
            </a:p>
          </p:txBody>
        </p:sp>
      </p:grpSp>
      <p:grpSp>
        <p:nvGrpSpPr>
          <p:cNvPr id="63" name="c2-card-1"/>
          <p:cNvGrpSpPr/>
          <p:nvPr/>
        </p:nvGrpSpPr>
        <p:grpSpPr>
          <a:xfrm>
            <a:off x="6248400" y="1928812"/>
            <a:ext cx="5410200" cy="1845945"/>
            <a:chOff x="6248400" y="1928812"/>
            <a:chExt cx="5410200" cy="1845945"/>
          </a:xfrm>
        </p:grpSpPr>
        <p:sp>
          <p:nvSpPr>
            <p:cNvPr id="51" name="Rectangle 51"/>
            <p:cNvSpPr/>
            <p:nvPr/>
          </p:nvSpPr>
          <p:spPr>
            <a:xfrm>
              <a:off x="6248400" y="1928812"/>
              <a:ext cx="5410200" cy="1845945"/>
            </a:xfrm>
            <a:prstGeom prst="roundRect">
              <a:avLst>
                <a:gd name="adj" fmla="val 72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257925" y="2062162"/>
              <a:ext cx="47625" cy="157924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473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565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038784" y="2150745"/>
              <a:ext cx="27569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配置图（Deployment Diagram）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466332" y="24765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描述系统中软硬件的物理配置情况和系统体系结构。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481762" y="283273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637782" y="277653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结点表示实际的物理设备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481762" y="313277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637782" y="30765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连接表示各物理结点的连接方式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481762" y="343281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637782" y="3376612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结点内部表示分配到该结点运行的构件或对象</a:t>
              </a:r>
            </a:p>
          </p:txBody>
        </p:sp>
      </p:grpSp>
      <p:grpSp>
        <p:nvGrpSpPr>
          <p:cNvPr id="81" name="c2-graph-2"/>
          <p:cNvGrpSpPr/>
          <p:nvPr/>
        </p:nvGrpSpPr>
        <p:grpSpPr>
          <a:xfrm>
            <a:off x="6701790" y="3991928"/>
            <a:ext cx="4503420" cy="1623059"/>
            <a:chOff x="6701790" y="3991928"/>
            <a:chExt cx="4503420" cy="1623059"/>
          </a:xfrm>
        </p:grpSpPr>
        <p:sp>
          <p:nvSpPr>
            <p:cNvPr id="64" name="Freeform 64"/>
            <p:cNvSpPr/>
            <p:nvPr/>
          </p:nvSpPr>
          <p:spPr>
            <a:xfrm>
              <a:off x="7959090" y="4185285"/>
              <a:ext cx="2219325" cy="9525"/>
            </a:xfrm>
            <a:custGeom>
              <a:avLst/>
              <a:gdLst/>
              <a:ahLst/>
              <a:cxnLst/>
              <a:rect l="l" t="t" r="r" b="b"/>
              <a:pathLst>
                <a:path w="2219325" h="9525">
                  <a:moveTo>
                    <a:pt x="0" y="0"/>
                  </a:moveTo>
                  <a:lnTo>
                    <a:pt x="221932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7836218" y="4336732"/>
              <a:ext cx="2342197" cy="892492"/>
            </a:xfrm>
            <a:custGeom>
              <a:avLst/>
              <a:gdLst/>
              <a:ahLst/>
              <a:cxnLst/>
              <a:rect l="l" t="t" r="r" b="b"/>
              <a:pathLst>
                <a:path w="2342197" h="892492">
                  <a:moveTo>
                    <a:pt x="0" y="892492"/>
                  </a:moveTo>
                  <a:lnTo>
                    <a:pt x="234219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10576560" y="4377690"/>
              <a:ext cx="9525" cy="851535"/>
            </a:xfrm>
            <a:custGeom>
              <a:avLst/>
              <a:gdLst/>
              <a:ahLst/>
              <a:cxnLst/>
              <a:rect l="l" t="t" r="r" b="b"/>
              <a:pathLst>
                <a:path w="9525" h="851535">
                  <a:moveTo>
                    <a:pt x="0" y="0"/>
                  </a:moveTo>
                  <a:lnTo>
                    <a:pt x="0" y="85153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6701790" y="3991928"/>
              <a:ext cx="1257300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6701790" y="5229225"/>
              <a:ext cx="1257300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10178415" y="3991928"/>
              <a:ext cx="796290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9947910" y="5229225"/>
              <a:ext cx="1257300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790731" y="4129088"/>
              <a:ext cx="10794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客户A：个人电脑PC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790731" y="5366385"/>
              <a:ext cx="10794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客户B：个人电脑PC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0390061" y="4129088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036851" y="5366385"/>
              <a:ext cx="10794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数据库服务器：VAX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8767762" y="4106228"/>
              <a:ext cx="60198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8775730" y="4136231"/>
              <a:ext cx="58604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《TCP/IP》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8705850" y="4704398"/>
              <a:ext cx="60198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714770" y="4733449"/>
              <a:ext cx="58604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《TCP/IP》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10262235" y="4725352"/>
              <a:ext cx="6276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10275832" y="4754404"/>
              <a:ext cx="60145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《DecNet》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2" name="TextBox 82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247697" cy="909257"/>
            <a:chOff x="520446" y="342900"/>
            <a:chExt cx="32476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动态图、扩展机制与视图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2476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的三种扩展机制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609690" cy="308039"/>
            <a:chOff x="525399" y="1550194"/>
            <a:chExt cx="660969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60969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标准记号不够用时，用这三种机制扩充，而不是自己另发明一套图形。</a:t>
              </a:r>
            </a:p>
          </p:txBody>
        </p:sp>
      </p:grpSp>
      <p:grpSp>
        <p:nvGrpSpPr>
          <p:cNvPr id="17" name="c1-kv-1"/>
          <p:cNvGrpSpPr/>
          <p:nvPr/>
        </p:nvGrpSpPr>
        <p:grpSpPr>
          <a:xfrm>
            <a:off x="525780" y="1992630"/>
            <a:ext cx="5417820" cy="2301240"/>
            <a:chOff x="525780" y="1992630"/>
            <a:chExt cx="5417820" cy="2301240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130683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标记值 Tagged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Value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148840" y="1992630"/>
              <a:ext cx="324421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附属于 UML 元素的各种信息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（Property），形式为 {属性名 = 值}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59461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5780" y="2714625"/>
              <a:ext cx="1065371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约束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Constraint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148840" y="2714625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限制一个或多个元素语义的规则，形式为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{约束条件}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3166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5780" y="3436620"/>
              <a:ext cx="1115378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构造型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Stereotype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148840" y="3436620"/>
              <a:ext cx="36347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在已有模型元素的基础上建立一种新的模型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元素，与现有元素相差不多，只是多一些特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别的语义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425315"/>
            <a:ext cx="5410200" cy="1706880"/>
            <a:chOff x="533400" y="4425315"/>
            <a:chExt cx="5410200" cy="1706880"/>
          </a:xfrm>
        </p:grpSpPr>
        <p:sp>
          <p:nvSpPr>
            <p:cNvPr id="18" name="Rectangle 18"/>
            <p:cNvSpPr/>
            <p:nvPr/>
          </p:nvSpPr>
          <p:spPr>
            <a:xfrm>
              <a:off x="533400" y="4425315"/>
              <a:ext cx="5410200" cy="1706880"/>
            </a:xfrm>
            <a:prstGeom prst="roundRect">
              <a:avLst>
                <a:gd name="adj" fmla="val 669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5178743"/>
              <a:ext cx="200026" cy="200025"/>
              <a:chOff x="738188" y="5178743"/>
              <a:chExt cx="200026" cy="2000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517874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77926" y="522319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12642" y="533431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130" y="5035868"/>
              <a:ext cx="33966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构造型写在书名号里，例如《Actor》、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《include》、《extend》都是构造型。</a:t>
              </a:r>
            </a:p>
          </p:txBody>
        </p:sp>
      </p:grpSp>
      <p:grpSp>
        <p:nvGrpSpPr>
          <p:cNvPr id="32" name="c2-uml-1"/>
          <p:cNvGrpSpPr/>
          <p:nvPr/>
        </p:nvGrpSpPr>
        <p:grpSpPr>
          <a:xfrm>
            <a:off x="8283892" y="2205038"/>
            <a:ext cx="1339215" cy="1001078"/>
            <a:chOff x="8283892" y="2205038"/>
            <a:chExt cx="1339215" cy="1001078"/>
          </a:xfrm>
        </p:grpSpPr>
        <p:sp>
          <p:nvSpPr>
            <p:cNvPr id="25" name="Rectangle 25"/>
            <p:cNvSpPr/>
            <p:nvPr/>
          </p:nvSpPr>
          <p:spPr>
            <a:xfrm>
              <a:off x="8283892" y="2205038"/>
              <a:ext cx="1339215" cy="100107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291512" y="2212658"/>
              <a:ext cx="1324928" cy="423862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8283892" y="2631758"/>
              <a:ext cx="1339215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8283892" y="3106102"/>
              <a:ext cx="1339215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585746" y="2266474"/>
              <a:ext cx="7355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«abstract»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646236" y="242935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i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交通工具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54759" y="2704148"/>
              <a:ext cx="1197483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{author = "Alice"}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{status = draft}</a:t>
              </a:r>
            </a:p>
          </p:txBody>
        </p:sp>
      </p:grpSp>
      <p:grpSp>
        <p:nvGrpSpPr>
          <p:cNvPr id="46" name="c2-uml-2"/>
          <p:cNvGrpSpPr/>
          <p:nvPr/>
        </p:nvGrpSpPr>
        <p:grpSpPr>
          <a:xfrm>
            <a:off x="8286750" y="3689985"/>
            <a:ext cx="1332548" cy="1318259"/>
            <a:chOff x="8286750" y="3689985"/>
            <a:chExt cx="1332548" cy="1318259"/>
          </a:xfrm>
        </p:grpSpPr>
        <p:sp>
          <p:nvSpPr>
            <p:cNvPr id="33" name="Freeform 33"/>
            <p:cNvSpPr/>
            <p:nvPr/>
          </p:nvSpPr>
          <p:spPr>
            <a:xfrm>
              <a:off x="8953500" y="4341495"/>
              <a:ext cx="9525" cy="79058"/>
            </a:xfrm>
            <a:custGeom>
              <a:avLst/>
              <a:gdLst/>
              <a:ahLst/>
              <a:cxnLst/>
              <a:rect l="l" t="t" r="r" b="b"/>
              <a:pathLst>
                <a:path w="9525" h="79058">
                  <a:moveTo>
                    <a:pt x="0" y="0"/>
                  </a:moveTo>
                  <a:lnTo>
                    <a:pt x="0" y="79058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880158" y="442055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125730"/>
                  </a:moveTo>
                  <a:lnTo>
                    <a:pt x="0" y="0"/>
                  </a:lnTo>
                  <a:lnTo>
                    <a:pt x="146685" y="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286750" y="3689985"/>
              <a:ext cx="1332548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8294370" y="3696652"/>
              <a:ext cx="1318260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8286750" y="3956685"/>
              <a:ext cx="133254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286750" y="4240530"/>
              <a:ext cx="133254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8382000" y="4546282"/>
              <a:ext cx="1143000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8389620" y="4553902"/>
              <a:ext cx="1128712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8382000" y="4812982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8382000" y="4908232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721623" y="375427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老年人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57616" y="4029075"/>
              <a:ext cx="12616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{person.age &gt; 60}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872398" y="461057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人</a:t>
              </a:r>
            </a:p>
          </p:txBody>
        </p:sp>
      </p:grpSp>
      <p:grpSp>
        <p:nvGrpSpPr>
          <p:cNvPr id="52" name="c2-callout-3"/>
          <p:cNvGrpSpPr/>
          <p:nvPr/>
        </p:nvGrpSpPr>
        <p:grpSpPr>
          <a:xfrm>
            <a:off x="6248400" y="5349240"/>
            <a:ext cx="5410200" cy="782955"/>
            <a:chOff x="6248400" y="5349240"/>
            <a:chExt cx="5410200" cy="782955"/>
          </a:xfrm>
        </p:grpSpPr>
        <p:sp>
          <p:nvSpPr>
            <p:cNvPr id="47" name="Rectangle 47"/>
            <p:cNvSpPr/>
            <p:nvPr/>
          </p:nvSpPr>
          <p:spPr>
            <a:xfrm>
              <a:off x="6248400" y="534924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453188" y="5640707"/>
              <a:ext cx="200023" cy="200023"/>
              <a:chOff x="6453188" y="5640707"/>
              <a:chExt cx="200023" cy="20002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453188" y="564070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586538" y="57073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6755130" y="5497830"/>
              <a:ext cx="44157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标记值记的是“关于模型的信息”（作者、状态），约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束记的是“模型必须满足的条件”。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32916" cy="909257"/>
            <a:chOff x="520446" y="342900"/>
            <a:chExt cx="593291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 · 动态图、扩展机制与视图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3291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5 个视图从不同角度描述同一个系统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647563" cy="264033"/>
            <a:chOff x="526542" y="1545907"/>
            <a:chExt cx="564756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视图是被建模系统的各个方面，它们反映同一个系统，彼此必须一致。</a:t>
              </a:r>
            </a:p>
          </p:txBody>
        </p:sp>
      </p:grpSp>
      <p:grpSp>
        <p:nvGrpSpPr>
          <p:cNvPr id="52" name="c1-table-1"/>
          <p:cNvGrpSpPr/>
          <p:nvPr/>
        </p:nvGrpSpPr>
        <p:grpSpPr>
          <a:xfrm>
            <a:off x="533400" y="1928812"/>
            <a:ext cx="11125200" cy="3593782"/>
            <a:chOff x="533400" y="1928812"/>
            <a:chExt cx="11125200" cy="359378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11125200" cy="439102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45882" y="205359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视图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389185" y="205359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视图内容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502783" y="205359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静态表现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839266" y="205359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动态表现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287190" y="205359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观察角度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42925" y="2377440"/>
              <a:ext cx="1983105" cy="6600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9412" y="2492692"/>
              <a:ext cx="1598771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 Case View 用例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视图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31567" y="261270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系统行为、动力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079492" y="2612708"/>
              <a:ext cx="10172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 Case 图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859714" y="261270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交互图、状态图、活动图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752457" y="261270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用户、分析员、测试员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0413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046095"/>
              <a:ext cx="11125200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9412" y="3171825"/>
              <a:ext cx="17550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Logic View 逻辑视图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631567" y="31718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问题及解决方案的术语词汇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079492" y="31718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类图、对象图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859714" y="31718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交互图、状态图、活动图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752457" y="31718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类、接口、协作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48043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9412" y="3610927"/>
              <a:ext cx="1716214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Process View 进程视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31567" y="373094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性能、可伸缩性、吞吐量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079492" y="373094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类图、对象图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59714" y="373094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交互图、状态图、活动图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752457" y="373094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线程、进程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1595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164330"/>
              <a:ext cx="11125200" cy="67913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29412" y="4289108"/>
              <a:ext cx="1607344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Component View 实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现视图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631567" y="440912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构件、文件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079492" y="440912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构件图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859714" y="440912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交互图、状态图、活动图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752457" y="440912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配置、发布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83870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9412" y="4968240"/>
              <a:ext cx="1661351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Deployment View 实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施视图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631567" y="508825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部件的发布、交付、安装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079492" y="508825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配置图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859714" y="508825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交互图、状态图、活动图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752457" y="508825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拓扑结构的节点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1928812"/>
              <a:ext cx="11125200" cy="359378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2530792" y="1928812"/>
              <a:ext cx="9525" cy="35937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978718" y="1928812"/>
              <a:ext cx="9525" cy="35937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758940" y="1928812"/>
              <a:ext cx="9525" cy="35937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651682" y="1928812"/>
              <a:ext cx="9525" cy="35937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1-bullets-2"/>
          <p:cNvGrpSpPr/>
          <p:nvPr/>
        </p:nvGrpSpPr>
        <p:grpSpPr>
          <a:xfrm>
            <a:off x="542925" y="5710714"/>
            <a:ext cx="3635451" cy="489585"/>
            <a:chOff x="542925" y="5710714"/>
            <a:chExt cx="3635451" cy="489585"/>
          </a:xfrm>
        </p:grpSpPr>
        <p:sp>
          <p:nvSpPr>
            <p:cNvPr id="53" name="Ellipse 53"/>
            <p:cNvSpPr/>
            <p:nvPr/>
          </p:nvSpPr>
          <p:spPr>
            <a:xfrm>
              <a:off x="542925" y="5753100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99135" y="5710714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建立完整模型所需的视图种类和数量不定，按需选取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542925" y="6023610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99135" y="5980271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视图把建模语言同开发系统的方法、过程连接起来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九种图的选型速查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333492" cy="308039"/>
            <a:chOff x="525399" y="1550194"/>
            <a:chExt cx="533349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3334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拿到一个建模任务先问自己要表达什么，再按下表选图。</a:t>
              </a:r>
            </a:p>
          </p:txBody>
        </p:sp>
      </p:grpSp>
      <p:grpSp>
        <p:nvGrpSpPr>
          <p:cNvPr id="31" name="c1-table-1"/>
          <p:cNvGrpSpPr/>
          <p:nvPr/>
        </p:nvGrpSpPr>
        <p:grpSpPr>
          <a:xfrm>
            <a:off x="533400" y="1967865"/>
            <a:ext cx="5410200" cy="2926080"/>
            <a:chOff x="533400" y="1967865"/>
            <a:chExt cx="5410200" cy="292608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48768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579245" y="210693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要表达什么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385310" y="21069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用哪种图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0080" y="259461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谁能用系统做成什么事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660458" y="2465070"/>
              <a:ext cx="2273618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757612" y="2594610"/>
              <a:ext cx="11302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 Case 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9384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943225"/>
              <a:ext cx="5410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0080" y="308229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系统的静态结构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57612" y="308229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426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356997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某一时刻的对象快照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57612" y="356997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对象图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9138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3918585"/>
              <a:ext cx="5410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0080" y="40576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一次交互的消息时序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57612" y="405765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4015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0080" y="454533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对象之间的消息组织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57612" y="454533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协作图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1967865"/>
              <a:ext cx="5410200" cy="29260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646170" y="1967865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4" name="c2-table-1"/>
          <p:cNvGrpSpPr/>
          <p:nvPr/>
        </p:nvGrpSpPr>
        <p:grpSpPr>
          <a:xfrm>
            <a:off x="6248400" y="1967865"/>
            <a:ext cx="5410200" cy="3192780"/>
            <a:chOff x="6248400" y="1967865"/>
            <a:chExt cx="5410200" cy="3192780"/>
          </a:xfrm>
        </p:grpSpPr>
        <p:sp>
          <p:nvSpPr>
            <p:cNvPr id="32" name="Rectangle 32"/>
            <p:cNvSpPr/>
            <p:nvPr/>
          </p:nvSpPr>
          <p:spPr>
            <a:xfrm>
              <a:off x="6248400" y="1967865"/>
              <a:ext cx="5410200" cy="48768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60845" y="210693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要表达什么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566910" y="21069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用哪种图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55080" y="259461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单个对象的状态变化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308658" y="2465070"/>
              <a:ext cx="3340418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405812" y="259461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29384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48400" y="2943225"/>
              <a:ext cx="5410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55080" y="308229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一个用例的处理流程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405812" y="308229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活动图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48400" y="3426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55080" y="356997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代码构件之间的依赖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405812" y="356997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构件图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48400" y="39138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48400" y="3918585"/>
              <a:ext cx="5410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55080" y="405765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软硬件的物理部署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405812" y="405765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配置图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44015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55080" y="467868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标准记号不够用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405812" y="4545330"/>
              <a:ext cx="2872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三种扩展机制：标记值、约束、构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造型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248400" y="1967865"/>
              <a:ext cx="5410200" cy="31927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8294370" y="1967865"/>
              <a:ext cx="9525" cy="31927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5" name="Rectangle 5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130" y="5991225"/>
              <a:ext cx="809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口诀：单个对象看状态图，多对象协作看交互图，流程分支看活动图，物理部署看配置图。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自测（一）：面向对象基本概念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4920615" cy="264033"/>
            <a:chOff x="526542" y="1545907"/>
            <a:chExt cx="4920615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先盖住答案作答，再逐条核对。题目来自源课件的随堂测验。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28812"/>
            <a:ext cx="5410200" cy="2000250"/>
            <a:chOff x="533400" y="1928812"/>
            <a:chExt cx="5410200" cy="200025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2000250"/>
            </a:xfrm>
            <a:prstGeom prst="roundRect">
              <a:avLst>
                <a:gd name="adj" fmla="val 66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0090" y="211550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9547" y="214836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3232" y="2459355"/>
              <a:ext cx="471830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Object technology is …？A 一组指导软件构造的原则 B 一种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寻求认可的新理论 C Grady Booch 发明的新语言 D 基于抽象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与模块化的原则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3232" y="3273742"/>
              <a:ext cx="473716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A。抽象、封装、多态等一组原则，加上支持它们的语言、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数据库与工具。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4098608"/>
            <a:ext cx="5410200" cy="1485900"/>
            <a:chOff x="533400" y="4098608"/>
            <a:chExt cx="5410200" cy="1485900"/>
          </a:xfrm>
        </p:grpSpPr>
        <p:sp>
          <p:nvSpPr>
            <p:cNvPr id="15" name="Rectangle 15"/>
            <p:cNvSpPr/>
            <p:nvPr/>
          </p:nvSpPr>
          <p:spPr>
            <a:xfrm>
              <a:off x="533400" y="4098608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0090" y="428529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9547" y="431815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3232" y="4630102"/>
              <a:ext cx="475773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The visible behavior of an object is modeled by its …？A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 B 职责 C 操作 D 方法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3232" y="5187315"/>
              <a:ext cx="44810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C。操作是对外可见的行为声明，方法是它的实现。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248400" y="1928812"/>
            <a:ext cx="5410200" cy="1743075"/>
            <a:chOff x="6248400" y="1928812"/>
            <a:chExt cx="5410200" cy="1743075"/>
          </a:xfrm>
        </p:grpSpPr>
        <p:sp>
          <p:nvSpPr>
            <p:cNvPr id="21" name="Rectangle 21"/>
            <p:cNvSpPr/>
            <p:nvPr/>
          </p:nvSpPr>
          <p:spPr>
            <a:xfrm>
              <a:off x="6248400" y="1928812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35090" y="211550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24547" y="214836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28232" y="2459355"/>
              <a:ext cx="4797600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The state of an object …？A 由一个 state 属性定义 B 通常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不随时间改变 C 由对象的属性和关系定义 D 是对象存在的唯一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28232" y="3273742"/>
              <a:ext cx="41175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C。状态是属性值及其与其他对象关系的抽象。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248400" y="3841432"/>
            <a:ext cx="5410200" cy="1743075"/>
            <a:chOff x="6248400" y="3841432"/>
            <a:chExt cx="5410200" cy="1743075"/>
          </a:xfrm>
        </p:grpSpPr>
        <p:sp>
          <p:nvSpPr>
            <p:cNvPr id="27" name="Rectangle 27"/>
            <p:cNvSpPr/>
            <p:nvPr/>
          </p:nvSpPr>
          <p:spPr>
            <a:xfrm>
              <a:off x="6248400" y="3841432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35090" y="402812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24547" y="406098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28232" y="4372928"/>
              <a:ext cx="4638580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Encapsulation …？A 允许直接操作被封装的东西 B 常被称为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信息隐藏 C 导致高昂的维护开销 D 使实现期的改动影响客户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28232" y="4930140"/>
              <a:ext cx="466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B。封装即信息隐藏，效果是让实现改动不影响客户。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33" name="Rectangle 33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6028373"/>
              <a:ext cx="50296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2 题最容易错，别把“状态”理解成某个名叫 state 的字段。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自测（二）：类、多态与模块化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840230"/>
            <a:chOff x="533400" y="1524000"/>
            <a:chExt cx="5410200" cy="18402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84023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59556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class …？A 是对象的一次封装 B 表示对象的层次结构 C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是对象的一个实例 D 是对象的抽象定义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480250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D。类是对一组同类对象的抽象定义；反过来实例才是类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的对象。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544252"/>
            <a:ext cx="5410200" cy="2111692"/>
            <a:chOff x="533400" y="3544252"/>
            <a:chExt cx="5410200" cy="2111692"/>
          </a:xfrm>
        </p:grpSpPr>
        <p:sp>
          <p:nvSpPr>
            <p:cNvPr id="13" name="Rectangle 13"/>
            <p:cNvSpPr/>
            <p:nvPr/>
          </p:nvSpPr>
          <p:spPr>
            <a:xfrm>
              <a:off x="533400" y="3544252"/>
              <a:ext cx="5410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1520" y="374237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0468" y="3776662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4281" y="4102894"/>
              <a:ext cx="4294397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What phrase best represents a generalization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relationship？A is a part of B is a kind of C is a</a:t>
              </a:r>
              <a:br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replica of D is an inheritance of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4963954"/>
              <a:ext cx="465823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B。泛化读作“是一种”；“是一部分”对应的是聚合或组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840230"/>
            <a:chOff x="6248400" y="1524000"/>
            <a:chExt cx="5410200" cy="1840230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84023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46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35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39281" y="2082641"/>
              <a:ext cx="469520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Polymorphism can be described as？A 把多种不同实现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隐藏在一个接口后面 B 继承 C 信息放置 D 泛化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39281" y="2672239"/>
              <a:ext cx="480250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A。同一个接口、同一条消息，不同的类各自给出自己的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544252"/>
            <a:ext cx="5410200" cy="2111692"/>
            <a:chOff x="6248400" y="3544252"/>
            <a:chExt cx="5410200" cy="2111692"/>
          </a:xfrm>
        </p:grpSpPr>
        <p:sp>
          <p:nvSpPr>
            <p:cNvPr id="25" name="Rectangle 25"/>
            <p:cNvSpPr/>
            <p:nvPr/>
          </p:nvSpPr>
          <p:spPr>
            <a:xfrm>
              <a:off x="6248400" y="3544252"/>
              <a:ext cx="5410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6520" y="374237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35468" y="3776662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9281" y="4102894"/>
              <a:ext cx="4757871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What happens when you incorporate modularity into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your plan？A 把复杂的东西拆成可管理的小块 B 建成互相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通信的模块 C 系统大到无法理解 D 各部分无法独立开发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9281" y="4963954"/>
              <a:ext cx="462216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A。模块化的直接收益就是把复杂问题拆成可管理的部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分。</a:t>
              </a:r>
            </a:p>
          </p:txBody>
        </p:sp>
      </p:grpSp>
      <p:grpSp>
        <p:nvGrpSpPr>
          <p:cNvPr id="36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1" name="Rectangle 31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511" y="6011704"/>
              <a:ext cx="63418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重载与多态都是“同名不同实现”，区别在于前者编译期定，后者运行期定。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620821" cy="909257"/>
            <a:chOff x="520446" y="342900"/>
            <a:chExt cx="462082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6208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自测（三）：建模原则与 UML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568768"/>
            <a:chOff x="533400" y="1524000"/>
            <a:chExt cx="5410200" cy="156876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568768"/>
            </a:xfrm>
            <a:prstGeom prst="roundRect">
              <a:avLst>
                <a:gd name="adj" fmla="val 85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65282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model …？A 团队都懂业务时就不需要 B 必须既有结构又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有行为 C 是对现实的简化 D 是为了做详尽计划找的借口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42510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C。A model is a simplification of reality。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272790"/>
            <a:ext cx="5410200" cy="2111692"/>
            <a:chOff x="533400" y="3272790"/>
            <a:chExt cx="5410200" cy="2111692"/>
          </a:xfrm>
        </p:grpSpPr>
        <p:sp>
          <p:nvSpPr>
            <p:cNvPr id="13" name="Rectangle 13"/>
            <p:cNvSpPr/>
            <p:nvPr/>
          </p:nvSpPr>
          <p:spPr>
            <a:xfrm>
              <a:off x="533400" y="3272790"/>
              <a:ext cx="5410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1520" y="34709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0468" y="35052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4281" y="3831431"/>
              <a:ext cx="459736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The best models are connected to …？A JavaScript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 B 现实 C C++ D 与面向对象开发者相关的问题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4421029"/>
              <a:ext cx="480250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B。第三条建模原则：最好的模型与现实相连，可以简化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但不能丢掉潜在的致命特性。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568768"/>
            <a:chOff x="6248400" y="1524000"/>
            <a:chExt cx="5410200" cy="1568768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568768"/>
            </a:xfrm>
            <a:prstGeom prst="roundRect">
              <a:avLst>
                <a:gd name="adj" fmla="val 85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46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35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39281" y="2082641"/>
              <a:ext cx="476508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Why do we model？A 帮助可视化系统 B 给出构造系统的模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板 C 记录我们的决定 D 以上全部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39281" y="2672239"/>
              <a:ext cx="49045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D。四个目的：可视化、规约、构造模板、记录决定。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272790"/>
            <a:ext cx="5410200" cy="2111692"/>
            <a:chOff x="6248400" y="3272790"/>
            <a:chExt cx="5410200" cy="2111692"/>
          </a:xfrm>
        </p:grpSpPr>
        <p:sp>
          <p:nvSpPr>
            <p:cNvPr id="25" name="Rectangle 25"/>
            <p:cNvSpPr/>
            <p:nvPr/>
          </p:nvSpPr>
          <p:spPr>
            <a:xfrm>
              <a:off x="6248400" y="3272790"/>
              <a:ext cx="5410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6520" y="34709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35468" y="35052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9281" y="3831431"/>
              <a:ext cx="455453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Which process characteristic is not essential to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working with the UML？A 迭代与增量 B 用例驱动 C 有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弹性的 D 以架构为中心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9281" y="4692491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C。最能发挥 UML 的过程有三条特征：用例驱动、以架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构为中心、迭代与增量。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1" name="Rectangle 31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511" y="6011704"/>
              <a:ext cx="595956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建模四原则按“选什么模型、建多细、连不连现实、建几个”的顺序记。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自测（四）：图与关系的选用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651635"/>
            <a:chOff x="533400" y="1524000"/>
            <a:chExt cx="5410200" cy="16516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71582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Which of the following would you use to organize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elements into groups？A 包 B 类 C 封装 D 泛化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731770"/>
              <a:ext cx="46699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A。包（Package）是 UML 中用于组织的要素。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366135"/>
            <a:ext cx="5410200" cy="2223135"/>
            <a:chOff x="533400" y="3366135"/>
            <a:chExt cx="5410200" cy="2223135"/>
          </a:xfrm>
        </p:grpSpPr>
        <p:sp>
          <p:nvSpPr>
            <p:cNvPr id="13" name="Rectangle 13"/>
            <p:cNvSpPr/>
            <p:nvPr/>
          </p:nvSpPr>
          <p:spPr>
            <a:xfrm>
              <a:off x="533400" y="3366135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35756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36114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3952875"/>
              <a:ext cx="464629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“借书”用例不办罚款也能完整执行，“改员工资料”必须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先找到员工。这两处各该用哪种关系？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4573905"/>
              <a:ext cx="4653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罚款对借还书用 《extend》，找员工对改资料用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《include》。判据是去掉它以后基用例是否仍然完整。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937385"/>
            <a:chOff x="6248400" y="1524000"/>
            <a:chExt cx="5410200" cy="193738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472678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视图是体系结构的“切片”。哪个视图关注结构性问题？A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用例视图 B 进程视图 C 实现视图 D 逻辑视图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731770"/>
              <a:ext cx="4692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D。逻辑视图用类图和对象图描述问题及解决方案的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词汇，关注的是结构。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651885"/>
            <a:ext cx="5410200" cy="1937385"/>
            <a:chOff x="6248400" y="3651885"/>
            <a:chExt cx="5410200" cy="1937385"/>
          </a:xfrm>
        </p:grpSpPr>
        <p:sp>
          <p:nvSpPr>
            <p:cNvPr id="25" name="Rectangle 25"/>
            <p:cNvSpPr/>
            <p:nvPr/>
          </p:nvSpPr>
          <p:spPr>
            <a:xfrm>
              <a:off x="6248400" y="365188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4238625"/>
              <a:ext cx="472678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要表达“一个对象一生会经历哪些状态”，以及“一次交互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中多个对象按什么顺序发消息”，分别画哪种图？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85965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前者画状态图（刻画单个对象），后者画顺序图或协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作图（刻画多个对象的协作）。</a:t>
              </a:r>
            </a:p>
          </p:txBody>
        </p:sp>
      </p:grpSp>
      <p:grpSp>
        <p:nvGrpSpPr>
          <p:cNvPr id="3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1" name="Rectangle 3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130" y="5991225"/>
              <a:ext cx="64467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 include 还是 extend 只看一条：去掉它以后基用例是否仍然完整。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第9章 面向对象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bullets-1"/>
          <p:cNvGrpSpPr/>
          <p:nvPr/>
        </p:nvGrpSpPr>
        <p:grpSpPr>
          <a:xfrm>
            <a:off x="533400" y="1534478"/>
            <a:ext cx="5037849" cy="1818513"/>
            <a:chOff x="533400" y="1534478"/>
            <a:chExt cx="5037849" cy="1818513"/>
          </a:xfrm>
        </p:grpSpPr>
        <p:sp>
          <p:nvSpPr>
            <p:cNvPr id="7" name="Ellipse 7"/>
            <p:cNvSpPr/>
            <p:nvPr/>
          </p:nvSpPr>
          <p:spPr>
            <a:xfrm>
              <a:off x="533400" y="153447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89078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4197" y="1545907"/>
              <a:ext cx="46661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 = 对象 + 类 + 继承 + 消息通信，四要素缺一不可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184308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9078" y="188147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4197" y="1854518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六条优点都可回溯到“对象是数据与操作的自含单元”这一条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15169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9078" y="219008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4197" y="216312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封装靠三条件：清晰边界、确定接口、受保护的实现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460307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9078" y="249869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4197" y="2471738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重载在编译期按签名选，多态在运行期按对象实际类型选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276891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9078" y="280730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4197" y="2780348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建模四原则决定建什么模型、建多细、建几个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3077527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89078" y="311591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4197" y="3088958"/>
              <a:ext cx="45967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= 4 种要素 + 4 种关系 + 9 种图，外加 3 种扩展机制</a:t>
              </a:r>
            </a:p>
          </p:txBody>
        </p:sp>
      </p:grpSp>
      <p:grpSp>
        <p:nvGrpSpPr>
          <p:cNvPr id="31" name="c1-callout-2"/>
          <p:cNvGrpSpPr/>
          <p:nvPr/>
        </p:nvGrpSpPr>
        <p:grpSpPr>
          <a:xfrm>
            <a:off x="533400" y="3469958"/>
            <a:ext cx="5410200" cy="729615"/>
            <a:chOff x="533400" y="3469958"/>
            <a:chExt cx="5410200" cy="729615"/>
          </a:xfrm>
        </p:grpSpPr>
        <p:sp>
          <p:nvSpPr>
            <p:cNvPr id="26" name="Rectangle 26"/>
            <p:cNvSpPr/>
            <p:nvPr/>
          </p:nvSpPr>
          <p:spPr>
            <a:xfrm>
              <a:off x="533400" y="3469958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3734755"/>
              <a:ext cx="200023" cy="200023"/>
              <a:chOff x="738188" y="3734755"/>
              <a:chExt cx="200023" cy="200023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373475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71538" y="38014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892" y="3616642"/>
              <a:ext cx="437711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六种类关系按强度排序：依赖 &lt; 关联 &lt; 聚合 &lt; 组合，泛化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和实现另成一类。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6248400" y="1524000"/>
            <a:ext cx="5410200" cy="3114675"/>
            <a:chOff x="6248400" y="1524000"/>
            <a:chExt cx="5410200" cy="3114675"/>
          </a:xfrm>
        </p:grpSpPr>
        <p:sp>
          <p:nvSpPr>
            <p:cNvPr id="32" name="Rectangle 32"/>
            <p:cNvSpPr/>
            <p:nvPr/>
          </p:nvSpPr>
          <p:spPr>
            <a:xfrm>
              <a:off x="6248400" y="1524000"/>
              <a:ext cx="5410200" cy="3114675"/>
            </a:xfrm>
            <a:prstGeom prst="roundRect">
              <a:avLst>
                <a:gd name="adj" fmla="val 42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57925" y="1657350"/>
              <a:ext cx="47625" cy="28479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73190" y="1710690"/>
              <a:ext cx="145446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35356" y="1743551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本讲更正的源课件错误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481762" y="211074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37782" y="2054542"/>
              <a:ext cx="445427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目录页“第十章内容概要”应为 </a:t>
              </a: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第九章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（源课件第 14、31、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58 页）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481762" y="26689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37782" y="2612708"/>
              <a:ext cx="44885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聚合页注的“物理包容”与组合定义冲突，物理包容是</a:t>
              </a: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组合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特征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481762" y="322611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37782" y="3169920"/>
              <a:ext cx="443712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拼写：Autority→Authority、amunt→amount、cteated→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created、Libratian→Librarian、tempatureSensor→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temperatureSensor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81762" y="40405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37782" y="3984308"/>
              <a:ext cx="427039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《extend》对比页 interest→</a:t>
              </a:r>
              <a:r>
                <a:rPr lang="en-US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interesting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，base used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cases→</a:t>
              </a:r>
              <a:r>
                <a:rPr lang="en-US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base use cases</a:t>
              </a:r>
            </a:p>
          </p:txBody>
        </p:sp>
      </p:grpSp>
      <p:grpSp>
        <p:nvGrpSpPr>
          <p:cNvPr id="51" name="c2-callout-2"/>
          <p:cNvGrpSpPr/>
          <p:nvPr/>
        </p:nvGrpSpPr>
        <p:grpSpPr>
          <a:xfrm>
            <a:off x="6248400" y="4809172"/>
            <a:ext cx="5410200" cy="729615"/>
            <a:chOff x="6248400" y="4809172"/>
            <a:chExt cx="5410200" cy="729615"/>
          </a:xfrm>
        </p:grpSpPr>
        <p:sp>
          <p:nvSpPr>
            <p:cNvPr id="45" name="Rectangle 45"/>
            <p:cNvSpPr/>
            <p:nvPr/>
          </p:nvSpPr>
          <p:spPr>
            <a:xfrm>
              <a:off x="6248400" y="4809172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453188" y="5073968"/>
              <a:ext cx="200026" cy="200025"/>
              <a:chOff x="6453188" y="5073968"/>
              <a:chExt cx="200026" cy="20002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453188" y="507396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492926" y="511841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527642" y="522954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755892" y="4954905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易混点：聚合是共享包容，组合是独占包容且部分不能独立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存在。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2" name="Rectangle 52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892" y="6028373"/>
              <a:ext cx="6556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下一章把这套记号用到面向对象分析与设计上，本章的九种图是那里的基本工具。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第9章 面向对象方法学引论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e_ch09">
  <a:themeElements>
    <a:clrScheme name="se_ch09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_ch09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e_ch09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2026-09-19T04:22:37Z</dcterms:created>
  <dcterms:modified xsi:type="dcterms:W3CDTF">2026-09-19T04:22:37Z</dcterms:modified>
  <cp:category/>
  <cp:contentStatus/>
</cp:coreProperties>
</file>