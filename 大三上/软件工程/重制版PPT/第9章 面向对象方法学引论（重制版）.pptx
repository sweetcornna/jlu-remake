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ch0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ch0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a7946326dd3ded0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35703e22d1fdb16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2b5cf20a6b41350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第九章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面向对象方法学引论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553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从对象、类、继承到 UML 九种图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面向对象方法学的优点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对象与类的基本概念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56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建模原则与 UML 词汇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用例图、类图与动态图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自学复习版｜据吉林大学《软件工程》第九章课件整理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面向对象方法学概述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四要素定义、六条优点、喷泉模型式的开发过程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面向对象的概念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对象、类、消息、封装、继承、多态、重载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面向对象建模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模型是什么、为什么建模、建模的四条原则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4350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与用例图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506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UML 词汇、九种图、用例图与用例规约的写法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类图与对象图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关联、聚合、组合、泛化、依赖、细化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动态图与扩展机制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811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顺序图、协作图、状态图、活动图、构件图、配置图、5 个视图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421505"/>
            <a:chOff x="7114222" y="1524000"/>
            <a:chExt cx="4544378" cy="442150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21505"/>
            </a:xfrm>
            <a:prstGeom prst="roundRect">
              <a:avLst>
                <a:gd name="adj" fmla="val 3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548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 Coad 与 Yourdon 的面向对象定义，并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解释四个要素各自解决什么问题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区分封装、继承、多态、重载，并能各举一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个代码级的例子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说出建模的四条原则，判断一个项目该建到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什么精度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画出用例图并按标准模板写出含 If / For /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的用例规约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画出类图并正确使用关联、聚合、组合、泛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化、依赖、细化六种关系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52787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52158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为一个对象画出状态图，为一次交互画出顺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序图并改写成协作图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398264" cy="2997517"/>
            <a:chOff x="667512" y="1835468"/>
            <a:chExt cx="439826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面向对象方法学概述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先看清它和结构化方法差在哪里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面向对象的四要素定义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六条优点的成因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开发过程与喷泉模型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46608" cy="909257"/>
            <a:chOff x="520446" y="342900"/>
            <a:chExt cx="6146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面向对象方法学概述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46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 = 对象 + 类 + 继承 + 消息通信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6855" cy="278702"/>
            <a:chOff x="526161" y="1547336"/>
            <a:chExt cx="632685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68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Coad 和 Yourdon 用一个等式给出定义，四个要素缺一个都不算面向对象。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5842635" cy="1440180"/>
            <a:chOff x="533400" y="1941195"/>
            <a:chExt cx="5842635" cy="144018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144018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173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671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面向对象（Object-Oriented）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 = 对象 + 类 + 继承 + 通过消息进行通信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2806541"/>
              <a:ext cx="51320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一个面向对象程序的每一成份都应是对象，计算通过建立新对象和对象之间的通信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来完成。</a:t>
              </a:r>
            </a:p>
          </p:txBody>
        </p:sp>
      </p:grpSp>
      <p:grpSp>
        <p:nvGrpSpPr>
          <p:cNvPr id="30" name="c1-bullets-2"/>
          <p:cNvGrpSpPr/>
          <p:nvPr/>
        </p:nvGrpSpPr>
        <p:grpSpPr>
          <a:xfrm>
            <a:off x="526542" y="3579495"/>
            <a:ext cx="5616321" cy="2031873"/>
            <a:chOff x="526542" y="3579495"/>
            <a:chExt cx="5616321" cy="2031873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35794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这个定义的四个要点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88715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9078" y="3925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197" y="3899535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客观世界由对象组成，任何事物都是对象，复杂对象由较简单的对象组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合而成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45579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9078" y="44941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197" y="4467225"/>
              <a:ext cx="5193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把所有对象划分成类（class），每个类定义一组数据和一组方法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76631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078" y="4805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197" y="4778692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按子类（派生类）与父类（基类）的关系把类组成层次结构，称为类等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533495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9078" y="53733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197" y="53473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对象彼此之间仅能通过传递消息互相联系</a:t>
              </a:r>
            </a:p>
          </p:txBody>
        </p:sp>
      </p:grpSp>
      <p:grpSp>
        <p:nvGrpSpPr>
          <p:cNvPr id="57" name="c2-tree-1"/>
          <p:cNvGrpSpPr/>
          <p:nvPr/>
        </p:nvGrpSpPr>
        <p:grpSpPr>
          <a:xfrm>
            <a:off x="6680835" y="2158365"/>
            <a:ext cx="4977765" cy="2687003"/>
            <a:chOff x="6680835" y="2158365"/>
            <a:chExt cx="4977765" cy="2687003"/>
          </a:xfrm>
        </p:grpSpPr>
        <p:sp>
          <p:nvSpPr>
            <p:cNvPr id="31" name="Freeform 31"/>
            <p:cNvSpPr/>
            <p:nvPr/>
          </p:nvSpPr>
          <p:spPr>
            <a:xfrm>
              <a:off x="9196388" y="233172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196388" y="311181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196388" y="389191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196388" y="467201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871460" y="2331720"/>
              <a:ext cx="419100" cy="1169670"/>
            </a:xfrm>
            <a:custGeom>
              <a:avLst/>
              <a:gdLst/>
              <a:ahLst/>
              <a:cxnLst/>
              <a:rect l="l" t="t" r="r" b="b"/>
              <a:pathLst>
                <a:path w="419100" h="1169670">
                  <a:moveTo>
                    <a:pt x="0" y="1169670"/>
                  </a:moveTo>
                  <a:lnTo>
                    <a:pt x="209550" y="11696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871460" y="3111818"/>
              <a:ext cx="419100" cy="389573"/>
            </a:xfrm>
            <a:custGeom>
              <a:avLst/>
              <a:gdLst/>
              <a:ahLst/>
              <a:cxnLst/>
              <a:rect l="l" t="t" r="r" b="b"/>
              <a:pathLst>
                <a:path w="419100" h="389573">
                  <a:moveTo>
                    <a:pt x="0" y="389573"/>
                  </a:moveTo>
                  <a:lnTo>
                    <a:pt x="209550" y="38957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871460" y="3501390"/>
              <a:ext cx="419100" cy="390525"/>
            </a:xfrm>
            <a:custGeom>
              <a:avLst/>
              <a:gdLst/>
              <a:ahLst/>
              <a:cxnLst/>
              <a:rect l="l" t="t" r="r" b="b"/>
              <a:pathLst>
                <a:path w="419100" h="390525">
                  <a:moveTo>
                    <a:pt x="0" y="0"/>
                  </a:moveTo>
                  <a:lnTo>
                    <a:pt x="209550" y="0"/>
                  </a:lnTo>
                  <a:lnTo>
                    <a:pt x="209550" y="390525"/>
                  </a:lnTo>
                  <a:lnTo>
                    <a:pt x="419100" y="3905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71460" y="3501390"/>
              <a:ext cx="419100" cy="1170622"/>
            </a:xfrm>
            <a:custGeom>
              <a:avLst/>
              <a:gdLst/>
              <a:ahLst/>
              <a:cxnLst/>
              <a:rect l="l" t="t" r="r" b="b"/>
              <a:pathLst>
                <a:path w="419100" h="1170622">
                  <a:moveTo>
                    <a:pt x="0" y="0"/>
                  </a:moveTo>
                  <a:lnTo>
                    <a:pt x="209550" y="0"/>
                  </a:lnTo>
                  <a:lnTo>
                    <a:pt x="209550" y="1170622"/>
                  </a:lnTo>
                  <a:lnTo>
                    <a:pt x="419100" y="117062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15488" y="2158365"/>
              <a:ext cx="20431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290560" y="2158365"/>
              <a:ext cx="905828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15488" y="2938462"/>
              <a:ext cx="20431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290560" y="2938462"/>
              <a:ext cx="905828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615488" y="3718560"/>
              <a:ext cx="20431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90560" y="3718560"/>
              <a:ext cx="905828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15488" y="4498658"/>
              <a:ext cx="204311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290560" y="4498658"/>
              <a:ext cx="905828" cy="346710"/>
            </a:xfrm>
            <a:prstGeom prst="roundRect">
              <a:avLst>
                <a:gd name="adj" fmla="val 27473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0835" y="3328035"/>
              <a:ext cx="1189672" cy="346710"/>
            </a:xfrm>
            <a:prstGeom prst="roundRect">
              <a:avLst>
                <a:gd name="adj" fmla="val 2747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05022" y="225313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数据与操作的统一体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80095" y="22531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05022" y="303323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同类对象的共同描述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80095" y="30332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05022" y="38133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类等级中共享性质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80095" y="38133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05022" y="45934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对象间唯一的联系方式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80095" y="45934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70370" y="34228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面向对象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6029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只用对象不用类，或只用类不用继承，都只是“基于对象”，不是面向对象。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面向对象方法学概述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结构化方法以算法为核心，面向对象方法以对象为核心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56359" cy="308039"/>
            <a:chOff x="525399" y="1550194"/>
            <a:chExt cx="705635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563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两种方法学对“系统由什么构成”的回答不同，后面的一切差别都由此而来。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67865"/>
            <a:ext cx="11125200" cy="2692718"/>
            <a:chOff x="533400" y="1967865"/>
            <a:chExt cx="11125200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79130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2022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结构化方法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18740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面向对象方法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分解系统的依据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61626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功能（做什么）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2586" y="255127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问题域中的实体（是什么）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数据与操作的关系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61626" y="300085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分离，数据在模块之外流动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2586" y="30008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封装在一起构成对象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494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解空间与问题空间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61626" y="344947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结构不一致，需要人脑翻译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2586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结构一致，可直接对应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8981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需求变化的影响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61626" y="38981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功能变则整体结构改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34288" y="3771900"/>
              <a:ext cx="401478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32586" y="38981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实体稳定则结构稳定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3467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重用的单位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61626" y="43467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标准函数库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34288" y="4221480"/>
              <a:ext cx="401478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32586" y="43467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类与对象，可实例化、可继承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74904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4851082"/>
            <a:ext cx="11125200" cy="1511618"/>
            <a:chOff x="533400" y="4851082"/>
            <a:chExt cx="11125200" cy="1511618"/>
          </a:xfrm>
        </p:grpSpPr>
        <p:sp>
          <p:nvSpPr>
            <p:cNvPr id="40" name="Rectangle 40"/>
            <p:cNvSpPr/>
            <p:nvPr/>
          </p:nvSpPr>
          <p:spPr>
            <a:xfrm>
              <a:off x="533400" y="4851082"/>
              <a:ext cx="11125200" cy="1511618"/>
            </a:xfrm>
            <a:prstGeom prst="roundRect">
              <a:avLst>
                <a:gd name="adj" fmla="val 756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506403"/>
              <a:ext cx="200026" cy="200025"/>
              <a:chOff x="738188" y="5506403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5064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5508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56619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501640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标准函数缺乏柔性：即使是功能内聚的模块也必须运行在特定的数据结构上，不是自含和独立的。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面向对象方法学概述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优点一：与人类习惯的思维方法一致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880860" cy="293370"/>
            <a:chOff x="525780" y="1548765"/>
            <a:chExt cx="68808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对象是对现实世界实体的抽象，因此解空间的结构可以和问题空间保持一致。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54530"/>
            <a:ext cx="5410200" cy="1268730"/>
            <a:chOff x="533400" y="1954530"/>
            <a:chExt cx="5410200" cy="126873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1058" y="218694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传统方法的困难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19681" y="218741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解空间与问题空间不一致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传统技术忽略了数据和操作之间的内在联系，软件结构与问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题结构对不上，读代码的人要在脑子里做一次翻译。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403282"/>
            <a:ext cx="5410200" cy="1249680"/>
            <a:chOff x="533400" y="3403282"/>
            <a:chExt cx="5410200" cy="1249680"/>
          </a:xfrm>
        </p:grpSpPr>
        <p:sp>
          <p:nvSpPr>
            <p:cNvPr id="16" name="Rectangle 16"/>
            <p:cNvSpPr/>
            <p:nvPr/>
          </p:nvSpPr>
          <p:spPr>
            <a:xfrm>
              <a:off x="533400" y="3403282"/>
              <a:ext cx="5410200" cy="1249680"/>
            </a:xfrm>
            <a:prstGeom prst="roundRect">
              <a:avLst>
                <a:gd name="adj" fmla="val 10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536632"/>
              <a:ext cx="47625" cy="9829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381" y="362569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面向对象怎么解决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396097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以对象为核心，对象是数据和操作的统一体，是对现实世界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实体的正确抽象，系统结构直接照搬问题结构。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832985"/>
            <a:ext cx="5410200" cy="1268730"/>
            <a:chOff x="533400" y="4832985"/>
            <a:chExt cx="5410200" cy="1268730"/>
          </a:xfrm>
        </p:grpSpPr>
        <p:sp>
          <p:nvSpPr>
            <p:cNvPr id="21" name="Rectangle 21"/>
            <p:cNvSpPr/>
            <p:nvPr/>
          </p:nvSpPr>
          <p:spPr>
            <a:xfrm>
              <a:off x="533400" y="4832985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966335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50311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1060" y="50653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2931" y="506682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图书馆借阅系统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381" y="540972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面向对象方法直接把图书、借阅者、借阅记录做成类。规则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改成“可续借两次”时，只改借阅记录类。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241161" y="1977866"/>
            <a:ext cx="5417439" cy="1795082"/>
            <a:chOff x="6241161" y="1977866"/>
            <a:chExt cx="5417439" cy="1795082"/>
          </a:xfrm>
        </p:grpSpPr>
        <p:sp>
          <p:nvSpPr>
            <p:cNvPr id="28" name="TextBox 28"/>
            <p:cNvSpPr txBox="1"/>
            <p:nvPr/>
          </p:nvSpPr>
          <p:spPr>
            <a:xfrm>
              <a:off x="6241161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抽象机制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0334" y="197786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用户可以沿用习惯的抽象思维工具来处理复杂问题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2812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1161" y="23941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归纳思维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0334" y="239410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对象分类过程支持从特殊到一般的归纳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697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1161" y="28103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演绎思维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40334" y="281035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类等级带来的继承支持从一般到特殊的演绎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1137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1161" y="32265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渐进深化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40334" y="3226594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先搭出抽象类构成的框架，认识深入后再派生出更具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体的类</a:t>
              </a:r>
            </a:p>
          </p:txBody>
        </p:sp>
      </p:grpSp>
      <p:grpSp>
        <p:nvGrpSpPr>
          <p:cNvPr id="60" name="c2-compare-2"/>
          <p:cNvGrpSpPr/>
          <p:nvPr/>
        </p:nvGrpSpPr>
        <p:grpSpPr>
          <a:xfrm>
            <a:off x="6248400" y="3897630"/>
            <a:ext cx="5410200" cy="2205038"/>
            <a:chOff x="6248400" y="3897630"/>
            <a:chExt cx="5410200" cy="2205038"/>
          </a:xfrm>
        </p:grpSpPr>
        <p:sp>
          <p:nvSpPr>
            <p:cNvPr id="40" name="Rectangle 40"/>
            <p:cNvSpPr/>
            <p:nvPr/>
          </p:nvSpPr>
          <p:spPr>
            <a:xfrm>
              <a:off x="6248400" y="3897630"/>
              <a:ext cx="2495550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03098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81" y="41190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归纳：特殊到一般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92240" y="45148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48831" y="445436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先看到圆、方、三角都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要画出来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92240" y="510444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8831" y="504396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抽出共同点，定义出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92240" y="56930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8831" y="563356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对应的是对象分类过程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163050" y="3897630"/>
              <a:ext cx="2495550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72575" y="403098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92031" y="41190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演绎：一般到特殊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406890" y="45148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63481" y="4454366"/>
              <a:ext cx="1559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先有抽象类 Shape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406890" y="483298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563481" y="4772501"/>
              <a:ext cx="14752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再派生出 Circle、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Square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406890" y="54216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63481" y="536209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对应的是类等级与继承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791575" y="483774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68046" y="493918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面向对象方法学概述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优点二到五：稳定、可重用、适合大型产品、易维护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四条优点都可以回溯到同一个原因，即对象把数据和操作封装成了自含的单元。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41195"/>
            <a:ext cx="11125200" cy="2028825"/>
            <a:chOff x="533400" y="1941195"/>
            <a:chExt cx="11125200" cy="20288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798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5333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直接原因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6562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35568" y="247126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以问题域中相对稳定的实体为中心构造系统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85648" y="247126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功能需求变化时改动局限在少数类内部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可重用性好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35568" y="287702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对象自含、封装、信息隐藏，独立性强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85648" y="287702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通过实例化和继承两种方式灵活重用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易开发大型软件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35568" y="328279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每个对象像一个微型程序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85648" y="3282791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大产品分解成一系列本质上相互独立的小产品，便于管理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可维护性好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5568" y="3688556"/>
              <a:ext cx="173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 + 封装 + 继承 + 多态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5648" y="36885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容易修改、容易理解、易于测试和调试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41195"/>
              <a:ext cx="11125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53079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80872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ompare-2"/>
          <p:cNvGrpSpPr/>
          <p:nvPr/>
        </p:nvGrpSpPr>
        <p:grpSpPr>
          <a:xfrm>
            <a:off x="533400" y="4145280"/>
            <a:ext cx="11125200" cy="1543050"/>
            <a:chOff x="533400" y="4145280"/>
            <a:chExt cx="11125200" cy="1543050"/>
          </a:xfrm>
        </p:grpSpPr>
        <p:sp>
          <p:nvSpPr>
            <p:cNvPr id="34" name="Rectangle 34"/>
            <p:cNvSpPr/>
            <p:nvPr/>
          </p:nvSpPr>
          <p:spPr>
            <a:xfrm>
              <a:off x="533400" y="4145280"/>
              <a:ext cx="535305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278630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7047" y="43605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传统重用：标准函数库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2478" y="47358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8497" y="467963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函数缺乏柔性，必须运行在约定好的数据结构上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2478" y="50387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497" y="498252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功能内聚的模块也不是自含和独立的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2478" y="53416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8497" y="5285423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换一种数据结构就得重写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05550" y="4145280"/>
              <a:ext cx="5353050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15075" y="4278630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29197" y="43605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面向对象重用：类与对象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44628" y="47358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0647" y="467963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对象是数据与操作的统一体，自含性强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44628" y="50387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0647" y="498252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封装和信息隐藏把内部实现与外界隔离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4628" y="53416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00647" y="5285423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实例化与继承两种方式都能重用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934075" y="475488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10546" y="485632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0" name="c1-callout-3"/>
          <p:cNvGrpSpPr/>
          <p:nvPr/>
        </p:nvGrpSpPr>
        <p:grpSpPr>
          <a:xfrm>
            <a:off x="533400" y="5863590"/>
            <a:ext cx="11125200" cy="499110"/>
            <a:chOff x="533400" y="5863590"/>
            <a:chExt cx="11125200" cy="499110"/>
          </a:xfrm>
        </p:grpSpPr>
        <p:sp>
          <p:nvSpPr>
            <p:cNvPr id="55" name="Rectangle 55"/>
            <p:cNvSpPr/>
            <p:nvPr/>
          </p:nvSpPr>
          <p:spPr>
            <a:xfrm>
              <a:off x="533400" y="5863590"/>
              <a:ext cx="11125200" cy="499110"/>
            </a:xfrm>
            <a:prstGeom prst="roundRect">
              <a:avLst>
                <a:gd name="adj" fmla="val 2290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3135"/>
              <a:ext cx="200023" cy="200023"/>
              <a:chOff x="738188" y="601313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31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798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18848"/>
              <a:ext cx="7137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重用的两条路：实例化用的是“同一个类的多个对象”，继承用的是“在已有类上加差异”。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面向对象方法学概述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面向对象开发过程：阶段界限模糊，可以反复迭代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02090" cy="293370"/>
            <a:chOff x="525780" y="1548765"/>
            <a:chExt cx="91020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对象同时连接了问题空间与求解空间，也连接了各个开发阶段，所以阶段之间不必像瀑布那样一刀切。</a:t>
              </a:r>
            </a:p>
          </p:txBody>
        </p:sp>
      </p:grpSp>
      <p:grpSp>
        <p:nvGrpSpPr>
          <p:cNvPr id="16" name="c1-bullets-1"/>
          <p:cNvGrpSpPr/>
          <p:nvPr/>
        </p:nvGrpSpPr>
        <p:grpSpPr>
          <a:xfrm>
            <a:off x="526161" y="1977866"/>
            <a:ext cx="4773778" cy="1547432"/>
            <a:chOff x="526161" y="1977866"/>
            <a:chExt cx="4773778" cy="1547432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面向对象开发的优势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020" y="23764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611" y="231695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易于表示含有大量交互的系统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1020" y="270605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611" y="264556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能用相同术语描述问题及其解决方案：对象连接了问题空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间和求解空间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1020" y="330708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611" y="3246596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开发各阶段使用同一套术语：对象连接了各个开发阶段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54742"/>
            <a:ext cx="4977765" cy="2006918"/>
            <a:chOff x="533400" y="3654742"/>
            <a:chExt cx="4977765" cy="2006918"/>
          </a:xfrm>
        </p:grpSpPr>
        <p:sp>
          <p:nvSpPr>
            <p:cNvPr id="17" name="Rectangle 17"/>
            <p:cNvSpPr/>
            <p:nvPr/>
          </p:nvSpPr>
          <p:spPr>
            <a:xfrm>
              <a:off x="533400" y="3654742"/>
              <a:ext cx="4977765" cy="2006918"/>
            </a:xfrm>
            <a:prstGeom prst="roundRect">
              <a:avLst>
                <a:gd name="adj" fmla="val 66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788092"/>
              <a:ext cx="47625" cy="17402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8585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5543" y="38942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76744" y="389810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面向对象不是生命周期模型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24957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面向对象是一种关于“问题及其解答该如何表述”的观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点，它可以配合瀑布、增量、螺旋等任何生命周期模型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使用。</a:t>
              </a:r>
            </a:p>
          </p:txBody>
        </p:sp>
      </p:grpSp>
      <p:grpSp>
        <p:nvGrpSpPr>
          <p:cNvPr id="66" name="c2-flow-1"/>
          <p:cNvGrpSpPr/>
          <p:nvPr/>
        </p:nvGrpSpPr>
        <p:grpSpPr>
          <a:xfrm>
            <a:off x="5810250" y="2050732"/>
            <a:ext cx="5644515" cy="3513773"/>
            <a:chOff x="5810250" y="2050732"/>
            <a:chExt cx="5644515" cy="3513773"/>
          </a:xfrm>
        </p:grpSpPr>
        <p:sp>
          <p:nvSpPr>
            <p:cNvPr id="24" name="Freeform 24"/>
            <p:cNvSpPr/>
            <p:nvPr/>
          </p:nvSpPr>
          <p:spPr>
            <a:xfrm>
              <a:off x="7276148" y="2475548"/>
              <a:ext cx="9525" cy="88583"/>
            </a:xfrm>
            <a:custGeom>
              <a:avLst/>
              <a:gdLst/>
              <a:ahLst/>
              <a:cxnLst/>
              <a:rect l="l" t="t" r="r" b="b"/>
              <a:pathLst>
                <a:path w="9525" h="88583">
                  <a:moveTo>
                    <a:pt x="0" y="0"/>
                  </a:moveTo>
                  <a:lnTo>
                    <a:pt x="0" y="885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223760" y="2564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276148" y="3093720"/>
              <a:ext cx="9525" cy="87630"/>
            </a:xfrm>
            <a:custGeom>
              <a:avLst/>
              <a:gdLst/>
              <a:ahLst/>
              <a:cxnLst/>
              <a:rect l="l" t="t" r="r" b="b"/>
              <a:pathLst>
                <a:path w="9525" h="87630">
                  <a:moveTo>
                    <a:pt x="0" y="0"/>
                  </a:moveTo>
                  <a:lnTo>
                    <a:pt x="0" y="87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223760" y="31813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276148" y="3711892"/>
              <a:ext cx="9525" cy="87630"/>
            </a:xfrm>
            <a:custGeom>
              <a:avLst/>
              <a:gdLst/>
              <a:ahLst/>
              <a:cxnLst/>
              <a:rect l="l" t="t" r="r" b="b"/>
              <a:pathLst>
                <a:path w="9525" h="87630">
                  <a:moveTo>
                    <a:pt x="0" y="0"/>
                  </a:moveTo>
                  <a:lnTo>
                    <a:pt x="0" y="87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223760" y="3799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276148" y="4329112"/>
              <a:ext cx="9525" cy="88583"/>
            </a:xfrm>
            <a:custGeom>
              <a:avLst/>
              <a:gdLst/>
              <a:ahLst/>
              <a:cxnLst/>
              <a:rect l="l" t="t" r="r" b="b"/>
              <a:pathLst>
                <a:path w="9525" h="88583">
                  <a:moveTo>
                    <a:pt x="0" y="0"/>
                  </a:moveTo>
                  <a:lnTo>
                    <a:pt x="0" y="885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223760" y="44176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276148" y="4947285"/>
              <a:ext cx="9525" cy="87630"/>
            </a:xfrm>
            <a:custGeom>
              <a:avLst/>
              <a:gdLst/>
              <a:ahLst/>
              <a:cxnLst/>
              <a:rect l="l" t="t" r="r" b="b"/>
              <a:pathLst>
                <a:path w="9525" h="87630">
                  <a:moveTo>
                    <a:pt x="0" y="0"/>
                  </a:moveTo>
                  <a:lnTo>
                    <a:pt x="0" y="87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223760" y="50349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810250" y="2263140"/>
              <a:ext cx="209550" cy="618172"/>
            </a:xfrm>
            <a:custGeom>
              <a:avLst/>
              <a:gdLst/>
              <a:ahLst/>
              <a:cxnLst/>
              <a:rect l="l" t="t" r="r" b="b"/>
              <a:pathLst>
                <a:path w="209550" h="618172">
                  <a:moveTo>
                    <a:pt x="209550" y="618172"/>
                  </a:moveTo>
                  <a:lnTo>
                    <a:pt x="0" y="618172"/>
                  </a:lnTo>
                  <a:lnTo>
                    <a:pt x="0" y="506730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915025" y="22107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2881312"/>
              <a:ext cx="209550" cy="741045"/>
            </a:xfrm>
            <a:custGeom>
              <a:avLst/>
              <a:gdLst/>
              <a:ahLst/>
              <a:cxnLst/>
              <a:rect l="l" t="t" r="r" b="b"/>
              <a:pathLst>
                <a:path w="209550" h="741045">
                  <a:moveTo>
                    <a:pt x="209550" y="618172"/>
                  </a:moveTo>
                  <a:lnTo>
                    <a:pt x="0" y="618172"/>
                  </a:lnTo>
                  <a:lnTo>
                    <a:pt x="0" y="741045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915025" y="2828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810250" y="4116705"/>
              <a:ext cx="209550" cy="728662"/>
            </a:xfrm>
            <a:custGeom>
              <a:avLst/>
              <a:gdLst/>
              <a:ahLst/>
              <a:cxnLst/>
              <a:rect l="l" t="t" r="r" b="b"/>
              <a:pathLst>
                <a:path w="209550" h="728662">
                  <a:moveTo>
                    <a:pt x="209550" y="618173"/>
                  </a:moveTo>
                  <a:lnTo>
                    <a:pt x="0" y="618173"/>
                  </a:lnTo>
                  <a:lnTo>
                    <a:pt x="0" y="728662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915025" y="40643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276148" y="3816668"/>
              <a:ext cx="2921317" cy="1323023"/>
            </a:xfrm>
            <a:custGeom>
              <a:avLst/>
              <a:gdLst/>
              <a:ahLst/>
              <a:cxnLst/>
              <a:rect l="l" t="t" r="r" b="b"/>
              <a:pathLst>
                <a:path w="2921317" h="1323023">
                  <a:moveTo>
                    <a:pt x="0" y="1323023"/>
                  </a:moveTo>
                  <a:lnTo>
                    <a:pt x="0" y="608648"/>
                  </a:lnTo>
                  <a:lnTo>
                    <a:pt x="2921317" y="608648"/>
                  </a:lnTo>
                  <a:lnTo>
                    <a:pt x="292131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10145078" y="37118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276148" y="3189922"/>
              <a:ext cx="2921317" cy="96203"/>
            </a:xfrm>
            <a:custGeom>
              <a:avLst/>
              <a:gdLst/>
              <a:ahLst/>
              <a:cxnLst/>
              <a:rect l="l" t="t" r="r" b="b"/>
              <a:pathLst>
                <a:path w="2921317" h="96203">
                  <a:moveTo>
                    <a:pt x="2921317" y="96203"/>
                  </a:moveTo>
                  <a:lnTo>
                    <a:pt x="2921317" y="0"/>
                  </a:lnTo>
                  <a:lnTo>
                    <a:pt x="0" y="0"/>
                  </a:lnTo>
                  <a:lnTo>
                    <a:pt x="0" y="8573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7223760" y="30937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19800" y="2050732"/>
              <a:ext cx="2512695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19800" y="2668905"/>
              <a:ext cx="251269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19800" y="3286125"/>
              <a:ext cx="251269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19800" y="3904298"/>
              <a:ext cx="251269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19800" y="4522470"/>
              <a:ext cx="251269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19800" y="5139690"/>
              <a:ext cx="2512695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42070" y="3286125"/>
              <a:ext cx="2512695" cy="424815"/>
            </a:xfrm>
            <a:prstGeom prst="roundRect">
              <a:avLst>
                <a:gd name="adj" fmla="val 1793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46964" y="21793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需求阶段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5420" y="279749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面向对象分析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5420" y="341566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46964" y="4032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编码阶段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66192" y="465105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集成和测试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46964" y="52682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运行状态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45193" y="341566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维护期进一步开发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589645" y="242506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31936" y="24517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反复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38825" y="315944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62066" y="31861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反复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589645" y="438912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631936" y="44157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556308" y="297370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90598" y="30003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再入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7" name="Rectangle 6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6004084"/>
              <a:ext cx="6427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源课件称这种相邻阶段大量重叠、可以回流的过程为喷泉模型（见第1章）。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面向对象的概念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七个术语，考试要求能默写定义并举例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对象与类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消息、方法与属性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封装、继承、多态与重载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对象是数据与操作封装在一起的统一体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应用领域中有明确边界和意义、又与待解问题有关的任何事物，都可以作为对象。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626418" cy="1930718"/>
            <a:chOff x="533400" y="1928812"/>
            <a:chExt cx="5626418" cy="19307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1295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对象（Object）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889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在应用领域中有意义的、与所要解决的问题有关系的任何事物都可以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作为对象。它既可以是具体物理实体的抽象，也可以是人为的概念，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或者任何有明确边界和意义的东西。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323707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对象由描述该对象属性的数据，以及可以对这些数据施加的所有操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作，封装在一起构成。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6923" y="4045744"/>
            <a:ext cx="2080717" cy="1429511"/>
            <a:chOff x="526923" y="4045744"/>
            <a:chExt cx="2080717" cy="1429511"/>
          </a:xfrm>
        </p:grpSpPr>
        <p:sp>
          <p:nvSpPr>
            <p:cNvPr id="17" name="TextBox 17"/>
            <p:cNvSpPr txBox="1"/>
            <p:nvPr/>
          </p:nvSpPr>
          <p:spPr>
            <a:xfrm>
              <a:off x="526923" y="404574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判断一样东西能不能当对象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37388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4096" y="43467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有明确的边界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466629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3340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4096" y="46401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有需要记住的状态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3400" y="495966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4096" y="493252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有可以施加的操作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3400" y="525303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4096" y="52258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与待解问题有关</a:t>
              </a:r>
            </a:p>
          </p:txBody>
        </p:sp>
      </p:grpSp>
      <p:grpSp>
        <p:nvGrpSpPr>
          <p:cNvPr id="39" name="c2-graph-1"/>
          <p:cNvGrpSpPr/>
          <p:nvPr/>
        </p:nvGrpSpPr>
        <p:grpSpPr>
          <a:xfrm>
            <a:off x="6733222" y="1965008"/>
            <a:ext cx="4183380" cy="2155983"/>
            <a:chOff x="6733222" y="1965008"/>
            <a:chExt cx="4183380" cy="2155983"/>
          </a:xfrm>
        </p:grpSpPr>
        <p:sp>
          <p:nvSpPr>
            <p:cNvPr id="27" name="Rectangle 27"/>
            <p:cNvSpPr/>
            <p:nvPr/>
          </p:nvSpPr>
          <p:spPr>
            <a:xfrm>
              <a:off x="8244840" y="1965008"/>
              <a:ext cx="2671762" cy="2024062"/>
            </a:xfrm>
            <a:prstGeom prst="roundRect">
              <a:avLst>
                <a:gd name="adj" fmla="val 470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55268" y="2287905"/>
              <a:ext cx="647700" cy="242888"/>
            </a:xfrm>
            <a:prstGeom prst="roundRect">
              <a:avLst>
                <a:gd name="adj" fmla="val 3921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55268" y="2855595"/>
              <a:ext cx="647700" cy="242888"/>
            </a:xfrm>
            <a:prstGeom prst="roundRect">
              <a:avLst>
                <a:gd name="adj" fmla="val 3921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55268" y="3424238"/>
              <a:ext cx="647700" cy="242888"/>
            </a:xfrm>
            <a:prstGeom prst="roundRect">
              <a:avLst>
                <a:gd name="adj" fmla="val 3921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9984105" y="2260282"/>
              <a:ext cx="647700" cy="647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91617" y="234410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1617" y="2911793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1617" y="347948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94622" y="251841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37099" y="3392805"/>
              <a:ext cx="1334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 1、2、3 的实现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33222" y="29117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90076" y="3959066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对象的形象表示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4277678"/>
            <a:ext cx="5193982" cy="1444942"/>
            <a:chOff x="6464618" y="4277678"/>
            <a:chExt cx="5193982" cy="1444942"/>
          </a:xfrm>
        </p:grpSpPr>
        <p:sp>
          <p:nvSpPr>
            <p:cNvPr id="40" name="Rectangle 40"/>
            <p:cNvSpPr/>
            <p:nvPr/>
          </p:nvSpPr>
          <p:spPr>
            <a:xfrm>
              <a:off x="6464618" y="4277678"/>
              <a:ext cx="5193982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4411028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3692" y="445865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0416" y="449151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25843" y="449913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借书证是不是一个对象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93218" y="486727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48666" y="4815364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数据：证号、持证人、已借数量；操作：借书()、还书()、查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余额()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93218" y="539591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48666" y="5343049"/>
              <a:ext cx="3993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外界只能发这三条消息，改不了“已借数量”这个状态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0" name="Rectangle 5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界面（操作名的集合）露在外面，状态和实现藏在里面，这就是对象的基本形状。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对象的三个定义和自动机模型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三个定义分别从程序设计、信息模拟、形式化三个角度描述同一件事。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923" y="1949291"/>
            <a:ext cx="5200459" cy="1717167"/>
            <a:chOff x="526923" y="1949291"/>
            <a:chExt cx="5200459" cy="171716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0818" y="1949291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对象是具有相同状态的一组操作的集合（从面向对象程序设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计角度）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0818" y="2563654"/>
              <a:ext cx="4239514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对象是对问题域中某个东西的抽象，这种抽象反映了系统保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存有关这个东西的信息或与它交互的能力，即对属性值和操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作的封装（从信息模拟角度）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417094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0818" y="3417094"/>
              <a:ext cx="2167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∷= (ID，MS，DS，MI)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780472"/>
            <a:ext cx="5193982" cy="1850708"/>
            <a:chOff x="533400" y="3780472"/>
            <a:chExt cx="5193982" cy="1850708"/>
          </a:xfrm>
        </p:grpSpPr>
        <p:sp>
          <p:nvSpPr>
            <p:cNvPr id="18" name="Rectangle 18"/>
            <p:cNvSpPr/>
            <p:nvPr/>
          </p:nvSpPr>
          <p:spPr>
            <a:xfrm>
              <a:off x="533400" y="3780472"/>
              <a:ext cx="5193982" cy="1850708"/>
            </a:xfrm>
            <a:prstGeom prst="roundRect">
              <a:avLst>
                <a:gd name="adj" fmla="val 720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7898" y="3982879"/>
              <a:ext cx="1889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定义3 中四个分量的含义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433673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9348" y="4283869"/>
              <a:ext cx="1718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ID：对象的标识或名字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3900" y="462153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9348" y="4568666"/>
              <a:ext cx="1800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MS：对象中的操作集合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3900" y="49063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9348" y="4853464"/>
              <a:ext cx="1591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DS：对象的数据结构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23900" y="519112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9348" y="5139214"/>
              <a:ext cx="3133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MI：对象受理的消息名集合，即对外接口</a:t>
              </a:r>
            </a:p>
          </p:txBody>
        </p:sp>
      </p:grpSp>
      <p:grpSp>
        <p:nvGrpSpPr>
          <p:cNvPr id="30" name="c2-text-1"/>
          <p:cNvGrpSpPr/>
          <p:nvPr/>
        </p:nvGrpSpPr>
        <p:grpSpPr>
          <a:xfrm>
            <a:off x="6026848" y="1945957"/>
            <a:ext cx="5344668" cy="412052"/>
            <a:chOff x="6026848" y="1945957"/>
            <a:chExt cx="5344668" cy="412052"/>
          </a:xfrm>
        </p:grpSpPr>
        <p:sp>
          <p:nvSpPr>
            <p:cNvPr id="29" name="TextBox 29"/>
            <p:cNvSpPr txBox="1"/>
            <p:nvPr/>
          </p:nvSpPr>
          <p:spPr>
            <a:xfrm>
              <a:off x="6026848" y="1945957"/>
              <a:ext cx="5344668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对象中的数据表示对象的状态。一个对象的状态只能由该对象自己的操作来改变，别的对象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想改变它，只能发消息。对象收到消息后按消息模式找出与之匹配的方法并执行。</a:t>
              </a:r>
            </a:p>
          </p:txBody>
        </p:sp>
      </p:grpSp>
      <p:grpSp>
        <p:nvGrpSpPr>
          <p:cNvPr id="43" name="c2-graph-2"/>
          <p:cNvGrpSpPr/>
          <p:nvPr/>
        </p:nvGrpSpPr>
        <p:grpSpPr>
          <a:xfrm>
            <a:off x="6173581" y="2533650"/>
            <a:ext cx="5444564" cy="1483519"/>
            <a:chOff x="6173581" y="2533650"/>
            <a:chExt cx="5444564" cy="1483519"/>
          </a:xfrm>
        </p:grpSpPr>
        <p:sp>
          <p:nvSpPr>
            <p:cNvPr id="31" name="Freeform 31"/>
            <p:cNvSpPr/>
            <p:nvPr/>
          </p:nvSpPr>
          <p:spPr>
            <a:xfrm>
              <a:off x="6916102" y="2894648"/>
              <a:ext cx="617220" cy="250508"/>
            </a:xfrm>
            <a:custGeom>
              <a:avLst/>
              <a:gdLst/>
              <a:ahLst/>
              <a:cxnLst/>
              <a:rect l="l" t="t" r="r" b="b"/>
              <a:pathLst>
                <a:path w="617220" h="250508">
                  <a:moveTo>
                    <a:pt x="0" y="0"/>
                  </a:moveTo>
                  <a:lnTo>
                    <a:pt x="617220" y="250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15225" y="3101340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80010"/>
                  </a:moveTo>
                  <a:lnTo>
                    <a:pt x="0" y="87630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068878" y="2934652"/>
              <a:ext cx="539115" cy="246697"/>
            </a:xfrm>
            <a:custGeom>
              <a:avLst/>
              <a:gdLst/>
              <a:ahLst/>
              <a:cxnLst/>
              <a:rect l="l" t="t" r="r" b="b"/>
              <a:pathLst>
                <a:path w="539115" h="246697">
                  <a:moveTo>
                    <a:pt x="0" y="246697"/>
                  </a:moveTo>
                  <a:lnTo>
                    <a:pt x="5391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587990" y="2890838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3810"/>
                  </a:moveTo>
                  <a:lnTo>
                    <a:pt x="40005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30478" y="2533650"/>
              <a:ext cx="2428875" cy="1295400"/>
            </a:xfrm>
            <a:prstGeom prst="roundRect">
              <a:avLst>
                <a:gd name="adj" fmla="val 73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559165" y="2608898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31582" y="2829878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29822" y="3274695"/>
              <a:ext cx="143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操作：f₁，f₂，…，fₙ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29822" y="3497580"/>
              <a:ext cx="143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转换：g₁，g₂，…，gₙ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73581" y="2829878"/>
              <a:ext cx="728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fᵢ，X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85595" y="2829878"/>
              <a:ext cx="932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fᵢ(X,S)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40748" y="3855244"/>
              <a:ext cx="14083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转换：新状态 S′ = gᵢ(X,S)</a:t>
              </a:r>
            </a:p>
          </p:txBody>
        </p:sp>
      </p:grpSp>
      <p:grpSp>
        <p:nvGrpSpPr>
          <p:cNvPr id="55" name="c2-card-3"/>
          <p:cNvGrpSpPr/>
          <p:nvPr/>
        </p:nvGrpSpPr>
        <p:grpSpPr>
          <a:xfrm>
            <a:off x="6032182" y="4235768"/>
            <a:ext cx="5626418" cy="1487805"/>
            <a:chOff x="6032182" y="4235768"/>
            <a:chExt cx="5626418" cy="1487805"/>
          </a:xfrm>
        </p:grpSpPr>
        <p:sp>
          <p:nvSpPr>
            <p:cNvPr id="44" name="Rectangle 44"/>
            <p:cNvSpPr/>
            <p:nvPr/>
          </p:nvSpPr>
          <p:spPr>
            <a:xfrm>
              <a:off x="6032182" y="4235768"/>
              <a:ext cx="5626418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4369118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1258" y="441674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7028" y="444960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2456" y="4456271"/>
              <a:ext cx="2062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用定义3 写一个计数器对象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60782" y="482536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16230" y="4773454"/>
              <a:ext cx="24343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= counter1，DS = {n : int}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60782" y="511016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6230" y="5058251"/>
              <a:ext cx="4846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 = {inc(), reset(), value()}，MI = {inc, reset, value}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60782" y="539591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16230" y="5343049"/>
              <a:ext cx="4565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 inc：输出 n+1，状态从 n 转到 n+1，即 S′ = gᵢ(X,S)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把对象看成自动机：收到消息就查表、执行、改状态、给回一个输出。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对象的五个特点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这五条既是对象的性质，也是面向对象方法能带来前面那些优点的直接原因。</a:t>
              </a:r>
            </a:p>
          </p:txBody>
        </p:sp>
      </p:grpSp>
      <p:grpSp>
        <p:nvGrpSpPr>
          <p:cNvPr id="23" name="c1-kv-1"/>
          <p:cNvGrpSpPr/>
          <p:nvPr/>
        </p:nvGrpSpPr>
        <p:grpSpPr>
          <a:xfrm>
            <a:off x="525780" y="1992630"/>
            <a:ext cx="4985385" cy="3181350"/>
            <a:chOff x="525780" y="1992630"/>
            <a:chExt cx="4985385" cy="318135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以数据为中心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18372" y="199263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操作是围绕对象自己的数据设计的，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不设无关的操作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对象是主动的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18372" y="271462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对象不是被调用的子程序，而是请求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它工作的服务提供者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66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43662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实现了数据封装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18372" y="34366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数据藏在边界内，外界只见接口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7566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876675"/>
              <a:ext cx="1348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本质上具有并行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18372" y="387667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各对象各自独立地处理自己收到的消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786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45986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模块独立性好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18372" y="4598670"/>
              <a:ext cx="30822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内聚来自“同一组数据”，耦合只剩消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815965" y="1967865"/>
            <a:ext cx="5842635" cy="1602105"/>
            <a:chOff x="5815965" y="1967865"/>
            <a:chExt cx="5842635" cy="1602105"/>
          </a:xfrm>
        </p:grpSpPr>
        <p:sp>
          <p:nvSpPr>
            <p:cNvPr id="24" name="Rectangle 24"/>
            <p:cNvSpPr/>
            <p:nvPr/>
          </p:nvSpPr>
          <p:spPr>
            <a:xfrm>
              <a:off x="5815965" y="1967865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25490" y="21012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63615" y="2177415"/>
              <a:ext cx="122682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31915" y="2213134"/>
              <a:ext cx="1090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怎么理解“主动”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5995" y="2554605"/>
              <a:ext cx="5177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传统的子程序是被动的：调用方准备好全部数据，子程序只负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责算。对象是主动的：调用方只说“做什么”，怎么做、用哪些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内部数据由对象自己决定。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5815965" y="3760470"/>
            <a:ext cx="5842635" cy="1602105"/>
            <a:chOff x="5815965" y="3760470"/>
            <a:chExt cx="5842635" cy="1602105"/>
          </a:xfrm>
        </p:grpSpPr>
        <p:sp>
          <p:nvSpPr>
            <p:cNvPr id="30" name="Rectangle 30"/>
            <p:cNvSpPr/>
            <p:nvPr/>
          </p:nvSpPr>
          <p:spPr>
            <a:xfrm>
              <a:off x="5815965" y="376047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389382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63615" y="3970020"/>
              <a:ext cx="122682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31915" y="4005739"/>
              <a:ext cx="1090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怎么理解“并行”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5995" y="434721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每个对象都有自己的状态和操作，逻辑上可以同时接收和处理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消息，天然适合映射到并发实现上。具体语言是否真的并行执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行是实现问题。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模块独立性好是可推导的结论：数据和操作在一起，内聚必高；只能发消息，耦合必低。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类、实例、消息、方法、属性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482694" cy="308039"/>
            <a:chOff x="525399" y="1550194"/>
            <a:chExt cx="448269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48269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五个术语是一组，配套记忆比单独背定义省力。</a:t>
              </a:r>
            </a:p>
          </p:txBody>
        </p:sp>
      </p:grpSp>
      <p:grpSp>
        <p:nvGrpSpPr>
          <p:cNvPr id="23" name="c1-kv-1"/>
          <p:cNvGrpSpPr/>
          <p:nvPr/>
        </p:nvGrpSpPr>
        <p:grpSpPr>
          <a:xfrm>
            <a:off x="525780" y="1992630"/>
            <a:ext cx="5417820" cy="3463290"/>
            <a:chOff x="525780" y="1992630"/>
            <a:chExt cx="5417820" cy="346329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810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类 class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32622" y="199263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对具有相同属性和行为的一组对象的描述，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定义一组数据和一组方法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84534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实例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instance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2622" y="27146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由某个类描述出来的一个具体对象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66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436620"/>
              <a:ext cx="12248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方法 method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32622" y="343662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对象所能执行的操作，即类中定义的服务的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实现代码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0386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158615"/>
              <a:ext cx="95535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属性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attribute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2622" y="415861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类中定义的数据，类的每个实例各有自己的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一份取值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7605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4880610"/>
              <a:ext cx="82534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消息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message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32622" y="488061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要求某个对象执行它的某个操作的一次请求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967865"/>
            <a:ext cx="5410200" cy="1720215"/>
            <a:chOff x="6248400" y="1967865"/>
            <a:chExt cx="5410200" cy="1720215"/>
          </a:xfrm>
        </p:grpSpPr>
        <p:sp>
          <p:nvSpPr>
            <p:cNvPr id="24" name="Rectangle 24"/>
            <p:cNvSpPr/>
            <p:nvPr/>
          </p:nvSpPr>
          <p:spPr>
            <a:xfrm>
              <a:off x="6248400" y="1967865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2101215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6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7078" y="22126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消息的三个组成部分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6050" y="256032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7899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7040" y="25736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接收消息的对象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6050" y="289560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7899" y="2937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290893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消息选择符，也称为消息名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6050" y="323088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7899" y="32731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97040" y="32442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零个或多个变元</a:t>
              </a:r>
            </a:p>
          </p:txBody>
        </p:sp>
      </p:grpSp>
      <p:grpSp>
        <p:nvGrpSpPr>
          <p:cNvPr id="42" name="c2-code-2"/>
          <p:cNvGrpSpPr/>
          <p:nvPr/>
        </p:nvGrpSpPr>
        <p:grpSpPr>
          <a:xfrm>
            <a:off x="6248400" y="3878580"/>
            <a:ext cx="5410200" cy="907732"/>
            <a:chOff x="6248400" y="3878580"/>
            <a:chExt cx="5410200" cy="907732"/>
          </a:xfrm>
        </p:grpSpPr>
        <p:sp>
          <p:nvSpPr>
            <p:cNvPr id="39" name="Rectangle 39"/>
            <p:cNvSpPr/>
            <p:nvPr/>
          </p:nvSpPr>
          <p:spPr>
            <a:xfrm>
              <a:off x="6248400" y="3878580"/>
              <a:ext cx="5410200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76797" y="403050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一条消息的三部分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76035" y="4292441"/>
              <a:ext cx="2088134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myCircle.setRadius(5.0);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^接收者   ^选择符  ^变元</a:t>
              </a:r>
            </a:p>
          </p:txBody>
        </p:sp>
      </p:grpSp>
      <p:grpSp>
        <p:nvGrpSpPr>
          <p:cNvPr id="49" name="c2-callout-3"/>
          <p:cNvGrpSpPr/>
          <p:nvPr/>
        </p:nvGrpSpPr>
        <p:grpSpPr>
          <a:xfrm>
            <a:off x="6248400" y="4976812"/>
            <a:ext cx="5410200" cy="782955"/>
            <a:chOff x="6248400" y="4976812"/>
            <a:chExt cx="5410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6248400" y="497681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41129" y="5264586"/>
              <a:ext cx="224134" cy="192560"/>
              <a:chOff x="6441129" y="5264586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553200" y="53349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41129" y="52645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53200" y="54127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512540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类是模板，实例是产品。属性写在类里，属性值存在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实例里。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封装：清晰的边界、确定的接口、受保护的实现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184290" cy="308039"/>
            <a:chOff x="525399" y="1550194"/>
            <a:chExt cx="61842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类封装了它的实例对象的属性与行为，把实现细节挡在边界之内。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67865"/>
            <a:ext cx="5842635" cy="1049655"/>
            <a:chOff x="533400" y="1967865"/>
            <a:chExt cx="5842635" cy="104965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22390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封装（Encapsulation）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类封装了它的实例对象的属性与行为，隐藏实现细节。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5780" y="3232785"/>
            <a:ext cx="5467350" cy="1908810"/>
            <a:chOff x="525780" y="3232785"/>
            <a:chExt cx="5467350" cy="190881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2327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对象具有封装性的三个条件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57378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249" y="36160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358711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有一个清晰的边界：所有私有数据和实现操作的代码都被封装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在这个边界内，从外面看不见，更不能直接访问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2043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249" y="42466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4390" y="421767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有确定的接口（即协议）：这些接口就是对象可以接受的消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息，只能通过向对象发送消息来使用它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83489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5249" y="48771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4390" y="48482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受保护的内部实现：实现细节的改动不影响外部使用者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273040"/>
            <a:ext cx="5842635" cy="782955"/>
            <a:chOff x="533400" y="5273040"/>
            <a:chExt cx="5842635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27304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564505"/>
              <a:ext cx="200026" cy="200025"/>
              <a:chOff x="738188" y="556450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5645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6089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7200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421630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封装常被叫作信息隐藏（information hiding），两者说的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是同一件事。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6680835" y="1967865"/>
            <a:ext cx="4977765" cy="3458052"/>
            <a:chOff x="6680835" y="1967865"/>
            <a:chExt cx="4977765" cy="3458052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0" t="7903" r="0" b="7903"/>
            <a:stretch>
              <a:fillRect/>
            </a:stretch>
          </p:blipFill>
          <p:spPr>
            <a:xfrm>
              <a:off x="6680835" y="1967865"/>
              <a:ext cx="4977765" cy="3143250"/>
            </a:xfrm>
            <a:prstGeom prst="roundRect">
              <a:avLst>
                <a:gd name="adj" fmla="val 4242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656259" y="520588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只留接口的机柜：能插线，够不着里面的齿轮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继承：子类自动共享基类中定义的数据和方法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22389" cy="308039"/>
            <a:chOff x="525399" y="1550194"/>
            <a:chExt cx="68223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把有异同的类按层次组织起来，下层的类直接获得上层类的性质和特征。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5410200" cy="2152650"/>
            <a:chOff x="533400" y="1967865"/>
            <a:chExt cx="5410200" cy="215265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2005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继承（Inheritance）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继承是指能够直接获得已有的性质和特征，而不必重复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定义它们。根据各类之间的异同点把它们组成层次结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构，位于下层的类继承上层中某个类的特点。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476149"/>
              <a:ext cx="47597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反方向看，继承也是一种从“特殊性”概念归纳出“一般性”概念的机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制。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5780" y="4334828"/>
            <a:ext cx="5035868" cy="1967864"/>
            <a:chOff x="525780" y="4334828"/>
            <a:chExt cx="5035868" cy="1967864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433482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使用继承的好处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720590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3908" y="4689158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相似的对象共享程序代码和数据结构，大大减少程序中的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冗余信息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5351145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3908" y="531971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易于修改软件，共同部分只改一处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3400" y="5695950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3908" y="566451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方便新应用系统的开发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3400" y="6040755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3908" y="600932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利于软件重用</a:t>
              </a:r>
            </a:p>
          </p:txBody>
        </p:sp>
      </p:grpSp>
      <p:grpSp>
        <p:nvGrpSpPr>
          <p:cNvPr id="50" name="c2-uml-1"/>
          <p:cNvGrpSpPr/>
          <p:nvPr/>
        </p:nvGrpSpPr>
        <p:grpSpPr>
          <a:xfrm>
            <a:off x="7029450" y="2238375"/>
            <a:ext cx="3848100" cy="2412683"/>
            <a:chOff x="7029450" y="2238375"/>
            <a:chExt cx="3848100" cy="2412683"/>
          </a:xfrm>
        </p:grpSpPr>
        <p:sp>
          <p:nvSpPr>
            <p:cNvPr id="27" name="Freeform 27"/>
            <p:cNvSpPr/>
            <p:nvPr/>
          </p:nvSpPr>
          <p:spPr>
            <a:xfrm>
              <a:off x="7600950" y="3393758"/>
              <a:ext cx="1257300" cy="605790"/>
            </a:xfrm>
            <a:custGeom>
              <a:avLst/>
              <a:gdLst/>
              <a:ahLst/>
              <a:cxnLst/>
              <a:rect l="l" t="t" r="r" b="b"/>
              <a:pathLst>
                <a:path w="1257300" h="605790">
                  <a:moveTo>
                    <a:pt x="0" y="605790"/>
                  </a:moveTo>
                  <a:lnTo>
                    <a:pt x="0" y="240030"/>
                  </a:lnTo>
                  <a:lnTo>
                    <a:pt x="1257300" y="240030"/>
                  </a:lnTo>
                  <a:lnTo>
                    <a:pt x="1257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784908" y="32680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048750" y="3393758"/>
              <a:ext cx="1257300" cy="605790"/>
            </a:xfrm>
            <a:custGeom>
              <a:avLst/>
              <a:gdLst/>
              <a:ahLst/>
              <a:cxnLst/>
              <a:rect l="l" t="t" r="r" b="b"/>
              <a:pathLst>
                <a:path w="1257300" h="605790">
                  <a:moveTo>
                    <a:pt x="1257300" y="605790"/>
                  </a:moveTo>
                  <a:lnTo>
                    <a:pt x="1257300" y="240030"/>
                  </a:lnTo>
                  <a:lnTo>
                    <a:pt x="0" y="24003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975408" y="32680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82000" y="2238375"/>
              <a:ext cx="1143000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89620" y="2245042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382000" y="2505075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82000" y="297942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29450" y="3999548"/>
              <a:ext cx="114300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37070" y="4006215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29450" y="426624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29450" y="436149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734550" y="3999548"/>
              <a:ext cx="114300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742170" y="4006215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34550" y="426624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734550" y="436149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46236" y="23026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i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交通工具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52866" y="2577465"/>
              <a:ext cx="390715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速度</a:t>
              </a:r>
            </a:p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载重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52866" y="3050858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drive()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4461" y="40638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汽车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00316" y="4433888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drive()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24948" y="40638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05416" y="4433888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drive()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248400" y="5301615"/>
            <a:ext cx="5410200" cy="942975"/>
            <a:chOff x="6248400" y="5301615"/>
            <a:chExt cx="5410200" cy="942975"/>
          </a:xfrm>
        </p:grpSpPr>
        <p:sp>
          <p:nvSpPr>
            <p:cNvPr id="51" name="Rectangle 51"/>
            <p:cNvSpPr/>
            <p:nvPr/>
          </p:nvSpPr>
          <p:spPr>
            <a:xfrm>
              <a:off x="6248400" y="5301615"/>
              <a:ext cx="5410200" cy="942975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672138"/>
              <a:ext cx="200026" cy="200026"/>
              <a:chOff x="6453188" y="567213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672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3200" y="5738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2088" y="57721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552926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只用来被继承、不直接产生实例的类叫抽象类，交通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工具就是抽象类。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多态：同一个消息，不同的类各自回答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62230" cy="308039"/>
            <a:chOff x="525399" y="1550194"/>
            <a:chExt cx="636223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622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Polymorphism means "many forms"，一个多态操作有多种实现。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67865"/>
            <a:ext cx="5193982" cy="1335405"/>
            <a:chOff x="533400" y="1967865"/>
            <a:chExt cx="5193982" cy="13354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2207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多态（Polymorphism）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类的一个行为在其子类中有不同的表现形式。不同类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的对象收到同一个消息时，各自以不同的方式响应。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5780" y="3518535"/>
            <a:ext cx="5201602" cy="1455420"/>
            <a:chOff x="525780" y="3518535"/>
            <a:chExt cx="5201602" cy="145542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518535"/>
              <a:ext cx="1369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行为 Behavior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4070" y="351853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一个对象所能执行的动作或者变换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385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3958590"/>
              <a:ext cx="995362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操作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Operation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4070" y="39585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行为在类的定义中被进一步明确为操作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605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680585"/>
              <a:ext cx="1232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方法 Method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4070" y="46805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一个操作在某个类中的一种特定实现</a:t>
              </a:r>
            </a:p>
          </p:txBody>
        </p:sp>
      </p:grpSp>
      <p:grpSp>
        <p:nvGrpSpPr>
          <p:cNvPr id="29" name="c1-bullets-3"/>
          <p:cNvGrpSpPr/>
          <p:nvPr/>
        </p:nvGrpSpPr>
        <p:grpSpPr>
          <a:xfrm>
            <a:off x="542925" y="5125879"/>
            <a:ext cx="4476242" cy="555116"/>
            <a:chOff x="542925" y="5125879"/>
            <a:chExt cx="4476242" cy="555116"/>
          </a:xfrm>
        </p:grpSpPr>
        <p:sp>
          <p:nvSpPr>
            <p:cNvPr id="25" name="Ellipse 25"/>
            <p:cNvSpPr/>
            <p:nvPr/>
          </p:nvSpPr>
          <p:spPr>
            <a:xfrm>
              <a:off x="542925" y="51787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373" y="512587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具体子类必须实现它继承来的全部抽象操作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42925" y="548449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8373" y="54316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让具体操作也成为多态的在语法上可行，但属于不良风格</a:t>
              </a:r>
            </a:p>
          </p:txBody>
        </p:sp>
      </p:grpSp>
      <p:grpSp>
        <p:nvGrpSpPr>
          <p:cNvPr id="61" name="c2-uml-1"/>
          <p:cNvGrpSpPr/>
          <p:nvPr/>
        </p:nvGrpSpPr>
        <p:grpSpPr>
          <a:xfrm>
            <a:off x="6758940" y="2368868"/>
            <a:ext cx="4326254" cy="2767012"/>
            <a:chOff x="6758940" y="2368868"/>
            <a:chExt cx="4326254" cy="2767012"/>
          </a:xfrm>
        </p:grpSpPr>
        <p:sp>
          <p:nvSpPr>
            <p:cNvPr id="30" name="Freeform 30"/>
            <p:cNvSpPr/>
            <p:nvPr/>
          </p:nvSpPr>
          <p:spPr>
            <a:xfrm>
              <a:off x="8010525" y="2883218"/>
              <a:ext cx="1408747" cy="9525"/>
            </a:xfrm>
            <a:custGeom>
              <a:avLst/>
              <a:gdLst/>
              <a:ahLst/>
              <a:cxnLst/>
              <a:rect l="l" t="t" r="r" b="b"/>
              <a:pathLst>
                <a:path w="1408747" h="9525">
                  <a:moveTo>
                    <a:pt x="0" y="0"/>
                  </a:moveTo>
                  <a:lnTo>
                    <a:pt x="1408747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314498" y="282606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439025" y="3524250"/>
              <a:ext cx="2717482" cy="770572"/>
            </a:xfrm>
            <a:custGeom>
              <a:avLst/>
              <a:gdLst/>
              <a:ahLst/>
              <a:cxnLst/>
              <a:rect l="l" t="t" r="r" b="b"/>
              <a:pathLst>
                <a:path w="2717482" h="770572">
                  <a:moveTo>
                    <a:pt x="0" y="770572"/>
                  </a:moveTo>
                  <a:lnTo>
                    <a:pt x="0" y="322897"/>
                  </a:lnTo>
                  <a:lnTo>
                    <a:pt x="2717482" y="322897"/>
                  </a:lnTo>
                  <a:lnTo>
                    <a:pt x="27174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083165" y="33985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251758" y="3524250"/>
              <a:ext cx="95250" cy="770572"/>
            </a:xfrm>
            <a:custGeom>
              <a:avLst/>
              <a:gdLst/>
              <a:ahLst/>
              <a:cxnLst/>
              <a:rect l="l" t="t" r="r" b="b"/>
              <a:pathLst>
                <a:path w="95250" h="770572">
                  <a:moveTo>
                    <a:pt x="0" y="770572"/>
                  </a:moveTo>
                  <a:lnTo>
                    <a:pt x="0" y="322897"/>
                  </a:lnTo>
                  <a:lnTo>
                    <a:pt x="95250" y="322897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273665" y="33985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67525" y="2652712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74192" y="2659380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67525" y="291941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67525" y="301466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19272" y="2368868"/>
              <a:ext cx="1665922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425940" y="2375535"/>
              <a:ext cx="1651635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419272" y="2634615"/>
              <a:ext cx="1665922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419272" y="2729865"/>
              <a:ext cx="1665922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58940" y="4294822"/>
              <a:ext cx="1359218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66560" y="4302442"/>
              <a:ext cx="1344930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58940" y="4561522"/>
              <a:ext cx="135921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58940" y="4656772"/>
              <a:ext cx="135921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72625" y="4294822"/>
              <a:ext cx="1359218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579292" y="4302442"/>
              <a:ext cx="1344930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572625" y="4561522"/>
              <a:ext cx="135921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572625" y="4656772"/>
              <a:ext cx="135921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69629" y="2717006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Canvas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25898" y="2432209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Shape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90138" y="2802255"/>
              <a:ext cx="1524191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draw(g: Graphics)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getArea(): int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getBoundingArea(): int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69629" y="4359116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Square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29806" y="4729162"/>
              <a:ext cx="121748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draw(g: Graphics)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getArea(): int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22313" y="4359116"/>
              <a:ext cx="45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Circle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43491" y="4729162"/>
              <a:ext cx="121748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draw(g: Graphics)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getArea(): int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486775" y="2667000"/>
              <a:ext cx="45529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18265" y="2693670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对 *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2" name="Rectangle 6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7651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Canvas 只认识 Shape，调 draw() 时画出的是方还是圆，由运行时的实际对象决定。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面向对象的概念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重载：同一个名字，靠参数或操作数类型区分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85887" cy="308039"/>
            <a:chOff x="525399" y="1550194"/>
            <a:chExt cx="78858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858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重载发生在编译期，靠签名选实现；多态发生在运行期，靠对象的实际类型选实现。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67865"/>
            <a:ext cx="5193982" cy="2487930"/>
            <a:chOff x="533400" y="1967865"/>
            <a:chExt cx="5193982" cy="248793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193982" cy="2487930"/>
            </a:xfrm>
            <a:prstGeom prst="roundRect">
              <a:avLst>
                <a:gd name="adj" fmla="val 5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22123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9997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重载（overloading）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函数重载：同一作用域内若干个参数特征不同的函数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可以使用相同的函数名字。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19468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运算符重载：同一个运算符可以施加于不同类型的操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作数上面。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811429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参数特征不同或被操作数类型不同时，实现函数的算法或运算符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的语义并不相同。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4645342"/>
            <a:ext cx="5193982" cy="1516380"/>
            <a:chOff x="533400" y="4645342"/>
            <a:chExt cx="5193982" cy="1516380"/>
          </a:xfrm>
        </p:grpSpPr>
        <p:sp>
          <p:nvSpPr>
            <p:cNvPr id="18" name="Rectangle 18"/>
            <p:cNvSpPr/>
            <p:nvPr/>
          </p:nvSpPr>
          <p:spPr>
            <a:xfrm>
              <a:off x="533400" y="4645342"/>
              <a:ext cx="5193982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47972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两种重载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035" y="5060156"/>
              <a:ext cx="347497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max(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b);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max(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函数重载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Complex </a:t>
              </a: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operator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+(Complex a, Complex b);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运算符重载：+ 作用于复数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032182" y="1967865"/>
            <a:ext cx="5626418" cy="2244090"/>
            <a:chOff x="6032182" y="1967865"/>
            <a:chExt cx="5626418" cy="2244090"/>
          </a:xfrm>
        </p:grpSpPr>
        <p:sp>
          <p:nvSpPr>
            <p:cNvPr id="22" name="Rectangle 22"/>
            <p:cNvSpPr/>
            <p:nvPr/>
          </p:nvSpPr>
          <p:spPr>
            <a:xfrm>
              <a:off x="6032182" y="1967865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9240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132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5204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40006" y="25512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何时确定实现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45718" y="2426018"/>
              <a:ext cx="174783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44016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13558" y="2426018"/>
              <a:ext cx="223551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11856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28603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2182" y="286512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40006" y="30008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区分依据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4016" y="30008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参数个数与类型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1856" y="30008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接收消息对象的实际类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3308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0006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是否需要继承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4016" y="34494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1856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需要（覆盖基类操作）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7576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32182" y="376237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40006" y="38981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名字是否相同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44016" y="38981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11856" y="38981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967865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3143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39927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6032182" y="4402455"/>
            <a:ext cx="5626418" cy="1760220"/>
            <a:chOff x="6032182" y="4402455"/>
            <a:chExt cx="5626418" cy="1760220"/>
          </a:xfrm>
        </p:grpSpPr>
        <p:sp>
          <p:nvSpPr>
            <p:cNvPr id="49" name="Rectangle 49"/>
            <p:cNvSpPr/>
            <p:nvPr/>
          </p:nvSpPr>
          <p:spPr>
            <a:xfrm>
              <a:off x="6032182" y="4402455"/>
              <a:ext cx="5626418" cy="1760220"/>
            </a:xfrm>
            <a:prstGeom prst="roundRect">
              <a:avLst>
                <a:gd name="adj" fmla="val 649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224912" y="5177908"/>
              <a:ext cx="224134" cy="192560"/>
              <a:chOff x="6224912" y="517790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336983" y="52482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224912" y="51779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336983" y="53260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538912" y="5038725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重载的几个函数彼此无关，只是共用一个名字；多态的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几个方法实现的是同一个抽象操作。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面向对象建模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模型是什么，为什么建，建到什么精度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模型的定义与作用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建模的四个目的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建模的四条原则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面向对象建模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模型是对现实的简化，用来帮人理解复杂系统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294370" cy="293370"/>
            <a:chOff x="525780" y="1548765"/>
            <a:chExt cx="82943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模型由一组图示符号和组织这些符号的规则组成，用它们定义和描述问题域中的术语和概念。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626418" cy="1574482"/>
            <a:chOff x="533400" y="1954530"/>
            <a:chExt cx="5626418" cy="15744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13271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模型（Model）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为了理解事物而对事物作出的一种抽象，是对事物的一种无歧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义的书面描述。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137535"/>
              <a:ext cx="2941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model is a simplification of reality.</a:t>
              </a:r>
            </a:p>
          </p:txBody>
        </p:sp>
      </p:grpSp>
      <p:grpSp>
        <p:nvGrpSpPr>
          <p:cNvPr id="30" name="c1-bullets-2"/>
          <p:cNvGrpSpPr/>
          <p:nvPr/>
        </p:nvGrpSpPr>
        <p:grpSpPr>
          <a:xfrm>
            <a:off x="526161" y="3738086"/>
            <a:ext cx="3562337" cy="1604582"/>
            <a:chOff x="526161" y="3738086"/>
            <a:chExt cx="3562337" cy="1604582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37380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建模要达到的四个目的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6431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1745" y="41037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293" y="407622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帮助你按照希望的样子可视化一个系统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39388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1745" y="4433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4293" y="440578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允许你规约系统的结构或行为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72249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1745" y="47628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293" y="473535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给出一个指导你构造系统的模板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505206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1745" y="50923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4293" y="50639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记录下你所做的决定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5472112"/>
            <a:ext cx="5626418" cy="518160"/>
            <a:chOff x="533400" y="5472112"/>
            <a:chExt cx="5626418" cy="518160"/>
          </a:xfrm>
        </p:grpSpPr>
        <p:sp>
          <p:nvSpPr>
            <p:cNvPr id="31" name="Rectangle 31"/>
            <p:cNvSpPr/>
            <p:nvPr/>
          </p:nvSpPr>
          <p:spPr>
            <a:xfrm>
              <a:off x="533400" y="5472112"/>
              <a:ext cx="5626418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631180"/>
              <a:ext cx="200026" cy="200025"/>
              <a:chOff x="738188" y="5631180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6311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6756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7867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5631656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系统复杂到你没法在脑子里一次装下的时候，就必须建模。</a:t>
              </a:r>
            </a:p>
          </p:txBody>
        </p:sp>
      </p:grpSp>
      <p:grpSp>
        <p:nvGrpSpPr>
          <p:cNvPr id="40" name="c2-image-1"/>
          <p:cNvGrpSpPr/>
          <p:nvPr/>
        </p:nvGrpSpPr>
        <p:grpSpPr>
          <a:xfrm>
            <a:off x="6464618" y="1954530"/>
            <a:ext cx="5193982" cy="3086577"/>
            <a:chOff x="6464618" y="1954530"/>
            <a:chExt cx="5193982" cy="3086577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0" t="14424" r="0" b="14423"/>
            <a:stretch>
              <a:fillRect/>
            </a:stretch>
          </p:blipFill>
          <p:spPr>
            <a:xfrm>
              <a:off x="6464618" y="1954530"/>
              <a:ext cx="5193982" cy="2771775"/>
            </a:xfrm>
            <a:prstGeom prst="roundRect">
              <a:avLst>
                <a:gd name="adj" fmla="val 4810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473239" y="482107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纸飞机折了就飞，战斗机得先有图纸和风洞模型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464618" y="5201602"/>
            <a:ext cx="5193982" cy="789622"/>
            <a:chOff x="6464618" y="5201602"/>
            <a:chExt cx="5193982" cy="789622"/>
          </a:xfrm>
        </p:grpSpPr>
        <p:sp>
          <p:nvSpPr>
            <p:cNvPr id="41" name="Rectangle 41"/>
            <p:cNvSpPr/>
            <p:nvPr/>
          </p:nvSpPr>
          <p:spPr>
            <a:xfrm>
              <a:off x="6464618" y="5201602"/>
              <a:ext cx="5193982" cy="789622"/>
            </a:xfrm>
            <a:prstGeom prst="roundRect">
              <a:avLst>
                <a:gd name="adj" fmla="val 1447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657347" y="5492233"/>
              <a:ext cx="224134" cy="192560"/>
              <a:chOff x="6657347" y="549223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69418" y="55626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57347" y="54922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69418" y="5640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971729" y="536495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常见做法：拿到需求就写代码、加班堆代码、没有规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划过的体系结构，结果注定失败。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面向对象建模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建模的四条原则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908093" cy="308039"/>
            <a:chOff x="525399" y="1550194"/>
            <a:chExt cx="49080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9080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这四条决定了你该建什么模型、建到多细、建几个。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67865"/>
            <a:ext cx="11125200" cy="2470785"/>
            <a:chOff x="533400" y="1967865"/>
            <a:chExt cx="11125200" cy="24707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0050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950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9389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实践含义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模型的选择很重要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33966" y="255127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你所建的模型深刻影响问题被如何解决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9228" y="25512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选错模型会把方案引向错误的世界观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008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精度可以不同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33966" y="300085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每个模型都可以在不同精度层次上表达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39228" y="300085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好模型让你按需要选择细节程度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最好的模型与现实相连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33966" y="34494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所有模型都简化现实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440930" y="3323272"/>
              <a:ext cx="42081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39228" y="344947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好模型反映潜在的致命特性，不能为简化而丢掉它们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76237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0114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单一模型不充分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33966" y="3898106"/>
              <a:ext cx="35892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任何非平凡系统都要用一小组几乎独立的模型来逼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39228" y="40114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模型可分别建立和研究，但彼此仍相互关联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967865"/>
              <a:ext cx="11125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21380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426642" y="196786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kv-2"/>
          <p:cNvGrpSpPr/>
          <p:nvPr/>
        </p:nvGrpSpPr>
        <p:grpSpPr>
          <a:xfrm>
            <a:off x="525780" y="4653915"/>
            <a:ext cx="11132820" cy="733425"/>
            <a:chOff x="525780" y="4653915"/>
            <a:chExt cx="11132820" cy="733425"/>
          </a:xfrm>
        </p:grpSpPr>
        <p:sp>
          <p:nvSpPr>
            <p:cNvPr id="35" name="TextBox 35"/>
            <p:cNvSpPr txBox="1"/>
            <p:nvPr/>
          </p:nvSpPr>
          <p:spPr>
            <a:xfrm>
              <a:off x="525780" y="46539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精度由谁定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65935" y="465391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取决于谁在看这个模型、他为什么要看：给客户看的电路图和给设计者看的电路图不是同一张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973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780" y="50939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模型与代码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65935" y="509397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每种世界观导向一种不同的系统，模型选择在写第一行代码之前就起作用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1310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与用例图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统一建模语言的词汇，以及最先画的那张图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89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的四种用途与历史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要素、关系与九种图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用例图与用例规约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3631" cy="909257"/>
            <a:chOff x="520446" y="342900"/>
            <a:chExt cx="80536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36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是一种用于可视化、规约、构造和文档化的语言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657715" cy="597598"/>
            <a:chOff x="525399" y="1550194"/>
            <a:chExt cx="9657715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657715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The UML is a language for visualizing, specifying, constructing and documenting the artifacts of a</a:t>
              </a:r>
              <a:br/>
              <a:r>
                <a:rPr lang="en-US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software-intensive system.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5780" y="2282190"/>
            <a:ext cx="5417820" cy="3023235"/>
            <a:chOff x="525780" y="2282190"/>
            <a:chExt cx="5417820" cy="302323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2282190"/>
              <a:ext cx="1275874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Visualizing 可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视化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40255" y="228219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把只存在于脑子里的概念模型显式画出来，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团队才可能说同一种语言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8841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3004185"/>
              <a:ext cx="1265872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Specifying 规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40255" y="30041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建立精确、无歧义、完整的模型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6061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726180"/>
              <a:ext cx="1285399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Constructing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40255" y="3726180"/>
              <a:ext cx="3634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模型可直接连到 Java、C++、Visual Basic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等语言，也可映射到关系库表或对象库，支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持正向与逆向工程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6101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730115"/>
              <a:ext cx="12153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Documenting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文档化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40255" y="473011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覆盖体系结构、需求、测试、项目计划与发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布管理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436870"/>
            <a:ext cx="5410200" cy="782955"/>
            <a:chOff x="533400" y="5436870"/>
            <a:chExt cx="5410200" cy="782955"/>
          </a:xfrm>
        </p:grpSpPr>
        <p:sp>
          <p:nvSpPr>
            <p:cNvPr id="21" name="Rectangle 21"/>
            <p:cNvSpPr/>
            <p:nvPr/>
          </p:nvSpPr>
          <p:spPr>
            <a:xfrm>
              <a:off x="533400" y="543687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728335"/>
              <a:ext cx="200026" cy="200026"/>
              <a:chOff x="738188" y="572833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7283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7950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8283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585460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是一种建模语言，不是一种方法，也不是一种过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2257425"/>
            <a:ext cx="5410200" cy="1602105"/>
            <a:chOff x="6248400" y="2257425"/>
            <a:chExt cx="5410200" cy="1602105"/>
          </a:xfrm>
        </p:grpSpPr>
        <p:sp>
          <p:nvSpPr>
            <p:cNvPr id="28" name="Rectangle 28"/>
            <p:cNvSpPr/>
            <p:nvPr/>
          </p:nvSpPr>
          <p:spPr>
            <a:xfrm>
              <a:off x="6248400" y="225742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57950" y="246697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9753" y="25026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为什么需要一种统一语言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0330" y="284416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把概念模型口头传递给别人一定会走样，除非所有相关的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人讲同一种语言。软件系统里有些东西你不建模就理解不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了，而显式的模型本身就在促成沟通。</a:t>
              </a:r>
            </a:p>
          </p:txBody>
        </p:sp>
      </p:grpSp>
      <p:grpSp>
        <p:nvGrpSpPr>
          <p:cNvPr id="40" name="c2-bullets-2"/>
          <p:cNvGrpSpPr/>
          <p:nvPr/>
        </p:nvGrpSpPr>
        <p:grpSpPr>
          <a:xfrm>
            <a:off x="6240780" y="4074795"/>
            <a:ext cx="2102930" cy="1337310"/>
            <a:chOff x="6240780" y="4074795"/>
            <a:chExt cx="2102930" cy="1337310"/>
          </a:xfrm>
        </p:grpSpPr>
        <p:sp>
          <p:nvSpPr>
            <p:cNvPr id="33" name="TextBox 33"/>
            <p:cNvSpPr txBox="1"/>
            <p:nvPr/>
          </p:nvSpPr>
          <p:spPr>
            <a:xfrm>
              <a:off x="6240780" y="40747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语言之外还需要什么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248400" y="446055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98908" y="4429125"/>
              <a:ext cx="1621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建模语言（UML）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248400" y="4805362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98908" y="4773930"/>
              <a:ext cx="18448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统一过程（如 RUP）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248400" y="5150168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8908" y="51187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基于团队的开发方式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248400" y="5543550"/>
            <a:ext cx="5410200" cy="676275"/>
            <a:chOff x="6248400" y="5543550"/>
            <a:chExt cx="5410200" cy="676275"/>
          </a:xfrm>
        </p:grpSpPr>
        <p:sp>
          <p:nvSpPr>
            <p:cNvPr id="41" name="Rectangle 41"/>
            <p:cNvSpPr/>
            <p:nvPr/>
          </p:nvSpPr>
          <p:spPr>
            <a:xfrm>
              <a:off x="6248400" y="5543550"/>
              <a:ext cx="5410200" cy="676275"/>
            </a:xfrm>
            <a:prstGeom prst="roundRect">
              <a:avLst>
                <a:gd name="adj" fmla="val 1690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41129" y="5777983"/>
              <a:ext cx="224134" cy="192560"/>
              <a:chOff x="6441129" y="5777983"/>
              <a:chExt cx="224134" cy="1925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53200" y="58483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41129" y="57779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53200" y="59261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130" y="5776912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只有语言不足以建成一个系统，三者要配齐。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90978" cy="909257"/>
            <a:chOff x="520446" y="342900"/>
            <a:chExt cx="35909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909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的来源与版本演进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32678" cy="264033"/>
            <a:chOff x="526542" y="1545907"/>
            <a:chExt cx="72326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32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UML 由 Booch、Rumbaugh、Jacobson 三人的方法合流而成，又吸收了其他多家的记号。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1928812"/>
            <a:ext cx="5410200" cy="3312795"/>
            <a:chOff x="533400" y="1928812"/>
            <a:chExt cx="5410200" cy="331279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62062" y="20535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76294" y="20535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里程碑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9412" y="2612708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1991 / 1993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4879" y="2492692"/>
              <a:ext cx="267976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Booch'91、Booch'93 与 OMT-1、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OMT-2 各自发展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413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46095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3171825"/>
              <a:ext cx="1543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1995（OOPSLA）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4879" y="3171825"/>
              <a:ext cx="1681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Unified Method 0.8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804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9412" y="3610927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4879" y="3610927"/>
              <a:ext cx="2769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0.9（6月）与 0.91（10月）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24300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9412" y="4049077"/>
              <a:ext cx="643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1997.1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64879" y="4049077"/>
              <a:ext cx="16157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1.0 提交 OMG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586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9412" y="4488180"/>
              <a:ext cx="643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1997.9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378392" y="4372928"/>
              <a:ext cx="3555682" cy="42005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64879" y="4488180"/>
              <a:ext cx="2400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1.1 被 OMG 采纳为标准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7977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802505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9412" y="4927283"/>
              <a:ext cx="1521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1998 秋 / 2001.9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64879" y="4927283"/>
              <a:ext cx="1654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1.3、UML 1.4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28812"/>
              <a:ext cx="5410200" cy="33127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364105" y="1928812"/>
              <a:ext cx="9525" cy="33127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kv-1"/>
          <p:cNvGrpSpPr/>
          <p:nvPr/>
        </p:nvGrpSpPr>
        <p:grpSpPr>
          <a:xfrm>
            <a:off x="6241542" y="1950720"/>
            <a:ext cx="5417058" cy="3795903"/>
            <a:chOff x="6241542" y="1950720"/>
            <a:chExt cx="5417058" cy="3795903"/>
          </a:xfrm>
        </p:grpSpPr>
        <p:sp>
          <p:nvSpPr>
            <p:cNvPr id="36" name="TextBox 36"/>
            <p:cNvSpPr txBox="1"/>
            <p:nvPr/>
          </p:nvSpPr>
          <p:spPr>
            <a:xfrm>
              <a:off x="6241542" y="1950720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Booch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26489" y="195072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面向对象设计记号，三位主创之一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2374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1542" y="2343150"/>
              <a:ext cx="897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Rumbaugh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26489" y="2343150"/>
              <a:ext cx="2100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OMT 方法，三位主创之一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629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542" y="2735580"/>
              <a:ext cx="859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Jacobson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6489" y="2735580"/>
              <a:ext cx="2751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OOSE 与用例驱动，三位主创之一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0222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1542" y="3128010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Harel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26489" y="3128010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状态图（state charts）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4147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1542" y="3520440"/>
              <a:ext cx="583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Meyer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26489" y="35204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前置条件与后置条件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1542" y="3912870"/>
              <a:ext cx="861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Gamma 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26489" y="391287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框架、模式与注释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1995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1542" y="4305300"/>
              <a:ext cx="1285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Shlaer-Mellor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26489" y="43053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对象生命周期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4592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1542" y="4697730"/>
              <a:ext cx="486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Odell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26489" y="46977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分类法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9844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41542" y="5090160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Wirfs-Brock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26489" y="509016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职责驱动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53768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41542" y="5482590"/>
              <a:ext cx="6012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Fusion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26489" y="548259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操作描述与消息编号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6" name="Rectangle 6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8373"/>
              <a:ext cx="7756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本章讲的九种图属于 UML 1.x；UML 2.0 之后图的数量扩到十几种，九种图仍是最常用的核心。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07383" cy="909257"/>
            <a:chOff x="520446" y="342900"/>
            <a:chExt cx="5307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07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的三类词汇：要素、关系、图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97193" cy="293370"/>
            <a:chOff x="525780" y="1548765"/>
            <a:chExt cx="649719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记住“四种要素、四种关系、九种图”这条主线，后面每张图都能挂上去。</a:t>
              </a:r>
            </a:p>
          </p:txBody>
        </p:sp>
      </p:grpSp>
      <p:grpSp>
        <p:nvGrpSpPr>
          <p:cNvPr id="32" name="c1-tree-1"/>
          <p:cNvGrpSpPr/>
          <p:nvPr/>
        </p:nvGrpSpPr>
        <p:grpSpPr>
          <a:xfrm>
            <a:off x="533400" y="2028825"/>
            <a:ext cx="4761547" cy="2900362"/>
            <a:chOff x="533400" y="2028825"/>
            <a:chExt cx="4761547" cy="2900362"/>
          </a:xfrm>
        </p:grpSpPr>
        <p:sp>
          <p:nvSpPr>
            <p:cNvPr id="9" name="Freeform 9"/>
            <p:cNvSpPr/>
            <p:nvPr/>
          </p:nvSpPr>
          <p:spPr>
            <a:xfrm>
              <a:off x="3616642" y="2208848"/>
              <a:ext cx="419100" cy="762000"/>
            </a:xfrm>
            <a:custGeom>
              <a:avLst/>
              <a:gdLst/>
              <a:ahLst/>
              <a:cxnLst/>
              <a:rect l="l" t="t" r="r" b="b"/>
              <a:pathLst>
                <a:path w="419100" h="762000">
                  <a:moveTo>
                    <a:pt x="0" y="762000"/>
                  </a:moveTo>
                  <a:lnTo>
                    <a:pt x="209550" y="7620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16642" y="2716530"/>
              <a:ext cx="419100" cy="254317"/>
            </a:xfrm>
            <a:custGeom>
              <a:avLst/>
              <a:gdLst/>
              <a:ahLst/>
              <a:cxnLst/>
              <a:rect l="l" t="t" r="r" b="b"/>
              <a:pathLst>
                <a:path w="419100" h="254317">
                  <a:moveTo>
                    <a:pt x="0" y="254317"/>
                  </a:moveTo>
                  <a:lnTo>
                    <a:pt x="209550" y="25431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616642" y="2970848"/>
              <a:ext cx="419100" cy="254318"/>
            </a:xfrm>
            <a:custGeom>
              <a:avLst/>
              <a:gdLst/>
              <a:ahLst/>
              <a:cxnLst/>
              <a:rect l="l" t="t" r="r" b="b"/>
              <a:pathLst>
                <a:path w="419100" h="254318">
                  <a:moveTo>
                    <a:pt x="0" y="0"/>
                  </a:moveTo>
                  <a:lnTo>
                    <a:pt x="209550" y="0"/>
                  </a:lnTo>
                  <a:lnTo>
                    <a:pt x="209550" y="254318"/>
                  </a:lnTo>
                  <a:lnTo>
                    <a:pt x="419100" y="25431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16642" y="2970848"/>
              <a:ext cx="419100" cy="762000"/>
            </a:xfrm>
            <a:custGeom>
              <a:avLst/>
              <a:gdLst/>
              <a:ahLst/>
              <a:cxnLst/>
              <a:rect l="l" t="t" r="r" b="b"/>
              <a:pathLst>
                <a:path w="419100" h="762000">
                  <a:moveTo>
                    <a:pt x="0" y="0"/>
                  </a:moveTo>
                  <a:lnTo>
                    <a:pt x="209550" y="0"/>
                  </a:lnTo>
                  <a:lnTo>
                    <a:pt x="209550" y="762000"/>
                  </a:lnTo>
                  <a:lnTo>
                    <a:pt x="419100" y="7620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26858" y="2970848"/>
              <a:ext cx="419100" cy="889635"/>
            </a:xfrm>
            <a:custGeom>
              <a:avLst/>
              <a:gdLst/>
              <a:ahLst/>
              <a:cxnLst/>
              <a:rect l="l" t="t" r="r" b="b"/>
              <a:pathLst>
                <a:path w="419100" h="889635">
                  <a:moveTo>
                    <a:pt x="0" y="889635"/>
                  </a:moveTo>
                  <a:lnTo>
                    <a:pt x="209550" y="8896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26858" y="3860482"/>
              <a:ext cx="419100" cy="381000"/>
            </a:xfrm>
            <a:custGeom>
              <a:avLst/>
              <a:gdLst/>
              <a:ahLst/>
              <a:cxnLst/>
              <a:rect l="l" t="t" r="r" b="b"/>
              <a:pathLst>
                <a:path w="419100" h="381000">
                  <a:moveTo>
                    <a:pt x="0" y="0"/>
                  </a:moveTo>
                  <a:lnTo>
                    <a:pt x="209550" y="0"/>
                  </a:lnTo>
                  <a:lnTo>
                    <a:pt x="209550" y="381000"/>
                  </a:lnTo>
                  <a:lnTo>
                    <a:pt x="419100" y="3810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26858" y="3860482"/>
              <a:ext cx="419100" cy="888683"/>
            </a:xfrm>
            <a:custGeom>
              <a:avLst/>
              <a:gdLst/>
              <a:ahLst/>
              <a:cxnLst/>
              <a:rect l="l" t="t" r="r" b="b"/>
              <a:pathLst>
                <a:path w="419100" h="888683">
                  <a:moveTo>
                    <a:pt x="0" y="0"/>
                  </a:moveTo>
                  <a:lnTo>
                    <a:pt x="209550" y="0"/>
                  </a:lnTo>
                  <a:lnTo>
                    <a:pt x="209550" y="888683"/>
                  </a:lnTo>
                  <a:lnTo>
                    <a:pt x="419100" y="88868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35742" y="2028825"/>
              <a:ext cx="125920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35742" y="2536508"/>
              <a:ext cx="125920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35742" y="3045142"/>
              <a:ext cx="125920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35742" y="3552825"/>
              <a:ext cx="125920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45958" y="2790825"/>
              <a:ext cx="1670685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45958" y="4061460"/>
              <a:ext cx="167068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45958" y="4569142"/>
              <a:ext cx="1670685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680460"/>
              <a:ext cx="993458" cy="360045"/>
            </a:xfrm>
            <a:prstGeom prst="roundRect">
              <a:avLst>
                <a:gd name="adj" fmla="val 2645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24896" y="21250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结构要素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24896" y="2632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行为要素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24896" y="31413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组织要素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24896" y="364902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辅助说明要素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35112" y="2887027"/>
              <a:ext cx="908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要素 Things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35112" y="4157662"/>
              <a:ext cx="1422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 Relationships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35112" y="4665345"/>
              <a:ext cx="9302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 Diagrams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554" y="3776662"/>
              <a:ext cx="720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UML 词汇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5591556" y="1977866"/>
            <a:ext cx="6067044" cy="1811274"/>
            <a:chOff x="5591556" y="1977866"/>
            <a:chExt cx="6067044" cy="1811274"/>
          </a:xfrm>
        </p:grpSpPr>
        <p:sp>
          <p:nvSpPr>
            <p:cNvPr id="33" name="TextBox 33"/>
            <p:cNvSpPr txBox="1"/>
            <p:nvPr/>
          </p:nvSpPr>
          <p:spPr>
            <a:xfrm>
              <a:off x="5591556" y="197786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表述结构的要素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09879" y="1977866"/>
              <a:ext cx="2349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Case、类、接口、协作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284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91556" y="239982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表述行为的要素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09879" y="239982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交互、状态机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8795" y="27051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91556" y="282178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用于组织的要素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09879" y="282178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31270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91556" y="3242786"/>
              <a:ext cx="14571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用于辅助说明的要</a:t>
              </a:r>
              <a:br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09879" y="32427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</a:t>
              </a:r>
            </a:p>
          </p:txBody>
        </p:sp>
      </p:grpSp>
      <p:grpSp>
        <p:nvGrpSpPr>
          <p:cNvPr id="69" name="c2-table-2"/>
          <p:cNvGrpSpPr/>
          <p:nvPr/>
        </p:nvGrpSpPr>
        <p:grpSpPr>
          <a:xfrm>
            <a:off x="5598795" y="3918585"/>
            <a:ext cx="6059805" cy="2365057"/>
            <a:chOff x="5598795" y="3918585"/>
            <a:chExt cx="6059805" cy="2365057"/>
          </a:xfrm>
        </p:grpSpPr>
        <p:sp>
          <p:nvSpPr>
            <p:cNvPr id="45" name="Rectangle 45"/>
            <p:cNvSpPr/>
            <p:nvPr/>
          </p:nvSpPr>
          <p:spPr>
            <a:xfrm>
              <a:off x="5598795" y="3918585"/>
              <a:ext cx="605980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97905" y="40500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73340" y="40500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55720" y="40500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04142" y="45872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关联关系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37642" y="45872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有联系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55012" y="4480560"/>
              <a:ext cx="2450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两个类的实例之间存在稳定的结构性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联系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49882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598795" y="499300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04142" y="51234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依赖关系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37642" y="51234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55012" y="512349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一方改变会影响另一方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54178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704142" y="55540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泛化关系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37642" y="555402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特殊到一般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5012" y="555402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子类继承父类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58483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598795" y="5853112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04142" y="598455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实现关系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37642" y="598455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规约到解决方案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55012" y="598455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类实现接口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598795" y="3918585"/>
              <a:ext cx="6059805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27532" y="3918585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744902" y="3918585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90978" cy="909257"/>
            <a:chOff x="520446" y="342900"/>
            <a:chExt cx="35909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909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的九种图各画什么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38789" cy="264033"/>
            <a:chOff x="526542" y="1545907"/>
            <a:chExt cx="49387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按静态与动态分成两组记，考试常考“给一个场景选一张图”。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28812"/>
            <a:ext cx="5410200" cy="2287905"/>
            <a:chOff x="533400" y="1928812"/>
            <a:chExt cx="5410200" cy="2287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7569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91318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展示的内容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426970"/>
              <a:ext cx="823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 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51138" y="2426970"/>
              <a:ext cx="1749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Case、Actor 及其关系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51138" y="2808923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类、接口、包及其关系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8078" y="3189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51138" y="3189923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某个时间点上各对象的快照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571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51138" y="35718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系统各构件及其关系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952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51138" y="395287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交付系统中软硬件间的物理关系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928812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15169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381500"/>
            <a:ext cx="5410200" cy="1309688"/>
            <a:chOff x="533400" y="4381500"/>
            <a:chExt cx="5410200" cy="1309688"/>
          </a:xfrm>
        </p:grpSpPr>
        <p:sp>
          <p:nvSpPr>
            <p:cNvPr id="31" name="Rectangle 31"/>
            <p:cNvSpPr/>
            <p:nvPr/>
          </p:nvSpPr>
          <p:spPr>
            <a:xfrm>
              <a:off x="533400" y="4381500"/>
              <a:ext cx="5410200" cy="1309688"/>
            </a:xfrm>
            <a:prstGeom prst="roundRect">
              <a:avLst>
                <a:gd name="adj" fmla="val 872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4933116"/>
              <a:ext cx="224134" cy="192560"/>
              <a:chOff x="726129" y="4933116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50034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49331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0812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1273" y="4830604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对象图画的是某一时刻的快照，它和构件图、配置图一样属于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静态图，分类看的是“描述结构还是描述行为”。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8400" y="1928812"/>
            <a:ext cx="5410200" cy="1906905"/>
            <a:chOff x="6248400" y="1928812"/>
            <a:chExt cx="5410200" cy="1906905"/>
          </a:xfrm>
        </p:grpSpPr>
        <p:sp>
          <p:nvSpPr>
            <p:cNvPr id="38" name="Rectangle 38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42570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06318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展示的内容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57925" y="2319338"/>
              <a:ext cx="16040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3079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66138" y="242697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按时序展示对象间消息传递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2808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66138" y="2808923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收发消息的对象间的组织结构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3082290"/>
              <a:ext cx="16040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3079" y="3189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66138" y="3189923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对象在生命周期中的状态及对事件的响应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3079" y="3571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66138" y="357187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从一个活动转到另一活动的路径和条件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192881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866698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rd-2"/>
          <p:cNvGrpSpPr/>
          <p:nvPr/>
        </p:nvGrpSpPr>
        <p:grpSpPr>
          <a:xfrm>
            <a:off x="6248400" y="4000500"/>
            <a:ext cx="5410200" cy="1691640"/>
            <a:chOff x="6248400" y="4000500"/>
            <a:chExt cx="5410200" cy="1691640"/>
          </a:xfrm>
        </p:grpSpPr>
        <p:sp>
          <p:nvSpPr>
            <p:cNvPr id="59" name="Rectangle 59"/>
            <p:cNvSpPr/>
            <p:nvPr/>
          </p:nvSpPr>
          <p:spPr>
            <a:xfrm>
              <a:off x="6248400" y="4000500"/>
              <a:ext cx="5410200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4133850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67475" y="4181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60147" y="4214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33451" y="4221004"/>
              <a:ext cx="2347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2.0 之后这份清单有变化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77000" y="459009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32448" y="4537234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图的种类扩到 14 种，新增包图、组合结构图、交互概览图、定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时图和剖面图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77000" y="511778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32448" y="5065871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协作图改名为通信图，状态图改名为状态机图，画法和读法没变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62141" y="5346383"/>
              <a:ext cx="41927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本章按 UML 1.x 的九种图考查，读新版资料时知道对应关系即可。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顺序图与协作图合称交互图，二者信息等价，可以互相转换。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97729" cy="909257"/>
            <a:chOff x="520446" y="342900"/>
            <a:chExt cx="91977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977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最能发挥 UML 的过程：用例驱动、以架构为中心、迭代增量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418907" cy="278702"/>
            <a:chOff x="526161" y="1547336"/>
            <a:chExt cx="541890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418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UML 本身与过程无关，但配上这三条特征的过程才能把它用足。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5410200" cy="1483995"/>
            <a:chOff x="533400" y="1941195"/>
            <a:chExt cx="5410200" cy="14839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用例驱动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4297" y="2173605"/>
              <a:ext cx="1511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Use-Case Driven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为系统定义的用例是整个开发过程的基础。用例简洁、简单、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能被广泛的相关人员理解，并且帮助各个模型的内容保持同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00450"/>
            <a:ext cx="5410200" cy="1995488"/>
            <a:chOff x="533400" y="3600450"/>
            <a:chExt cx="5410200" cy="1995488"/>
          </a:xfrm>
        </p:grpSpPr>
        <p:sp>
          <p:nvSpPr>
            <p:cNvPr id="16" name="Rectangle 16"/>
            <p:cNvSpPr/>
            <p:nvPr/>
          </p:nvSpPr>
          <p:spPr>
            <a:xfrm>
              <a:off x="533400" y="3600450"/>
              <a:ext cx="5410200" cy="1995488"/>
            </a:xfrm>
            <a:prstGeom prst="roundRect">
              <a:avLst>
                <a:gd name="adj" fmla="val 66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733800"/>
              <a:ext cx="47625" cy="17287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79285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9343" y="382714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以架构为中心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80997" y="3832860"/>
              <a:ext cx="2029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Architecture-Centric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16718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体系结构是概念化、构造、管理和演化系统的首要产物。它带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来对项目复杂性的智力控制、大规模重用的有效基础、项目管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理的依据和基于构件开发的支撑。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941195"/>
            <a:ext cx="5410200" cy="2179320"/>
            <a:chOff x="6248400" y="1941195"/>
            <a:chExt cx="5410200" cy="2179320"/>
          </a:xfrm>
        </p:grpSpPr>
        <p:sp>
          <p:nvSpPr>
            <p:cNvPr id="23" name="Rectangle 23"/>
            <p:cNvSpPr/>
            <p:nvPr/>
          </p:nvSpPr>
          <p:spPr>
            <a:xfrm>
              <a:off x="6248400" y="1941195"/>
              <a:ext cx="5410200" cy="2179320"/>
            </a:xfrm>
            <a:prstGeom prst="roundRect">
              <a:avLst>
                <a:gd name="adj" fmla="val 61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2074545"/>
              <a:ext cx="47625" cy="1912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8905" y="213360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344" y="216789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迭代与增量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62647" y="2173605"/>
              <a:ext cx="2401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Iterative and Incremental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87478" y="25641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43497" y="250793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关键风险在大笔投入之前就被解决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87478" y="28670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43497" y="281082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早期迭代就能拿到用户反馈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87478" y="316896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3497" y="311277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测试与集成是持续进行的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347186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341566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里程碑客观，关注短期目标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87478" y="37738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3497" y="371760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用评估实现来度量进度，部分实现可以部署</a:t>
              </a:r>
            </a:p>
          </p:txBody>
        </p:sp>
      </p:grpSp>
      <p:grpSp>
        <p:nvGrpSpPr>
          <p:cNvPr id="53" name="c2-flow-2"/>
          <p:cNvGrpSpPr/>
          <p:nvPr/>
        </p:nvGrpSpPr>
        <p:grpSpPr>
          <a:xfrm>
            <a:off x="6381750" y="4519612"/>
            <a:ext cx="5143500" cy="626746"/>
            <a:chOff x="6381750" y="4519612"/>
            <a:chExt cx="5143500" cy="626746"/>
          </a:xfrm>
        </p:grpSpPr>
        <p:sp>
          <p:nvSpPr>
            <p:cNvPr id="39" name="Freeform 39"/>
            <p:cNvSpPr/>
            <p:nvPr/>
          </p:nvSpPr>
          <p:spPr>
            <a:xfrm>
              <a:off x="7918132" y="494633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080058" y="48939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722168" y="494633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884092" y="48939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381750" y="4747260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184832" y="4747260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88868" y="4747260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52465" y="4867751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5548" y="4867751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58630" y="4867751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93342" y="4519612"/>
              <a:ext cx="71723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16710" y="454485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可执行版本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683115" y="4519612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18637" y="45448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增量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每次迭代都包含需求、设计、编码、集成和测试，最早的迭代先啃最大的风险。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用例图描述系统与外部环境的关系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43659" cy="308039"/>
            <a:chOff x="525399" y="1550194"/>
            <a:chExt cx="684365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436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用例图是需求阶段最先画的图，它回答“谁，通过系统，能做成什么事”。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5780" y="1992630"/>
            <a:ext cx="5417820" cy="3023235"/>
            <a:chOff x="525780" y="1992630"/>
            <a:chExt cx="5417820" cy="302323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09585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Use Case 用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24038" y="1992630"/>
              <a:ext cx="39014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对系统提供的功能的一种描述（A use case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describes behavior that the system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exhibits to benefit one or more actors.）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8765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996565"/>
              <a:ext cx="100631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Actor 参与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24038" y="2996565"/>
              <a:ext cx="38347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可能使用这些用例的人或外部系统。Actor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与系统直接交互的事物所扮演的角色，角色像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一顶在特定场合戴上的帽子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8804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40005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系统边界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24038" y="4000500"/>
              <a:ext cx="25608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 在内，Actor 在外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3205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440555"/>
              <a:ext cx="967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用例间的关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24038" y="4440555"/>
              <a:ext cx="3978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《extend》、《include》、Generalization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5147310"/>
            <a:ext cx="5410200" cy="782955"/>
            <a:chOff x="533400" y="5147310"/>
            <a:chExt cx="5410200" cy="782955"/>
          </a:xfrm>
        </p:grpSpPr>
        <p:sp>
          <p:nvSpPr>
            <p:cNvPr id="21" name="Rectangle 21"/>
            <p:cNvSpPr/>
            <p:nvPr/>
          </p:nvSpPr>
          <p:spPr>
            <a:xfrm>
              <a:off x="533400" y="514731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5435083"/>
              <a:ext cx="224134" cy="192560"/>
              <a:chOff x="726129" y="5435083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55054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54350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5832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295900"/>
              <a:ext cx="4406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Actor 是角色不是具体的人。同一个人可以在不同时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刻扮演“客户”和“管理员”两个 Actor。</a:t>
              </a:r>
            </a:p>
          </p:txBody>
        </p:sp>
      </p:grpSp>
      <p:grpSp>
        <p:nvGrpSpPr>
          <p:cNvPr id="45" name="c2-graph-1"/>
          <p:cNvGrpSpPr/>
          <p:nvPr/>
        </p:nvGrpSpPr>
        <p:grpSpPr>
          <a:xfrm>
            <a:off x="6336142" y="1994059"/>
            <a:ext cx="5181018" cy="4072413"/>
            <a:chOff x="6336142" y="1994059"/>
            <a:chExt cx="5181018" cy="4072413"/>
          </a:xfrm>
        </p:grpSpPr>
        <p:sp>
          <p:nvSpPr>
            <p:cNvPr id="28" name="Freeform 28"/>
            <p:cNvSpPr/>
            <p:nvPr/>
          </p:nvSpPr>
          <p:spPr>
            <a:xfrm>
              <a:off x="6970395" y="2920365"/>
              <a:ext cx="1995488" cy="1035367"/>
            </a:xfrm>
            <a:custGeom>
              <a:avLst/>
              <a:gdLst/>
              <a:ahLst/>
              <a:cxnLst/>
              <a:rect l="l" t="t" r="r" b="b"/>
              <a:pathLst>
                <a:path w="1995488" h="1035367">
                  <a:moveTo>
                    <a:pt x="0" y="1035367"/>
                  </a:moveTo>
                  <a:lnTo>
                    <a:pt x="19954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123748" y="3830955"/>
              <a:ext cx="1392555" cy="192405"/>
            </a:xfrm>
            <a:custGeom>
              <a:avLst/>
              <a:gdLst/>
              <a:ahLst/>
              <a:cxnLst/>
              <a:rect l="l" t="t" r="r" b="b"/>
              <a:pathLst>
                <a:path w="1392555" h="192405">
                  <a:moveTo>
                    <a:pt x="0" y="192405"/>
                  </a:moveTo>
                  <a:lnTo>
                    <a:pt x="13925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123748" y="4170998"/>
              <a:ext cx="1484947" cy="360045"/>
            </a:xfrm>
            <a:custGeom>
              <a:avLst/>
              <a:gdLst/>
              <a:ahLst/>
              <a:cxnLst/>
              <a:rect l="l" t="t" r="r" b="b"/>
              <a:pathLst>
                <a:path w="1484947" h="360045">
                  <a:moveTo>
                    <a:pt x="0" y="0"/>
                  </a:moveTo>
                  <a:lnTo>
                    <a:pt x="1484947" y="360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31342" y="4199572"/>
              <a:ext cx="2086927" cy="1298258"/>
            </a:xfrm>
            <a:custGeom>
              <a:avLst/>
              <a:gdLst/>
              <a:ahLst/>
              <a:cxnLst/>
              <a:rect l="l" t="t" r="r" b="b"/>
              <a:pathLst>
                <a:path w="2086927" h="1298258">
                  <a:moveTo>
                    <a:pt x="0" y="0"/>
                  </a:moveTo>
                  <a:lnTo>
                    <a:pt x="2086927" y="12982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35552" y="5659755"/>
              <a:ext cx="489585" cy="9525"/>
            </a:xfrm>
            <a:custGeom>
              <a:avLst/>
              <a:gdLst/>
              <a:ahLst/>
              <a:cxnLst/>
              <a:rect l="l" t="t" r="r" b="b"/>
              <a:pathLst>
                <a:path w="489585" h="9525">
                  <a:moveTo>
                    <a:pt x="0" y="0"/>
                  </a:moveTo>
                  <a:lnTo>
                    <a:pt x="4895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420928" y="2351722"/>
              <a:ext cx="3714750" cy="3714750"/>
            </a:xfrm>
            <a:prstGeom prst="roundRect">
              <a:avLst>
                <a:gd name="adj" fmla="val 256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563928" y="2596515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516302" y="3563302"/>
              <a:ext cx="15240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25802" y="4531042"/>
              <a:ext cx="19050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421052" y="5497830"/>
              <a:ext cx="17145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6142" y="4002405"/>
              <a:ext cx="797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04756" y="2684145"/>
              <a:ext cx="9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PlaceOrder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58106" y="3650932"/>
              <a:ext cx="1040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CancelOrder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0810" y="4617720"/>
              <a:ext cx="15549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CheckOrderStatus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35258" y="5584508"/>
              <a:ext cx="128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RequestCatalog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09416" y="5584508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Dispatcher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5020" y="1994059"/>
              <a:ext cx="12265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Mail order system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用例图示例：保险业务与通信关联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78134" cy="308039"/>
            <a:chOff x="525399" y="1550194"/>
            <a:chExt cx="637813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7813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Actor 与 Use Case 之间的连线叫通信关联，表示二者之间的交互。</a:t>
              </a:r>
            </a:p>
          </p:txBody>
        </p:sp>
      </p:grpSp>
      <p:grpSp>
        <p:nvGrpSpPr>
          <p:cNvPr id="23" name="c1-graph-1"/>
          <p:cNvGrpSpPr/>
          <p:nvPr/>
        </p:nvGrpSpPr>
        <p:grpSpPr>
          <a:xfrm>
            <a:off x="833437" y="2125504"/>
            <a:ext cx="5391341" cy="3977164"/>
            <a:chOff x="833437" y="2125504"/>
            <a:chExt cx="5391341" cy="3977164"/>
          </a:xfrm>
        </p:grpSpPr>
        <p:sp>
          <p:nvSpPr>
            <p:cNvPr id="9" name="Freeform 9"/>
            <p:cNvSpPr/>
            <p:nvPr/>
          </p:nvSpPr>
          <p:spPr>
            <a:xfrm>
              <a:off x="1191578" y="3193732"/>
              <a:ext cx="1944052" cy="1044892"/>
            </a:xfrm>
            <a:custGeom>
              <a:avLst/>
              <a:gdLst/>
              <a:ahLst/>
              <a:cxnLst/>
              <a:rect l="l" t="t" r="r" b="b"/>
              <a:pathLst>
                <a:path w="1944052" h="1044892">
                  <a:moveTo>
                    <a:pt x="0" y="1044892"/>
                  </a:moveTo>
                  <a:lnTo>
                    <a:pt x="19440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50945" y="3193732"/>
              <a:ext cx="1771650" cy="1024890"/>
            </a:xfrm>
            <a:custGeom>
              <a:avLst/>
              <a:gdLst/>
              <a:ahLst/>
              <a:cxnLst/>
              <a:rect l="l" t="t" r="r" b="b"/>
              <a:pathLst>
                <a:path w="1771650" h="1024890">
                  <a:moveTo>
                    <a:pt x="0" y="0"/>
                  </a:moveTo>
                  <a:lnTo>
                    <a:pt x="1771650" y="10248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169092" y="4340542"/>
              <a:ext cx="1069658" cy="9525"/>
            </a:xfrm>
            <a:custGeom>
              <a:avLst/>
              <a:gdLst/>
              <a:ahLst/>
              <a:cxnLst/>
              <a:rect l="l" t="t" r="r" b="b"/>
              <a:pathLst>
                <a:path w="1069658" h="9525">
                  <a:moveTo>
                    <a:pt x="0" y="0"/>
                  </a:moveTo>
                  <a:lnTo>
                    <a:pt x="10696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50945" y="4462462"/>
              <a:ext cx="1771650" cy="1025843"/>
            </a:xfrm>
            <a:custGeom>
              <a:avLst/>
              <a:gdLst/>
              <a:ahLst/>
              <a:cxnLst/>
              <a:rect l="l" t="t" r="r" b="b"/>
              <a:pathLst>
                <a:path w="1771650" h="1025843">
                  <a:moveTo>
                    <a:pt x="0" y="1025843"/>
                  </a:moveTo>
                  <a:lnTo>
                    <a:pt x="17716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835468" y="2578418"/>
              <a:ext cx="3238500" cy="3524250"/>
            </a:xfrm>
            <a:prstGeom prst="roundRect">
              <a:avLst>
                <a:gd name="adj" fmla="val 294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45092" y="2850832"/>
              <a:ext cx="16192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740342" y="4169092"/>
              <a:ext cx="14287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40342" y="5488305"/>
              <a:ext cx="14287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437" y="42662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3322" y="426624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保险销售人员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63990" y="29479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签署保险文件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4761" y="426624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销售统计表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44761" y="558450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客户统计表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03067" y="21255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保险业务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680835" y="1967865"/>
            <a:ext cx="4977765" cy="1316355"/>
            <a:chOff x="6680835" y="1967865"/>
            <a:chExt cx="4977765" cy="1316355"/>
          </a:xfrm>
        </p:grpSpPr>
        <p:sp>
          <p:nvSpPr>
            <p:cNvPr id="24" name="Rectangle 24"/>
            <p:cNvSpPr/>
            <p:nvPr/>
          </p:nvSpPr>
          <p:spPr>
            <a:xfrm>
              <a:off x="6680835" y="1967865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90385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72694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通信关联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82765" y="255460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无论有没有箭头，通信关联都表示双向会话。箭头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只表示是哪一方触发了这个 Use Case。</a:t>
              </a:r>
            </a:p>
          </p:txBody>
        </p:sp>
      </p:grpSp>
      <p:grpSp>
        <p:nvGrpSpPr>
          <p:cNvPr id="34" name="c2-kv-2"/>
          <p:cNvGrpSpPr/>
          <p:nvPr/>
        </p:nvGrpSpPr>
        <p:grpSpPr>
          <a:xfrm>
            <a:off x="6673215" y="3499485"/>
            <a:ext cx="4985385" cy="1015365"/>
            <a:chOff x="6673215" y="3499485"/>
            <a:chExt cx="4985385" cy="1015365"/>
          </a:xfrm>
        </p:grpSpPr>
        <p:sp>
          <p:nvSpPr>
            <p:cNvPr id="29" name="TextBox 29"/>
            <p:cNvSpPr txBox="1"/>
            <p:nvPr/>
          </p:nvSpPr>
          <p:spPr>
            <a:xfrm>
              <a:off x="6673215" y="3499485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主动 Actor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53375" y="3499485"/>
              <a:ext cx="33966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 Use Case 的一方，箭头由它指向用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80835" y="410146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73215" y="4221480"/>
              <a:ext cx="1073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被动 Actor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3375" y="422148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不触发用例，只在用例执行中被用到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6680835" y="4646295"/>
            <a:ext cx="4977765" cy="782955"/>
            <a:chOff x="6680835" y="4646295"/>
            <a:chExt cx="4977765" cy="782955"/>
          </a:xfrm>
        </p:grpSpPr>
        <p:sp>
          <p:nvSpPr>
            <p:cNvPr id="35" name="Rectangle 35"/>
            <p:cNvSpPr/>
            <p:nvPr/>
          </p:nvSpPr>
          <p:spPr>
            <a:xfrm>
              <a:off x="6680835" y="464629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885623" y="4937760"/>
              <a:ext cx="200026" cy="200025"/>
              <a:chOff x="6885623" y="4937760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85623" y="49377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25361" y="49822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60077" y="50933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187565" y="479488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画完用例图先自查：每个用例是否都至少连着一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 Actor，每个 Actor 是否都在边界之外。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用例规约：用结构化英语把一个用例写清楚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705092" cy="278702"/>
            <a:chOff x="526161" y="1547336"/>
            <a:chExt cx="670509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图只给出名字，真正的需求写在规约里。先定一份规约模板，全项目统一使用。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33400" y="1941195"/>
            <a:ext cx="6059805" cy="4276725"/>
            <a:chOff x="533400" y="1941195"/>
            <a:chExt cx="6059805" cy="42767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3490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栏目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0592" y="2069782"/>
              <a:ext cx="1682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示例：PaySalesTax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270" y="2514600"/>
              <a:ext cx="1209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 / 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49639" y="2514600"/>
              <a:ext cx="1397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PaySalesTax / 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260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30830"/>
              <a:ext cx="605980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958465"/>
              <a:ext cx="1612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Brief description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49639" y="295846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在每个财务季度末向税务机关缴纳销售税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708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2270" y="3403282"/>
              <a:ext cx="125587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Primary /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Second actors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49639" y="3523298"/>
              <a:ext cx="1841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 / Tax Authority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557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60495"/>
              <a:ext cx="605980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4088130"/>
              <a:ext cx="1288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Preconditions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49639" y="4088130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到了财务季度末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99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2270" y="4652962"/>
              <a:ext cx="897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flow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360295" y="4413885"/>
              <a:ext cx="4222432" cy="6657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49639" y="4532948"/>
              <a:ext cx="363131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季度末到来时用例开始 2. 系统算出应缴税额</a:t>
              </a:r>
            </a:p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系统向税务机关发出电子支付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0844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089208"/>
              <a:ext cx="605980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2270" y="5217795"/>
              <a:ext cx="1393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Postconditions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49639" y="5217795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税务机关收到正确的税额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5292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270" y="5661660"/>
              <a:ext cx="101284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Alternative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49639" y="5781675"/>
              <a:ext cx="419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41195"/>
              <a:ext cx="6059805" cy="42767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46008" y="1941195"/>
              <a:ext cx="9525" cy="42767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bullets-1"/>
          <p:cNvGrpSpPr/>
          <p:nvPr/>
        </p:nvGrpSpPr>
        <p:grpSpPr>
          <a:xfrm>
            <a:off x="6891147" y="1964055"/>
            <a:ext cx="3669822" cy="2139505"/>
            <a:chOff x="6891147" y="1964055"/>
            <a:chExt cx="3669822" cy="2139505"/>
          </a:xfrm>
        </p:grpSpPr>
        <p:sp>
          <p:nvSpPr>
            <p:cNvPr id="39" name="TextBox 39"/>
            <p:cNvSpPr txBox="1"/>
            <p:nvPr/>
          </p:nvSpPr>
          <p:spPr>
            <a:xfrm>
              <a:off x="6891147" y="19640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写规约的几条约定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898005" y="2311718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8577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34987" y="22840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全项目先定好一份规约标准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898005" y="262318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34987" y="25946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用结构化英语书写，步骤编号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898005" y="293465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34987" y="2906077"/>
              <a:ext cx="3425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主动 Actor 触发用例，被动 Actor 不触发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898005" y="324612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34987" y="321754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前置条件约束用例开始之前的系统状态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898005" y="355663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34987" y="352806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后置条件约束用例执行之后的系统状态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898005" y="386810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34987" y="3839527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主事件流只描述“完美世界”下的步骤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898005" y="4225290"/>
            <a:ext cx="4760595" cy="1992630"/>
            <a:chOff x="6898005" y="4225290"/>
            <a:chExt cx="4760595" cy="1992630"/>
          </a:xfrm>
        </p:grpSpPr>
        <p:sp>
          <p:nvSpPr>
            <p:cNvPr id="53" name="Rectangle 53"/>
            <p:cNvSpPr/>
            <p:nvPr/>
          </p:nvSpPr>
          <p:spPr>
            <a:xfrm>
              <a:off x="6898005" y="4225290"/>
              <a:ext cx="4760595" cy="1992630"/>
            </a:xfrm>
            <a:prstGeom prst="roundRect">
              <a:avLst>
                <a:gd name="adj" fmla="val 6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07530" y="4358640"/>
              <a:ext cx="47625" cy="17259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8510" y="44176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19950" y="44519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21652" y="4774882"/>
              <a:ext cx="41208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源课件该页把 Tax Authority 误拼为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Tax Autority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amount 误拼为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amunt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，此处已改正。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02654" cy="909257"/>
            <a:chOff x="520446" y="342900"/>
            <a:chExt cx="63026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026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事件流里的分支与循环：If、For、While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558130" cy="278702"/>
            <a:chOff x="526161" y="1547336"/>
            <a:chExt cx="555813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主事件流用三个关键字表达控制结构，子步骤用小数点编号缩进。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41195"/>
            <a:ext cx="5410200" cy="1574482"/>
            <a:chOff x="533400" y="1941195"/>
            <a:chExt cx="5410200" cy="157448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3286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538" y="2167890"/>
              <a:ext cx="140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9960" y="2173605"/>
              <a:ext cx="20297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ManageBasket（ID 2）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3905" y="249555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95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4702" y="2507932"/>
              <a:ext cx="3454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 选中购物篮中的一项，用例开始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3905" y="279844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83" y="2836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4702" y="2810827"/>
              <a:ext cx="4642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Customer 选择“删除该项” 2.1 系统把该项移出购物篮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3905" y="310038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83" y="31397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702" y="3112770"/>
              <a:ext cx="4442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Customer 输入了新的数量 3.1 系统更新该项的数量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690938"/>
            <a:ext cx="5410200" cy="1831658"/>
            <a:chOff x="533400" y="3690938"/>
            <a:chExt cx="5410200" cy="1831658"/>
          </a:xfrm>
        </p:grpSpPr>
        <p:sp>
          <p:nvSpPr>
            <p:cNvPr id="24" name="Rectangle 24"/>
            <p:cNvSpPr/>
            <p:nvPr/>
          </p:nvSpPr>
          <p:spPr>
            <a:xfrm>
              <a:off x="533400" y="3690938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824288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3883342"/>
              <a:ext cx="5524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0925" y="3917632"/>
              <a:ext cx="378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While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3797" y="3923348"/>
              <a:ext cx="2607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ShowCompanyDetails（ID 4）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3905" y="424529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9583" y="42836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702" y="4257675"/>
              <a:ext cx="3473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 选择“显示公司详情”，用例开始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3905" y="454818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9583" y="45865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702" y="45605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系统显示公司详情网页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3905" y="485013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9583" y="48894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4702" y="4862512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Customer 正在浏览 3.1 系统播放背景音乐并显示特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价横幅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248400" y="1941195"/>
            <a:ext cx="5410200" cy="3581400"/>
            <a:chOff x="6248400" y="1941195"/>
            <a:chExt cx="5410200" cy="3581400"/>
          </a:xfrm>
        </p:grpSpPr>
        <p:sp>
          <p:nvSpPr>
            <p:cNvPr id="39" name="Rectangle 39"/>
            <p:cNvSpPr/>
            <p:nvPr/>
          </p:nvSpPr>
          <p:spPr>
            <a:xfrm>
              <a:off x="6248400" y="1941195"/>
              <a:ext cx="5410200" cy="3581400"/>
            </a:xfrm>
            <a:prstGeom prst="roundRect">
              <a:avLst>
                <a:gd name="adj" fmla="val 3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2074545"/>
              <a:ext cx="47625" cy="3314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8905" y="2133600"/>
              <a:ext cx="93059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1896" y="2167890"/>
              <a:ext cx="785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For 与 Else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6939" y="2173605"/>
              <a:ext cx="1838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FindProduct（ID 3）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78905" y="249555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45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9702" y="2507932"/>
              <a:ext cx="3109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 选择“查找商品”，用例开始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78905" y="279844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34583" y="2836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59702" y="2810827"/>
              <a:ext cx="4256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系统索要检索条件；3. Customer 输入所要求的条件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78905" y="310038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34583" y="31397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59702" y="31127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系统按条件检索商品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78905" y="340328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34583" y="34416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59702" y="3415665"/>
              <a:ext cx="4182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系统找到了匹配的商品 then 5.1 For 每一件商品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2047" y="3717608"/>
              <a:ext cx="3975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5.1.1～5.1.3 依次显示缩略图、详情摘要、价格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78905" y="400812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34583" y="4046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59702" y="4020502"/>
              <a:ext cx="3738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Else 6.1 系统告诉 Customer 没有匹配的商品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1" name="Rectangle 6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编号层次就是控制结构的嵌套层次，读规约时先看缩进再看文字。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备选流：一个用例一条主流，可以有多条备选流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69280" cy="293370"/>
            <a:chOff x="525780" y="1548765"/>
            <a:chExt cx="56692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备选流往往不回到主流，需要回到主流时必须写明回到第几步。</a:t>
              </a:r>
            </a:p>
          </p:txBody>
        </p:sp>
      </p:grpSp>
      <p:grpSp>
        <p:nvGrpSpPr>
          <p:cNvPr id="19" name="c1-bullets-1"/>
          <p:cNvGrpSpPr/>
          <p:nvPr/>
        </p:nvGrpSpPr>
        <p:grpSpPr>
          <a:xfrm>
            <a:off x="526161" y="1977866"/>
            <a:ext cx="4649787" cy="2354199"/>
            <a:chOff x="526161" y="1977866"/>
            <a:chExt cx="4649787" cy="2354199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备选流被触发的三种方式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0124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23415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2314099"/>
              <a:ext cx="43516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代替主流被触发，写成“The alternative flow may be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triggered instead of the main flow”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89941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939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912269"/>
              <a:ext cx="42614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在主流的某个特定步骤之后被触发，写成“The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alternative flow begins after step X of the main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flow”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6904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38093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3781901"/>
              <a:ext cx="36573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在主流执行期间的任何时刻被触发，写成“The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alternative flow begins at any time”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455795"/>
            <a:ext cx="4977765" cy="1226820"/>
            <a:chOff x="533400" y="4455795"/>
            <a:chExt cx="4977765" cy="1226820"/>
          </a:xfrm>
        </p:grpSpPr>
        <p:sp>
          <p:nvSpPr>
            <p:cNvPr id="20" name="Rectangle 20"/>
            <p:cNvSpPr/>
            <p:nvPr/>
          </p:nvSpPr>
          <p:spPr>
            <a:xfrm>
              <a:off x="533400" y="4455795"/>
              <a:ext cx="4977765" cy="1226820"/>
            </a:xfrm>
            <a:prstGeom prst="roundRect">
              <a:avLst>
                <a:gd name="adj" fmla="val 9317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69195"/>
              <a:ext cx="200023" cy="200023"/>
              <a:chOff x="738188" y="4969195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9691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035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838224"/>
              <a:ext cx="393687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希望备选流回到主流时，写 “N. The alternative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flow returns to step M of the main flow.”。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5815965" y="1954530"/>
            <a:ext cx="5842635" cy="1904048"/>
            <a:chOff x="5815965" y="1954530"/>
            <a:chExt cx="5842635" cy="1904048"/>
          </a:xfrm>
        </p:grpSpPr>
        <p:sp>
          <p:nvSpPr>
            <p:cNvPr id="26" name="Rectangle 26"/>
            <p:cNvSpPr/>
            <p:nvPr/>
          </p:nvSpPr>
          <p:spPr>
            <a:xfrm>
              <a:off x="5815965" y="1954530"/>
              <a:ext cx="5842635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25490" y="2087880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52185" y="215265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39624" y="218694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主用例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8846" y="2187416"/>
              <a:ext cx="3512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CreateNewCustomerAccount（ID 5）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52185" y="251936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10530" y="2558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42126" y="2531269"/>
              <a:ext cx="28885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 选择“创建新客户账户”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052185" y="283654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10530" y="28768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2126" y="284940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客户资料无效 2.1 要求输入邮箱、口令、确认口令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校验资料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52185" y="342614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10530" y="346552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2126" y="343804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系统创建新账户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5815965" y="4039552"/>
            <a:ext cx="5842635" cy="1643062"/>
            <a:chOff x="5815965" y="4039552"/>
            <a:chExt cx="5842635" cy="1643062"/>
          </a:xfrm>
        </p:grpSpPr>
        <p:sp>
          <p:nvSpPr>
            <p:cNvPr id="41" name="Rectangle 41"/>
            <p:cNvSpPr/>
            <p:nvPr/>
          </p:nvSpPr>
          <p:spPr>
            <a:xfrm>
              <a:off x="5815965" y="4039552"/>
              <a:ext cx="5842635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14490" y="417147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备选流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8668" y="41714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触发方式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17480" y="41714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后置条件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17311" y="4634389"/>
              <a:ext cx="169028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InvalidEmailAddres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5.1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03274" y="4634389"/>
              <a:ext cx="132194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主流第 2.2 步之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56826" y="476107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52139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15965" y="5218748"/>
              <a:ext cx="584263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17311" y="5351621"/>
              <a:ext cx="1027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Cancel 5.2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03274" y="5351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任何时刻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56826" y="53516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账户未被创建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4039552"/>
              <a:ext cx="5842635" cy="16430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97165" y="4039552"/>
              <a:ext cx="9525" cy="1643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550718" y="4039552"/>
              <a:ext cx="9525" cy="1643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7" name="Rectangle 5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11704"/>
              <a:ext cx="86408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更正：源课件 CreateNewCustomerAccount 的后置条件把 created 误拼为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cteated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，此处已改正。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4806" cy="909257"/>
            <a:chOff x="520446" y="342900"/>
            <a:chExt cx="71648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48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 泛化：把公共的用例提到抽象 Actor 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62316" cy="293370"/>
            <a:chOff x="525780" y="1548765"/>
            <a:chExt cx="786231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62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 Actor 用到同一批用例时，抽出一个父 Actor，子 Actor 继承它的全部通信关联。</a:t>
              </a:r>
            </a:p>
          </p:txBody>
        </p:sp>
      </p:grpSp>
      <p:grpSp>
        <p:nvGrpSpPr>
          <p:cNvPr id="30" name="c1-graph-1"/>
          <p:cNvGrpSpPr/>
          <p:nvPr/>
        </p:nvGrpSpPr>
        <p:grpSpPr>
          <a:xfrm>
            <a:off x="550657" y="2335530"/>
            <a:ext cx="5260545" cy="3614166"/>
            <a:chOff x="550657" y="2335530"/>
            <a:chExt cx="5260545" cy="3614166"/>
          </a:xfrm>
        </p:grpSpPr>
        <p:sp>
          <p:nvSpPr>
            <p:cNvPr id="9" name="Freeform 9"/>
            <p:cNvSpPr/>
            <p:nvPr/>
          </p:nvSpPr>
          <p:spPr>
            <a:xfrm>
              <a:off x="1782128" y="2577465"/>
              <a:ext cx="2297430" cy="293370"/>
            </a:xfrm>
            <a:custGeom>
              <a:avLst/>
              <a:gdLst/>
              <a:ahLst/>
              <a:cxnLst/>
              <a:rect l="l" t="t" r="r" b="b"/>
              <a:pathLst>
                <a:path w="2297430" h="293370">
                  <a:moveTo>
                    <a:pt x="0" y="293370"/>
                  </a:moveTo>
                  <a:lnTo>
                    <a:pt x="22974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82128" y="3004185"/>
              <a:ext cx="2264092" cy="433388"/>
            </a:xfrm>
            <a:custGeom>
              <a:avLst/>
              <a:gdLst/>
              <a:ahLst/>
              <a:cxnLst/>
              <a:rect l="l" t="t" r="r" b="b"/>
              <a:pathLst>
                <a:path w="2264092" h="433388">
                  <a:moveTo>
                    <a:pt x="0" y="0"/>
                  </a:moveTo>
                  <a:lnTo>
                    <a:pt x="2264092" y="4333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69645" y="3140392"/>
              <a:ext cx="362903" cy="2306955"/>
            </a:xfrm>
            <a:custGeom>
              <a:avLst/>
              <a:gdLst/>
              <a:ahLst/>
              <a:cxnLst/>
              <a:rect l="l" t="t" r="r" b="b"/>
              <a:pathLst>
                <a:path w="362903" h="2306955">
                  <a:moveTo>
                    <a:pt x="0" y="2306955"/>
                  </a:moveTo>
                  <a:lnTo>
                    <a:pt x="3629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85875" y="3046095"/>
              <a:ext cx="93345" cy="101917"/>
            </a:xfrm>
            <a:custGeom>
              <a:avLst/>
              <a:gdLst/>
              <a:ahLst/>
              <a:cxnLst/>
              <a:rect l="l" t="t" r="r" b="b"/>
              <a:pathLst>
                <a:path w="93345" h="101917">
                  <a:moveTo>
                    <a:pt x="61912" y="0"/>
                  </a:moveTo>
                  <a:lnTo>
                    <a:pt x="93345" y="101917"/>
                  </a:lnTo>
                  <a:lnTo>
                    <a:pt x="0" y="866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28750" y="3137535"/>
              <a:ext cx="676275" cy="2309812"/>
            </a:xfrm>
            <a:custGeom>
              <a:avLst/>
              <a:gdLst/>
              <a:ahLst/>
              <a:cxnLst/>
              <a:rect l="l" t="t" r="r" b="b"/>
              <a:pathLst>
                <a:path w="676275" h="2309812">
                  <a:moveTo>
                    <a:pt x="676275" y="23098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3030" y="3046095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19050" y="0"/>
                  </a:moveTo>
                  <a:lnTo>
                    <a:pt x="91440" y="7810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387918" y="4835842"/>
              <a:ext cx="1981200" cy="651510"/>
            </a:xfrm>
            <a:custGeom>
              <a:avLst/>
              <a:gdLst/>
              <a:ahLst/>
              <a:cxnLst/>
              <a:rect l="l" t="t" r="r" b="b"/>
              <a:pathLst>
                <a:path w="1981200" h="651510">
                  <a:moveTo>
                    <a:pt x="0" y="651510"/>
                  </a:moveTo>
                  <a:lnTo>
                    <a:pt x="19812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387918" y="5589270"/>
              <a:ext cx="1437323" cy="119062"/>
            </a:xfrm>
            <a:custGeom>
              <a:avLst/>
              <a:gdLst/>
              <a:ahLst/>
              <a:cxnLst/>
              <a:rect l="l" t="t" r="r" b="b"/>
              <a:pathLst>
                <a:path w="1437323" h="119062">
                  <a:moveTo>
                    <a:pt x="0" y="0"/>
                  </a:moveTo>
                  <a:lnTo>
                    <a:pt x="1437323" y="1190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79558" y="2335530"/>
              <a:ext cx="14782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10025" y="3437572"/>
              <a:ext cx="1617345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987165" y="4539615"/>
              <a:ext cx="1663065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25240" y="5641658"/>
              <a:ext cx="1985962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8289" y="2849880"/>
              <a:ext cx="85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Purchaser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0657" y="5494972"/>
              <a:ext cx="797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98302" y="549497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8974" y="2408872"/>
              <a:ext cx="1099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ListProducts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83815" y="3510915"/>
              <a:ext cx="1269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OrderProducts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3815" y="4612958"/>
              <a:ext cx="1269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AcceptPayment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72240" y="5715000"/>
              <a:ext cx="1692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CalculateCommission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95362" y="415385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1359" y="41886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782181" y="1977866"/>
            <a:ext cx="4876419" cy="1657922"/>
            <a:chOff x="6782181" y="1977866"/>
            <a:chExt cx="4876419" cy="1657922"/>
          </a:xfrm>
        </p:grpSpPr>
        <p:sp>
          <p:nvSpPr>
            <p:cNvPr id="31" name="TextBox 31"/>
            <p:cNvSpPr txBox="1"/>
            <p:nvPr/>
          </p:nvSpPr>
          <p:spPr>
            <a:xfrm>
              <a:off x="6782181" y="1977866"/>
              <a:ext cx="1015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抽象 Actor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07096" y="1977866"/>
              <a:ext cx="343192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Purchaser，本身不对应具体的人，只承载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公共关联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255174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2181" y="2667476"/>
              <a:ext cx="8187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祖先 / 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07096" y="266747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被继承的一方，箭头指向它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89420" y="29737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2181" y="3089434"/>
              <a:ext cx="8187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后代 / 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07096" y="3089434"/>
              <a:ext cx="343192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 和 Agent，自动获得父的全部通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信关联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789420" y="3765232"/>
            <a:ext cx="4869180" cy="1584008"/>
            <a:chOff x="6789420" y="3765232"/>
            <a:chExt cx="4869180" cy="1584008"/>
          </a:xfrm>
        </p:grpSpPr>
        <p:sp>
          <p:nvSpPr>
            <p:cNvPr id="40" name="Rectangle 40"/>
            <p:cNvSpPr/>
            <p:nvPr/>
          </p:nvSpPr>
          <p:spPr>
            <a:xfrm>
              <a:off x="6789420" y="3765232"/>
              <a:ext cx="4869180" cy="1584008"/>
            </a:xfrm>
            <a:prstGeom prst="roundRect">
              <a:avLst>
                <a:gd name="adj" fmla="val 8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98945" y="3898582"/>
              <a:ext cx="47625" cy="1317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24116" y="399240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这张图表达的意思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24116" y="4330541"/>
              <a:ext cx="43650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 能做：ListProducts、OrderProducts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24116" y="4650581"/>
              <a:ext cx="39368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Agent 能做：ListProducts、OrderProducts、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AcceptPayment、CalculateCommission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789420" y="5534025"/>
            <a:ext cx="4869180" cy="518160"/>
            <a:chOff x="6789420" y="5534025"/>
            <a:chExt cx="4869180" cy="518160"/>
          </a:xfrm>
        </p:grpSpPr>
        <p:sp>
          <p:nvSpPr>
            <p:cNvPr id="46" name="Rectangle 46"/>
            <p:cNvSpPr/>
            <p:nvPr/>
          </p:nvSpPr>
          <p:spPr>
            <a:xfrm>
              <a:off x="6789420" y="5534025"/>
              <a:ext cx="486918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994208" y="5693093"/>
              <a:ext cx="200026" cy="200025"/>
              <a:chOff x="6994208" y="569309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994208" y="56930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033946" y="57375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068662" y="58486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296531" y="569356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泛化箭头是空心三角形，方向永远由子指向父。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用例泛化：子用例在父用例的步骤上做覆盖与插入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40450" cy="278702"/>
            <a:chOff x="526161" y="1547336"/>
            <a:chExt cx="59404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子用例继承父用例的事件流，可以改写某些步骤，也可以插入新步骤。</a:t>
              </a:r>
            </a:p>
          </p:txBody>
        </p:sp>
      </p:grpSp>
      <p:grpSp>
        <p:nvGrpSpPr>
          <p:cNvPr id="22" name="c1-graph-1"/>
          <p:cNvGrpSpPr/>
          <p:nvPr/>
        </p:nvGrpSpPr>
        <p:grpSpPr>
          <a:xfrm>
            <a:off x="615331" y="1964055"/>
            <a:ext cx="4211939" cy="1947387"/>
            <a:chOff x="615331" y="1964055"/>
            <a:chExt cx="4211939" cy="1947387"/>
          </a:xfrm>
        </p:grpSpPr>
        <p:sp>
          <p:nvSpPr>
            <p:cNvPr id="9" name="Freeform 9"/>
            <p:cNvSpPr/>
            <p:nvPr/>
          </p:nvSpPr>
          <p:spPr>
            <a:xfrm>
              <a:off x="1353502" y="2652712"/>
              <a:ext cx="1443038" cy="383858"/>
            </a:xfrm>
            <a:custGeom>
              <a:avLst/>
              <a:gdLst/>
              <a:ahLst/>
              <a:cxnLst/>
              <a:rect l="l" t="t" r="r" b="b"/>
              <a:pathLst>
                <a:path w="1443038" h="383858">
                  <a:moveTo>
                    <a:pt x="0" y="383858"/>
                  </a:moveTo>
                  <a:lnTo>
                    <a:pt x="14430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48890" y="2729865"/>
              <a:ext cx="640080" cy="884872"/>
            </a:xfrm>
            <a:custGeom>
              <a:avLst/>
              <a:gdLst/>
              <a:ahLst/>
              <a:cxnLst/>
              <a:rect l="l" t="t" r="r" b="b"/>
              <a:pathLst>
                <a:path w="640080" h="884872">
                  <a:moveTo>
                    <a:pt x="0" y="884872"/>
                  </a:moveTo>
                  <a:lnTo>
                    <a:pt x="6400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49918" y="2652712"/>
              <a:ext cx="94298" cy="104775"/>
            </a:xfrm>
            <a:custGeom>
              <a:avLst/>
              <a:gdLst/>
              <a:ahLst/>
              <a:cxnLst/>
              <a:rect l="l" t="t" r="r" b="b"/>
              <a:pathLst>
                <a:path w="94298" h="104775">
                  <a:moveTo>
                    <a:pt x="94298" y="0"/>
                  </a:moveTo>
                  <a:lnTo>
                    <a:pt x="77153" y="104775"/>
                  </a:lnTo>
                  <a:lnTo>
                    <a:pt x="0" y="4857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527108" y="2727008"/>
              <a:ext cx="706755" cy="887730"/>
            </a:xfrm>
            <a:custGeom>
              <a:avLst/>
              <a:gdLst/>
              <a:ahLst/>
              <a:cxnLst/>
              <a:rect l="l" t="t" r="r" b="b"/>
              <a:pathLst>
                <a:path w="706755" h="887730">
                  <a:moveTo>
                    <a:pt x="706755" y="8877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68052" y="2652712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0" y="0"/>
                  </a:moveTo>
                  <a:lnTo>
                    <a:pt x="97155" y="44767"/>
                  </a:lnTo>
                  <a:lnTo>
                    <a:pt x="21907" y="1038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701290" y="2357438"/>
              <a:ext cx="1300162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00238" y="3614738"/>
              <a:ext cx="1083945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873818" y="3614738"/>
              <a:ext cx="953452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5331" y="3063716"/>
              <a:ext cx="7448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Customer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81347" y="2435066"/>
              <a:ext cx="939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FindProduct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03347" y="3691414"/>
              <a:ext cx="67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FindBook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97045" y="3691414"/>
              <a:ext cx="5079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FindCD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5402" y="1964055"/>
              <a:ext cx="8109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sales system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83392"/>
            <a:ext cx="4544378" cy="1250632"/>
            <a:chOff x="533400" y="4283392"/>
            <a:chExt cx="4544378" cy="1250632"/>
          </a:xfrm>
        </p:grpSpPr>
        <p:sp>
          <p:nvSpPr>
            <p:cNvPr id="23" name="Rectangle 23"/>
            <p:cNvSpPr/>
            <p:nvPr/>
          </p:nvSpPr>
          <p:spPr>
            <a:xfrm>
              <a:off x="533400" y="4283392"/>
              <a:ext cx="4544378" cy="1250632"/>
            </a:xfrm>
            <a:prstGeom prst="roundRect">
              <a:avLst>
                <a:gd name="adj" fmla="val 913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809173"/>
              <a:ext cx="200026" cy="200026"/>
              <a:chOff x="738188" y="4809173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809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4875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49091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4690110"/>
              <a:ext cx="354558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FindBook 的规约里写 Parent ID: 6，表示它泛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化自 FindProduct。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5382578" y="1941195"/>
            <a:ext cx="6276022" cy="3592831"/>
            <a:chOff x="5382578" y="1941195"/>
            <a:chExt cx="6276022" cy="3592831"/>
          </a:xfrm>
        </p:grpSpPr>
        <p:sp>
          <p:nvSpPr>
            <p:cNvPr id="30" name="Rectangle 30"/>
            <p:cNvSpPr/>
            <p:nvPr/>
          </p:nvSpPr>
          <p:spPr>
            <a:xfrm>
              <a:off x="5382578" y="1941195"/>
              <a:ext cx="6276022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08308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22244" y="2069782"/>
              <a:ext cx="2412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“FindProduct（父，ID 6）”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03726" y="2069782"/>
              <a:ext cx="209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“FindBook（子，ID 7）”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81447" y="2514600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“1”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09144" y="25146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选择“查找商品”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44712" y="2514600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“o1. 选择“查找图书””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82578" y="28260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82578" y="2830830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1447" y="2958465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“2”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09144" y="295846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索要检索条件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44712" y="2958465"/>
              <a:ext cx="2402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“o2. 索要作者、书名、ISBN”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32708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1447" y="3403282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“3”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09144" y="34032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输入条件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655368" y="3285172"/>
              <a:ext cx="2993708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44712" y="3403282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“原样继承”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37157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82578" y="3720465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81447" y="3848100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“4”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09144" y="38481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按条件检索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44712" y="3848100"/>
              <a:ext cx="1294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“o4. 检索图书”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41595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81447" y="4412932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“5”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09144" y="441293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若找到则列出匹配商品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44712" y="4292918"/>
              <a:ext cx="269690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“o5. 先显示畅销书，再最多列 5 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并支持翻页”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48444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82578" y="4849178"/>
              <a:ext cx="6276022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81447" y="5097780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“6”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09144" y="50977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否则提示没有匹配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44712" y="4977765"/>
              <a:ext cx="267119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“o6. 先显示畅销书，再提示没有匹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配”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1941195"/>
              <a:ext cx="6276022" cy="35928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05512" y="1941195"/>
              <a:ext cx="9525" cy="35928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641080" y="1941195"/>
              <a:ext cx="9525" cy="35928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5" name="Rectangle 6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7701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规约里带 o 前缀的编号表示覆盖（override）父用例的对应步骤，不带前缀的是新插入的步骤。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9176" cy="909257"/>
            <a:chOff x="520446" y="342900"/>
            <a:chExt cx="7069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91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《include》：把公共步骤抽成一个被包含用例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618558" cy="264033"/>
            <a:chOff x="526542" y="1545907"/>
            <a:chExt cx="661855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618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基用例在自己的主流里显式写一句 Include(…)，缺了这个被包含用例它就不完整。</a:t>
              </a:r>
            </a:p>
          </p:txBody>
        </p:sp>
      </p:grpSp>
      <p:grpSp>
        <p:nvGrpSpPr>
          <p:cNvPr id="30" name="c1-graph-1"/>
          <p:cNvGrpSpPr/>
          <p:nvPr/>
        </p:nvGrpSpPr>
        <p:grpSpPr>
          <a:xfrm>
            <a:off x="619423" y="1972151"/>
            <a:ext cx="5303222" cy="3910108"/>
            <a:chOff x="619423" y="1972151"/>
            <a:chExt cx="5303222" cy="3910108"/>
          </a:xfrm>
        </p:grpSpPr>
        <p:sp>
          <p:nvSpPr>
            <p:cNvPr id="9" name="Freeform 9"/>
            <p:cNvSpPr/>
            <p:nvPr/>
          </p:nvSpPr>
          <p:spPr>
            <a:xfrm>
              <a:off x="1034415" y="2861310"/>
              <a:ext cx="1277302" cy="1266825"/>
            </a:xfrm>
            <a:custGeom>
              <a:avLst/>
              <a:gdLst/>
              <a:ahLst/>
              <a:cxnLst/>
              <a:rect l="l" t="t" r="r" b="b"/>
              <a:pathLst>
                <a:path w="1277302" h="1266825">
                  <a:moveTo>
                    <a:pt x="0" y="1266825"/>
                  </a:moveTo>
                  <a:lnTo>
                    <a:pt x="12773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35392" y="4234815"/>
              <a:ext cx="435293" cy="9525"/>
            </a:xfrm>
            <a:custGeom>
              <a:avLst/>
              <a:gdLst/>
              <a:ahLst/>
              <a:cxnLst/>
              <a:rect l="l" t="t" r="r" b="b"/>
              <a:pathLst>
                <a:path w="435293" h="9525">
                  <a:moveTo>
                    <a:pt x="0" y="0"/>
                  </a:moveTo>
                  <a:lnTo>
                    <a:pt x="4352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34415" y="4341495"/>
              <a:ext cx="1277302" cy="1265873"/>
            </a:xfrm>
            <a:custGeom>
              <a:avLst/>
              <a:gdLst/>
              <a:ahLst/>
              <a:cxnLst/>
              <a:rect l="l" t="t" r="r" b="b"/>
              <a:pathLst>
                <a:path w="1277302" h="1265873">
                  <a:moveTo>
                    <a:pt x="0" y="0"/>
                  </a:moveTo>
                  <a:lnTo>
                    <a:pt x="1277302" y="12658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87002" y="2861310"/>
              <a:ext cx="2136457" cy="1192530"/>
            </a:xfrm>
            <a:custGeom>
              <a:avLst/>
              <a:gdLst/>
              <a:ahLst/>
              <a:cxnLst/>
              <a:rect l="l" t="t" r="r" b="b"/>
              <a:pathLst>
                <a:path w="2136457" h="1192530">
                  <a:moveTo>
                    <a:pt x="0" y="0"/>
                  </a:moveTo>
                  <a:lnTo>
                    <a:pt x="2136457" y="119253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4800600" y="4011930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3820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221355" y="4234815"/>
              <a:ext cx="1055370" cy="9525"/>
            </a:xfrm>
            <a:custGeom>
              <a:avLst/>
              <a:gdLst/>
              <a:ahLst/>
              <a:cxnLst/>
              <a:rect l="l" t="t" r="r" b="b"/>
              <a:pathLst>
                <a:path w="1055370" h="9525">
                  <a:moveTo>
                    <a:pt x="0" y="0"/>
                  </a:moveTo>
                  <a:lnTo>
                    <a:pt x="10553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4276725" y="41871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687002" y="4414838"/>
              <a:ext cx="2136457" cy="1192530"/>
            </a:xfrm>
            <a:custGeom>
              <a:avLst/>
              <a:gdLst/>
              <a:ahLst/>
              <a:cxnLst/>
              <a:rect l="l" t="t" r="r" b="b"/>
              <a:pathLst>
                <a:path w="2136457" h="1192530">
                  <a:moveTo>
                    <a:pt x="0" y="1192530"/>
                  </a:moveTo>
                  <a:lnTo>
                    <a:pt x="21364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4800600" y="4368165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106680" y="0"/>
                  </a:moveTo>
                  <a:lnTo>
                    <a:pt x="46672" y="88582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607820" y="2592705"/>
              <a:ext cx="167640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70685" y="4100512"/>
              <a:ext cx="155067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607820" y="5607368"/>
              <a:ext cx="167640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71975" y="4100512"/>
              <a:ext cx="155067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9423" y="4169093"/>
              <a:ext cx="616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17783" y="2661285"/>
              <a:ext cx="1656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ChangeEmployeeDetails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3192" y="4169093"/>
              <a:ext cx="1485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ViewEmployeeDetails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36485" y="5676900"/>
              <a:ext cx="1619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DeleteEmployeeDetails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9456" y="4169093"/>
              <a:ext cx="1455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FindEmployeeDetails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80435" y="4155758"/>
              <a:ext cx="63341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6614" y="4184809"/>
              <a:ext cx="6001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《include》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47855" y="1972151"/>
              <a:ext cx="9984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Personnel system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457760" y="1950720"/>
            <a:ext cx="5200840" cy="1556575"/>
            <a:chOff x="6457760" y="1950720"/>
            <a:chExt cx="5200840" cy="1556575"/>
          </a:xfrm>
        </p:grpSpPr>
        <p:sp>
          <p:nvSpPr>
            <p:cNvPr id="31" name="TextBox 31"/>
            <p:cNvSpPr txBox="1"/>
            <p:nvPr/>
          </p:nvSpPr>
          <p:spPr>
            <a:xfrm>
              <a:off x="6457760" y="1950720"/>
              <a:ext cx="1035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基用例 base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16049" y="1950720"/>
              <a:ext cx="332270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ChangeEmployeeDetails 等三个，箭头的起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4907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7760" y="2597468"/>
              <a:ext cx="8709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被包含用例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inclusion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6049" y="2597468"/>
              <a:ext cx="2873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FindEmployeeDetails，箭头的终点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31375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57760" y="32432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箭头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16049" y="324326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虚线加开放箭头，从基用例指向被包含用例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624262"/>
            <a:ext cx="5193982" cy="1803082"/>
            <a:chOff x="6464618" y="3624262"/>
            <a:chExt cx="5193982" cy="1803082"/>
          </a:xfrm>
        </p:grpSpPr>
        <p:sp>
          <p:nvSpPr>
            <p:cNvPr id="40" name="Rectangle 40"/>
            <p:cNvSpPr/>
            <p:nvPr/>
          </p:nvSpPr>
          <p:spPr>
            <a:xfrm>
              <a:off x="6464618" y="3624262"/>
              <a:ext cx="5193982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757612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9408" y="381095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4929" y="384381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规约写法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04557" y="3846195"/>
              <a:ext cx="2835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ChangeEmployeeDetails（ID 1）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82549" y="4171950"/>
              <a:ext cx="3114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Preconditions：Manager 已登录系统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82549" y="4471988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flow：1. Include (FindEmployeeDetails). 2. 系统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显示员工详情 3. Manager 修改员工详情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2549" y="5029200"/>
              <a:ext cx="3217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Postconditions：1. 员工详情已被修改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464618" y="5596890"/>
            <a:ext cx="5193982" cy="729615"/>
            <a:chOff x="6464618" y="5596890"/>
            <a:chExt cx="5193982" cy="729615"/>
          </a:xfrm>
        </p:grpSpPr>
        <p:sp>
          <p:nvSpPr>
            <p:cNvPr id="49" name="Rectangle 49"/>
            <p:cNvSpPr/>
            <p:nvPr/>
          </p:nvSpPr>
          <p:spPr>
            <a:xfrm>
              <a:off x="6464618" y="559689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861687"/>
              <a:ext cx="200023" cy="200023"/>
              <a:chOff x="6669405" y="586168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8616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802755" y="59283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2110" y="5742623"/>
              <a:ext cx="43171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三个基用例都要先找到员工，于是把“找员工”抽出来，改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一处即可全体生效。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7716" cy="909257"/>
            <a:chOff x="520446" y="342900"/>
            <a:chExt cx="77377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77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《extend》：基用例留下扩展点，扩展用例挂上去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基用例完全不知道扩展用例的存在，它只提供挂钩，去掉扩展它照样完整。</a:t>
              </a:r>
            </a:p>
          </p:txBody>
        </p:sp>
      </p:grpSp>
      <p:grpSp>
        <p:nvGrpSpPr>
          <p:cNvPr id="26" name="c1-graph-1"/>
          <p:cNvGrpSpPr/>
          <p:nvPr/>
        </p:nvGrpSpPr>
        <p:grpSpPr>
          <a:xfrm>
            <a:off x="628193" y="1949291"/>
            <a:ext cx="5027752" cy="2331816"/>
            <a:chOff x="628193" y="1949291"/>
            <a:chExt cx="5027752" cy="2331816"/>
          </a:xfrm>
        </p:grpSpPr>
        <p:sp>
          <p:nvSpPr>
            <p:cNvPr id="9" name="Freeform 9"/>
            <p:cNvSpPr/>
            <p:nvPr/>
          </p:nvSpPr>
          <p:spPr>
            <a:xfrm>
              <a:off x="1188720" y="2566035"/>
              <a:ext cx="1336358" cy="639128"/>
            </a:xfrm>
            <a:custGeom>
              <a:avLst/>
              <a:gdLst/>
              <a:ahLst/>
              <a:cxnLst/>
              <a:rect l="l" t="t" r="r" b="b"/>
              <a:pathLst>
                <a:path w="1336358" h="639128">
                  <a:moveTo>
                    <a:pt x="0" y="639128"/>
                  </a:moveTo>
                  <a:lnTo>
                    <a:pt x="13363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01115" y="3295650"/>
              <a:ext cx="855345" cy="11430"/>
            </a:xfrm>
            <a:custGeom>
              <a:avLst/>
              <a:gdLst/>
              <a:ahLst/>
              <a:cxnLst/>
              <a:rect l="l" t="t" r="r" b="b"/>
              <a:pathLst>
                <a:path w="855345" h="11430">
                  <a:moveTo>
                    <a:pt x="0" y="11430"/>
                  </a:moveTo>
                  <a:lnTo>
                    <a:pt x="8553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3008" y="3418522"/>
              <a:ext cx="1304925" cy="588645"/>
            </a:xfrm>
            <a:custGeom>
              <a:avLst/>
              <a:gdLst/>
              <a:ahLst/>
              <a:cxnLst/>
              <a:rect l="l" t="t" r="r" b="b"/>
              <a:pathLst>
                <a:path w="1304925" h="588645">
                  <a:moveTo>
                    <a:pt x="0" y="0"/>
                  </a:moveTo>
                  <a:lnTo>
                    <a:pt x="1304925" y="5886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62338" y="2587942"/>
              <a:ext cx="1145858" cy="272415"/>
            </a:xfrm>
            <a:custGeom>
              <a:avLst/>
              <a:gdLst/>
              <a:ahLst/>
              <a:cxnLst/>
              <a:rect l="l" t="t" r="r" b="b"/>
              <a:pathLst>
                <a:path w="1145858" h="272415">
                  <a:moveTo>
                    <a:pt x="1145858" y="2724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3369945" y="2541270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0" y="24765"/>
                  </a:moveTo>
                  <a:lnTo>
                    <a:pt x="103822" y="0"/>
                  </a:lnTo>
                  <a:lnTo>
                    <a:pt x="80962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77415" y="2297430"/>
              <a:ext cx="125730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56460" y="3152775"/>
              <a:ext cx="129921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240280" y="4007168"/>
              <a:ext cx="113157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08195" y="2850832"/>
              <a:ext cx="1047750" cy="268605"/>
            </a:xfrm>
            <a:prstGeom prst="roundRect">
              <a:avLst>
                <a:gd name="adj" fmla="val 35461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193" y="3246120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Librarian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67881" y="2366010"/>
              <a:ext cx="8763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Return book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52955" y="3221355"/>
              <a:ext cx="90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Borrow book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68163" y="4075748"/>
              <a:ext cx="6758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 book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72025" y="2919412"/>
              <a:ext cx="720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Issue fine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74745" y="2634615"/>
              <a:ext cx="6276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91778" y="2663666"/>
              <a:ext cx="5945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《extend》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3011" y="1949291"/>
              <a:ext cx="8709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Library system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612958"/>
            <a:ext cx="5410200" cy="1091565"/>
            <a:chOff x="533400" y="4612958"/>
            <a:chExt cx="5410200" cy="1091565"/>
          </a:xfrm>
        </p:grpSpPr>
        <p:sp>
          <p:nvSpPr>
            <p:cNvPr id="27" name="Rectangle 27"/>
            <p:cNvSpPr/>
            <p:nvPr/>
          </p:nvSpPr>
          <p:spPr>
            <a:xfrm>
              <a:off x="533400" y="4612958"/>
              <a:ext cx="5410200" cy="1091565"/>
            </a:xfrm>
            <a:prstGeom prst="roundRect">
              <a:avLst>
                <a:gd name="adj" fmla="val 1047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055036"/>
              <a:ext cx="224134" cy="192560"/>
              <a:chOff x="726129" y="5055036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1254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0550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2031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4940618"/>
              <a:ext cx="441140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《extend》的箭头方向与《include》相反：由扩展用例指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向基用例。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928812"/>
            <a:ext cx="5410200" cy="1803082"/>
            <a:chOff x="6248400" y="1928812"/>
            <a:chExt cx="5410200" cy="1803082"/>
          </a:xfrm>
        </p:grpSpPr>
        <p:sp>
          <p:nvSpPr>
            <p:cNvPr id="34" name="Rectangle 34"/>
            <p:cNvSpPr/>
            <p:nvPr/>
          </p:nvSpPr>
          <p:spPr>
            <a:xfrm>
              <a:off x="6248400" y="1928812"/>
              <a:ext cx="5410200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2062162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3190" y="211550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1811" y="21483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基用例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63562" y="2150745"/>
              <a:ext cx="17813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ReturnBook（ID 9）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6332" y="2476500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flow：1. Librarian 输入借阅者证号 2. 系统显示借阅者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详情及已借图书清单 3. Librarian 在清单中找到要还的书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6332" y="3033712"/>
              <a:ext cx="2685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Extension point: OverdueBook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3190" y="332136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28868" y="33607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53987" y="3333750"/>
              <a:ext cx="1609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Librarian 办理还书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3901440"/>
            <a:ext cx="5410200" cy="1803082"/>
            <a:chOff x="6248400" y="3901440"/>
            <a:chExt cx="5410200" cy="1803082"/>
          </a:xfrm>
        </p:grpSpPr>
        <p:sp>
          <p:nvSpPr>
            <p:cNvPr id="45" name="Rectangle 45"/>
            <p:cNvSpPr/>
            <p:nvPr/>
          </p:nvSpPr>
          <p:spPr>
            <a:xfrm>
              <a:off x="6248400" y="3901440"/>
              <a:ext cx="5410200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034790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3190" y="408813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7759" y="41209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扩展用例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88339" y="4123372"/>
              <a:ext cx="1690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IssueFine（ID 10）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6332" y="4449128"/>
              <a:ext cx="3633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Segment 1 Preconditions：所还图书已逾期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6332" y="4749165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Segment 1 flow：1. Librarian 把罚款明细录入系统 2. 系统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打印罚单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6332" y="5306378"/>
              <a:ext cx="4460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Segment 1 Postconditions：罚款已记录，罚单已打印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7407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更正：源课件 ReturnBook 规约把 Librarian 误拼为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Libratian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libarain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，此处已改正。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69116" cy="909257"/>
            <a:chOff x="520446" y="342900"/>
            <a:chExt cx="51691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0886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4957" y="407194"/>
              <a:ext cx="220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UML 与用例图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691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《include》与《extend》的区别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695393" cy="308039"/>
            <a:chOff x="525399" y="1550194"/>
            <a:chExt cx="46953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判断标准只有一条，看基用例离了它还完不完整。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67865"/>
            <a:ext cx="11125200" cy="2692718"/>
            <a:chOff x="533400" y="1967865"/>
            <a:chExt cx="11125200" cy="269271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2483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07435" y="2102644"/>
              <a:ext cx="963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《include》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19126" y="2102644"/>
              <a:ext cx="954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《extend》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基用例是否完整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55695" y="2426018"/>
              <a:ext cx="406908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53993" y="255127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不完整，缺了被包含用例走不下去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742872" y="2426018"/>
              <a:ext cx="390620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41170" y="255127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完整，去掉扩展照样能执行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基用例是否知道对方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53993" y="3000851"/>
              <a:ext cx="2484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知道，主流里显式写 Include(…)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1170" y="30008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不知道，只留下扩展点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箭头方向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53993" y="344947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基用例 → 被包含用例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41170" y="344947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扩展用例 → 基用例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8981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触发条件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3993" y="389810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无条件，执行到那一步必定进入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41170" y="389810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有条件，满足扩展点条件才进入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43467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典型用途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53993" y="43467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抽取多个用例的公共步骤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1170" y="43467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处理可选的、例外的附加行为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67865"/>
              <a:ext cx="11125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41408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2858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4851082"/>
            <a:ext cx="11125200" cy="1511618"/>
            <a:chOff x="533400" y="4851082"/>
            <a:chExt cx="11125200" cy="1511618"/>
          </a:xfrm>
        </p:grpSpPr>
        <p:sp>
          <p:nvSpPr>
            <p:cNvPr id="40" name="Rectangle 40"/>
            <p:cNvSpPr/>
            <p:nvPr/>
          </p:nvSpPr>
          <p:spPr>
            <a:xfrm>
              <a:off x="533400" y="4851082"/>
              <a:ext cx="11125200" cy="1511618"/>
            </a:xfrm>
            <a:prstGeom prst="roundRect">
              <a:avLst>
                <a:gd name="adj" fmla="val 756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506405"/>
              <a:ext cx="200023" cy="200023"/>
              <a:chOff x="738188" y="550640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5064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573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363528"/>
              <a:ext cx="9273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还书用例不带罚款也是一次完整的还书，所以罚款是 extend；三个员工用例都必须先找到员工，所以找员工是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include。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类图与对象图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应用最广的一张图，六种关系要分得清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类与对象的表示法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关联、聚合、组合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泛化、依赖、细化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类图与对象图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类图用方框表示类，三栏分别是名字、属性、操作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类图可在各个层次上描述系统的静态结构，是九种图里应用最广的一种。</a:t>
              </a:r>
            </a:p>
          </p:txBody>
        </p:sp>
      </p:grpSp>
      <p:grpSp>
        <p:nvGrpSpPr>
          <p:cNvPr id="16" name="c1-uml-1"/>
          <p:cNvGrpSpPr/>
          <p:nvPr/>
        </p:nvGrpSpPr>
        <p:grpSpPr>
          <a:xfrm>
            <a:off x="2515552" y="2317432"/>
            <a:ext cx="1445895" cy="1029652"/>
            <a:chOff x="2515552" y="2317432"/>
            <a:chExt cx="1445895" cy="1029652"/>
          </a:xfrm>
        </p:grpSpPr>
        <p:sp>
          <p:nvSpPr>
            <p:cNvPr id="9" name="Rectangle 9"/>
            <p:cNvSpPr/>
            <p:nvPr/>
          </p:nvSpPr>
          <p:spPr>
            <a:xfrm>
              <a:off x="2515552" y="2317432"/>
              <a:ext cx="1445895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523172" y="2324100"/>
              <a:ext cx="1431608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15552" y="2584132"/>
              <a:ext cx="1445895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15552" y="3057525"/>
              <a:ext cx="1445895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69104" y="2381726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86418" y="2656523"/>
              <a:ext cx="130416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name : string(idl)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age : 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86418" y="3129915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print()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6161" y="3919061"/>
            <a:ext cx="5417439" cy="1121665"/>
            <a:chOff x="526161" y="3919061"/>
            <a:chExt cx="5417439" cy="1121665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391906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1454" y="3919061"/>
              <a:ext cx="22701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public，任何类都可以访问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224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34006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1454" y="4340066"/>
              <a:ext cx="24230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private，只有本类可以访问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6462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161" y="476202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1454" y="4762024"/>
              <a:ext cx="28723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protected，本类与子类可以访问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54530"/>
            <a:ext cx="5410200" cy="1293495"/>
            <a:chOff x="6248400" y="1954530"/>
            <a:chExt cx="5410200" cy="1293495"/>
          </a:xfrm>
        </p:grpSpPr>
        <p:sp>
          <p:nvSpPr>
            <p:cNvPr id="26" name="Rectangle 26"/>
            <p:cNvSpPr/>
            <p:nvPr/>
          </p:nvSpPr>
          <p:spPr>
            <a:xfrm>
              <a:off x="6248400" y="195453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208788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0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0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1744" y="2197894"/>
              <a:ext cx="24584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对象图（Object Diagram）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30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类图的一种变形，画某一时刻各对象的快照。对象名加下划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线。</a:t>
              </a:r>
            </a:p>
          </p:txBody>
        </p:sp>
      </p:grpSp>
      <p:grpSp>
        <p:nvGrpSpPr>
          <p:cNvPr id="38" name="c2-uml-2"/>
          <p:cNvGrpSpPr/>
          <p:nvPr/>
        </p:nvGrpSpPr>
        <p:grpSpPr>
          <a:xfrm>
            <a:off x="8382000" y="3664268"/>
            <a:ext cx="1143000" cy="461962"/>
            <a:chOff x="8382000" y="3664268"/>
            <a:chExt cx="1143000" cy="461962"/>
          </a:xfrm>
        </p:grpSpPr>
        <p:sp>
          <p:nvSpPr>
            <p:cNvPr id="33" name="Rectangle 33"/>
            <p:cNvSpPr/>
            <p:nvPr/>
          </p:nvSpPr>
          <p:spPr>
            <a:xfrm>
              <a:off x="8382000" y="3664268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89620" y="3670935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82000" y="393096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82000" y="402621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81807" y="3728561"/>
              <a:ext cx="943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joe : Person</a:t>
              </a:r>
            </a:p>
          </p:txBody>
        </p:sp>
      </p:grpSp>
      <p:grpSp>
        <p:nvGrpSpPr>
          <p:cNvPr id="47" name="c2-kv-3"/>
          <p:cNvGrpSpPr/>
          <p:nvPr/>
        </p:nvGrpSpPr>
        <p:grpSpPr>
          <a:xfrm>
            <a:off x="6241161" y="4565809"/>
            <a:ext cx="5417439" cy="1122617"/>
            <a:chOff x="6241161" y="4565809"/>
            <a:chExt cx="5417439" cy="1122617"/>
          </a:xfrm>
        </p:grpSpPr>
        <p:sp>
          <p:nvSpPr>
            <p:cNvPr id="39" name="TextBox 39"/>
            <p:cNvSpPr txBox="1"/>
            <p:nvPr/>
          </p:nvSpPr>
          <p:spPr>
            <a:xfrm>
              <a:off x="6241161" y="456580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概念层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52691" y="456580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应用域中的概念，要理解问题时用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8720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161" y="498776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说明层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52691" y="4987766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软件的接口而非实现，区分类型与类，要理解软件时用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52930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1161" y="540972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实现层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52691" y="540972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软件实现体的构成，只有这层才有严格意义上的类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65521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属性写成“可见性 名字 : 类型”，操作写成“可见性 名字(参数) : 返回类型”。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类图与对象图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关联：同级类之间稳定的结构性联系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22389" cy="308039"/>
            <a:chOff x="525399" y="1550194"/>
            <a:chExt cx="68223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关联可以有名字和方向，也可以是双向的；两端可以写角色名和多重性。</a:t>
              </a:r>
            </a:p>
          </p:txBody>
        </p:sp>
      </p:grpSp>
      <p:grpSp>
        <p:nvGrpSpPr>
          <p:cNvPr id="18" name="c1-bullets-1"/>
          <p:cNvGrpSpPr/>
          <p:nvPr/>
        </p:nvGrpSpPr>
        <p:grpSpPr>
          <a:xfrm>
            <a:off x="525780" y="1992630"/>
            <a:ext cx="4427220" cy="1682115"/>
            <a:chOff x="525780" y="1992630"/>
            <a:chExt cx="4427220" cy="168211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关联的四项要素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9115" y="24098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230" y="234696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结构性关系，连接的是地位平等的类（或对象）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9115" y="27546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230" y="269176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关联可以有名称和方向，也可以是双向的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9115" y="3099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230" y="3036570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关联的每一端可以有角色名（role name）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9115" y="34442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7230" y="3381375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关联的每一端可以标多重性（multiplicity）</a:t>
              </a:r>
            </a:p>
          </p:txBody>
        </p:sp>
      </p:grpSp>
      <p:grpSp>
        <p:nvGrpSpPr>
          <p:cNvPr id="33" name="c1-graph-2"/>
          <p:cNvGrpSpPr/>
          <p:nvPr/>
        </p:nvGrpSpPr>
        <p:grpSpPr>
          <a:xfrm>
            <a:off x="860108" y="4216718"/>
            <a:ext cx="4612004" cy="1699926"/>
            <a:chOff x="860108" y="4216718"/>
            <a:chExt cx="4612004" cy="1699926"/>
          </a:xfrm>
        </p:grpSpPr>
        <p:sp>
          <p:nvSpPr>
            <p:cNvPr id="19" name="Freeform 19"/>
            <p:cNvSpPr/>
            <p:nvPr/>
          </p:nvSpPr>
          <p:spPr>
            <a:xfrm>
              <a:off x="1764982" y="4435792"/>
              <a:ext cx="2659380" cy="9525"/>
            </a:xfrm>
            <a:custGeom>
              <a:avLst/>
              <a:gdLst/>
              <a:ahLst/>
              <a:cxnLst/>
              <a:rect l="l" t="t" r="r" b="b"/>
              <a:pathLst>
                <a:path w="2659380" h="9525">
                  <a:moveTo>
                    <a:pt x="0" y="0"/>
                  </a:moveTo>
                  <a:lnTo>
                    <a:pt x="26593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764982" y="5560695"/>
              <a:ext cx="2659380" cy="9525"/>
            </a:xfrm>
            <a:custGeom>
              <a:avLst/>
              <a:gdLst/>
              <a:ahLst/>
              <a:cxnLst/>
              <a:rect l="l" t="t" r="r" b="b"/>
              <a:pathLst>
                <a:path w="2659380" h="9525">
                  <a:moveTo>
                    <a:pt x="0" y="0"/>
                  </a:moveTo>
                  <a:lnTo>
                    <a:pt x="26593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0108" y="4216718"/>
              <a:ext cx="9048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24362" y="4216718"/>
              <a:ext cx="1047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0108" y="5341620"/>
              <a:ext cx="9048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24362" y="5341620"/>
              <a:ext cx="104775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6574" y="4361498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98659" y="4361498"/>
              <a:ext cx="69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company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6574" y="548640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person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98659" y="5486400"/>
              <a:ext cx="69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company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51772" y="4343400"/>
              <a:ext cx="68580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61923" y="4378166"/>
              <a:ext cx="6654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Works For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62460" y="5725954"/>
              <a:ext cx="986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-employee 1..*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81025" y="5725954"/>
              <a:ext cx="7684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-employer *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6032182" y="1967865"/>
            <a:ext cx="5626418" cy="2733675"/>
            <a:chOff x="6032182" y="1967865"/>
            <a:chExt cx="5626418" cy="2733675"/>
          </a:xfrm>
        </p:grpSpPr>
        <p:sp>
          <p:nvSpPr>
            <p:cNvPr id="34" name="Rectangle 34"/>
            <p:cNvSpPr/>
            <p:nvPr/>
          </p:nvSpPr>
          <p:spPr>
            <a:xfrm>
              <a:off x="6032182" y="1967865"/>
              <a:ext cx="5626418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60580" y="211978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关联在代码里的样子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59817" y="2381726"/>
              <a:ext cx="3290062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Company *employer;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指向雇主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Company {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112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Person **employee;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一组雇员指针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46" name="c2-kv-2"/>
          <p:cNvGrpSpPr/>
          <p:nvPr/>
        </p:nvGrpSpPr>
        <p:grpSpPr>
          <a:xfrm>
            <a:off x="6024562" y="4916805"/>
            <a:ext cx="5634038" cy="1455420"/>
            <a:chOff x="6024562" y="4916805"/>
            <a:chExt cx="5634038" cy="1455420"/>
          </a:xfrm>
        </p:grpSpPr>
        <p:sp>
          <p:nvSpPr>
            <p:cNvPr id="38" name="TextBox 38"/>
            <p:cNvSpPr txBox="1"/>
            <p:nvPr/>
          </p:nvSpPr>
          <p:spPr>
            <a:xfrm>
              <a:off x="6024562" y="4916805"/>
              <a:ext cx="1151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多重性 1..*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88542" y="49168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一家公司至少有一名雇员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52368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24562" y="5356860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多重性 *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88542" y="535686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一个人可以在零到多家公司任职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56769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4562" y="57969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链属性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88542" y="5796915"/>
              <a:ext cx="3863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关联本身也可以有属性，例如 salary 和 title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挂在 person 与 company 的关联上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类图与对象图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聚合与组合：都是整体与部分，强度不同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2771" cy="278702"/>
            <a:chOff x="526161" y="1547336"/>
            <a:chExt cx="63227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聚合是共享的包容，部分可以脱离整体存在；组合是不能独立存在的包容。</a:t>
              </a:r>
            </a:p>
          </p:txBody>
        </p:sp>
      </p:grpSp>
      <p:grpSp>
        <p:nvGrpSpPr>
          <p:cNvPr id="25" name="c1-graph-1"/>
          <p:cNvGrpSpPr/>
          <p:nvPr/>
        </p:nvGrpSpPr>
        <p:grpSpPr>
          <a:xfrm>
            <a:off x="909638" y="1964055"/>
            <a:ext cx="4874894" cy="1415415"/>
            <a:chOff x="909638" y="1964055"/>
            <a:chExt cx="4874894" cy="1415415"/>
          </a:xfrm>
        </p:grpSpPr>
        <p:sp>
          <p:nvSpPr>
            <p:cNvPr id="9" name="Freeform 9"/>
            <p:cNvSpPr/>
            <p:nvPr/>
          </p:nvSpPr>
          <p:spPr>
            <a:xfrm>
              <a:off x="1732598" y="2412682"/>
              <a:ext cx="3336608" cy="9525"/>
            </a:xfrm>
            <a:custGeom>
              <a:avLst/>
              <a:gdLst/>
              <a:ahLst/>
              <a:cxnLst/>
              <a:rect l="l" t="t" r="r" b="b"/>
              <a:pathLst>
                <a:path w="3336608" h="9525">
                  <a:moveTo>
                    <a:pt x="0" y="0"/>
                  </a:moveTo>
                  <a:lnTo>
                    <a:pt x="333660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89735" y="3179445"/>
              <a:ext cx="3270885" cy="9525"/>
            </a:xfrm>
            <a:custGeom>
              <a:avLst/>
              <a:gdLst/>
              <a:ahLst/>
              <a:cxnLst/>
              <a:rect l="l" t="t" r="r" b="b"/>
              <a:pathLst>
                <a:path w="3270885" h="9525">
                  <a:moveTo>
                    <a:pt x="0" y="0"/>
                  </a:moveTo>
                  <a:lnTo>
                    <a:pt x="32708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09638" y="2213610"/>
              <a:ext cx="82391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69205" y="2213610"/>
              <a:ext cx="60674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52500" y="2980372"/>
              <a:ext cx="73723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960620" y="2980372"/>
              <a:ext cx="82391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89241" y="23426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课题组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90998" y="23426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64628" y="31094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0223" y="31094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48025" y="232695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74504" y="235934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172778" y="309372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99257" y="312515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包含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88069" y="1964055"/>
              <a:ext cx="1318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聚合（空心菱形） * 1…*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54706" y="2728912"/>
              <a:ext cx="1184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组合（实心菱形） 1 *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589972"/>
            <a:ext cx="5626418" cy="2738438"/>
            <a:chOff x="533400" y="3589972"/>
            <a:chExt cx="5626418" cy="2738438"/>
          </a:xfrm>
        </p:grpSpPr>
        <p:sp>
          <p:nvSpPr>
            <p:cNvPr id="26" name="Rectangle 26"/>
            <p:cNvSpPr/>
            <p:nvPr/>
          </p:nvSpPr>
          <p:spPr>
            <a:xfrm>
              <a:off x="533400" y="3589972"/>
              <a:ext cx="5626418" cy="2738438"/>
            </a:xfrm>
            <a:prstGeom prst="roundRect">
              <a:avLst>
                <a:gd name="adj" fmla="val 4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723322"/>
              <a:ext cx="47625" cy="24717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37823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5345" y="38166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4139565"/>
              <a:ext cx="50029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源课件在聚合页把聚合注为“physical containment（物理包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容）”，与后一页“组合是不能独立存在的聚集”相矛盾。按 UML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通行用法，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物理包容是组合的特征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聚合是共享的整体-部分关</a:t>
              </a:r>
              <a:br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系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1" name="c2-compare-1"/>
          <p:cNvGrpSpPr/>
          <p:nvPr/>
        </p:nvGrpSpPr>
        <p:grpSpPr>
          <a:xfrm>
            <a:off x="6464618" y="1941195"/>
            <a:ext cx="5193982" cy="2571750"/>
            <a:chOff x="6464618" y="1941195"/>
            <a:chExt cx="5193982" cy="2571750"/>
          </a:xfrm>
        </p:grpSpPr>
        <p:sp>
          <p:nvSpPr>
            <p:cNvPr id="32" name="Rectangle 32"/>
            <p:cNvSpPr/>
            <p:nvPr/>
          </p:nvSpPr>
          <p:spPr>
            <a:xfrm>
              <a:off x="6464618" y="1941195"/>
              <a:ext cx="2386965" cy="2571750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2074545"/>
              <a:ext cx="47625" cy="23050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88264" y="2156460"/>
              <a:ext cx="1547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 Aggregation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03695" y="25326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9714" y="2476500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共享的包容，部分可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同时属于多个整体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03695" y="30918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9714" y="3035618"/>
              <a:ext cx="1556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部分可脱离整体独立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存在，如 string、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list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03695" y="39090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59714" y="385286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空心菱形；例：课题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组与成员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271635" y="1941195"/>
              <a:ext cx="2386965" cy="2571750"/>
            </a:xfrm>
            <a:prstGeom prst="roundRect">
              <a:avLst>
                <a:gd name="adj" fmla="val 558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57182" y="2156460"/>
              <a:ext cx="1537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 Composition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472612" y="25326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28632" y="247650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独占的包容，部分只属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于一个整体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472612" y="30918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28632" y="303561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部分不能独立存在，如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脚、手臂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9472612" y="36518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28632" y="359568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实心菱形；例：窗口与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它的文本框、按钮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900160" y="30651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76631" y="316658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5" name="c2-code-2"/>
          <p:cNvGrpSpPr/>
          <p:nvPr/>
        </p:nvGrpSpPr>
        <p:grpSpPr>
          <a:xfrm>
            <a:off x="6464618" y="4688205"/>
            <a:ext cx="5193982" cy="1640205"/>
            <a:chOff x="6464618" y="4688205"/>
            <a:chExt cx="5193982" cy="1640205"/>
          </a:xfrm>
        </p:grpSpPr>
        <p:sp>
          <p:nvSpPr>
            <p:cNvPr id="52" name="Rectangle 52"/>
            <p:cNvSpPr/>
            <p:nvPr/>
          </p:nvSpPr>
          <p:spPr>
            <a:xfrm>
              <a:off x="6464618" y="4688205"/>
              <a:ext cx="5193982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3015" y="484012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聚合的代码形态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2634" y="5101590"/>
              <a:ext cx="3144393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university {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university();</a:t>
              </a:r>
              <a:br/>
              <a:r>
                <a:rPr lang="en-US" sz="105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department* dept[n];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持有部分的指针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类图与对象图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关联还是聚合？看两个对象是否构成整体与部分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49290" cy="278702"/>
            <a:chOff x="526161" y="1547336"/>
            <a:chExt cx="574929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同样两个类，语义不同画法就不同，这是画类图时最常犹豫的一处。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2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判断规则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两个对象被紧密地绑成整体与部分的关系时，用聚合（或组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两个对象通常被认为是独立的，尽管它们经常被连在一起，用普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通关联。</a:t>
              </a:r>
            </a:p>
          </p:txBody>
        </p:sp>
      </p:grpSp>
      <p:grpSp>
        <p:nvGrpSpPr>
          <p:cNvPr id="27" name="c1-graph-2"/>
          <p:cNvGrpSpPr/>
          <p:nvPr/>
        </p:nvGrpSpPr>
        <p:grpSpPr>
          <a:xfrm>
            <a:off x="998220" y="4157662"/>
            <a:ext cx="4523423" cy="1785938"/>
            <a:chOff x="998220" y="4157662"/>
            <a:chExt cx="4523423" cy="1785938"/>
          </a:xfrm>
        </p:grpSpPr>
        <p:sp>
          <p:nvSpPr>
            <p:cNvPr id="15" name="Freeform 15"/>
            <p:cNvSpPr/>
            <p:nvPr/>
          </p:nvSpPr>
          <p:spPr>
            <a:xfrm>
              <a:off x="1691640" y="4349115"/>
              <a:ext cx="3049905" cy="9525"/>
            </a:xfrm>
            <a:custGeom>
              <a:avLst/>
              <a:gdLst/>
              <a:ahLst/>
              <a:cxnLst/>
              <a:rect l="l" t="t" r="r" b="b"/>
              <a:pathLst>
                <a:path w="3049905" h="9525">
                  <a:moveTo>
                    <a:pt x="0" y="0"/>
                  </a:moveTo>
                  <a:lnTo>
                    <a:pt x="30499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91640" y="5443538"/>
              <a:ext cx="3049905" cy="9525"/>
            </a:xfrm>
            <a:custGeom>
              <a:avLst/>
              <a:gdLst/>
              <a:ahLst/>
              <a:cxnLst/>
              <a:rect l="l" t="t" r="r" b="b"/>
              <a:pathLst>
                <a:path w="3049905" h="9525">
                  <a:moveTo>
                    <a:pt x="0" y="0"/>
                  </a:moveTo>
                  <a:lnTo>
                    <a:pt x="30499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98220" y="4157662"/>
              <a:ext cx="69342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41545" y="4157662"/>
              <a:ext cx="780098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98220" y="5252085"/>
              <a:ext cx="69342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41545" y="5252085"/>
              <a:ext cx="780098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06142" y="4279106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49746" y="427910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142" y="5373529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49746" y="5373529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43003" y="4672965"/>
              <a:ext cx="7909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聚合 1 0..2,4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43003" y="5767388"/>
              <a:ext cx="7909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关联 1 0..2,4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941195"/>
            <a:ext cx="5410200" cy="1529715"/>
            <a:chOff x="6248400" y="1941195"/>
            <a:chExt cx="5410200" cy="1529715"/>
          </a:xfrm>
        </p:grpSpPr>
        <p:sp>
          <p:nvSpPr>
            <p:cNvPr id="28" name="Rectangle 28"/>
            <p:cNvSpPr/>
            <p:nvPr/>
          </p:nvSpPr>
          <p:spPr>
            <a:xfrm>
              <a:off x="6248400" y="1941195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07454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8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0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62597" y="21736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受限泛化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2047" y="25079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可以给泛化关系附加约束条件，进一步说明该泛化关系的使用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方法或扩充方法，这样的泛化关系称为受限泛化。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2047" y="3068002"/>
              <a:ext cx="4402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预定义的约束有 4 种：多重、不相交、完全、不完全。</a:t>
              </a:r>
            </a:p>
          </p:txBody>
        </p:sp>
      </p:grpSp>
      <p:grpSp>
        <p:nvGrpSpPr>
          <p:cNvPr id="47" name="c2-kv-2"/>
          <p:cNvGrpSpPr/>
          <p:nvPr/>
        </p:nvGrpSpPr>
        <p:grpSpPr>
          <a:xfrm>
            <a:off x="6241542" y="3668077"/>
            <a:ext cx="5417058" cy="1711834"/>
            <a:chOff x="6241542" y="3668077"/>
            <a:chExt cx="5417058" cy="1711834"/>
          </a:xfrm>
        </p:grpSpPr>
        <p:sp>
          <p:nvSpPr>
            <p:cNvPr id="36" name="TextBox 36"/>
            <p:cNvSpPr txBox="1"/>
            <p:nvPr/>
          </p:nvSpPr>
          <p:spPr>
            <a:xfrm>
              <a:off x="6241542" y="366807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多重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24497" y="3668077"/>
              <a:ext cx="42999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一个子类可以同时继承多个父类，例如水陆两用车既是汽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车又是船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4211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1542" y="43195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不相交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24497" y="431958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各子类的实例集合互不重叠，一个对象只能属于一个子类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609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542" y="471773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完全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24497" y="47177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父类已被划分完，不会再有新的子类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50063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1542" y="51158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不完全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24497" y="511587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还可能派生出别的子类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248400" y="5501640"/>
            <a:ext cx="5410200" cy="488632"/>
            <a:chOff x="6248400" y="5501640"/>
            <a:chExt cx="5410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6248400" y="5501640"/>
              <a:ext cx="5410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5645468"/>
              <a:ext cx="200026" cy="200026"/>
              <a:chOff x="6453188" y="564546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56454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53200" y="57121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42088" y="57454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892" y="5651183"/>
              <a:ext cx="4266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约束写在花括号里，标在泛化线旁边，例如 {多重}。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类图与对象图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泛化、依赖与细化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558130" cy="278702"/>
            <a:chOff x="526161" y="1547336"/>
            <a:chExt cx="555813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三种关系都画成带三角或箭头的线，区别在线型和三角是否空心。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41195"/>
            <a:ext cx="5410200" cy="2228850"/>
            <a:chOff x="533400" y="1941195"/>
            <a:chExt cx="5410200" cy="222885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793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8612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线型与箭头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8885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5452" y="247126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 + 空心三角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47098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子类指向父类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/ 细化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15452" y="287702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 + 空心三角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47098" y="287702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类指向接口；详细指向抽象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5452" y="328279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 + 开放箭头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47098" y="32827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一方改变会影响另一方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75214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 / 聚合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组合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15452" y="37885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实线，后两者加菱形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47098" y="37885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结构性联系；整体与部分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41195"/>
              <a:ext cx="5410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10678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42322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4345305"/>
            <a:ext cx="5410200" cy="1226820"/>
            <a:chOff x="533400" y="4345305"/>
            <a:chExt cx="5410200" cy="1226820"/>
          </a:xfrm>
        </p:grpSpPr>
        <p:sp>
          <p:nvSpPr>
            <p:cNvPr id="34" name="Rectangle 34"/>
            <p:cNvSpPr/>
            <p:nvPr/>
          </p:nvSpPr>
          <p:spPr>
            <a:xfrm>
              <a:off x="533400" y="434530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47865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53771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45720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47597" y="4577715"/>
              <a:ext cx="1796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依赖（Dependency）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047" y="491204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两个模型元素之间的语义连接：一个独立，另一个依赖它；独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立的一方改变会影响依赖它的一方。</a:t>
              </a:r>
            </a:p>
          </p:txBody>
        </p:sp>
      </p:grpSp>
      <p:grpSp>
        <p:nvGrpSpPr>
          <p:cNvPr id="51" name="c2-graph-1"/>
          <p:cNvGrpSpPr/>
          <p:nvPr/>
        </p:nvGrpSpPr>
        <p:grpSpPr>
          <a:xfrm>
            <a:off x="6550342" y="2085022"/>
            <a:ext cx="4502468" cy="1229678"/>
            <a:chOff x="6550342" y="2085022"/>
            <a:chExt cx="4502468" cy="1229678"/>
          </a:xfrm>
        </p:grpSpPr>
        <p:sp>
          <p:nvSpPr>
            <p:cNvPr id="41" name="Freeform 41"/>
            <p:cNvSpPr/>
            <p:nvPr/>
          </p:nvSpPr>
          <p:spPr>
            <a:xfrm>
              <a:off x="7460932" y="2386965"/>
              <a:ext cx="1938338" cy="253365"/>
            </a:xfrm>
            <a:custGeom>
              <a:avLst/>
              <a:gdLst/>
              <a:ahLst/>
              <a:cxnLst/>
              <a:rect l="l" t="t" r="r" b="b"/>
              <a:pathLst>
                <a:path w="1938338" h="253365">
                  <a:moveTo>
                    <a:pt x="0" y="253365"/>
                  </a:moveTo>
                  <a:lnTo>
                    <a:pt x="19383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9392602" y="2339340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35243"/>
                  </a:moveTo>
                  <a:lnTo>
                    <a:pt x="12382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460932" y="2759392"/>
              <a:ext cx="1894523" cy="247650"/>
            </a:xfrm>
            <a:custGeom>
              <a:avLst/>
              <a:gdLst/>
              <a:ahLst/>
              <a:cxnLst/>
              <a:rect l="l" t="t" r="r" b="b"/>
              <a:pathLst>
                <a:path w="1894523" h="247650">
                  <a:moveTo>
                    <a:pt x="0" y="0"/>
                  </a:moveTo>
                  <a:lnTo>
                    <a:pt x="1894523" y="24765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9349740" y="2960370"/>
              <a:ext cx="100012" cy="94297"/>
            </a:xfrm>
            <a:custGeom>
              <a:avLst/>
              <a:gdLst/>
              <a:ahLst/>
              <a:cxnLst/>
              <a:rect l="l" t="t" r="r" b="b"/>
              <a:pathLst>
                <a:path w="100012" h="94297">
                  <a:moveTo>
                    <a:pt x="100012" y="59055"/>
                  </a:moveTo>
                  <a:lnTo>
                    <a:pt x="0" y="94297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550342" y="2508885"/>
              <a:ext cx="909638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493568" y="2085022"/>
              <a:ext cx="151638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449752" y="2933700"/>
              <a:ext cx="1603058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71423" y="2630329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windchill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94509" y="2205514"/>
              <a:ext cx="13144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windspeedSensor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87580" y="3055144"/>
              <a:ext cx="1528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temperatureSensor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3633788"/>
            <a:ext cx="5410200" cy="1938338"/>
            <a:chOff x="6248400" y="3633788"/>
            <a:chExt cx="5410200" cy="1938338"/>
          </a:xfrm>
        </p:grpSpPr>
        <p:sp>
          <p:nvSpPr>
            <p:cNvPr id="52" name="Rectangle 52"/>
            <p:cNvSpPr/>
            <p:nvPr/>
          </p:nvSpPr>
          <p:spPr>
            <a:xfrm>
              <a:off x="6248400" y="3633788"/>
              <a:ext cx="5410200" cy="1938338"/>
            </a:xfrm>
            <a:prstGeom prst="roundRect">
              <a:avLst>
                <a:gd name="adj" fmla="val 68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3767138"/>
              <a:ext cx="47625" cy="16716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78905" y="38261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70345" y="38604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2597" y="3866198"/>
              <a:ext cx="1328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细化（Refine）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2047" y="4199572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对同一事物在不同抽象层次上描述时，这些描述之间具有细化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关系。若 B 是在 A 的基础上更详细的描述，则称 B 细化了 A。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73190" y="4756309"/>
              <a:ext cx="3996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符号：由元素 B 指向元素 A 的、一端为空心三角形的虚线。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7354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更正：源课件依赖示例把 temperatureSensor 误拼为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tempatureSensor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，此处已改正。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类图与对象图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类图示例：简单手表与银行账户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073140" cy="293370"/>
            <a:chOff x="525780" y="1548765"/>
            <a:chExt cx="60731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同一个系统，类图画的是结构，对象图画的是某一时刻的具体取值。</a:t>
              </a:r>
            </a:p>
          </p:txBody>
        </p:sp>
      </p:grpSp>
      <p:grpSp>
        <p:nvGrpSpPr>
          <p:cNvPr id="50" name="c1-uml-1"/>
          <p:cNvGrpSpPr/>
          <p:nvPr/>
        </p:nvGrpSpPr>
        <p:grpSpPr>
          <a:xfrm>
            <a:off x="993458" y="2203132"/>
            <a:ext cx="4471034" cy="2273618"/>
            <a:chOff x="993458" y="2203132"/>
            <a:chExt cx="4471034" cy="2273618"/>
          </a:xfrm>
        </p:grpSpPr>
        <p:sp>
          <p:nvSpPr>
            <p:cNvPr id="9" name="Freeform 9"/>
            <p:cNvSpPr/>
            <p:nvPr/>
          </p:nvSpPr>
          <p:spPr>
            <a:xfrm>
              <a:off x="1831658" y="2839402"/>
              <a:ext cx="1203008" cy="287655"/>
            </a:xfrm>
            <a:custGeom>
              <a:avLst/>
              <a:gdLst/>
              <a:ahLst/>
              <a:cxnLst/>
              <a:rect l="l" t="t" r="r" b="b"/>
              <a:pathLst>
                <a:path w="1203008" h="287655">
                  <a:moveTo>
                    <a:pt x="0" y="287655"/>
                  </a:moveTo>
                  <a:lnTo>
                    <a:pt x="0" y="39052"/>
                  </a:lnTo>
                  <a:lnTo>
                    <a:pt x="1203008" y="39052"/>
                  </a:lnTo>
                  <a:lnTo>
                    <a:pt x="120300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77515" y="2629852"/>
              <a:ext cx="115252" cy="209550"/>
            </a:xfrm>
            <a:custGeom>
              <a:avLst/>
              <a:gdLst/>
              <a:ahLst/>
              <a:cxnLst/>
              <a:rect l="l" t="t" r="r" b="b"/>
              <a:pathLst>
                <a:path w="115252" h="209550">
                  <a:moveTo>
                    <a:pt x="57150" y="0"/>
                  </a:moveTo>
                  <a:lnTo>
                    <a:pt x="115252" y="104775"/>
                  </a:lnTo>
                  <a:lnTo>
                    <a:pt x="57150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25165" y="2839402"/>
              <a:ext cx="1203960" cy="287655"/>
            </a:xfrm>
            <a:custGeom>
              <a:avLst/>
              <a:gdLst/>
              <a:ahLst/>
              <a:cxnLst/>
              <a:rect l="l" t="t" r="r" b="b"/>
              <a:pathLst>
                <a:path w="1203960" h="287655">
                  <a:moveTo>
                    <a:pt x="1203960" y="287655"/>
                  </a:moveTo>
                  <a:lnTo>
                    <a:pt x="1203960" y="39052"/>
                  </a:lnTo>
                  <a:lnTo>
                    <a:pt x="0" y="3905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68015" y="2629852"/>
              <a:ext cx="115252" cy="209550"/>
            </a:xfrm>
            <a:custGeom>
              <a:avLst/>
              <a:gdLst/>
              <a:ahLst/>
              <a:cxnLst/>
              <a:rect l="l" t="t" r="r" b="b"/>
              <a:pathLst>
                <a:path w="115252" h="209550">
                  <a:moveTo>
                    <a:pt x="57150" y="0"/>
                  </a:moveTo>
                  <a:lnTo>
                    <a:pt x="115252" y="104775"/>
                  </a:lnTo>
                  <a:lnTo>
                    <a:pt x="57150" y="209550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93458" y="2416492"/>
              <a:ext cx="1355408" cy="1847850"/>
            </a:xfrm>
            <a:custGeom>
              <a:avLst/>
              <a:gdLst/>
              <a:ahLst/>
              <a:cxnLst/>
              <a:rect l="l" t="t" r="r" b="b"/>
              <a:pathLst>
                <a:path w="1355408" h="1847850">
                  <a:moveTo>
                    <a:pt x="266700" y="1847850"/>
                  </a:moveTo>
                  <a:lnTo>
                    <a:pt x="0" y="1847850"/>
                  </a:lnTo>
                  <a:lnTo>
                    <a:pt x="0" y="0"/>
                  </a:lnTo>
                  <a:lnTo>
                    <a:pt x="135540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48865" y="2358390"/>
              <a:ext cx="209550" cy="116205"/>
            </a:xfrm>
            <a:custGeom>
              <a:avLst/>
              <a:gdLst/>
              <a:ahLst/>
              <a:cxnLst/>
              <a:rect l="l" t="t" r="r" b="b"/>
              <a:pathLst>
                <a:path w="209550" h="116205">
                  <a:moveTo>
                    <a:pt x="209550" y="58102"/>
                  </a:moveTo>
                  <a:lnTo>
                    <a:pt x="104775" y="116205"/>
                  </a:lnTo>
                  <a:lnTo>
                    <a:pt x="0" y="5810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910965" y="2416492"/>
              <a:ext cx="1356360" cy="1847850"/>
            </a:xfrm>
            <a:custGeom>
              <a:avLst/>
              <a:gdLst/>
              <a:ahLst/>
              <a:cxnLst/>
              <a:rect l="l" t="t" r="r" b="b"/>
              <a:pathLst>
                <a:path w="1356360" h="1847850">
                  <a:moveTo>
                    <a:pt x="1089660" y="1847850"/>
                  </a:moveTo>
                  <a:lnTo>
                    <a:pt x="1356360" y="1847850"/>
                  </a:lnTo>
                  <a:lnTo>
                    <a:pt x="1356360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01415" y="2358390"/>
              <a:ext cx="209550" cy="116205"/>
            </a:xfrm>
            <a:custGeom>
              <a:avLst/>
              <a:gdLst/>
              <a:ahLst/>
              <a:cxnLst/>
              <a:rect l="l" t="t" r="r" b="b"/>
              <a:pathLst>
                <a:path w="209550" h="116205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6205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558415" y="220313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66035" y="2210752"/>
              <a:ext cx="1128712" cy="22764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58415" y="243459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58415" y="252984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260158" y="3127058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267778" y="3134678"/>
              <a:ext cx="1128712" cy="22764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60158" y="335756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60158" y="345281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57625" y="3127058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64292" y="3134678"/>
              <a:ext cx="1128712" cy="22764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57625" y="335756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57625" y="3452812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260158" y="405098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67778" y="4058602"/>
              <a:ext cx="1128712" cy="22764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260158" y="428148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260158" y="437673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57625" y="405098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64292" y="4058602"/>
              <a:ext cx="1128712" cy="22764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857625" y="428148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857625" y="437673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861107" y="22588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简单手表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94777" y="31827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按钮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26281" y="31827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94777" y="41067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电池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92244" y="41067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348865" y="2662238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89432" y="26889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42372" y="2662238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82939" y="26889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22032" y="3248025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45274" y="327469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95900" y="3248025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19141" y="327469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7" name="c1-callout-2"/>
          <p:cNvGrpSpPr/>
          <p:nvPr/>
        </p:nvGrpSpPr>
        <p:grpSpPr>
          <a:xfrm>
            <a:off x="533400" y="4912042"/>
            <a:ext cx="5193982" cy="756285"/>
            <a:chOff x="533400" y="4912042"/>
            <a:chExt cx="5193982" cy="756285"/>
          </a:xfrm>
        </p:grpSpPr>
        <p:sp>
          <p:nvSpPr>
            <p:cNvPr id="51" name="Rectangle 51"/>
            <p:cNvSpPr/>
            <p:nvPr/>
          </p:nvSpPr>
          <p:spPr>
            <a:xfrm>
              <a:off x="533400" y="491204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190173"/>
              <a:ext cx="200026" cy="200026"/>
              <a:chOff x="738188" y="5190173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190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256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52901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5059204"/>
              <a:ext cx="413524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一块简单手表由 2 个按钮、1 块显示屏、2 节电池和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个时间部件组合而成。</a:t>
              </a:r>
            </a:p>
          </p:txBody>
        </p:sp>
      </p:grpSp>
      <p:grpSp>
        <p:nvGrpSpPr>
          <p:cNvPr id="74" name="c2-uml-1"/>
          <p:cNvGrpSpPr/>
          <p:nvPr/>
        </p:nvGrpSpPr>
        <p:grpSpPr>
          <a:xfrm>
            <a:off x="6867525" y="2204085"/>
            <a:ext cx="3955733" cy="841058"/>
            <a:chOff x="6867525" y="2204085"/>
            <a:chExt cx="3955733" cy="841058"/>
          </a:xfrm>
        </p:grpSpPr>
        <p:sp>
          <p:nvSpPr>
            <p:cNvPr id="58" name="Freeform 58"/>
            <p:cNvSpPr/>
            <p:nvPr/>
          </p:nvSpPr>
          <p:spPr>
            <a:xfrm>
              <a:off x="8010525" y="2624138"/>
              <a:ext cx="1669732" cy="9525"/>
            </a:xfrm>
            <a:custGeom>
              <a:avLst/>
              <a:gdLst/>
              <a:ahLst/>
              <a:cxnLst/>
              <a:rect l="l" t="t" r="r" b="b"/>
              <a:pathLst>
                <a:path w="1669732" h="9525">
                  <a:moveTo>
                    <a:pt x="0" y="0"/>
                  </a:moveTo>
                  <a:lnTo>
                    <a:pt x="16697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575482" y="256698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67525" y="2204085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74192" y="2210752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67525" y="2470785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67525" y="294513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680258" y="2204085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87878" y="2210752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680258" y="2470785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680258" y="294513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82536" y="22683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客户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38391" y="2543175"/>
              <a:ext cx="27736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姓名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电话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95268" y="22683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帐户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51124" y="2543175"/>
              <a:ext cx="27736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帐号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617268" y="2407920"/>
              <a:ext cx="45529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648757" y="2434590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对 *</a:t>
              </a:r>
            </a:p>
          </p:txBody>
        </p:sp>
      </p:grpSp>
      <p:grpSp>
        <p:nvGrpSpPr>
          <p:cNvPr id="97" name="c2-uml-2"/>
          <p:cNvGrpSpPr/>
          <p:nvPr/>
        </p:nvGrpSpPr>
        <p:grpSpPr>
          <a:xfrm>
            <a:off x="6867525" y="3606165"/>
            <a:ext cx="4134803" cy="1935481"/>
            <a:chOff x="6867525" y="3606165"/>
            <a:chExt cx="4134803" cy="1935481"/>
          </a:xfrm>
        </p:grpSpPr>
        <p:sp>
          <p:nvSpPr>
            <p:cNvPr id="75" name="Freeform 75"/>
            <p:cNvSpPr/>
            <p:nvPr/>
          </p:nvSpPr>
          <p:spPr>
            <a:xfrm>
              <a:off x="8010525" y="4026218"/>
              <a:ext cx="1491615" cy="9525"/>
            </a:xfrm>
            <a:custGeom>
              <a:avLst/>
              <a:gdLst/>
              <a:ahLst/>
              <a:cxnLst/>
              <a:rect l="l" t="t" r="r" b="b"/>
              <a:pathLst>
                <a:path w="1491615" h="9525">
                  <a:moveTo>
                    <a:pt x="0" y="0"/>
                  </a:moveTo>
                  <a:lnTo>
                    <a:pt x="149161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9397365" y="396906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439025" y="4447222"/>
              <a:ext cx="2812732" cy="253365"/>
            </a:xfrm>
            <a:custGeom>
              <a:avLst/>
              <a:gdLst/>
              <a:ahLst/>
              <a:cxnLst/>
              <a:rect l="l" t="t" r="r" b="b"/>
              <a:pathLst>
                <a:path w="2812732" h="253365">
                  <a:moveTo>
                    <a:pt x="0" y="0"/>
                  </a:moveTo>
                  <a:lnTo>
                    <a:pt x="0" y="126683"/>
                  </a:lnTo>
                  <a:lnTo>
                    <a:pt x="2812732" y="126683"/>
                  </a:lnTo>
                  <a:lnTo>
                    <a:pt x="2812732" y="25336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0194608" y="4595812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867525" y="3606165"/>
              <a:ext cx="114300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874192" y="3613785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867525" y="3872865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867525" y="4347210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502140" y="3606165"/>
              <a:ext cx="1500188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9508808" y="3613785"/>
              <a:ext cx="1485900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502140" y="3872865"/>
              <a:ext cx="150018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502140" y="4347210"/>
              <a:ext cx="150018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502140" y="4700588"/>
              <a:ext cx="1500188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508808" y="4707255"/>
              <a:ext cx="1485900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502140" y="4967288"/>
              <a:ext cx="150018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502140" y="5440680"/>
              <a:ext cx="150018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040731" y="367045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小强 : 客户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938391" y="3945255"/>
              <a:ext cx="94411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姓名 = 张小强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电话 = 1234567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551915" y="3670459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小强的老帐户 : 帐户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573006" y="3945255"/>
              <a:ext cx="79743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帐号 = 00456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 = 1,000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551915" y="4764881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小强的新帐户 : 帐户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573006" y="5039678"/>
              <a:ext cx="109080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帐号 = 00123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余额 = 1,000,000</a:t>
              </a:r>
            </a:p>
          </p:txBody>
        </p:sp>
      </p:grpSp>
      <p:grpSp>
        <p:nvGrpSpPr>
          <p:cNvPr id="10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8" name="Rectangle 9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1040511" y="6004084"/>
              <a:ext cx="5013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类图里的多重性 * 在对象图里落实成具体的两个帐户对象。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动态图、扩展机制与视图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系统怎么动起来，以及从几个角度去看它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顺序图与协作图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状态图与活动图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构件图、配置图与 5 个视图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动态图、扩展机制与视图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顺序图：按时间顺序展示对象之间的消息传递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087413" cy="278702"/>
            <a:chOff x="526161" y="1547336"/>
            <a:chExt cx="708741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顺序图描述几个对象之间的动态协作，一个对象通过发送消息与其他对象相互作用。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4544378" cy="1226820"/>
            <a:chOff x="533400" y="1941195"/>
            <a:chExt cx="4544378" cy="122682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54437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556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顺序图（Sequence Diagram）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一种交互图，强调消息的时间顺序。图中展示参与交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互的对象，以及它们之间交换的消息序列。</a:t>
              </a:r>
            </a:p>
          </p:txBody>
        </p:sp>
      </p:grpSp>
      <p:grpSp>
        <p:nvGrpSpPr>
          <p:cNvPr id="25" name="c1-bullets-2"/>
          <p:cNvGrpSpPr/>
          <p:nvPr/>
        </p:nvGrpSpPr>
        <p:grpSpPr>
          <a:xfrm>
            <a:off x="526542" y="3366135"/>
            <a:ext cx="4325341" cy="2288096"/>
            <a:chOff x="526542" y="3366135"/>
            <a:chExt cx="4325341" cy="2288096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33661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顺序图的四类内容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1972" y="37414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7992" y="368522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对象：矩形框加对象名，名字带下划线；匿名对象只写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“:类名”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1972" y="431006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992" y="4253865"/>
              <a:ext cx="4153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Actor：画在最左或最右，代表参与交互的外部角色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41972" y="46215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7992" y="456533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生命线：对象下方的竖虚线，表示对象在这段时间内存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41972" y="51901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7992" y="5133023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控制焦点：生命线上的细长矩形，表示对象正在执行操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</p:grpSp>
      <p:grpSp>
        <p:nvGrpSpPr>
          <p:cNvPr id="62" name="c2-graph-1"/>
          <p:cNvGrpSpPr/>
          <p:nvPr/>
        </p:nvGrpSpPr>
        <p:grpSpPr>
          <a:xfrm>
            <a:off x="5700331" y="2022158"/>
            <a:ext cx="5634419" cy="3585209"/>
            <a:chOff x="5700331" y="2022158"/>
            <a:chExt cx="5634419" cy="3585209"/>
          </a:xfrm>
        </p:grpSpPr>
        <p:sp>
          <p:nvSpPr>
            <p:cNvPr id="26" name="Freeform 26"/>
            <p:cNvSpPr/>
            <p:nvPr/>
          </p:nvSpPr>
          <p:spPr>
            <a:xfrm>
              <a:off x="5947410" y="2252662"/>
              <a:ext cx="9525" cy="2818448"/>
            </a:xfrm>
            <a:custGeom>
              <a:avLst/>
              <a:gdLst/>
              <a:ahLst/>
              <a:cxnLst/>
              <a:rect l="l" t="t" r="r" b="b"/>
              <a:pathLst>
                <a:path w="9525" h="2818448">
                  <a:moveTo>
                    <a:pt x="0" y="0"/>
                  </a:moveTo>
                  <a:lnTo>
                    <a:pt x="0" y="281844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7641908" y="2300288"/>
              <a:ext cx="9525" cy="2770822"/>
            </a:xfrm>
            <a:custGeom>
              <a:avLst/>
              <a:gdLst/>
              <a:ahLst/>
              <a:cxnLst/>
              <a:rect l="l" t="t" r="r" b="b"/>
              <a:pathLst>
                <a:path w="9525" h="2770822">
                  <a:moveTo>
                    <a:pt x="0" y="0"/>
                  </a:moveTo>
                  <a:lnTo>
                    <a:pt x="0" y="277082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9399270" y="2300288"/>
              <a:ext cx="9525" cy="1599247"/>
            </a:xfrm>
            <a:custGeom>
              <a:avLst/>
              <a:gdLst/>
              <a:ahLst/>
              <a:cxnLst/>
              <a:rect l="l" t="t" r="r" b="b"/>
              <a:pathLst>
                <a:path w="9525" h="1599247">
                  <a:moveTo>
                    <a:pt x="0" y="0"/>
                  </a:moveTo>
                  <a:lnTo>
                    <a:pt x="0" y="1599247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11030902" y="2300288"/>
              <a:ext cx="9525" cy="2185035"/>
            </a:xfrm>
            <a:custGeom>
              <a:avLst/>
              <a:gdLst/>
              <a:ahLst/>
              <a:cxnLst/>
              <a:rect l="l" t="t" r="r" b="b"/>
              <a:pathLst>
                <a:path w="9525" h="2185035">
                  <a:moveTo>
                    <a:pt x="0" y="0"/>
                  </a:moveTo>
                  <a:lnTo>
                    <a:pt x="0" y="218503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5985510" y="2820352"/>
              <a:ext cx="1523047" cy="9525"/>
            </a:xfrm>
            <a:custGeom>
              <a:avLst/>
              <a:gdLst/>
              <a:ahLst/>
              <a:cxnLst/>
              <a:rect l="l" t="t" r="r" b="b"/>
              <a:pathLst>
                <a:path w="1523047" h="9525">
                  <a:moveTo>
                    <a:pt x="0" y="0"/>
                  </a:moveTo>
                  <a:lnTo>
                    <a:pt x="15230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508558" y="27727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680008" y="3405188"/>
              <a:ext cx="1585912" cy="9525"/>
            </a:xfrm>
            <a:custGeom>
              <a:avLst/>
              <a:gdLst/>
              <a:ahLst/>
              <a:cxnLst/>
              <a:rect l="l" t="t" r="r" b="b"/>
              <a:pathLst>
                <a:path w="1585912" h="9525">
                  <a:moveTo>
                    <a:pt x="0" y="0"/>
                  </a:moveTo>
                  <a:lnTo>
                    <a:pt x="15859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265920" y="33575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985510" y="3990975"/>
              <a:ext cx="1523047" cy="9525"/>
            </a:xfrm>
            <a:custGeom>
              <a:avLst/>
              <a:gdLst/>
              <a:ahLst/>
              <a:cxnLst/>
              <a:rect l="l" t="t" r="r" b="b"/>
              <a:pathLst>
                <a:path w="1523047" h="9525">
                  <a:moveTo>
                    <a:pt x="0" y="0"/>
                  </a:moveTo>
                  <a:lnTo>
                    <a:pt x="15230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08558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680008" y="3990975"/>
              <a:ext cx="1585912" cy="9525"/>
            </a:xfrm>
            <a:custGeom>
              <a:avLst/>
              <a:gdLst/>
              <a:ahLst/>
              <a:cxnLst/>
              <a:rect l="l" t="t" r="r" b="b"/>
              <a:pathLst>
                <a:path w="1585912" h="9525">
                  <a:moveTo>
                    <a:pt x="0" y="0"/>
                  </a:moveTo>
                  <a:lnTo>
                    <a:pt x="15859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265920" y="3943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680008" y="4576762"/>
              <a:ext cx="3217545" cy="9525"/>
            </a:xfrm>
            <a:custGeom>
              <a:avLst/>
              <a:gdLst/>
              <a:ahLst/>
              <a:cxnLst/>
              <a:rect l="l" t="t" r="r" b="b"/>
              <a:pathLst>
                <a:path w="3217545" h="9525">
                  <a:moveTo>
                    <a:pt x="0" y="0"/>
                  </a:moveTo>
                  <a:lnTo>
                    <a:pt x="32175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897552" y="45291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5985510" y="5162550"/>
              <a:ext cx="1523047" cy="9525"/>
            </a:xfrm>
            <a:custGeom>
              <a:avLst/>
              <a:gdLst/>
              <a:ahLst/>
              <a:cxnLst/>
              <a:rect l="l" t="t" r="r" b="b"/>
              <a:pathLst>
                <a:path w="1523047" h="9525">
                  <a:moveTo>
                    <a:pt x="0" y="0"/>
                  </a:moveTo>
                  <a:lnTo>
                    <a:pt x="15230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508558" y="5114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30428" y="2022158"/>
              <a:ext cx="823912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30652" y="2022158"/>
              <a:ext cx="737235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728008" y="2022158"/>
              <a:ext cx="606742" cy="277178"/>
            </a:xfrm>
            <a:prstGeom prst="roundRect">
              <a:avLst>
                <a:gd name="adj" fmla="val 34364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0331" y="210502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手表用户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94829" y="210502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简单手表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12770" y="210502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04982" y="210502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38900" y="2741295"/>
              <a:ext cx="7115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53688" y="2770346"/>
              <a:ext cx="6828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按下按钮1和2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274368" y="332708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95526" y="335613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闪烁小时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19862" y="3912870"/>
              <a:ext cx="54959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39239" y="3941921"/>
              <a:ext cx="5117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按下按钮2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274368" y="391287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95526" y="394192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增加分钟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94482" y="449770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21254" y="452770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刷新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96050" y="5083492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14402" y="511349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确认新时间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89354" y="543115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顺序图示例：简单手表调时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对象收到消息触发一个操作的执行，执行中还可能向别的对象发消息，形成嵌套的控制焦点。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动态图、扩展机制与视图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协作图：强调哪些对象之间有消息传递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366969" cy="278702"/>
            <a:chOff x="526161" y="1547336"/>
            <a:chExt cx="536696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协作图和顺序图描述同一件事，一个强调结构，一个强调时序。</a:t>
              </a:r>
            </a:p>
          </p:txBody>
        </p:sp>
      </p:grpSp>
      <p:grpSp>
        <p:nvGrpSpPr>
          <p:cNvPr id="30" name="c1-graph-1"/>
          <p:cNvGrpSpPr/>
          <p:nvPr/>
        </p:nvGrpSpPr>
        <p:grpSpPr>
          <a:xfrm>
            <a:off x="900112" y="2289810"/>
            <a:ext cx="4719638" cy="4063364"/>
            <a:chOff x="900112" y="2289810"/>
            <a:chExt cx="4719638" cy="4063364"/>
          </a:xfrm>
        </p:grpSpPr>
        <p:sp>
          <p:nvSpPr>
            <p:cNvPr id="9" name="Freeform 9"/>
            <p:cNvSpPr/>
            <p:nvPr/>
          </p:nvSpPr>
          <p:spPr>
            <a:xfrm>
              <a:off x="1404938" y="2653665"/>
              <a:ext cx="93345" cy="2812732"/>
            </a:xfrm>
            <a:custGeom>
              <a:avLst/>
              <a:gdLst/>
              <a:ahLst/>
              <a:cxnLst/>
              <a:rect l="l" t="t" r="r" b="b"/>
              <a:pathLst>
                <a:path w="93345" h="2812732">
                  <a:moveTo>
                    <a:pt x="0" y="0"/>
                  </a:moveTo>
                  <a:lnTo>
                    <a:pt x="93345" y="28127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50658" y="5464492"/>
              <a:ext cx="95250" cy="97155"/>
            </a:xfrm>
            <a:custGeom>
              <a:avLst/>
              <a:gdLst/>
              <a:ahLst/>
              <a:cxnLst/>
              <a:rect l="l" t="t" r="r" b="b"/>
              <a:pathLst>
                <a:path w="95250" h="97155">
                  <a:moveTo>
                    <a:pt x="50482" y="97155"/>
                  </a:moveTo>
                  <a:lnTo>
                    <a:pt x="0" y="381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13598" y="5743575"/>
              <a:ext cx="2544128" cy="9525"/>
            </a:xfrm>
            <a:custGeom>
              <a:avLst/>
              <a:gdLst/>
              <a:ahLst/>
              <a:cxnLst/>
              <a:rect l="l" t="t" r="r" b="b"/>
              <a:pathLst>
                <a:path w="2544128" h="9525">
                  <a:moveTo>
                    <a:pt x="0" y="0"/>
                  </a:moveTo>
                  <a:lnTo>
                    <a:pt x="25441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57725" y="56959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05928" y="2718435"/>
              <a:ext cx="3103245" cy="2843212"/>
            </a:xfrm>
            <a:custGeom>
              <a:avLst/>
              <a:gdLst/>
              <a:ahLst/>
              <a:cxnLst/>
              <a:rect l="l" t="t" r="r" b="b"/>
              <a:pathLst>
                <a:path w="3103245" h="2843212">
                  <a:moveTo>
                    <a:pt x="0" y="2843212"/>
                  </a:moveTo>
                  <a:lnTo>
                    <a:pt x="31032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76788" y="2653665"/>
              <a:ext cx="102870" cy="100012"/>
            </a:xfrm>
            <a:custGeom>
              <a:avLst/>
              <a:gdLst/>
              <a:ahLst/>
              <a:cxnLst/>
              <a:rect l="l" t="t" r="r" b="b"/>
              <a:pathLst>
                <a:path w="102870" h="100012">
                  <a:moveTo>
                    <a:pt x="102870" y="0"/>
                  </a:moveTo>
                  <a:lnTo>
                    <a:pt x="64770" y="100012"/>
                  </a:lnTo>
                  <a:lnTo>
                    <a:pt x="0" y="295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65835" y="2289810"/>
              <a:ext cx="866775" cy="363855"/>
            </a:xfrm>
            <a:prstGeom prst="roundRect">
              <a:avLst>
                <a:gd name="adj" fmla="val 261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9620" y="2289810"/>
              <a:ext cx="997268" cy="363855"/>
            </a:xfrm>
            <a:prstGeom prst="roundRect">
              <a:avLst>
                <a:gd name="adj" fmla="val 261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00112" y="5561648"/>
              <a:ext cx="1213485" cy="363855"/>
            </a:xfrm>
            <a:prstGeom prst="roundRect">
              <a:avLst>
                <a:gd name="adj" fmla="val 261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52975" y="5561648"/>
              <a:ext cx="866775" cy="363855"/>
            </a:xfrm>
            <a:prstGeom prst="roundRect">
              <a:avLst>
                <a:gd name="adj" fmla="val 261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67346" y="24017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0514" y="24017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打印队列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8817" y="56735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打印服务程序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54486" y="56735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98232" y="4022408"/>
              <a:ext cx="71056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12539" y="4053840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1：打印文件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49855" y="5657850"/>
              <a:ext cx="156781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38444" y="5690235"/>
              <a:ext cx="15906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1.1：[打印机空闲] 打印文件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66035" y="4022408"/>
              <a:ext cx="145351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58053" y="4053840"/>
              <a:ext cx="1469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1.2：[打印机忙] 保存文件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67368" y="6176962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协作图示例：打印服务器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248400" y="1941195"/>
            <a:ext cx="5410200" cy="2028825"/>
            <a:chOff x="6248400" y="1941195"/>
            <a:chExt cx="5410200" cy="2028825"/>
          </a:xfrm>
        </p:grpSpPr>
        <p:sp>
          <p:nvSpPr>
            <p:cNvPr id="31" name="Rectangle 31"/>
            <p:cNvSpPr/>
            <p:nvPr/>
          </p:nvSpPr>
          <p:spPr>
            <a:xfrm>
              <a:off x="6248400" y="1941195"/>
              <a:ext cx="5410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05181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4903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11346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协作图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48412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强调什么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24775" y="24712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消息传递的时间顺序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28810" y="24712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哪些对象之间有消息传递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8412" y="2877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4775" y="28770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对象横排，时间向下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28810" y="287702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对象自由摆放，按关联连线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32827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顺序怎么表示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4775" y="32827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靠上下位置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38322" y="3168015"/>
              <a:ext cx="221075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28810" y="32827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靠消息编号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559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35642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8412" y="3688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激活嵌套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24775" y="3688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用控制焦点显式表示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28810" y="3688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用层次编号隐式表示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1941195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2000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424035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248400" y="4145280"/>
            <a:ext cx="5410200" cy="1466850"/>
            <a:chOff x="6248400" y="4145280"/>
            <a:chExt cx="5410200" cy="1466850"/>
          </a:xfrm>
        </p:grpSpPr>
        <p:sp>
          <p:nvSpPr>
            <p:cNvPr id="57" name="Rectangle 57"/>
            <p:cNvSpPr/>
            <p:nvPr/>
          </p:nvSpPr>
          <p:spPr>
            <a:xfrm>
              <a:off x="6248400" y="414528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40805" y="433768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24244" y="43719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消息编号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33947" y="4694872"/>
              <a:ext cx="47114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协作图中要给消息编号来标明执行顺序。层次编号（1、1.1、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1.2、2.1.1）能反映激活的嵌套性质，这一点在顺序图中是用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控制焦点显式画出来的。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248400" y="5787390"/>
            <a:ext cx="5410200" cy="488632"/>
            <a:chOff x="6248400" y="5787390"/>
            <a:chExt cx="5410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6248400" y="5787390"/>
              <a:ext cx="5410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5931218"/>
              <a:ext cx="200026" cy="200025"/>
              <a:chOff x="6453188" y="593121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59312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92926" y="59756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27642" y="60867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892" y="5936933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两种图信息等价，多数建模工具可以互相自动转换。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动态图、扩展机制与视图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状态图：一个对象在生命周期里的状态与转移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984648" cy="278702"/>
            <a:chOff x="526161" y="1547336"/>
            <a:chExt cx="498464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状态是对象满足的一种条件，可以看作类的属性值的抽象。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542" y="1964055"/>
            <a:ext cx="4551236" cy="1964245"/>
            <a:chOff x="526542" y="1964055"/>
            <a:chExt cx="4551236" cy="1964245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35227" y="196405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对象满足的一种条件，是类属性值的抽象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526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3612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转移标注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35227" y="236124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事件[条件] / 动作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5080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2759392"/>
              <a:ext cx="562785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动作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35227" y="27593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伴随转移发生，不会被中断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30231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542" y="3410902"/>
              <a:ext cx="71580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活动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activity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35227" y="341090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在某一状态中进行，可以被中断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050982"/>
            <a:ext cx="4544378" cy="1466850"/>
            <a:chOff x="533400" y="4050982"/>
            <a:chExt cx="4544378" cy="1466850"/>
          </a:xfrm>
        </p:grpSpPr>
        <p:sp>
          <p:nvSpPr>
            <p:cNvPr id="21" name="Rectangle 21"/>
            <p:cNvSpPr/>
            <p:nvPr/>
          </p:nvSpPr>
          <p:spPr>
            <a:xfrm>
              <a:off x="533400" y="4050982"/>
              <a:ext cx="4544378" cy="1466850"/>
            </a:xfrm>
            <a:prstGeom prst="roundRect">
              <a:avLst>
                <a:gd name="adj" fmla="val 909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5805" y="424338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7245" y="42776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947" y="4599622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用一个对象的多个状态及状态之间的转换来描述该对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象的行为。状态图刻画单个对象，交互图刻画多个对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象的协作。</a:t>
              </a:r>
            </a:p>
          </p:txBody>
        </p:sp>
      </p:grpSp>
      <p:grpSp>
        <p:nvGrpSpPr>
          <p:cNvPr id="76" name="c2-flow-1"/>
          <p:cNvGrpSpPr/>
          <p:nvPr/>
        </p:nvGrpSpPr>
        <p:grpSpPr>
          <a:xfrm>
            <a:off x="5529262" y="2212658"/>
            <a:ext cx="5982652" cy="3219450"/>
            <a:chOff x="5529262" y="2212658"/>
            <a:chExt cx="5982652" cy="3219450"/>
          </a:xfrm>
        </p:grpSpPr>
        <p:sp>
          <p:nvSpPr>
            <p:cNvPr id="26" name="Freeform 26"/>
            <p:cNvSpPr/>
            <p:nvPr/>
          </p:nvSpPr>
          <p:spPr>
            <a:xfrm>
              <a:off x="8521065" y="2610802"/>
              <a:ext cx="9525" cy="437197"/>
            </a:xfrm>
            <a:custGeom>
              <a:avLst/>
              <a:gdLst/>
              <a:ahLst/>
              <a:cxnLst/>
              <a:rect l="l" t="t" r="r" b="b"/>
              <a:pathLst>
                <a:path w="9525" h="437197">
                  <a:moveTo>
                    <a:pt x="0" y="0"/>
                  </a:moveTo>
                  <a:lnTo>
                    <a:pt x="0" y="4371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468678" y="3048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420225" y="3351848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607868" y="32994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525000" y="3351848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420225" y="32994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521065" y="3550920"/>
              <a:ext cx="9525" cy="437197"/>
            </a:xfrm>
            <a:custGeom>
              <a:avLst/>
              <a:gdLst/>
              <a:ahLst/>
              <a:cxnLst/>
              <a:rect l="l" t="t" r="r" b="b"/>
              <a:pathLst>
                <a:path w="9525" h="437197">
                  <a:moveTo>
                    <a:pt x="0" y="0"/>
                  </a:moveTo>
                  <a:lnTo>
                    <a:pt x="0" y="4371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468678" y="39881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420225" y="4291965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7868" y="4239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525000" y="4291965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20225" y="4239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521065" y="4491038"/>
              <a:ext cx="9525" cy="437197"/>
            </a:xfrm>
            <a:custGeom>
              <a:avLst/>
              <a:gdLst/>
              <a:ahLst/>
              <a:cxnLst/>
              <a:rect l="l" t="t" r="r" b="b"/>
              <a:pathLst>
                <a:path w="9525" h="437197">
                  <a:moveTo>
                    <a:pt x="0" y="0"/>
                  </a:moveTo>
                  <a:lnTo>
                    <a:pt x="0" y="4371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468678" y="49282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420225" y="523208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0" y="0"/>
                  </a:moveTo>
                  <a:lnTo>
                    <a:pt x="187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607868" y="51796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525000" y="523208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20225" y="51796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433310" y="523208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328535" y="51796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20952" y="2212658"/>
              <a:ext cx="1799272" cy="399098"/>
            </a:xfrm>
            <a:prstGeom prst="roundRect">
              <a:avLst>
                <a:gd name="adj" fmla="val 4988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20952" y="3152775"/>
              <a:ext cx="1799272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12642" y="3152775"/>
              <a:ext cx="1799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20952" y="4092892"/>
              <a:ext cx="1799272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712642" y="4092892"/>
              <a:ext cx="1799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20952" y="5033010"/>
              <a:ext cx="1799272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712642" y="5033010"/>
              <a:ext cx="1799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529262" y="5033010"/>
              <a:ext cx="1799272" cy="399098"/>
            </a:xfrm>
            <a:prstGeom prst="roundRect">
              <a:avLst>
                <a:gd name="adj" fmla="val 4988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64576" y="2333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13801" y="32732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小时闪烁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05491" y="32732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增加小时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13801" y="42133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分钟闪烁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05491" y="42133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增加分钟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89188" y="51535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秒闪烁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80878" y="51535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21159" y="51535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停止闪烁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549640" y="2796540"/>
              <a:ext cx="85439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73262" y="2820829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按下按钮1和2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235440" y="2925128"/>
              <a:ext cx="66198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261822" y="2950369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按下按钮2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549640" y="3736658"/>
              <a:ext cx="66198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573262" y="3760946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按下按钮1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235440" y="3865245"/>
              <a:ext cx="66198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261822" y="3890486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按下按钮2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549640" y="4676775"/>
              <a:ext cx="66198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573262" y="4702016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按下按钮1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235440" y="4805362"/>
              <a:ext cx="66198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61822" y="4830604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按下按钮2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047548" y="4805362"/>
              <a:ext cx="85439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66935" y="4830604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按下按钮1和2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7" name="Rectangle 7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3610"/>
              <a:ext cx="6592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简单手表“设置时间”用例的状态图：按钮1切换要改的字段，按钮2把该字段加一。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动态图、扩展机制与视图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活动图：一个用例的处理流程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78930" cy="293370"/>
            <a:chOff x="525780" y="1548765"/>
            <a:chExt cx="66789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活动图类似流程图，描述各项活动的执行流程，能方便地表示判断和并行。</a:t>
              </a:r>
            </a:p>
          </p:txBody>
        </p:sp>
      </p:grpSp>
      <p:grpSp>
        <p:nvGrpSpPr>
          <p:cNvPr id="16" name="c1-bullets-1"/>
          <p:cNvGrpSpPr/>
          <p:nvPr/>
        </p:nvGrpSpPr>
        <p:grpSpPr>
          <a:xfrm>
            <a:off x="526161" y="1977866"/>
            <a:ext cx="4009136" cy="1268350"/>
            <a:chOff x="526161" y="1977866"/>
            <a:chExt cx="4009136" cy="1268350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活动图的用途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020" y="23736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611" y="231409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描述所要进行的各项活动的执行流程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1020" y="270033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611" y="2640806"/>
              <a:ext cx="2657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描述一个 Use Case 的处理流程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1020" y="302704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611" y="296751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方便地描述控制转移条件以及并行执行等要求</a:t>
              </a:r>
            </a:p>
          </p:txBody>
        </p:sp>
      </p:grpSp>
      <p:grpSp>
        <p:nvGrpSpPr>
          <p:cNvPr id="45" name="c1-flow-2"/>
          <p:cNvGrpSpPr/>
          <p:nvPr/>
        </p:nvGrpSpPr>
        <p:grpSpPr>
          <a:xfrm>
            <a:off x="722948" y="3395662"/>
            <a:ext cx="5031105" cy="2265998"/>
            <a:chOff x="722948" y="3395662"/>
            <a:chExt cx="5031105" cy="2265998"/>
          </a:xfrm>
        </p:grpSpPr>
        <p:sp>
          <p:nvSpPr>
            <p:cNvPr id="17" name="Freeform 17"/>
            <p:cNvSpPr/>
            <p:nvPr/>
          </p:nvSpPr>
          <p:spPr>
            <a:xfrm>
              <a:off x="722948" y="3601402"/>
              <a:ext cx="2221230" cy="463867"/>
            </a:xfrm>
            <a:custGeom>
              <a:avLst/>
              <a:gdLst/>
              <a:ahLst/>
              <a:cxnLst/>
              <a:rect l="l" t="t" r="r" b="b"/>
              <a:pathLst>
                <a:path w="2221230" h="463867">
                  <a:moveTo>
                    <a:pt x="0" y="0"/>
                  </a:moveTo>
                  <a:lnTo>
                    <a:pt x="1163002" y="0"/>
                  </a:lnTo>
                  <a:lnTo>
                    <a:pt x="1163002" y="463867"/>
                  </a:lnTo>
                  <a:lnTo>
                    <a:pt x="2221230" y="4638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944178" y="40128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048952" y="4065270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323272" y="40128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22948" y="4065270"/>
              <a:ext cx="2221230" cy="463867"/>
            </a:xfrm>
            <a:custGeom>
              <a:avLst/>
              <a:gdLst/>
              <a:ahLst/>
              <a:cxnLst/>
              <a:rect l="l" t="t" r="r" b="b"/>
              <a:pathLst>
                <a:path w="2221230" h="463867">
                  <a:moveTo>
                    <a:pt x="0" y="0"/>
                  </a:moveTo>
                  <a:lnTo>
                    <a:pt x="1163002" y="0"/>
                  </a:lnTo>
                  <a:lnTo>
                    <a:pt x="1163002" y="463867"/>
                  </a:lnTo>
                  <a:lnTo>
                    <a:pt x="2221230" y="4638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944178" y="44767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885950" y="4681538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533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833562" y="4681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885950" y="5145405"/>
              <a:ext cx="9525" cy="52388"/>
            </a:xfrm>
            <a:custGeom>
              <a:avLst/>
              <a:gdLst/>
              <a:ahLst/>
              <a:cxnLst/>
              <a:rect l="l" t="t" r="r" b="b"/>
              <a:pathLst>
                <a:path w="9525" h="52388">
                  <a:moveTo>
                    <a:pt x="0" y="5238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833562" y="51454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153728" y="4271010"/>
              <a:ext cx="1437322" cy="1184910"/>
            </a:xfrm>
            <a:custGeom>
              <a:avLst/>
              <a:gdLst/>
              <a:ahLst/>
              <a:cxnLst/>
              <a:rect l="l" t="t" r="r" b="b"/>
              <a:pathLst>
                <a:path w="1437322" h="1184910">
                  <a:moveTo>
                    <a:pt x="1437322" y="0"/>
                  </a:moveTo>
                  <a:lnTo>
                    <a:pt x="1437322" y="209550"/>
                  </a:lnTo>
                  <a:lnTo>
                    <a:pt x="1437322" y="1184910"/>
                  </a:lnTo>
                  <a:lnTo>
                    <a:pt x="104775" y="1184910"/>
                  </a:lnTo>
                  <a:lnTo>
                    <a:pt x="0" y="11849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048952" y="54035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2948" y="3395662"/>
              <a:ext cx="2326005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22948" y="3770948"/>
              <a:ext cx="2326005" cy="588645"/>
            </a:xfrm>
            <a:custGeom>
              <a:avLst/>
              <a:gdLst/>
              <a:ahLst/>
              <a:cxnLst/>
              <a:rect l="l" t="t" r="r" b="b"/>
              <a:pathLst>
                <a:path w="2326005" h="588645">
                  <a:moveTo>
                    <a:pt x="1163002" y="0"/>
                  </a:moveTo>
                  <a:lnTo>
                    <a:pt x="2326005" y="294323"/>
                  </a:lnTo>
                  <a:lnTo>
                    <a:pt x="1163002" y="588645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428048" y="3859530"/>
              <a:ext cx="232600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22948" y="4322445"/>
              <a:ext cx="232600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2948" y="4786312"/>
              <a:ext cx="232600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2948" y="5250180"/>
              <a:ext cx="2326005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18310" y="35175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75994" y="3981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磁盘满了吗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11473" y="398145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显示“磁盘已满”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95222" y="44453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创建打印文件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14450" y="490823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打印机打印文件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2134" y="53721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删除显示信息的对话框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873692" y="3858578"/>
              <a:ext cx="72961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897132" y="3883819"/>
              <a:ext cx="6827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[磁盘已满]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9165" y="3858578"/>
              <a:ext cx="72961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2604" y="3883819"/>
              <a:ext cx="6827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[尚有空间]</a:t>
              </a:r>
            </a:p>
          </p:txBody>
        </p:sp>
      </p:grpSp>
      <p:grpSp>
        <p:nvGrpSpPr>
          <p:cNvPr id="60" name="c2-kv-1"/>
          <p:cNvGrpSpPr/>
          <p:nvPr/>
        </p:nvGrpSpPr>
        <p:grpSpPr>
          <a:xfrm>
            <a:off x="6241161" y="1977866"/>
            <a:ext cx="5417439" cy="1943672"/>
            <a:chOff x="6241161" y="1977866"/>
            <a:chExt cx="5417439" cy="1943672"/>
          </a:xfrm>
        </p:grpSpPr>
        <p:sp>
          <p:nvSpPr>
            <p:cNvPr id="46" name="TextBox 46"/>
            <p:cNvSpPr txBox="1"/>
            <p:nvPr/>
          </p:nvSpPr>
          <p:spPr>
            <a:xfrm>
              <a:off x="6241161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活动状态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48004" y="197786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圆角矩形，表示一步要做的事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2812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41161" y="23941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转移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48004" y="239410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带箭头的实线，活动做完自动流向下一个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2697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41161" y="2810351"/>
              <a:ext cx="12457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判定 Decision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8004" y="281035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菱形，出边上用方括号写监护条件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1137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1161" y="3226594"/>
              <a:ext cx="1096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同步条 Fork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48004" y="322659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粗横线，一条输入分成多条并发的输出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5299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1161" y="3642836"/>
              <a:ext cx="10459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同步条 Join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48004" y="364283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粗横线，多条并发输入汇合成一条输出</a:t>
              </a:r>
            </a:p>
          </p:txBody>
        </p:sp>
      </p:grpSp>
      <p:grpSp>
        <p:nvGrpSpPr>
          <p:cNvPr id="87" name="c2-flow-2"/>
          <p:cNvGrpSpPr/>
          <p:nvPr/>
        </p:nvGrpSpPr>
        <p:grpSpPr>
          <a:xfrm>
            <a:off x="6381750" y="4113848"/>
            <a:ext cx="5143500" cy="1505902"/>
            <a:chOff x="6381750" y="4113848"/>
            <a:chExt cx="5143500" cy="1505902"/>
          </a:xfrm>
        </p:grpSpPr>
        <p:sp>
          <p:nvSpPr>
            <p:cNvPr id="61" name="Freeform 61"/>
            <p:cNvSpPr/>
            <p:nvPr/>
          </p:nvSpPr>
          <p:spPr>
            <a:xfrm>
              <a:off x="7150418" y="4525328"/>
              <a:ext cx="1803082" cy="67627"/>
            </a:xfrm>
            <a:custGeom>
              <a:avLst/>
              <a:gdLst/>
              <a:ahLst/>
              <a:cxnLst/>
              <a:rect l="l" t="t" r="r" b="b"/>
              <a:pathLst>
                <a:path w="1803082" h="67627">
                  <a:moveTo>
                    <a:pt x="1803082" y="0"/>
                  </a:moveTo>
                  <a:lnTo>
                    <a:pt x="1803082" y="67627"/>
                  </a:lnTo>
                  <a:lnTo>
                    <a:pt x="0" y="67627"/>
                  </a:ln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098030" y="45558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953500" y="452532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8901112" y="45558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953500" y="4525328"/>
              <a:ext cx="1803082" cy="67627"/>
            </a:xfrm>
            <a:custGeom>
              <a:avLst/>
              <a:gdLst/>
              <a:ahLst/>
              <a:cxnLst/>
              <a:rect l="l" t="t" r="r" b="b"/>
              <a:pathLst>
                <a:path w="1803082" h="67627">
                  <a:moveTo>
                    <a:pt x="0" y="0"/>
                  </a:moveTo>
                  <a:lnTo>
                    <a:pt x="0" y="67627"/>
                  </a:lnTo>
                  <a:lnTo>
                    <a:pt x="1803082" y="67627"/>
                  </a:lnTo>
                  <a:lnTo>
                    <a:pt x="1803082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0704195" y="45558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7150418" y="5073015"/>
              <a:ext cx="1803082" cy="67628"/>
            </a:xfrm>
            <a:custGeom>
              <a:avLst/>
              <a:gdLst/>
              <a:ahLst/>
              <a:cxnLst/>
              <a:rect l="l" t="t" r="r" b="b"/>
              <a:pathLst>
                <a:path w="1803082" h="67628">
                  <a:moveTo>
                    <a:pt x="0" y="0"/>
                  </a:moveTo>
                  <a:lnTo>
                    <a:pt x="0" y="67628"/>
                  </a:lnTo>
                  <a:lnTo>
                    <a:pt x="1803082" y="67628"/>
                  </a:lnTo>
                  <a:lnTo>
                    <a:pt x="1803082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901112" y="51034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8953500" y="5073015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901112" y="51034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953500" y="5073015"/>
              <a:ext cx="1803082" cy="67628"/>
            </a:xfrm>
            <a:custGeom>
              <a:avLst/>
              <a:gdLst/>
              <a:ahLst/>
              <a:cxnLst/>
              <a:rect l="l" t="t" r="r" b="b"/>
              <a:pathLst>
                <a:path w="1803082" h="67628">
                  <a:moveTo>
                    <a:pt x="1803082" y="0"/>
                  </a:moveTo>
                  <a:lnTo>
                    <a:pt x="1803082" y="67628"/>
                  </a:lnTo>
                  <a:lnTo>
                    <a:pt x="0" y="67628"/>
                  </a:lnTo>
                  <a:lnTo>
                    <a:pt x="0" y="304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8901112" y="51034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184832" y="4113848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381750" y="4660582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184832" y="4660582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9988868" y="4660582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184832" y="5208270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585425" y="4235768"/>
              <a:ext cx="736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Activity1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782343" y="4782502"/>
              <a:ext cx="736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Activity2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585425" y="4782502"/>
              <a:ext cx="736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Activity3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88508" y="4782502"/>
              <a:ext cx="736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Activity4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585425" y="5330190"/>
              <a:ext cx="736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Activity5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880032" y="4387215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914602" y="44115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分叉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982075" y="5054918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005697" y="50792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汇合</a:t>
              </a:r>
            </a:p>
          </p:txBody>
        </p:sp>
      </p:grpSp>
      <p:grpSp>
        <p:nvGrpSpPr>
          <p:cNvPr id="9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8" name="Rectangle 8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0511" y="601170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分叉与汇合成对出现，中间几条分支可以并发执行，全部完成后才继续往下走。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动态图、扩展机制与视图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构件图与配置图：代码的组织与硬件的部署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984648" cy="278702"/>
            <a:chOff x="526161" y="1547336"/>
            <a:chExt cx="498464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前面八种图都在描述软件的逻辑，这两种图落到物理层面。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41195"/>
            <a:ext cx="5410200" cy="2179320"/>
            <a:chOff x="533400" y="1941195"/>
            <a:chExt cx="5410200" cy="217932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179320"/>
            </a:xfrm>
            <a:prstGeom prst="roundRect">
              <a:avLst>
                <a:gd name="adj" fmla="val 61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9126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2700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构件图（Component Diagram）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构件图描述程序代码的组织结构，反映构件之间的依赖关系。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8670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81082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源代码构件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16896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1127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二进制目标代码构件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347186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341566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可执行构件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37738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37176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文档构件</a:t>
              </a:r>
            </a:p>
          </p:txBody>
        </p:sp>
      </p:grpSp>
      <p:grpSp>
        <p:nvGrpSpPr>
          <p:cNvPr id="50" name="c1-graph-2"/>
          <p:cNvGrpSpPr/>
          <p:nvPr/>
        </p:nvGrpSpPr>
        <p:grpSpPr>
          <a:xfrm>
            <a:off x="802958" y="4419600"/>
            <a:ext cx="4837748" cy="1443037"/>
            <a:chOff x="802958" y="4419600"/>
            <a:chExt cx="4837748" cy="1443037"/>
          </a:xfrm>
        </p:grpSpPr>
        <p:sp>
          <p:nvSpPr>
            <p:cNvPr id="24" name="Freeform 24"/>
            <p:cNvSpPr/>
            <p:nvPr/>
          </p:nvSpPr>
          <p:spPr>
            <a:xfrm>
              <a:off x="1895475" y="5715952"/>
              <a:ext cx="887730" cy="9525"/>
            </a:xfrm>
            <a:custGeom>
              <a:avLst/>
              <a:gdLst/>
              <a:ahLst/>
              <a:cxnLst/>
              <a:rect l="l" t="t" r="r" b="b"/>
              <a:pathLst>
                <a:path w="887730" h="9525">
                  <a:moveTo>
                    <a:pt x="88773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1800225" y="56683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982152" y="514159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7143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1886902" y="50939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916430" y="4567238"/>
              <a:ext cx="844867" cy="9525"/>
            </a:xfrm>
            <a:custGeom>
              <a:avLst/>
              <a:gdLst/>
              <a:ahLst/>
              <a:cxnLst/>
              <a:rect l="l" t="t" r="r" b="b"/>
              <a:pathLst>
                <a:path w="844867" h="9525">
                  <a:moveTo>
                    <a:pt x="84486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1821180" y="45196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785235" y="5275898"/>
              <a:ext cx="945833" cy="279083"/>
            </a:xfrm>
            <a:custGeom>
              <a:avLst/>
              <a:gdLst/>
              <a:ahLst/>
              <a:cxnLst/>
              <a:rect l="l" t="t" r="r" b="b"/>
              <a:pathLst>
                <a:path w="945833" h="279083">
                  <a:moveTo>
                    <a:pt x="945833" y="0"/>
                  </a:moveTo>
                  <a:lnTo>
                    <a:pt x="0" y="27908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3693795" y="550926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2390"/>
                  </a:moveTo>
                  <a:lnTo>
                    <a:pt x="78105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875722" y="5141595"/>
              <a:ext cx="855345" cy="9525"/>
            </a:xfrm>
            <a:custGeom>
              <a:avLst/>
              <a:gdLst/>
              <a:ahLst/>
              <a:cxnLst/>
              <a:rect l="l" t="t" r="r" b="b"/>
              <a:pathLst>
                <a:path w="855345" h="9525">
                  <a:moveTo>
                    <a:pt x="85534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3780472" y="50939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806190" y="4733925"/>
              <a:ext cx="924877" cy="273368"/>
            </a:xfrm>
            <a:custGeom>
              <a:avLst/>
              <a:gdLst/>
              <a:ahLst/>
              <a:cxnLst/>
              <a:rect l="l" t="t" r="r" b="b"/>
              <a:pathLst>
                <a:path w="924877" h="273368">
                  <a:moveTo>
                    <a:pt x="924877" y="27336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3715702" y="468915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0" y="18097"/>
                  </a:moveTo>
                  <a:lnTo>
                    <a:pt x="104775" y="0"/>
                  </a:lnTo>
                  <a:lnTo>
                    <a:pt x="77152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89635" y="5568315"/>
              <a:ext cx="909638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83205" y="5568315"/>
              <a:ext cx="909638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2958" y="4993958"/>
              <a:ext cx="1083945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696528" y="4993958"/>
              <a:ext cx="1083945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728" y="4419600"/>
              <a:ext cx="953452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761298" y="4419600"/>
              <a:ext cx="953452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731068" y="4993958"/>
              <a:ext cx="909638" cy="294322"/>
            </a:xfrm>
            <a:prstGeom prst="roundRect">
              <a:avLst>
                <a:gd name="adj" fmla="val 323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63473" y="5659755"/>
              <a:ext cx="5629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main.cpp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72945" y="5659755"/>
              <a:ext cx="5311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main.obj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5322" y="5085398"/>
              <a:ext cx="739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Comhnd.cpp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84894" y="5085398"/>
              <a:ext cx="707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Comhnd.obj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5205" y="4511040"/>
              <a:ext cx="5994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Whnd.cpp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54805" y="4511040"/>
              <a:ext cx="567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Whnd.obj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61560" y="5085398"/>
              <a:ext cx="649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Client.exe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248400" y="1941195"/>
            <a:ext cx="5410200" cy="1877378"/>
            <a:chOff x="6248400" y="1941195"/>
            <a:chExt cx="5410200" cy="1877378"/>
          </a:xfrm>
        </p:grpSpPr>
        <p:sp>
          <p:nvSpPr>
            <p:cNvPr id="51" name="Rectangle 51"/>
            <p:cNvSpPr/>
            <p:nvPr/>
          </p:nvSpPr>
          <p:spPr>
            <a:xfrm>
              <a:off x="6248400" y="1941195"/>
              <a:ext cx="5410200" cy="1877378"/>
            </a:xfrm>
            <a:prstGeom prst="roundRect">
              <a:avLst>
                <a:gd name="adj" fmla="val 7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2074545"/>
              <a:ext cx="47625" cy="161067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8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70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62597" y="2173605"/>
              <a:ext cx="2756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配置图（Deployment Diagram）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2047" y="250793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描述系统中软硬件的物理配置情况和系统体系结构。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87478" y="28670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43497" y="281082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结点表示实际的物理设备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87478" y="316896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43497" y="311277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连接表示各物理结点的连接方式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87478" y="347186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43497" y="341566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结点内部表示分配到该结点运行的构件或对象</a:t>
              </a:r>
            </a:p>
          </p:txBody>
        </p:sp>
      </p:grpSp>
      <p:grpSp>
        <p:nvGrpSpPr>
          <p:cNvPr id="81" name="c2-graph-2"/>
          <p:cNvGrpSpPr/>
          <p:nvPr/>
        </p:nvGrpSpPr>
        <p:grpSpPr>
          <a:xfrm>
            <a:off x="6680835" y="4073842"/>
            <a:ext cx="4546282" cy="1833564"/>
            <a:chOff x="6680835" y="4073842"/>
            <a:chExt cx="4546282" cy="1833564"/>
          </a:xfrm>
        </p:grpSpPr>
        <p:sp>
          <p:nvSpPr>
            <p:cNvPr id="64" name="Freeform 64"/>
            <p:cNvSpPr/>
            <p:nvPr/>
          </p:nvSpPr>
          <p:spPr>
            <a:xfrm>
              <a:off x="7980998" y="4272915"/>
              <a:ext cx="2184083" cy="9525"/>
            </a:xfrm>
            <a:custGeom>
              <a:avLst/>
              <a:gdLst/>
              <a:ahLst/>
              <a:cxnLst/>
              <a:rect l="l" t="t" r="r" b="b"/>
              <a:pathLst>
                <a:path w="2184083" h="9525">
                  <a:moveTo>
                    <a:pt x="0" y="0"/>
                  </a:moveTo>
                  <a:lnTo>
                    <a:pt x="21840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781925" y="4454842"/>
              <a:ext cx="2383155" cy="1053465"/>
            </a:xfrm>
            <a:custGeom>
              <a:avLst/>
              <a:gdLst/>
              <a:ahLst/>
              <a:cxnLst/>
              <a:rect l="l" t="t" r="r" b="b"/>
              <a:pathLst>
                <a:path w="2383155" h="1053465">
                  <a:moveTo>
                    <a:pt x="0" y="1053465"/>
                  </a:moveTo>
                  <a:lnTo>
                    <a:pt x="23831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0576560" y="4471988"/>
              <a:ext cx="9525" cy="1036320"/>
            </a:xfrm>
            <a:custGeom>
              <a:avLst/>
              <a:gdLst/>
              <a:ahLst/>
              <a:cxnLst/>
              <a:rect l="l" t="t" r="r" b="b"/>
              <a:pathLst>
                <a:path w="9525" h="1036320">
                  <a:moveTo>
                    <a:pt x="0" y="0"/>
                  </a:moveTo>
                  <a:lnTo>
                    <a:pt x="0" y="10363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80835" y="4073842"/>
              <a:ext cx="130016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80835" y="5508308"/>
              <a:ext cx="130016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165080" y="4073842"/>
              <a:ext cx="82391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9926955" y="5508308"/>
              <a:ext cx="130016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90731" y="4216718"/>
              <a:ext cx="1079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客户A：个人电脑PC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90731" y="5651182"/>
              <a:ext cx="1079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客户B：个人电脑PC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390061" y="421671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36851" y="5651182"/>
              <a:ext cx="10794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数据库服务器：VAX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771572" y="4193858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79540" y="4223861"/>
              <a:ext cx="5860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《TCP/IP》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672512" y="4902518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80480" y="4932521"/>
              <a:ext cx="5860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《TCP/IP》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262235" y="4912042"/>
              <a:ext cx="6276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275832" y="4941094"/>
              <a:ext cx="6014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《DecNet》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247697" cy="909257"/>
            <a:chOff x="520446" y="342900"/>
            <a:chExt cx="32476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动态图、扩展机制与视图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2476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的三种扩展机制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09690" cy="308039"/>
            <a:chOff x="525399" y="1550194"/>
            <a:chExt cx="66096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标准记号不够用时，用这三种机制扩充，而不是自己另发明一套图形。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5780" y="1992630"/>
            <a:ext cx="5417820" cy="2301240"/>
            <a:chOff x="525780" y="1992630"/>
            <a:chExt cx="5417820" cy="230124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30683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标记值 Tagged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Value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48840" y="1992630"/>
              <a:ext cx="32442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附属于 UML 元素的各种信息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（Property），形式为 {属性名 = 值}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5946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714625"/>
              <a:ext cx="1065371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约束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Constraint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48840" y="271462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限制一个或多个元素语义的规则，形式为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{约束条件}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3166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3436620"/>
              <a:ext cx="111537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构造型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Stereotype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48840" y="3436620"/>
              <a:ext cx="3444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在已有模型元素的基础上建立一种新的模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型元素，与现有元素相差不多，只是多一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些特别的语义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425315"/>
            <a:ext cx="5410200" cy="1790700"/>
            <a:chOff x="533400" y="4425315"/>
            <a:chExt cx="5410200" cy="1790700"/>
          </a:xfrm>
        </p:grpSpPr>
        <p:sp>
          <p:nvSpPr>
            <p:cNvPr id="18" name="Rectangle 18"/>
            <p:cNvSpPr/>
            <p:nvPr/>
          </p:nvSpPr>
          <p:spPr>
            <a:xfrm>
              <a:off x="533400" y="4425315"/>
              <a:ext cx="5410200" cy="1790700"/>
            </a:xfrm>
            <a:prstGeom prst="roundRect">
              <a:avLst>
                <a:gd name="adj" fmla="val 638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19700"/>
              <a:ext cx="200026" cy="200025"/>
              <a:chOff x="738188" y="521970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2197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2641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3752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076825"/>
              <a:ext cx="33966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构造型写在书名号里，例如《Actor》、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《include》、《extend》都是构造型。</a:t>
              </a:r>
            </a:p>
          </p:txBody>
        </p:sp>
      </p:grpSp>
      <p:grpSp>
        <p:nvGrpSpPr>
          <p:cNvPr id="32" name="c2-uml-1"/>
          <p:cNvGrpSpPr/>
          <p:nvPr/>
        </p:nvGrpSpPr>
        <p:grpSpPr>
          <a:xfrm>
            <a:off x="8283892" y="2205038"/>
            <a:ext cx="1339215" cy="1001078"/>
            <a:chOff x="8283892" y="2205038"/>
            <a:chExt cx="1339215" cy="1001078"/>
          </a:xfrm>
        </p:grpSpPr>
        <p:sp>
          <p:nvSpPr>
            <p:cNvPr id="25" name="Rectangle 25"/>
            <p:cNvSpPr/>
            <p:nvPr/>
          </p:nvSpPr>
          <p:spPr>
            <a:xfrm>
              <a:off x="8283892" y="2205038"/>
              <a:ext cx="1339215" cy="1001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291512" y="2212658"/>
              <a:ext cx="1324928" cy="423862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283892" y="2631758"/>
              <a:ext cx="1339215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83892" y="3106102"/>
              <a:ext cx="1339215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85746" y="2266474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«abstract»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46236" y="24293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i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交通工具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54759" y="2704148"/>
              <a:ext cx="1197483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{author = "Alice"}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{status = draft}</a:t>
              </a:r>
            </a:p>
          </p:txBody>
        </p:sp>
      </p:grpSp>
      <p:grpSp>
        <p:nvGrpSpPr>
          <p:cNvPr id="46" name="c2-uml-2"/>
          <p:cNvGrpSpPr/>
          <p:nvPr/>
        </p:nvGrpSpPr>
        <p:grpSpPr>
          <a:xfrm>
            <a:off x="8286750" y="3710940"/>
            <a:ext cx="1332548" cy="1360170"/>
            <a:chOff x="8286750" y="3710940"/>
            <a:chExt cx="1332548" cy="1360170"/>
          </a:xfrm>
        </p:grpSpPr>
        <p:sp>
          <p:nvSpPr>
            <p:cNvPr id="33" name="Freeform 33"/>
            <p:cNvSpPr/>
            <p:nvPr/>
          </p:nvSpPr>
          <p:spPr>
            <a:xfrm>
              <a:off x="8953500" y="4361498"/>
              <a:ext cx="9525" cy="121920"/>
            </a:xfrm>
            <a:custGeom>
              <a:avLst/>
              <a:gdLst/>
              <a:ahLst/>
              <a:cxnLst/>
              <a:rect l="l" t="t" r="r" b="b"/>
              <a:pathLst>
                <a:path w="9525" h="121920">
                  <a:moveTo>
                    <a:pt x="0" y="0"/>
                  </a:moveTo>
                  <a:lnTo>
                    <a:pt x="0" y="12192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880158" y="44834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125730"/>
                  </a:moveTo>
                  <a:lnTo>
                    <a:pt x="0" y="0"/>
                  </a:lnTo>
                  <a:lnTo>
                    <a:pt x="146685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286750" y="3710940"/>
              <a:ext cx="1332548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294370" y="3717608"/>
              <a:ext cx="1318260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86750" y="3977640"/>
              <a:ext cx="133254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286750" y="4261485"/>
              <a:ext cx="1332548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382000" y="4609148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89620" y="4615815"/>
              <a:ext cx="1128712" cy="26479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82000" y="487584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82000" y="4971098"/>
              <a:ext cx="1143000" cy="952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21623" y="37752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老年人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7616" y="4050030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{person.age &gt; 60}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72398" y="467344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248400" y="5432108"/>
            <a:ext cx="5410200" cy="782955"/>
            <a:chOff x="6248400" y="5432108"/>
            <a:chExt cx="5410200" cy="782955"/>
          </a:xfrm>
        </p:grpSpPr>
        <p:sp>
          <p:nvSpPr>
            <p:cNvPr id="47" name="Rectangle 47"/>
            <p:cNvSpPr/>
            <p:nvPr/>
          </p:nvSpPr>
          <p:spPr>
            <a:xfrm>
              <a:off x="6248400" y="543210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5723575"/>
              <a:ext cx="200023" cy="200023"/>
              <a:chOff x="6453188" y="57235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57235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86538" y="5790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130" y="5580698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标记值记的是“关于模型的信息”（作者、状态），约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束记的是“模型必须满足的条件”。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 · 动态图、扩展机制与视图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5 个视图从不同角度描述同一个系统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40450" cy="278702"/>
            <a:chOff x="526161" y="1547336"/>
            <a:chExt cx="59404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视图是被建模系统的各个方面，它们反映同一个系统，彼此必须一致。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33400" y="1941195"/>
            <a:ext cx="11125200" cy="3628072"/>
            <a:chOff x="533400" y="1941195"/>
            <a:chExt cx="11125200" cy="362807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5882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89185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视图内容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02783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静态表现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39266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动态表现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87190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观察角度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42925" y="2395538"/>
              <a:ext cx="1983105" cy="6657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514600"/>
              <a:ext cx="159877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 View 用例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34424" y="263461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系统行为、动力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82349" y="2634615"/>
              <a:ext cx="1017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 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62572" y="263461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交互图、状态图、活动图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55314" y="2514600"/>
              <a:ext cx="15567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用户、分析员、测试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60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070860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3198495"/>
              <a:ext cx="1755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Logic View 逻辑视图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4424" y="31984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问题及解决方案的术语词汇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82349" y="319849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类图、对象图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62572" y="31984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交互图、状态图、活动图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55314" y="319849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类、接口、协作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0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3643312"/>
              <a:ext cx="171621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 View 进程视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34424" y="376332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性能、可伸缩性、吞吐量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2349" y="376332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类图、对象图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62572" y="3763327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交互图、状态图、活动图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55314" y="376332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线程、进程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1957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00525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2270" y="4328160"/>
              <a:ext cx="160734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 View 实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现视图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4424" y="4448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构件、文件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82349" y="44481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62572" y="44481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交互图、状态图、活动图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55314" y="44481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配置、发布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879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2270" y="5013008"/>
              <a:ext cx="166135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Deployment View 实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施视图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34424" y="5133023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部件的发布、交付、安装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82349" y="5133023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2572" y="5133023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交互图、状态图、活动图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5314" y="5133023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拓扑结构的节点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941195"/>
              <a:ext cx="11125200" cy="36280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530792" y="1941195"/>
              <a:ext cx="9525" cy="36280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78718" y="1941195"/>
              <a:ext cx="9525" cy="36280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58940" y="1941195"/>
              <a:ext cx="9525" cy="36280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651682" y="1941195"/>
              <a:ext cx="9525" cy="36280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bullets-2"/>
          <p:cNvGrpSpPr/>
          <p:nvPr/>
        </p:nvGrpSpPr>
        <p:grpSpPr>
          <a:xfrm>
            <a:off x="542925" y="5763101"/>
            <a:ext cx="3635451" cy="492443"/>
            <a:chOff x="542925" y="5763101"/>
            <a:chExt cx="3635451" cy="492443"/>
          </a:xfrm>
        </p:grpSpPr>
        <p:sp>
          <p:nvSpPr>
            <p:cNvPr id="53" name="Ellipse 53"/>
            <p:cNvSpPr/>
            <p:nvPr/>
          </p:nvSpPr>
          <p:spPr>
            <a:xfrm>
              <a:off x="542925" y="580644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135" y="576310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建立完整模型所需的视图种类和数量不定，按需选取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42925" y="607790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135" y="603551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视图把建模语言同开发系统的方法、过程连接起来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九种图的选型速查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333492" cy="308039"/>
            <a:chOff x="525399" y="1550194"/>
            <a:chExt cx="53334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拿到一个建模任务先问自己要表达什么，再按下表选图。</a:t>
              </a:r>
            </a:p>
          </p:txBody>
        </p:sp>
      </p:grpSp>
      <p:grpSp>
        <p:nvGrpSpPr>
          <p:cNvPr id="31" name="c1-table-1"/>
          <p:cNvGrpSpPr/>
          <p:nvPr/>
        </p:nvGrpSpPr>
        <p:grpSpPr>
          <a:xfrm>
            <a:off x="533400" y="1967865"/>
            <a:ext cx="5410200" cy="2926080"/>
            <a:chOff x="533400" y="1967865"/>
            <a:chExt cx="5410200" cy="292608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79245" y="2106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要表达什么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85310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用哪种图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59461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谁能用系统做成什么事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60458" y="2465070"/>
              <a:ext cx="227361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57612" y="2594610"/>
              <a:ext cx="1130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 Case 图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938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94322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08229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系统的静态结构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57612" y="30822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5699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某一时刻的对象快照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57612" y="35699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对象图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138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91858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40576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一次交互的消息时序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57612" y="4057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4015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080" y="45453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对象之间的消息组织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57612" y="45453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67865"/>
              <a:ext cx="5410200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46170" y="1967865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table-1"/>
          <p:cNvGrpSpPr/>
          <p:nvPr/>
        </p:nvGrpSpPr>
        <p:grpSpPr>
          <a:xfrm>
            <a:off x="6248400" y="1967865"/>
            <a:ext cx="5410200" cy="3192780"/>
            <a:chOff x="6248400" y="1967865"/>
            <a:chExt cx="5410200" cy="3192780"/>
          </a:xfrm>
        </p:grpSpPr>
        <p:sp>
          <p:nvSpPr>
            <p:cNvPr id="32" name="Rectangle 32"/>
            <p:cNvSpPr/>
            <p:nvPr/>
          </p:nvSpPr>
          <p:spPr>
            <a:xfrm>
              <a:off x="6248400" y="1967865"/>
              <a:ext cx="5410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60845" y="2106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要表达什么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66910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用哪种图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5080" y="259461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单个对象的状态变化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08658" y="2465070"/>
              <a:ext cx="3340418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05812" y="25946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938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94322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5080" y="308229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一个用例的处理流程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5812" y="308229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活动图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5080" y="35699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代码构件之间的依赖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05812" y="35699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9138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918585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5080" y="40576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软硬件的物理部署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05812" y="4057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配置图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44015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5080" y="467868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标准记号不够用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05812" y="4545330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三种扩展机制：标记值、约束、构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1967865"/>
              <a:ext cx="5410200" cy="3192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294370" y="1967865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口诀：单个对象看状态图，多对象协作看交互图，流程分支看活动图，物理部署看配置图。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自测（一）：面向对象基本概念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175809" cy="278702"/>
            <a:chOff x="526161" y="1547336"/>
            <a:chExt cx="517580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先盖住答案作答，再逐条核对。题目来自源课件的随堂测验。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2025968"/>
            <a:chOff x="533400" y="1941195"/>
            <a:chExt cx="5410200" cy="202596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7183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 technology is …？A 一组指导软件构造的原则 B 一种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寻求认可的新理论 C Grady Booch 发明的新语言 D 基于抽象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与模块化的原则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30708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A。抽象、封装、多态等一组原则，加上支持它们的语言、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数据库与工具。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143375"/>
            <a:ext cx="5410200" cy="1511618"/>
            <a:chOff x="533400" y="4143375"/>
            <a:chExt cx="5410200" cy="1511618"/>
          </a:xfrm>
        </p:grpSpPr>
        <p:sp>
          <p:nvSpPr>
            <p:cNvPr id="15" name="Rectangle 15"/>
            <p:cNvSpPr/>
            <p:nvPr/>
          </p:nvSpPr>
          <p:spPr>
            <a:xfrm>
              <a:off x="533400" y="414337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33578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37007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692015"/>
              <a:ext cx="47577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visible behavior of an object is modeled by its …？A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 B 职责 C 操作 D 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5252085"/>
              <a:ext cx="448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C。操作是对外可见的行为声明，方法是它的实现。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7140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state of an object …？A 由一个 state 属性定义 B 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常不随时间改变 C 由对象的属性和关系定义 D 是对象存在的唯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307080"/>
              <a:ext cx="4117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C。状态是属性值及其与其他对象关系的抽象。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63858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Encapsulation …？A 允许直接操作被封装的东西 B 常被称为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信息隐藏 C 导致高昂的维护开销 D 使实现期的改动影响客户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4662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B。封装即信息隐藏，效果是让实现改动不影响客户。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5029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题最容易错，别把“状态”理解成某个名叫 state 的字段。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自测（二）：类、多态与模块化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840230"/>
            <a:chOff x="533400" y="1524000"/>
            <a:chExt cx="5410200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5955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class …？A 是对象的一次封装 B 表示对象的层次结构 C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是对象的一个实例 D 是对象的抽象定义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672239"/>
              <a:ext cx="48025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D。类是对一组同类对象的抽象定义；反过来实例才是类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的对象。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44252"/>
            <a:ext cx="5410200" cy="2111692"/>
            <a:chOff x="533400" y="3544252"/>
            <a:chExt cx="5410200" cy="2111692"/>
          </a:xfrm>
        </p:grpSpPr>
        <p:sp>
          <p:nvSpPr>
            <p:cNvPr id="13" name="Rectangle 13"/>
            <p:cNvSpPr/>
            <p:nvPr/>
          </p:nvSpPr>
          <p:spPr>
            <a:xfrm>
              <a:off x="533400" y="3544252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74237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37766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102894"/>
              <a:ext cx="429439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What phrase best represents a generalization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relationship？A is a part of B is a kind of C is a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replica of D is an inheritance of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963954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B。泛化读作“是一种”；“是一部分”对应的是聚合或组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840230"/>
            <a:chOff x="6248400" y="1524000"/>
            <a:chExt cx="5410200" cy="184023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46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5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9281" y="2082641"/>
              <a:ext cx="46952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Polymorphism can be described as？A 把多种不同实现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隐藏在一个接口后面 B 继承 C 信息放置 D 泛化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9281" y="2672239"/>
              <a:ext cx="48025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A。同一个接口、同一条消息，不同的类各自给出自己的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544252"/>
            <a:ext cx="5410200" cy="2111692"/>
            <a:chOff x="6248400" y="3544252"/>
            <a:chExt cx="5410200" cy="2111692"/>
          </a:xfrm>
        </p:grpSpPr>
        <p:sp>
          <p:nvSpPr>
            <p:cNvPr id="25" name="Rectangle 25"/>
            <p:cNvSpPr/>
            <p:nvPr/>
          </p:nvSpPr>
          <p:spPr>
            <a:xfrm>
              <a:off x="6248400" y="3544252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6520" y="374237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5468" y="37766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4102894"/>
              <a:ext cx="475787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What happens when you incorporate modularity into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your plan？A 把复杂的东西拆成可管理的小块 B 建成互相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通信的模块 C 系统大到无法理解 D 各部分无法独立开发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4963954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A。模块化的直接收益就是把复杂问题拆成可管理的部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11704"/>
              <a:ext cx="63418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重载与多态都是“同名不同实现”，区别在于前者编译期定，后者运行期定。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20821" cy="909257"/>
            <a:chOff x="520446" y="342900"/>
            <a:chExt cx="4620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20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自测（三）：建模原则与 UML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94485"/>
            <a:chOff x="533400" y="1524000"/>
            <a:chExt cx="5410200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6528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model …？A 团队都懂业务时就不需要 B 必须既有结构又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有行为 C 是对现实的简化 D 是为了做详尽计划找的借口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42510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C。A model is a simplification of reality。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04222"/>
            <a:ext cx="5410200" cy="2137410"/>
            <a:chOff x="533400" y="3304222"/>
            <a:chExt cx="5410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3304222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50805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354377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3880961"/>
              <a:ext cx="45973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best models are connected to …？A JavaScript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 B 现实 C C++ D 与面向对象开发者相关的问题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4472464"/>
              <a:ext cx="48025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B。第三条建模原则：最好的模型与现实相连，可以简化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但不能丢掉潜在的致命特性。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594485"/>
            <a:chOff x="6248400" y="1524000"/>
            <a:chExt cx="5410200" cy="15944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2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9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44996" y="2100739"/>
              <a:ext cx="47650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Why do we model？A 帮助可视化系统 B 给出构造系统的模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板 C 记录我们的决定 D 以上全部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44996" y="2692241"/>
              <a:ext cx="49045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D。四个目的：可视化、规约、构造模板、记录决定。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304222"/>
            <a:ext cx="5410200" cy="2137410"/>
            <a:chOff x="6248400" y="3304222"/>
            <a:chExt cx="5410200" cy="2137410"/>
          </a:xfrm>
        </p:grpSpPr>
        <p:sp>
          <p:nvSpPr>
            <p:cNvPr id="25" name="Rectangle 25"/>
            <p:cNvSpPr/>
            <p:nvPr/>
          </p:nvSpPr>
          <p:spPr>
            <a:xfrm>
              <a:off x="6248400" y="3304222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2235" y="350805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9722" y="354377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44996" y="3880961"/>
              <a:ext cx="4554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Which process characteristic is not essential to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working with the UML？A 迭代与增量 B 用例驱动 C 有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弹性的 D 以架构为中心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4996" y="474392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C。最能发挥 UML 的过程有三条特征：用例驱动、以架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构为中心、迭代与增量。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1" name="Rectangle 3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04084"/>
              <a:ext cx="59595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建模四原则按“选什么模型、建多细、连不连现实、建几个”的顺序记。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自测（四）：图与关系的选用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1582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Which of the following would you use to organize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elements into groups？A 包 B 类 C 封装 D 泛化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669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A。包（Package）是 UML 中用于组织的要素。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2223135"/>
            <a:chOff x="533400" y="33661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464629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“借书”用例不办罚款也能完整执行，“改员工资料”必须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先找到员工。这两处各该用哪种关系？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573905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罚款对借还书用 《extend》，找员工对改资料用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《include》。判据是去掉它以后基用例是否仍然完整。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2678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视图是体系结构的“切片”。哪个视图关注结构性问题？A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用例视图 B 进程视图 C 实现视图 D 逻辑视图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D。逻辑视图用类图和对象图描述问题及解决方案的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词汇，关注的是结构。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72678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要表达“一个对象一生会经历哪些状态”，以及“一次交互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中多个对象按什么顺序发消息”，分别画哪种图？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前者画状态图（刻画单个对象），后者画顺序图或协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作图（刻画多个对象的协作）。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6446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 include 还是 extend 只看一条：去掉它以后基用例是否仍然完整。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面向对象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3525"/>
            <a:ext cx="4780087" cy="1726215"/>
            <a:chOff x="533400" y="1533525"/>
            <a:chExt cx="4780087" cy="172621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424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 = 对象 + 类 + 继承 + 消息通信，四要素缺一不可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45103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六条优点都可回溯到“对象是数据与操作的自含单元”这一条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封装靠三条件：清晰边界、确定接口、受保护的实现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重载在编译期按签名选，多态在运行期按对象实际类型选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建模四原则决定建什么模型、建多细、建几个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99942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0350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010376"/>
              <a:ext cx="4358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UML = 4 种要素 + 4 种关系 + 9 种图，外加 3 种扩展机制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3374708"/>
            <a:ext cx="5410200" cy="702945"/>
            <a:chOff x="533400" y="3374708"/>
            <a:chExt cx="5410200" cy="702945"/>
          </a:xfrm>
        </p:grpSpPr>
        <p:sp>
          <p:nvSpPr>
            <p:cNvPr id="26" name="Rectangle 26"/>
            <p:cNvSpPr/>
            <p:nvPr/>
          </p:nvSpPr>
          <p:spPr>
            <a:xfrm>
              <a:off x="533400" y="337470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3626170"/>
              <a:ext cx="200023" cy="200023"/>
              <a:chOff x="738188" y="3626170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36261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36928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3519011"/>
              <a:ext cx="4475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六种类关系按强度排序：依赖 &lt; 关联 &lt; 聚合 &lt; 组合，泛化和实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现另成一类。</a:t>
              </a:r>
            </a:p>
          </p:txBody>
        </p:sp>
      </p:grpSp>
      <p:grpSp>
        <p:nvGrpSpPr>
          <p:cNvPr id="40" name="c1-card-3"/>
          <p:cNvGrpSpPr/>
          <p:nvPr/>
        </p:nvGrpSpPr>
        <p:grpSpPr>
          <a:xfrm>
            <a:off x="533400" y="4241482"/>
            <a:ext cx="5410200" cy="1428750"/>
            <a:chOff x="533400" y="4241482"/>
            <a:chExt cx="54102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533400" y="424148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374832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2475" y="442245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642" y="445531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画图时最常出错的两处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2000" y="481584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448" y="4762976"/>
              <a:ext cx="45077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《include》由基用例指向被包含用例，《extend》的箭头反过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2000" y="534352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7448" y="5290661"/>
              <a:ext cx="4507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菱形画在整体那一端，泛化的空心三角指向父类或父 Actor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248400" y="1524000"/>
            <a:ext cx="5410200" cy="2727960"/>
            <a:chOff x="6248400" y="1524000"/>
            <a:chExt cx="5410200" cy="2727960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2727960"/>
            </a:xfrm>
            <a:prstGeom prst="roundRect">
              <a:avLst>
                <a:gd name="adj" fmla="val 48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24612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7475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2964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本讲更正的源课件错误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32448" y="204549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目录页“第十章内容概要”应为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第九章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（源课件第 14、31、58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77000" y="262509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32448" y="2573179"/>
              <a:ext cx="48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聚合页注的“物理包容”与组合定义冲突，物理包容是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组合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的特征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77000" y="291084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32448" y="2857976"/>
              <a:ext cx="42070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拼写：Autority→Authority、amunt→amount、cteated→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created、Libratian→Librarian、tempatureSensor→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temperatureSensor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77000" y="368141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32448" y="3628549"/>
              <a:ext cx="454472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《extend》对比页 interest→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interesting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，base used cases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base use cases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248400" y="4416742"/>
            <a:ext cx="5410200" cy="1254442"/>
            <a:chOff x="6248400" y="4416742"/>
            <a:chExt cx="5410200" cy="1254442"/>
          </a:xfrm>
        </p:grpSpPr>
        <p:sp>
          <p:nvSpPr>
            <p:cNvPr id="54" name="Rectangle 54"/>
            <p:cNvSpPr/>
            <p:nvPr/>
          </p:nvSpPr>
          <p:spPr>
            <a:xfrm>
              <a:off x="6248400" y="4416742"/>
              <a:ext cx="5410200" cy="1254442"/>
            </a:xfrm>
            <a:prstGeom prst="roundRect">
              <a:avLst>
                <a:gd name="adj" fmla="val 911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4943475"/>
              <a:ext cx="200026" cy="200025"/>
              <a:chOff x="6453188" y="494347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49434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92926" y="49879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27642" y="50990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6273" y="4837271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易混点：聚合是共享包容，组合是独占包容且部分不能独立存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1" name="Rectangle 6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下一章把这套记号用到面向对象分析与设计上，本章的九种图是那里的基本工具。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第9章 面向对象方法学引论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ch09">
  <a:themeElements>
    <a:clrScheme name="se_ch0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ch0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ch0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2026-09-22T13:30:47Z</dcterms:created>
  <dcterms:modified xsi:type="dcterms:W3CDTF">2026-09-22T13:30:47Z</dcterms:modified>
  <cp:category/>
  <cp:contentStatus/>
</cp:coreProperties>
</file>