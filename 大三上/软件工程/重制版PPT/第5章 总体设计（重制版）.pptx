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0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0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994c86864d3b30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5b9822487cf5d2a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06bcc53c6049dd0.png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第五章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总体设计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把需求变成一份能施工的软件结构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设计过程与设计原理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耦合、内聚与启发规则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面向数据流的设计方法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软件体系结构与风格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自学复习版｜据吉林大学《软件工程》第五章课件整理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软件设计过程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设计的地位、两个阶段九个步骤、差错传播与复审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软件设计原理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模块化、抽象、逐步求精、信息隐藏，以及耦合与内聚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启发规则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七条经验规则，重点是作用域与控制域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描绘软件结构的图形工具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0098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层次图、HIPO 图、结构图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面向数据流的设计方法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变换分析、事务分析和两个完整实例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软件体系结构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定义、描述内容、常见风格与方案对比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说出总体设计的两个阶段、九个步骤和五份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判断两个模块之间的耦合类型和一个模块内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部的内聚类型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用七条启发规则找出结构图里的毛病并改正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把一张数据流图按变换分析映射成结构图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08622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0233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说出五类体系结构风格的构件、连接件和优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设计在开发中的位置、两个阶段和九个步骤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 设计的本质与开发阶段的信息流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九个步骤与交出的文档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差错传播与设计复审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68102" cy="909257"/>
            <a:chOff x="520446" y="342900"/>
            <a:chExt cx="5968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68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软件设计是把"做什么"翻译成"怎么做"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设计依据需求规格说明书建立设计方案，这份方案是下一步编码的依据。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54530"/>
            <a:ext cx="5842635" cy="2205038"/>
            <a:chOff x="533400" y="1954530"/>
            <a:chExt cx="5842635" cy="22050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软件设计是软件开发过程中承前启后的工作：依据软件需求规格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说明书建立软件设计方案，作为下一步程序编码的依据。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20135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14182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它是软件开发中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形成质量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的地方，设计提供了可用于质量评估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的软件表示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79285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733324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它是把需求准确转换为完整软件产品的唯一办法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344352"/>
            <a:ext cx="5842635" cy="1274445"/>
            <a:chOff x="533400" y="4344352"/>
            <a:chExt cx="5842635" cy="1274445"/>
          </a:xfrm>
        </p:grpSpPr>
        <p:sp>
          <p:nvSpPr>
            <p:cNvPr id="20" name="Rectangle 20"/>
            <p:cNvSpPr/>
            <p:nvPr/>
          </p:nvSpPr>
          <p:spPr>
            <a:xfrm>
              <a:off x="533400" y="434435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47770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75335" y="454818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2741" y="4583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早年的误解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096" y="4922044"/>
              <a:ext cx="51000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过去软件设计曾被狭隘地认为是"编程序"或"写代码"，结果设计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没有发挥应有的作用，软件系统结构的稳定性极差。</a:t>
              </a:r>
            </a:p>
          </p:txBody>
        </p:sp>
      </p:grpSp>
      <p:grpSp>
        <p:nvGrpSpPr>
          <p:cNvPr id="44" name="c2-flow-1"/>
          <p:cNvGrpSpPr/>
          <p:nvPr/>
        </p:nvGrpSpPr>
        <p:grpSpPr>
          <a:xfrm>
            <a:off x="7029450" y="2019300"/>
            <a:ext cx="4280535" cy="2642235"/>
            <a:chOff x="7029450" y="2019300"/>
            <a:chExt cx="4280535" cy="2642235"/>
          </a:xfrm>
        </p:grpSpPr>
        <p:sp>
          <p:nvSpPr>
            <p:cNvPr id="26" name="Freeform 26"/>
            <p:cNvSpPr/>
            <p:nvPr/>
          </p:nvSpPr>
          <p:spPr>
            <a:xfrm>
              <a:off x="9169718" y="2444115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0"/>
                  </a:move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117330" y="24688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169718" y="2998470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0"/>
                  </a:move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117330" y="30232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169718" y="3552825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0"/>
                  </a:move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117330" y="3577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169718" y="4107180"/>
              <a:ext cx="9525" cy="24765"/>
            </a:xfrm>
            <a:custGeom>
              <a:avLst/>
              <a:gdLst/>
              <a:ahLst/>
              <a:cxnLst/>
              <a:rect l="l" t="t" r="r" b="b"/>
              <a:pathLst>
                <a:path w="9525" h="24765">
                  <a:moveTo>
                    <a:pt x="0" y="0"/>
                  </a:moveTo>
                  <a:lnTo>
                    <a:pt x="0" y="24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117330" y="41319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029450" y="2019300"/>
              <a:ext cx="4280535" cy="424815"/>
            </a:xfrm>
            <a:custGeom>
              <a:avLst/>
              <a:gdLst/>
              <a:ahLst/>
              <a:cxnLst/>
              <a:rect l="l" t="t" r="r" b="b"/>
              <a:pathLst>
                <a:path w="4280535" h="424815">
                  <a:moveTo>
                    <a:pt x="133350" y="0"/>
                  </a:moveTo>
                  <a:lnTo>
                    <a:pt x="4280535" y="0"/>
                  </a:lnTo>
                  <a:lnTo>
                    <a:pt x="4147185" y="424815"/>
                  </a:lnTo>
                  <a:lnTo>
                    <a:pt x="0" y="424815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29450" y="2573655"/>
              <a:ext cx="4280535" cy="424815"/>
            </a:xfrm>
            <a:prstGeom prst="roundRect">
              <a:avLst>
                <a:gd name="adj" fmla="val 22422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29450" y="3128010"/>
              <a:ext cx="428053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29450" y="3682365"/>
              <a:ext cx="4280535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29450" y="4236720"/>
              <a:ext cx="4280535" cy="4248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98218" y="21478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需求规格说明书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43178" y="2702242"/>
              <a:ext cx="345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概要设计：数据设计 · 体系结构设计 · 接口设计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36674" y="325659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详细设计：过程设计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2078" y="38109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02078" y="436530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</a:p>
          </p:txBody>
        </p:sp>
      </p:grpSp>
      <p:grpSp>
        <p:nvGrpSpPr>
          <p:cNvPr id="46" name="c2-text-2"/>
          <p:cNvGrpSpPr/>
          <p:nvPr/>
        </p:nvGrpSpPr>
        <p:grpSpPr>
          <a:xfrm>
            <a:off x="8517446" y="4931092"/>
            <a:ext cx="1304544" cy="234696"/>
            <a:chOff x="8517446" y="4931092"/>
            <a:chExt cx="1304544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8517446" y="49310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开发阶段的信息流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7" name="Rectangle 4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9954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本章讲的总体设计就是概要设计，它决定系统由哪些模块组成、模块之间怎么连；每个模块内部怎么做留给详细设计。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两个阶段、九个步骤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328160" cy="1511618"/>
            <a:chOff x="533400" y="1524000"/>
            <a:chExt cx="4328160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511618"/>
            </a:xfrm>
            <a:prstGeom prst="roundRect">
              <a:avLst>
                <a:gd name="adj" fmla="val 882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2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两个阶段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34378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0397" y="2072640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系统设计阶段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：确定系统的具体实现方案，对应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1～3 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34378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0397" y="2632710"/>
              <a:ext cx="3775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结构设计阶段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：确定软件结构，对应第 4～9 步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210878"/>
            <a:ext cx="4328160" cy="2370772"/>
            <a:chOff x="533400" y="3210878"/>
            <a:chExt cx="4328160" cy="2370772"/>
          </a:xfrm>
        </p:grpSpPr>
        <p:sp>
          <p:nvSpPr>
            <p:cNvPr id="15" name="Rectangle 15"/>
            <p:cNvSpPr/>
            <p:nvPr/>
          </p:nvSpPr>
          <p:spPr>
            <a:xfrm>
              <a:off x="533400" y="3210878"/>
              <a:ext cx="4328160" cy="2370772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44228"/>
              <a:ext cx="47625" cy="21040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403282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967" y="3437573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08570" y="344328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每个合理方案都要准备四份资料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3905" y="37652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9583" y="38036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4702" y="377761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3905" y="40681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9583" y="41065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4702" y="407955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组成系统的物理元素清单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3905" y="437007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9583" y="44084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4702" y="43824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成本／效益分析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3905" y="46729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583" y="471135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702" y="468534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实现这个系统的进度计划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8190" y="49839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通常至少选取低成本、中等成本、高成本三种方案。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5166360" y="1524000"/>
            <a:ext cx="6492240" cy="4057650"/>
            <a:chOff x="5166360" y="1524000"/>
            <a:chExt cx="6492240" cy="4057650"/>
          </a:xfrm>
        </p:grpSpPr>
        <p:sp>
          <p:nvSpPr>
            <p:cNvPr id="34" name="Rectangle 34"/>
            <p:cNvSpPr/>
            <p:nvPr/>
          </p:nvSpPr>
          <p:spPr>
            <a:xfrm>
              <a:off x="5166360" y="1524000"/>
              <a:ext cx="649224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833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5405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66372" y="2054066"/>
              <a:ext cx="1352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设想供选择的方案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4235" y="205406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把数据流图中的处理分组，抛弃行不通的分组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2330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166360" y="233553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6372" y="2459831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选取合理的方案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4235" y="245983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选出若干个合理方案，每个准备四份资料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273653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6372" y="2865596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推荐最佳方案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14235" y="286559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综合对比后推荐一个，交用户、技术专家审查和使用部门审批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3142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66360" y="314706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175885" y="3156585"/>
              <a:ext cx="1928812" cy="38671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6372" y="327136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功能分解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14235" y="3271361"/>
              <a:ext cx="3075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细化数据流图，用 IPO 图描述每个处理的算法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166360" y="35480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175885" y="3562350"/>
              <a:ext cx="1928812" cy="386715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6372" y="3677126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设计软件结构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14235" y="367712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把模块组织成层次系统，用层次图或结构图描绘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39538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66360" y="395859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6372" y="4082891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设计数据库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14235" y="408289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在需求分析确定的数据需求基础上设计数据库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4359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66372" y="4488656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制定测试计划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14235" y="44886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早期考虑测试，促使设计时注意提高可测试性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166360" y="47653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166360" y="4770120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66372" y="4894421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书写文档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14235" y="489442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五份文档，见下一页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51711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66372" y="530018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审查和复审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14235" y="530018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先技术审查，再从管理角度复审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166360" y="1524000"/>
              <a:ext cx="6492240" cy="40576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109460" y="1524000"/>
              <a:ext cx="9525" cy="40576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2" name="Rectangle 7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3610"/>
              <a:ext cx="8728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1～3 步都围着"方案"转，从第 4 步功能分解起才真正动手设计结构，而数据流图是这两步共同的出发点。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7880" cy="909257"/>
            <a:chOff x="520446" y="342900"/>
            <a:chExt cx="57878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7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8、9 步：交出文档，再过两道审查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ard-1"/>
          <p:cNvGrpSpPr/>
          <p:nvPr/>
        </p:nvGrpSpPr>
        <p:grpSpPr>
          <a:xfrm>
            <a:off x="533400" y="1524000"/>
            <a:ext cx="5626418" cy="4701540"/>
            <a:chOff x="533400" y="1524000"/>
            <a:chExt cx="5626418" cy="47015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701540"/>
            </a:xfrm>
            <a:prstGeom prst="roundRect">
              <a:avLst>
                <a:gd name="adj" fmla="val 2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348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3722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967" y="1750695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8 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570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总体设计阶段交出的五份文档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07835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090738"/>
              <a:ext cx="46771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系统说明：系统流程图描绘的构成方案、物理元素清单、成本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／效益分析、对最佳方案的概括描述、精化的数据流图、层次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图或结构图描绘的软件结构、各模块算法的 IPO 描述、模块间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接口关系，以及需求、功能和模块三者的交叉参照关系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315182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319116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3164205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用户手册：修改更正需求分析阶段产生的初步用户手册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3905" y="345471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583" y="3493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4702" y="346710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测试计划：测试策略、测试方案、预期的测试结果、测试进度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计划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3905" y="401478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583" y="4053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4702" y="4026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详细的实现计划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3905" y="431673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583" y="43551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4702" y="432911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数据库设计结果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459284" y="1524000"/>
            <a:ext cx="5199316" cy="4743069"/>
            <a:chOff x="6459284" y="1524000"/>
            <a:chExt cx="5199316" cy="4743069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3649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复审要点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3396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问的问题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4630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可追溯性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22920" y="20540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每条需求都能找到对应的模块吗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4630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2920" y="24598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模块之间、系统与外部的接口一致吗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4630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2920" y="286559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按这个设计做下去，按期完成的把握有多大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4630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实用性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22920" y="32713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用户用起来方不方便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64630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技术清晰度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22920" y="36771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设计是否容易转换成代码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4630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可维护性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2920" y="408289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以后修改起来是否方便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3595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4630" y="4488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22920" y="44886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设计本身有没有内在质量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765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64618" y="477012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4630" y="48944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各种选择方案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22920" y="489442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是否考虑过别的方案，取舍理由记下来了吗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51711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4630" y="53001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22920" y="530018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是否符合进度、成本、运行环境等约束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55768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4618" y="558165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4630" y="570595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其它具体问题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22920" y="57059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本项目特有的问题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1814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59284" y="606171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9 步先做技术审查，再由管理人员从这些角度复审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不做设计复审，交付时的潜伏错误是四倍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066" y="1524000"/>
            <a:ext cx="5631752" cy="3120009"/>
            <a:chOff x="528066" y="1524000"/>
            <a:chExt cx="5631752" cy="31200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17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5953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无复审时传出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8833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有复审时传出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概要设计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8929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9919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详细设计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2892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57729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编码与单元测试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13648" y="2750820"/>
              <a:ext cx="180879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328929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7729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综合测试之后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892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57729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确认测试之后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28929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919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40828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系统测试之后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513648" y="3968115"/>
              <a:ext cx="180879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28929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341495" y="3968115"/>
              <a:ext cx="180879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99192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524000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9936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32720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4438650"/>
              <a:ext cx="25125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三个测试阶段的排错效率都按 50％ 计算</a:t>
              </a:r>
            </a:p>
          </p:txBody>
        </p:sp>
      </p:grpSp>
      <p:grpSp>
        <p:nvGrpSpPr>
          <p:cNvPr id="55" name="c1-card-2"/>
          <p:cNvGrpSpPr/>
          <p:nvPr/>
        </p:nvGrpSpPr>
        <p:grpSpPr>
          <a:xfrm>
            <a:off x="533400" y="4777740"/>
            <a:ext cx="5626418" cy="1557338"/>
            <a:chOff x="533400" y="4777740"/>
            <a:chExt cx="5626418" cy="1557338"/>
          </a:xfrm>
        </p:grpSpPr>
        <p:sp>
          <p:nvSpPr>
            <p:cNvPr id="45" name="Rectangle 45"/>
            <p:cNvSpPr/>
            <p:nvPr/>
          </p:nvSpPr>
          <p:spPr>
            <a:xfrm>
              <a:off x="533400" y="4777740"/>
              <a:ext cx="5626418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91109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3905" y="497014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9343" y="50044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怎么读这张表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72478" y="5383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8497" y="5327333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同一行左右两列相比，看出复审在这个阶段挡下了多少错误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72478" y="56854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8497" y="562927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表里的数字是相对数，起点是概要设计阶段带入的那一批错误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72478" y="598836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8497" y="5932170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 12 比 3，就是标题里说的四倍</a:t>
              </a:r>
            </a:p>
          </p:txBody>
        </p:sp>
      </p:grpSp>
      <p:grpSp>
        <p:nvGrpSpPr>
          <p:cNvPr id="63" name="c2-card-1"/>
          <p:cNvGrpSpPr/>
          <p:nvPr/>
        </p:nvGrpSpPr>
        <p:grpSpPr>
          <a:xfrm>
            <a:off x="6464618" y="1524000"/>
            <a:ext cx="5193982" cy="1697355"/>
            <a:chOff x="6464618" y="1524000"/>
            <a:chExt cx="5193982" cy="1697355"/>
          </a:xfrm>
        </p:grpSpPr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1657350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5122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70561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差错放大模型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12214" y="17564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每个阶段传给下一阶段多少错误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8264" y="2090738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传出 =（透传的错误 + 被放大的错误 × 放大倍数 + 本阶段新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引入的错误）×（1 − 本阶段的排错效率）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89408" y="2646521"/>
              <a:ext cx="44919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无复审时三个设计与编码阶段的排错效率是 0％、0％、20％；有复审时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 70％、50％、60％。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3396615"/>
            <a:ext cx="5193982" cy="1466850"/>
            <a:chOff x="6464618" y="3396615"/>
            <a:chExt cx="5193982" cy="1466850"/>
          </a:xfrm>
        </p:grpSpPr>
        <p:sp>
          <p:nvSpPr>
            <p:cNvPr id="64" name="Rectangle 64"/>
            <p:cNvSpPr/>
            <p:nvPr/>
          </p:nvSpPr>
          <p:spPr>
            <a:xfrm>
              <a:off x="6464618" y="3396615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4142" y="352996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95122" y="3589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86562" y="3623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88264" y="3946208"/>
              <a:ext cx="454856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原课件图中个别数字做了取整。按模型精确计算：有复审时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详细设计传出 14.25（图上写 15），无复审时编码阶段传出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92.8（图上写 94），确认测试后 23.5（图上写 24）。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464618" y="5038725"/>
            <a:ext cx="5193982" cy="1297305"/>
            <a:chOff x="6464618" y="5038725"/>
            <a:chExt cx="5193982" cy="1297305"/>
          </a:xfrm>
        </p:grpSpPr>
        <p:sp>
          <p:nvSpPr>
            <p:cNvPr id="70" name="Rectangle 70"/>
            <p:cNvSpPr/>
            <p:nvPr/>
          </p:nvSpPr>
          <p:spPr>
            <a:xfrm>
              <a:off x="6464618" y="5038725"/>
              <a:ext cx="5193982" cy="1297305"/>
            </a:xfrm>
            <a:prstGeom prst="roundRect">
              <a:avLst>
                <a:gd name="adj" fmla="val 881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657347" y="5582721"/>
              <a:ext cx="224134" cy="192560"/>
              <a:chOff x="6657347" y="5582721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769418" y="56530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657347" y="55827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7308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972110" y="5468302"/>
              <a:ext cx="41970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设计阶段的错误会被放大 1.5 倍到 3 倍，越早挡住越划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软件设计原理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五条原理决定模块怎么划分，两把尺子衡量划得好不好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 模块化、抽象、逐步求精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信息隐藏与局部化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模块独立：耦合与内聚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模块化：分开做比合起来做省力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044065"/>
            <a:chOff x="533400" y="1524000"/>
            <a:chExt cx="5626418" cy="2044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模块与模块化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9600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模块：可单独命名和可编址的部分，例如 procedure、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function、subroutine、block、macro。也可以定义为由边界元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素限定的相邻程序元素的序列，并且有一个总体标识符代表它。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90703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模块化：把程序划分成独立命名且可独立访问的模块，每个模块完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成一个子功能，集成起来构成一个整体，完成指定的功能。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742372"/>
            <a:ext cx="5626418" cy="2205038"/>
            <a:chOff x="533400" y="3742372"/>
            <a:chExt cx="5626418" cy="2205038"/>
          </a:xfrm>
        </p:grpSpPr>
        <p:sp>
          <p:nvSpPr>
            <p:cNvPr id="15" name="Rectangle 15"/>
            <p:cNvSpPr/>
            <p:nvPr/>
          </p:nvSpPr>
          <p:spPr>
            <a:xfrm>
              <a:off x="533400" y="3742372"/>
              <a:ext cx="5626418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875722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93477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9343" y="39690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模块化的根据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291965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C(X) 是问题 X 的复杂程度，E(X) 是解决问题 X 需要的工作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9"/>
                <p:cNvSpPr txBox="1">
                  <a:spLocks noGrp="1"/>
                </p:cNvSpPr>
                <p:nvPr/>
              </p:nvSpPr>
              <p:spPr>
                <a:xfrm>
                  <a:off x="763905" y="4829175"/>
                  <a:ext cx="5203508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0"/>
                <p:cNvSpPr txBox="1">
                  <a:spLocks noGrp="1"/>
                </p:cNvSpPr>
                <p:nvPr/>
              </p:nvSpPr>
              <p:spPr>
                <a:xfrm>
                  <a:off x="763905" y="5373052"/>
                  <a:ext cx="520350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1860232"/>
            <a:chOff x="6464618" y="1524000"/>
            <a:chExt cx="5193982" cy="186023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5122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2560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模块化原理的好处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03695" y="212883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9714" y="20726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软件结构清晰，容易设计、阅读和理解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03695" y="24317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9714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容易测试和调试，有助于提高软件的可靠性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03695" y="273462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9714" y="267843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能够提高软件的可修改性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03695" y="303657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59714" y="298037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有助于软件开发工程的组织管理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464618" y="3558540"/>
            <a:ext cx="5193982" cy="729615"/>
            <a:chOff x="6464618" y="3558540"/>
            <a:chExt cx="5193982" cy="729615"/>
          </a:xfrm>
        </p:grpSpPr>
        <p:sp>
          <p:nvSpPr>
            <p:cNvPr id="36" name="Rectangle 36"/>
            <p:cNvSpPr/>
            <p:nvPr/>
          </p:nvSpPr>
          <p:spPr>
            <a:xfrm>
              <a:off x="6464618" y="355854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57347" y="3819643"/>
              <a:ext cx="224134" cy="192560"/>
              <a:chOff x="6657347" y="3819643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769418" y="3890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57347" y="3819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69418" y="3967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2110" y="370522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模块并非越多越好。随着模块数目增加，设计模块间接口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所需要的工作量也跟着增加。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4463415"/>
            <a:ext cx="5193982" cy="1483995"/>
            <a:chOff x="6464618" y="4463415"/>
            <a:chExt cx="5193982" cy="1483995"/>
          </a:xfrm>
        </p:grpSpPr>
        <p:sp>
          <p:nvSpPr>
            <p:cNvPr id="43" name="Rectangle 43"/>
            <p:cNvSpPr/>
            <p:nvPr/>
          </p:nvSpPr>
          <p:spPr>
            <a:xfrm>
              <a:off x="6464618" y="4463415"/>
              <a:ext cx="5193982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59676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5122" y="46558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0563" y="4690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45464" y="46958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第二条不等式在说什么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8264" y="5030152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设解决规模 n 的问题的工作量与 n² 成正比：规模 100 的问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题按 10000 计，拆成两个规模 50 的问题只要 2×2500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5000。接口成本要另算，见下一页。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模块数与总成本：存在一个最小成本区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graph-1"/>
          <p:cNvGrpSpPr/>
          <p:nvPr/>
        </p:nvGrpSpPr>
        <p:grpSpPr>
          <a:xfrm>
            <a:off x="1031558" y="1780222"/>
            <a:ext cx="5401627" cy="4413505"/>
            <a:chOff x="1031558" y="1780222"/>
            <a:chExt cx="5401627" cy="4413505"/>
          </a:xfrm>
        </p:grpSpPr>
        <p:sp>
          <p:nvSpPr>
            <p:cNvPr id="7" name="Freeform 7"/>
            <p:cNvSpPr/>
            <p:nvPr/>
          </p:nvSpPr>
          <p:spPr>
            <a:xfrm>
              <a:off x="1079182" y="2018348"/>
              <a:ext cx="9525" cy="3637598"/>
            </a:xfrm>
            <a:custGeom>
              <a:avLst/>
              <a:gdLst/>
              <a:ahLst/>
              <a:cxnLst/>
              <a:rect l="l" t="t" r="r" b="b"/>
              <a:pathLst>
                <a:path w="9525" h="3637598">
                  <a:moveTo>
                    <a:pt x="0" y="363759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31558" y="1923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117282" y="5777865"/>
              <a:ext cx="5220652" cy="9525"/>
            </a:xfrm>
            <a:custGeom>
              <a:avLst/>
              <a:gdLst/>
              <a:ahLst/>
              <a:cxnLst/>
              <a:rect l="l" t="t" r="r" b="b"/>
              <a:pathLst>
                <a:path w="5220652" h="9525">
                  <a:moveTo>
                    <a:pt x="0" y="0"/>
                  </a:moveTo>
                  <a:lnTo>
                    <a:pt x="522065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337935" y="57302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80185" y="2670810"/>
              <a:ext cx="4650105" cy="2725102"/>
            </a:xfrm>
            <a:custGeom>
              <a:avLst/>
              <a:gdLst/>
              <a:ahLst/>
              <a:cxnLst/>
              <a:rect l="l" t="t" r="r" b="b"/>
              <a:pathLst>
                <a:path w="4650105" h="2725102">
                  <a:moveTo>
                    <a:pt x="0" y="0"/>
                  </a:moveTo>
                  <a:lnTo>
                    <a:pt x="1113472" y="1072515"/>
                  </a:lnTo>
                  <a:lnTo>
                    <a:pt x="2446020" y="1859280"/>
                  </a:lnTo>
                  <a:lnTo>
                    <a:pt x="3658552" y="2413635"/>
                  </a:lnTo>
                  <a:lnTo>
                    <a:pt x="4650105" y="27251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80185" y="2582228"/>
              <a:ext cx="4650105" cy="2908935"/>
            </a:xfrm>
            <a:custGeom>
              <a:avLst/>
              <a:gdLst/>
              <a:ahLst/>
              <a:cxnLst/>
              <a:rect l="l" t="t" r="r" b="b"/>
              <a:pathLst>
                <a:path w="4650105" h="2908935">
                  <a:moveTo>
                    <a:pt x="0" y="2908935"/>
                  </a:moveTo>
                  <a:lnTo>
                    <a:pt x="1113472" y="2641282"/>
                  </a:lnTo>
                  <a:lnTo>
                    <a:pt x="2446020" y="1993582"/>
                  </a:lnTo>
                  <a:lnTo>
                    <a:pt x="3658552" y="1068705"/>
                  </a:lnTo>
                  <a:lnTo>
                    <a:pt x="46501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480185" y="2126932"/>
              <a:ext cx="4650105" cy="1986915"/>
            </a:xfrm>
            <a:custGeom>
              <a:avLst/>
              <a:gdLst/>
              <a:ahLst/>
              <a:cxnLst/>
              <a:rect l="l" t="t" r="r" b="b"/>
              <a:pathLst>
                <a:path w="4650105" h="1986915">
                  <a:moveTo>
                    <a:pt x="0" y="92392"/>
                  </a:moveTo>
                  <a:lnTo>
                    <a:pt x="992505" y="1339215"/>
                  </a:lnTo>
                  <a:lnTo>
                    <a:pt x="1840230" y="1986915"/>
                  </a:lnTo>
                  <a:lnTo>
                    <a:pt x="2688907" y="1986915"/>
                  </a:lnTo>
                  <a:lnTo>
                    <a:pt x="3658552" y="1246822"/>
                  </a:lnTo>
                  <a:lnTo>
                    <a:pt x="4650105" y="0"/>
                  </a:lnTo>
                </a:path>
              </a:pathLst>
            </a:custGeom>
            <a:noFill/>
            <a:ln w="17145">
              <a:solidFill>
                <a:srgbClr val="334E6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84270" y="4512945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58480" y="178022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成本或工作量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33916" y="261270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总的软件成本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21961" y="55721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成本／模块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71669" y="2058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接口成本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47149" y="4832033"/>
              <a:ext cx="874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最小成本区 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45496" y="59883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模块数目增加</a:t>
              </a:r>
            </a:p>
          </p:txBody>
        </p:sp>
      </p:grpSp>
      <p:grpSp>
        <p:nvGrpSpPr>
          <p:cNvPr id="33" name="c2-kv-1"/>
          <p:cNvGrpSpPr/>
          <p:nvPr/>
        </p:nvGrpSpPr>
        <p:grpSpPr>
          <a:xfrm>
            <a:off x="6890385" y="1548765"/>
            <a:ext cx="4768215" cy="3023235"/>
            <a:chOff x="6890385" y="1548765"/>
            <a:chExt cx="4768215" cy="3023235"/>
          </a:xfrm>
        </p:grpSpPr>
        <p:sp>
          <p:nvSpPr>
            <p:cNvPr id="22" name="TextBox 22"/>
            <p:cNvSpPr txBox="1"/>
            <p:nvPr/>
          </p:nvSpPr>
          <p:spPr>
            <a:xfrm>
              <a:off x="6890385" y="15487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成本／模块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48662" y="154876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模块数增加、单个模块变小，每个模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块的开发成本随之下降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90385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接口成本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8662" y="227076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模块数增加，模块之间的接口数量和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协调工作量随之上升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98005" y="28727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0385" y="29927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总的软件成本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48662" y="299275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两条曲线叠加成一条有最小值的曲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线，最小值附近就是合适的模块数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59473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385" y="3714750"/>
              <a:ext cx="1260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最小成本区 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48662" y="3714750"/>
              <a:ext cx="31299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总成本曲线在 M 附近都比较平，模块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数落在这一带都算合适，不必去求精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确的最优值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898005" y="4703445"/>
            <a:ext cx="4760595" cy="782955"/>
            <a:chOff x="6898005" y="4703445"/>
            <a:chExt cx="4760595" cy="782955"/>
          </a:xfrm>
        </p:grpSpPr>
        <p:sp>
          <p:nvSpPr>
            <p:cNvPr id="34" name="Rectangle 34"/>
            <p:cNvSpPr/>
            <p:nvPr/>
          </p:nvSpPr>
          <p:spPr>
            <a:xfrm>
              <a:off x="6898005" y="470344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102793" y="4994912"/>
              <a:ext cx="200023" cy="200023"/>
              <a:chOff x="7102793" y="4994912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102793" y="49949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36143" y="5061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4735" y="4852035"/>
              <a:ext cx="3739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拆到"再拆下去接口成本涨得比开发成本降得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快"的位置就该停手。</a:t>
              </a:r>
            </a:p>
          </p:txBody>
        </p:sp>
      </p:grpSp>
      <p:grpSp>
        <p:nvGrpSpPr>
          <p:cNvPr id="41" name="c2-text-3"/>
          <p:cNvGrpSpPr/>
          <p:nvPr/>
        </p:nvGrpSpPr>
        <p:grpSpPr>
          <a:xfrm>
            <a:off x="6891528" y="5698331"/>
            <a:ext cx="4402074" cy="500824"/>
            <a:chOff x="6891528" y="5698331"/>
            <a:chExt cx="4402074" cy="500824"/>
          </a:xfrm>
        </p:grpSpPr>
        <p:sp>
          <p:nvSpPr>
            <p:cNvPr id="40" name="TextBox 40"/>
            <p:cNvSpPr txBox="1"/>
            <p:nvPr/>
          </p:nvSpPr>
          <p:spPr>
            <a:xfrm>
              <a:off x="6891528" y="5698331"/>
              <a:ext cx="440207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横轴向右是模块数目增加、模块大小减小；纵轴是成本或工作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量。图中三条曲线的形状说明问题，具体数值没有意义。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抽象：每一步设计都是一次精化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抽象就是抽出事物的本质特性，暂时不考虑它们的细节。</a:t>
              </a:r>
            </a:p>
          </p:txBody>
        </p:sp>
      </p:grpSp>
      <p:grpSp>
        <p:nvGrpSpPr>
          <p:cNvPr id="14" name="c1-kv-1"/>
          <p:cNvGrpSpPr/>
          <p:nvPr/>
        </p:nvGrpSpPr>
        <p:grpSpPr>
          <a:xfrm>
            <a:off x="526542" y="1950720"/>
            <a:ext cx="4984623" cy="1164146"/>
            <a:chOff x="526542" y="1950720"/>
            <a:chExt cx="4984623" cy="1164146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过程抽象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8567" y="1950720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把完成一个特定功能的动作序列抽象为一个过程名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和参数表，以后通过指定过程名和实际参数调用它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907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597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数据抽象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88567" y="2597468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把一个数据对象的定义抽象为一个数据类型名，用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这个类型名可以定义多个同性质的数据对象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231832"/>
            <a:ext cx="4977765" cy="2165032"/>
            <a:chOff x="533400" y="3231832"/>
            <a:chExt cx="4977765" cy="2165032"/>
          </a:xfrm>
        </p:grpSpPr>
        <p:sp>
          <p:nvSpPr>
            <p:cNvPr id="15" name="Rectangle 15"/>
            <p:cNvSpPr/>
            <p:nvPr/>
          </p:nvSpPr>
          <p:spPr>
            <a:xfrm>
              <a:off x="533400" y="3231832"/>
              <a:ext cx="4977765" cy="2165032"/>
            </a:xfrm>
            <a:prstGeom prst="roundRect">
              <a:avLst>
                <a:gd name="adj" fmla="val 61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65182"/>
              <a:ext cx="47625" cy="1898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418522"/>
              <a:ext cx="77914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8704" y="3451384"/>
              <a:ext cx="618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抽象层次Ⅰ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4777" y="3453765"/>
              <a:ext cx="3011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用问题所处环境的术语描述 CAD 软件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3779520"/>
              <a:ext cx="42999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该软件包括一个计算机绘图界面向绘图员显示图形，以及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一个数字化仪界面代替绘图板和丁字尺。直线、折线、矩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形、圆及曲线的描画，几何计算，剖面图和辅助视图都由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它实现。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5815965" y="1928812"/>
            <a:ext cx="5842635" cy="1561148"/>
            <a:chOff x="5815965" y="1928812"/>
            <a:chExt cx="5842635" cy="1561148"/>
          </a:xfrm>
        </p:grpSpPr>
        <p:sp>
          <p:nvSpPr>
            <p:cNvPr id="22" name="Rectangle 22"/>
            <p:cNvSpPr/>
            <p:nvPr/>
          </p:nvSpPr>
          <p:spPr>
            <a:xfrm>
              <a:off x="5815965" y="1928812"/>
              <a:ext cx="584263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44362" y="2080736"/>
              <a:ext cx="32771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抽象层次Ⅱ　任务需求（没说"怎样做"，不能直接实现）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44362" y="2340769"/>
              <a:ext cx="2268855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CAD SOFTWARE TASKS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user interaction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2-D drawing creation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graphics display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drawing file management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9" name="c2-code-2"/>
          <p:cNvGrpSpPr/>
          <p:nvPr/>
        </p:nvGrpSpPr>
        <p:grpSpPr>
          <a:xfrm>
            <a:off x="5815965" y="3659505"/>
            <a:ext cx="5842635" cy="1737360"/>
            <a:chOff x="5815965" y="3659505"/>
            <a:chExt cx="5842635" cy="1737360"/>
          </a:xfrm>
        </p:grpSpPr>
        <p:sp>
          <p:nvSpPr>
            <p:cNvPr id="26" name="Rectangle 26"/>
            <p:cNvSpPr/>
            <p:nvPr/>
          </p:nvSpPr>
          <p:spPr>
            <a:xfrm>
              <a:off x="5815965" y="3659505"/>
              <a:ext cx="584263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44362" y="3811429"/>
              <a:ext cx="3124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抽象层次Ⅲ　程序过程表示，以二维绘图生成任务为例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44362" y="4072414"/>
              <a:ext cx="3364103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PROCEDURE: 2-D drawing creation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 UNTIL (drawing creation task terminates)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 WHILE (digitizer interaction occurs)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digitizer interface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DETERMINE drawing request CASE;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line:      line drawing task;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rectangle: rectangle drawing task;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30" name="Rectangle 3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5779770"/>
              <a:ext cx="98978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层次Ⅰ用问题环境的术语说话，层次Ⅱ给出任务清单，层次Ⅲ才出现可直接实现的控制结构。软件工程过程的每一步，都是对软件解法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抽象层次的一次精化。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逐步求精与信息隐藏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444942"/>
            <a:chOff x="533400" y="1524000"/>
            <a:chExt cx="5410200" cy="1444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逐步求精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为了能集中精力解决主要问题而尽量推迟对问题细节的考虑。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4648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它是一种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的设计策略：通过逐步精化处理过程的层次设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计出程序的体系结构，直至最终得出用程序设计语言表达的程序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33725"/>
            <a:ext cx="5410200" cy="2432685"/>
            <a:chOff x="533400" y="3133725"/>
            <a:chExt cx="5410200" cy="2432685"/>
          </a:xfrm>
        </p:grpSpPr>
        <p:sp>
          <p:nvSpPr>
            <p:cNvPr id="16" name="Rectangle 16"/>
            <p:cNvSpPr/>
            <p:nvPr/>
          </p:nvSpPr>
          <p:spPr>
            <a:xfrm>
              <a:off x="533400" y="3133725"/>
              <a:ext cx="5410200" cy="2432685"/>
            </a:xfrm>
            <a:prstGeom prst="roundRect">
              <a:avLst>
                <a:gd name="adj" fmla="val 54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67075"/>
              <a:ext cx="47625" cy="2165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31470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2744" y="334756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为什么要一层层来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65210" y="3355181"/>
              <a:ext cx="914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Miller 法则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3671411"/>
              <a:ext cx="47840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人类的认知过程遵守 Miller 法则：一个人在任何时候都只能把注意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力集中在 7±2 个知识块上。所以每一层只能展开有限的几件事，其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余的推到下一层。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998" y="4441984"/>
              <a:ext cx="4930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上一页 CAD 软件从层次Ⅰ到层次Ⅲ，就是这样一层层求精出来的。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7141" y="4723448"/>
              <a:ext cx="438454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George A. Miller, The Magical Number Seven, Plus or Minus Two, The</a:t>
              </a:r>
              <a:br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Psychological Review, 1956, vol. 63, pp. 81-97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444942"/>
            <a:chOff x="6248400" y="1524000"/>
            <a:chExt cx="5410200" cy="14449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3451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信息隐藏与局部化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0998" y="20616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信息隐藏：模块应该设计成，其中包含的信息（过程和数据）对于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不需要这些信息的其他模块来说是不可访问的。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0998" y="258937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局部化：把一些关系密切的软件元素物理地放得彼此靠近。</a:t>
              </a:r>
            </a:p>
          </p:txBody>
        </p:sp>
      </p:grpSp>
      <p:grpSp>
        <p:nvGrpSpPr>
          <p:cNvPr id="40" name="c2-bullets-2"/>
          <p:cNvGrpSpPr/>
          <p:nvPr/>
        </p:nvGrpSpPr>
        <p:grpSpPr>
          <a:xfrm>
            <a:off x="6241923" y="3155156"/>
            <a:ext cx="3696399" cy="1137094"/>
            <a:chOff x="6241923" y="3155156"/>
            <a:chExt cx="3696399" cy="1137094"/>
          </a:xfrm>
        </p:grpSpPr>
        <p:sp>
          <p:nvSpPr>
            <p:cNvPr id="33" name="TextBox 33"/>
            <p:cNvSpPr txBox="1"/>
            <p:nvPr/>
          </p:nvSpPr>
          <p:spPr>
            <a:xfrm>
              <a:off x="6241923" y="31551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信息隐藏带来的好处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248400" y="348329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9096" y="345614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支持模块的并行开发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248400" y="3776662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9096" y="37495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软件易于修改，减少后期测试和维护的工作量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48400" y="4069080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9096" y="40428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系统易于扩充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248400" y="4406265"/>
            <a:ext cx="5410200" cy="1160145"/>
            <a:chOff x="6248400" y="4406265"/>
            <a:chExt cx="5410200" cy="1160145"/>
          </a:xfrm>
        </p:grpSpPr>
        <p:sp>
          <p:nvSpPr>
            <p:cNvPr id="41" name="Rectangle 41"/>
            <p:cNvSpPr/>
            <p:nvPr/>
          </p:nvSpPr>
          <p:spPr>
            <a:xfrm>
              <a:off x="6248400" y="440626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453961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7475" y="45872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0147" y="46201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3451" y="462676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隐藏的是实现细节：以栈模块为例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0998" y="4943951"/>
              <a:ext cx="4751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外部只能调用 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push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pop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，看不到里面用数组还是链表。把数组换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成链表只改这一个模块，调用方不用动。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7284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信息隐藏强调"藏起来"，局部化强调"放一起"，两者配合才能把一次改动限制在一个模块内部。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模块独立：用耦合和内聚两把尺子量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03032"/>
            <a:chOff x="533400" y="1524000"/>
            <a:chExt cx="4977765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模块独立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每个模块完成一个相对独立的子功能，并且和其他模块之间的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关系很简单。它是模块化、抽象、信息隐藏和局部化概念的直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接结果。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6923" y="3113246"/>
            <a:ext cx="2701569" cy="843724"/>
            <a:chOff x="526923" y="3113246"/>
            <a:chExt cx="2701569" cy="843724"/>
          </a:xfrm>
        </p:grpSpPr>
        <p:sp>
          <p:nvSpPr>
            <p:cNvPr id="14" name="TextBox 14"/>
            <p:cNvSpPr txBox="1"/>
            <p:nvPr/>
          </p:nvSpPr>
          <p:spPr>
            <a:xfrm>
              <a:off x="526923" y="31132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为什么要独立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40328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5307" y="34389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3148" y="341423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有效模块化的软件容易开发出来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69665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5307" y="37313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148" y="37076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独立的模块容易测试和维护</a:t>
              </a:r>
            </a:p>
          </p:txBody>
        </p:sp>
      </p:grpSp>
      <p:grpSp>
        <p:nvGrpSpPr>
          <p:cNvPr id="24" name="c1-image-3"/>
          <p:cNvGrpSpPr/>
          <p:nvPr/>
        </p:nvGrpSpPr>
        <p:grpSpPr>
          <a:xfrm>
            <a:off x="533400" y="4070985"/>
            <a:ext cx="4977765" cy="1497996"/>
            <a:chOff x="533400" y="4070985"/>
            <a:chExt cx="4977765" cy="1497996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rcRect l="0" t="33735" r="0" b="33735"/>
            <a:stretch>
              <a:fillRect/>
            </a:stretch>
          </p:blipFill>
          <p:spPr>
            <a:xfrm>
              <a:off x="533400" y="4070985"/>
              <a:ext cx="4977765" cy="1214438"/>
            </a:xfrm>
            <a:prstGeom prst="roundRect">
              <a:avLst>
                <a:gd name="adj" fmla="val 10980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1566126" y="5378291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左边一根线说清关系，右边一团线改一处要查一片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815965" y="1524000"/>
            <a:ext cx="5842635" cy="2474595"/>
            <a:chOff x="5815965" y="1524000"/>
            <a:chExt cx="5842635" cy="2474595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4059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79508" y="1641157"/>
              <a:ext cx="921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耦合 Coupling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40157" y="1641157"/>
              <a:ext cx="9585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内聚 Cohesion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10644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量的是什么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95566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模块之间互相依赖的紧密程度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74898" y="202311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模块内部各元素结合的紧密程度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0644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追求方向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5566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越松散越好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7489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越高越好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10644" y="2785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最好与最差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0412" y="2677478"/>
              <a:ext cx="22593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95566" y="278511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非直接耦合最好，内容耦合最差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389745" y="2677478"/>
              <a:ext cx="22593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74898" y="2785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功能内聚最好，偶然内聚最差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3049905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0644" y="32604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取决于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95566" y="3167062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接口的复杂程度、进入模块的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点、通过接口的数据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74898" y="326040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模块是否只专注于一件事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6128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0644" y="3734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和独立性的关系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95566" y="37347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耦合越低，独立性越强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74898" y="37347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内聚越高，独立性越强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1524000"/>
              <a:ext cx="584263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96125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375458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rd-2"/>
          <p:cNvGrpSpPr/>
          <p:nvPr/>
        </p:nvGrpSpPr>
        <p:grpSpPr>
          <a:xfrm>
            <a:off x="5815965" y="4163378"/>
            <a:ext cx="5842635" cy="1406842"/>
            <a:chOff x="5815965" y="4163378"/>
            <a:chExt cx="5842635" cy="1406842"/>
          </a:xfrm>
        </p:grpSpPr>
        <p:sp>
          <p:nvSpPr>
            <p:cNvPr id="56" name="Rectangle 56"/>
            <p:cNvSpPr/>
            <p:nvPr/>
          </p:nvSpPr>
          <p:spPr>
            <a:xfrm>
              <a:off x="5815965" y="4163378"/>
              <a:ext cx="584263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5490" y="4296728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35040" y="43443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23661" y="43772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25793" y="438483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初步结构画出来后，拿两把尺子审一遍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28563" y="470106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模块间联系越紧密、越多，耦合度越高，独立性越差。发现这类模块，就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通过模块分解或合并调整结构，力求降低耦合、提高内聚。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29706" y="5225415"/>
              <a:ext cx="4837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这是第三部分启发规则 1 的做法，后面耦合、内聚各七级就是审查时的刻度。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4" name="Rectangle 6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模块间的耦合程度强烈影响系统的可理解性、可测试性、可靠性和可维护性。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耦合的七个等级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33400" y="1524000"/>
            <a:ext cx="11125200" cy="3868102"/>
            <a:chOff x="533400" y="1524000"/>
            <a:chExt cx="11125200" cy="3868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198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耦合类型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0230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62956" y="165544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模块之间靠什么联系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085022"/>
              <a:ext cx="1673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非直接耦合 Nondirect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879408" y="1964055"/>
              <a:ext cx="98202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75229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76307" y="2085022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没有直接关系，联系完全通过主模块的控制和调用实现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6386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模块独立性最强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84108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622232"/>
              <a:ext cx="1088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数据耦合 Data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879408" y="2393632"/>
              <a:ext cx="982028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75229" y="262223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76307" y="251555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通过参数表传简单数据，不是控制参数、公共数据结构或外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部变量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26386" y="26222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尽量使用这一种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232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159442"/>
              <a:ext cx="1215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标记耦合 Stamp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5229" y="31594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76307" y="3159442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通过参数表传整条记录或某种数据结构，而不是简单变量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6386" y="3159442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把对该结构的操作集中到一个模块可以消除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528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757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3589020"/>
              <a:ext cx="1325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控制耦合 Control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75229" y="35890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76307" y="358902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传开关、标志、名字等控制信息，控制对方选择哪项功能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6386" y="358902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调用方必须知道被调方的内部逻辑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83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8746" y="4019550"/>
              <a:ext cx="14185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外部耦合 External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75229" y="4019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76307" y="401955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共同访问同一个全局简单变量，且不通过参数表传递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6386" y="40195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不可避免时尽量集中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31863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4555808"/>
              <a:ext cx="1343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公共耦合 Common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879408" y="4328160"/>
              <a:ext cx="982028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75229" y="455580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76307" y="4449128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共同访问同一个公共数据环境，如全局数据结构、共享通信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6386" y="455580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危险，慎用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9568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8746" y="5093017"/>
              <a:ext cx="1367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内容耦合 Content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879408" y="4971098"/>
              <a:ext cx="98202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975229" y="509301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76307" y="5093017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直接访问对方内部数据，或不经正常入口进入对方内部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26386" y="509301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完全不用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386810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2865120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3866198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16278" y="1524000"/>
              <a:ext cx="9525" cy="38681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8" name="Rectangle 5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04084"/>
              <a:ext cx="10528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判别顺序：先看有没有直接联系，再看传的是简单变量、整条记录还是开关，最后看是不是共享数据环境或闯进了对方内部。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弱耦合三种：非直接、数据、标记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非直接耦合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两个模块之间没有直接关系，它们之间的联系完全是通过主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模块的控制和调用来实现的。这种模块的独立性最强。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955608"/>
            <a:ext cx="5410200" cy="1268730"/>
            <a:chOff x="533400" y="2955608"/>
            <a:chExt cx="5410200" cy="1268730"/>
          </a:xfrm>
        </p:grpSpPr>
        <p:sp>
          <p:nvSpPr>
            <p:cNvPr id="13" name="Rectangle 13"/>
            <p:cNvSpPr/>
            <p:nvPr/>
          </p:nvSpPr>
          <p:spPr>
            <a:xfrm>
              <a:off x="533400" y="2955608"/>
              <a:ext cx="5410200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88958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9620" y="31537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3059" y="31880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数据耦合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9631" y="318849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只传简单数据参数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381" y="353234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一个模块访问另一个模块时，彼此之间通过简单数据参数来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交换输入、输出信息。</a:t>
              </a:r>
            </a:p>
          </p:txBody>
        </p:sp>
      </p:grpSp>
      <p:grpSp>
        <p:nvGrpSpPr>
          <p:cNvPr id="34" name="c1-flow-3"/>
          <p:cNvGrpSpPr/>
          <p:nvPr/>
        </p:nvGrpSpPr>
        <p:grpSpPr>
          <a:xfrm>
            <a:off x="666750" y="4681538"/>
            <a:ext cx="5143500" cy="1379220"/>
            <a:chOff x="666750" y="4681538"/>
            <a:chExt cx="5143500" cy="1379220"/>
          </a:xfrm>
        </p:grpSpPr>
        <p:sp>
          <p:nvSpPr>
            <p:cNvPr id="20" name="Freeform 20"/>
            <p:cNvSpPr/>
            <p:nvPr/>
          </p:nvSpPr>
          <p:spPr>
            <a:xfrm>
              <a:off x="1435418" y="5093970"/>
              <a:ext cx="1803082" cy="450533"/>
            </a:xfrm>
            <a:custGeom>
              <a:avLst/>
              <a:gdLst/>
              <a:ahLst/>
              <a:cxnLst/>
              <a:rect l="l" t="t" r="r" b="b"/>
              <a:pathLst>
                <a:path w="1803082" h="450533">
                  <a:moveTo>
                    <a:pt x="1803082" y="0"/>
                  </a:moveTo>
                  <a:lnTo>
                    <a:pt x="1803082" y="277178"/>
                  </a:lnTo>
                  <a:lnTo>
                    <a:pt x="0" y="277178"/>
                  </a:lnTo>
                  <a:lnTo>
                    <a:pt x="0" y="4505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383030" y="5544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238500" y="5093970"/>
              <a:ext cx="1803082" cy="450533"/>
            </a:xfrm>
            <a:custGeom>
              <a:avLst/>
              <a:gdLst/>
              <a:ahLst/>
              <a:cxnLst/>
              <a:rect l="l" t="t" r="r" b="b"/>
              <a:pathLst>
                <a:path w="1803082" h="450533">
                  <a:moveTo>
                    <a:pt x="0" y="0"/>
                  </a:moveTo>
                  <a:lnTo>
                    <a:pt x="0" y="277178"/>
                  </a:lnTo>
                  <a:lnTo>
                    <a:pt x="1803082" y="277178"/>
                  </a:lnTo>
                  <a:lnTo>
                    <a:pt x="1803082" y="4505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989195" y="55445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469832" y="4681538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5649278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73868" y="5649278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28544" y="4804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计算应扣款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6233" y="57711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计算水费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2398" y="577119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计算电费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766888" y="5165408"/>
              <a:ext cx="114014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823608" y="5189696"/>
              <a:ext cx="1025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用水量 ↓　水费 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569970" y="5165408"/>
              <a:ext cx="114014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27643" y="5189696"/>
              <a:ext cx="1025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用电量 ↓　电费 ↑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175510"/>
            <a:chOff x="6248400" y="1524000"/>
            <a:chExt cx="5410200" cy="217551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84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8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标记耦合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34631" y="17568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传的是一整条记录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7381" y="210073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一组模块通过参数表传递记录信息，这个记录是某一数据结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构，而不是简单变量。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92240" y="27498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48831" y="269033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标记耦合使数据结构上的操作复杂化了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92240" y="30680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48831" y="300751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把在该数据结构上的操作全部集中在一个模块中，可以消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除或转化这种耦合</a:t>
              </a:r>
            </a:p>
          </p:txBody>
        </p:sp>
      </p:grpSp>
      <p:grpSp>
        <p:nvGrpSpPr>
          <p:cNvPr id="60" name="c2-flow-2"/>
          <p:cNvGrpSpPr/>
          <p:nvPr/>
        </p:nvGrpSpPr>
        <p:grpSpPr>
          <a:xfrm>
            <a:off x="6381750" y="4054792"/>
            <a:ext cx="5143500" cy="1172528"/>
            <a:chOff x="6381750" y="4054792"/>
            <a:chExt cx="5143500" cy="1172528"/>
          </a:xfrm>
        </p:grpSpPr>
        <p:sp>
          <p:nvSpPr>
            <p:cNvPr id="46" name="Freeform 46"/>
            <p:cNvSpPr/>
            <p:nvPr/>
          </p:nvSpPr>
          <p:spPr>
            <a:xfrm>
              <a:off x="7150418" y="4466272"/>
              <a:ext cx="1803082" cy="244793"/>
            </a:xfrm>
            <a:custGeom>
              <a:avLst/>
              <a:gdLst/>
              <a:ahLst/>
              <a:cxnLst/>
              <a:rect l="l" t="t" r="r" b="b"/>
              <a:pathLst>
                <a:path w="1803082" h="244793">
                  <a:moveTo>
                    <a:pt x="1803082" y="0"/>
                  </a:moveTo>
                  <a:lnTo>
                    <a:pt x="1803082" y="175260"/>
                  </a:lnTo>
                  <a:lnTo>
                    <a:pt x="0" y="175260"/>
                  </a:lnTo>
                  <a:lnTo>
                    <a:pt x="0" y="2447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098030" y="47110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953500" y="4466272"/>
              <a:ext cx="1803082" cy="244793"/>
            </a:xfrm>
            <a:custGeom>
              <a:avLst/>
              <a:gdLst/>
              <a:ahLst/>
              <a:cxnLst/>
              <a:rect l="l" t="t" r="r" b="b"/>
              <a:pathLst>
                <a:path w="1803082" h="244793">
                  <a:moveTo>
                    <a:pt x="0" y="0"/>
                  </a:moveTo>
                  <a:lnTo>
                    <a:pt x="0" y="175260"/>
                  </a:lnTo>
                  <a:lnTo>
                    <a:pt x="1803082" y="175260"/>
                  </a:lnTo>
                  <a:lnTo>
                    <a:pt x="1803082" y="24479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704195" y="47110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84832" y="405479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381750" y="4815840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988868" y="4815840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43544" y="41767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计算应扣款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21234" y="4937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计算水费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27398" y="4937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计算电费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755255" y="451389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82674" y="45391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房租水电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558338" y="451389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86709" y="45391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房租水电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248400" y="5582602"/>
            <a:ext cx="5410200" cy="756285"/>
            <a:chOff x="6248400" y="5582602"/>
            <a:chExt cx="5410200" cy="756285"/>
          </a:xfrm>
        </p:grpSpPr>
        <p:sp>
          <p:nvSpPr>
            <p:cNvPr id="61" name="Rectangle 61"/>
            <p:cNvSpPr/>
            <p:nvPr/>
          </p:nvSpPr>
          <p:spPr>
            <a:xfrm>
              <a:off x="6248400" y="558260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453188" y="5860733"/>
              <a:ext cx="200026" cy="200025"/>
              <a:chOff x="6453188" y="586073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453188" y="58607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492926" y="59051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527642" y="60163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755511" y="5729764"/>
              <a:ext cx="44598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同样是算水费，传"用水量"是数据耦合，把整张"房租水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电"记录递过去就是标记耦合。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控制耦合、外部耦合、公共耦合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060258"/>
            <a:chOff x="533400" y="1524000"/>
            <a:chExt cx="4977765" cy="20602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控制耦合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中等耦合度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一个模块通过传送开关、标志、名字等控制信息，明显地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控制选择另一个模块的功能，就是控制耦合。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实质是在单一接口上选择多功能模块中的某项功能，因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此对 B 的任何改动都会影响 A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423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86112"/>
              <a:ext cx="4395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必须知道 B 内部的一些逻辑关系，模块的独立性下降</a:t>
              </a:r>
            </a:p>
          </p:txBody>
        </p:sp>
      </p:grpSp>
      <p:grpSp>
        <p:nvGrpSpPr>
          <p:cNvPr id="38" name="c1-flow-2"/>
          <p:cNvGrpSpPr/>
          <p:nvPr/>
        </p:nvGrpSpPr>
        <p:grpSpPr>
          <a:xfrm>
            <a:off x="666750" y="3874770"/>
            <a:ext cx="4711065" cy="1638300"/>
            <a:chOff x="666750" y="3874770"/>
            <a:chExt cx="4711065" cy="1638300"/>
          </a:xfrm>
        </p:grpSpPr>
        <p:sp>
          <p:nvSpPr>
            <p:cNvPr id="18" name="Freeform 18"/>
            <p:cNvSpPr/>
            <p:nvPr/>
          </p:nvSpPr>
          <p:spPr>
            <a:xfrm>
              <a:off x="3022282" y="4204335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5524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69895" y="42043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363028" y="5022532"/>
              <a:ext cx="1659255" cy="80010"/>
            </a:xfrm>
            <a:custGeom>
              <a:avLst/>
              <a:gdLst/>
              <a:ahLst/>
              <a:cxnLst/>
              <a:rect l="l" t="t" r="r" b="b"/>
              <a:pathLst>
                <a:path w="1659255" h="80010">
                  <a:moveTo>
                    <a:pt x="1659255" y="55245"/>
                  </a:moveTo>
                  <a:lnTo>
                    <a:pt x="1659255" y="80010"/>
                  </a:lnTo>
                  <a:lnTo>
                    <a:pt x="0" y="800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310640" y="50225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022282" y="5022532"/>
              <a:ext cx="9525" cy="55245"/>
            </a:xfrm>
            <a:custGeom>
              <a:avLst/>
              <a:gdLst/>
              <a:ahLst/>
              <a:cxnLst/>
              <a:rect l="l" t="t" r="r" b="b"/>
              <a:pathLst>
                <a:path w="9525" h="55245">
                  <a:moveTo>
                    <a:pt x="0" y="5524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969895" y="50225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022282" y="5022532"/>
              <a:ext cx="1659255" cy="80010"/>
            </a:xfrm>
            <a:custGeom>
              <a:avLst/>
              <a:gdLst/>
              <a:ahLst/>
              <a:cxnLst/>
              <a:rect l="l" t="t" r="r" b="b"/>
              <a:pathLst>
                <a:path w="1659255" h="80010">
                  <a:moveTo>
                    <a:pt x="0" y="55245"/>
                  </a:moveTo>
                  <a:lnTo>
                    <a:pt x="0" y="80010"/>
                  </a:lnTo>
                  <a:lnTo>
                    <a:pt x="1659255" y="80010"/>
                  </a:lnTo>
                  <a:lnTo>
                    <a:pt x="165925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629150" y="50225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326005" y="3874770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326005" y="4309110"/>
              <a:ext cx="1392555" cy="768668"/>
            </a:xfrm>
            <a:custGeom>
              <a:avLst/>
              <a:gdLst/>
              <a:ahLst/>
              <a:cxnLst/>
              <a:rect l="l" t="t" r="r" b="b"/>
              <a:pathLst>
                <a:path w="1392555" h="768668">
                  <a:moveTo>
                    <a:pt x="696278" y="0"/>
                  </a:moveTo>
                  <a:lnTo>
                    <a:pt x="1392555" y="384810"/>
                  </a:lnTo>
                  <a:lnTo>
                    <a:pt x="696278" y="768668"/>
                  </a:lnTo>
                  <a:lnTo>
                    <a:pt x="0" y="38481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" y="5127308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326005" y="5127308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85260" y="5127308"/>
              <a:ext cx="139255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98087" y="3988594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21852" y="4518184"/>
              <a:ext cx="80086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Flag 选功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4387" y="52411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3642" y="52411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2897" y="52411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775710" y="4206240"/>
              <a:ext cx="31813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18572" y="4229100"/>
              <a:ext cx="249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Flag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5815965" y="1524000"/>
            <a:ext cx="5842635" cy="1785938"/>
            <a:chOff x="5815965" y="1524000"/>
            <a:chExt cx="5842635" cy="1785938"/>
          </a:xfrm>
        </p:grpSpPr>
        <p:sp>
          <p:nvSpPr>
            <p:cNvPr id="39" name="Rectangle 39"/>
            <p:cNvSpPr/>
            <p:nvPr/>
          </p:nvSpPr>
          <p:spPr>
            <a:xfrm>
              <a:off x="5815965" y="1524000"/>
              <a:ext cx="5842635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25490" y="1657350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075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324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外部耦合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33897" y="2054542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一组模块都访问同一个全局简单变量而不是全局数据结构，而且不通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过参数表传递该变量，例如 C 语言里修饰为 extern 的外部变量。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49328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05347" y="261270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无法控制各模块对公共数据的存取，影响可靠性和适应性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49328" y="296894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05347" y="29127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公共数据名明显降低了程序的可读性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5815965" y="3480435"/>
            <a:ext cx="5842635" cy="2153602"/>
            <a:chOff x="5815965" y="3480435"/>
            <a:chExt cx="5842635" cy="2153602"/>
          </a:xfrm>
        </p:grpSpPr>
        <p:sp>
          <p:nvSpPr>
            <p:cNvPr id="49" name="Rectangle 49"/>
            <p:cNvSpPr/>
            <p:nvPr/>
          </p:nvSpPr>
          <p:spPr>
            <a:xfrm>
              <a:off x="5815965" y="3480435"/>
              <a:ext cx="5842635" cy="2153602"/>
            </a:xfrm>
            <a:prstGeom prst="roundRect">
              <a:avLst>
                <a:gd name="adj" fmla="val 61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3613785"/>
              <a:ext cx="47625" cy="18869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0755" y="366712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324" y="369998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公共耦合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54952" y="370141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危险，慎用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33897" y="402812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一组模块都访问同一个公共数据环境：全局数据结构、共享的通信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区、内存的公共覆盖区，例如 FORTRAN 的 COMMON 区。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49328" y="464153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05347" y="458533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公共数据环境内部各项的物理安排一改，所有模块都受影响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49328" y="494157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05347" y="4885373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另外两条问题和外部耦合相同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0" name="Rectangle 6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8373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外部耦合共享的是全局简单变量，公共耦合共享的是全局数据结构或公共区，这是两者最常考的区别。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内容耦合，以及降低耦合的办法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193982" cy="2222182"/>
            <a:chOff x="533400" y="1524000"/>
            <a:chExt cx="5193982" cy="22221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22182"/>
            </a:xfrm>
            <a:prstGeom prst="roundRect">
              <a:avLst>
                <a:gd name="adj" fmla="val 60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554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内容耦合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9631" y="175688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耦合度最高，现代高级语言基本上不允许出现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10073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一个模块直接访问另一个模块的内部数据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418874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一个模块不通过正常入口转到另一模块内部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279654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2736056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两个模块有一部分程序代码重迭，只可能出现在汇编语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言中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338518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332565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一个模块有多个入口</a:t>
              </a:r>
            </a:p>
          </p:txBody>
        </p:sp>
      </p:grpSp>
      <p:grpSp>
        <p:nvGrpSpPr>
          <p:cNvPr id="24" name="c1-code-2"/>
          <p:cNvGrpSpPr/>
          <p:nvPr/>
        </p:nvGrpSpPr>
        <p:grpSpPr>
          <a:xfrm>
            <a:off x="533400" y="3926205"/>
            <a:ext cx="5193982" cy="1640205"/>
            <a:chOff x="533400" y="3926205"/>
            <a:chExt cx="5193982" cy="1640205"/>
          </a:xfrm>
        </p:grpSpPr>
        <p:sp>
          <p:nvSpPr>
            <p:cNvPr id="21" name="Rectangle 21"/>
            <p:cNvSpPr/>
            <p:nvPr/>
          </p:nvSpPr>
          <p:spPr>
            <a:xfrm>
              <a:off x="533400" y="3926205"/>
              <a:ext cx="5193982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797" y="407812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不经正常入口跳进另一个模块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1416" y="4339590"/>
              <a:ext cx="2630996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N: ...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GO TO A        ; 直接跳进 M 的内部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...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M: ...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A: ...            ; M 的第二个入口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...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6024944" y="1547336"/>
            <a:ext cx="4661674" cy="1595057"/>
            <a:chOff x="6024944" y="1547336"/>
            <a:chExt cx="4661674" cy="1595057"/>
          </a:xfrm>
        </p:grpSpPr>
        <p:sp>
          <p:nvSpPr>
            <p:cNvPr id="25" name="TextBox 25"/>
            <p:cNvSpPr txBox="1"/>
            <p:nvPr/>
          </p:nvSpPr>
          <p:spPr>
            <a:xfrm>
              <a:off x="6024944" y="154733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针对耦合的设计指导原则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32182" y="1913572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2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5451" y="188356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尽量使用数据耦合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32182" y="2240280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5451" y="221027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少用控制耦合和特征耦合（特征耦合就是标记耦合）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032182" y="256698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5451" y="253698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限制外部耦合和公共耦合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32182" y="2893695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2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75451" y="286369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完全不用内容耦合</a:t>
              </a:r>
            </a:p>
          </p:txBody>
        </p:sp>
      </p:grpSp>
      <p:grpSp>
        <p:nvGrpSpPr>
          <p:cNvPr id="43" name="c2-kv-2"/>
          <p:cNvGrpSpPr/>
          <p:nvPr/>
        </p:nvGrpSpPr>
        <p:grpSpPr>
          <a:xfrm>
            <a:off x="6024944" y="3289459"/>
            <a:ext cx="5633656" cy="1647444"/>
            <a:chOff x="6024944" y="3289459"/>
            <a:chExt cx="5633656" cy="1647444"/>
          </a:xfrm>
        </p:grpSpPr>
        <p:sp>
          <p:nvSpPr>
            <p:cNvPr id="35" name="TextBox 35"/>
            <p:cNvSpPr txBox="1"/>
            <p:nvPr/>
          </p:nvSpPr>
          <p:spPr>
            <a:xfrm>
              <a:off x="6024944" y="328945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选择适当的耦合类型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37564" y="3289459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按问题的特点选，例如出错处理用返回状态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码而不是传开关，把控制耦合降成数据耦合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38604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24944" y="397335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降低接口的复杂性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37564" y="3973354"/>
              <a:ext cx="34409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从信息数量、通信方式、信息结构三方面简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45443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24944" y="465820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用缓冲区通信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37564" y="465820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把模块之间的通信信息放在缓冲区中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4" name="Rectangle 4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11704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记住这条底线：耦合类型可以往下降，唯独内容耦合一条都不能留。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内聚的七个等级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33400" y="1524000"/>
            <a:ext cx="11125200" cy="3246120"/>
            <a:chOff x="533400" y="1524000"/>
            <a:chExt cx="11125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0534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内聚类型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634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72468" y="164830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模块内部为什么放在一起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33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1592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偶然内聚 Coincidental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01340" y="1939290"/>
              <a:ext cx="98202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91827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3857" y="205406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各部分之间没有联系，或者联系很松散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1052" y="205406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把重复出现的几条无关语句抽成一个模块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2459831"/>
              <a:ext cx="1197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逻辑内聚 Logical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01340" y="2345055"/>
              <a:ext cx="98202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91827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93857" y="2459831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把几种相关的功能组合在一起，由判定参数决定执行哪一种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21052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统一的出错处理模块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2865596"/>
              <a:ext cx="1355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时间内聚 Temporal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91827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93857" y="286559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各功能都要求在同一时间段内执行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1052" y="28655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初始化模块、终止模块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271361"/>
              <a:ext cx="1498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过程内聚 Procedural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91827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93857" y="327136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各部分是程序流程图中的一段，如循环部分、判定部分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1052" y="327136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把流程图里的循环部分划成一个模块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3677126"/>
              <a:ext cx="19175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通信内聚 Communicational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91827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93857" y="367712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各部分使用相同的输入数据，或产生相同的输出数据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1052" y="367712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对同一张售书登记表做删除、修改、登记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4082891"/>
              <a:ext cx="1458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顺序内聚 Sequential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101340" y="3968115"/>
              <a:ext cx="9820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91827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93857" y="408289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处理必须顺序执行，前一个的输出就是后一个的输入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1052" y="408289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建立系数矩阵、高斯消去、回代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4488656"/>
              <a:ext cx="1458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功能内聚 Functional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101340" y="4373880"/>
              <a:ext cx="9820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191827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193857" y="44886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所有部分为完成同一个具体功能协同工作，不可分割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21052" y="44886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求一个实数的平方根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11125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8705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08908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1627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allout-2"/>
          <p:cNvGrpSpPr/>
          <p:nvPr/>
        </p:nvGrpSpPr>
        <p:grpSpPr>
          <a:xfrm>
            <a:off x="533400" y="4945380"/>
            <a:ext cx="11125200" cy="516255"/>
            <a:chOff x="533400" y="4945380"/>
            <a:chExt cx="11125200" cy="516255"/>
          </a:xfrm>
        </p:grpSpPr>
        <p:sp>
          <p:nvSpPr>
            <p:cNvPr id="58" name="Rectangle 58"/>
            <p:cNvSpPr/>
            <p:nvPr/>
          </p:nvSpPr>
          <p:spPr>
            <a:xfrm>
              <a:off x="533400" y="4945380"/>
              <a:ext cx="11125200" cy="516255"/>
            </a:xfrm>
            <a:prstGeom prst="roundRect">
              <a:avLst>
                <a:gd name="adj" fmla="val 221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103495"/>
              <a:ext cx="200026" cy="200026"/>
              <a:chOff x="738188" y="510349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1034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170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52035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109210"/>
              <a:ext cx="8950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更正：原课件把时间内聚标注为 Classical Cohesion，这是旧称，现在通用的英文写法是 Temporal Cohesion。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5" name="Rectangle 6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5779770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从"为什么放在一起"入手：没理由是偶然，靠参数选是逻辑，同时段是时间，流程相连是过程，同一数据集是通信，数据前后传是顺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序，只做一件事是功能。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三种低内聚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768792"/>
            <a:chOff x="533400" y="1524000"/>
            <a:chExt cx="5193982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偶然内聚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模块内各部分之间没有联系，或者联系很松散。例如程序员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为节省存储，把各模块中重复出现的几条无关语句抽出来组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成一个新模块。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94608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88988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不易修改和维护，内容也不易理解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68052"/>
            <a:ext cx="5193982" cy="2081212"/>
            <a:chOff x="533400" y="3468052"/>
            <a:chExt cx="5193982" cy="2081212"/>
          </a:xfrm>
        </p:grpSpPr>
        <p:sp>
          <p:nvSpPr>
            <p:cNvPr id="15" name="Rectangle 15"/>
            <p:cNvSpPr/>
            <p:nvPr/>
          </p:nvSpPr>
          <p:spPr>
            <a:xfrm>
              <a:off x="533400" y="3468052"/>
              <a:ext cx="5193982" cy="2081212"/>
            </a:xfrm>
            <a:prstGeom prst="roundRect">
              <a:avLst>
                <a:gd name="adj" fmla="val 6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01402"/>
              <a:ext cx="47625" cy="18145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66045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7344" y="36947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时间内聚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01764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模块的各个功能与时间有关，要求所有功能在同一时间段内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执行，例如初始化模块和终止模块。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6329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57676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比逻辑内聚强：各部分一般可按顺序执行，逻辑判定转移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更少，但要注意时序问题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2117408"/>
            <a:chOff x="6032182" y="1524000"/>
            <a:chExt cx="5626418" cy="2117408"/>
          </a:xfrm>
        </p:grpSpPr>
        <p:sp>
          <p:nvSpPr>
            <p:cNvPr id="23" name="Rectangle 23"/>
            <p:cNvSpPr/>
            <p:nvPr/>
          </p:nvSpPr>
          <p:spPr>
            <a:xfrm>
              <a:off x="6032182" y="1524000"/>
              <a:ext cx="5626418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41708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268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612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逻辑内聚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55830" y="207264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模块把几种相关的功能组合在一起，每次调用时由传送给模块的判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定参数确定该执行哪一种功能，是单接口多功能模块。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71260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27280" y="263271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执行的是若干功能中的一种，因此不易修改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71260" y="29918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27280" y="293560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调用它时要传递控制参数，形成控制耦合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71260" y="32937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7280" y="323754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把未用的部分也调入内存，降低系统效率</a:t>
              </a:r>
            </a:p>
          </p:txBody>
        </p:sp>
      </p:grpSp>
      <p:grpSp>
        <p:nvGrpSpPr>
          <p:cNvPr id="55" name="c2-flow-2"/>
          <p:cNvGrpSpPr/>
          <p:nvPr/>
        </p:nvGrpSpPr>
        <p:grpSpPr>
          <a:xfrm>
            <a:off x="6165532" y="3833812"/>
            <a:ext cx="5359718" cy="1699261"/>
            <a:chOff x="6165532" y="3833812"/>
            <a:chExt cx="5359718" cy="1699261"/>
          </a:xfrm>
        </p:grpSpPr>
        <p:sp>
          <p:nvSpPr>
            <p:cNvPr id="35" name="Freeform 35"/>
            <p:cNvSpPr/>
            <p:nvPr/>
          </p:nvSpPr>
          <p:spPr>
            <a:xfrm>
              <a:off x="8041005" y="4032885"/>
              <a:ext cx="1503997" cy="433388"/>
            </a:xfrm>
            <a:custGeom>
              <a:avLst/>
              <a:gdLst/>
              <a:ahLst/>
              <a:cxnLst/>
              <a:rect l="l" t="t" r="r" b="b"/>
              <a:pathLst>
                <a:path w="1503997" h="433388">
                  <a:moveTo>
                    <a:pt x="0" y="0"/>
                  </a:moveTo>
                  <a:lnTo>
                    <a:pt x="803910" y="0"/>
                  </a:lnTo>
                  <a:lnTo>
                    <a:pt x="803910" y="433388"/>
                  </a:lnTo>
                  <a:lnTo>
                    <a:pt x="1503997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545002" y="44138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879080" y="4466272"/>
              <a:ext cx="161925" cy="433388"/>
            </a:xfrm>
            <a:custGeom>
              <a:avLst/>
              <a:gdLst/>
              <a:ahLst/>
              <a:cxnLst/>
              <a:rect l="l" t="t" r="r" b="b"/>
              <a:pathLst>
                <a:path w="161925" h="433388">
                  <a:moveTo>
                    <a:pt x="161925" y="0"/>
                  </a:moveTo>
                  <a:lnTo>
                    <a:pt x="28575" y="0"/>
                  </a:lnTo>
                  <a:lnTo>
                    <a:pt x="28575" y="433388"/>
                  </a:lnTo>
                  <a:lnTo>
                    <a:pt x="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74305" y="48472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649778" y="4466272"/>
              <a:ext cx="161925" cy="433388"/>
            </a:xfrm>
            <a:custGeom>
              <a:avLst/>
              <a:gdLst/>
              <a:ahLst/>
              <a:cxnLst/>
              <a:rect l="l" t="t" r="r" b="b"/>
              <a:pathLst>
                <a:path w="161925" h="433388">
                  <a:moveTo>
                    <a:pt x="0" y="0"/>
                  </a:moveTo>
                  <a:lnTo>
                    <a:pt x="133350" y="0"/>
                  </a:lnTo>
                  <a:lnTo>
                    <a:pt x="133350" y="433388"/>
                  </a:lnTo>
                  <a:lnTo>
                    <a:pt x="161925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811702" y="48472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969442" y="5029200"/>
              <a:ext cx="1875472" cy="86678"/>
            </a:xfrm>
            <a:custGeom>
              <a:avLst/>
              <a:gdLst/>
              <a:ahLst/>
              <a:cxnLst/>
              <a:rect l="l" t="t" r="r" b="b"/>
              <a:pathLst>
                <a:path w="1875472" h="86678">
                  <a:moveTo>
                    <a:pt x="0" y="69532"/>
                  </a:moveTo>
                  <a:lnTo>
                    <a:pt x="0" y="86678"/>
                  </a:lnTo>
                  <a:lnTo>
                    <a:pt x="1875472" y="8667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792528" y="50292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844915" y="5029200"/>
              <a:ext cx="1875472" cy="86678"/>
            </a:xfrm>
            <a:custGeom>
              <a:avLst/>
              <a:gdLst/>
              <a:ahLst/>
              <a:cxnLst/>
              <a:rect l="l" t="t" r="r" b="b"/>
              <a:pathLst>
                <a:path w="1875472" h="86678">
                  <a:moveTo>
                    <a:pt x="1875472" y="69532"/>
                  </a:moveTo>
                  <a:lnTo>
                    <a:pt x="1875472" y="86678"/>
                  </a:lnTo>
                  <a:lnTo>
                    <a:pt x="0" y="8667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792528" y="50292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041005" y="3833812"/>
              <a:ext cx="1608772" cy="399098"/>
            </a:xfrm>
            <a:prstGeom prst="roundRect">
              <a:avLst>
                <a:gd name="adj" fmla="val 4988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041005" y="4178618"/>
              <a:ext cx="1608772" cy="575310"/>
            </a:xfrm>
            <a:custGeom>
              <a:avLst/>
              <a:gdLst/>
              <a:ahLst/>
              <a:cxnLst/>
              <a:rect l="l" t="t" r="r" b="b"/>
              <a:pathLst>
                <a:path w="1608772" h="575310">
                  <a:moveTo>
                    <a:pt x="803910" y="0"/>
                  </a:moveTo>
                  <a:lnTo>
                    <a:pt x="1608772" y="287655"/>
                  </a:lnTo>
                  <a:lnTo>
                    <a:pt x="80391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65532" y="4700588"/>
              <a:ext cx="16087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916478" y="4700588"/>
              <a:ext cx="16087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41005" y="5133975"/>
              <a:ext cx="1608772" cy="399098"/>
            </a:xfrm>
            <a:prstGeom prst="roundRect">
              <a:avLst>
                <a:gd name="adj" fmla="val 4988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37651" y="39543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读入分数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86877" y="43876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平均还是最高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86792" y="4821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计算平均分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37737" y="48210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计算最高分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37651" y="52544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逻辑内聚模块必然带来控制耦合，判内聚时顺手就能把耦合一起判出来。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中内聚与高内聚四种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156460"/>
            <a:chOff x="533400" y="1524000"/>
            <a:chExt cx="5410200" cy="2156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6460"/>
            </a:xfrm>
            <a:prstGeom prst="roundRect">
              <a:avLst>
                <a:gd name="adj" fmla="val 61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97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过程内聚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程序流程图的一部分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用流程图做工具设计程序时，把流程图中的某一部分划出来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组成模块，就得到过程内聚模块。例如把循环部分、判定部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分、计算部分分成三个模块。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304228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98275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模块只包含完整功能的一部分，内聚度仍较低，造成的模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块间耦合度还是较高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65245"/>
            <a:ext cx="5410200" cy="2165985"/>
            <a:chOff x="533400" y="3865245"/>
            <a:chExt cx="5410200" cy="2165985"/>
          </a:xfrm>
        </p:grpSpPr>
        <p:sp>
          <p:nvSpPr>
            <p:cNvPr id="16" name="Rectangle 16"/>
            <p:cNvSpPr/>
            <p:nvPr/>
          </p:nvSpPr>
          <p:spPr>
            <a:xfrm>
              <a:off x="533400" y="3865245"/>
              <a:ext cx="5410200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98595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0690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7644" y="41047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通信内聚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0588" y="410956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数据是联系的纽带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46103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模块内各功能部分都使用了相同的输入数据，或产生了相同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的输出数据。通信内聚模块通常是通过数据流图来定义的。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2955" y="51130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9546" y="505253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因为是操作或生成同一个数据集，内聚度较高，但可能破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坏功能独立性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9239" y="5640705"/>
              <a:ext cx="39054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例：对"售书登记表"文件做删除、修改、登记三件事。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048828"/>
            <a:chOff x="6248400" y="1524000"/>
            <a:chExt cx="5410200" cy="2048828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048828"/>
            </a:xfrm>
            <a:prstGeom prst="roundRect">
              <a:avLst>
                <a:gd name="adj" fmla="val 6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7821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0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72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顺序内聚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3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模块内的处理元素和同一个功能密切相关，必须顺序执行，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前一个处理元素的输出数据就是下一个的输入数据。按数据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流图划分模块时通常得到它。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4239" y="2960370"/>
              <a:ext cx="4629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例：建立方程组系数矩阵 → 高斯消去法 → 回代，三步的数据一路传下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757612"/>
            <a:ext cx="5410200" cy="2273618"/>
            <a:chOff x="6248400" y="3757612"/>
            <a:chExt cx="5410200" cy="2273618"/>
          </a:xfrm>
        </p:grpSpPr>
        <p:sp>
          <p:nvSpPr>
            <p:cNvPr id="33" name="Rectangle 33"/>
            <p:cNvSpPr/>
            <p:nvPr/>
          </p:nvSpPr>
          <p:spPr>
            <a:xfrm>
              <a:off x="6248400" y="3757612"/>
              <a:ext cx="5410200" cy="2273618"/>
            </a:xfrm>
            <a:prstGeom prst="roundRect">
              <a:avLst>
                <a:gd name="adj" fmla="val 58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890962"/>
              <a:ext cx="47625" cy="2006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0335" y="396144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2644" y="39971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功能内聚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75588" y="400192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只做一件事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3096" y="435340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模块中各部分都是完成某一具体功能必不可少的组成部分，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紧密联系，不可分割。这种模块易于修改和维护，模块间的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耦合也简单。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软件设计原理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判一判：下面的模块各属于哪种内聚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33400" y="1524000"/>
            <a:ext cx="11125200" cy="3817620"/>
            <a:chOff x="533400" y="1524000"/>
            <a:chExt cx="11125200" cy="3817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5455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模块做的事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8971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内聚类型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9389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系统启动时依次打开文件、把计数器清零、设置系统时钟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59006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时间内聚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9228" y="2108359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三件事之间没有数据联系，凑在一起只因为都在启动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这段时间做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3231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按参数 flag 决定是求平均分还是求最高分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59006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逻辑内聚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9228" y="27836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几种相关功能合在一起，靠判定参数选一种执行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先建立方程组系数矩阵，再高斯消去，再回代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59006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顺序内聚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9228" y="323230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前一步的输出数据就是后一步的输入数据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6809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对同一张售书登记表做删除、修改、登记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59006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通信内聚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9228" y="368093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都作用在同一个数据集上，彼此之间不传数据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90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1305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计算一个实数的平方根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660708" y="4004310"/>
              <a:ext cx="17611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59006" y="41305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功能内聚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9228" y="413051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模块里所有语句都为这一个功能服务，缺一不可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386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4341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57914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把流程图里的循环部分单独划出来做成模块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59006" y="4579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过程内聚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9228" y="457914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只是控制流上的一段，不是一个完整功能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887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1223" y="502777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把各处重复出现、彼此无关的几条语句抽成一个模块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660708" y="4901565"/>
              <a:ext cx="176117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59006" y="5027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偶然内聚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9228" y="5027771"/>
              <a:ext cx="2442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放在一起的唯一理由是"省存储"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524000"/>
              <a:ext cx="11125200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4642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2664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8960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行的模块还会给调用者带来控制耦合，第 4 行的模块如果把数据前后传递，就升级成顺序内聚。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启发规则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七条从经验里总结出来的规则，用来给初步结构挑毛病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提高独立性、规模适中、深度宽度扇入扇出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作用域应在控制域之内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接口简单、单入单出、功能可预测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启发规则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 1：改进软件结构，提高模块独立性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00184" cy="308039"/>
            <a:chOff x="525399" y="1550194"/>
            <a:chExt cx="98001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00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设计出软件的初步结构以后，应该审查分析这个结构，通过模块分解或合并，力求降低耦合、提高内聚。</a:t>
              </a:r>
            </a:p>
          </p:txBody>
        </p:sp>
      </p:grpSp>
      <p:grpSp>
        <p:nvGrpSpPr>
          <p:cNvPr id="22" name="c1-card-1"/>
          <p:cNvGrpSpPr/>
          <p:nvPr/>
        </p:nvGrpSpPr>
        <p:grpSpPr>
          <a:xfrm>
            <a:off x="533400" y="1967865"/>
            <a:ext cx="4544378" cy="2291715"/>
            <a:chOff x="533400" y="1967865"/>
            <a:chExt cx="4544378" cy="229171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544378" cy="2291715"/>
            </a:xfrm>
            <a:prstGeom prst="roundRect">
              <a:avLst>
                <a:gd name="adj" fmla="val 581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555" y="22131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模块功能的完善化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97418" y="221265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一个完整的功能模块有三部分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2560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799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3940" y="25736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执行规定功能的部分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2950" y="289560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799" y="29378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3940" y="290893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出错处理部分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323088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799" y="32731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940" y="324421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如需要返回一系列数据给调用者，在完成数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据加工或结束时返回一个标志，告诉调用者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是否正确结束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450080"/>
            <a:ext cx="4544378" cy="1570672"/>
            <a:chOff x="533400" y="4450080"/>
            <a:chExt cx="4544378" cy="1570672"/>
          </a:xfrm>
        </p:grpSpPr>
        <p:sp>
          <p:nvSpPr>
            <p:cNvPr id="23" name="Rectangle 23"/>
            <p:cNvSpPr/>
            <p:nvPr/>
          </p:nvSpPr>
          <p:spPr>
            <a:xfrm>
              <a:off x="533400" y="4450080"/>
              <a:ext cx="4544378" cy="1570672"/>
            </a:xfrm>
            <a:prstGeom prst="roundRect">
              <a:avLst>
                <a:gd name="adj" fmla="val 727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134928"/>
              <a:ext cx="200026" cy="200026"/>
              <a:chOff x="738188" y="513492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1349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2016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2349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85394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合并不是随便合。合并后如果要靠参数选择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做哪一件事，就退化成逻辑内聚加控制耦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382578" y="1967865"/>
            <a:ext cx="6276022" cy="4052888"/>
            <a:chOff x="5382578" y="1967865"/>
            <a:chExt cx="6276022" cy="4052888"/>
          </a:xfrm>
        </p:grpSpPr>
        <p:sp>
          <p:nvSpPr>
            <p:cNvPr id="30" name="Rectangle 30"/>
            <p:cNvSpPr/>
            <p:nvPr/>
          </p:nvSpPr>
          <p:spPr>
            <a:xfrm>
              <a:off x="5382578" y="1967865"/>
              <a:ext cx="6276022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8983" y="2102644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消除重复功能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的做法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34300" y="22159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结构变成什么样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13009" y="22159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90401" y="2891314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原状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1526" y="2777966"/>
              <a:ext cx="23375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调用 R1，Y 调用 R2，R1 与 R2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有相似部分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32823" y="277796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重复代码，改一处要记得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改另一处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33137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82578" y="331851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92102" y="3328035"/>
              <a:ext cx="1362075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90401" y="3567589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合并成一个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1526" y="3567589"/>
              <a:ext cx="2201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都调用合并后的 R1+R2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32823" y="345424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合起来的模块要靠参数选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分支，内聚下降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39890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90401" y="4129564"/>
              <a:ext cx="97083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提取公共部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71526" y="4129564"/>
              <a:ext cx="1882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R1、R2 保留，两者都调用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2823" y="4129564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结构清楚，调用层次多一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46643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82578" y="466915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90401" y="4918234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部分上并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71526" y="4804886"/>
              <a:ext cx="2394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并进 X，R2 保留，两者都调用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32823" y="4918234"/>
              <a:ext cx="1528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 R1 很小的情况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53406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92102" y="5354955"/>
              <a:ext cx="136207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90401" y="5593556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全部上并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1526" y="5480209"/>
              <a:ext cx="2207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 并进 X、R2 并进 Y，都调用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32823" y="559355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层次最少，常用的做法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1967865"/>
              <a:ext cx="6276022" cy="405288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758940" y="1967865"/>
              <a:ext cx="9525" cy="40528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520238" y="1967865"/>
              <a:ext cx="9525" cy="40528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96151" cy="909257"/>
            <a:chOff x="520446" y="342900"/>
            <a:chExt cx="73961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启发规则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961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 2、3：模块规模与深度、宽度、扇出、扇入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4238625"/>
            <a:chOff x="533400" y="1524000"/>
            <a:chExt cx="4977765" cy="42386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238625"/>
            </a:xfrm>
            <a:prstGeom prst="roundRect">
              <a:avLst>
                <a:gd name="adj" fmla="val 314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6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 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0660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模块规模应该适中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8665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780" y="212979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W.M.Weinberg 的研究表明：模块长度超过 30 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语句时，可理解性迅速下降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8665" y="28136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275082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F.T.Baker 建议模块长度选在 50 句左右，正好能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打印在一张打印纸上，读程序时不必来回翻页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8665" y="34347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6780" y="337185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过大的模块往往是分解不充分，可以继续分解出下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级模块或同层模块，但分解不应该降低模块的独立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8665" y="434149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427863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过小的模块开销大于有效操作，而且模块数目过多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会使系统接口复杂</a:t>
              </a:r>
            </a:p>
          </p:txBody>
        </p:sp>
      </p:grpSp>
      <p:grpSp>
        <p:nvGrpSpPr>
          <p:cNvPr id="31" name="c2-kv-1"/>
          <p:cNvGrpSpPr/>
          <p:nvPr/>
        </p:nvGrpSpPr>
        <p:grpSpPr>
          <a:xfrm>
            <a:off x="5808345" y="1548765"/>
            <a:ext cx="5850255" cy="3023235"/>
            <a:chOff x="5808345" y="1548765"/>
            <a:chExt cx="5850255" cy="3023235"/>
          </a:xfrm>
        </p:grpSpPr>
        <p:sp>
          <p:nvSpPr>
            <p:cNvPr id="20" name="TextBox 20"/>
            <p:cNvSpPr txBox="1"/>
            <p:nvPr/>
          </p:nvSpPr>
          <p:spPr>
            <a:xfrm>
              <a:off x="5808345" y="1548765"/>
              <a:ext cx="1065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深度 depth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7105" y="1548765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软件结构中控制的层数，往往能粗略标志一个系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统的大小和复杂程度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815965" y="21507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8345" y="2270760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宽度 width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7105" y="227076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软件结构内同一层次上模块总数的最大值，宽度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越大系统越复杂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8727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8345" y="2992755"/>
              <a:ext cx="1299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扇出 fan-out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7105" y="299275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一个模块直接控制（调用）的模块数目，设计得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好的系统平均扇出通常是 3 或 4，上限通常是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～9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38766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8345" y="3996690"/>
              <a:ext cx="11293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扇入 fan-in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7105" y="3996690"/>
              <a:ext cx="4015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有多少个上级模块直接调用它，扇入大说明这个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模块被复用得好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5815965" y="4703445"/>
            <a:ext cx="5842635" cy="1059180"/>
            <a:chOff x="5815965" y="4703445"/>
            <a:chExt cx="5842635" cy="1059180"/>
          </a:xfrm>
        </p:grpSpPr>
        <p:sp>
          <p:nvSpPr>
            <p:cNvPr id="32" name="Rectangle 32"/>
            <p:cNvSpPr/>
            <p:nvPr/>
          </p:nvSpPr>
          <p:spPr>
            <a:xfrm>
              <a:off x="5815965" y="470344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008694" y="5129331"/>
              <a:ext cx="224134" cy="192560"/>
              <a:chOff x="6008694" y="5129331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120765" y="51996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008694" y="51293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20765" y="52774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322695" y="4852035"/>
              <a:ext cx="49396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扇出过大意味着模块过分复杂，要控制和协调过多的下级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模块；扇出过小（例如总是 1）也不好，说明这一层没有起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到分解作用。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24821" cy="909257"/>
            <a:chOff x="520446" y="342900"/>
            <a:chExt cx="5624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启发规则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24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避免"扁平"结构，追求"椭圆形"结构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752475" y="1404938"/>
            <a:ext cx="10687050" cy="1666874"/>
            <a:chOff x="752475" y="1404938"/>
            <a:chExt cx="10687050" cy="1666874"/>
          </a:xfrm>
        </p:grpSpPr>
        <p:sp>
          <p:nvSpPr>
            <p:cNvPr id="7" name="Freeform 7"/>
            <p:cNvSpPr/>
            <p:nvPr/>
          </p:nvSpPr>
          <p:spPr>
            <a:xfrm>
              <a:off x="1228725" y="1881188"/>
              <a:ext cx="4867275" cy="714375"/>
            </a:xfrm>
            <a:custGeom>
              <a:avLst/>
              <a:gdLst/>
              <a:ahLst/>
              <a:cxnLst/>
              <a:rect l="l" t="t" r="r" b="b"/>
              <a:pathLst>
                <a:path w="4867275" h="714375">
                  <a:moveTo>
                    <a:pt x="486727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19375" y="1881188"/>
              <a:ext cx="3476625" cy="714375"/>
            </a:xfrm>
            <a:custGeom>
              <a:avLst/>
              <a:gdLst/>
              <a:ahLst/>
              <a:cxnLst/>
              <a:rect l="l" t="t" r="r" b="b"/>
              <a:pathLst>
                <a:path w="3476625" h="714375">
                  <a:moveTo>
                    <a:pt x="347662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010025" y="1881188"/>
              <a:ext cx="2085975" cy="714375"/>
            </a:xfrm>
            <a:custGeom>
              <a:avLst/>
              <a:gdLst/>
              <a:ahLst/>
              <a:cxnLst/>
              <a:rect l="l" t="t" r="r" b="b"/>
              <a:pathLst>
                <a:path w="2085975" h="714375">
                  <a:moveTo>
                    <a:pt x="208597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00675" y="1881188"/>
              <a:ext cx="695325" cy="714375"/>
            </a:xfrm>
            <a:custGeom>
              <a:avLst/>
              <a:gdLst/>
              <a:ahLst/>
              <a:cxnLst/>
              <a:rect l="l" t="t" r="r" b="b"/>
              <a:pathLst>
                <a:path w="695325" h="714375">
                  <a:moveTo>
                    <a:pt x="69532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1881188"/>
              <a:ext cx="695325" cy="714375"/>
            </a:xfrm>
            <a:custGeom>
              <a:avLst/>
              <a:gdLst/>
              <a:ahLst/>
              <a:cxnLst/>
              <a:rect l="l" t="t" r="r" b="b"/>
              <a:pathLst>
                <a:path w="695325" h="714375">
                  <a:moveTo>
                    <a:pt x="0" y="0"/>
                  </a:moveTo>
                  <a:lnTo>
                    <a:pt x="69532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0" y="1881188"/>
              <a:ext cx="2085975" cy="714375"/>
            </a:xfrm>
            <a:custGeom>
              <a:avLst/>
              <a:gdLst/>
              <a:ahLst/>
              <a:cxnLst/>
              <a:rect l="l" t="t" r="r" b="b"/>
              <a:pathLst>
                <a:path w="2085975" h="714375">
                  <a:moveTo>
                    <a:pt x="0" y="0"/>
                  </a:moveTo>
                  <a:lnTo>
                    <a:pt x="208597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1881188"/>
              <a:ext cx="3476625" cy="714375"/>
            </a:xfrm>
            <a:custGeom>
              <a:avLst/>
              <a:gdLst/>
              <a:ahLst/>
              <a:cxnLst/>
              <a:rect l="l" t="t" r="r" b="b"/>
              <a:pathLst>
                <a:path w="3476625" h="714375">
                  <a:moveTo>
                    <a:pt x="0" y="0"/>
                  </a:moveTo>
                  <a:lnTo>
                    <a:pt x="347662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1881188"/>
              <a:ext cx="4867275" cy="714375"/>
            </a:xfrm>
            <a:custGeom>
              <a:avLst/>
              <a:gdLst/>
              <a:ahLst/>
              <a:cxnLst/>
              <a:rect l="l" t="t" r="r" b="b"/>
              <a:pathLst>
                <a:path w="4867275" h="714375">
                  <a:moveTo>
                    <a:pt x="0" y="0"/>
                  </a:moveTo>
                  <a:lnTo>
                    <a:pt x="486727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5247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14312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3377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92442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48425" y="2252662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70572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229725" y="2252662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487025" y="211931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619750" y="1404938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933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取得工资数据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8998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计时制工资额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8063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薪金制工资额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7128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编外人员工资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3289" y="25298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税收扣款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258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编外人员税款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4589" y="25298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常规扣款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33888" y="25298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编外人员扣款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6613" y="18154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计算实发工资</a:t>
              </a:r>
            </a:p>
          </p:txBody>
        </p:sp>
      </p:grpSp>
      <p:grpSp>
        <p:nvGrpSpPr>
          <p:cNvPr id="69" name="c1-tree-2"/>
          <p:cNvGrpSpPr/>
          <p:nvPr/>
        </p:nvGrpSpPr>
        <p:grpSpPr>
          <a:xfrm>
            <a:off x="752475" y="3000375"/>
            <a:ext cx="10687050" cy="2286000"/>
            <a:chOff x="752475" y="3000375"/>
            <a:chExt cx="10687050" cy="2286000"/>
          </a:xfrm>
        </p:grpSpPr>
        <p:sp>
          <p:nvSpPr>
            <p:cNvPr id="34" name="Freeform 34"/>
            <p:cNvSpPr/>
            <p:nvPr/>
          </p:nvSpPr>
          <p:spPr>
            <a:xfrm>
              <a:off x="2619375" y="4143375"/>
              <a:ext cx="695325" cy="666750"/>
            </a:xfrm>
            <a:custGeom>
              <a:avLst/>
              <a:gdLst/>
              <a:ahLst/>
              <a:cxnLst/>
              <a:rect l="l" t="t" r="r" b="b"/>
              <a:pathLst>
                <a:path w="695325" h="666750">
                  <a:moveTo>
                    <a:pt x="695325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314700" y="4143375"/>
              <a:ext cx="695325" cy="666750"/>
            </a:xfrm>
            <a:custGeom>
              <a:avLst/>
              <a:gdLst/>
              <a:ahLst/>
              <a:cxnLst/>
              <a:rect l="l" t="t" r="r" b="b"/>
              <a:pathLst>
                <a:path w="695325" h="666750">
                  <a:moveTo>
                    <a:pt x="0" y="0"/>
                  </a:moveTo>
                  <a:lnTo>
                    <a:pt x="69532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400675" y="4143375"/>
              <a:ext cx="695325" cy="666750"/>
            </a:xfrm>
            <a:custGeom>
              <a:avLst/>
              <a:gdLst/>
              <a:ahLst/>
              <a:cxnLst/>
              <a:rect l="l" t="t" r="r" b="b"/>
              <a:pathLst>
                <a:path w="695325" h="666750">
                  <a:moveTo>
                    <a:pt x="695325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096000" y="4143375"/>
              <a:ext cx="695325" cy="666750"/>
            </a:xfrm>
            <a:custGeom>
              <a:avLst/>
              <a:gdLst/>
              <a:ahLst/>
              <a:cxnLst/>
              <a:rect l="l" t="t" r="r" b="b"/>
              <a:pathLst>
                <a:path w="695325" h="666750">
                  <a:moveTo>
                    <a:pt x="0" y="0"/>
                  </a:moveTo>
                  <a:lnTo>
                    <a:pt x="69532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81975" y="4143375"/>
              <a:ext cx="1390650" cy="666750"/>
            </a:xfrm>
            <a:custGeom>
              <a:avLst/>
              <a:gdLst/>
              <a:ahLst/>
              <a:cxnLst/>
              <a:rect l="l" t="t" r="r" b="b"/>
              <a:pathLst>
                <a:path w="1390650" h="666750">
                  <a:moveTo>
                    <a:pt x="139065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572625" y="414337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572625" y="4143375"/>
              <a:ext cx="1390650" cy="666750"/>
            </a:xfrm>
            <a:custGeom>
              <a:avLst/>
              <a:gdLst/>
              <a:ahLst/>
              <a:cxnLst/>
              <a:rect l="l" t="t" r="r" b="b"/>
              <a:pathLst>
                <a:path w="1390650" h="666750">
                  <a:moveTo>
                    <a:pt x="0" y="0"/>
                  </a:moveTo>
                  <a:lnTo>
                    <a:pt x="139065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228725" y="3476625"/>
              <a:ext cx="4867275" cy="666750"/>
            </a:xfrm>
            <a:custGeom>
              <a:avLst/>
              <a:gdLst/>
              <a:ahLst/>
              <a:cxnLst/>
              <a:rect l="l" t="t" r="r" b="b"/>
              <a:pathLst>
                <a:path w="4867275" h="666750">
                  <a:moveTo>
                    <a:pt x="4867275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314700" y="3476625"/>
              <a:ext cx="2781300" cy="666750"/>
            </a:xfrm>
            <a:custGeom>
              <a:avLst/>
              <a:gdLst/>
              <a:ahLst/>
              <a:cxnLst/>
              <a:rect l="l" t="t" r="r" b="b"/>
              <a:pathLst>
                <a:path w="2781300" h="666750">
                  <a:moveTo>
                    <a:pt x="278130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096000" y="3476625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096000" y="3476625"/>
              <a:ext cx="3476625" cy="666750"/>
            </a:xfrm>
            <a:custGeom>
              <a:avLst/>
              <a:gdLst/>
              <a:ahLst/>
              <a:cxnLst/>
              <a:rect l="l" t="t" r="r" b="b"/>
              <a:pathLst>
                <a:path w="3476625" h="666750">
                  <a:moveTo>
                    <a:pt x="0" y="0"/>
                  </a:moveTo>
                  <a:lnTo>
                    <a:pt x="3476625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52475" y="366712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143125" y="43338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667125" y="4467225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2705100" y="3533775"/>
              <a:ext cx="1219200" cy="1219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4924425" y="43338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448425" y="4467225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486400" y="3533775"/>
              <a:ext cx="1219200" cy="1219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705725" y="43338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9096375" y="43338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487025" y="43338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963025" y="3533775"/>
              <a:ext cx="1219200" cy="1219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619750" y="3000375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9338" y="4077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取得工资数据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89988" y="4744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计时制工资额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721989" y="4744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税收扣款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43962" y="4077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计时工人实发资额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71288" y="4744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薪金制工资额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03289" y="4744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常规扣款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525262" y="4077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薪金工人实发资额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52588" y="4744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编外人员工资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43238" y="4744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编外人员税款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33888" y="4744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编外人员扣款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001887" y="4077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编外人员实发资额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66613" y="3410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计算实发工资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上图顶层扇出 8，是应避免的扁平结构；下图加了一层中间模块，轮廓像椭圆：顶层扇出较大，中间各层扇出较小，底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层的公共模块（如税收扣款）扇入较大。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启发规则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 4：模块的作用域应该在控制域之内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5417820" cy="1015365"/>
            <a:chOff x="525780" y="1548765"/>
            <a:chExt cx="5417820" cy="10153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作用域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8742" y="1548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受该模块内一个判定影响的所有模块的集合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198882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这个模块本身，以及所有直接或间接从属于它的模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块的集合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2695575"/>
            <a:ext cx="5410200" cy="1249680"/>
            <a:chOff x="533400" y="2695575"/>
            <a:chExt cx="5410200" cy="1249680"/>
          </a:xfrm>
        </p:grpSpPr>
        <p:sp>
          <p:nvSpPr>
            <p:cNvPr id="13" name="Rectangle 13"/>
            <p:cNvSpPr/>
            <p:nvPr/>
          </p:nvSpPr>
          <p:spPr>
            <a:xfrm>
              <a:off x="533400" y="2695575"/>
              <a:ext cx="5410200" cy="1249680"/>
            </a:xfrm>
            <a:prstGeom prst="roundRect">
              <a:avLst>
                <a:gd name="adj" fmla="val 106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5330" y="292989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在一个设计得很好的系统中，所有受判定影响的模块都应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该从属于做出判定的那个模块，最好局限于做出判定的那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个模块本身及它的直属下级模块。</a:t>
              </a:r>
            </a:p>
          </p:txBody>
        </p:sp>
      </p:grpSp>
      <p:grpSp>
        <p:nvGrpSpPr>
          <p:cNvPr id="26" name="c1-bullets-3"/>
          <p:cNvGrpSpPr/>
          <p:nvPr/>
        </p:nvGrpSpPr>
        <p:grpSpPr>
          <a:xfrm>
            <a:off x="525780" y="4160520"/>
            <a:ext cx="5170170" cy="1337310"/>
            <a:chOff x="525780" y="4160520"/>
            <a:chExt cx="5170170" cy="133731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41605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把作用域移进控制域的三种办法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5015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4543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45148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将判定所在模块合并到父模块中，使判定处于较高层次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84632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5249" y="4888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4390" y="48596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将受判定影响的模块下移到控制范围内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1911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5249" y="52334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4390" y="52044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将判定上移到层次中较高的位置</a:t>
              </a:r>
            </a:p>
          </p:txBody>
        </p:sp>
      </p:grpSp>
      <p:grpSp>
        <p:nvGrpSpPr>
          <p:cNvPr id="52" name="c2-tree-1"/>
          <p:cNvGrpSpPr/>
          <p:nvPr/>
        </p:nvGrpSpPr>
        <p:grpSpPr>
          <a:xfrm>
            <a:off x="6579870" y="1602105"/>
            <a:ext cx="4818443" cy="2148840"/>
            <a:chOff x="6579870" y="1602105"/>
            <a:chExt cx="4818443" cy="2148840"/>
          </a:xfrm>
        </p:grpSpPr>
        <p:sp>
          <p:nvSpPr>
            <p:cNvPr id="27" name="Freeform 27"/>
            <p:cNvSpPr/>
            <p:nvPr/>
          </p:nvSpPr>
          <p:spPr>
            <a:xfrm>
              <a:off x="7871460" y="2964180"/>
              <a:ext cx="1082040" cy="577215"/>
            </a:xfrm>
            <a:custGeom>
              <a:avLst/>
              <a:gdLst/>
              <a:ahLst/>
              <a:cxnLst/>
              <a:rect l="l" t="t" r="r" b="b"/>
              <a:pathLst>
                <a:path w="1082040" h="577215">
                  <a:moveTo>
                    <a:pt x="1082040" y="0"/>
                  </a:moveTo>
                  <a:lnTo>
                    <a:pt x="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0" y="2964180"/>
              <a:ext cx="9525" cy="577215"/>
            </a:xfrm>
            <a:custGeom>
              <a:avLst/>
              <a:gdLst/>
              <a:ahLst/>
              <a:cxnLst/>
              <a:rect l="l" t="t" r="r" b="b"/>
              <a:pathLst>
                <a:path w="9525" h="577215">
                  <a:moveTo>
                    <a:pt x="0" y="0"/>
                  </a:moveTo>
                  <a:lnTo>
                    <a:pt x="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53500" y="2964180"/>
              <a:ext cx="1082040" cy="577215"/>
            </a:xfrm>
            <a:custGeom>
              <a:avLst/>
              <a:gdLst/>
              <a:ahLst/>
              <a:cxnLst/>
              <a:rect l="l" t="t" r="r" b="b"/>
              <a:pathLst>
                <a:path w="1082040" h="577215">
                  <a:moveTo>
                    <a:pt x="0" y="0"/>
                  </a:moveTo>
                  <a:lnTo>
                    <a:pt x="108204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789420" y="2388870"/>
              <a:ext cx="1623060" cy="575310"/>
            </a:xfrm>
            <a:custGeom>
              <a:avLst/>
              <a:gdLst/>
              <a:ahLst/>
              <a:cxnLst/>
              <a:rect l="l" t="t" r="r" b="b"/>
              <a:pathLst>
                <a:path w="1623060" h="575310">
                  <a:moveTo>
                    <a:pt x="1623060" y="0"/>
                  </a:moveTo>
                  <a:lnTo>
                    <a:pt x="0" y="5753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412480" y="2388870"/>
              <a:ext cx="541020" cy="575310"/>
            </a:xfrm>
            <a:custGeom>
              <a:avLst/>
              <a:gdLst/>
              <a:ahLst/>
              <a:cxnLst/>
              <a:rect l="l" t="t" r="r" b="b"/>
              <a:pathLst>
                <a:path w="541020" h="575310">
                  <a:moveTo>
                    <a:pt x="0" y="0"/>
                  </a:moveTo>
                  <a:lnTo>
                    <a:pt x="541020" y="5753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412480" y="1811655"/>
              <a:ext cx="541020" cy="577215"/>
            </a:xfrm>
            <a:custGeom>
              <a:avLst/>
              <a:gdLst/>
              <a:ahLst/>
              <a:cxnLst/>
              <a:rect l="l" t="t" r="r" b="b"/>
              <a:pathLst>
                <a:path w="541020" h="577215">
                  <a:moveTo>
                    <a:pt x="541020" y="0"/>
                  </a:moveTo>
                  <a:lnTo>
                    <a:pt x="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53500" y="1811655"/>
              <a:ext cx="2164080" cy="577215"/>
            </a:xfrm>
            <a:custGeom>
              <a:avLst/>
              <a:gdLst/>
              <a:ahLst/>
              <a:cxnLst/>
              <a:rect l="l" t="t" r="r" b="b"/>
              <a:pathLst>
                <a:path w="2164080" h="577215">
                  <a:moveTo>
                    <a:pt x="0" y="0"/>
                  </a:moveTo>
                  <a:lnTo>
                    <a:pt x="2164080" y="577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579870" y="27546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661910" y="33318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743950" y="33318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825990" y="33318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743950" y="275463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202930" y="217932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908030" y="2179320"/>
              <a:ext cx="419100" cy="4191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743950" y="16021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7705" y="28941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19745" y="34704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01785" y="34704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83825" y="34704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01785" y="28941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0765" y="23179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31746" y="265223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判定在这里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65865" y="23179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36846" y="265223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受判定影响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885057" y="1742599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4191000"/>
            <a:ext cx="5410200" cy="1247775"/>
            <a:chOff x="6248400" y="4191000"/>
            <a:chExt cx="5410200" cy="1247775"/>
          </a:xfrm>
        </p:grpSpPr>
        <p:sp>
          <p:nvSpPr>
            <p:cNvPr id="53" name="Rectangle 53"/>
            <p:cNvSpPr/>
            <p:nvPr/>
          </p:nvSpPr>
          <p:spPr>
            <a:xfrm>
              <a:off x="6248400" y="4191000"/>
              <a:ext cx="5410200" cy="1247775"/>
            </a:xfrm>
            <a:prstGeom prst="roundRect">
              <a:avLst>
                <a:gd name="adj" fmla="val 91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41129" y="4711183"/>
              <a:ext cx="224134" cy="192560"/>
              <a:chOff x="6441129" y="471118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53200" y="47815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41129" y="471118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53200" y="4859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130" y="4433888"/>
              <a:ext cx="4434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判定在 A 里做，却影响到 A 的兄弟模块 G。A 只能把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判定结果经 M 传给 G，接口被迫变复杂，这就是作用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域超出控制域。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64553" cy="909257"/>
            <a:chOff x="520446" y="342900"/>
            <a:chExt cx="65645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启发规则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645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 5、6、7：接口、入口出口和可预测性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335405"/>
            <a:chOff x="533400" y="1524000"/>
            <a:chExt cx="5626418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335405"/>
            </a:xfrm>
            <a:prstGeom prst="roundRect">
              <a:avLst>
                <a:gd name="adj" fmla="val 998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9693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 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0660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力争降低模块接口的复杂程度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模块接口复杂是软件发生错误的一个主要原因。应该仔细设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计模块接口，使得信息传递简单并且和模块的功能一致。</a:t>
              </a:r>
            </a:p>
          </p:txBody>
        </p:sp>
      </p:grpSp>
      <p:grpSp>
        <p:nvGrpSpPr>
          <p:cNvPr id="33" name="c1-compare-2"/>
          <p:cNvGrpSpPr/>
          <p:nvPr/>
        </p:nvGrpSpPr>
        <p:grpSpPr>
          <a:xfrm>
            <a:off x="533400" y="3049905"/>
            <a:ext cx="5627370" cy="2863215"/>
            <a:chOff x="533400" y="3049905"/>
            <a:chExt cx="5627370" cy="2863215"/>
          </a:xfrm>
        </p:grpSpPr>
        <p:sp>
          <p:nvSpPr>
            <p:cNvPr id="13" name="Rectangle 13"/>
            <p:cNvSpPr/>
            <p:nvPr/>
          </p:nvSpPr>
          <p:spPr>
            <a:xfrm>
              <a:off x="533400" y="3049905"/>
              <a:ext cx="2604135" cy="2863215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83255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3430" y="3284220"/>
              <a:ext cx="218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QUAD_ROOT(TBL, X)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63855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传进一张表和一个下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3224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259580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调用者必须知道表的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内部安排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9434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880610"/>
              <a:ext cx="1748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求根这件事和"表"本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来没有关系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56635" y="3049905"/>
              <a:ext cx="2604135" cy="2863215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66160" y="3183255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6665" y="3284220"/>
              <a:ext cx="183546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QUAD_ROOT(A, B,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C, ROOT1, ROOT2)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10000" y="39585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68115" y="389572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直接传三个系数，返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回两个根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10000" y="45796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68115" y="45167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接口和模块功能一致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10000" y="49149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8115" y="485203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看参数表就知道怎么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85160" y="43195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55500" y="441579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335405"/>
            <a:chOff x="6464618" y="1524000"/>
            <a:chExt cx="5193982" cy="1335405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74168" y="1733550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0910" y="176926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 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018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设计单入口单出口的模块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6548" y="212979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从顶部进入模块，从底部退出来，这样的软件容易理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解、容易维护，也就避免了内容耦合。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3049905"/>
            <a:ext cx="5193982" cy="2863215"/>
            <a:chOff x="6464618" y="3049905"/>
            <a:chExt cx="5193982" cy="2863215"/>
          </a:xfrm>
        </p:grpSpPr>
        <p:sp>
          <p:nvSpPr>
            <p:cNvPr id="40" name="Rectangle 40"/>
            <p:cNvSpPr/>
            <p:nvPr/>
          </p:nvSpPr>
          <p:spPr>
            <a:xfrm>
              <a:off x="6464618" y="3049905"/>
              <a:ext cx="5193982" cy="2863215"/>
            </a:xfrm>
            <a:prstGeom prst="roundRect">
              <a:avLst>
                <a:gd name="adj" fmla="val 465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74168" y="325945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60910" y="329517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 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01878" y="3294698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模块功能应该可以预测，也不要施加过多限制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6548" y="365569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如果一个模块可以当做一个黑盒子，只要输入的数据相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同就产生同样的输出，这个模块的功能就是可以预测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79883" y="46253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37998" y="45624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带内部存储器的模块，同样的输入可能给出不同的输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出，功能就不可预测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79883" y="52463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37998" y="51835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另一方面，对模块施加过多限制（例如写死数据长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度）会给以后的修改带来麻烦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描绘软件结构的图形工具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层次图画调用关系，结构图还要画传什么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77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层次图与带编号的 H 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739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HIPO 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结构图与四种模块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6184" cy="909257"/>
            <a:chOff x="520446" y="342900"/>
            <a:chExt cx="29961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描绘软件结构的图形工具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896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层次图与 HIPO 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882968" y="1347788"/>
            <a:ext cx="10492739" cy="1489709"/>
            <a:chOff x="882968" y="1347788"/>
            <a:chExt cx="10492739" cy="1489709"/>
          </a:xfrm>
        </p:grpSpPr>
        <p:sp>
          <p:nvSpPr>
            <p:cNvPr id="7" name="Freeform 7"/>
            <p:cNvSpPr/>
            <p:nvPr/>
          </p:nvSpPr>
          <p:spPr>
            <a:xfrm>
              <a:off x="1228725" y="1824038"/>
              <a:ext cx="4867275" cy="601028"/>
            </a:xfrm>
            <a:custGeom>
              <a:avLst/>
              <a:gdLst/>
              <a:ahLst/>
              <a:cxnLst/>
              <a:rect l="l" t="t" r="r" b="b"/>
              <a:pathLst>
                <a:path w="4867275" h="601028">
                  <a:moveTo>
                    <a:pt x="4867275" y="0"/>
                  </a:moveTo>
                  <a:lnTo>
                    <a:pt x="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19375" y="1824038"/>
              <a:ext cx="3476625" cy="601028"/>
            </a:xfrm>
            <a:custGeom>
              <a:avLst/>
              <a:gdLst/>
              <a:ahLst/>
              <a:cxnLst/>
              <a:rect l="l" t="t" r="r" b="b"/>
              <a:pathLst>
                <a:path w="3476625" h="601028">
                  <a:moveTo>
                    <a:pt x="3476625" y="0"/>
                  </a:moveTo>
                  <a:lnTo>
                    <a:pt x="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010025" y="1824038"/>
              <a:ext cx="2085975" cy="601028"/>
            </a:xfrm>
            <a:custGeom>
              <a:avLst/>
              <a:gdLst/>
              <a:ahLst/>
              <a:cxnLst/>
              <a:rect l="l" t="t" r="r" b="b"/>
              <a:pathLst>
                <a:path w="2085975" h="601028">
                  <a:moveTo>
                    <a:pt x="2085975" y="0"/>
                  </a:moveTo>
                  <a:lnTo>
                    <a:pt x="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00675" y="1824038"/>
              <a:ext cx="695325" cy="601028"/>
            </a:xfrm>
            <a:custGeom>
              <a:avLst/>
              <a:gdLst/>
              <a:ahLst/>
              <a:cxnLst/>
              <a:rect l="l" t="t" r="r" b="b"/>
              <a:pathLst>
                <a:path w="695325" h="601028">
                  <a:moveTo>
                    <a:pt x="695325" y="0"/>
                  </a:moveTo>
                  <a:lnTo>
                    <a:pt x="0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1824038"/>
              <a:ext cx="695325" cy="601028"/>
            </a:xfrm>
            <a:custGeom>
              <a:avLst/>
              <a:gdLst/>
              <a:ahLst/>
              <a:cxnLst/>
              <a:rect l="l" t="t" r="r" b="b"/>
              <a:pathLst>
                <a:path w="695325" h="601028">
                  <a:moveTo>
                    <a:pt x="0" y="0"/>
                  </a:moveTo>
                  <a:lnTo>
                    <a:pt x="695325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096000" y="1824038"/>
              <a:ext cx="2085975" cy="601028"/>
            </a:xfrm>
            <a:custGeom>
              <a:avLst/>
              <a:gdLst/>
              <a:ahLst/>
              <a:cxnLst/>
              <a:rect l="l" t="t" r="r" b="b"/>
              <a:pathLst>
                <a:path w="2085975" h="601028">
                  <a:moveTo>
                    <a:pt x="0" y="0"/>
                  </a:moveTo>
                  <a:lnTo>
                    <a:pt x="2085975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1824038"/>
              <a:ext cx="3476625" cy="601028"/>
            </a:xfrm>
            <a:custGeom>
              <a:avLst/>
              <a:gdLst/>
              <a:ahLst/>
              <a:cxnLst/>
              <a:rect l="l" t="t" r="r" b="b"/>
              <a:pathLst>
                <a:path w="3476625" h="601028">
                  <a:moveTo>
                    <a:pt x="0" y="0"/>
                  </a:moveTo>
                  <a:lnTo>
                    <a:pt x="3476625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1824038"/>
              <a:ext cx="4867275" cy="601028"/>
            </a:xfrm>
            <a:custGeom>
              <a:avLst/>
              <a:gdLst/>
              <a:ahLst/>
              <a:cxnLst/>
              <a:rect l="l" t="t" r="r" b="b"/>
              <a:pathLst>
                <a:path w="4867275" h="601028">
                  <a:moveTo>
                    <a:pt x="0" y="0"/>
                  </a:moveTo>
                  <a:lnTo>
                    <a:pt x="4867275" y="6010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82968" y="2079308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273618" y="2079308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664268" y="2079308"/>
              <a:ext cx="691515" cy="69151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988242" y="2012632"/>
              <a:ext cx="824865" cy="8248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45568" y="2079308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836218" y="2079308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160192" y="2012632"/>
              <a:ext cx="824865" cy="8248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550842" y="2012632"/>
              <a:ext cx="824865" cy="8248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619750" y="1347788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7332" y="235934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1.0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7982" y="235934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2.0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18632" y="235934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 3.0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38606" y="2359342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加标题 4.0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99932" y="235934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 5.0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90582" y="2359342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 6.0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10556" y="2359342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编目录 7.0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01206" y="2359342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格式化 8.0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6613" y="17592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正文加工系统</a:t>
              </a:r>
            </a:p>
          </p:txBody>
        </p:sp>
      </p:grpSp>
      <p:grpSp>
        <p:nvGrpSpPr>
          <p:cNvPr id="54" name="c1-tree-2"/>
          <p:cNvGrpSpPr/>
          <p:nvPr/>
        </p:nvGrpSpPr>
        <p:grpSpPr>
          <a:xfrm>
            <a:off x="1114425" y="2842260"/>
            <a:ext cx="9963150" cy="1245870"/>
            <a:chOff x="1114425" y="2842260"/>
            <a:chExt cx="9963150" cy="1245870"/>
          </a:xfrm>
        </p:grpSpPr>
        <p:sp>
          <p:nvSpPr>
            <p:cNvPr id="34" name="Freeform 34"/>
            <p:cNvSpPr/>
            <p:nvPr/>
          </p:nvSpPr>
          <p:spPr>
            <a:xfrm>
              <a:off x="1460182" y="3188018"/>
              <a:ext cx="4635818" cy="554355"/>
            </a:xfrm>
            <a:custGeom>
              <a:avLst/>
              <a:gdLst/>
              <a:ahLst/>
              <a:cxnLst/>
              <a:rect l="l" t="t" r="r" b="b"/>
              <a:pathLst>
                <a:path w="4635818" h="554355">
                  <a:moveTo>
                    <a:pt x="4635818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314700" y="3188018"/>
              <a:ext cx="2781300" cy="554355"/>
            </a:xfrm>
            <a:custGeom>
              <a:avLst/>
              <a:gdLst/>
              <a:ahLst/>
              <a:cxnLst/>
              <a:rect l="l" t="t" r="r" b="b"/>
              <a:pathLst>
                <a:path w="2781300" h="554355">
                  <a:moveTo>
                    <a:pt x="2781300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169218" y="3188018"/>
              <a:ext cx="926782" cy="554355"/>
            </a:xfrm>
            <a:custGeom>
              <a:avLst/>
              <a:gdLst/>
              <a:ahLst/>
              <a:cxnLst/>
              <a:rect l="l" t="t" r="r" b="b"/>
              <a:pathLst>
                <a:path w="926782" h="554355">
                  <a:moveTo>
                    <a:pt x="926782" y="0"/>
                  </a:moveTo>
                  <a:lnTo>
                    <a:pt x="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096000" y="3188018"/>
              <a:ext cx="926782" cy="554355"/>
            </a:xfrm>
            <a:custGeom>
              <a:avLst/>
              <a:gdLst/>
              <a:ahLst/>
              <a:cxnLst/>
              <a:rect l="l" t="t" r="r" b="b"/>
              <a:pathLst>
                <a:path w="926782" h="554355">
                  <a:moveTo>
                    <a:pt x="0" y="0"/>
                  </a:moveTo>
                  <a:lnTo>
                    <a:pt x="926782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096000" y="3188018"/>
              <a:ext cx="2781300" cy="554355"/>
            </a:xfrm>
            <a:custGeom>
              <a:avLst/>
              <a:gdLst/>
              <a:ahLst/>
              <a:cxnLst/>
              <a:rect l="l" t="t" r="r" b="b"/>
              <a:pathLst>
                <a:path w="2781300" h="554355">
                  <a:moveTo>
                    <a:pt x="0" y="0"/>
                  </a:moveTo>
                  <a:lnTo>
                    <a:pt x="2781300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096000" y="3188018"/>
              <a:ext cx="4635818" cy="554355"/>
            </a:xfrm>
            <a:custGeom>
              <a:avLst/>
              <a:gdLst/>
              <a:ahLst/>
              <a:cxnLst/>
              <a:rect l="l" t="t" r="r" b="b"/>
              <a:pathLst>
                <a:path w="4635818" h="554355">
                  <a:moveTo>
                    <a:pt x="0" y="0"/>
                  </a:moveTo>
                  <a:lnTo>
                    <a:pt x="4635818" y="5543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114425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2968942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823460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77025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531542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386060" y="339661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5750242" y="2842260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68789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添加 3.1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23307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 3.2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77824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 3.3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31389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 3.4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85907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 3.5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40424" y="367665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 3.6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04607" y="3122295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 3.0</a:t>
              </a:r>
            </a:p>
          </p:txBody>
        </p:sp>
      </p:grpSp>
      <p:grpSp>
        <p:nvGrpSpPr>
          <p:cNvPr id="63" name="c1-kv-3"/>
          <p:cNvGrpSpPr/>
          <p:nvPr/>
        </p:nvGrpSpPr>
        <p:grpSpPr>
          <a:xfrm>
            <a:off x="526161" y="4227671"/>
            <a:ext cx="11132439" cy="1390269"/>
            <a:chOff x="526161" y="4227671"/>
            <a:chExt cx="11132439" cy="1390269"/>
          </a:xfrm>
        </p:grpSpPr>
        <p:sp>
          <p:nvSpPr>
            <p:cNvPr id="55" name="TextBox 55"/>
            <p:cNvSpPr txBox="1"/>
            <p:nvPr/>
          </p:nvSpPr>
          <p:spPr>
            <a:xfrm>
              <a:off x="526161" y="42276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层次图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45324" y="4227671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一个矩形框代表一个模块，方框间的连线表示调用关系；很适合在自顶向下设计软件的过程中使用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5339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6161" y="4649629"/>
              <a:ext cx="385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 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445324" y="4649629"/>
              <a:ext cx="6705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为增加可追踪性，除最顶层方框外每个方框都加上编号，就得到带编号的层次图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49558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6161" y="5071586"/>
              <a:ext cx="7252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HIPO 图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45324" y="5071586"/>
              <a:ext cx="9689719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"层次图加输入／处理／输出图"的英文缩写，由 IBM 公司发明；和 H 图中每个方框相对应，有一张 IPO 图描绘这个模块的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处理过程，IPO 图上标出对应的编号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04084"/>
              <a:ext cx="69153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层次图只说明"谁调用谁"，不说明模块之间传什么数据，要看数据就得用结构图。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描绘软件结构的图形工具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结构图：不但画调用，还画传什么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graph-1"/>
          <p:cNvGrpSpPr/>
          <p:nvPr/>
        </p:nvGrpSpPr>
        <p:grpSpPr>
          <a:xfrm>
            <a:off x="797624" y="1775460"/>
            <a:ext cx="3295626" cy="1646301"/>
            <a:chOff x="797624" y="1775460"/>
            <a:chExt cx="3295626" cy="1646301"/>
          </a:xfrm>
        </p:grpSpPr>
        <p:sp>
          <p:nvSpPr>
            <p:cNvPr id="7" name="Freeform 7"/>
            <p:cNvSpPr/>
            <p:nvPr/>
          </p:nvSpPr>
          <p:spPr>
            <a:xfrm>
              <a:off x="2816860" y="2095500"/>
              <a:ext cx="217805" cy="923925"/>
            </a:xfrm>
            <a:custGeom>
              <a:avLst/>
              <a:gdLst/>
              <a:ahLst/>
              <a:cxnLst/>
              <a:rect l="l" t="t" r="r" b="b"/>
              <a:pathLst>
                <a:path w="217805" h="923925">
                  <a:moveTo>
                    <a:pt x="217805" y="0"/>
                  </a:moveTo>
                  <a:cubicBezTo>
                    <a:pt x="16510" y="335280"/>
                    <a:pt x="0" y="643255"/>
                    <a:pt x="168275" y="92392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44178" y="299561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90488" y="105728"/>
                  </a:moveTo>
                  <a:lnTo>
                    <a:pt x="0" y="48578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226118" y="2177415"/>
              <a:ext cx="217805" cy="923925"/>
            </a:xfrm>
            <a:custGeom>
              <a:avLst/>
              <a:gdLst/>
              <a:ahLst/>
              <a:cxnLst/>
              <a:rect l="l" t="t" r="r" b="b"/>
              <a:pathLst>
                <a:path w="217805" h="923925">
                  <a:moveTo>
                    <a:pt x="0" y="923925"/>
                  </a:moveTo>
                  <a:cubicBezTo>
                    <a:pt x="201295" y="588645"/>
                    <a:pt x="217805" y="280670"/>
                    <a:pt x="4953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26118" y="2095500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0" y="0"/>
                  </a:moveTo>
                  <a:lnTo>
                    <a:pt x="90488" y="57150"/>
                  </a:lnTo>
                  <a:lnTo>
                    <a:pt x="8573" y="1057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77415" y="1775460"/>
              <a:ext cx="1905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77415" y="3101340"/>
              <a:ext cx="1905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63017" y="1861185"/>
              <a:ext cx="1133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查询学生成绩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3017" y="3187065"/>
              <a:ext cx="1133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查找学生记录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721292" y="2505075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46337" y="25398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21280" y="2707005"/>
              <a:ext cx="146399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612351" y="2741771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记录地址 · 查找成功信号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299" y="18221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调用模块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7624" y="31480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被调用模块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5780" y="4025265"/>
            <a:ext cx="5201602" cy="733425"/>
            <a:chOff x="525780" y="4025265"/>
            <a:chExt cx="5201602" cy="733425"/>
          </a:xfrm>
        </p:grpSpPr>
        <p:sp>
          <p:nvSpPr>
            <p:cNvPr id="22" name="TextBox 22"/>
            <p:cNvSpPr txBox="1"/>
            <p:nvPr/>
          </p:nvSpPr>
          <p:spPr>
            <a:xfrm>
              <a:off x="525780" y="40252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数据信息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66862" y="4025265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尾端是空心圆的箭头，例如"学号""记录地址"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3453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44653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控制信息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6862" y="4465320"/>
              <a:ext cx="3872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尾端是实心圆的箭头，例如"查找成功信号"</a:t>
              </a:r>
            </a:p>
          </p:txBody>
        </p:sp>
      </p:grpSp>
      <p:grpSp>
        <p:nvGrpSpPr>
          <p:cNvPr id="42" name="c2-flow-1"/>
          <p:cNvGrpSpPr/>
          <p:nvPr/>
        </p:nvGrpSpPr>
        <p:grpSpPr>
          <a:xfrm>
            <a:off x="6165532" y="1590675"/>
            <a:ext cx="5359718" cy="1581150"/>
            <a:chOff x="6165532" y="1590675"/>
            <a:chExt cx="5359718" cy="1581150"/>
          </a:xfrm>
        </p:grpSpPr>
        <p:sp>
          <p:nvSpPr>
            <p:cNvPr id="28" name="Freeform 28"/>
            <p:cNvSpPr/>
            <p:nvPr/>
          </p:nvSpPr>
          <p:spPr>
            <a:xfrm>
              <a:off x="8844915" y="1975485"/>
              <a:ext cx="9525" cy="53340"/>
            </a:xfrm>
            <a:custGeom>
              <a:avLst/>
              <a:gdLst/>
              <a:ahLst/>
              <a:cxnLst/>
              <a:rect l="l" t="t" r="r" b="b"/>
              <a:pathLst>
                <a:path w="9525" h="53340">
                  <a:moveTo>
                    <a:pt x="0" y="533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92528" y="19754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969442" y="2628900"/>
              <a:ext cx="1875472" cy="79058"/>
            </a:xfrm>
            <a:custGeom>
              <a:avLst/>
              <a:gdLst/>
              <a:ahLst/>
              <a:cxnLst/>
              <a:rect l="l" t="t" r="r" b="b"/>
              <a:pathLst>
                <a:path w="1875472" h="79058">
                  <a:moveTo>
                    <a:pt x="1875472" y="53340"/>
                  </a:moveTo>
                  <a:lnTo>
                    <a:pt x="1875472" y="79058"/>
                  </a:lnTo>
                  <a:lnTo>
                    <a:pt x="0" y="7905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17055" y="2628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844915" y="2628900"/>
              <a:ext cx="1875472" cy="79058"/>
            </a:xfrm>
            <a:custGeom>
              <a:avLst/>
              <a:gdLst/>
              <a:ahLst/>
              <a:cxnLst/>
              <a:rect l="l" t="t" r="r" b="b"/>
              <a:pathLst>
                <a:path w="1875472" h="79058">
                  <a:moveTo>
                    <a:pt x="0" y="53340"/>
                  </a:moveTo>
                  <a:lnTo>
                    <a:pt x="0" y="79058"/>
                  </a:lnTo>
                  <a:lnTo>
                    <a:pt x="1875472" y="7905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668000" y="2628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041005" y="159067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41005" y="2080260"/>
              <a:ext cx="1608772" cy="601980"/>
            </a:xfrm>
            <a:custGeom>
              <a:avLst/>
              <a:gdLst/>
              <a:ahLst/>
              <a:cxnLst/>
              <a:rect l="l" t="t" r="r" b="b"/>
              <a:pathLst>
                <a:path w="1608772" h="601980">
                  <a:moveTo>
                    <a:pt x="803910" y="0"/>
                  </a:moveTo>
                  <a:lnTo>
                    <a:pt x="1608772" y="300990"/>
                  </a:lnTo>
                  <a:lnTo>
                    <a:pt x="803910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65532" y="273367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916478" y="2733675"/>
              <a:ext cx="16087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88370" y="172069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66124" y="22921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12897" y="286369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63842" y="286369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48" name="c2-kv-2"/>
          <p:cNvGrpSpPr/>
          <p:nvPr/>
        </p:nvGrpSpPr>
        <p:grpSpPr>
          <a:xfrm>
            <a:off x="6024562" y="3453765"/>
            <a:ext cx="5634038" cy="1297305"/>
            <a:chOff x="6024562" y="3453765"/>
            <a:chExt cx="5634038" cy="1297305"/>
          </a:xfrm>
        </p:grpSpPr>
        <p:sp>
          <p:nvSpPr>
            <p:cNvPr id="43" name="TextBox 43"/>
            <p:cNvSpPr txBox="1"/>
            <p:nvPr/>
          </p:nvSpPr>
          <p:spPr>
            <a:xfrm>
              <a:off x="6024562" y="3453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选择调用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65645" y="3453765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在调用线的起点画一个菱形，表示 A 按条件在 B、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中选一个调用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4055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24562" y="4175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循环调用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65645" y="4175760"/>
              <a:ext cx="4206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在调用线的起点画一段弧形箭头，表示下属的几个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模块被循环调用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5728335"/>
              <a:ext cx="10006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层次图、HIPO 图、结构图都描绘软件结构，和第二章的系统流程图（物理部件）、数据流图（逻辑模型）以及程序流程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图（模块内部控制流）都不是一回事。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描绘软件结构的图形工具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结构图里的四种模块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7685" y="1524000"/>
            <a:ext cx="6065520" cy="3513297"/>
            <a:chOff x="527685" y="1524000"/>
            <a:chExt cx="6065520" cy="35132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6438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9998" y="17621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21002" y="17621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从哪里取数据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36632" y="17621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把数据送到哪里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89792" y="1655445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传送的数据流叫什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405063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传入模块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29359" y="2405063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从下属模块取得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4794" y="229838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经过处理后送给上级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23116" y="2405063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逻辑输入数据流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60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082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30489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传出模块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29359" y="30489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从上级模块获得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4794" y="294227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经过处理后送给下属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3116" y="30489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逻辑输出数据流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49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369284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变换模块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29359" y="369284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从上级模块取得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04794" y="358616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转换成其它形式后送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回上级模块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23116" y="369284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变换数据流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0928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09765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3357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协调模块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29359" y="433578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不直接加工数据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04794" y="422910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对所有下属模块进行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协调和管理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23116" y="43357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32175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19250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94685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13008" y="1524000"/>
              <a:ext cx="9525" cy="32175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685" y="481726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判断模块类型看数据的来去方向，不看模块名字</a:t>
              </a:r>
            </a:p>
          </p:txBody>
        </p:sp>
      </p:grpSp>
      <p:grpSp>
        <p:nvGrpSpPr>
          <p:cNvPr id="45" name="c1-callout-2"/>
          <p:cNvGrpSpPr/>
          <p:nvPr/>
        </p:nvGrpSpPr>
        <p:grpSpPr>
          <a:xfrm>
            <a:off x="533400" y="5178742"/>
            <a:ext cx="6059805" cy="1018222"/>
            <a:chOff x="533400" y="5178742"/>
            <a:chExt cx="6059805" cy="1018222"/>
          </a:xfrm>
        </p:grpSpPr>
        <p:sp>
          <p:nvSpPr>
            <p:cNvPr id="39" name="Rectangle 39"/>
            <p:cNvSpPr/>
            <p:nvPr/>
          </p:nvSpPr>
          <p:spPr>
            <a:xfrm>
              <a:off x="533400" y="5178742"/>
              <a:ext cx="605980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587365"/>
              <a:ext cx="200026" cy="200026"/>
              <a:chOff x="738188" y="5587365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587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654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6873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5325904"/>
              <a:ext cx="50639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传入、传出都是相对上级模块说的：传入模块把数据往上送，传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出模块把数据往下送，方向弄反就会把结构图的输入端和输出端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读颠倒。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2658428"/>
            <a:chOff x="6898005" y="1524000"/>
            <a:chExt cx="4760595" cy="2658428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2658428"/>
            </a:xfrm>
            <a:prstGeom prst="roundRect">
              <a:avLst>
                <a:gd name="adj" fmla="val 5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23917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99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301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0396" y="176736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原子模块与完全因子分解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32701" y="211978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在系统结构图中，不能再分解的底层模块称为原子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2701" y="2711291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如果一个软件系统的全部实际加工都由原子模块来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完成，而其他所有非原子模块仅仅执行控制或协调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功能，这样的系统就是完全因子分解的系统。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33844" y="3569970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完全因子分解的系统是理想化的，实际设计中都是尽量向这个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目标靠拢，不必强求。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898005" y="4368165"/>
            <a:ext cx="4760595" cy="1828800"/>
            <a:chOff x="6898005" y="4368165"/>
            <a:chExt cx="4760595" cy="1828800"/>
          </a:xfrm>
        </p:grpSpPr>
        <p:sp>
          <p:nvSpPr>
            <p:cNvPr id="55" name="Rectangle 55"/>
            <p:cNvSpPr/>
            <p:nvPr/>
          </p:nvSpPr>
          <p:spPr>
            <a:xfrm>
              <a:off x="6898005" y="4368165"/>
              <a:ext cx="4760595" cy="1828800"/>
            </a:xfrm>
            <a:prstGeom prst="roundRect">
              <a:avLst>
                <a:gd name="adj" fmla="val 625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102793" y="5182553"/>
              <a:ext cx="200026" cy="200025"/>
              <a:chOff x="7102793" y="518255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02793" y="51825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142531" y="52270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77247" y="53381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405116" y="5051584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变换模块管加工，协调模块只管调度，一个模块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如果既加工又调度，通常说明还可以再分。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面向数据流的设计方法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把数据流图按固定套路映射成结构图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变换流与事务流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变换分析的七个步骤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两个完整实例与事务分析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结构化设计的总流程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051320" cy="308039"/>
            <a:chOff x="525399" y="1550194"/>
            <a:chExt cx="905132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0513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面向数据流的设计方法（SD 方法）把信息流映射成软件结构，信息流的类型决定了映射的方法。</a:t>
              </a:r>
            </a:p>
          </p:txBody>
        </p:sp>
      </p:grpSp>
      <p:grpSp>
        <p:nvGrpSpPr>
          <p:cNvPr id="28" name="c1-bullets-1"/>
          <p:cNvGrpSpPr/>
          <p:nvPr/>
        </p:nvGrpSpPr>
        <p:grpSpPr>
          <a:xfrm>
            <a:off x="525780" y="1992630"/>
            <a:ext cx="3554730" cy="2371725"/>
            <a:chOff x="525780" y="1992630"/>
            <a:chExt cx="3554730" cy="2371725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基本过程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3362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34696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研究、分析和审查数据流图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78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720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6917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根据数据流图决定问题的类型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0232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0365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由数据流图推导出系统的初始结构图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3680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3410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33813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根据启发规则对结构进行细化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71284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249" y="3755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4390" y="3726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修改和补充数据字典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405765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5249" y="4099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4390" y="40709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制定测试计划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495800"/>
            <a:ext cx="4544378" cy="1282065"/>
            <a:chOff x="533400" y="4495800"/>
            <a:chExt cx="4544378" cy="1282065"/>
          </a:xfrm>
        </p:grpSpPr>
        <p:sp>
          <p:nvSpPr>
            <p:cNvPr id="29" name="Rectangle 29"/>
            <p:cNvSpPr/>
            <p:nvPr/>
          </p:nvSpPr>
          <p:spPr>
            <a:xfrm>
              <a:off x="533400" y="4495800"/>
              <a:ext cx="4544378" cy="1282065"/>
            </a:xfrm>
            <a:prstGeom prst="roundRect">
              <a:avLst>
                <a:gd name="adj" fmla="val 891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5036820"/>
              <a:ext cx="200026" cy="200025"/>
              <a:chOff x="738188" y="5036820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50368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7926" y="50812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2642" y="51923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130" y="489394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信息流分成变换流和事务流两类，先判类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型，再选映射方法，这是整套方法的主干。</a:t>
              </a:r>
            </a:p>
          </p:txBody>
        </p:sp>
      </p:grpSp>
      <p:grpSp>
        <p:nvGrpSpPr>
          <p:cNvPr id="76" name="c2-flow-1"/>
          <p:cNvGrpSpPr/>
          <p:nvPr/>
        </p:nvGrpSpPr>
        <p:grpSpPr>
          <a:xfrm>
            <a:off x="5529262" y="2020252"/>
            <a:ext cx="5982652" cy="3800475"/>
            <a:chOff x="5529262" y="2020252"/>
            <a:chExt cx="5982652" cy="3800475"/>
          </a:xfrm>
        </p:grpSpPr>
        <p:sp>
          <p:nvSpPr>
            <p:cNvPr id="36" name="Freeform 36"/>
            <p:cNvSpPr/>
            <p:nvPr/>
          </p:nvSpPr>
          <p:spPr>
            <a:xfrm>
              <a:off x="7433310" y="2784158"/>
              <a:ext cx="187643" cy="543877"/>
            </a:xfrm>
            <a:custGeom>
              <a:avLst/>
              <a:gdLst/>
              <a:ahLst/>
              <a:cxnLst/>
              <a:rect l="l" t="t" r="r" b="b"/>
              <a:pathLst>
                <a:path w="187643" h="543877">
                  <a:moveTo>
                    <a:pt x="187643" y="0"/>
                  </a:moveTo>
                  <a:lnTo>
                    <a:pt x="40958" y="0"/>
                  </a:lnTo>
                  <a:lnTo>
                    <a:pt x="40958" y="543877"/>
                  </a:lnTo>
                  <a:lnTo>
                    <a:pt x="0" y="5438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328535" y="3275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9420225" y="2784158"/>
              <a:ext cx="187643" cy="543877"/>
            </a:xfrm>
            <a:custGeom>
              <a:avLst/>
              <a:gdLst/>
              <a:ahLst/>
              <a:cxnLst/>
              <a:rect l="l" t="t" r="r" b="b"/>
              <a:pathLst>
                <a:path w="187643" h="543877">
                  <a:moveTo>
                    <a:pt x="0" y="0"/>
                  </a:moveTo>
                  <a:lnTo>
                    <a:pt x="146685" y="0"/>
                  </a:lnTo>
                  <a:lnTo>
                    <a:pt x="146685" y="543877"/>
                  </a:lnTo>
                  <a:lnTo>
                    <a:pt x="187643" y="5438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607868" y="3275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521065" y="2378392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8001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68678" y="2378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6428422" y="3549015"/>
              <a:ext cx="9525" cy="94297"/>
            </a:xfrm>
            <a:custGeom>
              <a:avLst/>
              <a:gdLst/>
              <a:ahLst/>
              <a:cxnLst/>
              <a:rect l="l" t="t" r="r" b="b"/>
              <a:pathLst>
                <a:path w="9525" h="94297">
                  <a:moveTo>
                    <a:pt x="0" y="942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376035" y="3549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612755" y="3549015"/>
              <a:ext cx="9525" cy="94297"/>
            </a:xfrm>
            <a:custGeom>
              <a:avLst/>
              <a:gdLst/>
              <a:ahLst/>
              <a:cxnLst/>
              <a:rect l="l" t="t" r="r" b="b"/>
              <a:pathLst>
                <a:path w="9525" h="94297">
                  <a:moveTo>
                    <a:pt x="0" y="9429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560368" y="3549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428422" y="3997642"/>
              <a:ext cx="2092643" cy="99060"/>
            </a:xfrm>
            <a:custGeom>
              <a:avLst/>
              <a:gdLst/>
              <a:ahLst/>
              <a:cxnLst/>
              <a:rect l="l" t="t" r="r" b="b"/>
              <a:pathLst>
                <a:path w="2092643" h="99060">
                  <a:moveTo>
                    <a:pt x="0" y="94298"/>
                  </a:moveTo>
                  <a:lnTo>
                    <a:pt x="0" y="99060"/>
                  </a:lnTo>
                  <a:lnTo>
                    <a:pt x="2092643" y="99060"/>
                  </a:lnTo>
                  <a:lnTo>
                    <a:pt x="209264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468678" y="3997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521065" y="3997642"/>
              <a:ext cx="2091690" cy="99060"/>
            </a:xfrm>
            <a:custGeom>
              <a:avLst/>
              <a:gdLst/>
              <a:ahLst/>
              <a:cxnLst/>
              <a:rect l="l" t="t" r="r" b="b"/>
              <a:pathLst>
                <a:path w="2091690" h="99060">
                  <a:moveTo>
                    <a:pt x="2091690" y="94298"/>
                  </a:moveTo>
                  <a:lnTo>
                    <a:pt x="2091690" y="99060"/>
                  </a:lnTo>
                  <a:lnTo>
                    <a:pt x="0" y="9906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468678" y="39976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620952" y="4416742"/>
              <a:ext cx="1694497" cy="543877"/>
            </a:xfrm>
            <a:custGeom>
              <a:avLst/>
              <a:gdLst/>
              <a:ahLst/>
              <a:cxnLst/>
              <a:rect l="l" t="t" r="r" b="b"/>
              <a:pathLst>
                <a:path w="1694497" h="543877">
                  <a:moveTo>
                    <a:pt x="0" y="0"/>
                  </a:moveTo>
                  <a:lnTo>
                    <a:pt x="900112" y="0"/>
                  </a:lnTo>
                  <a:lnTo>
                    <a:pt x="900112" y="543877"/>
                  </a:lnTo>
                  <a:lnTo>
                    <a:pt x="1694497" y="5438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315450" y="49082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620952" y="4960620"/>
              <a:ext cx="1694497" cy="544830"/>
            </a:xfrm>
            <a:custGeom>
              <a:avLst/>
              <a:gdLst/>
              <a:ahLst/>
              <a:cxnLst/>
              <a:rect l="l" t="t" r="r" b="b"/>
              <a:pathLst>
                <a:path w="1694497" h="544830">
                  <a:moveTo>
                    <a:pt x="0" y="0"/>
                  </a:moveTo>
                  <a:lnTo>
                    <a:pt x="900112" y="0"/>
                  </a:lnTo>
                  <a:lnTo>
                    <a:pt x="900112" y="544830"/>
                  </a:lnTo>
                  <a:lnTo>
                    <a:pt x="1694497" y="5448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315450" y="54530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20952" y="2020252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620952" y="2483168"/>
              <a:ext cx="1799272" cy="601028"/>
            </a:xfrm>
            <a:custGeom>
              <a:avLst/>
              <a:gdLst/>
              <a:ahLst/>
              <a:cxnLst/>
              <a:rect l="l" t="t" r="r" b="b"/>
              <a:pathLst>
                <a:path w="1799272" h="601028">
                  <a:moveTo>
                    <a:pt x="900112" y="0"/>
                  </a:moveTo>
                  <a:lnTo>
                    <a:pt x="1799272" y="300990"/>
                  </a:lnTo>
                  <a:lnTo>
                    <a:pt x="900112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29262" y="3013710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12642" y="3013710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29262" y="365379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712642" y="365379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20952" y="4102418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952" y="4646295"/>
              <a:ext cx="17992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952" y="5191125"/>
              <a:ext cx="1799272" cy="629602"/>
            </a:xfrm>
            <a:prstGeom prst="roundRect">
              <a:avLst>
                <a:gd name="adj" fmla="val 4992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97647" y="21502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精化数据流图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56118" y="26950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流类型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71706" y="312943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区分事务中心和接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收通路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56038" y="312943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区分输入和输出分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818848" y="37838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映射成事务结构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03180" y="37838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映射成变换结构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64348" y="421814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用启发规则精化软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件结构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64348" y="476297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导出接口描述和全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程数据结构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64348" y="530685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复查后进入详细设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02842" y="296418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26084" y="29908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事务流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595485" y="2964180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618726" y="29908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变换流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54262" cy="909257"/>
            <a:chOff x="520446" y="342900"/>
            <a:chExt cx="2854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变换流与事务流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66850"/>
            <a:chOff x="533400" y="1524000"/>
            <a:chExt cx="5410200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变换流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信息沿输入通路进入系统，同时由外部形式变换成内部形式；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进入系统的信息通过变换中心，经加工处理以后再沿输出通路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变换成外部形式离开软件系统。</a:t>
              </a:r>
            </a:p>
          </p:txBody>
        </p:sp>
      </p:grpSp>
      <p:grpSp>
        <p:nvGrpSpPr>
          <p:cNvPr id="28" name="c1-graph-2"/>
          <p:cNvGrpSpPr/>
          <p:nvPr/>
        </p:nvGrpSpPr>
        <p:grpSpPr>
          <a:xfrm>
            <a:off x="760095" y="3287554"/>
            <a:ext cx="4956809" cy="786765"/>
            <a:chOff x="760095" y="3287554"/>
            <a:chExt cx="4956809" cy="786765"/>
          </a:xfrm>
        </p:grpSpPr>
        <p:sp>
          <p:nvSpPr>
            <p:cNvPr id="13" name="Freeform 13"/>
            <p:cNvSpPr/>
            <p:nvPr/>
          </p:nvSpPr>
          <p:spPr>
            <a:xfrm>
              <a:off x="1713548" y="39243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66048" y="3876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15702" y="39243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68202" y="3876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0095" y="3773805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61298" y="3773805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63452" y="3773805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9081" y="38542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外部表示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31236" y="38542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变换中心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3391" y="38542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外部表示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27872" y="3838575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050923" y="387000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输入流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30028" y="3838575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53078" y="387000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输出流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9692" y="32875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内部表示</a:t>
              </a:r>
            </a:p>
          </p:txBody>
        </p:sp>
      </p:grpSp>
      <p:grpSp>
        <p:nvGrpSpPr>
          <p:cNvPr id="30" name="c1-text-3"/>
          <p:cNvGrpSpPr/>
          <p:nvPr/>
        </p:nvGrpSpPr>
        <p:grpSpPr>
          <a:xfrm>
            <a:off x="527685" y="4876324"/>
            <a:ext cx="4989830" cy="441008"/>
            <a:chOff x="527685" y="4876324"/>
            <a:chExt cx="4989830" cy="441008"/>
          </a:xfrm>
        </p:grpSpPr>
        <p:sp>
          <p:nvSpPr>
            <p:cNvPr id="29" name="TextBox 29"/>
            <p:cNvSpPr txBox="1"/>
            <p:nvPr/>
          </p:nvSpPr>
          <p:spPr>
            <a:xfrm>
              <a:off x="527685" y="4876324"/>
              <a:ext cx="49898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变换型系统结构图由输入、变换中心和输出三部分组成，对应取得数据、变换数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据、给出数据三步。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117408"/>
            <a:chOff x="6248400" y="1524000"/>
            <a:chExt cx="5410200" cy="2117408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117408"/>
            </a:xfrm>
            <a:prstGeom prst="roundRect">
              <a:avLst>
                <a:gd name="adj" fmla="val 62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8507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63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事务流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2072640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数据沿输入通路到达处理 T，T 根据输入数据的类型在若干动作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序列中选一个执行。这类信息流称为事务流，T 称为事务中心。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8905" y="26203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4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9702" y="2632710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接收输入数据（又称事务 transaction）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8905" y="292322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4583" y="2961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9702" y="29356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分析每个事务以确定它的类型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8905" y="32251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4583" y="3264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9702" y="323754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根据事务类型选取一条活动通路</a:t>
              </a:r>
            </a:p>
          </p:txBody>
        </p:sp>
      </p:grpSp>
      <p:grpSp>
        <p:nvGrpSpPr>
          <p:cNvPr id="65" name="c2-graph-2"/>
          <p:cNvGrpSpPr/>
          <p:nvPr/>
        </p:nvGrpSpPr>
        <p:grpSpPr>
          <a:xfrm>
            <a:off x="6468428" y="3943350"/>
            <a:ext cx="4606290" cy="1553241"/>
            <a:chOff x="6468428" y="3943350"/>
            <a:chExt cx="4606290" cy="1553241"/>
          </a:xfrm>
        </p:grpSpPr>
        <p:sp>
          <p:nvSpPr>
            <p:cNvPr id="46" name="Freeform 46"/>
            <p:cNvSpPr/>
            <p:nvPr/>
          </p:nvSpPr>
          <p:spPr>
            <a:xfrm>
              <a:off x="7110412" y="4682490"/>
              <a:ext cx="841057" cy="9525"/>
            </a:xfrm>
            <a:custGeom>
              <a:avLst/>
              <a:gdLst/>
              <a:ahLst/>
              <a:cxnLst/>
              <a:rect l="l" t="t" r="r" b="b"/>
              <a:pathLst>
                <a:path w="841057" h="9525">
                  <a:moveTo>
                    <a:pt x="0" y="0"/>
                  </a:moveTo>
                  <a:lnTo>
                    <a:pt x="8410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951470" y="46348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553450" y="4212908"/>
              <a:ext cx="1648777" cy="408622"/>
            </a:xfrm>
            <a:custGeom>
              <a:avLst/>
              <a:gdLst/>
              <a:ahLst/>
              <a:cxnLst/>
              <a:rect l="l" t="t" r="r" b="b"/>
              <a:pathLst>
                <a:path w="1648777" h="408622">
                  <a:moveTo>
                    <a:pt x="0" y="408622"/>
                  </a:moveTo>
                  <a:lnTo>
                    <a:pt x="16487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90798" y="4166235"/>
              <a:ext cx="103822" cy="93345"/>
            </a:xfrm>
            <a:custGeom>
              <a:avLst/>
              <a:gdLst/>
              <a:ahLst/>
              <a:cxnLst/>
              <a:rect l="l" t="t" r="r" b="b"/>
              <a:pathLst>
                <a:path w="103822" h="93345">
                  <a:moveTo>
                    <a:pt x="103822" y="23812"/>
                  </a:moveTo>
                  <a:lnTo>
                    <a:pt x="2286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561070" y="468249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0199370" y="46348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553450" y="4744402"/>
              <a:ext cx="1648777" cy="408622"/>
            </a:xfrm>
            <a:custGeom>
              <a:avLst/>
              <a:gdLst/>
              <a:ahLst/>
              <a:cxnLst/>
              <a:rect l="l" t="t" r="r" b="b"/>
              <a:pathLst>
                <a:path w="1648777" h="408622">
                  <a:moveTo>
                    <a:pt x="0" y="0"/>
                  </a:moveTo>
                  <a:lnTo>
                    <a:pt x="1648777" y="4086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0190798" y="5106352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9532"/>
                  </a:moveTo>
                  <a:lnTo>
                    <a:pt x="0" y="9239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8428" y="4532948"/>
              <a:ext cx="64103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056245" y="443484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294620" y="3943350"/>
              <a:ext cx="78009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94620" y="4532948"/>
              <a:ext cx="78009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94620" y="5122545"/>
              <a:ext cx="780098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32931" y="46124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52180" y="46124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61373" y="402383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通路 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61373" y="4612481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通路 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61373" y="520207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通路 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35087" y="53059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事务中心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82100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数据流图上"一进一出一条主线"是变换流；出现一个处理把数据分派到几条互斥的通路，就是事务流。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变换分析的七个步骤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steps-1"/>
          <p:cNvGrpSpPr/>
          <p:nvPr/>
        </p:nvGrpSpPr>
        <p:grpSpPr>
          <a:xfrm>
            <a:off x="533400" y="1533525"/>
            <a:ext cx="5422671" cy="4481798"/>
            <a:chOff x="533400" y="1533525"/>
            <a:chExt cx="5422671" cy="44817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39042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7872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861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4378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5116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1567815"/>
              <a:ext cx="248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　复查基本系统模型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确保系统的输入数据和输出数据符合实际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2218372"/>
              <a:ext cx="2682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　复查并精化数据流图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25122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使每个处理都代表一个规模适中、相对独立的子功能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2868930"/>
              <a:ext cx="1874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　确定流类型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316277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按占优势的属性确定全局特性，并把特点不同的局部区域孤立出来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880" y="3520440"/>
              <a:ext cx="3288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　确定输入流和输出流的边界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023" y="3813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从而孤立出变换中心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880" y="4170998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步　完成第一级分解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023" y="4463891"/>
              <a:ext cx="2829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分出 Cm、Ca、Ct、Ce 四个控制模块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821555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步　完成第二级分解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511540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把数据流图中每个处理映射成一个适当的模块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880" y="5472112"/>
              <a:ext cx="1268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步　精化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023" y="576595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用设计度量和启发规则对第一次分割的结果再分解或合并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680835" y="1524000"/>
            <a:ext cx="4977765" cy="1316355"/>
            <a:chOff x="6680835" y="1524000"/>
            <a:chExt cx="4977765" cy="1316355"/>
          </a:xfrm>
        </p:grpSpPr>
        <p:sp>
          <p:nvSpPr>
            <p:cNvPr id="37" name="Rectangle 37"/>
            <p:cNvSpPr/>
            <p:nvPr/>
          </p:nvSpPr>
          <p:spPr>
            <a:xfrm>
              <a:off x="6680835" y="1524000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90360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2848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1079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变换分析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0865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把具有变换流特点的数据流图，按预先确定的模式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映射成软件结构的一系列步骤的总称。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680835" y="3030855"/>
            <a:ext cx="4977765" cy="2055495"/>
            <a:chOff x="6680835" y="3030855"/>
            <a:chExt cx="4977765" cy="2055495"/>
          </a:xfrm>
        </p:grpSpPr>
        <p:sp>
          <p:nvSpPr>
            <p:cNvPr id="43" name="Rectangle 43"/>
            <p:cNvSpPr/>
            <p:nvPr/>
          </p:nvSpPr>
          <p:spPr>
            <a:xfrm>
              <a:off x="6680835" y="3030855"/>
              <a:ext cx="4977765" cy="205549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3164205"/>
              <a:ext cx="47625" cy="1788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8485" y="3240405"/>
              <a:ext cx="66579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4341" y="327612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6 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00962" y="32756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每个模块的简要说明写什么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28485" y="362331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0334" y="36656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9475" y="363664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进出该模块的信息，也就是接口描述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928485" y="395859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0334" y="40008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29475" y="3971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模块内部的信息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928485" y="42938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90334" y="43361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29475" y="43072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过程陈述，包括主要判定点及任务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28485" y="462915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90334" y="46714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29475" y="46424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对约束和特殊特点的简短讨论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680835" y="5276850"/>
            <a:ext cx="4977765" cy="782955"/>
            <a:chOff x="6680835" y="5276850"/>
            <a:chExt cx="4977765" cy="782955"/>
          </a:xfrm>
        </p:grpSpPr>
        <p:sp>
          <p:nvSpPr>
            <p:cNvPr id="61" name="Rectangle 61"/>
            <p:cNvSpPr/>
            <p:nvPr/>
          </p:nvSpPr>
          <p:spPr>
            <a:xfrm>
              <a:off x="6680835" y="527685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885623" y="5568315"/>
              <a:ext cx="200026" cy="200025"/>
              <a:chOff x="6885623" y="556831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885623" y="55683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925361" y="56127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60077" y="57238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87565" y="5425440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前四步都在看图和划线，从第 5 步才开始画结构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第一级分解：分解就是分配控制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ree-1"/>
          <p:cNvGrpSpPr/>
          <p:nvPr/>
        </p:nvGrpSpPr>
        <p:grpSpPr>
          <a:xfrm>
            <a:off x="869632" y="1610678"/>
            <a:ext cx="4305300" cy="2192654"/>
            <a:chOff x="869632" y="1610678"/>
            <a:chExt cx="4305300" cy="2192654"/>
          </a:xfrm>
        </p:grpSpPr>
        <p:sp>
          <p:nvSpPr>
            <p:cNvPr id="7" name="Freeform 7"/>
            <p:cNvSpPr/>
            <p:nvPr/>
          </p:nvSpPr>
          <p:spPr>
            <a:xfrm>
              <a:off x="1363028" y="2119312"/>
              <a:ext cx="1659255" cy="1190625"/>
            </a:xfrm>
            <a:custGeom>
              <a:avLst/>
              <a:gdLst/>
              <a:ahLst/>
              <a:cxnLst/>
              <a:rect l="l" t="t" r="r" b="b"/>
              <a:pathLst>
                <a:path w="1659255" h="1190625">
                  <a:moveTo>
                    <a:pt x="1659255" y="0"/>
                  </a:moveTo>
                  <a:lnTo>
                    <a:pt x="0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22282" y="2119312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2119312"/>
              <a:ext cx="1659255" cy="1190625"/>
            </a:xfrm>
            <a:custGeom>
              <a:avLst/>
              <a:gdLst/>
              <a:ahLst/>
              <a:cxnLst/>
              <a:rect l="l" t="t" r="r" b="b"/>
              <a:pathLst>
                <a:path w="1659255" h="1190625">
                  <a:moveTo>
                    <a:pt x="0" y="0"/>
                  </a:moveTo>
                  <a:lnTo>
                    <a:pt x="1659255" y="11906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69632" y="2816542"/>
              <a:ext cx="986790" cy="986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528888" y="2816542"/>
              <a:ext cx="986790" cy="986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188142" y="2816542"/>
              <a:ext cx="986790" cy="986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513648" y="1610678"/>
              <a:ext cx="1017270" cy="10172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1748" y="3235642"/>
              <a:ext cx="902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 输入控制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71003" y="3235642"/>
              <a:ext cx="902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 变换控制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30258" y="3235642"/>
              <a:ext cx="902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 输出控制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53561" y="2045018"/>
              <a:ext cx="9374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Cm 主控模块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095750"/>
            <a:ext cx="4977765" cy="1697355"/>
            <a:chOff x="533400" y="4095750"/>
            <a:chExt cx="4977765" cy="1697355"/>
          </a:xfrm>
        </p:grpSpPr>
        <p:sp>
          <p:nvSpPr>
            <p:cNvPr id="19" name="Rectangle 19"/>
            <p:cNvSpPr/>
            <p:nvPr/>
          </p:nvSpPr>
          <p:spPr>
            <a:xfrm>
              <a:off x="533400" y="4095750"/>
              <a:ext cx="4977765" cy="1697355"/>
            </a:xfrm>
            <a:prstGeom prst="roundRect">
              <a:avLst>
                <a:gd name="adj" fmla="val 673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844415"/>
              <a:ext cx="200026" cy="200026"/>
              <a:chOff x="738188" y="484441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8444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9110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49444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701540"/>
              <a:ext cx="3863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课件的图上把这四个模块记作 Mc、Ma、Mt、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Me，含义完全一样。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5808345" y="1548765"/>
            <a:ext cx="5850255" cy="1613535"/>
            <a:chOff x="5808345" y="1548765"/>
            <a:chExt cx="5850255" cy="1613535"/>
          </a:xfrm>
        </p:grpSpPr>
        <p:sp>
          <p:nvSpPr>
            <p:cNvPr id="26" name="TextBox 26"/>
            <p:cNvSpPr txBox="1"/>
            <p:nvPr/>
          </p:nvSpPr>
          <p:spPr>
            <a:xfrm>
              <a:off x="5808345" y="1548765"/>
              <a:ext cx="2986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26505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协调下述从属的控制功能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18688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8345" y="1988820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26505" y="19888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输入信息处理控制模块，协调对所有输入数据的接收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3088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08345" y="2428875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26505" y="242887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变换中心控制模块，管理对内部形式的数据的所有操作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748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8345" y="2868930"/>
              <a:ext cx="25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26505" y="286893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输出信息处理控制模块，协调输出信息的产生过程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815965" y="3293745"/>
            <a:ext cx="5842635" cy="1249680"/>
            <a:chOff x="5815965" y="3293745"/>
            <a:chExt cx="5842635" cy="1249680"/>
          </a:xfrm>
        </p:grpSpPr>
        <p:sp>
          <p:nvSpPr>
            <p:cNvPr id="38" name="Rectangle 38"/>
            <p:cNvSpPr/>
            <p:nvPr/>
          </p:nvSpPr>
          <p:spPr>
            <a:xfrm>
              <a:off x="5815965" y="3293745"/>
              <a:ext cx="5842635" cy="1249680"/>
            </a:xfrm>
            <a:prstGeom prst="roundRect">
              <a:avLst>
                <a:gd name="adj" fmla="val 106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17895" y="3528060"/>
              <a:ext cx="51777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第一级分解只决定"谁管谁"，不决定每个模块具体做哪一步加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工。主控模块和三个下属模块之间传递的，正是逻辑输入、变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换后的数据和逻辑输出。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5815965" y="4733925"/>
            <a:ext cx="5842635" cy="1059180"/>
            <a:chOff x="5815965" y="4733925"/>
            <a:chExt cx="5842635" cy="1059180"/>
          </a:xfrm>
        </p:grpSpPr>
        <p:sp>
          <p:nvSpPr>
            <p:cNvPr id="41" name="Rectangle 41"/>
            <p:cNvSpPr/>
            <p:nvPr/>
          </p:nvSpPr>
          <p:spPr>
            <a:xfrm>
              <a:off x="5815965" y="4733925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20753" y="5163503"/>
              <a:ext cx="200026" cy="200025"/>
              <a:chOff x="6020753" y="516350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020753" y="51635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060491" y="52079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095207" y="53190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322695" y="4882515"/>
              <a:ext cx="4777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三个控制模块各管一段信息流，输入、加工、输出就可以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分头精化，互相不牵扯，这也是结构图里协调模块的用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第二级分解：每个处理映射成一个模块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542" y="1545907"/>
            <a:ext cx="4587621" cy="1978533"/>
            <a:chOff x="526542" y="1545907"/>
            <a:chExt cx="4587621" cy="19785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映射方向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535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907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4197" y="1865947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从变换中心的边界开始沿输入通路向外移动，把每个处理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映射成 Ca 控制下的一个低层模块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42220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9078" y="24605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4197" y="243459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再沿输出通路向外移动，把每个处理映射成直接或间接受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 控制的一个低层模块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99085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078" y="30292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3003232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最后把变换中心内的每个处理映射成受 Ct 控制的一个模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646170"/>
            <a:ext cx="4760595" cy="729615"/>
            <a:chOff x="533400" y="3646170"/>
            <a:chExt cx="4760595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364617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3910965"/>
              <a:ext cx="200026" cy="200025"/>
              <a:chOff x="738188" y="391096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3910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3955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066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3791902"/>
              <a:ext cx="3811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映射出来的只是初稿，接着用第 7 步的启发规则做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再分解或合并。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550092"/>
            <a:ext cx="4760595" cy="1724025"/>
            <a:chOff x="533400" y="4550092"/>
            <a:chExt cx="4760595" cy="1724025"/>
          </a:xfrm>
        </p:grpSpPr>
        <p:sp>
          <p:nvSpPr>
            <p:cNvPr id="25" name="Rectangle 25"/>
            <p:cNvSpPr/>
            <p:nvPr/>
          </p:nvSpPr>
          <p:spPr>
            <a:xfrm>
              <a:off x="533400" y="4550092"/>
              <a:ext cx="4760595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683442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74249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9343" y="477678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走完七步之后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099685"/>
              <a:ext cx="41285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七个步骤给出的是软件的整体表示。结构一旦定下来，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就能作为一个整体来复查、评价和精化；在这个阶段改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结构只需要很少的附加工作，却会明显影响后期的可维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护性。</a:t>
              </a:r>
            </a:p>
          </p:txBody>
        </p:sp>
      </p:grpSp>
      <p:grpSp>
        <p:nvGrpSpPr>
          <p:cNvPr id="57" name="c2-tree-1"/>
          <p:cNvGrpSpPr/>
          <p:nvPr/>
        </p:nvGrpSpPr>
        <p:grpSpPr>
          <a:xfrm>
            <a:off x="5949315" y="1666875"/>
            <a:ext cx="5323523" cy="4024312"/>
            <a:chOff x="5949315" y="1666875"/>
            <a:chExt cx="5323523" cy="4024312"/>
          </a:xfrm>
        </p:grpSpPr>
        <p:sp>
          <p:nvSpPr>
            <p:cNvPr id="31" name="Freeform 31"/>
            <p:cNvSpPr/>
            <p:nvPr/>
          </p:nvSpPr>
          <p:spPr>
            <a:xfrm>
              <a:off x="6205538" y="4317682"/>
              <a:ext cx="605790" cy="1117282"/>
            </a:xfrm>
            <a:custGeom>
              <a:avLst/>
              <a:gdLst/>
              <a:ahLst/>
              <a:cxnLst/>
              <a:rect l="l" t="t" r="r" b="b"/>
              <a:pathLst>
                <a:path w="605790" h="1117282">
                  <a:moveTo>
                    <a:pt x="605790" y="0"/>
                  </a:moveTo>
                  <a:lnTo>
                    <a:pt x="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11328" y="4317682"/>
              <a:ext cx="605790" cy="1117282"/>
            </a:xfrm>
            <a:custGeom>
              <a:avLst/>
              <a:gdLst/>
              <a:ahLst/>
              <a:cxnLst/>
              <a:rect l="l" t="t" r="r" b="b"/>
              <a:pathLst>
                <a:path w="605790" h="1117282">
                  <a:moveTo>
                    <a:pt x="0" y="0"/>
                  </a:moveTo>
                  <a:lnTo>
                    <a:pt x="60579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11328" y="3200400"/>
              <a:ext cx="605790" cy="1117282"/>
            </a:xfrm>
            <a:custGeom>
              <a:avLst/>
              <a:gdLst/>
              <a:ahLst/>
              <a:cxnLst/>
              <a:rect l="l" t="t" r="r" b="b"/>
              <a:pathLst>
                <a:path w="605790" h="1117282">
                  <a:moveTo>
                    <a:pt x="605790" y="0"/>
                  </a:moveTo>
                  <a:lnTo>
                    <a:pt x="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417118" y="3200400"/>
              <a:ext cx="1211580" cy="1117282"/>
            </a:xfrm>
            <a:custGeom>
              <a:avLst/>
              <a:gdLst/>
              <a:ahLst/>
              <a:cxnLst/>
              <a:rect l="l" t="t" r="r" b="b"/>
              <a:pathLst>
                <a:path w="1211580" h="1117282">
                  <a:moveTo>
                    <a:pt x="0" y="0"/>
                  </a:moveTo>
                  <a:lnTo>
                    <a:pt x="121158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41230" y="3200400"/>
              <a:ext cx="605790" cy="1117282"/>
            </a:xfrm>
            <a:custGeom>
              <a:avLst/>
              <a:gdLst/>
              <a:ahLst/>
              <a:cxnLst/>
              <a:rect l="l" t="t" r="r" b="b"/>
              <a:pathLst>
                <a:path w="605790" h="1117282">
                  <a:moveTo>
                    <a:pt x="605790" y="0"/>
                  </a:moveTo>
                  <a:lnTo>
                    <a:pt x="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447020" y="3200400"/>
              <a:ext cx="605790" cy="1117282"/>
            </a:xfrm>
            <a:custGeom>
              <a:avLst/>
              <a:gdLst/>
              <a:ahLst/>
              <a:cxnLst/>
              <a:rect l="l" t="t" r="r" b="b"/>
              <a:pathLst>
                <a:path w="605790" h="1117282">
                  <a:moveTo>
                    <a:pt x="0" y="0"/>
                  </a:moveTo>
                  <a:lnTo>
                    <a:pt x="60579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417118" y="2083118"/>
              <a:ext cx="1211580" cy="1117282"/>
            </a:xfrm>
            <a:custGeom>
              <a:avLst/>
              <a:gdLst/>
              <a:ahLst/>
              <a:cxnLst/>
              <a:rect l="l" t="t" r="r" b="b"/>
              <a:pathLst>
                <a:path w="1211580" h="1117282">
                  <a:moveTo>
                    <a:pt x="1211580" y="0"/>
                  </a:moveTo>
                  <a:lnTo>
                    <a:pt x="0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628698" y="2083118"/>
              <a:ext cx="1818322" cy="1117282"/>
            </a:xfrm>
            <a:custGeom>
              <a:avLst/>
              <a:gdLst/>
              <a:ahLst/>
              <a:cxnLst/>
              <a:rect l="l" t="t" r="r" b="b"/>
              <a:pathLst>
                <a:path w="1818322" h="1117282">
                  <a:moveTo>
                    <a:pt x="0" y="0"/>
                  </a:moveTo>
                  <a:lnTo>
                    <a:pt x="1818322" y="111728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949315" y="5178742"/>
              <a:ext cx="512445" cy="5124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197090" y="5214938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591300" y="4097655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408670" y="4097655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197090" y="2980372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585008" y="4061460"/>
              <a:ext cx="512445" cy="5124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832783" y="4097655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226992" y="2980372"/>
              <a:ext cx="440055" cy="4400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212455" y="1666875"/>
              <a:ext cx="832485" cy="83248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05801" y="5373529"/>
              <a:ext cx="399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55476" y="5373529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AtoB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49686" y="4256246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7056" y="4256246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BtoC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55476" y="3138964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1494" y="4256246"/>
              <a:ext cx="399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91168" y="4256246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DtoE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85378" y="3138964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60178" y="2021681"/>
              <a:ext cx="737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 输入控制</a:t>
              </a:r>
            </a:p>
          </p:txBody>
        </p:sp>
      </p:grpSp>
      <p:grpSp>
        <p:nvGrpSpPr>
          <p:cNvPr id="59" name="c2-text-2"/>
          <p:cNvGrpSpPr/>
          <p:nvPr/>
        </p:nvGrpSpPr>
        <p:grpSpPr>
          <a:xfrm>
            <a:off x="5974630" y="6186964"/>
            <a:ext cx="5308135" cy="220028"/>
            <a:chOff x="5974630" y="6186964"/>
            <a:chExt cx="5308135" cy="220028"/>
          </a:xfrm>
        </p:grpSpPr>
        <p:sp>
          <p:nvSpPr>
            <p:cNvPr id="58" name="TextBox 58"/>
            <p:cNvSpPr txBox="1"/>
            <p:nvPr/>
          </p:nvSpPr>
          <p:spPr>
            <a:xfrm>
              <a:off x="5974630" y="6186964"/>
              <a:ext cx="5308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输入通路 a → A → b → B → c 映射成的一串模块，取数据和转换格式各占一个模块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实例一：汽车数字仪表板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card-1"/>
          <p:cNvGrpSpPr/>
          <p:nvPr/>
        </p:nvGrpSpPr>
        <p:grpSpPr>
          <a:xfrm>
            <a:off x="533400" y="1524000"/>
            <a:ext cx="4760595" cy="2943225"/>
            <a:chOff x="533400" y="1524000"/>
            <a:chExt cx="4760595" cy="2943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943225"/>
            </a:xfrm>
            <a:prstGeom prst="roundRect">
              <a:avLst>
                <a:gd name="adj" fmla="val 4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76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系统要求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通过模数转换实现传感器和微处理机接口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在发光二极管面板上显示数据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278130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指示每小时英里数 mph、行驶的里程、每加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仑油行驶的英里数 mpg 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889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4023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指示加速或减速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372427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37665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373761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超速警告：车速超过 55 英里每小时时发出超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速警告铃声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657725"/>
            <a:ext cx="4760595" cy="782955"/>
            <a:chOff x="533400" y="4657725"/>
            <a:chExt cx="476059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5772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949190"/>
              <a:ext cx="200026" cy="200026"/>
              <a:chOff x="738188" y="494919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9491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0158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0492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80631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需求分析阶段要对每条要求做全面分析评价，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建立必要的文档资料，特别是数据流图。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6018848" y="1478280"/>
            <a:ext cx="5203507" cy="2867977"/>
            <a:chOff x="6018848" y="1478280"/>
            <a:chExt cx="5203507" cy="2867977"/>
          </a:xfrm>
        </p:grpSpPr>
        <p:sp>
          <p:nvSpPr>
            <p:cNvPr id="34" name="Freeform 34"/>
            <p:cNvSpPr/>
            <p:nvPr/>
          </p:nvSpPr>
          <p:spPr>
            <a:xfrm>
              <a:off x="6885622" y="1924050"/>
              <a:ext cx="724853" cy="9525"/>
            </a:xfrm>
            <a:custGeom>
              <a:avLst/>
              <a:gdLst/>
              <a:ahLst/>
              <a:cxnLst/>
              <a:rect l="l" t="t" r="r" b="b"/>
              <a:pathLst>
                <a:path w="724853" h="9525">
                  <a:moveTo>
                    <a:pt x="0" y="0"/>
                  </a:moveTo>
                  <a:lnTo>
                    <a:pt x="7248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10475" y="1876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582025" y="1924050"/>
              <a:ext cx="707707" cy="9525"/>
            </a:xfrm>
            <a:custGeom>
              <a:avLst/>
              <a:gdLst/>
              <a:ahLst/>
              <a:cxnLst/>
              <a:rect l="l" t="t" r="r" b="b"/>
              <a:pathLst>
                <a:path w="707707" h="9525">
                  <a:moveTo>
                    <a:pt x="0" y="0"/>
                  </a:moveTo>
                  <a:lnTo>
                    <a:pt x="7077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289732" y="18764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998268" y="2218372"/>
              <a:ext cx="495300" cy="421005"/>
            </a:xfrm>
            <a:custGeom>
              <a:avLst/>
              <a:gdLst/>
              <a:ahLst/>
              <a:cxnLst/>
              <a:rect l="l" t="t" r="r" b="b"/>
              <a:pathLst>
                <a:path w="495300" h="421005">
                  <a:moveTo>
                    <a:pt x="495300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924925" y="260318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0" y="98108"/>
                  </a:moveTo>
                  <a:lnTo>
                    <a:pt x="41910" y="0"/>
                  </a:lnTo>
                  <a:lnTo>
                    <a:pt x="103822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757988" y="3981450"/>
              <a:ext cx="795338" cy="9525"/>
            </a:xfrm>
            <a:custGeom>
              <a:avLst/>
              <a:gdLst/>
              <a:ahLst/>
              <a:cxnLst/>
              <a:rect l="l" t="t" r="r" b="b"/>
              <a:pathLst>
                <a:path w="795338" h="9525">
                  <a:moveTo>
                    <a:pt x="0" y="0"/>
                  </a:moveTo>
                  <a:lnTo>
                    <a:pt x="7953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553325" y="3933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213408" y="3369945"/>
              <a:ext cx="169545" cy="288608"/>
            </a:xfrm>
            <a:custGeom>
              <a:avLst/>
              <a:gdLst/>
              <a:ahLst/>
              <a:cxnLst/>
              <a:rect l="l" t="t" r="r" b="b"/>
              <a:pathLst>
                <a:path w="169545" h="288608">
                  <a:moveTo>
                    <a:pt x="0" y="288608"/>
                  </a:moveTo>
                  <a:lnTo>
                    <a:pt x="1695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341995" y="3288030"/>
              <a:ext cx="89535" cy="105728"/>
            </a:xfrm>
            <a:custGeom>
              <a:avLst/>
              <a:gdLst/>
              <a:ahLst/>
              <a:cxnLst/>
              <a:rect l="l" t="t" r="r" b="b"/>
              <a:pathLst>
                <a:path w="89535" h="105728">
                  <a:moveTo>
                    <a:pt x="89535" y="0"/>
                  </a:moveTo>
                  <a:lnTo>
                    <a:pt x="81915" y="105728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016365" y="2834640"/>
              <a:ext cx="1036320" cy="85725"/>
            </a:xfrm>
            <a:custGeom>
              <a:avLst/>
              <a:gdLst/>
              <a:ahLst/>
              <a:cxnLst/>
              <a:rect l="l" t="t" r="r" b="b"/>
              <a:pathLst>
                <a:path w="1036320" h="85725">
                  <a:moveTo>
                    <a:pt x="0" y="85725"/>
                  </a:moveTo>
                  <a:lnTo>
                    <a:pt x="10363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048875" y="2787015"/>
              <a:ext cx="99060" cy="94297"/>
            </a:xfrm>
            <a:custGeom>
              <a:avLst/>
              <a:gdLst/>
              <a:ahLst/>
              <a:cxnLst/>
              <a:rect l="l" t="t" r="r" b="b"/>
              <a:pathLst>
                <a:path w="99060" h="94297">
                  <a:moveTo>
                    <a:pt x="99060" y="39052"/>
                  </a:moveTo>
                  <a:lnTo>
                    <a:pt x="8573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980170" y="3118485"/>
              <a:ext cx="1043940" cy="492443"/>
            </a:xfrm>
            <a:custGeom>
              <a:avLst/>
              <a:gdLst/>
              <a:ahLst/>
              <a:cxnLst/>
              <a:rect l="l" t="t" r="r" b="b"/>
              <a:pathLst>
                <a:path w="1043940" h="492443">
                  <a:moveTo>
                    <a:pt x="0" y="0"/>
                  </a:moveTo>
                  <a:lnTo>
                    <a:pt x="1043940" y="4924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004108" y="356806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3820"/>
                  </a:moveTo>
                  <a:lnTo>
                    <a:pt x="0" y="85725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018848" y="1495425"/>
              <a:ext cx="857250" cy="8572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15250" y="1495425"/>
              <a:ext cx="857250" cy="8572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395460" y="1478280"/>
              <a:ext cx="891540" cy="8915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024562" y="36195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658100" y="3616642"/>
              <a:ext cx="729615" cy="7296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249602" y="2573655"/>
              <a:ext cx="758190" cy="75819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155555" y="22479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085070" y="34480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88761" y="18583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读旋转信号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85164" y="18583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收集求平均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64320" y="1858328"/>
              <a:ext cx="753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 rpm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98477" y="39157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读和校核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731514" y="391572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gph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22463" y="2887028"/>
              <a:ext cx="612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mph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03158" y="336661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变换中心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19106" y="2715578"/>
              <a:ext cx="939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mph 显示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58984" y="3744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发出铃声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71372" y="1845945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00317" y="187499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sps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075420" y="2381250"/>
              <a:ext cx="26860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102851" y="241030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rpm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009448" y="390334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33412" y="393239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燃料流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198168" y="3394710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26160" y="342376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gph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447848" y="2794635"/>
              <a:ext cx="26860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75278" y="2824639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mph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351645" y="3306128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75610" y="333613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超速值</a:t>
              </a:r>
            </a:p>
          </p:txBody>
        </p:sp>
      </p:grpSp>
      <p:grpSp>
        <p:nvGrpSpPr>
          <p:cNvPr id="79" name="c2-text-2"/>
          <p:cNvGrpSpPr/>
          <p:nvPr/>
        </p:nvGrpSpPr>
        <p:grpSpPr>
          <a:xfrm>
            <a:off x="5592318" y="4593431"/>
            <a:ext cx="5808218" cy="752284"/>
            <a:chOff x="5592318" y="4593431"/>
            <a:chExt cx="5808218" cy="752284"/>
          </a:xfrm>
        </p:grpSpPr>
        <p:sp>
          <p:nvSpPr>
            <p:cNvPr id="78" name="TextBox 78"/>
            <p:cNvSpPr txBox="1"/>
            <p:nvPr/>
          </p:nvSpPr>
          <p:spPr>
            <a:xfrm>
              <a:off x="5592318" y="4593431"/>
              <a:ext cx="5808218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图中只画出与 mph 和超速警告有关的一条通路，里程、mpg、加速与减速三条通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路的画法相同。"计算 mph"同时算出超速值。输入通路止于 rpm 和 gph，输出通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路从 mph 显示和铃声开始。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实例一：映射出来的软件结构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43659" cy="308039"/>
            <a:chOff x="525399" y="1550194"/>
            <a:chExt cx="68436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436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顶层是"数字仪表板控制"，下面三个模块分别管输入、变换中心和输出。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1188720" y="1782128"/>
            <a:ext cx="2936557" cy="3095624"/>
            <a:chOff x="1188720" y="1782128"/>
            <a:chExt cx="2936557" cy="3095624"/>
          </a:xfrm>
        </p:grpSpPr>
        <p:sp>
          <p:nvSpPr>
            <p:cNvPr id="9" name="Freeform 9"/>
            <p:cNvSpPr/>
            <p:nvPr/>
          </p:nvSpPr>
          <p:spPr>
            <a:xfrm>
              <a:off x="1615440" y="3753802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3039428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3039428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5440" y="2325052"/>
              <a:ext cx="1082040" cy="714375"/>
            </a:xfrm>
            <a:custGeom>
              <a:avLst/>
              <a:gdLst/>
              <a:ahLst/>
              <a:cxnLst/>
              <a:rect l="l" t="t" r="r" b="b"/>
              <a:pathLst>
                <a:path w="1082040" h="714375">
                  <a:moveTo>
                    <a:pt x="108204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2325052"/>
              <a:ext cx="1082040" cy="714375"/>
            </a:xfrm>
            <a:custGeom>
              <a:avLst/>
              <a:gdLst/>
              <a:ahLst/>
              <a:cxnLst/>
              <a:rect l="l" t="t" r="r" b="b"/>
              <a:pathLst>
                <a:path w="1082040" h="714375">
                  <a:moveTo>
                    <a:pt x="0" y="0"/>
                  </a:moveTo>
                  <a:lnTo>
                    <a:pt x="108204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205865" y="4058602"/>
              <a:ext cx="819150" cy="819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269682" y="3408045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188720" y="2612708"/>
              <a:ext cx="853440" cy="8534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436620" y="3410902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433762" y="2693670"/>
              <a:ext cx="691515" cy="6915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54555" y="1782128"/>
              <a:ext cx="1085850" cy="1085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6728" y="44024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读旋转信号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4047" y="368808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收集 sps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8530" y="2973705"/>
              <a:ext cx="753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转换成 rpm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91484" y="36880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读燃料流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88127" y="2973705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gph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97418" y="225933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接收传感器信号</a:t>
              </a:r>
            </a:p>
          </p:txBody>
        </p:sp>
      </p:grpSp>
      <p:grpSp>
        <p:nvGrpSpPr>
          <p:cNvPr id="41" name="c2-tree-1"/>
          <p:cNvGrpSpPr/>
          <p:nvPr/>
        </p:nvGrpSpPr>
        <p:grpSpPr>
          <a:xfrm>
            <a:off x="5501640" y="1848802"/>
            <a:ext cx="5688330" cy="1666876"/>
            <a:chOff x="5501640" y="1848802"/>
            <a:chExt cx="5688330" cy="1666876"/>
          </a:xfrm>
        </p:grpSpPr>
        <p:sp>
          <p:nvSpPr>
            <p:cNvPr id="27" name="Freeform 27"/>
            <p:cNvSpPr/>
            <p:nvPr/>
          </p:nvSpPr>
          <p:spPr>
            <a:xfrm>
              <a:off x="5977890" y="2325052"/>
              <a:ext cx="2434590" cy="714375"/>
            </a:xfrm>
            <a:custGeom>
              <a:avLst/>
              <a:gdLst/>
              <a:ahLst/>
              <a:cxnLst/>
              <a:rect l="l" t="t" r="r" b="b"/>
              <a:pathLst>
                <a:path w="2434590" h="714375">
                  <a:moveTo>
                    <a:pt x="243459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600950" y="2325052"/>
              <a:ext cx="811530" cy="714375"/>
            </a:xfrm>
            <a:custGeom>
              <a:avLst/>
              <a:gdLst/>
              <a:ahLst/>
              <a:cxnLst/>
              <a:rect l="l" t="t" r="r" b="b"/>
              <a:pathLst>
                <a:path w="811530" h="714375">
                  <a:moveTo>
                    <a:pt x="81153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412480" y="2325052"/>
              <a:ext cx="811530" cy="714375"/>
            </a:xfrm>
            <a:custGeom>
              <a:avLst/>
              <a:gdLst/>
              <a:ahLst/>
              <a:cxnLst/>
              <a:rect l="l" t="t" r="r" b="b"/>
              <a:pathLst>
                <a:path w="811530" h="714375">
                  <a:moveTo>
                    <a:pt x="0" y="0"/>
                  </a:moveTo>
                  <a:lnTo>
                    <a:pt x="81153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412480" y="2325052"/>
              <a:ext cx="2434590" cy="714375"/>
            </a:xfrm>
            <a:custGeom>
              <a:avLst/>
              <a:gdLst/>
              <a:ahLst/>
              <a:cxnLst/>
              <a:rect l="l" t="t" r="r" b="b"/>
              <a:pathLst>
                <a:path w="2434590" h="714375">
                  <a:moveTo>
                    <a:pt x="0" y="0"/>
                  </a:moveTo>
                  <a:lnTo>
                    <a:pt x="243459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501640" y="2563178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240905" y="2679382"/>
              <a:ext cx="720090" cy="7200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863965" y="2679382"/>
              <a:ext cx="720090" cy="7200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504170" y="2696528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7936230" y="1848802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48503" y="297370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确定加速减速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94715" y="2973705"/>
              <a:ext cx="612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mph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17775" y="2973705"/>
              <a:ext cx="612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mpg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59034" y="29737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计算里程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83093" y="225933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数据转换控制</a:t>
              </a:r>
            </a:p>
          </p:txBody>
        </p:sp>
      </p:grpSp>
      <p:grpSp>
        <p:nvGrpSpPr>
          <p:cNvPr id="59" name="c2-tree-2"/>
          <p:cNvGrpSpPr/>
          <p:nvPr/>
        </p:nvGrpSpPr>
        <p:grpSpPr>
          <a:xfrm>
            <a:off x="5339715" y="3534728"/>
            <a:ext cx="6012180" cy="1600200"/>
            <a:chOff x="5339715" y="3534728"/>
            <a:chExt cx="6012180" cy="1600200"/>
          </a:xfrm>
        </p:grpSpPr>
        <p:sp>
          <p:nvSpPr>
            <p:cNvPr id="42" name="Freeform 42"/>
            <p:cNvSpPr/>
            <p:nvPr/>
          </p:nvSpPr>
          <p:spPr>
            <a:xfrm>
              <a:off x="5815965" y="3944302"/>
              <a:ext cx="2596515" cy="714375"/>
            </a:xfrm>
            <a:custGeom>
              <a:avLst/>
              <a:gdLst/>
              <a:ahLst/>
              <a:cxnLst/>
              <a:rect l="l" t="t" r="r" b="b"/>
              <a:pathLst>
                <a:path w="2596515" h="714375">
                  <a:moveTo>
                    <a:pt x="2596515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114222" y="3944302"/>
              <a:ext cx="1298258" cy="714375"/>
            </a:xfrm>
            <a:custGeom>
              <a:avLst/>
              <a:gdLst/>
              <a:ahLst/>
              <a:cxnLst/>
              <a:rect l="l" t="t" r="r" b="b"/>
              <a:pathLst>
                <a:path w="1298258" h="714375">
                  <a:moveTo>
                    <a:pt x="1298258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12480" y="3944302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412480" y="3944302"/>
              <a:ext cx="1298257" cy="714375"/>
            </a:xfrm>
            <a:custGeom>
              <a:avLst/>
              <a:gdLst/>
              <a:ahLst/>
              <a:cxnLst/>
              <a:rect l="l" t="t" r="r" b="b"/>
              <a:pathLst>
                <a:path w="1298257" h="714375">
                  <a:moveTo>
                    <a:pt x="0" y="0"/>
                  </a:moveTo>
                  <a:lnTo>
                    <a:pt x="1298257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412480" y="3944302"/>
              <a:ext cx="2596515" cy="714375"/>
            </a:xfrm>
            <a:custGeom>
              <a:avLst/>
              <a:gdLst/>
              <a:ahLst/>
              <a:cxnLst/>
              <a:rect l="l" t="t" r="r" b="b"/>
              <a:pathLst>
                <a:path w="2596515" h="714375">
                  <a:moveTo>
                    <a:pt x="0" y="0"/>
                  </a:moveTo>
                  <a:lnTo>
                    <a:pt x="259651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5339715" y="4182428"/>
              <a:ext cx="952500" cy="952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754178" y="4298632"/>
              <a:ext cx="720090" cy="7200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052435" y="4298632"/>
              <a:ext cx="720090" cy="7200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367838" y="4315778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666095" y="4315778"/>
              <a:ext cx="685800" cy="685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002905" y="3534728"/>
              <a:ext cx="819150" cy="819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386578" y="45929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加速减速显示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07988" y="4592955"/>
              <a:ext cx="612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 mph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06245" y="4592955"/>
              <a:ext cx="612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 mpg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22702" y="45929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显示里程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20959" y="45929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发出铃声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53769" y="38785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驱动仪表板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0" name="Rectangle 6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130" y="5728335"/>
              <a:ext cx="9749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四个显示模块最后都调用同一个"发光二极管显示"模块，这个底层公共模块的扇入很大，正是启发规则希望看到的结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实例二：工厂模拟系统的一级分解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354105" cy="264033"/>
            <a:chOff x="526542" y="1545907"/>
            <a:chExt cx="1135410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3541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本系统模拟一个工厂的生产与销售活动，以"议程"（agenda）描述活动，由各类模拟产生生产与销售数据，再交叉制表生成结果并印出报表。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11125200" cy="1228725"/>
            <a:chOff x="533400" y="1928812"/>
            <a:chExt cx="11125200" cy="12287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1560" y="21483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数据流符号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7092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议程表　b 议程项　c 有效议程项　d 议程数据　e 存储常数　f 有效议程表　g 机器表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629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销售输出　i 机器输出　j 生产线输出　k 制造输出　l 模拟结果　m 报表议程</a:t>
              </a:r>
            </a:p>
          </p:txBody>
        </p:sp>
      </p:grpSp>
      <p:grpSp>
        <p:nvGrpSpPr>
          <p:cNvPr id="35" name="c1-tree-2"/>
          <p:cNvGrpSpPr/>
          <p:nvPr/>
        </p:nvGrpSpPr>
        <p:grpSpPr>
          <a:xfrm>
            <a:off x="1046798" y="3279458"/>
            <a:ext cx="10187940" cy="1664017"/>
            <a:chOff x="1046798" y="3279458"/>
            <a:chExt cx="10187940" cy="1664017"/>
          </a:xfrm>
        </p:grpSpPr>
        <p:sp>
          <p:nvSpPr>
            <p:cNvPr id="15" name="Freeform 15"/>
            <p:cNvSpPr/>
            <p:nvPr/>
          </p:nvSpPr>
          <p:spPr>
            <a:xfrm>
              <a:off x="1460182" y="3698558"/>
              <a:ext cx="4635818" cy="741997"/>
            </a:xfrm>
            <a:custGeom>
              <a:avLst/>
              <a:gdLst/>
              <a:ahLst/>
              <a:cxnLst/>
              <a:rect l="l" t="t" r="r" b="b"/>
              <a:pathLst>
                <a:path w="4635818" h="741997">
                  <a:moveTo>
                    <a:pt x="4635818" y="0"/>
                  </a:moveTo>
                  <a:lnTo>
                    <a:pt x="0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14700" y="3698558"/>
              <a:ext cx="2781300" cy="741997"/>
            </a:xfrm>
            <a:custGeom>
              <a:avLst/>
              <a:gdLst/>
              <a:ahLst/>
              <a:cxnLst/>
              <a:rect l="l" t="t" r="r" b="b"/>
              <a:pathLst>
                <a:path w="2781300" h="741997">
                  <a:moveTo>
                    <a:pt x="2781300" y="0"/>
                  </a:moveTo>
                  <a:lnTo>
                    <a:pt x="0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169218" y="3698558"/>
              <a:ext cx="926782" cy="741997"/>
            </a:xfrm>
            <a:custGeom>
              <a:avLst/>
              <a:gdLst/>
              <a:ahLst/>
              <a:cxnLst/>
              <a:rect l="l" t="t" r="r" b="b"/>
              <a:pathLst>
                <a:path w="926782" h="741997">
                  <a:moveTo>
                    <a:pt x="926782" y="0"/>
                  </a:moveTo>
                  <a:lnTo>
                    <a:pt x="0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096000" y="3698558"/>
              <a:ext cx="926782" cy="741997"/>
            </a:xfrm>
            <a:custGeom>
              <a:avLst/>
              <a:gdLst/>
              <a:ahLst/>
              <a:cxnLst/>
              <a:rect l="l" t="t" r="r" b="b"/>
              <a:pathLst>
                <a:path w="926782" h="741997">
                  <a:moveTo>
                    <a:pt x="0" y="0"/>
                  </a:moveTo>
                  <a:lnTo>
                    <a:pt x="926782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096000" y="3698558"/>
              <a:ext cx="2781300" cy="741997"/>
            </a:xfrm>
            <a:custGeom>
              <a:avLst/>
              <a:gdLst/>
              <a:ahLst/>
              <a:cxnLst/>
              <a:rect l="l" t="t" r="r" b="b"/>
              <a:pathLst>
                <a:path w="2781300" h="741997">
                  <a:moveTo>
                    <a:pt x="0" y="0"/>
                  </a:moveTo>
                  <a:lnTo>
                    <a:pt x="2781300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096000" y="3698558"/>
              <a:ext cx="4635818" cy="741997"/>
            </a:xfrm>
            <a:custGeom>
              <a:avLst/>
              <a:gdLst/>
              <a:ahLst/>
              <a:cxnLst/>
              <a:rect l="l" t="t" r="r" b="b"/>
              <a:pathLst>
                <a:path w="4635818" h="741997">
                  <a:moveTo>
                    <a:pt x="0" y="0"/>
                  </a:moveTo>
                  <a:lnTo>
                    <a:pt x="4635818" y="7419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046798" y="4027170"/>
              <a:ext cx="826770" cy="8267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958465" y="4084320"/>
              <a:ext cx="712470" cy="7124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812983" y="4084320"/>
              <a:ext cx="712470" cy="7124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609398" y="4027170"/>
              <a:ext cx="826770" cy="8267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463915" y="4027170"/>
              <a:ext cx="826770" cy="8267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228898" y="3937635"/>
              <a:ext cx="1005840" cy="10058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676900" y="3279458"/>
              <a:ext cx="838200" cy="838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8458" y="4384358"/>
              <a:ext cx="7234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取得议程表 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3555" y="4384358"/>
              <a:ext cx="6022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销售模拟 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68072" y="4384358"/>
              <a:ext cx="6022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机器模拟 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58" y="4384358"/>
              <a:ext cx="7234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生产线模拟 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15576" y="4384358"/>
              <a:ext cx="7234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工厂级汇总 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4530" y="4384358"/>
              <a:ext cx="9145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输出模拟结果 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27764" y="364236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工厂模拟系统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4980622"/>
            <a:ext cx="11125200" cy="729615"/>
            <a:chOff x="533400" y="4980622"/>
            <a:chExt cx="11125200" cy="729615"/>
          </a:xfrm>
        </p:grpSpPr>
        <p:sp>
          <p:nvSpPr>
            <p:cNvPr id="36" name="Rectangle 36"/>
            <p:cNvSpPr/>
            <p:nvPr/>
          </p:nvSpPr>
          <p:spPr>
            <a:xfrm>
              <a:off x="533400" y="4980622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241726"/>
              <a:ext cx="224134" cy="192560"/>
              <a:chOff x="726129" y="524172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3120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2417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53898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127308"/>
              <a:ext cx="99063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这是把加工 4、5、6、8、9、10 各映射成一个模块得到的一级分解，六个模块并列，层次还不够清楚；改进办法是在 6、8、9 上面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增设一级"生产模拟"模块，与"销售模拟"并列。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8373"/>
              <a:ext cx="7773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数据流图上共有 16 个加工，模块名后面的数字就是对应的加工编号，字母是加工之间的数据流。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实例二：用启发规则做的五处精化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749290" cy="278702"/>
            <a:chOff x="526161" y="1547336"/>
            <a:chExt cx="574929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第一次分解得到的结构总还可以精化，目标是提高内聚、降低耦合。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41195"/>
            <a:ext cx="11125200" cy="2434590"/>
            <a:chOff x="533400" y="1941195"/>
            <a:chExt cx="11125200" cy="24345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6261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精化动作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599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471261"/>
              <a:ext cx="448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取消"取得有效议程项"，把 1、2、3 并列为"取得议程数据"的下级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06378" y="2471261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它接近于假模块，除调用下级模块外没有其它内容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877026"/>
              <a:ext cx="1939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2、3 两个模块合并成一个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6378" y="287702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格式检查和语法分析在内容上比较密切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3412" y="3282791"/>
              <a:ext cx="2470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把"形成议程表"上并到"取得议程表"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6378" y="328279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减少调用层次，也使后者除调用下级外增加了实质内容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3688556"/>
              <a:ext cx="3827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把"机器模拟"并入上级"取得机器数据"并改名为机器模拟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06378" y="3688556"/>
              <a:ext cx="5831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一般情况下从传入分支取得 f 并变换为 i，必要时也可直接由系统外取得二次传入数据 g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094321"/>
              <a:ext cx="3827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省去"写报表磁带"，三个下属模块直接归"制成报表"调用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06378" y="4094321"/>
              <a:ext cx="4503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该模块除调用外没有实质内容；若报表 B、C 都很小还可以合二为一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941195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0160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2"/>
          <p:cNvGrpSpPr/>
          <p:nvPr/>
        </p:nvGrpSpPr>
        <p:grpSpPr>
          <a:xfrm>
            <a:off x="533400" y="4551045"/>
            <a:ext cx="11125200" cy="1151572"/>
            <a:chOff x="533400" y="4551045"/>
            <a:chExt cx="11125200" cy="1151572"/>
          </a:xfrm>
        </p:grpSpPr>
        <p:sp>
          <p:nvSpPr>
            <p:cNvPr id="31" name="Rectangle 31"/>
            <p:cNvSpPr/>
            <p:nvPr/>
          </p:nvSpPr>
          <p:spPr>
            <a:xfrm>
              <a:off x="533400" y="4551045"/>
              <a:ext cx="11125200" cy="1151572"/>
            </a:xfrm>
            <a:prstGeom prst="roundRect">
              <a:avLst>
                <a:gd name="adj" fmla="val 1158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8947" y="4766310"/>
              <a:ext cx="103007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五处改动用的是同一个判断：一个模块除了调用下级之外还得有自己的实质内容，否则就取消它或者把它并进上级；内容上密切相关的两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个模块则合并。精化只改结构，不改数据流图上的加工。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精化之后模块数从十几个降到必要的几个，层次也从四层压到三层，调用关系更好读。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实例二：精化后的软件结构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63682" cy="308039"/>
            <a:chOff x="525399" y="1550194"/>
            <a:chExt cx="108636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63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取消假模块、合并内容密切的模块之后，工厂模拟系统的结构图如下，方框里的数字是数据流图上对应的加工编号。</a:t>
              </a:r>
            </a:p>
          </p:txBody>
        </p:sp>
      </p:grpSp>
      <p:grpSp>
        <p:nvGrpSpPr>
          <p:cNvPr id="62" name="c1-tree-1"/>
          <p:cNvGrpSpPr/>
          <p:nvPr/>
        </p:nvGrpSpPr>
        <p:grpSpPr>
          <a:xfrm>
            <a:off x="533400" y="1937385"/>
            <a:ext cx="11125200" cy="3500438"/>
            <a:chOff x="533400" y="1937385"/>
            <a:chExt cx="11125200" cy="3500438"/>
          </a:xfrm>
        </p:grpSpPr>
        <p:sp>
          <p:nvSpPr>
            <p:cNvPr id="9" name="Freeform 9"/>
            <p:cNvSpPr/>
            <p:nvPr/>
          </p:nvSpPr>
          <p:spPr>
            <a:xfrm>
              <a:off x="8354378" y="2436495"/>
              <a:ext cx="419100" cy="156210"/>
            </a:xfrm>
            <a:custGeom>
              <a:avLst/>
              <a:gdLst/>
              <a:ahLst/>
              <a:cxnLst/>
              <a:rect l="l" t="t" r="r" b="b"/>
              <a:pathLst>
                <a:path w="419100" h="156210">
                  <a:moveTo>
                    <a:pt x="0" y="156210"/>
                  </a:moveTo>
                  <a:lnTo>
                    <a:pt x="209550" y="15621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354378" y="2592705"/>
              <a:ext cx="419100" cy="157162"/>
            </a:xfrm>
            <a:custGeom>
              <a:avLst/>
              <a:gdLst/>
              <a:ahLst/>
              <a:cxnLst/>
              <a:rect l="l" t="t" r="r" b="b"/>
              <a:pathLst>
                <a:path w="419100" h="157162">
                  <a:moveTo>
                    <a:pt x="0" y="0"/>
                  </a:moveTo>
                  <a:lnTo>
                    <a:pt x="209550" y="0"/>
                  </a:lnTo>
                  <a:lnTo>
                    <a:pt x="209550" y="157162"/>
                  </a:lnTo>
                  <a:lnTo>
                    <a:pt x="419100" y="1571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455920" y="2124075"/>
              <a:ext cx="419100" cy="234315"/>
            </a:xfrm>
            <a:custGeom>
              <a:avLst/>
              <a:gdLst/>
              <a:ahLst/>
              <a:cxnLst/>
              <a:rect l="l" t="t" r="r" b="b"/>
              <a:pathLst>
                <a:path w="419100" h="234315">
                  <a:moveTo>
                    <a:pt x="0" y="234315"/>
                  </a:moveTo>
                  <a:lnTo>
                    <a:pt x="209550" y="23431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55920" y="2358390"/>
              <a:ext cx="419100" cy="234315"/>
            </a:xfrm>
            <a:custGeom>
              <a:avLst/>
              <a:gdLst/>
              <a:ahLst/>
              <a:cxnLst/>
              <a:rect l="l" t="t" r="r" b="b"/>
              <a:pathLst>
                <a:path w="419100" h="234315">
                  <a:moveTo>
                    <a:pt x="0" y="0"/>
                  </a:moveTo>
                  <a:lnTo>
                    <a:pt x="209550" y="0"/>
                  </a:lnTo>
                  <a:lnTo>
                    <a:pt x="209550" y="234315"/>
                  </a:lnTo>
                  <a:lnTo>
                    <a:pt x="419100" y="23431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354378" y="337470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55920" y="3374708"/>
              <a:ext cx="419100" cy="313372"/>
            </a:xfrm>
            <a:custGeom>
              <a:avLst/>
              <a:gdLst/>
              <a:ahLst/>
              <a:cxnLst/>
              <a:rect l="l" t="t" r="r" b="b"/>
              <a:pathLst>
                <a:path w="419100" h="313372">
                  <a:moveTo>
                    <a:pt x="0" y="313372"/>
                  </a:moveTo>
                  <a:lnTo>
                    <a:pt x="209550" y="31337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455920" y="36880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55920" y="3688080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0" y="0"/>
                  </a:moveTo>
                  <a:lnTo>
                    <a:pt x="209550" y="0"/>
                  </a:lnTo>
                  <a:lnTo>
                    <a:pt x="209550" y="312420"/>
                  </a:lnTo>
                  <a:lnTo>
                    <a:pt x="419100" y="31242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354378" y="4626292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0" y="312420"/>
                  </a:moveTo>
                  <a:lnTo>
                    <a:pt x="209550" y="3124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54378" y="493871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354378" y="4938712"/>
              <a:ext cx="419100" cy="313372"/>
            </a:xfrm>
            <a:custGeom>
              <a:avLst/>
              <a:gdLst/>
              <a:ahLst/>
              <a:cxnLst/>
              <a:rect l="l" t="t" r="r" b="b"/>
              <a:pathLst>
                <a:path w="419100" h="313372">
                  <a:moveTo>
                    <a:pt x="0" y="0"/>
                  </a:moveTo>
                  <a:lnTo>
                    <a:pt x="209550" y="0"/>
                  </a:lnTo>
                  <a:lnTo>
                    <a:pt x="209550" y="313372"/>
                  </a:lnTo>
                  <a:lnTo>
                    <a:pt x="419100" y="31337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455920" y="4313872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0" y="312420"/>
                  </a:moveTo>
                  <a:lnTo>
                    <a:pt x="209550" y="3124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455920" y="4626292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0" y="0"/>
                  </a:moveTo>
                  <a:lnTo>
                    <a:pt x="209550" y="0"/>
                  </a:lnTo>
                  <a:lnTo>
                    <a:pt x="209550" y="312420"/>
                  </a:lnTo>
                  <a:lnTo>
                    <a:pt x="419100" y="31242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785110" y="2358390"/>
              <a:ext cx="419100" cy="1134428"/>
            </a:xfrm>
            <a:custGeom>
              <a:avLst/>
              <a:gdLst/>
              <a:ahLst/>
              <a:cxnLst/>
              <a:rect l="l" t="t" r="r" b="b"/>
              <a:pathLst>
                <a:path w="419100" h="1134428">
                  <a:moveTo>
                    <a:pt x="0" y="1134428"/>
                  </a:moveTo>
                  <a:lnTo>
                    <a:pt x="209550" y="11344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785110" y="3062288"/>
              <a:ext cx="419100" cy="430530"/>
            </a:xfrm>
            <a:custGeom>
              <a:avLst/>
              <a:gdLst/>
              <a:ahLst/>
              <a:cxnLst/>
              <a:rect l="l" t="t" r="r" b="b"/>
              <a:pathLst>
                <a:path w="419100" h="430530">
                  <a:moveTo>
                    <a:pt x="0" y="430530"/>
                  </a:moveTo>
                  <a:lnTo>
                    <a:pt x="209550" y="43053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785110" y="3492818"/>
              <a:ext cx="419100" cy="195262"/>
            </a:xfrm>
            <a:custGeom>
              <a:avLst/>
              <a:gdLst/>
              <a:ahLst/>
              <a:cxnLst/>
              <a:rect l="l" t="t" r="r" b="b"/>
              <a:pathLst>
                <a:path w="419100" h="195262">
                  <a:moveTo>
                    <a:pt x="0" y="0"/>
                  </a:moveTo>
                  <a:lnTo>
                    <a:pt x="209550" y="0"/>
                  </a:lnTo>
                  <a:lnTo>
                    <a:pt x="209550" y="195262"/>
                  </a:lnTo>
                  <a:lnTo>
                    <a:pt x="419100" y="19526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785110" y="3492818"/>
              <a:ext cx="419100" cy="1133475"/>
            </a:xfrm>
            <a:custGeom>
              <a:avLst/>
              <a:gdLst/>
              <a:ahLst/>
              <a:cxnLst/>
              <a:rect l="l" t="t" r="r" b="b"/>
              <a:pathLst>
                <a:path w="419100" h="1133475">
                  <a:moveTo>
                    <a:pt x="0" y="0"/>
                  </a:moveTo>
                  <a:lnTo>
                    <a:pt x="209550" y="0"/>
                  </a:lnTo>
                  <a:lnTo>
                    <a:pt x="209550" y="1133475"/>
                  </a:lnTo>
                  <a:lnTo>
                    <a:pt x="419100" y="11334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75020" y="1937385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773478" y="2250758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773478" y="2563178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75020" y="2406968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204210" y="2172652"/>
              <a:ext cx="22517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04210" y="2875598"/>
              <a:ext cx="2251710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773478" y="3188970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75020" y="3188970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75020" y="3501390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75020" y="3814762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04210" y="3501390"/>
              <a:ext cx="22517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75020" y="4127182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73478" y="4439602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773478" y="4752975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773478" y="5065395"/>
              <a:ext cx="28851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75020" y="4752975"/>
              <a:ext cx="2479358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204210" y="4439602"/>
              <a:ext cx="2251710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3306128"/>
              <a:ext cx="2251710" cy="372428"/>
            </a:xfrm>
            <a:prstGeom prst="roundRect">
              <a:avLst>
                <a:gd name="adj" fmla="val 2557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63793" y="2035016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读入常数数据 16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62250" y="2347436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读入议程卡片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62250" y="2660809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检查与分析 2、3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3793" y="25036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取得议程数据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92983" y="2269331"/>
              <a:ext cx="1028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取得议程表 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92983" y="297322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销售模拟 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62250" y="328564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取得特种表 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63793" y="3285649"/>
              <a:ext cx="855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机器模拟 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63793" y="359902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生产线模拟 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63793" y="391144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工厂级汇总 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92983" y="35990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生产模拟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63793" y="4224814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交叉制表 10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62250" y="4537234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取得报表议程 11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62250" y="4849654"/>
              <a:ext cx="11118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制成报表 A 13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62250" y="5163026"/>
              <a:ext cx="1746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制成报表 B、C 14、15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63793" y="4849654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制成报表 12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292983" y="45372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输出模拟结果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173" y="34037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工厂模拟系统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10035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"检查与分析 2、3"是格式检查和语法分析两个加工合并成的模块；"生产模拟"是精化时增设的控制模块，数据流图上没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有对应的加工。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54262" cy="909257"/>
            <a:chOff x="520446" y="342900"/>
            <a:chExt cx="2854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事务分析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什么时候用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600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任何情况下都可以使用变换分析设计软件结构，但是在数据流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具有明显的事务特点，也就是有一个明显的"发射中心"时，还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是以采用事务分析为宜。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886551"/>
              <a:ext cx="47053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事务分析的设计步骤和变换分析大部分相同，主要差别只在由数据流图到软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件结构的映射方法。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6542" y="3658552"/>
            <a:ext cx="5390007" cy="2031874"/>
            <a:chOff x="526542" y="3658552"/>
            <a:chExt cx="5390007" cy="2031874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36585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映射方法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96621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9078" y="4004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4197" y="397859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由事务流映射成的软件结构包括一个接收分支和一个发送分支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776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9078" y="43160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197" y="429006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映射接收分支：从事务中心的边界开始，把沿着接收流通路的处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理映射成模块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84632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9078" y="48847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197" y="485870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发送分支的结构包含一个调度模块，它控制下层的所有活动模块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515683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9078" y="5196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4197" y="516921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把数据流图中的每个活动流通路映射成与它的流特征相对应的结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</p:grpSp>
      <p:grpSp>
        <p:nvGrpSpPr>
          <p:cNvPr id="45" name="c2-tree-1"/>
          <p:cNvGrpSpPr/>
          <p:nvPr/>
        </p:nvGrpSpPr>
        <p:grpSpPr>
          <a:xfrm>
            <a:off x="6599872" y="1684020"/>
            <a:ext cx="4763453" cy="2026920"/>
            <a:chOff x="6599872" y="1684020"/>
            <a:chExt cx="4763453" cy="2026920"/>
          </a:xfrm>
        </p:grpSpPr>
        <p:sp>
          <p:nvSpPr>
            <p:cNvPr id="28" name="Freeform 28"/>
            <p:cNvSpPr/>
            <p:nvPr/>
          </p:nvSpPr>
          <p:spPr>
            <a:xfrm>
              <a:off x="8277225" y="2607945"/>
              <a:ext cx="1352550" cy="721995"/>
            </a:xfrm>
            <a:custGeom>
              <a:avLst/>
              <a:gdLst/>
              <a:ahLst/>
              <a:cxnLst/>
              <a:rect l="l" t="t" r="r" b="b"/>
              <a:pathLst>
                <a:path w="1352550" h="721995">
                  <a:moveTo>
                    <a:pt x="1352550" y="0"/>
                  </a:moveTo>
                  <a:lnTo>
                    <a:pt x="0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629775" y="2607945"/>
              <a:ext cx="9525" cy="721995"/>
            </a:xfrm>
            <a:custGeom>
              <a:avLst/>
              <a:gdLst/>
              <a:ahLst/>
              <a:cxnLst/>
              <a:rect l="l" t="t" r="r" b="b"/>
              <a:pathLst>
                <a:path w="9525" h="721995">
                  <a:moveTo>
                    <a:pt x="0" y="0"/>
                  </a:moveTo>
                  <a:lnTo>
                    <a:pt x="0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629775" y="2607945"/>
              <a:ext cx="1352550" cy="721995"/>
            </a:xfrm>
            <a:custGeom>
              <a:avLst/>
              <a:gdLst/>
              <a:ahLst/>
              <a:cxnLst/>
              <a:rect l="l" t="t" r="r" b="b"/>
              <a:pathLst>
                <a:path w="1352550" h="721995">
                  <a:moveTo>
                    <a:pt x="0" y="0"/>
                  </a:moveTo>
                  <a:lnTo>
                    <a:pt x="1352550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24675" y="1884998"/>
              <a:ext cx="2028825" cy="722948"/>
            </a:xfrm>
            <a:custGeom>
              <a:avLst/>
              <a:gdLst/>
              <a:ahLst/>
              <a:cxnLst/>
              <a:rect l="l" t="t" r="r" b="b"/>
              <a:pathLst>
                <a:path w="2028825" h="722948">
                  <a:moveTo>
                    <a:pt x="2028825" y="0"/>
                  </a:moveTo>
                  <a:lnTo>
                    <a:pt x="0" y="7229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1884998"/>
              <a:ext cx="676275" cy="722948"/>
            </a:xfrm>
            <a:custGeom>
              <a:avLst/>
              <a:gdLst/>
              <a:ahLst/>
              <a:cxnLst/>
              <a:rect l="l" t="t" r="r" b="b"/>
              <a:pathLst>
                <a:path w="676275" h="722948">
                  <a:moveTo>
                    <a:pt x="0" y="0"/>
                  </a:moveTo>
                  <a:lnTo>
                    <a:pt x="676275" y="7229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599872" y="2283142"/>
              <a:ext cx="649605" cy="649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896225" y="294894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248775" y="294894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601325" y="2948940"/>
              <a:ext cx="762000" cy="762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428798" y="2406968"/>
              <a:ext cx="401955" cy="40195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752522" y="1684020"/>
              <a:ext cx="401955" cy="40195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867" y="25465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接收分支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46212" y="3269456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通路控制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98762" y="3269456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通路控制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51312" y="3269456"/>
              <a:ext cx="662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通路控制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92894" y="25465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16619" y="18245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总控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248400" y="3866198"/>
            <a:ext cx="5410200" cy="1771650"/>
            <a:chOff x="6248400" y="3866198"/>
            <a:chExt cx="5410200" cy="1771650"/>
          </a:xfrm>
        </p:grpSpPr>
        <p:sp>
          <p:nvSpPr>
            <p:cNvPr id="46" name="Rectangle 46"/>
            <p:cNvSpPr/>
            <p:nvPr/>
          </p:nvSpPr>
          <p:spPr>
            <a:xfrm>
              <a:off x="6248400" y="3866198"/>
              <a:ext cx="5410200" cy="1771650"/>
            </a:xfrm>
            <a:prstGeom prst="roundRect">
              <a:avLst>
                <a:gd name="adj" fmla="val 64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4652010"/>
              <a:ext cx="200026" cy="200026"/>
              <a:chOff x="6453188" y="4652010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46520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53200" y="47186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42088" y="47520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892" y="453294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调度模块下面的每条活动通路，如果它本身是变换流，就再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用变换分析去映射，这就是下一页的混合型问题。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7319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变换分析关心"输入、变换中心、输出"三段，事务分析关心"接收、调度、各条活动通路"。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面向数据流的设计方法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混合型问题与设计优化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887855"/>
            <a:chOff x="533400" y="1524000"/>
            <a:chExt cx="497776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变换与事务混合型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大型系统的数据流图往往一部分是变换流、一部分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是事务流。做法是先按占优势的全局特性选定主方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法，再把特点不同的局部区域孤立出来，用另一种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方法映射，最后拼成一张结构图。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602355"/>
            <a:ext cx="4977765" cy="2091690"/>
            <a:chOff x="533400" y="3602355"/>
            <a:chExt cx="4977765" cy="209169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4977765" cy="2091690"/>
            </a:xfrm>
            <a:prstGeom prst="roundRect">
              <a:avLst>
                <a:gd name="adj" fmla="val 54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548188"/>
              <a:ext cx="200026" cy="200025"/>
              <a:chOff x="738188" y="4548188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548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592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703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267200"/>
              <a:ext cx="39585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变换分析第 3 步里那句"把和全局特性有不同特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点的局部区域孤立出来"，就是为混合型问题做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的准备。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815965" y="1524000"/>
            <a:ext cx="5842635" cy="1986915"/>
            <a:chOff x="5815965" y="1524000"/>
            <a:chExt cx="5842635" cy="1986915"/>
          </a:xfrm>
        </p:grpSpPr>
        <p:sp>
          <p:nvSpPr>
            <p:cNvPr id="20" name="Rectangle 20"/>
            <p:cNvSpPr/>
            <p:nvPr/>
          </p:nvSpPr>
          <p:spPr>
            <a:xfrm>
              <a:off x="5815965" y="1524000"/>
              <a:ext cx="5842635" cy="1986915"/>
            </a:xfrm>
            <a:prstGeom prst="roundRect">
              <a:avLst>
                <a:gd name="adj" fmla="val 671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2551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0687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7895" y="211074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一个不能工作的"最佳设计"没有任何实际意义。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03123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9345" y="244602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应该在设计的早期阶段尽量对软件结构进行精化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31230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89345" y="278130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在有效模块化的前提下使用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最少量的模块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，在能够满足信息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要求的前提下使用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最简单的数据结构</a:t>
              </a:r>
            </a:p>
          </p:txBody>
        </p:sp>
      </p:grpSp>
      <p:grpSp>
        <p:nvGrpSpPr>
          <p:cNvPr id="45" name="c2-bullets-2"/>
          <p:cNvGrpSpPr/>
          <p:nvPr/>
        </p:nvGrpSpPr>
        <p:grpSpPr>
          <a:xfrm>
            <a:off x="5808345" y="3726180"/>
            <a:ext cx="5775960" cy="2026920"/>
            <a:chOff x="5808345" y="3726180"/>
            <a:chExt cx="5775960" cy="2026920"/>
          </a:xfrm>
        </p:grpSpPr>
        <p:sp>
          <p:nvSpPr>
            <p:cNvPr id="29" name="TextBox 29"/>
            <p:cNvSpPr txBox="1"/>
            <p:nvPr/>
          </p:nvSpPr>
          <p:spPr>
            <a:xfrm>
              <a:off x="5808345" y="372618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对时间起决定性作用的软件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15965" y="406717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7814" y="41094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6955" y="408051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在不考虑时间因素的前提下开发并精化软件结构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441198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77814" y="44542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16955" y="442531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在详细设计阶段选出最耗费时间的模块，仔细设计它们的算法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47567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77814" y="47990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6955" y="47701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使用高级程序设计语言编写程序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510159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77814" y="51438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16955" y="51149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在软件中孤立出那些大量占用处理机资源的模块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15965" y="54463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77814" y="54886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16955" y="545973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必要时重新设计或用依赖于机器的语言重写这些模块的代码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软件体系结构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从模块的层次调用，走到构件与连接器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发展历程与定义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描述内容：构件、连接器、视图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常见风格与设计方案对比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软件体系结构的四个发展阶段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3377565"/>
            <a:chOff x="533400" y="1524000"/>
            <a:chExt cx="11125200" cy="3377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56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51020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当时的技术背景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26386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对体系结构的态度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335054"/>
              <a:ext cx="1762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"无体系结构"设计阶段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3378" y="2108359"/>
              <a:ext cx="39143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硬件向专用方向发展，科学与商业领域使用完全不同的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机器；虽然高级语言已经诞生，但开发主要采用汇编语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93458" y="2221706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系统规模较小，很少明确考虑软件体系结构，一般不存在建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模工作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698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74645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31237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萌芽阶段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3378" y="3010376"/>
              <a:ext cx="39306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"软件工程"概念被提出，结构化开发技术成为主流，工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作范围扩展到整个软件生命周期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93458" y="3010376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体系结构已是明确概念：结构化程序中，模块的聚集和嵌套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构成层层调用的高层结构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461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7990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初级阶段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3378" y="3685699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面向对象开发技术兴起，抽象数据类型出现；类库构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造、分布式应用系统规模大、复杂度高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3458" y="3685699"/>
              <a:ext cx="4239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对象的封装降低了模块间耦合，为构件层次上的软件重用提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供了可能，体系结构研究得到重视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214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226242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474369"/>
              <a:ext cx="901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"高级"阶段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3378" y="4474369"/>
              <a:ext cx="364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世纪 90 年代后进入基于构件的软件开发阶段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3458" y="4361021"/>
              <a:ext cx="4182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开发中心是描述系统的高层抽象结构模型，开发模式由"算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法＋数据结构"转向"构件开发＋基于体系结构的构件组装"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33775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3079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80872" y="1524000"/>
              <a:ext cx="9525" cy="33775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2" name="Rectangle 3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体系结构从写代码写出来的副产品，变成了要专门设计、专门写文档的工作产品。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什么是软件体系结构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724025"/>
            <a:chOff x="533400" y="1524000"/>
            <a:chExt cx="5410200" cy="1724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课件的定义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软件体系结构是对子系统、软件系统构件以及它们之间相互关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系的描述。子系统和构件一般定义在不同的视图内，以显示软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件系统的相关功能属性和非功能属性。系统的软件体系结构是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一种软件设计活动的工作产品。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423285"/>
            <a:ext cx="5410200" cy="2658428"/>
            <a:chOff x="533400" y="3423285"/>
            <a:chExt cx="5410200" cy="2658428"/>
          </a:xfrm>
        </p:grpSpPr>
        <p:sp>
          <p:nvSpPr>
            <p:cNvPr id="13" name="Rectangle 13"/>
            <p:cNvSpPr/>
            <p:nvPr/>
          </p:nvSpPr>
          <p:spPr>
            <a:xfrm>
              <a:off x="533400" y="3423285"/>
              <a:ext cx="5410200" cy="2658428"/>
            </a:xfrm>
            <a:prstGeom prst="roundRect">
              <a:avLst>
                <a:gd name="adj" fmla="val 5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56635"/>
              <a:ext cx="47625" cy="23917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615690"/>
              <a:ext cx="84772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7110" y="3649980"/>
              <a:ext cx="701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SEI 的定义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971925"/>
              <a:ext cx="474573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software architecture of a system is the structure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 structures of the system, which comprise software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components, the externally visible properties of those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components, and the relationships among them.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5042059"/>
              <a:ext cx="4484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Len Bass, Paul Clements, Rick Kazman. Software Architecture in</a:t>
              </a:r>
              <a:br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Practice, 1998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2194560"/>
            <a:chOff x="6248400" y="1524000"/>
            <a:chExt cx="5410200" cy="219456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194560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92786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8905" y="1716405"/>
              <a:ext cx="135159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2248" y="1750695"/>
              <a:ext cx="1265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IEEE P1471 的定义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2047" y="2072640"/>
              <a:ext cx="465143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Architecture is the fundamental organisation of a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system embodied in its components, their relationships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 each other and to the environment, and the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principles guiding its design and evolution.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3190" y="3143726"/>
              <a:ext cx="47835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特意不用 structure 一词，因为它容易让人联想到系统的物理结构；体系结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构是系统的一种属性或概念，而且必须连同它所处的环境一起看。</a:t>
              </a:r>
            </a:p>
          </p:txBody>
        </p:sp>
      </p:grpSp>
      <p:grpSp>
        <p:nvGrpSpPr>
          <p:cNvPr id="38" name="c2-kv-2"/>
          <p:cNvGrpSpPr/>
          <p:nvPr/>
        </p:nvGrpSpPr>
        <p:grpSpPr>
          <a:xfrm>
            <a:off x="6241542" y="3915727"/>
            <a:ext cx="5417058" cy="2218563"/>
            <a:chOff x="6241542" y="3915727"/>
            <a:chExt cx="5417058" cy="2218563"/>
          </a:xfrm>
        </p:grpSpPr>
        <p:sp>
          <p:nvSpPr>
            <p:cNvPr id="27" name="TextBox 27"/>
            <p:cNvSpPr txBox="1"/>
            <p:nvPr/>
          </p:nvSpPr>
          <p:spPr>
            <a:xfrm>
              <a:off x="6241542" y="3915727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Architect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4602" y="391572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负责系统体系结构的人、团队或组织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42052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41542" y="4313872"/>
              <a:ext cx="11832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Architecting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4602" y="4313872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定义、维护、改进并认证体系结构被正确实现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的活动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48567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1542" y="4965383"/>
              <a:ext cx="12108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Architectural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description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4602" y="4965383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用来记录一个体系结构的一组产品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55083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1542" y="5616892"/>
              <a:ext cx="85082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View 与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Viewpoint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4602" y="5616892"/>
              <a:ext cx="34427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视图是从一组相关关注点出发对整个系统的表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示；视角是构造这类视图所用的模式或模板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体系结构描述些什么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2558415"/>
            <a:chOff x="533400" y="1524000"/>
            <a:chExt cx="5193982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0778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525" y="1769269"/>
              <a:ext cx="11757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构件 component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软件系统的一个封装部分，把自己的实现藏在一组外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部接口后面，并且指明它所需要的接口。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分类方式之一：处理元素、数据元素、连接元素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分类方式之二（面向对象）：控制器构件、协作者构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件、接口构件、服务提供者构件、信息持有者构件、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构造用构件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272915"/>
            <a:ext cx="5193982" cy="1887855"/>
            <a:chOff x="533400" y="4272915"/>
            <a:chExt cx="5193982" cy="1887855"/>
          </a:xfrm>
        </p:grpSpPr>
        <p:sp>
          <p:nvSpPr>
            <p:cNvPr id="17" name="Rectangle 17"/>
            <p:cNvSpPr/>
            <p:nvPr/>
          </p:nvSpPr>
          <p:spPr>
            <a:xfrm>
              <a:off x="533400" y="4272915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40626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482465"/>
              <a:ext cx="142017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4166" y="4518184"/>
              <a:ext cx="1294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连接器 connector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4859655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构件之间的关系。它通常以某个层次虚拟机的某种运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行机制提供，例如本地或远程的过程调用，而不是以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简单的模块形式提供出来。这增加了连接器的隐蔽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性，给识别和认识它造成一定困难。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032182" y="1524000"/>
            <a:ext cx="5626418" cy="1316355"/>
            <a:chOff x="6032182" y="1524000"/>
            <a:chExt cx="5626418" cy="1316355"/>
          </a:xfrm>
        </p:grpSpPr>
        <p:sp>
          <p:nvSpPr>
            <p:cNvPr id="23" name="Rectangle 23"/>
            <p:cNvSpPr/>
            <p:nvPr/>
          </p:nvSpPr>
          <p:spPr>
            <a:xfrm>
              <a:off x="6032182" y="152400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41708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79832" y="1733550"/>
              <a:ext cx="86010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987" y="1769269"/>
              <a:ext cx="700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视图 view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2212" y="211074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代表一个软件体系结构的部分方面，这个部分方面专门显示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软件系统的特定属性。</a:t>
              </a:r>
            </a:p>
          </p:txBody>
        </p:sp>
      </p:grpSp>
      <p:grpSp>
        <p:nvGrpSpPr>
          <p:cNvPr id="47" name="c2-table-2"/>
          <p:cNvGrpSpPr/>
          <p:nvPr/>
        </p:nvGrpSpPr>
        <p:grpSpPr>
          <a:xfrm>
            <a:off x="6032182" y="3030855"/>
            <a:ext cx="5626418" cy="2924175"/>
            <a:chOff x="6032182" y="3030855"/>
            <a:chExt cx="5626418" cy="2924175"/>
          </a:xfrm>
        </p:grpSpPr>
        <p:sp>
          <p:nvSpPr>
            <p:cNvPr id="29" name="Rectangle 29"/>
            <p:cNvSpPr/>
            <p:nvPr/>
          </p:nvSpPr>
          <p:spPr>
            <a:xfrm>
              <a:off x="6032182" y="3030855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8531" y="31665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视图描述方法之一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2216" y="31665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视图描述方法之二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40006" y="372856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概念上的体系结构：构件、连接器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4166" y="361521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逻辑视图：设计的对象模型或相应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的模型，如 ER 图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41500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415480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40006" y="42905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模块体系结构：子系统、模块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4166" y="42905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进程视图：并发和同步情况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32182" y="45996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0006" y="473916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代码体系结构：文件、目录、库、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包含文件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44166" y="4739164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物理视图：软件到硬件的映射及其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分布情况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52749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32182" y="527970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40006" y="552783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执行体系结构：任务、线程、进程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4166" y="5414486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开发视图：在软件开发环境中的软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件静态组织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3030855"/>
              <a:ext cx="562641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831580" y="303085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133600"/>
            <a:chOff x="533400" y="1524000"/>
            <a:chExt cx="4760595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软件体系结构风格根据软件系统的结构定义了软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件系统族。它通过施加于构件上的限制，以及组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成与设计规则，来表现构件和构件间的关系。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体系结构风格为一个软件系统以及怎样建造该系统的相关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方法，表示了一种特殊的基本结构。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5780" y="3872865"/>
            <a:ext cx="4514850" cy="1967865"/>
            <a:chOff x="525780" y="3872865"/>
            <a:chExt cx="4514850" cy="196786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38728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每种风格都要定义四样东西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21386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5249" y="42561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390" y="422719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一组构件，完成系统所需的某种功能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586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46009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45720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一组连接件，实现构件间的通信、协调和合作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90347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5249" y="49457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4390" y="49168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约束，定义构件如何被集成到一起形成系统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524827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249" y="52905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390" y="526161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语义模型，使设计者能够通过分析构成成分的已知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性质理解系统的整体性质</a:t>
              </a:r>
            </a:p>
          </p:txBody>
        </p:sp>
      </p:grpSp>
      <p:grpSp>
        <p:nvGrpSpPr>
          <p:cNvPr id="78" name="c2-tree-1"/>
          <p:cNvGrpSpPr/>
          <p:nvPr/>
        </p:nvGrpSpPr>
        <p:grpSpPr>
          <a:xfrm>
            <a:off x="5598795" y="1577340"/>
            <a:ext cx="6059805" cy="4732020"/>
            <a:chOff x="5598795" y="1577340"/>
            <a:chExt cx="6059805" cy="4732020"/>
          </a:xfrm>
        </p:grpSpPr>
        <p:sp>
          <p:nvSpPr>
            <p:cNvPr id="28" name="Freeform 28"/>
            <p:cNvSpPr/>
            <p:nvPr/>
          </p:nvSpPr>
          <p:spPr>
            <a:xfrm>
              <a:off x="9662160" y="1744028"/>
              <a:ext cx="419100" cy="220027"/>
            </a:xfrm>
            <a:custGeom>
              <a:avLst/>
              <a:gdLst/>
              <a:ahLst/>
              <a:cxnLst/>
              <a:rect l="l" t="t" r="r" b="b"/>
              <a:pathLst>
                <a:path w="419100" h="220027">
                  <a:moveTo>
                    <a:pt x="0" y="220027"/>
                  </a:moveTo>
                  <a:lnTo>
                    <a:pt x="209550" y="22002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662160" y="1964055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0"/>
                  </a:moveTo>
                  <a:lnTo>
                    <a:pt x="209550" y="0"/>
                  </a:lnTo>
                  <a:lnTo>
                    <a:pt x="209550" y="220028"/>
                  </a:lnTo>
                  <a:lnTo>
                    <a:pt x="419100" y="2200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662160" y="2624138"/>
              <a:ext cx="419100" cy="439103"/>
            </a:xfrm>
            <a:custGeom>
              <a:avLst/>
              <a:gdLst/>
              <a:ahLst/>
              <a:cxnLst/>
              <a:rect l="l" t="t" r="r" b="b"/>
              <a:pathLst>
                <a:path w="419100" h="439103">
                  <a:moveTo>
                    <a:pt x="0" y="439103"/>
                  </a:moveTo>
                  <a:lnTo>
                    <a:pt x="209550" y="43910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662160" y="306324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662160" y="3063240"/>
              <a:ext cx="419100" cy="440055"/>
            </a:xfrm>
            <a:custGeom>
              <a:avLst/>
              <a:gdLst/>
              <a:ahLst/>
              <a:cxnLst/>
              <a:rect l="l" t="t" r="r" b="b"/>
              <a:pathLst>
                <a:path w="419100" h="440055">
                  <a:moveTo>
                    <a:pt x="0" y="0"/>
                  </a:moveTo>
                  <a:lnTo>
                    <a:pt x="209550" y="0"/>
                  </a:lnTo>
                  <a:lnTo>
                    <a:pt x="209550" y="440055"/>
                  </a:lnTo>
                  <a:lnTo>
                    <a:pt x="419100" y="4400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662160" y="3943350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220028"/>
                  </a:moveTo>
                  <a:lnTo>
                    <a:pt x="209550" y="2200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662160" y="4163378"/>
              <a:ext cx="419100" cy="220027"/>
            </a:xfrm>
            <a:custGeom>
              <a:avLst/>
              <a:gdLst/>
              <a:ahLst/>
              <a:cxnLst/>
              <a:rect l="l" t="t" r="r" b="b"/>
              <a:pathLst>
                <a:path w="419100" h="220027">
                  <a:moveTo>
                    <a:pt x="0" y="0"/>
                  </a:moveTo>
                  <a:lnTo>
                    <a:pt x="209550" y="0"/>
                  </a:lnTo>
                  <a:lnTo>
                    <a:pt x="209550" y="220027"/>
                  </a:lnTo>
                  <a:lnTo>
                    <a:pt x="419100" y="220027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662160" y="4823460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220028"/>
                  </a:moveTo>
                  <a:lnTo>
                    <a:pt x="209550" y="22002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662160" y="5043488"/>
              <a:ext cx="419100" cy="219075"/>
            </a:xfrm>
            <a:custGeom>
              <a:avLst/>
              <a:gdLst/>
              <a:ahLst/>
              <a:cxnLst/>
              <a:rect l="l" t="t" r="r" b="b"/>
              <a:pathLst>
                <a:path w="419100" h="219075">
                  <a:moveTo>
                    <a:pt x="0" y="0"/>
                  </a:moveTo>
                  <a:lnTo>
                    <a:pt x="209550" y="0"/>
                  </a:lnTo>
                  <a:lnTo>
                    <a:pt x="209550" y="219075"/>
                  </a:lnTo>
                  <a:lnTo>
                    <a:pt x="419100" y="2190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662160" y="5702618"/>
              <a:ext cx="419100" cy="220027"/>
            </a:xfrm>
            <a:custGeom>
              <a:avLst/>
              <a:gdLst/>
              <a:ahLst/>
              <a:cxnLst/>
              <a:rect l="l" t="t" r="r" b="b"/>
              <a:pathLst>
                <a:path w="419100" h="220027">
                  <a:moveTo>
                    <a:pt x="0" y="220027"/>
                  </a:moveTo>
                  <a:lnTo>
                    <a:pt x="209550" y="22002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662160" y="5922645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0"/>
                  </a:moveTo>
                  <a:lnTo>
                    <a:pt x="209550" y="0"/>
                  </a:lnTo>
                  <a:lnTo>
                    <a:pt x="209550" y="220028"/>
                  </a:lnTo>
                  <a:lnTo>
                    <a:pt x="419100" y="2200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665720" y="1964055"/>
              <a:ext cx="419100" cy="1979295"/>
            </a:xfrm>
            <a:custGeom>
              <a:avLst/>
              <a:gdLst/>
              <a:ahLst/>
              <a:cxnLst/>
              <a:rect l="l" t="t" r="r" b="b"/>
              <a:pathLst>
                <a:path w="419100" h="1979295">
                  <a:moveTo>
                    <a:pt x="0" y="1979295"/>
                  </a:moveTo>
                  <a:lnTo>
                    <a:pt x="209550" y="197929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65720" y="3063240"/>
              <a:ext cx="419100" cy="880110"/>
            </a:xfrm>
            <a:custGeom>
              <a:avLst/>
              <a:gdLst/>
              <a:ahLst/>
              <a:cxnLst/>
              <a:rect l="l" t="t" r="r" b="b"/>
              <a:pathLst>
                <a:path w="419100" h="880110">
                  <a:moveTo>
                    <a:pt x="0" y="880110"/>
                  </a:moveTo>
                  <a:lnTo>
                    <a:pt x="209550" y="88011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665720" y="3943350"/>
              <a:ext cx="419100" cy="220028"/>
            </a:xfrm>
            <a:custGeom>
              <a:avLst/>
              <a:gdLst/>
              <a:ahLst/>
              <a:cxnLst/>
              <a:rect l="l" t="t" r="r" b="b"/>
              <a:pathLst>
                <a:path w="419100" h="220028">
                  <a:moveTo>
                    <a:pt x="0" y="0"/>
                  </a:moveTo>
                  <a:lnTo>
                    <a:pt x="209550" y="0"/>
                  </a:lnTo>
                  <a:lnTo>
                    <a:pt x="209550" y="220028"/>
                  </a:lnTo>
                  <a:lnTo>
                    <a:pt x="419100" y="22002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665720" y="3943350"/>
              <a:ext cx="419100" cy="1100138"/>
            </a:xfrm>
            <a:custGeom>
              <a:avLst/>
              <a:gdLst/>
              <a:ahLst/>
              <a:cxnLst/>
              <a:rect l="l" t="t" r="r" b="b"/>
              <a:pathLst>
                <a:path w="419100" h="1100138">
                  <a:moveTo>
                    <a:pt x="0" y="0"/>
                  </a:moveTo>
                  <a:lnTo>
                    <a:pt x="209550" y="0"/>
                  </a:lnTo>
                  <a:lnTo>
                    <a:pt x="209550" y="1100138"/>
                  </a:lnTo>
                  <a:lnTo>
                    <a:pt x="419100" y="11001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665720" y="3943350"/>
              <a:ext cx="419100" cy="1979295"/>
            </a:xfrm>
            <a:custGeom>
              <a:avLst/>
              <a:gdLst/>
              <a:ahLst/>
              <a:cxnLst/>
              <a:rect l="l" t="t" r="r" b="b"/>
              <a:pathLst>
                <a:path w="419100" h="1979295">
                  <a:moveTo>
                    <a:pt x="0" y="0"/>
                  </a:moveTo>
                  <a:lnTo>
                    <a:pt x="209550" y="0"/>
                  </a:lnTo>
                  <a:lnTo>
                    <a:pt x="209550" y="1979295"/>
                  </a:lnTo>
                  <a:lnTo>
                    <a:pt x="419100" y="197929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81260" y="1577340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81260" y="2017395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84820" y="179736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81260" y="245649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081260" y="2896552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81260" y="333660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84820" y="2896552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81260" y="3776662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81260" y="421671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084820" y="3996690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81260" y="4655820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81260" y="5095875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84820" y="487584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81260" y="5535930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081260" y="5975985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84820" y="5755958"/>
              <a:ext cx="1577340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598795" y="3776662"/>
              <a:ext cx="2065972" cy="333375"/>
            </a:xfrm>
            <a:prstGeom prst="roundRect">
              <a:avLst>
                <a:gd name="adj" fmla="val 285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171176" y="16706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批处理序列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71176" y="21107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管道／过滤器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4736" y="189071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数据流风格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171176" y="25507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主程序／子程序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171176" y="298989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面向对象风格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71176" y="3429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层次结构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174736" y="298989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调用／返回风格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71176" y="38700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进程通讯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171176" y="4310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74736" y="40900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独立构件风格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71176" y="47501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171176" y="518922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基于规则的系统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74736" y="49701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虚拟机风格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71176" y="56292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数据库系统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71176" y="606933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黑板系统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174736" y="5849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仓库风格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688711" y="3870008"/>
              <a:ext cx="1529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Garlan 和 Shaw 的分类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管道／过滤器风格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724025"/>
            <a:chOff x="533400" y="1524000"/>
            <a:chExt cx="5626418" cy="17240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857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构件读输入的数据流，经过内部处理产生输出数据流。这个过程通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常靠对输入流的变换及增量计算完成，所以输入被完全消费之前输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出便产生了。这样的构件称为过滤器，连接件是传输数据流的管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道。</a:t>
              </a:r>
            </a:p>
          </p:txBody>
        </p:sp>
      </p:grpSp>
      <p:grpSp>
        <p:nvGrpSpPr>
          <p:cNvPr id="20" name="c1-bullets-2"/>
          <p:cNvGrpSpPr/>
          <p:nvPr/>
        </p:nvGrpSpPr>
        <p:grpSpPr>
          <a:xfrm>
            <a:off x="526542" y="3445192"/>
            <a:ext cx="4066413" cy="1206056"/>
            <a:chOff x="526542" y="3445192"/>
            <a:chExt cx="4066413" cy="1206056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3445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三条限制条件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79761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762" y="376523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过滤器是独立实体，不能与其它过滤器共享状态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10908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762" y="407574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一个过滤器不知道它上游和下游的标识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41960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762" y="438721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输出的正确性不应依赖增量计算过程的顺序</a:t>
              </a:r>
            </a:p>
          </p:txBody>
        </p:sp>
      </p:grpSp>
      <p:grpSp>
        <p:nvGrpSpPr>
          <p:cNvPr id="22" name="c1-text-3"/>
          <p:cNvGrpSpPr/>
          <p:nvPr/>
        </p:nvGrpSpPr>
        <p:grpSpPr>
          <a:xfrm>
            <a:off x="527685" y="4791551"/>
            <a:ext cx="5338318" cy="661988"/>
            <a:chOff x="527685" y="4791551"/>
            <a:chExt cx="5338318" cy="661988"/>
          </a:xfrm>
        </p:grpSpPr>
        <p:sp>
          <p:nvSpPr>
            <p:cNvPr id="21" name="TextBox 21"/>
            <p:cNvSpPr txBox="1"/>
            <p:nvPr/>
          </p:nvSpPr>
          <p:spPr>
            <a:xfrm>
              <a:off x="527685" y="4791551"/>
              <a:ext cx="5338318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四个特例：pipelines 把拓扑限定为线性结构；bounded pipes 限定一个管道上可存在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的数据量；typed pipes 规定传递数据的类型；batch sequential 把全部输入作为一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个单一实体处理。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464618" y="1524000"/>
            <a:ext cx="5193982" cy="1295971"/>
            <a:chOff x="6464618" y="1524000"/>
            <a:chExt cx="5193982" cy="1295971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37200" r="0" b="37199"/>
            <a:stretch>
              <a:fillRect/>
            </a:stretch>
          </p:blipFill>
          <p:spPr>
            <a:xfrm>
              <a:off x="6464618" y="1524000"/>
              <a:ext cx="5193982" cy="997268"/>
            </a:xfrm>
            <a:prstGeom prst="roundRect">
              <a:avLst>
                <a:gd name="adj" fmla="val 13371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855268" y="261461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数据从左端流入，依次经过每个过滤器</a:t>
              </a:r>
            </a:p>
          </p:txBody>
        </p:sp>
      </p:grpSp>
      <p:grpSp>
        <p:nvGrpSpPr>
          <p:cNvPr id="48" name="c2-compare-2"/>
          <p:cNvGrpSpPr/>
          <p:nvPr/>
        </p:nvGrpSpPr>
        <p:grpSpPr>
          <a:xfrm>
            <a:off x="6464618" y="2972752"/>
            <a:ext cx="5193982" cy="2616518"/>
            <a:chOff x="6464618" y="2972752"/>
            <a:chExt cx="5193982" cy="2616518"/>
          </a:xfrm>
        </p:grpSpPr>
        <p:sp>
          <p:nvSpPr>
            <p:cNvPr id="26" name="Rectangle 26"/>
            <p:cNvSpPr/>
            <p:nvPr/>
          </p:nvSpPr>
          <p:spPr>
            <a:xfrm>
              <a:off x="6464618" y="2972752"/>
              <a:ext cx="2386965" cy="2616518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3106102"/>
              <a:ext cx="47625" cy="234981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88264" y="318706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703695" y="35633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9714" y="3507105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隐蔽性好、高内聚低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03695" y="412242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9714" y="406622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整体行为是各过滤器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的简单合成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03695" y="46824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59714" y="462629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支持重用、替换与并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行执行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03695" y="52425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9714" y="51863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可分析吞吐量和死锁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71635" y="2972752"/>
              <a:ext cx="2386965" cy="2616518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81160" y="3106102"/>
              <a:ext cx="47625" cy="234981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95282" y="318706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510712" y="35633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66732" y="35071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容易变成批处理结构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510712" y="38652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66732" y="38090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不适合交互式应用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510712" y="41681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66732" y="4111942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解析和合成数据要自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己写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900160" y="41186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76631" y="422005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4217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典型应用是 Unix shell 的管道和编译器的各遍扫描。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数据抽象与面向对象风格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545908"/>
            <a:chOff x="533400" y="1524000"/>
            <a:chExt cx="5193982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将数据的表示和相关操作封装在一个抽象数据类型或对象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中。这种风格的构件是对象，或者说是抽象数据类型的实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例；对象是通过函数和过程的调用来交互的。</a:t>
              </a:r>
            </a:p>
          </p:txBody>
        </p:sp>
      </p:grpSp>
      <p:grpSp>
        <p:nvGrpSpPr>
          <p:cNvPr id="18" name="c1-bullets-2"/>
          <p:cNvGrpSpPr/>
          <p:nvPr/>
        </p:nvGrpSpPr>
        <p:grpSpPr>
          <a:xfrm>
            <a:off x="526161" y="3278981"/>
            <a:ext cx="3697300" cy="946405"/>
            <a:chOff x="526161" y="3278981"/>
            <a:chExt cx="3697300" cy="946405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32789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两个限制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3651885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8096" y="3618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对象要负责保证其数据表示的完整性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98145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0"/>
                  </a:moveTo>
                  <a:lnTo>
                    <a:pt x="108585" y="108585"/>
                  </a:lnTo>
                  <a:moveTo>
                    <a:pt x="108585" y="0"/>
                  </a:moveTo>
                  <a:lnTo>
                    <a:pt x="0" y="108585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8096" y="394668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对象的数据表示对其他对象来说是隐藏的</a:t>
              </a:r>
            </a:p>
          </p:txBody>
        </p:sp>
      </p:grpSp>
      <p:grpSp>
        <p:nvGrpSpPr>
          <p:cNvPr id="39" name="c1-graph-3"/>
          <p:cNvGrpSpPr/>
          <p:nvPr/>
        </p:nvGrpSpPr>
        <p:grpSpPr>
          <a:xfrm>
            <a:off x="1116330" y="4431030"/>
            <a:ext cx="4027170" cy="1562100"/>
            <a:chOff x="1116330" y="4431030"/>
            <a:chExt cx="4027170" cy="1562100"/>
          </a:xfrm>
        </p:grpSpPr>
        <p:sp>
          <p:nvSpPr>
            <p:cNvPr id="19" name="Freeform 19"/>
            <p:cNvSpPr/>
            <p:nvPr/>
          </p:nvSpPr>
          <p:spPr>
            <a:xfrm>
              <a:off x="1621155" y="4678680"/>
              <a:ext cx="2922270" cy="9525"/>
            </a:xfrm>
            <a:custGeom>
              <a:avLst/>
              <a:gdLst/>
              <a:ahLst/>
              <a:cxnLst/>
              <a:rect l="l" t="t" r="r" b="b"/>
              <a:pathLst>
                <a:path w="2922270" h="9525">
                  <a:moveTo>
                    <a:pt x="0" y="0"/>
                  </a:moveTo>
                  <a:lnTo>
                    <a:pt x="2922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543425" y="4631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611630" y="4751070"/>
              <a:ext cx="1180148" cy="345758"/>
            </a:xfrm>
            <a:custGeom>
              <a:avLst/>
              <a:gdLst/>
              <a:ahLst/>
              <a:cxnLst/>
              <a:rect l="l" t="t" r="r" b="b"/>
              <a:pathLst>
                <a:path w="1180148" h="345758">
                  <a:moveTo>
                    <a:pt x="0" y="0"/>
                  </a:moveTo>
                  <a:lnTo>
                    <a:pt x="1180148" y="3457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778442" y="505110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2390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377565" y="4777740"/>
              <a:ext cx="1180147" cy="345757"/>
            </a:xfrm>
            <a:custGeom>
              <a:avLst/>
              <a:gdLst/>
              <a:ahLst/>
              <a:cxnLst/>
              <a:rect l="l" t="t" r="r" b="b"/>
              <a:pathLst>
                <a:path w="1180147" h="345757">
                  <a:moveTo>
                    <a:pt x="0" y="345757"/>
                  </a:moveTo>
                  <a:lnTo>
                    <a:pt x="11801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544378" y="473202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9050"/>
                  </a:moveTo>
                  <a:lnTo>
                    <a:pt x="26670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701165" y="5272088"/>
              <a:ext cx="1183957" cy="368618"/>
            </a:xfrm>
            <a:custGeom>
              <a:avLst/>
              <a:gdLst/>
              <a:ahLst/>
              <a:cxnLst/>
              <a:rect l="l" t="t" r="r" b="b"/>
              <a:pathLst>
                <a:path w="1183957" h="368618">
                  <a:moveTo>
                    <a:pt x="1183957" y="0"/>
                  </a:moveTo>
                  <a:lnTo>
                    <a:pt x="0" y="3686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609725" y="5594985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0" y="74295"/>
                  </a:moveTo>
                  <a:lnTo>
                    <a:pt x="77152" y="0"/>
                  </a:lnTo>
                  <a:lnTo>
                    <a:pt x="105727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375660" y="5272088"/>
              <a:ext cx="1183958" cy="368618"/>
            </a:xfrm>
            <a:custGeom>
              <a:avLst/>
              <a:gdLst/>
              <a:ahLst/>
              <a:cxnLst/>
              <a:rect l="l" t="t" r="r" b="b"/>
              <a:pathLst>
                <a:path w="1183958" h="368618">
                  <a:moveTo>
                    <a:pt x="0" y="0"/>
                  </a:moveTo>
                  <a:lnTo>
                    <a:pt x="1183958" y="3686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45330" y="5594985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74295"/>
                  </a:moveTo>
                  <a:lnTo>
                    <a:pt x="0" y="9144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116330" y="443103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648200" y="443103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882265" y="4948238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116330" y="549783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648200" y="549783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17295" y="46129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9165" y="46129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83230" y="51301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17295" y="56797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49165" y="56797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</p:grpSp>
      <p:grpSp>
        <p:nvGrpSpPr>
          <p:cNvPr id="56" name="c2-compare-1"/>
          <p:cNvGrpSpPr/>
          <p:nvPr/>
        </p:nvGrpSpPr>
        <p:grpSpPr>
          <a:xfrm>
            <a:off x="6032182" y="1524000"/>
            <a:ext cx="5626418" cy="3212782"/>
            <a:chOff x="6032182" y="1524000"/>
            <a:chExt cx="5626418" cy="3212782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2604135" cy="3212782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1657350"/>
              <a:ext cx="47625" cy="29460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66879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81738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38329" y="2090261"/>
              <a:ext cx="18178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对象对其它对象隐藏它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的表示，可以改变一个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对象的表示而不影响它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的使用者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81738" y="32842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38329" y="3224689"/>
              <a:ext cx="18178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访问数据的操作和数据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绑定在一起，设计者可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以把问题分解成一些交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互的代理程序的集合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054465" y="1524000"/>
              <a:ext cx="2604135" cy="3212782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063990" y="1657350"/>
              <a:ext cx="47625" cy="29460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89161" y="17511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304020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60611" y="2090261"/>
              <a:ext cx="18178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要通过过程调用交互就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必须知道对象的标识，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标识一改，所有明确调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用它的对象都要修改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304020" y="32842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60611" y="3224689"/>
              <a:ext cx="1790827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副作用难以预料：A 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用了对象 B，C 也使用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 B，C 对 B 的使用给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造成的影响可能是料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想不到的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682990" y="296799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53330" y="306514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032182" y="4921568"/>
            <a:ext cx="5626418" cy="1049655"/>
            <a:chOff x="6032182" y="4921568"/>
            <a:chExt cx="5626418" cy="1049655"/>
          </a:xfrm>
        </p:grpSpPr>
        <p:sp>
          <p:nvSpPr>
            <p:cNvPr id="57" name="Rectangle 57"/>
            <p:cNvSpPr/>
            <p:nvPr/>
          </p:nvSpPr>
          <p:spPr>
            <a:xfrm>
              <a:off x="6032182" y="4921568"/>
              <a:ext cx="5626418" cy="1049655"/>
            </a:xfrm>
            <a:prstGeom prst="roundRect">
              <a:avLst>
                <a:gd name="adj" fmla="val 1088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236970" y="5347335"/>
              <a:ext cx="200026" cy="200026"/>
              <a:chOff x="6236970" y="534733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236970" y="53473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336983" y="5414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325870" y="54473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539294" y="5216366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这种风格属于调用／返回风格，和主程序／子程序、层次结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构是同一类。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基于事件的隐式调用风格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700212"/>
            <a:chOff x="533400" y="1524000"/>
            <a:chExt cx="5410200" cy="17002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构件不直接调用一个过程，而是发布或广播一个或多个事件；系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统中其它构件为它感兴趣的事件注册过程。当一个事件被发布，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系统自动调用在这个事件中注册的所有过程，于是一个事件的发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布就"隐式地"激发了另一模块中的过程。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93758"/>
            <a:ext cx="5410200" cy="1443038"/>
            <a:chOff x="533400" y="3393758"/>
            <a:chExt cx="5410200" cy="1443038"/>
          </a:xfrm>
        </p:grpSpPr>
        <p:sp>
          <p:nvSpPr>
            <p:cNvPr id="13" name="Rectangle 13"/>
            <p:cNvSpPr/>
            <p:nvPr/>
          </p:nvSpPr>
          <p:spPr>
            <a:xfrm>
              <a:off x="533400" y="3393758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52710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58044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660" y="361330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构件的接口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925252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这种风格的构件是一些模块，模块的接口既提供了一些过程，也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有一些事件的集合。过程可以用通用的方式调用，构件也可以在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系统事件中注册一些过程。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006340"/>
            <a:ext cx="5410200" cy="1101090"/>
            <a:chOff x="533400" y="5006340"/>
            <a:chExt cx="5410200" cy="1101090"/>
          </a:xfrm>
        </p:grpSpPr>
        <p:sp>
          <p:nvSpPr>
            <p:cNvPr id="19" name="Rectangle 19"/>
            <p:cNvSpPr/>
            <p:nvPr/>
          </p:nvSpPr>
          <p:spPr>
            <a:xfrm>
              <a:off x="533400" y="5006340"/>
              <a:ext cx="5410200" cy="1101090"/>
            </a:xfrm>
            <a:prstGeom prst="roundRect">
              <a:avLst>
                <a:gd name="adj" fmla="val 1038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454133"/>
              <a:ext cx="224134" cy="192560"/>
              <a:chOff x="726129" y="5454133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5245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4541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602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33876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事件的发布者并不知道哪些构件会被这些事件影响，不能假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定构件的处理顺序，甚至不知道哪些过程会被调用。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861185"/>
            <a:chOff x="6248400" y="1524000"/>
            <a:chExt cx="5410200" cy="186118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3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5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6332" y="20545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在编程环境中集成各种工具；在数据库管理系统中确保一致性约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束；在用户界面系统中管理数据；在编辑器中支持语法检查。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7475" y="2608421"/>
              <a:ext cx="4705350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例：编辑器和变量监视器向调试器登记断点事件。调试器在断点停下时声明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该事件，系统自动调用注册的处理程序：编辑器卷屏到断点，变量监视器刷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新数值。</a:t>
              </a:r>
            </a:p>
          </p:txBody>
        </p:sp>
      </p:grpSp>
      <p:grpSp>
        <p:nvGrpSpPr>
          <p:cNvPr id="51" name="c2-compare-2"/>
          <p:cNvGrpSpPr/>
          <p:nvPr/>
        </p:nvGrpSpPr>
        <p:grpSpPr>
          <a:xfrm>
            <a:off x="6248400" y="3555682"/>
            <a:ext cx="5410200" cy="2552700"/>
            <a:chOff x="6248400" y="3555682"/>
            <a:chExt cx="5410200" cy="2552700"/>
          </a:xfrm>
        </p:grpSpPr>
        <p:sp>
          <p:nvSpPr>
            <p:cNvPr id="33" name="Rectangle 33"/>
            <p:cNvSpPr/>
            <p:nvPr/>
          </p:nvSpPr>
          <p:spPr>
            <a:xfrm>
              <a:off x="6248400" y="3555682"/>
              <a:ext cx="2495550" cy="255270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689032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6332" y="37642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1762" y="41376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7782" y="4081462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为软件重用提供强大支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持，加入新构件只需把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它注册到系统的事件中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1762" y="49520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7782" y="4895850"/>
              <a:ext cx="17282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用一个构件代替另一个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构件时，不会影响其它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构件的接口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63050" y="3555682"/>
              <a:ext cx="2495550" cy="255270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172575" y="3689032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80982" y="37642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396412" y="413766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552432" y="408146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构件放弃了对系统计算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的控制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396412" y="46948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52432" y="463867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数据交换的问题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9396412" y="49949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52432" y="4938712"/>
              <a:ext cx="172821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过程的语义依赖被触发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事件的上下文约束，关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于正确性的推理存在问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8791575" y="467010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74808" y="477583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层次系统风格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071688"/>
            <a:chOff x="533400" y="1524000"/>
            <a:chExt cx="5626418" cy="20716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层次系统组织成一个层次结构，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每一层为上层服务，并作为下层的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。在一些层次系统中，除了一些精心挑选的用于输出的函数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外，内部的层只对相邻的外层可见。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94608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88988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连接件由决定层间如何交互的协议来定义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2489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19278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拓扑约束是对相邻层间交互的约束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542" y="3792855"/>
            <a:ext cx="5633276" cy="1060323"/>
            <a:chOff x="526542" y="3792855"/>
            <a:chExt cx="5633276" cy="1060323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37928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分层通信协议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45754" y="3792855"/>
              <a:ext cx="2551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OSI 七层模型、TCP／IP 协议族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081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542" y="4191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数据库系统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5754" y="41910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从存储管理到查询处理逐层向上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4796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542" y="458914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45754" y="45891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内核、系统调用、应用程序逐层向外</a:t>
              </a:r>
            </a:p>
          </p:txBody>
        </p:sp>
      </p:grpSp>
      <p:grpSp>
        <p:nvGrpSpPr>
          <p:cNvPr id="46" name="c2-flow-1"/>
          <p:cNvGrpSpPr/>
          <p:nvPr/>
        </p:nvGrpSpPr>
        <p:grpSpPr>
          <a:xfrm>
            <a:off x="6828472" y="1593532"/>
            <a:ext cx="4466272" cy="2009776"/>
            <a:chOff x="6828472" y="1593532"/>
            <a:chExt cx="4466272" cy="2009776"/>
          </a:xfrm>
        </p:grpSpPr>
        <p:sp>
          <p:nvSpPr>
            <p:cNvPr id="26" name="Freeform 26"/>
            <p:cNvSpPr/>
            <p:nvPr/>
          </p:nvSpPr>
          <p:spPr>
            <a:xfrm>
              <a:off x="9062085" y="1991678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0"/>
                  </a:moveTo>
                  <a:lnTo>
                    <a:pt x="0" y="33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009698" y="2025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062085" y="2528888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0"/>
                  </a:moveTo>
                  <a:lnTo>
                    <a:pt x="0" y="33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009698" y="25622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062085" y="3066098"/>
              <a:ext cx="9525" cy="33338"/>
            </a:xfrm>
            <a:custGeom>
              <a:avLst/>
              <a:gdLst/>
              <a:ahLst/>
              <a:cxnLst/>
              <a:rect l="l" t="t" r="r" b="b"/>
              <a:pathLst>
                <a:path w="9525" h="33338">
                  <a:moveTo>
                    <a:pt x="0" y="0"/>
                  </a:moveTo>
                  <a:lnTo>
                    <a:pt x="0" y="333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09698" y="30994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828472" y="1593532"/>
              <a:ext cx="4466272" cy="398145"/>
            </a:xfrm>
            <a:custGeom>
              <a:avLst/>
              <a:gdLst/>
              <a:ahLst/>
              <a:cxnLst/>
              <a:rect l="l" t="t" r="r" b="b"/>
              <a:pathLst>
                <a:path w="4466272" h="398145">
                  <a:moveTo>
                    <a:pt x="133350" y="0"/>
                  </a:moveTo>
                  <a:lnTo>
                    <a:pt x="4466272" y="0"/>
                  </a:lnTo>
                  <a:lnTo>
                    <a:pt x="4332922" y="398145"/>
                  </a:lnTo>
                  <a:lnTo>
                    <a:pt x="0" y="398145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28472" y="2129790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28472" y="2667000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28472" y="3204210"/>
              <a:ext cx="4466272" cy="399098"/>
            </a:xfrm>
            <a:prstGeom prst="roundRect">
              <a:avLst>
                <a:gd name="adj" fmla="val 23866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5596" y="17140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79434" y="22512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有用的系统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4821" y="27874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基本工具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30208" y="33247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090660" y="1975485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114282" y="200072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过程调用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090660" y="2512695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14282" y="25369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过程调用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090660" y="3049905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14282" y="30741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过程调用</a:t>
              </a:r>
            </a:p>
          </p:txBody>
        </p:sp>
      </p:grpSp>
      <p:grpSp>
        <p:nvGrpSpPr>
          <p:cNvPr id="65" name="c2-compare-2"/>
          <p:cNvGrpSpPr/>
          <p:nvPr/>
        </p:nvGrpSpPr>
        <p:grpSpPr>
          <a:xfrm>
            <a:off x="6464618" y="3847148"/>
            <a:ext cx="5193982" cy="1800225"/>
            <a:chOff x="6464618" y="3847148"/>
            <a:chExt cx="5193982" cy="1800225"/>
          </a:xfrm>
        </p:grpSpPr>
        <p:sp>
          <p:nvSpPr>
            <p:cNvPr id="47" name="Rectangle 47"/>
            <p:cNvSpPr/>
            <p:nvPr/>
          </p:nvSpPr>
          <p:spPr>
            <a:xfrm>
              <a:off x="6464618" y="3847148"/>
              <a:ext cx="238696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3980498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88264" y="4061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03695" y="4437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59714" y="438150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支持基于抽象程度递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增的系统设计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03695" y="499776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59714" y="49415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支持功能增强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03695" y="529971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9714" y="52435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支持重用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71635" y="3847148"/>
              <a:ext cx="2386965" cy="1800225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81160" y="3980498"/>
              <a:ext cx="47625" cy="15335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495282" y="406146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510712" y="44376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666732" y="438150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并不是每个系统都容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易划分为分层的模式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510712" y="499776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66732" y="4941570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很难找到合适的、正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确的层次抽象方法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900160" y="45853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76631" y="46858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6463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更正：原课件把层次系统写作 Layerd System，正确拼写是 Layered System。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仓库风格与解释器风格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328862"/>
            <a:chOff x="533400" y="1524000"/>
            <a:chExt cx="5626418" cy="2328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37255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840" y="1750695"/>
              <a:ext cx="1247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仓库 Repositories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两种不同的构件：中央数据结构说明当前状态，一组独立构件在中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央数据存贮上执行。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63271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若是输入流中的事务类型触发选择执行进程，仓库就是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传统型数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24897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19278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若是中央数据结构的当前状态触发选择执行进程，仓库就是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黑板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28122"/>
            <a:ext cx="5626418" cy="2328862"/>
            <a:chOff x="533400" y="4028122"/>
            <a:chExt cx="5626418" cy="2328862"/>
          </a:xfrm>
        </p:grpSpPr>
        <p:sp>
          <p:nvSpPr>
            <p:cNvPr id="17" name="Rectangle 17"/>
            <p:cNvSpPr/>
            <p:nvPr/>
          </p:nvSpPr>
          <p:spPr>
            <a:xfrm>
              <a:off x="533400" y="4028122"/>
              <a:ext cx="5626418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161472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22052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425481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黑板系统的三部分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7047" y="457676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知识源：包含独立的、与应用程序相关的知识，知识源之间不直接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通讯，交互只通过黑板完成。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5136833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黑板数据结构：按与应用相关的层次组织的问题求解状态数据，知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识源不断改变它来解决问题。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69595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控制：完全由黑板的状态驱动，黑板状态一变知识源就响应。应用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于语音和模式识别系统。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911340" y="1572578"/>
            <a:ext cx="4300538" cy="1636394"/>
            <a:chOff x="6911340" y="1572578"/>
            <a:chExt cx="4300538" cy="1636394"/>
          </a:xfrm>
        </p:grpSpPr>
        <p:sp>
          <p:nvSpPr>
            <p:cNvPr id="25" name="Freeform 25"/>
            <p:cNvSpPr/>
            <p:nvPr/>
          </p:nvSpPr>
          <p:spPr>
            <a:xfrm>
              <a:off x="7459028" y="1899285"/>
              <a:ext cx="1087755" cy="333375"/>
            </a:xfrm>
            <a:custGeom>
              <a:avLst/>
              <a:gdLst/>
              <a:ahLst/>
              <a:cxnLst/>
              <a:rect l="l" t="t" r="r" b="b"/>
              <a:pathLst>
                <a:path w="1087755" h="333375">
                  <a:moveTo>
                    <a:pt x="0" y="0"/>
                  </a:moveTo>
                  <a:lnTo>
                    <a:pt x="1087755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532495" y="218694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73343"/>
                  </a:moveTo>
                  <a:lnTo>
                    <a:pt x="0" y="9144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367588" y="185356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18098"/>
                  </a:moveTo>
                  <a:lnTo>
                    <a:pt x="104775" y="0"/>
                  </a:lnTo>
                  <a:lnTo>
                    <a:pt x="77153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9576435" y="1899285"/>
              <a:ext cx="1088708" cy="333375"/>
            </a:xfrm>
            <a:custGeom>
              <a:avLst/>
              <a:gdLst/>
              <a:ahLst/>
              <a:cxnLst/>
              <a:rect l="l" t="t" r="r" b="b"/>
              <a:pathLst>
                <a:path w="1088708" h="333375">
                  <a:moveTo>
                    <a:pt x="1088708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485948" y="218694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3343"/>
                  </a:moveTo>
                  <a:lnTo>
                    <a:pt x="77153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0650855" y="185356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18098"/>
                  </a:moveTo>
                  <a:lnTo>
                    <a:pt x="27622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459028" y="2548890"/>
              <a:ext cx="1087755" cy="333375"/>
            </a:xfrm>
            <a:custGeom>
              <a:avLst/>
              <a:gdLst/>
              <a:ahLst/>
              <a:cxnLst/>
              <a:rect l="l" t="t" r="r" b="b"/>
              <a:pathLst>
                <a:path w="1087755" h="333375">
                  <a:moveTo>
                    <a:pt x="0" y="333375"/>
                  </a:moveTo>
                  <a:lnTo>
                    <a:pt x="10877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32495" y="2503170"/>
              <a:ext cx="105728" cy="91440"/>
            </a:xfrm>
            <a:custGeom>
              <a:avLst/>
              <a:gdLst/>
              <a:ahLst/>
              <a:cxnLst/>
              <a:rect l="l" t="t" r="r" b="b"/>
              <a:pathLst>
                <a:path w="105728" h="91440">
                  <a:moveTo>
                    <a:pt x="105728" y="17145"/>
                  </a:moveTo>
                  <a:lnTo>
                    <a:pt x="28575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367588" y="283654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3342"/>
                  </a:moveTo>
                  <a:lnTo>
                    <a:pt x="77153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576435" y="2548890"/>
              <a:ext cx="1088708" cy="333375"/>
            </a:xfrm>
            <a:custGeom>
              <a:avLst/>
              <a:gdLst/>
              <a:ahLst/>
              <a:cxnLst/>
              <a:rect l="l" t="t" r="r" b="b"/>
              <a:pathLst>
                <a:path w="1088708" h="333375">
                  <a:moveTo>
                    <a:pt x="1088708" y="3333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85948" y="250317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17145"/>
                  </a:moveTo>
                  <a:lnTo>
                    <a:pt x="104775" y="0"/>
                  </a:lnTo>
                  <a:lnTo>
                    <a:pt x="77153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650855" y="283654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3342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238172" y="2260282"/>
              <a:ext cx="1646872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911340" y="157257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754678" y="157257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911340" y="27517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754678" y="2751772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29422" y="233029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黑板（共享数据）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14236" y="174069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KS1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57573" y="174069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KS2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4236" y="2919889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KS3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57573" y="2919889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KS4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3432810"/>
            <a:ext cx="5193982" cy="2924175"/>
            <a:chOff x="6464618" y="3432810"/>
            <a:chExt cx="5193982" cy="2924175"/>
          </a:xfrm>
        </p:grpSpPr>
        <p:sp>
          <p:nvSpPr>
            <p:cNvPr id="48" name="Rectangle 48"/>
            <p:cNvSpPr/>
            <p:nvPr/>
          </p:nvSpPr>
          <p:spPr>
            <a:xfrm>
              <a:off x="6464618" y="3432810"/>
              <a:ext cx="5193982" cy="2924175"/>
            </a:xfrm>
            <a:prstGeom prst="roundRect">
              <a:avLst>
                <a:gd name="adj" fmla="val 4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3566160"/>
              <a:ext cx="47625" cy="26574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5122" y="3625215"/>
              <a:ext cx="154114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2515" y="3659505"/>
              <a:ext cx="1426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解释器 Interpreters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398145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解释器取一串称为伪代码的字符，把它转换成可以执行的实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际代码。它不仅能把程序设计语言转换成机器码，也能把任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何一种编码转换成更明确、更可用的形式。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03695" y="48548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59714" y="4798695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四个组成部分：存放待解释伪代码的存储区；转换伪代码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并模拟它所表示程序的解释引擎；解释引擎的当前状态；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被模拟程序的当前状态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过程控制风格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701290"/>
            <a:chOff x="533400" y="1524000"/>
            <a:chExt cx="5410200" cy="27012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01290"/>
            </a:xfrm>
            <a:prstGeom prst="roundRect">
              <a:avLst>
                <a:gd name="adj" fmla="val 4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3459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特点与目的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过程控制系统的特征不仅由构件类型刻画，也由构件之间的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关系刻画。它通过对输入和中间产品的持续操作，把输入转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换为有特定属性的最终产品。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30032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943701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目的是把过程结果的特定属性维持在"设定点"附近，例如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核电站、空调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5928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532346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主要构件：过程定义、过程变量、传感器、设定点、控制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</p:grpSp>
      <p:grpSp>
        <p:nvGrpSpPr>
          <p:cNvPr id="31" name="c1-kv-2"/>
          <p:cNvGrpSpPr/>
          <p:nvPr/>
        </p:nvGrpSpPr>
        <p:grpSpPr>
          <a:xfrm>
            <a:off x="526161" y="4428649"/>
            <a:ext cx="5417439" cy="1943672"/>
            <a:chOff x="526161" y="4428649"/>
            <a:chExt cx="5417439" cy="1943672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442864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过程变量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5334" y="442864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某个过程的可以被测量的属性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7320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8448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受控变量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5334" y="484489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系统希望控制其值变化的过程变量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1482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161" y="52611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输入变量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25334" y="526113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用于监测过程某个输入的过程变量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55645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161" y="567737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操作变量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25334" y="567737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控制器可改变其值的过程变量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9807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161" y="609361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设定点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5334" y="609361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受控变量的期望值</a:t>
              </a:r>
            </a:p>
          </p:txBody>
        </p:sp>
      </p:grpSp>
      <p:grpSp>
        <p:nvGrpSpPr>
          <p:cNvPr id="48" name="c2-flow-1"/>
          <p:cNvGrpSpPr/>
          <p:nvPr/>
        </p:nvGrpSpPr>
        <p:grpSpPr>
          <a:xfrm>
            <a:off x="6381750" y="1941195"/>
            <a:ext cx="5143500" cy="1089374"/>
            <a:chOff x="6381750" y="1941195"/>
            <a:chExt cx="5143500" cy="1089374"/>
          </a:xfrm>
        </p:grpSpPr>
        <p:sp>
          <p:nvSpPr>
            <p:cNvPr id="32" name="Freeform 32"/>
            <p:cNvSpPr/>
            <p:nvPr/>
          </p:nvSpPr>
          <p:spPr>
            <a:xfrm>
              <a:off x="7918132" y="237458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080058" y="23221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722168" y="237458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84092" y="23221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150418" y="2580322"/>
              <a:ext cx="3606165" cy="441008"/>
            </a:xfrm>
            <a:custGeom>
              <a:avLst/>
              <a:gdLst/>
              <a:ahLst/>
              <a:cxnLst/>
              <a:rect l="l" t="t" r="r" b="b"/>
              <a:pathLst>
                <a:path w="3606165" h="441008">
                  <a:moveTo>
                    <a:pt x="3606165" y="0"/>
                  </a:moveTo>
                  <a:lnTo>
                    <a:pt x="3606165" y="209550"/>
                  </a:lnTo>
                  <a:lnTo>
                    <a:pt x="3606165" y="441008"/>
                  </a:lnTo>
                  <a:lnTo>
                    <a:pt x="1803082" y="441008"/>
                  </a:lnTo>
                  <a:lnTo>
                    <a:pt x="0" y="441008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98030" y="25803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216884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84832" y="2168842"/>
              <a:ext cx="153638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988868" y="2168842"/>
              <a:ext cx="1536382" cy="41148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02006" y="22907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85860" y="229076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7398" y="22907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受控变量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755255" y="1941195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82674" y="19664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操作变量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496425" y="2814638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20746" y="283987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反馈测量值</a:t>
              </a:r>
            </a:p>
          </p:txBody>
        </p:sp>
      </p:grpSp>
      <p:grpSp>
        <p:nvGrpSpPr>
          <p:cNvPr id="67" name="c2-compare-2"/>
          <p:cNvGrpSpPr/>
          <p:nvPr/>
        </p:nvGrpSpPr>
        <p:grpSpPr>
          <a:xfrm>
            <a:off x="6248400" y="3405188"/>
            <a:ext cx="5410200" cy="2910840"/>
            <a:chOff x="6248400" y="3405188"/>
            <a:chExt cx="5410200" cy="2910840"/>
          </a:xfrm>
        </p:grpSpPr>
        <p:sp>
          <p:nvSpPr>
            <p:cNvPr id="49" name="Rectangle 49"/>
            <p:cNvSpPr/>
            <p:nvPr/>
          </p:nvSpPr>
          <p:spPr>
            <a:xfrm>
              <a:off x="6248400" y="3405188"/>
              <a:ext cx="2495550" cy="291084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538538"/>
              <a:ext cx="47625" cy="2644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77381" y="36266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反馈控制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40224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396287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测量受控变量本身（例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如温度）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2240" y="46120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8831" y="455152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据此调整过程，使受控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变量保持在设定点附近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163050" y="3405188"/>
              <a:ext cx="2495550" cy="291084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172575" y="3538538"/>
              <a:ext cx="47625" cy="26441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92031" y="36266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前馈控制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406890" y="402240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563481" y="396287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测量其他可作为先兆的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过程变量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406890" y="461200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63481" y="455152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预测未来影响并提前调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9406890" y="52006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563481" y="514111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受控变量的改变更加及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791575" y="469868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68046" y="480012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客户／服务器与三层 C/S 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887855"/>
            <a:chOff x="533400" y="1524000"/>
            <a:chExt cx="497776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客户／服务器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客户系统请求某个动作或服务，服务器系统响应该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请求。服务器不必知道客户的身份和数目，客户知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道服务器的身份。这种风格基于资源不对等，为实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现共享而提出。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25780" y="3627120"/>
            <a:ext cx="4644390" cy="1967865"/>
            <a:chOff x="525780" y="3627120"/>
            <a:chExt cx="4644390" cy="1967865"/>
          </a:xfrm>
        </p:grpSpPr>
        <p:sp>
          <p:nvSpPr>
            <p:cNvPr id="13" name="TextBox 13"/>
            <p:cNvSpPr txBox="1"/>
            <p:nvPr/>
          </p:nvSpPr>
          <p:spPr>
            <a:xfrm>
              <a:off x="525780" y="3627120"/>
              <a:ext cx="2336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传统二层 C/S 结构的局限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401764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3430" y="39814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单一服务器且以局域网为中心，难以扩展至大型企业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广域网和 Internet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46482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430" y="46120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软、硬件的组合及集成能力有限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99300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3430" y="49568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客户端的负荷太重，系统性能容易变坏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533781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3430" y="5301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数据安全性不好</a:t>
              </a:r>
            </a:p>
          </p:txBody>
        </p:sp>
      </p:grpSp>
      <p:grpSp>
        <p:nvGrpSpPr>
          <p:cNvPr id="33" name="c2-flow-1"/>
          <p:cNvGrpSpPr/>
          <p:nvPr/>
        </p:nvGrpSpPr>
        <p:grpSpPr>
          <a:xfrm>
            <a:off x="5952172" y="1828800"/>
            <a:ext cx="5570221" cy="438150"/>
            <a:chOff x="5952172" y="1828800"/>
            <a:chExt cx="5570221" cy="438150"/>
          </a:xfrm>
        </p:grpSpPr>
        <p:sp>
          <p:nvSpPr>
            <p:cNvPr id="23" name="Freeform 23"/>
            <p:cNvSpPr/>
            <p:nvPr/>
          </p:nvSpPr>
          <p:spPr>
            <a:xfrm>
              <a:off x="7626668" y="2047875"/>
              <a:ext cx="168592" cy="9525"/>
            </a:xfrm>
            <a:custGeom>
              <a:avLst/>
              <a:gdLst/>
              <a:ahLst/>
              <a:cxnLst/>
              <a:rect l="l" t="t" r="r" b="b"/>
              <a:pathLst>
                <a:path w="168592" h="9525">
                  <a:moveTo>
                    <a:pt x="0" y="0"/>
                  </a:moveTo>
                  <a:lnTo>
                    <a:pt x="168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95260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574530" y="2047875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742170" y="19954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952172" y="1828800"/>
              <a:ext cx="1674495" cy="438150"/>
            </a:xfrm>
            <a:custGeom>
              <a:avLst/>
              <a:gdLst/>
              <a:ahLst/>
              <a:cxnLst/>
              <a:rect l="l" t="t" r="r" b="b"/>
              <a:pathLst>
                <a:path w="1674495" h="438150">
                  <a:moveTo>
                    <a:pt x="133350" y="0"/>
                  </a:moveTo>
                  <a:lnTo>
                    <a:pt x="1674495" y="0"/>
                  </a:lnTo>
                  <a:lnTo>
                    <a:pt x="154114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00035" y="1828800"/>
              <a:ext cx="1675448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846945" y="1828800"/>
              <a:ext cx="1675448" cy="438150"/>
            </a:xfrm>
            <a:custGeom>
              <a:avLst/>
              <a:gdLst/>
              <a:ahLst/>
              <a:cxnLst/>
              <a:rect l="l" t="t" r="r" b="b"/>
              <a:pathLst>
                <a:path w="1675448" h="438150">
                  <a:moveTo>
                    <a:pt x="133350" y="0"/>
                  </a:moveTo>
                  <a:lnTo>
                    <a:pt x="1675448" y="0"/>
                  </a:lnTo>
                  <a:lnTo>
                    <a:pt x="154209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10629" y="1958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00022" y="195881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应用服务器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61727" y="19588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数据库服务器</a:t>
              </a:r>
            </a:p>
          </p:txBody>
        </p:sp>
      </p:grpSp>
      <p:grpSp>
        <p:nvGrpSpPr>
          <p:cNvPr id="35" name="c2-text-2"/>
          <p:cNvGrpSpPr/>
          <p:nvPr/>
        </p:nvGrpSpPr>
        <p:grpSpPr>
          <a:xfrm>
            <a:off x="5973788" y="2783681"/>
            <a:ext cx="5526989" cy="249364"/>
            <a:chOff x="5973788" y="2783681"/>
            <a:chExt cx="5526989" cy="249364"/>
          </a:xfrm>
        </p:grpSpPr>
        <p:sp>
          <p:nvSpPr>
            <p:cNvPr id="34" name="TextBox 34"/>
            <p:cNvSpPr txBox="1"/>
            <p:nvPr/>
          </p:nvSpPr>
          <p:spPr>
            <a:xfrm>
              <a:off x="5973788" y="2783681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用户提出业务处理请求，应用服务器再向数据库服务器提出数据存取请求</a:t>
              </a:r>
            </a:p>
          </p:txBody>
        </p:sp>
      </p:grpSp>
      <p:grpSp>
        <p:nvGrpSpPr>
          <p:cNvPr id="50" name="c2-table-3"/>
          <p:cNvGrpSpPr/>
          <p:nvPr/>
        </p:nvGrpSpPr>
        <p:grpSpPr>
          <a:xfrm>
            <a:off x="5815965" y="3172778"/>
            <a:ext cx="5842635" cy="2248852"/>
            <a:chOff x="5815965" y="3172778"/>
            <a:chExt cx="5842635" cy="2248852"/>
          </a:xfrm>
        </p:grpSpPr>
        <p:sp>
          <p:nvSpPr>
            <p:cNvPr id="36" name="Rectangle 36"/>
            <p:cNvSpPr/>
            <p:nvPr/>
          </p:nvSpPr>
          <p:spPr>
            <a:xfrm>
              <a:off x="5815965" y="3172778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90056" y="330850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6169" y="33085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23788" y="38704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8191" y="3757136"/>
              <a:ext cx="4402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应用的用户接口部分，担负用户与应用间的对话功能；检查用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户从键盘等设备输入的数据，显示应用输出的数据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42929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429768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3788" y="45458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8191" y="4432459"/>
              <a:ext cx="44020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应用的本体，把具体的业务处理逻辑编入程序；处理所需的数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据从表示层或数据层取得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96824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3788" y="51077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58191" y="51077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数据库管理系统，负责管理对数据库数据的读写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172778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45605" y="3172778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三层结构把界面、业务和数据分开，客户端变轻，业务逻辑集中在应用服务器上，扩展也更容易。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2454" cy="909257"/>
            <a:chOff x="520446" y="342900"/>
            <a:chExt cx="62224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24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实例：同一个 KWIC 问题的四种设计方案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578465" cy="569595"/>
            <a:chOff x="525780" y="1548765"/>
            <a:chExt cx="1057846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578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KWIC 索引系统接收一个有序的行集合，行是字的有序集合，字是字符的有序集合；任何一行可以以字为单位循环移位，系统输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出所有行经过所有循环移位后的排序列表。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2230755"/>
            <a:ext cx="11125200" cy="3004185"/>
            <a:chOff x="533400" y="2230755"/>
            <a:chExt cx="11125200" cy="3004185"/>
          </a:xfrm>
        </p:grpSpPr>
        <p:sp>
          <p:nvSpPr>
            <p:cNvPr id="9" name="Rectangle 9"/>
            <p:cNvSpPr/>
            <p:nvPr/>
          </p:nvSpPr>
          <p:spPr>
            <a:xfrm>
              <a:off x="533400" y="2230755"/>
              <a:ext cx="11125200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5395" y="23622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31411" y="2362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结构特点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04376" y="2362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主要问题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670810"/>
              <a:ext cx="1761172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8984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18969" y="2791777"/>
              <a:ext cx="4279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主控模块调用输入、循环移位、字母序排列、输出四个模块，字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符、索引、字母序索引等数据放在共享内存里被各模块直接访问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13866" y="2791777"/>
              <a:ext cx="3822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数据无封装，表示形式一改（例如改用行号加位移表示一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行）所有模块都受影响，不易改进更不易重用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29946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304222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35423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抽象数据类型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18969" y="3542348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数据被封装，向外提供访问数据的接口，主控模块顺序激活各模块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3866" y="3435668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抽象数据类型内部仍要知道其他类型的接口，形成固定的加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工链条，添加新功能困难，设计是僵硬的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9433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1862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隐式调用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8969" y="4079557"/>
              <a:ext cx="4279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数据被封装且内部不含功能方面的知识，主控只负责初始化和终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结，各功能靠隐式调用连成处理链条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3866" y="4079557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只需声明自己的通知事件，由下游注册，因此易于添加新功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能，但控制流不直观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862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91050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600575"/>
              <a:ext cx="1761172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8291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管道／过滤器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18969" y="4722495"/>
              <a:ext cx="4431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输入、循环移位、字母序排列、输出各是一个过滤器，用管道串起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来，没有共享数据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3866" y="4722495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过滤器之间传递的类型固定，不易改变数据的表示形式；适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合批处理，不适合交互式系统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230755"/>
              <a:ext cx="11125200" cy="30041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08860" y="2230755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3758" y="2230755"/>
              <a:ext cx="9525" cy="30041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6" name="Rectangle 3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看图时注意箭头的含义不同：公共数据方案里既有子程序调用也有直接访问内存，管道／过滤器方案的箭头表示数据流向，不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是调用关系。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实例：给四种方案打分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28066" y="1524000"/>
            <a:ext cx="6497574" cy="3320034"/>
            <a:chOff x="528066" y="1524000"/>
            <a:chExt cx="6497574" cy="332003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60579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5596" y="1748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83853" y="17483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10331" y="17483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公共数据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29735" y="1648301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抽象数据类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7241" y="17483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隐式调用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7597" y="1648301"/>
              <a:ext cx="7226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管道／过滤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2540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易于改变算法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93165" y="22540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70417" y="22540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43872" y="22540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7327" y="22540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1735" y="22540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307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53555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2659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易于改变数据表示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3165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70417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43872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17327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91735" y="26598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9365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0656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易于改变功能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93165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70417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43872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17327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1735" y="30656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423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34708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347138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93165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70417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43872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17327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91735" y="347138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7480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38771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易于重用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93165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70417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43872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17327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91735" y="3877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1538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15861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412" y="42829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加权总分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139440" y="4168140"/>
              <a:ext cx="95440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528954" y="42829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113848" y="4168140"/>
              <a:ext cx="9544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02409" y="42829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75864" y="42829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61710" y="4168140"/>
              <a:ext cx="95440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0272" y="428291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6492240" cy="30403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2346008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12515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099560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073015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47422" y="1524000"/>
              <a:ext cx="9525" cy="30403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8066" y="4638675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分数越高越好，总分按"权重 × 得分"逐行求和</a:t>
              </a:r>
            </a:p>
          </p:txBody>
        </p:sp>
      </p:grpSp>
      <p:grpSp>
        <p:nvGrpSpPr>
          <p:cNvPr id="74" name="c1-card-2"/>
          <p:cNvGrpSpPr/>
          <p:nvPr/>
        </p:nvGrpSpPr>
        <p:grpSpPr>
          <a:xfrm>
            <a:off x="533400" y="4977765"/>
            <a:ext cx="6492240" cy="1352550"/>
            <a:chOff x="533400" y="4977765"/>
            <a:chExt cx="6492240" cy="1352550"/>
          </a:xfrm>
        </p:grpSpPr>
        <p:sp>
          <p:nvSpPr>
            <p:cNvPr id="68" name="Rectangle 68"/>
            <p:cNvSpPr/>
            <p:nvPr/>
          </p:nvSpPr>
          <p:spPr>
            <a:xfrm>
              <a:off x="533400" y="4977765"/>
              <a:ext cx="649224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5111115"/>
              <a:ext cx="47625" cy="1085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3905" y="517017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7341" y="520446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另外两个方案的总分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047" y="5527358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公共数据：1×1 + 4×1 + 3×4 + 3×5 + 5×1 = 37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7047" y="5829300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隐式调用：1×4 + 4×2 + 3×4 + 3×2 + 5×2 = 40</a:t>
              </a:r>
            </a:p>
          </p:txBody>
        </p:sp>
      </p:grpSp>
      <p:grpSp>
        <p:nvGrpSpPr>
          <p:cNvPr id="88" name="c2-bullets-1"/>
          <p:cNvGrpSpPr/>
          <p:nvPr/>
        </p:nvGrpSpPr>
        <p:grpSpPr>
          <a:xfrm>
            <a:off x="7323582" y="1545907"/>
            <a:ext cx="2118741" cy="1517524"/>
            <a:chOff x="7323582" y="1545907"/>
            <a:chExt cx="2118741" cy="1517524"/>
          </a:xfrm>
        </p:grpSpPr>
        <p:sp>
          <p:nvSpPr>
            <p:cNvPr id="75" name="TextBox 75"/>
            <p:cNvSpPr txBox="1"/>
            <p:nvPr/>
          </p:nvSpPr>
          <p:spPr>
            <a:xfrm>
              <a:off x="7323582" y="154590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对比表怎么做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330440" y="185356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86118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11237" y="186594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选择对比的指标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330440" y="21650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386118" y="22034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11237" y="217741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设定各指标的优先权重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330440" y="2476500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386118" y="25148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11237" y="24888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为每种方案逐项打分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7330440" y="278701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386118" y="28263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11237" y="279939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为每种方案计算总分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7330440" y="3185160"/>
            <a:ext cx="4328160" cy="2240280"/>
            <a:chOff x="7330440" y="3185160"/>
            <a:chExt cx="4328160" cy="2240280"/>
          </a:xfrm>
        </p:grpSpPr>
        <p:sp>
          <p:nvSpPr>
            <p:cNvPr id="89" name="Rectangle 89"/>
            <p:cNvSpPr/>
            <p:nvPr/>
          </p:nvSpPr>
          <p:spPr>
            <a:xfrm>
              <a:off x="7330440" y="3185160"/>
              <a:ext cx="4328160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7339965" y="3318510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560945" y="337756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48384" y="34118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算一遍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554087" y="3734752"/>
              <a:ext cx="30826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抽象数据类型：1×2 + 4×5 + 3×1 + 3×4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5×4 = 57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54087" y="4293870"/>
              <a:ext cx="30826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管道／过滤器：1×5 + 4×1 + 3×5 + 3×2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5×5 = 55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55230" y="4850606"/>
              <a:ext cx="35247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两者接近，公共数据方案 37 分最低。原课件只给出打分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表，总分由本讲义算出。</a:t>
              </a:r>
            </a:p>
          </p:txBody>
        </p:sp>
      </p:grpSp>
      <p:grpSp>
        <p:nvGrpSpPr>
          <p:cNvPr id="103" name="c2-callout-3"/>
          <p:cNvGrpSpPr/>
          <p:nvPr/>
        </p:nvGrpSpPr>
        <p:grpSpPr>
          <a:xfrm>
            <a:off x="7330440" y="5600700"/>
            <a:ext cx="4328160" cy="729615"/>
            <a:chOff x="7330440" y="5600700"/>
            <a:chExt cx="4328160" cy="729615"/>
          </a:xfrm>
        </p:grpSpPr>
        <p:sp>
          <p:nvSpPr>
            <p:cNvPr id="97" name="Rectangle 97"/>
            <p:cNvSpPr/>
            <p:nvPr/>
          </p:nvSpPr>
          <p:spPr>
            <a:xfrm>
              <a:off x="7330440" y="5600700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523169" y="5861803"/>
              <a:ext cx="224134" cy="192560"/>
              <a:chOff x="7523169" y="5861803"/>
              <a:chExt cx="224134" cy="19256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635240" y="59321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523169" y="58618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635240" y="60099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837932" y="5746433"/>
              <a:ext cx="34427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这种比较方法有主观性：指标、权重和分数都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是人定的，换一组权重结论可能就变了。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85619" cy="909257"/>
            <a:chOff x="520446" y="342900"/>
            <a:chExt cx="2285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 · 软件体系结构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3419196" cy="308039"/>
            <a:chOff x="525399" y="1550194"/>
            <a:chExt cx="341919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先自己写出答案，再看右边的解答。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67865"/>
            <a:ext cx="5410200" cy="1937385"/>
            <a:chOff x="533400" y="1967865"/>
            <a:chExt cx="5410200" cy="19373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5546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总体设计分成哪两个阶段？从第几步开始真正设计软件结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330" y="3175635"/>
              <a:ext cx="4720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系统设计阶段（第 1～3 步，定方案）和结构设计阶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段（第 4～9 步，定结构）。从第 5 步开始画结构图。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5750"/>
            <a:ext cx="5410200" cy="1651635"/>
            <a:chOff x="533400" y="4095750"/>
            <a:chExt cx="5410200" cy="165163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575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30530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437" y="434101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5330" y="468249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数据耦合和标记耦合怎么区分？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5017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传简单变量（用水量）是数据耦合；传整条记录或数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据结构（房租水电）是标记耦合。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67865"/>
            <a:ext cx="5410200" cy="1937385"/>
            <a:chOff x="6248400" y="1967865"/>
            <a:chExt cx="5410200" cy="193738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6786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217741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45437" y="221313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0330" y="2554605"/>
              <a:ext cx="47763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调用 B 时传去一个标志，B 按标志决定执行哪项功能。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这是什么耦合？B 是什么内聚？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0330" y="3175635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控制耦合；B 是逻辑内聚。单接口多功能的模块必然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要调用者传控制参数，两个毛病一起出现。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95750"/>
            <a:ext cx="5410200" cy="1651635"/>
            <a:chOff x="6248400" y="4095750"/>
            <a:chExt cx="5410200" cy="1651635"/>
          </a:xfrm>
        </p:grpSpPr>
        <p:sp>
          <p:nvSpPr>
            <p:cNvPr id="27" name="Rectangle 27"/>
            <p:cNvSpPr/>
            <p:nvPr/>
          </p:nvSpPr>
          <p:spPr>
            <a:xfrm>
              <a:off x="6248400" y="409575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57950" y="430530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5437" y="434101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0330" y="46824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作用域和控制域各指什么？两者应是什么关系？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0330" y="50177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作用域是受某判定影响的所有模块，控制域是模块本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身及其全部下属，作用域应在控制域内。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3733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变换分析的第 4 步和第 5 步分别做什么？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步定输入流和输出流的边界，孤立出变换中心；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步做第一级分解，分出 Cm、Ca、Ct、Ce。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6135"/>
            <a:ext cx="5410200" cy="2223135"/>
            <a:chOff x="533400" y="336613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3661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9528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管道／过滤器风格的三条限制条件是什么？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28815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过滤器是独立实体，不共享状态；不知道上下游的标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识；输出正确性不依赖增量计算的顺序。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什么情况下用事务分析？映射出来的结构有什么特点？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数据流有明显的事务中心（发射中心）时。结构含一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个接收分支和一个发送分支，发送分支里有调度模块控制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各活动通路。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651885"/>
            <a:ext cx="5410200" cy="1937385"/>
            <a:chOff x="6248400" y="365188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65188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2386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黑板系统和传统数据库同属仓库风格，区别在哪里？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57390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看谁触发进程的选择：输入流中的事务类型触发的是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传统数据库；中央数据结构的当前状态触发的是黑板系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第5章 总体设计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078730" cy="2484120"/>
            <a:chOff x="533400" y="1535430"/>
            <a:chExt cx="5078730" cy="248412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设计过程：两个阶段九个步骤，文档和两道审查也是设计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的产品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设计原理：模块化、抽象、逐步求精、信息隐藏与局部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化，最后都落到模块独立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模块独立用两把尺子量：耦合七级从非直接到内容，内聚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七级从偶然到功能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启发规则七条，最常考的是作用域与控制域，以及扇入扇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出和结构轮廓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150995"/>
            <a:ext cx="5410200" cy="782955"/>
            <a:chOff x="533400" y="4150995"/>
            <a:chExt cx="5410200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1509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442462"/>
              <a:ext cx="200023" cy="200023"/>
              <a:chOff x="738188" y="4442462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442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4509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29958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判耦合看模块之间传什么，判内聚看模块内部为什么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放在一起。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6248400" y="1535430"/>
            <a:ext cx="5164455" cy="2484120"/>
            <a:chOff x="6248400" y="1535430"/>
            <a:chExt cx="5164455" cy="2484120"/>
          </a:xfrm>
        </p:grpSpPr>
        <p:sp>
          <p:nvSpPr>
            <p:cNvPr id="26" name="Ellipse 26"/>
            <p:cNvSpPr/>
            <p:nvPr/>
          </p:nvSpPr>
          <p:spPr>
            <a:xfrm>
              <a:off x="6248400" y="153543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10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9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面向数据流的设计：先判流类型，变换流映射成输入、变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换中心、输出三分支，事务流映射成接收分支加调度模块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248400" y="216598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0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9390" y="21793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两级分解之后一定要用启发规则精化，两个实例的精化动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作就是规则的具体用法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796540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0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9390" y="28098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体系结构描述构件、连接器和视图，五类风格各有自己的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构件、连接件、约束和优缺点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8400" y="34270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10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9390" y="344043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KWIC 实例说明同一个问题可以有多种结构，选哪一种取决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于最看重哪项指标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4150995"/>
            <a:ext cx="5410200" cy="782955"/>
            <a:chOff x="6248400" y="4150995"/>
            <a:chExt cx="5410200" cy="782955"/>
          </a:xfrm>
        </p:grpSpPr>
        <p:sp>
          <p:nvSpPr>
            <p:cNvPr id="39" name="Rectangle 39"/>
            <p:cNvSpPr/>
            <p:nvPr/>
          </p:nvSpPr>
          <p:spPr>
            <a:xfrm>
              <a:off x="6248400" y="41509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53188" y="4442460"/>
              <a:ext cx="200026" cy="200025"/>
              <a:chOff x="6453188" y="4442460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53188" y="44424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92926" y="44869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7642" y="45980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429958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复习顺序：先背耦合内聚两张表，再练一张数据流图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到结构图的映射，最后过一遍五类风格的优缺点。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8112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总体设计交出的是"模块怎么划、怎么连"的方案，它的质量决定了后面编码和维护的难易。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第5章 总体设计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05">
  <a:themeElements>
    <a:clrScheme name="se_ch0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0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0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2026-09-23T05:19:12Z</dcterms:created>
  <dcterms:modified xsi:type="dcterms:W3CDTF">2026-09-23T05:19:12Z</dcterms:modified>
  <cp:category/>
  <cp:contentStatus/>
</cp:coreProperties>
</file>