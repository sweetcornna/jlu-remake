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e_ch05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e_ch05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7994c86864d3b304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d5b9822487cf5d2a.png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b06bcc53c6049dd0.png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rcRect l="0" t="26" r="0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3662934" cy="3437763"/>
            <a:chOff x="666750" y="1619250"/>
            <a:chExt cx="3662934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593532" cy="3429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14010" y="1718310"/>
              <a:ext cx="13380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软件工程 · 第五章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229971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总体设计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365302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把需求变成一份能施工的软件结构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设计过程与设计原理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耦合、内聚与启发规则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面向数据流的设计方法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软件体系结构与风格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131050" cy="205359"/>
            <a:chOff x="680466" y="6192202"/>
            <a:chExt cx="4131050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13105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自学复习版｜据吉林大学《软件工程》第五章课件整理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0" name="c1-agenda-1"/>
          <p:cNvGrpSpPr/>
          <p:nvPr/>
        </p:nvGrpSpPr>
        <p:grpSpPr>
          <a:xfrm>
            <a:off x="521970" y="1515428"/>
            <a:ext cx="6287453" cy="4461795"/>
            <a:chOff x="521970" y="1515428"/>
            <a:chExt cx="6287453" cy="4461795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软件设计过程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380385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设计的地位、两个阶段九个步骤、差错传播与复审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软件设计原理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414848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模块化、抽象、逐步求精、信息隐藏，以及耦合与内聚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启发规则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七条经验规则，重点是作用域与控制域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24601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描绘软件结构的图形工具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20098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层次图、HIPO 图、结构图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2237994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面向数据流的设计方法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276997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变换分析、事务分析和两个完整实例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1073468" y="5269230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21970" y="537495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65086" y="5411152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软件体系结构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66990" y="5727859"/>
              <a:ext cx="29422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定义、描述内容、常见风格与方案对比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7114222" y="1524000"/>
            <a:ext cx="4544378" cy="4402455"/>
            <a:chOff x="7114222" y="1524000"/>
            <a:chExt cx="4544378" cy="4402455"/>
          </a:xfrm>
        </p:grpSpPr>
        <p:sp>
          <p:nvSpPr>
            <p:cNvPr id="31" name="Rectangle 31"/>
            <p:cNvSpPr/>
            <p:nvPr/>
          </p:nvSpPr>
          <p:spPr>
            <a:xfrm>
              <a:off x="7114222" y="1524000"/>
              <a:ext cx="4544378" cy="4402455"/>
            </a:xfrm>
            <a:prstGeom prst="roundRect">
              <a:avLst>
                <a:gd name="adj" fmla="val 3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123748" y="1657350"/>
              <a:ext cx="47625" cy="413575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说出总体设计的两个阶段、九个步骤和五份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文档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273177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判断两个模块之间的耦合类型和一个模块内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部的内聚类型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335280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用七条启发规则找出结构图里的毛病并改正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367588" y="375094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525702" y="3688080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把一张数据流图按变换分析映射成结构图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67588" y="408622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525702" y="402336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说出五类体系结构风格的构件、连接件和优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247007" cy="2997517"/>
            <a:chOff x="667512" y="1835468"/>
            <a:chExt cx="4247007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软件设计过程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23710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设计在开发中的位置、两个阶段和九个步骤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2360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5.1 设计的本质与开发阶段的信息流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九个步骤与交出的文档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差错传播与设计复审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968102" cy="909257"/>
            <a:chOff x="520446" y="342900"/>
            <a:chExt cx="596810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软件设计过程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96810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软件设计是把"做什么"翻译成"怎么做"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6477000" cy="293370"/>
            <a:chOff x="525780" y="1548765"/>
            <a:chExt cx="647700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4770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设计依据需求规格说明书建立设计方案，这份方案是下一步编码的依据。</a:t>
              </a:r>
            </a:p>
          </p:txBody>
        </p:sp>
      </p:grpSp>
      <p:grpSp>
        <p:nvGrpSpPr>
          <p:cNvPr id="19" name="c1-card-1"/>
          <p:cNvGrpSpPr/>
          <p:nvPr/>
        </p:nvGrpSpPr>
        <p:grpSpPr>
          <a:xfrm>
            <a:off x="533400" y="1954530"/>
            <a:ext cx="5842635" cy="2175510"/>
            <a:chOff x="533400" y="1954530"/>
            <a:chExt cx="5842635" cy="2175510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842635" cy="2175510"/>
            </a:xfrm>
            <a:prstGeom prst="roundRect">
              <a:avLst>
                <a:gd name="adj" fmla="val 6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190881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9620" y="215265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1060" y="218694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52931" y="218741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软件设计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381" y="2531269"/>
              <a:ext cx="50639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软件设计是软件开发过程中承前启后的工作：依据软件需求规格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说明书建立软件设计方案，作为下一步程序编码的依据。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7240" y="318039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33831" y="3120866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它是软件开发中</a:t>
              </a:r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形成质量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的地方，设计提供了可用于质量评估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的软件表示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77240" y="376999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33831" y="3709511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它是把需求准确转换为完整软件产品的唯一办法</a:t>
              </a:r>
            </a:p>
          </p:txBody>
        </p:sp>
      </p:grpSp>
      <p:grpSp>
        <p:nvGrpSpPr>
          <p:cNvPr id="25" name="c1-card-2"/>
          <p:cNvGrpSpPr/>
          <p:nvPr/>
        </p:nvGrpSpPr>
        <p:grpSpPr>
          <a:xfrm>
            <a:off x="533400" y="4311015"/>
            <a:ext cx="5842635" cy="1250632"/>
            <a:chOff x="533400" y="4311015"/>
            <a:chExt cx="5842635" cy="1250632"/>
          </a:xfrm>
        </p:grpSpPr>
        <p:sp>
          <p:nvSpPr>
            <p:cNvPr id="20" name="Rectangle 20"/>
            <p:cNvSpPr/>
            <p:nvPr/>
          </p:nvSpPr>
          <p:spPr>
            <a:xfrm>
              <a:off x="533400" y="4311015"/>
              <a:ext cx="5842635" cy="1250632"/>
            </a:xfrm>
            <a:prstGeom prst="roundRect">
              <a:avLst>
                <a:gd name="adj" fmla="val 106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542925" y="4444365"/>
              <a:ext cx="47625" cy="98393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69620" y="4509135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49058" y="454342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早年的误解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381" y="4869656"/>
              <a:ext cx="5100066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过去软件设计曾被狭隘地认为是"编程序"或"写代码"，结果设计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没有发挥应有的作用，软件系统结构的稳定性极差。</a:t>
              </a:r>
            </a:p>
          </p:txBody>
        </p:sp>
      </p:grpSp>
      <p:grpSp>
        <p:nvGrpSpPr>
          <p:cNvPr id="44" name="c2-flow-1"/>
          <p:cNvGrpSpPr/>
          <p:nvPr/>
        </p:nvGrpSpPr>
        <p:grpSpPr>
          <a:xfrm>
            <a:off x="7029450" y="2017395"/>
            <a:ext cx="4280535" cy="2560320"/>
            <a:chOff x="7029450" y="2017395"/>
            <a:chExt cx="4280535" cy="2560320"/>
          </a:xfrm>
        </p:grpSpPr>
        <p:sp>
          <p:nvSpPr>
            <p:cNvPr id="26" name="Freeform 26"/>
            <p:cNvSpPr/>
            <p:nvPr/>
          </p:nvSpPr>
          <p:spPr>
            <a:xfrm>
              <a:off x="9169718" y="2428875"/>
              <a:ext cx="9525" cy="20955"/>
            </a:xfrm>
            <a:custGeom>
              <a:avLst/>
              <a:gdLst/>
              <a:ahLst/>
              <a:cxnLst/>
              <a:rect l="l" t="t" r="r" b="b"/>
              <a:pathLst>
                <a:path w="9525" h="20955">
                  <a:moveTo>
                    <a:pt x="0" y="0"/>
                  </a:moveTo>
                  <a:lnTo>
                    <a:pt x="0" y="2095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9117330" y="244983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9169718" y="2966085"/>
              <a:ext cx="9525" cy="20955"/>
            </a:xfrm>
            <a:custGeom>
              <a:avLst/>
              <a:gdLst/>
              <a:ahLst/>
              <a:cxnLst/>
              <a:rect l="l" t="t" r="r" b="b"/>
              <a:pathLst>
                <a:path w="9525" h="20955">
                  <a:moveTo>
                    <a:pt x="0" y="0"/>
                  </a:moveTo>
                  <a:lnTo>
                    <a:pt x="0" y="2095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9117330" y="298704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9169718" y="3503295"/>
              <a:ext cx="9525" cy="20955"/>
            </a:xfrm>
            <a:custGeom>
              <a:avLst/>
              <a:gdLst/>
              <a:ahLst/>
              <a:cxnLst/>
              <a:rect l="l" t="t" r="r" b="b"/>
              <a:pathLst>
                <a:path w="9525" h="20955">
                  <a:moveTo>
                    <a:pt x="0" y="0"/>
                  </a:moveTo>
                  <a:lnTo>
                    <a:pt x="0" y="2095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9117330" y="352425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9169718" y="4040505"/>
              <a:ext cx="9525" cy="20955"/>
            </a:xfrm>
            <a:custGeom>
              <a:avLst/>
              <a:gdLst/>
              <a:ahLst/>
              <a:cxnLst/>
              <a:rect l="l" t="t" r="r" b="b"/>
              <a:pathLst>
                <a:path w="9525" h="20955">
                  <a:moveTo>
                    <a:pt x="0" y="0"/>
                  </a:moveTo>
                  <a:lnTo>
                    <a:pt x="0" y="2095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9117330" y="406146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7029450" y="2017395"/>
              <a:ext cx="4280535" cy="411480"/>
            </a:xfrm>
            <a:custGeom>
              <a:avLst/>
              <a:gdLst/>
              <a:ahLst/>
              <a:cxnLst/>
              <a:rect l="l" t="t" r="r" b="b"/>
              <a:pathLst>
                <a:path w="4280535" h="411480">
                  <a:moveTo>
                    <a:pt x="133350" y="0"/>
                  </a:moveTo>
                  <a:lnTo>
                    <a:pt x="4280535" y="0"/>
                  </a:lnTo>
                  <a:lnTo>
                    <a:pt x="4147185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7029450" y="2554605"/>
              <a:ext cx="4280535" cy="411480"/>
            </a:xfrm>
            <a:prstGeom prst="roundRect">
              <a:avLst>
                <a:gd name="adj" fmla="val 23148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7029450" y="3091815"/>
              <a:ext cx="4280535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7029450" y="3629025"/>
              <a:ext cx="4280535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7029450" y="4166235"/>
              <a:ext cx="4280535" cy="41148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598218" y="213931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需求规格说明书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443178" y="2676525"/>
              <a:ext cx="345307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概要设计：数据设计 · 体系结构设计 · 接口设计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436674" y="3213735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详细设计：过程设计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002078" y="37509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编码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002078" y="428815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测试</a:t>
              </a:r>
            </a:p>
          </p:txBody>
        </p:sp>
      </p:grpSp>
      <p:grpSp>
        <p:nvGrpSpPr>
          <p:cNvPr id="46" name="c2-text-2"/>
          <p:cNvGrpSpPr/>
          <p:nvPr/>
        </p:nvGrpSpPr>
        <p:grpSpPr>
          <a:xfrm>
            <a:off x="8517446" y="4840605"/>
            <a:ext cx="1304544" cy="234696"/>
            <a:chOff x="8517446" y="4840605"/>
            <a:chExt cx="1304544" cy="234696"/>
          </a:xfrm>
        </p:grpSpPr>
        <p:sp>
          <p:nvSpPr>
            <p:cNvPr id="45" name="TextBox 45"/>
            <p:cNvSpPr txBox="1"/>
            <p:nvPr/>
          </p:nvSpPr>
          <p:spPr>
            <a:xfrm>
              <a:off x="8517446" y="4840605"/>
              <a:ext cx="13045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开发阶段的信息流</a:t>
              </a:r>
            </a:p>
          </p:txBody>
        </p:sp>
      </p:grpSp>
      <p:grpSp>
        <p:nvGrpSpPr>
          <p:cNvPr id="52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47" name="Rectangle 47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040511" y="6011704"/>
              <a:ext cx="995481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本章讲的总体设计就是概要设计，它决定系统由哪些模块组成、模块之间怎么连；每个模块内部怎么做留给详细设计。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软件设计过程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两个阶段、九个步骤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4328160" cy="1485900"/>
            <a:chOff x="533400" y="1524000"/>
            <a:chExt cx="4328160" cy="14859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328160" cy="1485900"/>
            </a:xfrm>
            <a:prstGeom prst="roundRect">
              <a:avLst>
                <a:gd name="adj" fmla="val 8974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0090" y="1710690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04659" y="174355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两个阶段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8662" y="2110740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84682" y="2054542"/>
              <a:ext cx="36141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系统设计阶段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：确定系统的具体实现方案，对应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 1～3 步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8662" y="2668905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84682" y="2612708"/>
              <a:ext cx="37756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结构设计阶段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：确定软件结构，对应第 4～9 步</a:t>
              </a:r>
            </a:p>
          </p:txBody>
        </p:sp>
      </p:grpSp>
      <p:grpSp>
        <p:nvGrpSpPr>
          <p:cNvPr id="33" name="c1-card-2"/>
          <p:cNvGrpSpPr/>
          <p:nvPr/>
        </p:nvGrpSpPr>
        <p:grpSpPr>
          <a:xfrm>
            <a:off x="533400" y="3179445"/>
            <a:ext cx="4328160" cy="2345055"/>
            <a:chOff x="533400" y="3179445"/>
            <a:chExt cx="4328160" cy="2345055"/>
          </a:xfrm>
        </p:grpSpPr>
        <p:sp>
          <p:nvSpPr>
            <p:cNvPr id="15" name="Rectangle 15"/>
            <p:cNvSpPr/>
            <p:nvPr/>
          </p:nvSpPr>
          <p:spPr>
            <a:xfrm>
              <a:off x="533400" y="3179445"/>
              <a:ext cx="4328160" cy="2345055"/>
            </a:xfrm>
            <a:prstGeom prst="roundRect">
              <a:avLst>
                <a:gd name="adj" fmla="val 56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3312795"/>
              <a:ext cx="47625" cy="207835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58190" y="3366135"/>
              <a:ext cx="60864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46458" y="3398996"/>
              <a:ext cx="4330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第 2 步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474280" y="3401377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每个合理方案都要准备四份资料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58190" y="371570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3868" y="375408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38987" y="372713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系统流程图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58190" y="4015740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13868" y="405412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38987" y="4028122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组成系统的物理元素清单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58190" y="431577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13868" y="435416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38987" y="432816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成本／效益分析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758190" y="4615815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13868" y="465420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38987" y="4628198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实现这个系统的进度计划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52475" y="4924901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通常至少选取低成本、中等成本、高成本三种方案。</a:t>
              </a:r>
            </a:p>
          </p:txBody>
        </p:sp>
      </p:grpSp>
      <p:grpSp>
        <p:nvGrpSpPr>
          <p:cNvPr id="71" name="c2-table-1"/>
          <p:cNvGrpSpPr/>
          <p:nvPr/>
        </p:nvGrpSpPr>
        <p:grpSpPr>
          <a:xfrm>
            <a:off x="5166360" y="1524000"/>
            <a:ext cx="6492240" cy="4000500"/>
            <a:chOff x="5166360" y="1524000"/>
            <a:chExt cx="6492240" cy="4000500"/>
          </a:xfrm>
        </p:grpSpPr>
        <p:sp>
          <p:nvSpPr>
            <p:cNvPr id="34" name="Rectangle 34"/>
            <p:cNvSpPr/>
            <p:nvPr/>
          </p:nvSpPr>
          <p:spPr>
            <a:xfrm>
              <a:off x="5166360" y="1524000"/>
              <a:ext cx="6492240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983326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步骤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54058" y="16454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做什么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263515" y="2045494"/>
              <a:ext cx="1352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设想供选择的方案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211378" y="2045494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把数据流图中的处理分组，抛弃行不通的分组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5166360" y="231933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5166360" y="2324100"/>
              <a:ext cx="649224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263515" y="2445544"/>
              <a:ext cx="12014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选取合理的方案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211378" y="2445544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选出若干个合理方案，每个准备四份资料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166360" y="271938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263515" y="28455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 推荐最佳方案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211378" y="2845594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综合对比后推荐一个，交用户、技术专家审查和使用部门审批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166360" y="311943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5166360" y="3124200"/>
              <a:ext cx="649224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175885" y="3133725"/>
              <a:ext cx="1928812" cy="381000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263515" y="3245644"/>
              <a:ext cx="7490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功能分解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211378" y="3245644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细化数据流图，用 IPO 图描述每个处理的算法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166360" y="351948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5175885" y="3533775"/>
              <a:ext cx="1928812" cy="381000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263515" y="36456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 设计软件结构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211378" y="3645694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把模块组织成层次系统，用层次图或结构图描绘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166360" y="391953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5166360" y="3924300"/>
              <a:ext cx="649224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5263515" y="4045744"/>
              <a:ext cx="8998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 设计数据库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7211378" y="4045744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在需求分析确定的数据需求基础上设计数据库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5166360" y="431958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5263515" y="44457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 制定测试计划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211378" y="4445794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早期考虑测试，促使设计时注意提高可测试性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5166360" y="471963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5166360" y="4724400"/>
              <a:ext cx="649224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5263515" y="4845844"/>
              <a:ext cx="7490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 书写文档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211378" y="484584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五份文档，见下一页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5166360" y="5119688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5263515" y="5245894"/>
              <a:ext cx="8998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 审查和复审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211378" y="5245894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先技术审查，再从管理角度复审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5166360" y="1524000"/>
              <a:ext cx="6492240" cy="40005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0" name="Rectangle 70"/>
            <p:cNvSpPr/>
            <p:nvPr/>
          </p:nvSpPr>
          <p:spPr>
            <a:xfrm>
              <a:off x="7109460" y="1524000"/>
              <a:ext cx="9525" cy="40005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8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72" name="Rectangle 72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6" name="Group 76"/>
            <p:cNvGrpSpPr/>
            <p:nvPr/>
          </p:nvGrpSpPr>
          <p:grpSpPr>
            <a:xfrm>
              <a:off x="738188" y="6022658"/>
              <a:ext cx="200026" cy="200026"/>
              <a:chOff x="738188" y="6022658"/>
              <a:chExt cx="200026" cy="200026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738188" y="6022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838200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827088" y="61226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7" name="TextBox 77"/>
            <p:cNvSpPr txBox="1"/>
            <p:nvPr/>
          </p:nvSpPr>
          <p:spPr>
            <a:xfrm>
              <a:off x="1040892" y="6028373"/>
              <a:ext cx="872800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1～3 步都围着"方案"转，从第 4 步功能分解起才真正动手设计结构，而数据流图是这两步共同的出发点。</a:t>
              </a:r>
            </a:p>
          </p:txBody>
        </p:sp>
      </p:grpSp>
      <p:grpSp>
        <p:nvGrpSpPr>
          <p:cNvPr id="8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9" name="TextBox 79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787880" cy="909257"/>
            <a:chOff x="520446" y="342900"/>
            <a:chExt cx="57878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软件设计过程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7878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8、9 步：交出文档，再过两道审查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7" name="c1-card-1"/>
          <p:cNvGrpSpPr/>
          <p:nvPr/>
        </p:nvGrpSpPr>
        <p:grpSpPr>
          <a:xfrm>
            <a:off x="533400" y="1524000"/>
            <a:ext cx="5626418" cy="4626292"/>
            <a:chOff x="533400" y="1524000"/>
            <a:chExt cx="5626418" cy="462629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626292"/>
            </a:xfrm>
            <a:prstGeom prst="roundRect">
              <a:avLst>
                <a:gd name="adj" fmla="val 28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35959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60864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6458" y="1743551"/>
              <a:ext cx="4330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 8 步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474280" y="1745932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总体设计阶段交出的五份文档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58190" y="2059305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13868" y="209769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38987" y="2071688"/>
              <a:ext cx="4677156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系统说明：系统流程图描绘的构成方案、物理元素清单、成本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／效益分析、对最佳方案的概括描述、精化的数据流图、层次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图或结构图描绘的软件结构、各模块算法的 IPO 描述、模块间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接口关系，以及需求、功能和模块三者的交叉参照关系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58190" y="313086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13868" y="317020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38987" y="314325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用户手册：修改更正需求分析阶段产生的初步用户手册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58190" y="3431857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13868" y="347024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38987" y="3443288"/>
              <a:ext cx="46428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测试计划：测试策略、测试方案、预期的测试结果、测试进度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计划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58190" y="3989070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13868" y="402745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38987" y="4001452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详细的实现计划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58190" y="428910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13868" y="432749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38987" y="430149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数据库设计结果</a:t>
              </a:r>
            </a:p>
          </p:txBody>
        </p:sp>
      </p:grpSp>
      <p:grpSp>
        <p:nvGrpSpPr>
          <p:cNvPr id="68" name="c2-table-1"/>
          <p:cNvGrpSpPr/>
          <p:nvPr/>
        </p:nvGrpSpPr>
        <p:grpSpPr>
          <a:xfrm>
            <a:off x="6459665" y="1524000"/>
            <a:ext cx="5198935" cy="4664106"/>
            <a:chOff x="6459665" y="1524000"/>
            <a:chExt cx="5198935" cy="4664106"/>
          </a:xfrm>
        </p:grpSpPr>
        <p:sp>
          <p:nvSpPr>
            <p:cNvPr id="28" name="Rectangle 28"/>
            <p:cNvSpPr/>
            <p:nvPr/>
          </p:nvSpPr>
          <p:spPr>
            <a:xfrm>
              <a:off x="6464618" y="1524000"/>
              <a:ext cx="5193982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936499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复审要点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533966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问的问题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61772" y="20454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可追溯性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120062" y="2045494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每条需求都能找到对应的模块吗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464618" y="231933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464618" y="2324100"/>
              <a:ext cx="519398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61772" y="24455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120062" y="2445544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模块之间、系统与外部的接口一致吗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464618" y="27193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61772" y="28455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风险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120062" y="2845594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按这个设计做下去，按期完成的把握有多大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464618" y="311943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64618" y="3124200"/>
              <a:ext cx="519398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61772" y="32456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实用性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120062" y="324564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用户用起来方不方便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464618" y="35194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561772" y="364569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技术清晰度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120062" y="3645694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设计是否容易转换成代码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464618" y="391953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464618" y="3924300"/>
              <a:ext cx="519398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561772" y="40457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可维护性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120062" y="4045744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以后修改起来是否方便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464618" y="43195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561772" y="44457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质量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120062" y="4445794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设计本身有没有内在质量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464618" y="471963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6464618" y="4724400"/>
              <a:ext cx="519398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561772" y="484584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各种选择方案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120062" y="4845844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是否考虑过别的方案，取舍理由记下来了吗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464618" y="51196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561772" y="52458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限制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120062" y="5245894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是否符合进度、成本、运行环境等约束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464618" y="551973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464618" y="5524500"/>
              <a:ext cx="519398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561772" y="564594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其它具体问题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120062" y="564594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本项目特有的问题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6464618" y="1524000"/>
              <a:ext cx="5193982" cy="44005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6" name="Rectangle 66"/>
            <p:cNvSpPr/>
            <p:nvPr/>
          </p:nvSpPr>
          <p:spPr>
            <a:xfrm>
              <a:off x="8018145" y="1524000"/>
              <a:ext cx="9525" cy="44005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459665" y="5997416"/>
              <a:ext cx="306403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 9 步先做技术审查，再由管理人员从这些角度复审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软件设计过程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不做设计复审，交付时的潜伏错误是四倍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4" name="c1-table-1"/>
          <p:cNvGrpSpPr/>
          <p:nvPr/>
        </p:nvGrpSpPr>
        <p:grpSpPr>
          <a:xfrm>
            <a:off x="528447" y="1524000"/>
            <a:ext cx="5631371" cy="3063906"/>
            <a:chOff x="528447" y="1524000"/>
            <a:chExt cx="5631371" cy="3063906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361796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阶段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959532" y="164544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无复审时传出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4788332" y="164544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有复审时传出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0555" y="20454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概要设计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328929" y="204549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199192" y="20454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31933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324100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0555" y="24455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详细设计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328929" y="244554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157729" y="244554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71938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0555" y="2845594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编码与单元测试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2513648" y="2733675"/>
              <a:ext cx="1808798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328929" y="284559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157729" y="284559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11943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3124200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0555" y="324564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综合测试之后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328929" y="324564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157729" y="324564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51948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0555" y="364569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确认测试之后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328929" y="364569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199192" y="364569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391953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3400" y="3924300"/>
              <a:ext cx="5626418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0555" y="404574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系统测试之后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2513648" y="3933825"/>
              <a:ext cx="1808798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3328929" y="4045744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4341495" y="3933825"/>
              <a:ext cx="1808798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199192" y="4045744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1524000"/>
              <a:ext cx="5626418" cy="28003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2499360" y="152400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4327208" y="1524000"/>
              <a:ext cx="9525" cy="28003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28447" y="4397216"/>
              <a:ext cx="23450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三个测试阶段的排错效率都按 50％ 计算</a:t>
              </a:r>
            </a:p>
          </p:txBody>
        </p:sp>
      </p:grpSp>
      <p:grpSp>
        <p:nvGrpSpPr>
          <p:cNvPr id="55" name="c1-card-2"/>
          <p:cNvGrpSpPr/>
          <p:nvPr/>
        </p:nvGrpSpPr>
        <p:grpSpPr>
          <a:xfrm>
            <a:off x="533400" y="4719638"/>
            <a:ext cx="5626418" cy="1528762"/>
            <a:chOff x="533400" y="4719638"/>
            <a:chExt cx="5626418" cy="1528762"/>
          </a:xfrm>
        </p:grpSpPr>
        <p:sp>
          <p:nvSpPr>
            <p:cNvPr id="45" name="Rectangle 45"/>
            <p:cNvSpPr/>
            <p:nvPr/>
          </p:nvSpPr>
          <p:spPr>
            <a:xfrm>
              <a:off x="533400" y="4719638"/>
              <a:ext cx="5626418" cy="1528762"/>
            </a:xfrm>
            <a:prstGeom prst="roundRect">
              <a:avLst>
                <a:gd name="adj" fmla="val 87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542925" y="4852988"/>
              <a:ext cx="47625" cy="126206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758190" y="4906328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835609" y="4939189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怎么读这张表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766762" y="530733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22782" y="5251133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同一行左右两列相比，看出复审在这个阶段挡下了多少错误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766762" y="5607367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22782" y="5551170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表里的数字是相对数，起点是概要设计阶段带入的那一批错误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766762" y="590740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922782" y="5851208"/>
              <a:ext cx="32032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最后一行 12 比 3，就是标题里说的四倍</a:t>
              </a:r>
            </a:p>
          </p:txBody>
        </p:sp>
      </p:grpSp>
      <p:grpSp>
        <p:nvGrpSpPr>
          <p:cNvPr id="63" name="c2-card-1"/>
          <p:cNvGrpSpPr/>
          <p:nvPr/>
        </p:nvGrpSpPr>
        <p:grpSpPr>
          <a:xfrm>
            <a:off x="6464618" y="1524000"/>
            <a:ext cx="5193982" cy="1670685"/>
            <a:chOff x="6464618" y="1524000"/>
            <a:chExt cx="5193982" cy="1670685"/>
          </a:xfrm>
        </p:grpSpPr>
        <p:sp>
          <p:nvSpPr>
            <p:cNvPr id="56" name="Rectangle 56"/>
            <p:cNvSpPr/>
            <p:nvPr/>
          </p:nvSpPr>
          <p:spPr>
            <a:xfrm>
              <a:off x="6464618" y="1524000"/>
              <a:ext cx="5193982" cy="1670685"/>
            </a:xfrm>
            <a:prstGeom prst="roundRect">
              <a:avLst>
                <a:gd name="adj" fmla="val 79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6474142" y="1657350"/>
              <a:ext cx="47625" cy="140398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6689408" y="1710690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766827" y="1743551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差错放大模型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753160" y="1745932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每个阶段传给下一阶段多少错误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682549" y="2071688"/>
              <a:ext cx="452285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传出 =（透传的错误 + 被放大的错误 × 放大倍数 + 本阶段新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引入的错误）×（1 − 本阶段的排错效率）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683692" y="2625566"/>
              <a:ext cx="449199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无复审时三个设计与编码阶段的排错效率是 0％、0％、20％；有复审时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 70％、50％、60％。</a:t>
              </a:r>
            </a:p>
          </p:txBody>
        </p:sp>
      </p:grpSp>
      <p:grpSp>
        <p:nvGrpSpPr>
          <p:cNvPr id="69" name="c2-card-2"/>
          <p:cNvGrpSpPr/>
          <p:nvPr/>
        </p:nvGrpSpPr>
        <p:grpSpPr>
          <a:xfrm>
            <a:off x="6464618" y="3365182"/>
            <a:ext cx="5193982" cy="1443038"/>
            <a:chOff x="6464618" y="3365182"/>
            <a:chExt cx="5193982" cy="1443038"/>
          </a:xfrm>
        </p:grpSpPr>
        <p:sp>
          <p:nvSpPr>
            <p:cNvPr id="64" name="Rectangle 64"/>
            <p:cNvSpPr/>
            <p:nvPr/>
          </p:nvSpPr>
          <p:spPr>
            <a:xfrm>
              <a:off x="6464618" y="3365182"/>
              <a:ext cx="5193982" cy="1443038"/>
            </a:xfrm>
            <a:prstGeom prst="roundRect">
              <a:avLst>
                <a:gd name="adj" fmla="val 92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5" name="Rectangle 65"/>
            <p:cNvSpPr/>
            <p:nvPr/>
          </p:nvSpPr>
          <p:spPr>
            <a:xfrm>
              <a:off x="6474142" y="3498532"/>
              <a:ext cx="47625" cy="117633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6" name="Rectangle 66"/>
            <p:cNvSpPr/>
            <p:nvPr/>
          </p:nvSpPr>
          <p:spPr>
            <a:xfrm>
              <a:off x="6689408" y="355187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782079" y="358473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682549" y="3895725"/>
              <a:ext cx="454856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原课件图中个别数字做了取整。按模型精确计算：有复审时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详细设计传出 14.25（图上写 15），无复审时编码阶段传出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92.8（图上写 94），确认测试后 23.5（图上写 24）。</a:t>
              </a:r>
            </a:p>
          </p:txBody>
        </p:sp>
      </p:grpSp>
      <p:grpSp>
        <p:nvGrpSpPr>
          <p:cNvPr id="76" name="c2-callout-3"/>
          <p:cNvGrpSpPr/>
          <p:nvPr/>
        </p:nvGrpSpPr>
        <p:grpSpPr>
          <a:xfrm>
            <a:off x="6464618" y="4977765"/>
            <a:ext cx="5193982" cy="1270635"/>
            <a:chOff x="6464618" y="4977765"/>
            <a:chExt cx="5193982" cy="1270635"/>
          </a:xfrm>
        </p:grpSpPr>
        <p:sp>
          <p:nvSpPr>
            <p:cNvPr id="70" name="Rectangle 70"/>
            <p:cNvSpPr/>
            <p:nvPr/>
          </p:nvSpPr>
          <p:spPr>
            <a:xfrm>
              <a:off x="6464618" y="4977765"/>
              <a:ext cx="5193982" cy="1270635"/>
            </a:xfrm>
            <a:prstGeom prst="roundRect">
              <a:avLst>
                <a:gd name="adj" fmla="val 899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6657347" y="5509378"/>
              <a:ext cx="224134" cy="192560"/>
              <a:chOff x="6657347" y="5509378"/>
              <a:chExt cx="224134" cy="192560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6769418" y="557974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6657347" y="550937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6769418" y="56575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6972110" y="5394960"/>
              <a:ext cx="419709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设计阶段的错误会被放大 1.5 倍到 3 倍，越早挡住越划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算。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357622" cy="2997517"/>
            <a:chOff x="667512" y="1835468"/>
            <a:chExt cx="5357622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软件设计原理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3477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五条原理决定模块怎么划分，两把尺子衡量划得好不好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6302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5.2 模块化、抽象、逐步求精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信息隐藏与局部化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模块独立：耦合与内聚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软件设计原理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模块化：分开做比合起来做省力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626418" cy="2017395"/>
            <a:chOff x="533400" y="1524000"/>
            <a:chExt cx="5626418" cy="20173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017395"/>
            </a:xfrm>
            <a:prstGeom prst="roundRect">
              <a:avLst>
                <a:gd name="adj" fmla="val 661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5069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23784" y="174593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模块与模块化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1332" y="2071688"/>
              <a:ext cx="496004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模块：可单独命名和可编址的部分，例如 procedure、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function、subroutine、block、macro。也可以定义为由边界元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素限定的相邻程序元素的序列，并且有一个总体标识符代表它。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1332" y="2886075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模块化：把程序划分成独立命名且可独立访问的模块，每个模块完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成一个子功能，集成起来构成一个整体，完成指定的功能。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3710940"/>
            <a:ext cx="5626418" cy="2170748"/>
            <a:chOff x="533400" y="3710940"/>
            <a:chExt cx="5626418" cy="2170748"/>
          </a:xfrm>
        </p:grpSpPr>
        <p:sp>
          <p:nvSpPr>
            <p:cNvPr id="15" name="Rectangle 15"/>
            <p:cNvSpPr/>
            <p:nvPr/>
          </p:nvSpPr>
          <p:spPr>
            <a:xfrm>
              <a:off x="533400" y="3710940"/>
              <a:ext cx="5626418" cy="2170748"/>
            </a:xfrm>
            <a:prstGeom prst="roundRect">
              <a:avLst>
                <a:gd name="adj" fmla="val 61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3844290"/>
              <a:ext cx="47625" cy="190404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58190" y="3897630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35609" y="3930491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模块化的根据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1332" y="4241482"/>
              <a:ext cx="474573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C(X) 是问题 X 的复杂程度，E(X) 是解决问题 X 需要的工作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量。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formula7"/>
                <p:cNvSpPr txBox="1">
                  <a:spLocks noGrp="1"/>
                </p:cNvSpPr>
                <p:nvPr/>
              </p:nvSpPr>
              <p:spPr>
                <a:xfrm>
                  <a:off x="758190" y="4776788"/>
                  <a:ext cx="5214938" cy="4381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&gt;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⇒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&gt;</m:t>
                        </m:r>
                        <m:r>
                          <a:rPr lang="zh-CN" sz="17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7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a:rPr lang="zh-CN" sz="17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formula8"/>
                <p:cNvSpPr txBox="1">
                  <a:spLocks noGrp="1"/>
                </p:cNvSpPr>
                <p:nvPr/>
              </p:nvSpPr>
              <p:spPr>
                <a:xfrm>
                  <a:off x="758190" y="5298758"/>
                  <a:ext cx="5214938" cy="3619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&gt;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C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⇒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&gt;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m:rPr>
                            <m:sty m:val="p"/>
                          </m:rP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42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E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42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b>
                              <m:e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P</m:t>
                                </m:r>
                              </m:e>
                              <m:sub>
                                <m:r>
                                  <a:rPr lang="zh-CN" sz="142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35" name="c2-card-1"/>
          <p:cNvGrpSpPr/>
          <p:nvPr/>
        </p:nvGrpSpPr>
        <p:grpSpPr>
          <a:xfrm>
            <a:off x="6464618" y="1524000"/>
            <a:ext cx="5193982" cy="1828800"/>
            <a:chOff x="6464618" y="1524000"/>
            <a:chExt cx="5193982" cy="1828800"/>
          </a:xfrm>
        </p:grpSpPr>
        <p:sp>
          <p:nvSpPr>
            <p:cNvPr id="23" name="Rectangle 23"/>
            <p:cNvSpPr/>
            <p:nvPr/>
          </p:nvSpPr>
          <p:spPr>
            <a:xfrm>
              <a:off x="6464618" y="1524000"/>
              <a:ext cx="5193982" cy="1828800"/>
            </a:xfrm>
            <a:prstGeom prst="roundRect">
              <a:avLst>
                <a:gd name="adj" fmla="val 729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474142" y="1657350"/>
              <a:ext cx="47625" cy="15621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689408" y="1710690"/>
              <a:ext cx="120491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759677" y="1743551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模块化原理的好处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697980" y="211074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53999" y="2054542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软件结构清晰，容易设计、阅读和理解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697980" y="241173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53999" y="2355532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容易测试和调试，有助于提高软件的可靠性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697980" y="271176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853999" y="265557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能够提高软件的可修改性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697980" y="301180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53999" y="295560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有助于软件开发工程的组织管理</a:t>
              </a:r>
            </a:p>
          </p:txBody>
        </p:sp>
      </p:grpSp>
      <p:grpSp>
        <p:nvGrpSpPr>
          <p:cNvPr id="42" name="c2-callout-2"/>
          <p:cNvGrpSpPr/>
          <p:nvPr/>
        </p:nvGrpSpPr>
        <p:grpSpPr>
          <a:xfrm>
            <a:off x="6464618" y="3523298"/>
            <a:ext cx="5193982" cy="729615"/>
            <a:chOff x="6464618" y="3523298"/>
            <a:chExt cx="5193982" cy="729615"/>
          </a:xfrm>
        </p:grpSpPr>
        <p:sp>
          <p:nvSpPr>
            <p:cNvPr id="36" name="Rectangle 36"/>
            <p:cNvSpPr/>
            <p:nvPr/>
          </p:nvSpPr>
          <p:spPr>
            <a:xfrm>
              <a:off x="6464618" y="3523298"/>
              <a:ext cx="5193982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6657347" y="3784401"/>
              <a:ext cx="224134" cy="192560"/>
              <a:chOff x="6657347" y="3784401"/>
              <a:chExt cx="224134" cy="19256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6769418" y="385476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657347" y="378440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769418" y="393255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6972110" y="3669030"/>
              <a:ext cx="42999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模块并非越多越好。随着模块数目增加，设计模块间接口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所需要的工作量也跟着增加。</a:t>
              </a:r>
            </a:p>
          </p:txBody>
        </p:sp>
      </p:grpSp>
      <p:grpSp>
        <p:nvGrpSpPr>
          <p:cNvPr id="49" name="c2-card-3"/>
          <p:cNvGrpSpPr/>
          <p:nvPr/>
        </p:nvGrpSpPr>
        <p:grpSpPr>
          <a:xfrm>
            <a:off x="6464618" y="4422458"/>
            <a:ext cx="5193982" cy="1459230"/>
            <a:chOff x="6464618" y="4422458"/>
            <a:chExt cx="5193982" cy="1459230"/>
          </a:xfrm>
        </p:grpSpPr>
        <p:sp>
          <p:nvSpPr>
            <p:cNvPr id="43" name="Rectangle 43"/>
            <p:cNvSpPr/>
            <p:nvPr/>
          </p:nvSpPr>
          <p:spPr>
            <a:xfrm>
              <a:off x="6464618" y="4422458"/>
              <a:ext cx="5193982" cy="1459230"/>
            </a:xfrm>
            <a:prstGeom prst="roundRect">
              <a:avLst>
                <a:gd name="adj" fmla="val 91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474142" y="4555808"/>
              <a:ext cx="47625" cy="119253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689408" y="4609148"/>
              <a:ext cx="33432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786131" y="4642009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131177" y="464439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第二条不等式在说什么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682549" y="4970145"/>
              <a:ext cx="4488561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设解决规模 n 的问题的工作量与 n² 成正比：规模 100 的问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题按 10000 计，拆成两个规模 50 的问题只要 2×2500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5000。接口成本要另算，见下一页。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软件设计原理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模块数与总成本：存在一个最小成本区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graph-1"/>
          <p:cNvGrpSpPr/>
          <p:nvPr/>
        </p:nvGrpSpPr>
        <p:grpSpPr>
          <a:xfrm>
            <a:off x="1031558" y="1738312"/>
            <a:ext cx="5401627" cy="3926777"/>
            <a:chOff x="1031558" y="1738312"/>
            <a:chExt cx="5401627" cy="3926777"/>
          </a:xfrm>
        </p:grpSpPr>
        <p:sp>
          <p:nvSpPr>
            <p:cNvPr id="7" name="Freeform 7"/>
            <p:cNvSpPr/>
            <p:nvPr/>
          </p:nvSpPr>
          <p:spPr>
            <a:xfrm>
              <a:off x="1079182" y="1986915"/>
              <a:ext cx="9525" cy="3183255"/>
            </a:xfrm>
            <a:custGeom>
              <a:avLst/>
              <a:gdLst/>
              <a:ahLst/>
              <a:cxnLst/>
              <a:rect l="l" t="t" r="r" b="b"/>
              <a:pathLst>
                <a:path w="9525" h="3183255">
                  <a:moveTo>
                    <a:pt x="0" y="3183255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1031558" y="189166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117282" y="5292090"/>
              <a:ext cx="5220652" cy="9525"/>
            </a:xfrm>
            <a:custGeom>
              <a:avLst/>
              <a:gdLst/>
              <a:ahLst/>
              <a:cxnLst/>
              <a:rect l="l" t="t" r="r" b="b"/>
              <a:pathLst>
                <a:path w="5220652" h="9525">
                  <a:moveTo>
                    <a:pt x="0" y="0"/>
                  </a:moveTo>
                  <a:lnTo>
                    <a:pt x="5220652" y="0"/>
                  </a:lnTo>
                </a:path>
              </a:pathLst>
            </a:custGeom>
            <a:noFill/>
            <a:ln w="17145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6337935" y="524446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480185" y="2539365"/>
              <a:ext cx="4650105" cy="2414588"/>
            </a:xfrm>
            <a:custGeom>
              <a:avLst/>
              <a:gdLst/>
              <a:ahLst/>
              <a:cxnLst/>
              <a:rect l="l" t="t" r="r" b="b"/>
              <a:pathLst>
                <a:path w="4650105" h="2414588">
                  <a:moveTo>
                    <a:pt x="0" y="0"/>
                  </a:moveTo>
                  <a:lnTo>
                    <a:pt x="1113472" y="950595"/>
                  </a:lnTo>
                  <a:lnTo>
                    <a:pt x="2446020" y="1646872"/>
                  </a:lnTo>
                  <a:lnTo>
                    <a:pt x="3658552" y="2138362"/>
                  </a:lnTo>
                  <a:lnTo>
                    <a:pt x="4650105" y="2414588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480185" y="2461260"/>
              <a:ext cx="4650105" cy="2576512"/>
            </a:xfrm>
            <a:custGeom>
              <a:avLst/>
              <a:gdLst/>
              <a:ahLst/>
              <a:cxnLst/>
              <a:rect l="l" t="t" r="r" b="b"/>
              <a:pathLst>
                <a:path w="4650105" h="2576512">
                  <a:moveTo>
                    <a:pt x="0" y="2576512"/>
                  </a:moveTo>
                  <a:lnTo>
                    <a:pt x="1113472" y="2339340"/>
                  </a:lnTo>
                  <a:lnTo>
                    <a:pt x="2446020" y="1765935"/>
                  </a:lnTo>
                  <a:lnTo>
                    <a:pt x="3658552" y="946785"/>
                  </a:lnTo>
                  <a:lnTo>
                    <a:pt x="465010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480185" y="2058352"/>
              <a:ext cx="4650105" cy="1759268"/>
            </a:xfrm>
            <a:custGeom>
              <a:avLst/>
              <a:gdLst/>
              <a:ahLst/>
              <a:cxnLst/>
              <a:rect l="l" t="t" r="r" b="b"/>
              <a:pathLst>
                <a:path w="4650105" h="1759268">
                  <a:moveTo>
                    <a:pt x="0" y="81915"/>
                  </a:moveTo>
                  <a:lnTo>
                    <a:pt x="992505" y="1185863"/>
                  </a:lnTo>
                  <a:lnTo>
                    <a:pt x="1840230" y="1759268"/>
                  </a:lnTo>
                  <a:lnTo>
                    <a:pt x="2688907" y="1759268"/>
                  </a:lnTo>
                  <a:lnTo>
                    <a:pt x="3658552" y="1103948"/>
                  </a:lnTo>
                  <a:lnTo>
                    <a:pt x="4650105" y="0"/>
                  </a:lnTo>
                </a:path>
              </a:pathLst>
            </a:custGeom>
            <a:noFill/>
            <a:ln w="17145">
              <a:solidFill>
                <a:srgbClr val="334E68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3684270" y="4185285"/>
              <a:ext cx="9525" cy="984885"/>
            </a:xfrm>
            <a:custGeom>
              <a:avLst/>
              <a:gdLst/>
              <a:ahLst/>
              <a:cxnLst/>
              <a:rect l="l" t="t" r="r" b="b"/>
              <a:pathLst>
                <a:path w="9525" h="984885">
                  <a:moveTo>
                    <a:pt x="0" y="0"/>
                  </a:moveTo>
                  <a:lnTo>
                    <a:pt x="0" y="984885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558480" y="173831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成本或工作量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133916" y="247554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总的软件成本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021961" y="5096828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成本／模块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971669" y="1984057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接口成本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247149" y="4441508"/>
              <a:ext cx="8742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最小成本区 M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345496" y="545973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模块数目增加</a:t>
              </a:r>
            </a:p>
          </p:txBody>
        </p:sp>
      </p:grpSp>
      <p:grpSp>
        <p:nvGrpSpPr>
          <p:cNvPr id="33" name="c2-kv-1"/>
          <p:cNvGrpSpPr/>
          <p:nvPr/>
        </p:nvGrpSpPr>
        <p:grpSpPr>
          <a:xfrm>
            <a:off x="6890385" y="1548765"/>
            <a:ext cx="4768215" cy="3023235"/>
            <a:chOff x="6890385" y="1548765"/>
            <a:chExt cx="4768215" cy="3023235"/>
          </a:xfrm>
        </p:grpSpPr>
        <p:sp>
          <p:nvSpPr>
            <p:cNvPr id="22" name="TextBox 22"/>
            <p:cNvSpPr txBox="1"/>
            <p:nvPr/>
          </p:nvSpPr>
          <p:spPr>
            <a:xfrm>
              <a:off x="6890385" y="154876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成本／模块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48662" y="1548765"/>
              <a:ext cx="3063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模块数增加、单个模块变小，每个模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块的开发成本随之下降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898005" y="215074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890385" y="227076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接口成本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48662" y="2270760"/>
              <a:ext cx="3063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模块数增加，模块之间的接口数量和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协调工作量随之上升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898005" y="2872740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90385" y="299275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总的软件成本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348662" y="2992755"/>
              <a:ext cx="2872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两条曲线叠加成一条有最小值的曲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线，最小值附近就是合适的模块数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898005" y="359473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890385" y="3714750"/>
              <a:ext cx="126011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最小成本区 M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348662" y="3714750"/>
              <a:ext cx="3129915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总成本曲线在 M 附近都比较平，模块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数落在这一带都算合适，不必去求精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确的最优值</a:t>
              </a:r>
            </a:p>
          </p:txBody>
        </p:sp>
      </p:grpSp>
      <p:grpSp>
        <p:nvGrpSpPr>
          <p:cNvPr id="39" name="c2-callout-2"/>
          <p:cNvGrpSpPr/>
          <p:nvPr/>
        </p:nvGrpSpPr>
        <p:grpSpPr>
          <a:xfrm>
            <a:off x="6898005" y="4703445"/>
            <a:ext cx="4760595" cy="782955"/>
            <a:chOff x="6898005" y="4703445"/>
            <a:chExt cx="4760595" cy="782955"/>
          </a:xfrm>
        </p:grpSpPr>
        <p:sp>
          <p:nvSpPr>
            <p:cNvPr id="34" name="Rectangle 34"/>
            <p:cNvSpPr/>
            <p:nvPr/>
          </p:nvSpPr>
          <p:spPr>
            <a:xfrm>
              <a:off x="6898005" y="4703445"/>
              <a:ext cx="4760595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102793" y="4994912"/>
              <a:ext cx="200023" cy="200023"/>
              <a:chOff x="7102793" y="4994912"/>
              <a:chExt cx="200023" cy="200023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7102793" y="49949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7236143" y="50615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7404735" y="4852035"/>
              <a:ext cx="37395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拆到"再拆下去接口成本涨得比开发成本降得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快"的位置就该停手。</a:t>
              </a:r>
            </a:p>
          </p:txBody>
        </p:sp>
      </p:grpSp>
      <p:grpSp>
        <p:nvGrpSpPr>
          <p:cNvPr id="41" name="c2-text-3"/>
          <p:cNvGrpSpPr/>
          <p:nvPr/>
        </p:nvGrpSpPr>
        <p:grpSpPr>
          <a:xfrm>
            <a:off x="6891528" y="5698331"/>
            <a:ext cx="4402074" cy="500824"/>
            <a:chOff x="6891528" y="5698331"/>
            <a:chExt cx="4402074" cy="500824"/>
          </a:xfrm>
        </p:grpSpPr>
        <p:sp>
          <p:nvSpPr>
            <p:cNvPr id="40" name="TextBox 40"/>
            <p:cNvSpPr txBox="1"/>
            <p:nvPr/>
          </p:nvSpPr>
          <p:spPr>
            <a:xfrm>
              <a:off x="6891528" y="5698331"/>
              <a:ext cx="4402074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横轴向右是模块数目增加、模块大小减小；纵轴是成本或工作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量。图中三条曲线的形状说明问题，具体数值没有意义。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软件设计原理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抽象：每一步设计都是一次精化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4557141" cy="264033"/>
            <a:chOff x="526542" y="1545907"/>
            <a:chExt cx="4557141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抽象就是抽出事物的本质特性，暂时不考虑它们的细节。</a:t>
              </a:r>
            </a:p>
          </p:txBody>
        </p:sp>
      </p:grpSp>
      <p:grpSp>
        <p:nvGrpSpPr>
          <p:cNvPr id="14" name="c1-kv-1"/>
          <p:cNvGrpSpPr/>
          <p:nvPr/>
        </p:nvGrpSpPr>
        <p:grpSpPr>
          <a:xfrm>
            <a:off x="526542" y="1950720"/>
            <a:ext cx="4984623" cy="1164146"/>
            <a:chOff x="526542" y="1950720"/>
            <a:chExt cx="4984623" cy="1164146"/>
          </a:xfrm>
        </p:grpSpPr>
        <p:sp>
          <p:nvSpPr>
            <p:cNvPr id="9" name="TextBox 9"/>
            <p:cNvSpPr txBox="1"/>
            <p:nvPr/>
          </p:nvSpPr>
          <p:spPr>
            <a:xfrm>
              <a:off x="526542" y="195072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过程抽象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88567" y="1950720"/>
              <a:ext cx="378561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把完成一个特定功能的动作序列抽象为一个过程名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和参数表，以后通过指定过程名和实际参数调用它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" y="2490788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26542" y="2597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数据抽象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488567" y="2597468"/>
              <a:ext cx="378561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把一个数据对象的定义抽象为一个数据类型名，用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这个类型名可以定义多个同性质的数据对象</a:t>
              </a:r>
            </a:p>
          </p:txBody>
        </p:sp>
      </p:grpSp>
      <p:grpSp>
        <p:nvGrpSpPr>
          <p:cNvPr id="21" name="c1-card-2"/>
          <p:cNvGrpSpPr/>
          <p:nvPr/>
        </p:nvGrpSpPr>
        <p:grpSpPr>
          <a:xfrm>
            <a:off x="533400" y="3231832"/>
            <a:ext cx="4977765" cy="2165032"/>
            <a:chOff x="533400" y="3231832"/>
            <a:chExt cx="4977765" cy="2165032"/>
          </a:xfrm>
        </p:grpSpPr>
        <p:sp>
          <p:nvSpPr>
            <p:cNvPr id="15" name="Rectangle 15"/>
            <p:cNvSpPr/>
            <p:nvPr/>
          </p:nvSpPr>
          <p:spPr>
            <a:xfrm>
              <a:off x="533400" y="3231832"/>
              <a:ext cx="4977765" cy="2165032"/>
            </a:xfrm>
            <a:prstGeom prst="roundRect">
              <a:avLst>
                <a:gd name="adj" fmla="val 615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3365182"/>
              <a:ext cx="47625" cy="189833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58190" y="3418522"/>
              <a:ext cx="779145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38704" y="3451384"/>
              <a:ext cx="6181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抽象层次Ⅰ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644777" y="3453765"/>
              <a:ext cx="301169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用问题所处环境的术语描述 CAD 软件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1332" y="3779520"/>
              <a:ext cx="4299966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该软件包括一个计算机绘图界面向绘图员显示图形，以及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一个数字化仪界面代替绘图板和丁字尺。直线、折线、矩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形、圆及曲线的描画，几何计算，剖面图和辅助视图都由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它实现。</a:t>
              </a:r>
            </a:p>
          </p:txBody>
        </p:sp>
      </p:grpSp>
      <p:grpSp>
        <p:nvGrpSpPr>
          <p:cNvPr id="25" name="c2-code-1"/>
          <p:cNvGrpSpPr/>
          <p:nvPr/>
        </p:nvGrpSpPr>
        <p:grpSpPr>
          <a:xfrm>
            <a:off x="5815965" y="1928812"/>
            <a:ext cx="5842635" cy="1561148"/>
            <a:chOff x="5815965" y="1928812"/>
            <a:chExt cx="5842635" cy="1561148"/>
          </a:xfrm>
        </p:grpSpPr>
        <p:sp>
          <p:nvSpPr>
            <p:cNvPr id="22" name="Rectangle 22"/>
            <p:cNvSpPr/>
            <p:nvPr/>
          </p:nvSpPr>
          <p:spPr>
            <a:xfrm>
              <a:off x="5815965" y="1928812"/>
              <a:ext cx="5842635" cy="1561148"/>
            </a:xfrm>
            <a:prstGeom prst="roundRect">
              <a:avLst>
                <a:gd name="adj" fmla="val 610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944362" y="2080736"/>
              <a:ext cx="32771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抽象层次Ⅱ　任务需求（没说"怎样做"，不能直接实现）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944362" y="2340769"/>
              <a:ext cx="2268855" cy="10717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CAD SOFTWARE TASKS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user interaction task;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2-D drawing creation task;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graphics display task;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drawing file management task;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</a:t>
              </a:r>
            </a:p>
          </p:txBody>
        </p:sp>
      </p:grpSp>
      <p:grpSp>
        <p:nvGrpSpPr>
          <p:cNvPr id="29" name="c2-code-2"/>
          <p:cNvGrpSpPr/>
          <p:nvPr/>
        </p:nvGrpSpPr>
        <p:grpSpPr>
          <a:xfrm>
            <a:off x="5815965" y="3659505"/>
            <a:ext cx="5842635" cy="1737360"/>
            <a:chOff x="5815965" y="3659505"/>
            <a:chExt cx="5842635" cy="1737360"/>
          </a:xfrm>
        </p:grpSpPr>
        <p:sp>
          <p:nvSpPr>
            <p:cNvPr id="26" name="Rectangle 26"/>
            <p:cNvSpPr/>
            <p:nvPr/>
          </p:nvSpPr>
          <p:spPr>
            <a:xfrm>
              <a:off x="5815965" y="3659505"/>
              <a:ext cx="5842635" cy="1737360"/>
            </a:xfrm>
            <a:prstGeom prst="roundRect">
              <a:avLst>
                <a:gd name="adj" fmla="val 54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944362" y="3811429"/>
              <a:ext cx="31247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抽象层次Ⅲ　程序过程表示，以二维绘图生成任务为例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944362" y="4072414"/>
              <a:ext cx="3364103" cy="12479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PROCEDURE: 2-D drawing creation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 UNTIL (drawing creation task terminates)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DO WHILE (digitizer interaction occurs)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digitizer interface task;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DETERMINE drawing request CASE;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line:      line drawing task;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rectangle: rectangle drawing task;</a:t>
              </a:r>
            </a:p>
          </p:txBody>
        </p:sp>
      </p:grpSp>
      <p:grpSp>
        <p:nvGrpSpPr>
          <p:cNvPr id="35" name="takeaway"/>
          <p:cNvGrpSpPr/>
          <p:nvPr/>
        </p:nvGrpSpPr>
        <p:grpSpPr>
          <a:xfrm>
            <a:off x="533400" y="5633085"/>
            <a:ext cx="11125200" cy="729615"/>
            <a:chOff x="533400" y="5633085"/>
            <a:chExt cx="11125200" cy="729615"/>
          </a:xfrm>
        </p:grpSpPr>
        <p:sp>
          <p:nvSpPr>
            <p:cNvPr id="30" name="Rectangle 30"/>
            <p:cNvSpPr/>
            <p:nvPr/>
          </p:nvSpPr>
          <p:spPr>
            <a:xfrm>
              <a:off x="533400" y="5633085"/>
              <a:ext cx="11125200" cy="729615"/>
            </a:xfrm>
            <a:prstGeom prst="roundRect">
              <a:avLst>
                <a:gd name="adj" fmla="val 15666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38188" y="5897882"/>
              <a:ext cx="200023" cy="200023"/>
              <a:chOff x="738188" y="5897882"/>
              <a:chExt cx="200023" cy="200023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738188" y="589788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71538" y="59645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040892" y="5779770"/>
              <a:ext cx="9897809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层次Ⅰ用问题环境的术语说话，层次Ⅱ给出任务清单，层次Ⅲ才出现可直接实现的控制结构。软件工程过程的每一步，都是对软件解法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抽象层次的一次精化。</a:t>
              </a:r>
            </a:p>
          </p:txBody>
        </p:sp>
      </p:grpSp>
      <p:grpSp>
        <p:nvGrpSpPr>
          <p:cNvPr id="3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6" name="TextBox 36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软件设计原理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逐步求精与信息隐藏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410200" cy="1760220"/>
            <a:chOff x="533400" y="1524000"/>
            <a:chExt cx="5410200" cy="17602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760220"/>
            </a:xfrm>
            <a:prstGeom prst="roundRect">
              <a:avLst>
                <a:gd name="adj" fmla="val 75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49352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23784" y="174593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逐步求精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1332" y="2071688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为了能集中精力解决主要问题而尽量推迟对问题细节的考虑。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6762" y="242792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2782" y="2371725"/>
              <a:ext cx="46428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它是一种</a:t>
              </a: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自顶向下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的设计策略：通过逐步精化处理过程的层次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设计出程序的体系结构，直至最终得出用程序设计语言表达的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</a:t>
              </a:r>
            </a:p>
          </p:txBody>
        </p:sp>
      </p:grpSp>
      <p:grpSp>
        <p:nvGrpSpPr>
          <p:cNvPr id="23" name="c1-card-2"/>
          <p:cNvGrpSpPr/>
          <p:nvPr/>
        </p:nvGrpSpPr>
        <p:grpSpPr>
          <a:xfrm>
            <a:off x="533400" y="3453765"/>
            <a:ext cx="5410200" cy="1927860"/>
            <a:chOff x="533400" y="3453765"/>
            <a:chExt cx="5410200" cy="1927860"/>
          </a:xfrm>
        </p:grpSpPr>
        <p:sp>
          <p:nvSpPr>
            <p:cNvPr id="16" name="Rectangle 16"/>
            <p:cNvSpPr/>
            <p:nvPr/>
          </p:nvSpPr>
          <p:spPr>
            <a:xfrm>
              <a:off x="533400" y="3453765"/>
              <a:ext cx="5410200" cy="1927860"/>
            </a:xfrm>
            <a:prstGeom prst="roundRect">
              <a:avLst>
                <a:gd name="adj" fmla="val 69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3587115"/>
              <a:ext cx="47625" cy="166116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58190" y="3640455"/>
              <a:ext cx="120491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28459" y="3673316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为什么要一层层来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070544" y="3675698"/>
              <a:ext cx="9646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Miller 法则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1332" y="4001452"/>
              <a:ext cx="470287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人类的认知过程遵守 Miller 法则：一个人在任何时候都只能把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注意力集中在 7±2 个知识块上。所以每一层只能展开有限的几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件事，其余的推到下一层。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2475" y="4812506"/>
              <a:ext cx="4676902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George A. Miller, The Magical Number Seven, Plus or Minus Two, The</a:t>
              </a:r>
              <a:br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Psychological Review, 1956, vol. 63, pp. 81-97</a:t>
              </a:r>
            </a:p>
          </p:txBody>
        </p:sp>
      </p:grpSp>
      <p:grpSp>
        <p:nvGrpSpPr>
          <p:cNvPr id="31" name="c2-card-1"/>
          <p:cNvGrpSpPr/>
          <p:nvPr/>
        </p:nvGrpSpPr>
        <p:grpSpPr>
          <a:xfrm>
            <a:off x="6248400" y="1524000"/>
            <a:ext cx="5410200" cy="1760220"/>
            <a:chOff x="6248400" y="1524000"/>
            <a:chExt cx="5410200" cy="1760220"/>
          </a:xfrm>
        </p:grpSpPr>
        <p:sp>
          <p:nvSpPr>
            <p:cNvPr id="24" name="Rectangle 24"/>
            <p:cNvSpPr/>
            <p:nvPr/>
          </p:nvSpPr>
          <p:spPr>
            <a:xfrm>
              <a:off x="6248400" y="1524000"/>
              <a:ext cx="5410200" cy="1760220"/>
            </a:xfrm>
            <a:prstGeom prst="roundRect">
              <a:avLst>
                <a:gd name="adj" fmla="val 75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57925" y="1657350"/>
              <a:ext cx="47625" cy="149352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73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65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038784" y="174593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信息隐藏与局部化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66332" y="2071688"/>
              <a:ext cx="48143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信息隐藏：模块应该设计成，其中包含的信息（过程和数据）对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于不需要这些信息的其他模块来说是不可访问的。隐藏的是模块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的实现细节。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66332" y="2886075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局部化：把一些关系密切的软件元素物理地放得彼此靠近。</a:t>
              </a:r>
            </a:p>
          </p:txBody>
        </p:sp>
      </p:grpSp>
      <p:grpSp>
        <p:nvGrpSpPr>
          <p:cNvPr id="39" name="c2-bullets-2"/>
          <p:cNvGrpSpPr/>
          <p:nvPr/>
        </p:nvGrpSpPr>
        <p:grpSpPr>
          <a:xfrm>
            <a:off x="6241542" y="3475672"/>
            <a:ext cx="3892296" cy="1198436"/>
            <a:chOff x="6241542" y="3475672"/>
            <a:chExt cx="3892296" cy="1198436"/>
          </a:xfrm>
        </p:grpSpPr>
        <p:sp>
          <p:nvSpPr>
            <p:cNvPr id="32" name="TextBox 32"/>
            <p:cNvSpPr txBox="1"/>
            <p:nvPr/>
          </p:nvSpPr>
          <p:spPr>
            <a:xfrm>
              <a:off x="6241542" y="347567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信息隐藏带来的好处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6248400" y="3821430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85382" y="379285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支持模块的并行开发</a:t>
              </a:r>
            </a:p>
          </p:txBody>
        </p:sp>
        <p:sp>
          <p:nvSpPr>
            <p:cNvPr id="35" name="Freeform 35"/>
            <p:cNvSpPr/>
            <p:nvPr/>
          </p:nvSpPr>
          <p:spPr>
            <a:xfrm>
              <a:off x="6248400" y="4130040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85382" y="4101465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软件易于修改，减少后期测试和维护的工作量</a:t>
              </a:r>
            </a:p>
          </p:txBody>
        </p:sp>
        <p:sp>
          <p:nvSpPr>
            <p:cNvPr id="37" name="Freeform 37"/>
            <p:cNvSpPr/>
            <p:nvPr/>
          </p:nvSpPr>
          <p:spPr>
            <a:xfrm>
              <a:off x="6248400" y="4438650"/>
              <a:ext cx="129540" cy="104775"/>
            </a:xfrm>
            <a:custGeom>
              <a:avLst/>
              <a:gdLst/>
              <a:ahLst/>
              <a:cxnLst/>
              <a:rect l="l" t="t" r="r" b="b"/>
              <a:pathLst>
                <a:path w="129540" h="104775">
                  <a:moveTo>
                    <a:pt x="0" y="55245"/>
                  </a:moveTo>
                  <a:lnTo>
                    <a:pt x="49530" y="104775"/>
                  </a:lnTo>
                  <a:lnTo>
                    <a:pt x="129540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85382" y="44100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系统易于扩充</a:t>
              </a:r>
            </a:p>
          </p:txBody>
        </p:sp>
      </p:grpSp>
      <p:grpSp>
        <p:nvGrpSpPr>
          <p:cNvPr id="46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40" name="Rectangle 40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738188" y="6022658"/>
              <a:ext cx="200026" cy="200025"/>
              <a:chOff x="738188" y="6022658"/>
              <a:chExt cx="200026" cy="200025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738188" y="60226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777926" y="60671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812642" y="61782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1040892" y="6028373"/>
              <a:ext cx="76830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信息隐藏强调"藏起来"，局部化强调"放一起"，两者配合才能把一次改动限制在一个模块内部。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软件设计原理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模块独立：用耦合和内聚两把尺子量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977765" cy="1459230"/>
            <a:chOff x="533400" y="1524000"/>
            <a:chExt cx="4977765" cy="145923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459230"/>
            </a:xfrm>
            <a:prstGeom prst="roundRect">
              <a:avLst>
                <a:gd name="adj" fmla="val 91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19253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23784" y="174593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模块独立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1332" y="2071688"/>
              <a:ext cx="42999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每个模块完成一个相对独立的子功能，并且和其他模块之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间的关系很简单。它是模块化、抽象、信息隐藏和局部化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概念的直接结果。</a:t>
              </a:r>
            </a:p>
          </p:txBody>
        </p:sp>
      </p:grpSp>
      <p:grpSp>
        <p:nvGrpSpPr>
          <p:cNvPr id="21" name="c1-bullets-2"/>
          <p:cNvGrpSpPr/>
          <p:nvPr/>
        </p:nvGrpSpPr>
        <p:grpSpPr>
          <a:xfrm>
            <a:off x="526542" y="3175635"/>
            <a:ext cx="2845689" cy="889825"/>
            <a:chOff x="526542" y="3175635"/>
            <a:chExt cx="2845689" cy="889825"/>
          </a:xfrm>
        </p:grpSpPr>
        <p:sp>
          <p:nvSpPr>
            <p:cNvPr id="14" name="TextBox 14"/>
            <p:cNvSpPr txBox="1"/>
            <p:nvPr/>
          </p:nvSpPr>
          <p:spPr>
            <a:xfrm>
              <a:off x="526542" y="317563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为什么要独立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533400" y="3480435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89078" y="351882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14197" y="3492818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有效模块化的软件容易开发出来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3789045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89078" y="382743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14197" y="3801427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独立的模块容易测试和维护</a:t>
              </a:r>
            </a:p>
          </p:txBody>
        </p:sp>
      </p:grpSp>
      <p:grpSp>
        <p:nvGrpSpPr>
          <p:cNvPr id="24" name="c1-image-3"/>
          <p:cNvGrpSpPr/>
          <p:nvPr/>
        </p:nvGrpSpPr>
        <p:grpSpPr>
          <a:xfrm>
            <a:off x="533400" y="4182428"/>
            <a:ext cx="4977765" cy="1539906"/>
            <a:chOff x="533400" y="4182428"/>
            <a:chExt cx="4977765" cy="1539906"/>
          </a:xfrm>
        </p:grpSpPr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2"/>
            <a:srcRect l="0" t="33161" r="0" b="33161"/>
            <a:stretch>
              <a:fillRect/>
            </a:stretch>
          </p:blipFill>
          <p:spPr>
            <a:xfrm>
              <a:off x="533400" y="4182428"/>
              <a:ext cx="4977765" cy="1257300"/>
            </a:xfrm>
            <a:prstGeom prst="roundRect">
              <a:avLst>
                <a:gd name="adj" fmla="val 10606"/>
              </a:avLst>
            </a:prstGeom>
          </p:spPr>
        </p:pic>
        <p:sp>
          <p:nvSpPr>
            <p:cNvPr id="23" name="TextBox 23"/>
            <p:cNvSpPr txBox="1"/>
            <p:nvPr/>
          </p:nvSpPr>
          <p:spPr>
            <a:xfrm>
              <a:off x="1566126" y="5531644"/>
              <a:ext cx="291231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左边一根线说清关系，右边一团线改一处要查一片</a:t>
              </a:r>
            </a:p>
          </p:txBody>
        </p:sp>
      </p:grpSp>
      <p:grpSp>
        <p:nvGrpSpPr>
          <p:cNvPr id="55" name="c2-table-1"/>
          <p:cNvGrpSpPr/>
          <p:nvPr/>
        </p:nvGrpSpPr>
        <p:grpSpPr>
          <a:xfrm>
            <a:off x="5815965" y="1524000"/>
            <a:ext cx="5842635" cy="3000375"/>
            <a:chOff x="5815965" y="1524000"/>
            <a:chExt cx="5842635" cy="3000375"/>
          </a:xfrm>
        </p:grpSpPr>
        <p:sp>
          <p:nvSpPr>
            <p:cNvPr id="25" name="Rectangle 25"/>
            <p:cNvSpPr/>
            <p:nvPr/>
          </p:nvSpPr>
          <p:spPr>
            <a:xfrm>
              <a:off x="5815965" y="1524000"/>
              <a:ext cx="5842635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226073" y="16454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比较项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748778" y="1645444"/>
              <a:ext cx="982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耦合 Coupling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008182" y="1645444"/>
              <a:ext cx="1022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内聚 Cohesion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913120" y="21455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量的是什么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198042" y="2145506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模块之间互相依赖的紧密程度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77375" y="2045494"/>
              <a:ext cx="18605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模块内部各元素结合的紧密程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815965" y="251936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815965" y="2524125"/>
              <a:ext cx="584263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913120" y="26455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追求方向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198042" y="264556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越松散越好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477375" y="26455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越高越好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815965" y="291941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913120" y="314563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最好与最差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110412" y="2933700"/>
              <a:ext cx="2259330" cy="58102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198042" y="3045619"/>
              <a:ext cx="18605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非直接耦合最好，内容耦合最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389745" y="2933700"/>
              <a:ext cx="2259330" cy="58102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477375" y="3145631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功能内聚最好，偶然内聚最差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815965" y="351948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815965" y="3524250"/>
              <a:ext cx="5842635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913120" y="374570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取决于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198042" y="3645694"/>
              <a:ext cx="18605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接口的复杂程度、进入模块的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点、通过接口的数据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477375" y="374570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模块是否只专注于一件事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815965" y="411956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913120" y="424576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和独立性的关系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198042" y="424576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耦合越低，独立性越强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477375" y="424576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内聚越高，独立性越强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815965" y="1524000"/>
              <a:ext cx="5842635" cy="30003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7096125" y="1524000"/>
              <a:ext cx="9525" cy="30003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9375458" y="1524000"/>
              <a:ext cx="9525" cy="30003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1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6" name="Rectangle 56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1040892" y="6028373"/>
              <a:ext cx="619277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模块间的耦合程度强烈影响系统的可理解性、可测试性、可靠性和可维护性。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428875" cy="909257"/>
            <a:chOff x="520446" y="342900"/>
            <a:chExt cx="242887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软件设计原理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4288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耦合的七个等级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7" name="c1-table-1"/>
          <p:cNvGrpSpPr/>
          <p:nvPr/>
        </p:nvGrpSpPr>
        <p:grpSpPr>
          <a:xfrm>
            <a:off x="533400" y="1524000"/>
            <a:ext cx="11125200" cy="3822382"/>
            <a:chOff x="533400" y="1524000"/>
            <a:chExt cx="11125200" cy="38223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2481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371981" y="1652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耦合类型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202305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强度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62956" y="1652588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模块之间靠什么联系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22180" y="165258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评价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5889" y="2076450"/>
              <a:ext cx="1673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非直接耦合 Nondirect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2879408" y="1958340"/>
              <a:ext cx="982028" cy="40576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2972372" y="207645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最弱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73449" y="2076450"/>
              <a:ext cx="38892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没有直接关系，联系完全通过主模块的控制和调用实现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423529" y="207645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模块独立性最强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236791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33400" y="2372678"/>
              <a:ext cx="1112520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5889" y="2607945"/>
              <a:ext cx="10884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数据耦合 Data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2879408" y="2382202"/>
              <a:ext cx="982028" cy="61912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2972372" y="260794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弱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73449" y="2501265"/>
              <a:ext cx="3974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通过参数表传简单数据，不是控制参数、公共数据结构或外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部变量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423529" y="260794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尽量使用这一种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00609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5889" y="3139440"/>
              <a:ext cx="121587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标记耦合 Stamp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972372" y="313944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弱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973449" y="3139440"/>
              <a:ext cx="40507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通过参数表传整条记录或某种数据结构，而不是简单变量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423529" y="3139440"/>
              <a:ext cx="30815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把对该结构的操作集中到一个模块可以消除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4299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3434715"/>
              <a:ext cx="11125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5889" y="3563302"/>
              <a:ext cx="13252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控制耦合 Control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972372" y="3563302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973449" y="3563302"/>
              <a:ext cx="40507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传开关、标志、名字等控制信息，控制对方选择哪项功能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423529" y="3563302"/>
              <a:ext cx="243535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调用方必须知道被调方的内部逻辑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3854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5889" y="3988118"/>
              <a:ext cx="141852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外部耦合 External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972372" y="39881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较强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973449" y="3988118"/>
              <a:ext cx="37277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共同访问同一个全局简单变量，且不通过参数表传递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423529" y="3988118"/>
              <a:ext cx="14660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不可避免时尽量集中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427958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33400" y="4284345"/>
              <a:ext cx="1112520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5889" y="4518660"/>
              <a:ext cx="134325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公共耦合 Common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2879408" y="4293870"/>
              <a:ext cx="982028" cy="619125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2972372" y="4518660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较强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973449" y="4411980"/>
              <a:ext cx="3974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共同访问同一个公共数据环境，如全局数据结构、共享通信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423529" y="451866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危险，慎用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3400" y="491680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35889" y="5050155"/>
              <a:ext cx="13679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内容耦合 Content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2879408" y="4931092"/>
              <a:ext cx="982028" cy="405765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2972372" y="505015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最强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3973449" y="5050155"/>
              <a:ext cx="38892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直接访问对方内部数据，或不经正常入口进入对方内部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423529" y="505015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完全不用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33400" y="1524000"/>
              <a:ext cx="11125200" cy="382238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2865120" y="1524000"/>
              <a:ext cx="9525" cy="3822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3866198" y="1524000"/>
              <a:ext cx="9525" cy="3822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8316278" y="1524000"/>
              <a:ext cx="9525" cy="3822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3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58" name="Rectangle 58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0511" y="6011704"/>
              <a:ext cx="105283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判别顺序：先看有没有直接联系，再看传的是简单变量、整条记录还是开关，最后看是不是共享数据环境或闯进了对方内部。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软件设计原理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弱耦合三种：非直接、数据、标记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250632"/>
            <a:chOff x="533400" y="1524000"/>
            <a:chExt cx="5410200" cy="12506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50632"/>
            </a:xfrm>
            <a:prstGeom prst="roundRect">
              <a:avLst>
                <a:gd name="adj" fmla="val 106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98393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9058" y="175641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非直接耦合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两个模块之间没有直接关系，它们之间的联系完全是通过主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模块的控制和调用来实现的。这种模块的独立性最强。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2955608"/>
            <a:ext cx="5410200" cy="1268730"/>
            <a:chOff x="533400" y="2955608"/>
            <a:chExt cx="5410200" cy="1268730"/>
          </a:xfrm>
        </p:grpSpPr>
        <p:sp>
          <p:nvSpPr>
            <p:cNvPr id="13" name="Rectangle 13"/>
            <p:cNvSpPr/>
            <p:nvPr/>
          </p:nvSpPr>
          <p:spPr>
            <a:xfrm>
              <a:off x="533400" y="2955608"/>
              <a:ext cx="5410200" cy="1268730"/>
            </a:xfrm>
            <a:prstGeom prst="roundRect">
              <a:avLst>
                <a:gd name="adj" fmla="val 1051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3088958"/>
              <a:ext cx="47625" cy="100203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69620" y="3153728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53059" y="318801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数据耦合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619631" y="3188494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只传简单数据参数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381" y="3532346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一个模块访问另一个模块时，彼此之间通过简单数据参数来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交换输入、输出信息。</a:t>
              </a:r>
            </a:p>
          </p:txBody>
        </p:sp>
      </p:grpSp>
      <p:grpSp>
        <p:nvGrpSpPr>
          <p:cNvPr id="34" name="c1-flow-3"/>
          <p:cNvGrpSpPr/>
          <p:nvPr/>
        </p:nvGrpSpPr>
        <p:grpSpPr>
          <a:xfrm>
            <a:off x="666750" y="4578668"/>
            <a:ext cx="5143500" cy="1172527"/>
            <a:chOff x="666750" y="4578668"/>
            <a:chExt cx="5143500" cy="1172527"/>
          </a:xfrm>
        </p:grpSpPr>
        <p:sp>
          <p:nvSpPr>
            <p:cNvPr id="20" name="Freeform 20"/>
            <p:cNvSpPr/>
            <p:nvPr/>
          </p:nvSpPr>
          <p:spPr>
            <a:xfrm>
              <a:off x="1435418" y="4991100"/>
              <a:ext cx="1803082" cy="243840"/>
            </a:xfrm>
            <a:custGeom>
              <a:avLst/>
              <a:gdLst/>
              <a:ahLst/>
              <a:cxnLst/>
              <a:rect l="l" t="t" r="r" b="b"/>
              <a:pathLst>
                <a:path w="1803082" h="243840">
                  <a:moveTo>
                    <a:pt x="1803082" y="0"/>
                  </a:moveTo>
                  <a:lnTo>
                    <a:pt x="1803082" y="174307"/>
                  </a:lnTo>
                  <a:lnTo>
                    <a:pt x="0" y="174307"/>
                  </a:lnTo>
                  <a:lnTo>
                    <a:pt x="0" y="24384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1383030" y="523494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3238500" y="4991100"/>
              <a:ext cx="1803082" cy="243840"/>
            </a:xfrm>
            <a:custGeom>
              <a:avLst/>
              <a:gdLst/>
              <a:ahLst/>
              <a:cxnLst/>
              <a:rect l="l" t="t" r="r" b="b"/>
              <a:pathLst>
                <a:path w="1803082" h="243840">
                  <a:moveTo>
                    <a:pt x="0" y="0"/>
                  </a:moveTo>
                  <a:lnTo>
                    <a:pt x="0" y="174307"/>
                  </a:lnTo>
                  <a:lnTo>
                    <a:pt x="1803082" y="174307"/>
                  </a:lnTo>
                  <a:lnTo>
                    <a:pt x="1803082" y="24384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4989195" y="523494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469832" y="4578668"/>
              <a:ext cx="1536382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66750" y="5339715"/>
              <a:ext cx="1536382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4273868" y="5339715"/>
              <a:ext cx="1536382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828544" y="470154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计算应扣款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106233" y="5462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计算水费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712398" y="546258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计算电费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1766888" y="4959668"/>
              <a:ext cx="114014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823608" y="4983956"/>
              <a:ext cx="102574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用水量 ↓　水费 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3569970" y="4959668"/>
              <a:ext cx="114014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3627643" y="4983956"/>
              <a:ext cx="102574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用电量 ↓　电费 ↑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6248400" y="1524000"/>
            <a:ext cx="5410200" cy="2175510"/>
            <a:chOff x="6248400" y="1524000"/>
            <a:chExt cx="5410200" cy="2175510"/>
          </a:xfrm>
        </p:grpSpPr>
        <p:sp>
          <p:nvSpPr>
            <p:cNvPr id="35" name="Rectangle 35"/>
            <p:cNvSpPr/>
            <p:nvPr/>
          </p:nvSpPr>
          <p:spPr>
            <a:xfrm>
              <a:off x="6248400" y="1524000"/>
              <a:ext cx="5410200" cy="2175510"/>
            </a:xfrm>
            <a:prstGeom prst="roundRect">
              <a:avLst>
                <a:gd name="adj" fmla="val 6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257925" y="1657350"/>
              <a:ext cx="47625" cy="190881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84620" y="172212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68059" y="17564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标记耦合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334631" y="1756886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传的是一整条记录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77381" y="2100739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一组模块通过参数表传递记录信息，这个记录是某一数据结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构，而不是简单变量。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492240" y="274986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648831" y="2690336"/>
              <a:ext cx="326420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标记耦合使数据结构上的操作复杂化了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492240" y="306800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648831" y="3007519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把在该数据结构上的操作全部集中在一个模块中，可以消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除或转化这种耦合</a:t>
              </a:r>
            </a:p>
          </p:txBody>
        </p:sp>
      </p:grpSp>
      <p:grpSp>
        <p:nvGrpSpPr>
          <p:cNvPr id="60" name="c2-flow-2"/>
          <p:cNvGrpSpPr/>
          <p:nvPr/>
        </p:nvGrpSpPr>
        <p:grpSpPr>
          <a:xfrm>
            <a:off x="6381750" y="4054792"/>
            <a:ext cx="5143500" cy="1172528"/>
            <a:chOff x="6381750" y="4054792"/>
            <a:chExt cx="5143500" cy="1172528"/>
          </a:xfrm>
        </p:grpSpPr>
        <p:sp>
          <p:nvSpPr>
            <p:cNvPr id="46" name="Freeform 46"/>
            <p:cNvSpPr/>
            <p:nvPr/>
          </p:nvSpPr>
          <p:spPr>
            <a:xfrm>
              <a:off x="7150418" y="4466272"/>
              <a:ext cx="1803082" cy="244793"/>
            </a:xfrm>
            <a:custGeom>
              <a:avLst/>
              <a:gdLst/>
              <a:ahLst/>
              <a:cxnLst/>
              <a:rect l="l" t="t" r="r" b="b"/>
              <a:pathLst>
                <a:path w="1803082" h="244793">
                  <a:moveTo>
                    <a:pt x="1803082" y="0"/>
                  </a:moveTo>
                  <a:lnTo>
                    <a:pt x="1803082" y="175260"/>
                  </a:lnTo>
                  <a:lnTo>
                    <a:pt x="0" y="175260"/>
                  </a:lnTo>
                  <a:lnTo>
                    <a:pt x="0" y="24479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7098030" y="471106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8" name="Freeform 48"/>
            <p:cNvSpPr/>
            <p:nvPr/>
          </p:nvSpPr>
          <p:spPr>
            <a:xfrm>
              <a:off x="8953500" y="4466272"/>
              <a:ext cx="1803082" cy="244793"/>
            </a:xfrm>
            <a:custGeom>
              <a:avLst/>
              <a:gdLst/>
              <a:ahLst/>
              <a:cxnLst/>
              <a:rect l="l" t="t" r="r" b="b"/>
              <a:pathLst>
                <a:path w="1803082" h="244793">
                  <a:moveTo>
                    <a:pt x="0" y="0"/>
                  </a:moveTo>
                  <a:lnTo>
                    <a:pt x="0" y="175260"/>
                  </a:lnTo>
                  <a:lnTo>
                    <a:pt x="1803082" y="175260"/>
                  </a:lnTo>
                  <a:lnTo>
                    <a:pt x="1803082" y="24479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10704195" y="471106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8184832" y="4054792"/>
              <a:ext cx="1536382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6381750" y="4815840"/>
              <a:ext cx="1536382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9988868" y="4815840"/>
              <a:ext cx="1536382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8543544" y="417671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计算应扣款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821234" y="49377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计算水费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427398" y="493776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计算电费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7755255" y="4434840"/>
              <a:ext cx="59340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7782674" y="446008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房租水电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558338" y="4434840"/>
              <a:ext cx="59340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9586709" y="446008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房租水电</a:t>
              </a:r>
            </a:p>
          </p:txBody>
        </p:sp>
      </p:grpSp>
      <p:grpSp>
        <p:nvGrpSpPr>
          <p:cNvPr id="67" name="c2-callout-3"/>
          <p:cNvGrpSpPr/>
          <p:nvPr/>
        </p:nvGrpSpPr>
        <p:grpSpPr>
          <a:xfrm>
            <a:off x="6248400" y="5582602"/>
            <a:ext cx="5410200" cy="756285"/>
            <a:chOff x="6248400" y="5582602"/>
            <a:chExt cx="5410200" cy="756285"/>
          </a:xfrm>
        </p:grpSpPr>
        <p:sp>
          <p:nvSpPr>
            <p:cNvPr id="61" name="Rectangle 61"/>
            <p:cNvSpPr/>
            <p:nvPr/>
          </p:nvSpPr>
          <p:spPr>
            <a:xfrm>
              <a:off x="6248400" y="5582602"/>
              <a:ext cx="5410200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6453188" y="5860733"/>
              <a:ext cx="200026" cy="200025"/>
              <a:chOff x="6453188" y="5860733"/>
              <a:chExt cx="200026" cy="200025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453188" y="586073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6492926" y="590518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6527642" y="601630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6755511" y="5729764"/>
              <a:ext cx="4459859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同样是算水费，传"用水量"是数据耦合，把整张"房租水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电"记录递过去就是标记耦合。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软件设计原理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控制耦合、外部耦合、公共耦合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4977765" cy="2060258"/>
            <a:chOff x="533400" y="1524000"/>
            <a:chExt cx="4977765" cy="206025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2060258"/>
            </a:xfrm>
            <a:prstGeom prst="roundRect">
              <a:avLst>
                <a:gd name="adj" fmla="val 647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79355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2759" y="174355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控制耦合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73340" y="174593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中等耦合度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1332" y="2071688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一个模块通过传送开关、标志、名字等控制信息，明显地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控制选择另一个模块的功能，就是控制耦合。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66762" y="268509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2782" y="2628900"/>
              <a:ext cx="41285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实质是在单一接口上选择多功能模块中的某项功能，因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此对 B 的任何改动都会影响 A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66762" y="324231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2782" y="3186112"/>
              <a:ext cx="43959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必须知道 B 内部的一些逻辑关系，模块的独立性下降</a:t>
              </a:r>
            </a:p>
          </p:txBody>
        </p:sp>
      </p:grpSp>
      <p:grpSp>
        <p:nvGrpSpPr>
          <p:cNvPr id="38" name="c1-flow-2"/>
          <p:cNvGrpSpPr/>
          <p:nvPr/>
        </p:nvGrpSpPr>
        <p:grpSpPr>
          <a:xfrm>
            <a:off x="666750" y="3823335"/>
            <a:ext cx="4711065" cy="1450657"/>
            <a:chOff x="666750" y="3823335"/>
            <a:chExt cx="4711065" cy="1450657"/>
          </a:xfrm>
        </p:grpSpPr>
        <p:sp>
          <p:nvSpPr>
            <p:cNvPr id="18" name="Freeform 18"/>
            <p:cNvSpPr/>
            <p:nvPr/>
          </p:nvSpPr>
          <p:spPr>
            <a:xfrm>
              <a:off x="2326005" y="4019550"/>
              <a:ext cx="1287780" cy="530542"/>
            </a:xfrm>
            <a:custGeom>
              <a:avLst/>
              <a:gdLst/>
              <a:ahLst/>
              <a:cxnLst/>
              <a:rect l="l" t="t" r="r" b="b"/>
              <a:pathLst>
                <a:path w="1287780" h="530542">
                  <a:moveTo>
                    <a:pt x="0" y="0"/>
                  </a:moveTo>
                  <a:lnTo>
                    <a:pt x="696278" y="0"/>
                  </a:lnTo>
                  <a:lnTo>
                    <a:pt x="696278" y="530542"/>
                  </a:lnTo>
                  <a:lnTo>
                    <a:pt x="1287780" y="53054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3613785" y="449770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0" name="Freeform 20"/>
            <p:cNvSpPr/>
            <p:nvPr/>
          </p:nvSpPr>
          <p:spPr>
            <a:xfrm>
              <a:off x="2164080" y="4550092"/>
              <a:ext cx="161925" cy="531495"/>
            </a:xfrm>
            <a:custGeom>
              <a:avLst/>
              <a:gdLst/>
              <a:ahLst/>
              <a:cxnLst/>
              <a:rect l="l" t="t" r="r" b="b"/>
              <a:pathLst>
                <a:path w="161925" h="531495">
                  <a:moveTo>
                    <a:pt x="161925" y="0"/>
                  </a:moveTo>
                  <a:lnTo>
                    <a:pt x="28575" y="0"/>
                  </a:lnTo>
                  <a:lnTo>
                    <a:pt x="28575" y="531495"/>
                  </a:lnTo>
                  <a:lnTo>
                    <a:pt x="0" y="5314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2059305" y="50292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2" name="Freeform 22"/>
            <p:cNvSpPr/>
            <p:nvPr/>
          </p:nvSpPr>
          <p:spPr>
            <a:xfrm>
              <a:off x="2326005" y="4550092"/>
              <a:ext cx="1287780" cy="531495"/>
            </a:xfrm>
            <a:custGeom>
              <a:avLst/>
              <a:gdLst/>
              <a:ahLst/>
              <a:cxnLst/>
              <a:rect l="l" t="t" r="r" b="b"/>
              <a:pathLst>
                <a:path w="1287780" h="531495">
                  <a:moveTo>
                    <a:pt x="0" y="0"/>
                  </a:moveTo>
                  <a:lnTo>
                    <a:pt x="696278" y="0"/>
                  </a:lnTo>
                  <a:lnTo>
                    <a:pt x="696278" y="531495"/>
                  </a:lnTo>
                  <a:lnTo>
                    <a:pt x="1287780" y="5314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3613785" y="50292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4" name="Freeform 24"/>
            <p:cNvSpPr/>
            <p:nvPr/>
          </p:nvSpPr>
          <p:spPr>
            <a:xfrm>
              <a:off x="3718560" y="4550092"/>
              <a:ext cx="161925" cy="531495"/>
            </a:xfrm>
            <a:custGeom>
              <a:avLst/>
              <a:gdLst/>
              <a:ahLst/>
              <a:cxnLst/>
              <a:rect l="l" t="t" r="r" b="b"/>
              <a:pathLst>
                <a:path w="161925" h="531495">
                  <a:moveTo>
                    <a:pt x="0" y="0"/>
                  </a:moveTo>
                  <a:lnTo>
                    <a:pt x="133350" y="0"/>
                  </a:lnTo>
                  <a:lnTo>
                    <a:pt x="133350" y="531495"/>
                  </a:lnTo>
                  <a:lnTo>
                    <a:pt x="161925" y="53149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3880485" y="50292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2326005" y="3826192"/>
              <a:ext cx="1392555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2326005" y="4166235"/>
              <a:ext cx="1392555" cy="767715"/>
            </a:xfrm>
            <a:custGeom>
              <a:avLst/>
              <a:gdLst/>
              <a:ahLst/>
              <a:cxnLst/>
              <a:rect l="l" t="t" r="r" b="b"/>
              <a:pathLst>
                <a:path w="1392555" h="767715">
                  <a:moveTo>
                    <a:pt x="696278" y="0"/>
                  </a:moveTo>
                  <a:lnTo>
                    <a:pt x="1392555" y="383858"/>
                  </a:lnTo>
                  <a:lnTo>
                    <a:pt x="696278" y="767715"/>
                  </a:lnTo>
                  <a:lnTo>
                    <a:pt x="0" y="383858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66750" y="4888230"/>
              <a:ext cx="1392555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2326005" y="4888230"/>
              <a:ext cx="1392555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3985260" y="4888230"/>
              <a:ext cx="1392555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2798087" y="3940969"/>
              <a:ext cx="4483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 A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621852" y="4375309"/>
              <a:ext cx="800862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 Flag 选功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274387" y="50030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933642" y="50030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592897" y="5003006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fn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2514600" y="3823335"/>
              <a:ext cx="318135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2549104" y="3846195"/>
              <a:ext cx="24912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Flag</a:t>
              </a:r>
            </a:p>
          </p:txBody>
        </p:sp>
      </p:grpSp>
      <p:grpSp>
        <p:nvGrpSpPr>
          <p:cNvPr id="48" name="c2-card-1"/>
          <p:cNvGrpSpPr/>
          <p:nvPr/>
        </p:nvGrpSpPr>
        <p:grpSpPr>
          <a:xfrm>
            <a:off x="5815965" y="1524000"/>
            <a:ext cx="5842635" cy="1785938"/>
            <a:chOff x="5815965" y="1524000"/>
            <a:chExt cx="5842635" cy="1785938"/>
          </a:xfrm>
        </p:grpSpPr>
        <p:sp>
          <p:nvSpPr>
            <p:cNvPr id="39" name="Rectangle 39"/>
            <p:cNvSpPr/>
            <p:nvPr/>
          </p:nvSpPr>
          <p:spPr>
            <a:xfrm>
              <a:off x="5815965" y="1524000"/>
              <a:ext cx="5842635" cy="1785938"/>
            </a:xfrm>
            <a:prstGeom prst="roundRect">
              <a:avLst>
                <a:gd name="adj" fmla="val 74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5825490" y="1657350"/>
              <a:ext cx="47625" cy="151923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040755" y="1710690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125324" y="174355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外部耦合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033897" y="2054542"/>
              <a:ext cx="5157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一组模块都访问同一个全局简单变量而不是全局数据结构，而且不通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过参数表传递该变量，例如 C 语言里修饰为 extern 的外部变量。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6049328" y="266890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205347" y="2612708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无法控制各模块对公共数据的存取，影响可靠性和适应性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049328" y="296894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205347" y="2912745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公共数据名明显降低了程序的可读性</a:t>
              </a:r>
            </a:p>
          </p:txBody>
        </p:sp>
      </p:grpSp>
      <p:grpSp>
        <p:nvGrpSpPr>
          <p:cNvPr id="59" name="c2-card-2"/>
          <p:cNvGrpSpPr/>
          <p:nvPr/>
        </p:nvGrpSpPr>
        <p:grpSpPr>
          <a:xfrm>
            <a:off x="5815965" y="3480435"/>
            <a:ext cx="5842635" cy="1866900"/>
            <a:chOff x="5815965" y="3480435"/>
            <a:chExt cx="5842635" cy="1866900"/>
          </a:xfrm>
        </p:grpSpPr>
        <p:sp>
          <p:nvSpPr>
            <p:cNvPr id="49" name="Rectangle 49"/>
            <p:cNvSpPr/>
            <p:nvPr/>
          </p:nvSpPr>
          <p:spPr>
            <a:xfrm>
              <a:off x="5815965" y="3480435"/>
              <a:ext cx="5842635" cy="18669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5825490" y="3613785"/>
              <a:ext cx="47625" cy="160020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6040755" y="3667125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125324" y="369998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公共耦合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854952" y="370141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危险，慎用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033897" y="4028122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一组模块都访问同一个公共数据环境：全局数据结构、共享的通信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区、内存的公共覆盖区，例如 FORTRAN 的 COMMON 区。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049328" y="464153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205347" y="4585335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公共数据环境内部各项的物理安排一改，所有模块都受影响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6049328" y="494157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205347" y="4885373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另外两条问题和外部耦合相同</a:t>
              </a:r>
            </a:p>
          </p:txBody>
        </p:sp>
      </p:grpSp>
      <p:grpSp>
        <p:nvGrpSpPr>
          <p:cNvPr id="66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60" name="Rectangle 60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738188" y="6022658"/>
              <a:ext cx="200026" cy="200026"/>
              <a:chOff x="738188" y="6022658"/>
              <a:chExt cx="200026" cy="200026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738188" y="6022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38200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27088" y="61226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1040892" y="6028373"/>
              <a:ext cx="81918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外部耦合共享的是全局简单变量，公共耦合共享的是全局数据结构或公共区，这是两者最常考的区别。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软件设计原理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内容耦合，以及降低耦合的办法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card-1"/>
          <p:cNvGrpSpPr/>
          <p:nvPr/>
        </p:nvGrpSpPr>
        <p:grpSpPr>
          <a:xfrm>
            <a:off x="533400" y="1524000"/>
            <a:ext cx="5193982" cy="2222182"/>
            <a:chOff x="533400" y="1524000"/>
            <a:chExt cx="5193982" cy="222218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2222182"/>
            </a:xfrm>
            <a:prstGeom prst="roundRect">
              <a:avLst>
                <a:gd name="adj" fmla="val 600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55482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3059" y="17564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内容耦合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19631" y="1756886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耦合度最高，现代高级语言基本上不允许出现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7240" y="216122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3831" y="2100739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一个模块直接访问另一个模块的内部数据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7240" y="247840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3831" y="2418874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一个模块不通过正常入口转到另一模块内部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77240" y="279654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33831" y="2736056"/>
              <a:ext cx="43426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两个模块有一部分程序代码重迭，只可能出现在汇编语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言中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77240" y="338518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33831" y="3325654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一个模块有多个入口</a:t>
              </a:r>
            </a:p>
          </p:txBody>
        </p:sp>
      </p:grpSp>
      <p:grpSp>
        <p:nvGrpSpPr>
          <p:cNvPr id="24" name="c1-code-2"/>
          <p:cNvGrpSpPr/>
          <p:nvPr/>
        </p:nvGrpSpPr>
        <p:grpSpPr>
          <a:xfrm>
            <a:off x="533400" y="3926205"/>
            <a:ext cx="5193982" cy="1640205"/>
            <a:chOff x="533400" y="3926205"/>
            <a:chExt cx="5193982" cy="1640205"/>
          </a:xfrm>
        </p:grpSpPr>
        <p:sp>
          <p:nvSpPr>
            <p:cNvPr id="21" name="Rectangle 21"/>
            <p:cNvSpPr/>
            <p:nvPr/>
          </p:nvSpPr>
          <p:spPr>
            <a:xfrm>
              <a:off x="533400" y="3926205"/>
              <a:ext cx="5193982" cy="1640205"/>
            </a:xfrm>
            <a:prstGeom prst="roundRect">
              <a:avLst>
                <a:gd name="adj" fmla="val 580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61797" y="4078129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不经正常入口跳进另一个模块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61416" y="4339590"/>
              <a:ext cx="2630996" cy="1153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N: ...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GO TO A        ; 直接跳进 M 的内部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...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M: ...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A: ...            ; M 的第二个入口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...</a:t>
              </a:r>
            </a:p>
          </p:txBody>
        </p:sp>
      </p:grpSp>
      <p:grpSp>
        <p:nvGrpSpPr>
          <p:cNvPr id="34" name="c2-bullets-1"/>
          <p:cNvGrpSpPr/>
          <p:nvPr/>
        </p:nvGrpSpPr>
        <p:grpSpPr>
          <a:xfrm>
            <a:off x="6024944" y="1547336"/>
            <a:ext cx="4661674" cy="1595057"/>
            <a:chOff x="6024944" y="1547336"/>
            <a:chExt cx="4661674" cy="1595057"/>
          </a:xfrm>
        </p:grpSpPr>
        <p:sp>
          <p:nvSpPr>
            <p:cNvPr id="25" name="TextBox 25"/>
            <p:cNvSpPr txBox="1"/>
            <p:nvPr/>
          </p:nvSpPr>
          <p:spPr>
            <a:xfrm>
              <a:off x="6024944" y="1547336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针对耦合的设计指导原则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6032182" y="1913572"/>
              <a:ext cx="136208" cy="110490"/>
            </a:xfrm>
            <a:custGeom>
              <a:avLst/>
              <a:gdLst/>
              <a:ahLst/>
              <a:cxnLst/>
              <a:rect l="l" t="t" r="r" b="b"/>
              <a:pathLst>
                <a:path w="136208" h="110490">
                  <a:moveTo>
                    <a:pt x="0" y="58102"/>
                  </a:moveTo>
                  <a:lnTo>
                    <a:pt x="52388" y="110490"/>
                  </a:lnTo>
                  <a:lnTo>
                    <a:pt x="13620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275451" y="1883569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尽量使用数据耦合</a:t>
              </a:r>
            </a:p>
          </p:txBody>
        </p:sp>
        <p:sp>
          <p:nvSpPr>
            <p:cNvPr id="28" name="Freeform 28"/>
            <p:cNvSpPr/>
            <p:nvPr/>
          </p:nvSpPr>
          <p:spPr>
            <a:xfrm>
              <a:off x="6032182" y="2240280"/>
              <a:ext cx="136208" cy="110490"/>
            </a:xfrm>
            <a:custGeom>
              <a:avLst/>
              <a:gdLst/>
              <a:ahLst/>
              <a:cxnLst/>
              <a:rect l="l" t="t" r="r" b="b"/>
              <a:pathLst>
                <a:path w="136208" h="110490">
                  <a:moveTo>
                    <a:pt x="0" y="58103"/>
                  </a:moveTo>
                  <a:lnTo>
                    <a:pt x="52388" y="110490"/>
                  </a:lnTo>
                  <a:lnTo>
                    <a:pt x="13620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275451" y="2210276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少用控制耦合和特征耦合（特征耦合就是标记耦合）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6032182" y="2566988"/>
              <a:ext cx="136208" cy="110490"/>
            </a:xfrm>
            <a:custGeom>
              <a:avLst/>
              <a:gdLst/>
              <a:ahLst/>
              <a:cxnLst/>
              <a:rect l="l" t="t" r="r" b="b"/>
              <a:pathLst>
                <a:path w="136208" h="110490">
                  <a:moveTo>
                    <a:pt x="0" y="58103"/>
                  </a:moveTo>
                  <a:lnTo>
                    <a:pt x="52388" y="110490"/>
                  </a:lnTo>
                  <a:lnTo>
                    <a:pt x="13620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275451" y="2536984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限制外部耦合和公共耦合</a:t>
              </a:r>
            </a:p>
          </p:txBody>
        </p:sp>
        <p:sp>
          <p:nvSpPr>
            <p:cNvPr id="32" name="Freeform 32"/>
            <p:cNvSpPr/>
            <p:nvPr/>
          </p:nvSpPr>
          <p:spPr>
            <a:xfrm>
              <a:off x="6032182" y="2893695"/>
              <a:ext cx="136208" cy="110490"/>
            </a:xfrm>
            <a:custGeom>
              <a:avLst/>
              <a:gdLst/>
              <a:ahLst/>
              <a:cxnLst/>
              <a:rect l="l" t="t" r="r" b="b"/>
              <a:pathLst>
                <a:path w="136208" h="110490">
                  <a:moveTo>
                    <a:pt x="0" y="58102"/>
                  </a:moveTo>
                  <a:lnTo>
                    <a:pt x="52388" y="110490"/>
                  </a:lnTo>
                  <a:lnTo>
                    <a:pt x="136208" y="0"/>
                  </a:lnTo>
                </a:path>
              </a:pathLst>
            </a:custGeom>
            <a:noFill/>
            <a:ln w="24765" cap="rnd">
              <a:solidFill>
                <a:srgbClr val="14A38B"/>
              </a:solidFill>
              <a:round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275451" y="2863691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完全不用内容耦合</a:t>
              </a:r>
            </a:p>
          </p:txBody>
        </p:sp>
      </p:grpSp>
      <p:grpSp>
        <p:nvGrpSpPr>
          <p:cNvPr id="43" name="c2-kv-2"/>
          <p:cNvGrpSpPr/>
          <p:nvPr/>
        </p:nvGrpSpPr>
        <p:grpSpPr>
          <a:xfrm>
            <a:off x="6024944" y="3289459"/>
            <a:ext cx="5633656" cy="1647444"/>
            <a:chOff x="6024944" y="3289459"/>
            <a:chExt cx="5633656" cy="1647444"/>
          </a:xfrm>
        </p:grpSpPr>
        <p:sp>
          <p:nvSpPr>
            <p:cNvPr id="35" name="TextBox 35"/>
            <p:cNvSpPr txBox="1"/>
            <p:nvPr/>
          </p:nvSpPr>
          <p:spPr>
            <a:xfrm>
              <a:off x="6024944" y="3289459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选择适当的耦合类型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937564" y="3289459"/>
              <a:ext cx="344093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按问题的特点选，例如出错处理用返回状态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码而不是传开关，把控制耦合降成数据耦合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032182" y="386048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024944" y="3973354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降低接口的复杂性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37564" y="3973354"/>
              <a:ext cx="3440938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从信息数量、通信方式、信息结构三方面简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化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032182" y="454437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024944" y="4658201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用缓冲区通信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937564" y="4658201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把模块之间的通信信息放在缓冲区中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44" name="Rectangle 44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6011230"/>
              <a:ext cx="200023" cy="200023"/>
              <a:chOff x="738188" y="6011230"/>
              <a:chExt cx="200023" cy="200023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601123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71538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511" y="6011704"/>
              <a:ext cx="57492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记住这条底线：耦合类型可以往下降，唯独内容耦合一条都不能留。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428875" cy="909257"/>
            <a:chOff x="520446" y="342900"/>
            <a:chExt cx="242887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软件设计原理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4288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内聚的七个等级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7" name="c1-table-1"/>
          <p:cNvGrpSpPr/>
          <p:nvPr/>
        </p:nvGrpSpPr>
        <p:grpSpPr>
          <a:xfrm>
            <a:off x="533400" y="1524000"/>
            <a:ext cx="11125200" cy="3200400"/>
            <a:chOff x="533400" y="1524000"/>
            <a:chExt cx="11125200" cy="32004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505344" y="16454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内聚类型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43634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等级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72468" y="1645444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模块内部为什么放在一起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83333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0555" y="2045494"/>
              <a:ext cx="1592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偶然内聚 Coincidental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101340" y="1933575"/>
              <a:ext cx="982028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188970" y="204549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低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191000" y="2045494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各部分之间没有联系，或者联系很松散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418195" y="2045494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把重复出现的几条无关语句抽成一个模块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231933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33400" y="2324100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0555" y="2445544"/>
              <a:ext cx="1197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逻辑内聚 Logical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3101340" y="2333625"/>
              <a:ext cx="982028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188970" y="244554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低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191000" y="2445544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把几种相关的功能组合在一起，由判定参数决定执行哪一种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418195" y="244554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统一的出错处理模块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27193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0555" y="2845594"/>
              <a:ext cx="1355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时间内聚 Temporal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188970" y="284559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低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191000" y="2845594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各功能都要求在同一时间段内执行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418195" y="2845594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初始化模块、终止模块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11943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3124200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0555" y="3245644"/>
              <a:ext cx="14981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过程内聚 Procedural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188970" y="324564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191000" y="3245644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各部分是程序流程图中的一段，如循环部分、判定部分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418195" y="3245644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把流程图里的循环部分划成一个模块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35194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0555" y="3645694"/>
              <a:ext cx="19175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通信内聚 Communicational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188970" y="364569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191000" y="3645694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各部分使用相同的输入数据，或产生相同的输出数据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418195" y="3645694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对同一张售书登记表做删除、修改、登记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391953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33400" y="3924300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0555" y="4045744"/>
              <a:ext cx="14583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顺序内聚 Sequential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3101340" y="3933825"/>
              <a:ext cx="982028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3188970" y="404574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4191000" y="4045744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处理必须顺序执行，前一个的输出就是后一个的输入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418195" y="4045744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建立系数矩阵、高斯消去、回代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3400" y="43195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30555" y="4445794"/>
              <a:ext cx="14583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功能内聚 Functional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3101340" y="4333875"/>
              <a:ext cx="982028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3188970" y="444579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191000" y="4445794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所有部分为完成同一个具体功能协同工作，不可分割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418195" y="444579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求一个实数的平方根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533400" y="1524000"/>
              <a:ext cx="11125200" cy="32004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3087052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4089082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8316278" y="1524000"/>
              <a:ext cx="9525" cy="32004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4" name="c1-callout-2"/>
          <p:cNvGrpSpPr/>
          <p:nvPr/>
        </p:nvGrpSpPr>
        <p:grpSpPr>
          <a:xfrm>
            <a:off x="533400" y="4893945"/>
            <a:ext cx="11125200" cy="481012"/>
            <a:chOff x="533400" y="4893945"/>
            <a:chExt cx="11125200" cy="481012"/>
          </a:xfrm>
        </p:grpSpPr>
        <p:sp>
          <p:nvSpPr>
            <p:cNvPr id="58" name="Rectangle 58"/>
            <p:cNvSpPr/>
            <p:nvPr/>
          </p:nvSpPr>
          <p:spPr>
            <a:xfrm>
              <a:off x="533400" y="4893945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38188" y="5034915"/>
              <a:ext cx="200026" cy="200026"/>
              <a:chOff x="738188" y="5034915"/>
              <a:chExt cx="200026" cy="200026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503491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38200" y="510159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27088" y="513492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1040892" y="5040630"/>
              <a:ext cx="89504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更正：原课件把时间内聚标注为 Classical Cohesion，这是旧称，现在通用的英文写法是 Temporal Cohesion。</a:t>
              </a:r>
            </a:p>
          </p:txBody>
        </p:sp>
      </p:grpSp>
      <p:grpSp>
        <p:nvGrpSpPr>
          <p:cNvPr id="70" name="takeaway"/>
          <p:cNvGrpSpPr/>
          <p:nvPr/>
        </p:nvGrpSpPr>
        <p:grpSpPr>
          <a:xfrm>
            <a:off x="533400" y="5633085"/>
            <a:ext cx="11125200" cy="729615"/>
            <a:chOff x="533400" y="5633085"/>
            <a:chExt cx="11125200" cy="729615"/>
          </a:xfrm>
        </p:grpSpPr>
        <p:sp>
          <p:nvSpPr>
            <p:cNvPr id="65" name="Rectangle 65"/>
            <p:cNvSpPr/>
            <p:nvPr/>
          </p:nvSpPr>
          <p:spPr>
            <a:xfrm>
              <a:off x="533400" y="5633085"/>
              <a:ext cx="11125200" cy="729615"/>
            </a:xfrm>
            <a:prstGeom prst="roundRect">
              <a:avLst>
                <a:gd name="adj" fmla="val 15666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738188" y="5897882"/>
              <a:ext cx="200023" cy="200023"/>
              <a:chOff x="738188" y="5897882"/>
              <a:chExt cx="200023" cy="200023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738188" y="589788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871538" y="59645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040892" y="5779770"/>
              <a:ext cx="997496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从"为什么放在一起"入手：没理由是偶然，靠参数选是逻辑，同时段是时间，流程相连是过程，同一数据集是通信，数据前后传是顺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序，只做一件事是功能。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285619" cy="909257"/>
            <a:chOff x="520446" y="342900"/>
            <a:chExt cx="228561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软件设计原理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三种低内聚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193982" cy="1743075"/>
            <a:chOff x="533400" y="1524000"/>
            <a:chExt cx="5193982" cy="17430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743075"/>
            </a:xfrm>
            <a:prstGeom prst="roundRect">
              <a:avLst>
                <a:gd name="adj" fmla="val 76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47637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2759" y="174355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偶然内聚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44714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模块内各部分之间没有联系，或者联系很松散。例如程序员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为节省存储，把各模块中重复出现的几条无关语句抽出来组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成一个新模块。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66762" y="292608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2782" y="2869882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不易修改和维护，内容也不易理解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3436620"/>
            <a:ext cx="5193982" cy="2019300"/>
            <a:chOff x="533400" y="3436620"/>
            <a:chExt cx="5193982" cy="2019300"/>
          </a:xfrm>
        </p:grpSpPr>
        <p:sp>
          <p:nvSpPr>
            <p:cNvPr id="15" name="Rectangle 15"/>
            <p:cNvSpPr/>
            <p:nvPr/>
          </p:nvSpPr>
          <p:spPr>
            <a:xfrm>
              <a:off x="533400" y="3436620"/>
              <a:ext cx="5193982" cy="2019300"/>
            </a:xfrm>
            <a:prstGeom prst="roundRect">
              <a:avLst>
                <a:gd name="adj" fmla="val 660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3569970"/>
              <a:ext cx="47625" cy="1752600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58190" y="3623310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42759" y="365617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时间内聚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1332" y="3968115"/>
              <a:ext cx="44714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模块的各个功能与时间有关，要求所有功能在同一时间段内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执行，例如初始化模块和终止模块。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66762" y="458152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22782" y="4525328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比逻辑内聚强：各部分一般可按顺序执行，逻辑判定转移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更少，但要注意时序问题</a:t>
              </a:r>
            </a:p>
          </p:txBody>
        </p:sp>
      </p:grpSp>
      <p:grpSp>
        <p:nvGrpSpPr>
          <p:cNvPr id="34" name="c2-card-1"/>
          <p:cNvGrpSpPr/>
          <p:nvPr/>
        </p:nvGrpSpPr>
        <p:grpSpPr>
          <a:xfrm>
            <a:off x="6032182" y="1524000"/>
            <a:ext cx="5626418" cy="2085975"/>
            <a:chOff x="6032182" y="1524000"/>
            <a:chExt cx="5626418" cy="2085975"/>
          </a:xfrm>
        </p:grpSpPr>
        <p:sp>
          <p:nvSpPr>
            <p:cNvPr id="23" name="Rectangle 23"/>
            <p:cNvSpPr/>
            <p:nvPr/>
          </p:nvSpPr>
          <p:spPr>
            <a:xfrm>
              <a:off x="6032182" y="1524000"/>
              <a:ext cx="5626418" cy="2085975"/>
            </a:xfrm>
            <a:prstGeom prst="roundRect">
              <a:avLst>
                <a:gd name="adj" fmla="val 639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041708" y="1657350"/>
              <a:ext cx="47625" cy="181927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56972" y="1710690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41542" y="174355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逻辑内聚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50114" y="2054542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模块把几种相关的功能组合在一起，每次调用时由传送给模块的判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定参数确定该执行哪一种功能，是单接口多功能模块。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6265545" y="266890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21564" y="2612708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执行的是若干功能中的一种，因此不易修改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6265545" y="296894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21564" y="291274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调用它时要传递控制参数，形成控制耦合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265545" y="326898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21564" y="3212782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把未用的部分也调入内存，降低系统效率</a:t>
              </a:r>
            </a:p>
          </p:txBody>
        </p:sp>
      </p:grpSp>
      <p:grpSp>
        <p:nvGrpSpPr>
          <p:cNvPr id="55" name="c2-flow-2"/>
          <p:cNvGrpSpPr/>
          <p:nvPr/>
        </p:nvGrpSpPr>
        <p:grpSpPr>
          <a:xfrm>
            <a:off x="6165532" y="3796665"/>
            <a:ext cx="5359718" cy="1643062"/>
            <a:chOff x="6165532" y="3796665"/>
            <a:chExt cx="5359718" cy="1643062"/>
          </a:xfrm>
        </p:grpSpPr>
        <p:sp>
          <p:nvSpPr>
            <p:cNvPr id="35" name="Freeform 35"/>
            <p:cNvSpPr/>
            <p:nvPr/>
          </p:nvSpPr>
          <p:spPr>
            <a:xfrm>
              <a:off x="8041005" y="3990022"/>
              <a:ext cx="1503997" cy="419100"/>
            </a:xfrm>
            <a:custGeom>
              <a:avLst/>
              <a:gdLst/>
              <a:ahLst/>
              <a:cxnLst/>
              <a:rect l="l" t="t" r="r" b="b"/>
              <a:pathLst>
                <a:path w="1503997" h="419100">
                  <a:moveTo>
                    <a:pt x="0" y="0"/>
                  </a:moveTo>
                  <a:lnTo>
                    <a:pt x="803910" y="0"/>
                  </a:lnTo>
                  <a:lnTo>
                    <a:pt x="803910" y="419100"/>
                  </a:lnTo>
                  <a:lnTo>
                    <a:pt x="1503997" y="4191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9545002" y="435673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7" name="Freeform 37"/>
            <p:cNvSpPr/>
            <p:nvPr/>
          </p:nvSpPr>
          <p:spPr>
            <a:xfrm>
              <a:off x="7879080" y="4409122"/>
              <a:ext cx="161925" cy="419100"/>
            </a:xfrm>
            <a:custGeom>
              <a:avLst/>
              <a:gdLst/>
              <a:ahLst/>
              <a:cxnLst/>
              <a:rect l="l" t="t" r="r" b="b"/>
              <a:pathLst>
                <a:path w="161925" h="419100">
                  <a:moveTo>
                    <a:pt x="161925" y="0"/>
                  </a:moveTo>
                  <a:lnTo>
                    <a:pt x="28575" y="0"/>
                  </a:lnTo>
                  <a:lnTo>
                    <a:pt x="28575" y="419100"/>
                  </a:lnTo>
                  <a:lnTo>
                    <a:pt x="0" y="4191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7774305" y="477583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9" name="Freeform 39"/>
            <p:cNvSpPr/>
            <p:nvPr/>
          </p:nvSpPr>
          <p:spPr>
            <a:xfrm>
              <a:off x="9649778" y="4409122"/>
              <a:ext cx="161925" cy="419100"/>
            </a:xfrm>
            <a:custGeom>
              <a:avLst/>
              <a:gdLst/>
              <a:ahLst/>
              <a:cxnLst/>
              <a:rect l="l" t="t" r="r" b="b"/>
              <a:pathLst>
                <a:path w="161925" h="419100">
                  <a:moveTo>
                    <a:pt x="0" y="0"/>
                  </a:moveTo>
                  <a:lnTo>
                    <a:pt x="133350" y="0"/>
                  </a:lnTo>
                  <a:lnTo>
                    <a:pt x="133350" y="419100"/>
                  </a:lnTo>
                  <a:lnTo>
                    <a:pt x="161925" y="41910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9811702" y="477583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1" name="Freeform 41"/>
            <p:cNvSpPr/>
            <p:nvPr/>
          </p:nvSpPr>
          <p:spPr>
            <a:xfrm>
              <a:off x="6969442" y="4949190"/>
              <a:ext cx="1875472" cy="88582"/>
            </a:xfrm>
            <a:custGeom>
              <a:avLst/>
              <a:gdLst/>
              <a:ahLst/>
              <a:cxnLst/>
              <a:rect l="l" t="t" r="r" b="b"/>
              <a:pathLst>
                <a:path w="1875472" h="88582">
                  <a:moveTo>
                    <a:pt x="0" y="71438"/>
                  </a:moveTo>
                  <a:lnTo>
                    <a:pt x="0" y="88582"/>
                  </a:lnTo>
                  <a:lnTo>
                    <a:pt x="1875472" y="88582"/>
                  </a:lnTo>
                  <a:lnTo>
                    <a:pt x="1875472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8792528" y="494919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3" name="Freeform 43"/>
            <p:cNvSpPr/>
            <p:nvPr/>
          </p:nvSpPr>
          <p:spPr>
            <a:xfrm>
              <a:off x="8844915" y="4949190"/>
              <a:ext cx="1875472" cy="88582"/>
            </a:xfrm>
            <a:custGeom>
              <a:avLst/>
              <a:gdLst/>
              <a:ahLst/>
              <a:cxnLst/>
              <a:rect l="l" t="t" r="r" b="b"/>
              <a:pathLst>
                <a:path w="1875472" h="88582">
                  <a:moveTo>
                    <a:pt x="1875472" y="71438"/>
                  </a:moveTo>
                  <a:lnTo>
                    <a:pt x="1875472" y="88582"/>
                  </a:lnTo>
                  <a:lnTo>
                    <a:pt x="0" y="88582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8792528" y="494919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8041005" y="3796665"/>
              <a:ext cx="1608772" cy="385762"/>
            </a:xfrm>
            <a:prstGeom prst="roundRect">
              <a:avLst>
                <a:gd name="adj" fmla="val 49877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6" name="Freeform 46"/>
            <p:cNvSpPr/>
            <p:nvPr/>
          </p:nvSpPr>
          <p:spPr>
            <a:xfrm>
              <a:off x="8041005" y="4121468"/>
              <a:ext cx="1608772" cy="575310"/>
            </a:xfrm>
            <a:custGeom>
              <a:avLst/>
              <a:gdLst/>
              <a:ahLst/>
              <a:cxnLst/>
              <a:rect l="l" t="t" r="r" b="b"/>
              <a:pathLst>
                <a:path w="1608772" h="575310">
                  <a:moveTo>
                    <a:pt x="803910" y="0"/>
                  </a:moveTo>
                  <a:lnTo>
                    <a:pt x="1608772" y="287655"/>
                  </a:lnTo>
                  <a:lnTo>
                    <a:pt x="803910" y="575310"/>
                  </a:lnTo>
                  <a:lnTo>
                    <a:pt x="0" y="287655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165532" y="4634865"/>
              <a:ext cx="160877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9916478" y="4634865"/>
              <a:ext cx="160877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8041005" y="5053965"/>
              <a:ext cx="1608772" cy="385762"/>
            </a:xfrm>
            <a:prstGeom prst="roundRect">
              <a:avLst>
                <a:gd name="adj" fmla="val 49877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537651" y="391144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读入分数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386877" y="433054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平均还是最高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586792" y="474964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计算平均分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337737" y="474964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计算最高分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537651" y="516874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输出结果</a:t>
              </a:r>
            </a:p>
          </p:txBody>
        </p:sp>
      </p:grpSp>
      <p:grpSp>
        <p:nvGrpSpPr>
          <p:cNvPr id="62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6" name="Rectangle 56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726129" y="6018966"/>
              <a:ext cx="224134" cy="192560"/>
              <a:chOff x="726129" y="6018966"/>
              <a:chExt cx="224134" cy="19256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838200" y="60893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726129" y="60189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838200" y="61671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1040892" y="6028373"/>
              <a:ext cx="58293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逻辑内聚模块必然带来控制耦合，判内聚时顺手就能把耦合一起判出来。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软件设计原理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中内聚与高内聚四种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5410200" cy="2129790"/>
            <a:chOff x="533400" y="1524000"/>
            <a:chExt cx="5410200" cy="212979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129790"/>
            </a:xfrm>
            <a:prstGeom prst="roundRect">
              <a:avLst>
                <a:gd name="adj" fmla="val 62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6309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3059" y="17564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过程内聚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19631" y="1756886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程序流程图的一部分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2381" y="2100739"/>
              <a:ext cx="47033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用流程图做工具设计程序时，把流程图中的某一部分划出来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组成模块，就得到过程内聚模块。例如把循环部分、判定部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分、计算部分分成三个模块。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77240" y="302133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33831" y="2961799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模块只包含完整功能的一部分，内聚度仍较低，造成的模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块间耦合度还是较高</a:t>
              </a:r>
            </a:p>
          </p:txBody>
        </p:sp>
      </p:grpSp>
      <p:grpSp>
        <p:nvGrpSpPr>
          <p:cNvPr id="25" name="c1-card-2"/>
          <p:cNvGrpSpPr/>
          <p:nvPr/>
        </p:nvGrpSpPr>
        <p:grpSpPr>
          <a:xfrm>
            <a:off x="533400" y="3833812"/>
            <a:ext cx="5410200" cy="2137410"/>
            <a:chOff x="533400" y="3833812"/>
            <a:chExt cx="5410200" cy="2137410"/>
          </a:xfrm>
        </p:grpSpPr>
        <p:sp>
          <p:nvSpPr>
            <p:cNvPr id="16" name="Rectangle 16"/>
            <p:cNvSpPr/>
            <p:nvPr/>
          </p:nvSpPr>
          <p:spPr>
            <a:xfrm>
              <a:off x="533400" y="3833812"/>
              <a:ext cx="5410200" cy="2137410"/>
            </a:xfrm>
            <a:prstGeom prst="roundRect">
              <a:avLst>
                <a:gd name="adj" fmla="val 62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3967162"/>
              <a:ext cx="47625" cy="187071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9620" y="4031932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53059" y="4066223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通信内聚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19631" y="4066699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数据是联系的纽带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381" y="4410551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模块内各功能部分都使用了相同的输入数据，或产生了相同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的输出数据。通信内聚模块通常是通过数据流图来定义的。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77240" y="505968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33831" y="5000149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因为是操作或生成同一个数据集，内聚度较高，但可能破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坏功能独立性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3524" y="5585460"/>
              <a:ext cx="39054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例：对"售书登记表"文件做删除、修改、登记三件事。</a:t>
              </a:r>
            </a:p>
          </p:txBody>
        </p:sp>
      </p:grpSp>
      <p:grpSp>
        <p:nvGrpSpPr>
          <p:cNvPr id="32" name="c2-card-1"/>
          <p:cNvGrpSpPr/>
          <p:nvPr/>
        </p:nvGrpSpPr>
        <p:grpSpPr>
          <a:xfrm>
            <a:off x="6248400" y="1524000"/>
            <a:ext cx="5410200" cy="2022158"/>
            <a:chOff x="6248400" y="1524000"/>
            <a:chExt cx="5410200" cy="2022158"/>
          </a:xfrm>
        </p:grpSpPr>
        <p:sp>
          <p:nvSpPr>
            <p:cNvPr id="26" name="Rectangle 26"/>
            <p:cNvSpPr/>
            <p:nvPr/>
          </p:nvSpPr>
          <p:spPr>
            <a:xfrm>
              <a:off x="6248400" y="1524000"/>
              <a:ext cx="5410200" cy="2022158"/>
            </a:xfrm>
            <a:prstGeom prst="roundRect">
              <a:avLst>
                <a:gd name="adj" fmla="val 659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57925" y="1657350"/>
              <a:ext cx="47625" cy="175545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84620" y="172212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68059" y="17564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顺序内聚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77381" y="2082641"/>
              <a:ext cx="47033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模块内的处理元素和同一个功能密切相关，必须顺序执行，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前一个处理元素的输出数据就是下一个的输入数据。按数据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流图划分模块时通常得到它。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78524" y="2939415"/>
              <a:ext cx="462991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例：建立方程组系数矩阵 → 高斯消去法 → 回代，三步的数据一路传下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去。</a:t>
              </a:r>
            </a:p>
          </p:txBody>
        </p:sp>
      </p:grpSp>
      <p:grpSp>
        <p:nvGrpSpPr>
          <p:cNvPr id="39" name="c2-card-2"/>
          <p:cNvGrpSpPr/>
          <p:nvPr/>
        </p:nvGrpSpPr>
        <p:grpSpPr>
          <a:xfrm>
            <a:off x="6248400" y="3726180"/>
            <a:ext cx="5410200" cy="2244090"/>
            <a:chOff x="6248400" y="3726180"/>
            <a:chExt cx="5410200" cy="2244090"/>
          </a:xfrm>
        </p:grpSpPr>
        <p:sp>
          <p:nvSpPr>
            <p:cNvPr id="33" name="Rectangle 33"/>
            <p:cNvSpPr/>
            <p:nvPr/>
          </p:nvSpPr>
          <p:spPr>
            <a:xfrm>
              <a:off x="6248400" y="3726180"/>
              <a:ext cx="5410200" cy="2244090"/>
            </a:xfrm>
            <a:prstGeom prst="roundRect">
              <a:avLst>
                <a:gd name="adj" fmla="val 594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257925" y="3859530"/>
              <a:ext cx="47625" cy="197739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484620" y="392430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568059" y="395859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功能内聚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334631" y="3960019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只做一件事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477381" y="4302919"/>
              <a:ext cx="47033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模块中各部分都是完成某一具体功能必不可少的组成部分，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紧密联系，不可分割。这种模块易于修改和维护，模块间的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耦合也简单。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软件设计原理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判一判：下面的模块各属于哪种内聚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6" name="c1-table-1"/>
          <p:cNvGrpSpPr/>
          <p:nvPr/>
        </p:nvGrpSpPr>
        <p:grpSpPr>
          <a:xfrm>
            <a:off x="533400" y="1524000"/>
            <a:ext cx="11125200" cy="3817620"/>
            <a:chOff x="533400" y="1524000"/>
            <a:chExt cx="11125200" cy="381762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2654554" y="165973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模块做的事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189713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内聚类型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193898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判断依据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221706"/>
              <a:ext cx="43207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系统启动时依次打开文件、把计数器清零、设置系统时钟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759006" y="22217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时间内聚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39228" y="2108359"/>
              <a:ext cx="37518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三件事之间没有数据联系，凑在一起只因为都在启动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这段时间做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318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47950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2783681"/>
              <a:ext cx="32313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按参数 flag 决定是求平均分还是求最高分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759006" y="278368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逻辑内聚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39228" y="2783681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几种相关功能合在一起，靠判定参数选一种执行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092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232309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先建立方程组系数矩阵，再高斯消去，再回代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759006" y="3232309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顺序内聚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39228" y="3232309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前一步的输出数据就是后一步的输入数据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54139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546158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3680936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对同一张售书登记表做删除、修改、登记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759006" y="368093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通信内聚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539228" y="3680936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都作用在同一个数据集上，彼此之间不传数据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99002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1223" y="413051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计算一个实数的平方根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660708" y="4004310"/>
              <a:ext cx="1761172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759006" y="413051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功能内聚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539228" y="4130516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模块里所有语句都为这一个功能服务，缺一不可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44386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33400" y="4443412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1223" y="4579144"/>
              <a:ext cx="3286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把流程图里的循环部分单独划出来做成模块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759006" y="457914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过程内聚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539228" y="4579144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只是控制流上的一段，不是一个完整功能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488727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1223" y="5027771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把各处重复出现、彼此无关的几条语句抽成一个模块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660708" y="4901565"/>
              <a:ext cx="1761172" cy="429578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759006" y="502777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偶然内聚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539228" y="5027771"/>
              <a:ext cx="24425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放在一起的唯一理由是"省存储"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1524000"/>
              <a:ext cx="11125200" cy="381762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5646420" y="1524000"/>
              <a:ext cx="9525" cy="38176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7426642" y="1524000"/>
              <a:ext cx="9525" cy="381762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3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7" name="Rectangle 47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1040130" y="5991225"/>
              <a:ext cx="896073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 2 行的模块还会给调用者带来控制耦合，第 4 行的模块如果把数据前后传递，就升级成顺序内聚。</a:t>
              </a:r>
            </a:p>
          </p:txBody>
        </p:sp>
      </p:grpSp>
      <p:grpSp>
        <p:nvGrpSpPr>
          <p:cNvPr id="5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4" name="TextBox 54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357622" cy="2997517"/>
            <a:chOff x="667512" y="1835468"/>
            <a:chExt cx="5357622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7510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启发规则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34771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七条从经验里总结出来的规则，用来给初步结构挑毛病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提高独立性、规模适中、深度宽度扇入扇出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作用域应在控制域之内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接口简单、单入单出、功能可预测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168063" cy="909257"/>
            <a:chOff x="520446" y="342900"/>
            <a:chExt cx="616806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启发规则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16806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规则 1：改进软件结构，提高模块独立性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800184" cy="308039"/>
            <a:chOff x="525399" y="1550194"/>
            <a:chExt cx="9800184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800184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设计出软件的初步结构以后，应该审查分析这个结构，通过模块分解或合并，力求降低耦合、提高内聚。</a:t>
              </a:r>
            </a:p>
          </p:txBody>
        </p:sp>
      </p:grpSp>
      <p:grpSp>
        <p:nvGrpSpPr>
          <p:cNvPr id="22" name="c1-card-1"/>
          <p:cNvGrpSpPr/>
          <p:nvPr/>
        </p:nvGrpSpPr>
        <p:grpSpPr>
          <a:xfrm>
            <a:off x="533400" y="1967865"/>
            <a:ext cx="4544378" cy="2291715"/>
            <a:chOff x="533400" y="1967865"/>
            <a:chExt cx="4544378" cy="229171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4544378" cy="2291715"/>
            </a:xfrm>
            <a:prstGeom prst="roundRect">
              <a:avLst>
                <a:gd name="adj" fmla="val 5819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42950" y="2177415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07555" y="2213134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模块功能的完善化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197418" y="2212658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一个完整的功能模块有三部分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42950" y="256032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04799" y="260261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43940" y="25736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执行规定功能的部分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42950" y="289560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04799" y="293789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43940" y="290893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出错处理部分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42950" y="323088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04799" y="327317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43940" y="3244215"/>
              <a:ext cx="3634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如需要返回一系列数据给调用者，在完成数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据加工或结束时返回一个标志，告诉调用者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是否正确结束</a:t>
              </a:r>
            </a:p>
          </p:txBody>
        </p:sp>
      </p:grpSp>
      <p:grpSp>
        <p:nvGrpSpPr>
          <p:cNvPr id="29" name="c1-callout-2"/>
          <p:cNvGrpSpPr/>
          <p:nvPr/>
        </p:nvGrpSpPr>
        <p:grpSpPr>
          <a:xfrm>
            <a:off x="533400" y="4450080"/>
            <a:ext cx="4544378" cy="1570672"/>
            <a:chOff x="533400" y="4450080"/>
            <a:chExt cx="4544378" cy="1570672"/>
          </a:xfrm>
        </p:grpSpPr>
        <p:sp>
          <p:nvSpPr>
            <p:cNvPr id="23" name="Rectangle 23"/>
            <p:cNvSpPr/>
            <p:nvPr/>
          </p:nvSpPr>
          <p:spPr>
            <a:xfrm>
              <a:off x="533400" y="4450080"/>
              <a:ext cx="4544378" cy="1570672"/>
            </a:xfrm>
            <a:prstGeom prst="roundRect">
              <a:avLst>
                <a:gd name="adj" fmla="val 7277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738188" y="5134928"/>
              <a:ext cx="200026" cy="200026"/>
              <a:chOff x="738188" y="5134928"/>
              <a:chExt cx="200026" cy="200026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738188" y="51349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38200" y="52016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827088" y="52349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8" name="TextBox 28"/>
            <p:cNvSpPr txBox="1"/>
            <p:nvPr/>
          </p:nvSpPr>
          <p:spPr>
            <a:xfrm>
              <a:off x="1040130" y="4853940"/>
              <a:ext cx="3634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合并不是随便合。合并后如果要靠参数选择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做哪一件事，就退化成逻辑内聚加控制耦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合。</a:t>
              </a:r>
            </a:p>
          </p:txBody>
        </p:sp>
      </p:grpSp>
      <p:grpSp>
        <p:nvGrpSpPr>
          <p:cNvPr id="60" name="c2-table-1"/>
          <p:cNvGrpSpPr/>
          <p:nvPr/>
        </p:nvGrpSpPr>
        <p:grpSpPr>
          <a:xfrm>
            <a:off x="5382578" y="1967865"/>
            <a:ext cx="6276022" cy="4052888"/>
            <a:chOff x="5382578" y="1967865"/>
            <a:chExt cx="6276022" cy="4052888"/>
          </a:xfrm>
        </p:grpSpPr>
        <p:sp>
          <p:nvSpPr>
            <p:cNvPr id="30" name="Rectangle 30"/>
            <p:cNvSpPr/>
            <p:nvPr/>
          </p:nvSpPr>
          <p:spPr>
            <a:xfrm>
              <a:off x="5382578" y="1967865"/>
              <a:ext cx="6276022" cy="675322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578983" y="2102644"/>
              <a:ext cx="9883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8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消除重复功能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的做法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534300" y="221599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结构变成什么样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413009" y="221599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评价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490401" y="2891314"/>
              <a:ext cx="5113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原状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871526" y="2777966"/>
              <a:ext cx="233756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调用 R1，Y 调用 R2，R1 与 R2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有相似部分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632823" y="2777966"/>
              <a:ext cx="18011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重复代码，改一处要记得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改另一处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82578" y="331374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82578" y="3318510"/>
              <a:ext cx="627602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392102" y="3328035"/>
              <a:ext cx="1362075" cy="656272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490401" y="3567589"/>
              <a:ext cx="10283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合并成一个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871526" y="3567589"/>
              <a:ext cx="220166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X、Y 都调用合并后的 R1+R2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632823" y="3454241"/>
              <a:ext cx="18011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合起来的模块要靠参数选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分支，内聚下降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82578" y="3989070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490401" y="4129564"/>
              <a:ext cx="970839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提取公共部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871526" y="4129564"/>
              <a:ext cx="18823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R1、R2 保留，两者都调用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common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632823" y="4129564"/>
              <a:ext cx="18011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结构清楚，调用层次多一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82578" y="466439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382578" y="4669155"/>
              <a:ext cx="6276022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490401" y="4918234"/>
              <a:ext cx="855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部分上并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871526" y="4804886"/>
              <a:ext cx="239445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R1 并进 X，R2 保留，两者都调用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common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632823" y="4918234"/>
              <a:ext cx="15286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适合 R1 很小的情况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382578" y="5340668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5392102" y="5354955"/>
              <a:ext cx="1362075" cy="656272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5490401" y="5593556"/>
              <a:ext cx="855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 全部上并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871526" y="5480209"/>
              <a:ext cx="22075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R1 并进 X、R2 并进 Y，都调用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common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632823" y="5593556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层次最少，常用的做法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382578" y="1967865"/>
              <a:ext cx="6276022" cy="405288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6758940" y="1967865"/>
              <a:ext cx="9525" cy="405288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9520238" y="1967865"/>
              <a:ext cx="9525" cy="405288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96151" cy="909257"/>
            <a:chOff x="520446" y="342900"/>
            <a:chExt cx="739615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启发规则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9615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规则 2、3：模块规模与深度、宽度、扇出、扇入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ard-1"/>
          <p:cNvGrpSpPr/>
          <p:nvPr/>
        </p:nvGrpSpPr>
        <p:grpSpPr>
          <a:xfrm>
            <a:off x="533400" y="1524000"/>
            <a:ext cx="4977765" cy="4238625"/>
            <a:chOff x="533400" y="1524000"/>
            <a:chExt cx="4977765" cy="42386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4238625"/>
            </a:xfrm>
            <a:prstGeom prst="roundRect">
              <a:avLst>
                <a:gd name="adj" fmla="val 3146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621030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9693" y="1769269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规则 2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70660" y="1768792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模块规模应该适中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48665" y="219265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06780" y="2129790"/>
              <a:ext cx="41967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W.M.Weinberg 的研究表明：模块长度超过 30 条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语句时，可理解性迅速下降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48665" y="281368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06780" y="2750820"/>
              <a:ext cx="41967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F.T.Baker 建议模块长度选在 50 句左右，正好能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打印在一张打印纸上，读程序时不必来回翻页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48665" y="343471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06780" y="3371850"/>
              <a:ext cx="4206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过大的模块往往是分解不充分，可以继续分解出下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级模块或同层模块，但分解不应该降低模块的独立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性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48665" y="434149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06780" y="427863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过小的模块开销大于有效操作，而且模块数目过多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会使系统接口复杂</a:t>
              </a:r>
            </a:p>
          </p:txBody>
        </p:sp>
      </p:grpSp>
      <p:grpSp>
        <p:nvGrpSpPr>
          <p:cNvPr id="31" name="c2-kv-1"/>
          <p:cNvGrpSpPr/>
          <p:nvPr/>
        </p:nvGrpSpPr>
        <p:grpSpPr>
          <a:xfrm>
            <a:off x="5808345" y="1548765"/>
            <a:ext cx="5850255" cy="3023235"/>
            <a:chOff x="5808345" y="1548765"/>
            <a:chExt cx="5850255" cy="3023235"/>
          </a:xfrm>
        </p:grpSpPr>
        <p:sp>
          <p:nvSpPr>
            <p:cNvPr id="20" name="TextBox 20"/>
            <p:cNvSpPr txBox="1"/>
            <p:nvPr/>
          </p:nvSpPr>
          <p:spPr>
            <a:xfrm>
              <a:off x="5808345" y="1548765"/>
              <a:ext cx="106578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深度 depth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317105" y="1548765"/>
              <a:ext cx="4015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软件结构中控制的层数，往往能粗略标志一个系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统的大小和复杂程度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815965" y="215074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808345" y="2270760"/>
              <a:ext cx="10551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宽度 width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317105" y="2270760"/>
              <a:ext cx="4015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软件结构内同一层次上模块总数的最大值，宽度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越大系统越复杂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815965" y="287274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808345" y="2992755"/>
              <a:ext cx="12990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扇出 fan-out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317105" y="2992755"/>
              <a:ext cx="4177665" cy="857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一个模块直接控制（调用）的模块数目，设计得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好的系统平均扇出通常是 3 或 4，上限通常是 5～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815965" y="387667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808345" y="3996690"/>
              <a:ext cx="11293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扇入 fan-in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317105" y="3996690"/>
              <a:ext cx="4015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有多少个上级模块直接调用它，扇入大说明这个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模块被复用得好</a:t>
              </a:r>
            </a:p>
          </p:txBody>
        </p:sp>
      </p:grpSp>
      <p:grpSp>
        <p:nvGrpSpPr>
          <p:cNvPr id="38" name="c2-callout-2"/>
          <p:cNvGrpSpPr/>
          <p:nvPr/>
        </p:nvGrpSpPr>
        <p:grpSpPr>
          <a:xfrm>
            <a:off x="5815965" y="4703445"/>
            <a:ext cx="5842635" cy="1059180"/>
            <a:chOff x="5815965" y="4703445"/>
            <a:chExt cx="5842635" cy="1059180"/>
          </a:xfrm>
        </p:grpSpPr>
        <p:sp>
          <p:nvSpPr>
            <p:cNvPr id="32" name="Rectangle 32"/>
            <p:cNvSpPr/>
            <p:nvPr/>
          </p:nvSpPr>
          <p:spPr>
            <a:xfrm>
              <a:off x="5815965" y="4703445"/>
              <a:ext cx="5842635" cy="1059180"/>
            </a:xfrm>
            <a:prstGeom prst="roundRect">
              <a:avLst>
                <a:gd name="adj" fmla="val 1079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6008694" y="5129331"/>
              <a:ext cx="224134" cy="192560"/>
              <a:chOff x="6008694" y="5129331"/>
              <a:chExt cx="224134" cy="19256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6120765" y="519969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6008694" y="512933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6120765" y="527748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6322695" y="4852035"/>
              <a:ext cx="493966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扇出过大意味着模块过分复杂，要控制和协调过多的下级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模块；扇出过小（例如总是 1）也不好，说明这一层没有起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到分解作用。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624821" cy="909257"/>
            <a:chOff x="520446" y="342900"/>
            <a:chExt cx="562482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启发规则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62482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避免"扁平"结构，追求"椭圆形"结构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3" name="c1-tree-1"/>
          <p:cNvGrpSpPr/>
          <p:nvPr/>
        </p:nvGrpSpPr>
        <p:grpSpPr>
          <a:xfrm>
            <a:off x="752475" y="1404938"/>
            <a:ext cx="10687050" cy="1666874"/>
            <a:chOff x="752475" y="1404938"/>
            <a:chExt cx="10687050" cy="1666874"/>
          </a:xfrm>
        </p:grpSpPr>
        <p:sp>
          <p:nvSpPr>
            <p:cNvPr id="7" name="Freeform 7"/>
            <p:cNvSpPr/>
            <p:nvPr/>
          </p:nvSpPr>
          <p:spPr>
            <a:xfrm>
              <a:off x="1228725" y="1881188"/>
              <a:ext cx="4867275" cy="714375"/>
            </a:xfrm>
            <a:custGeom>
              <a:avLst/>
              <a:gdLst/>
              <a:ahLst/>
              <a:cxnLst/>
              <a:rect l="l" t="t" r="r" b="b"/>
              <a:pathLst>
                <a:path w="4867275" h="714375">
                  <a:moveTo>
                    <a:pt x="4867275" y="0"/>
                  </a:moveTo>
                  <a:lnTo>
                    <a:pt x="0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619375" y="1881188"/>
              <a:ext cx="3476625" cy="714375"/>
            </a:xfrm>
            <a:custGeom>
              <a:avLst/>
              <a:gdLst/>
              <a:ahLst/>
              <a:cxnLst/>
              <a:rect l="l" t="t" r="r" b="b"/>
              <a:pathLst>
                <a:path w="3476625" h="714375">
                  <a:moveTo>
                    <a:pt x="3476625" y="0"/>
                  </a:moveTo>
                  <a:lnTo>
                    <a:pt x="0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4010025" y="1881188"/>
              <a:ext cx="2085975" cy="714375"/>
            </a:xfrm>
            <a:custGeom>
              <a:avLst/>
              <a:gdLst/>
              <a:ahLst/>
              <a:cxnLst/>
              <a:rect l="l" t="t" r="r" b="b"/>
              <a:pathLst>
                <a:path w="2085975" h="714375">
                  <a:moveTo>
                    <a:pt x="2085975" y="0"/>
                  </a:moveTo>
                  <a:lnTo>
                    <a:pt x="0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5400675" y="1881188"/>
              <a:ext cx="695325" cy="714375"/>
            </a:xfrm>
            <a:custGeom>
              <a:avLst/>
              <a:gdLst/>
              <a:ahLst/>
              <a:cxnLst/>
              <a:rect l="l" t="t" r="r" b="b"/>
              <a:pathLst>
                <a:path w="695325" h="714375">
                  <a:moveTo>
                    <a:pt x="695325" y="0"/>
                  </a:moveTo>
                  <a:lnTo>
                    <a:pt x="0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6096000" y="1881188"/>
              <a:ext cx="695325" cy="714375"/>
            </a:xfrm>
            <a:custGeom>
              <a:avLst/>
              <a:gdLst/>
              <a:ahLst/>
              <a:cxnLst/>
              <a:rect l="l" t="t" r="r" b="b"/>
              <a:pathLst>
                <a:path w="695325" h="714375">
                  <a:moveTo>
                    <a:pt x="0" y="0"/>
                  </a:moveTo>
                  <a:lnTo>
                    <a:pt x="695325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6096000" y="1881188"/>
              <a:ext cx="2085975" cy="714375"/>
            </a:xfrm>
            <a:custGeom>
              <a:avLst/>
              <a:gdLst/>
              <a:ahLst/>
              <a:cxnLst/>
              <a:rect l="l" t="t" r="r" b="b"/>
              <a:pathLst>
                <a:path w="2085975" h="714375">
                  <a:moveTo>
                    <a:pt x="0" y="0"/>
                  </a:moveTo>
                  <a:lnTo>
                    <a:pt x="2085975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6096000" y="1881188"/>
              <a:ext cx="3476625" cy="714375"/>
            </a:xfrm>
            <a:custGeom>
              <a:avLst/>
              <a:gdLst/>
              <a:ahLst/>
              <a:cxnLst/>
              <a:rect l="l" t="t" r="r" b="b"/>
              <a:pathLst>
                <a:path w="3476625" h="714375">
                  <a:moveTo>
                    <a:pt x="0" y="0"/>
                  </a:moveTo>
                  <a:lnTo>
                    <a:pt x="3476625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6096000" y="1881188"/>
              <a:ext cx="4867275" cy="714375"/>
            </a:xfrm>
            <a:custGeom>
              <a:avLst/>
              <a:gdLst/>
              <a:ahLst/>
              <a:cxnLst/>
              <a:rect l="l" t="t" r="r" b="b"/>
              <a:pathLst>
                <a:path w="4867275" h="714375">
                  <a:moveTo>
                    <a:pt x="0" y="0"/>
                  </a:moveTo>
                  <a:lnTo>
                    <a:pt x="4867275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752475" y="2119312"/>
              <a:ext cx="952500" cy="952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2143125" y="2119312"/>
              <a:ext cx="952500" cy="952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3533775" y="2119312"/>
              <a:ext cx="952500" cy="952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4924425" y="2119312"/>
              <a:ext cx="952500" cy="952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6448425" y="2252662"/>
              <a:ext cx="685800" cy="685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7705725" y="2119312"/>
              <a:ext cx="952500" cy="952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9229725" y="2252662"/>
              <a:ext cx="685800" cy="685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10487025" y="2119312"/>
              <a:ext cx="952500" cy="952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5619750" y="1404938"/>
              <a:ext cx="952500" cy="952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99338" y="252984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取得工资数据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189988" y="252984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计时制工资额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580638" y="252984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薪金制工资额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971288" y="252984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编外人员工资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503289" y="252984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税收扣款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752588" y="252984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编外人员税款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284589" y="252984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常规扣款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533888" y="252984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编外人员扣款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666613" y="1815465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计算实发工资</a:t>
              </a:r>
            </a:p>
          </p:txBody>
        </p:sp>
      </p:grpSp>
      <p:grpSp>
        <p:nvGrpSpPr>
          <p:cNvPr id="69" name="c1-tree-2"/>
          <p:cNvGrpSpPr/>
          <p:nvPr/>
        </p:nvGrpSpPr>
        <p:grpSpPr>
          <a:xfrm>
            <a:off x="1447800" y="3000375"/>
            <a:ext cx="10223182" cy="2286000"/>
            <a:chOff x="1447800" y="3000375"/>
            <a:chExt cx="10223182" cy="2286000"/>
          </a:xfrm>
        </p:grpSpPr>
        <p:sp>
          <p:nvSpPr>
            <p:cNvPr id="34" name="Freeform 34"/>
            <p:cNvSpPr/>
            <p:nvPr/>
          </p:nvSpPr>
          <p:spPr>
            <a:xfrm>
              <a:off x="4010025" y="4143375"/>
              <a:ext cx="695325" cy="666750"/>
            </a:xfrm>
            <a:custGeom>
              <a:avLst/>
              <a:gdLst/>
              <a:ahLst/>
              <a:cxnLst/>
              <a:rect l="l" t="t" r="r" b="b"/>
              <a:pathLst>
                <a:path w="695325" h="666750">
                  <a:moveTo>
                    <a:pt x="695325" y="0"/>
                  </a:moveTo>
                  <a:lnTo>
                    <a:pt x="0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4705350" y="4143375"/>
              <a:ext cx="695325" cy="666750"/>
            </a:xfrm>
            <a:custGeom>
              <a:avLst/>
              <a:gdLst/>
              <a:ahLst/>
              <a:cxnLst/>
              <a:rect l="l" t="t" r="r" b="b"/>
              <a:pathLst>
                <a:path w="695325" h="666750">
                  <a:moveTo>
                    <a:pt x="0" y="0"/>
                  </a:moveTo>
                  <a:lnTo>
                    <a:pt x="695325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6791325" y="4143375"/>
              <a:ext cx="695325" cy="666750"/>
            </a:xfrm>
            <a:custGeom>
              <a:avLst/>
              <a:gdLst/>
              <a:ahLst/>
              <a:cxnLst/>
              <a:rect l="l" t="t" r="r" b="b"/>
              <a:pathLst>
                <a:path w="695325" h="666750">
                  <a:moveTo>
                    <a:pt x="695325" y="0"/>
                  </a:moveTo>
                  <a:lnTo>
                    <a:pt x="0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7486650" y="4143375"/>
              <a:ext cx="695325" cy="666750"/>
            </a:xfrm>
            <a:custGeom>
              <a:avLst/>
              <a:gdLst/>
              <a:ahLst/>
              <a:cxnLst/>
              <a:rect l="l" t="t" r="r" b="b"/>
              <a:pathLst>
                <a:path w="695325" h="666750">
                  <a:moveTo>
                    <a:pt x="0" y="0"/>
                  </a:moveTo>
                  <a:lnTo>
                    <a:pt x="695325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9341168" y="4143375"/>
              <a:ext cx="926782" cy="666750"/>
            </a:xfrm>
            <a:custGeom>
              <a:avLst/>
              <a:gdLst/>
              <a:ahLst/>
              <a:cxnLst/>
              <a:rect l="l" t="t" r="r" b="b"/>
              <a:pathLst>
                <a:path w="926782" h="666750">
                  <a:moveTo>
                    <a:pt x="926782" y="0"/>
                  </a:moveTo>
                  <a:lnTo>
                    <a:pt x="0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10267950" y="4143375"/>
              <a:ext cx="9525" cy="666750"/>
            </a:xfrm>
            <a:custGeom>
              <a:avLst/>
              <a:gdLst/>
              <a:ahLst/>
              <a:cxnLst/>
              <a:rect l="l" t="t" r="r" b="b"/>
              <a:pathLst>
                <a:path w="9525" h="666750">
                  <a:moveTo>
                    <a:pt x="0" y="0"/>
                  </a:moveTo>
                  <a:lnTo>
                    <a:pt x="0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10267950" y="4143375"/>
              <a:ext cx="926782" cy="666750"/>
            </a:xfrm>
            <a:custGeom>
              <a:avLst/>
              <a:gdLst/>
              <a:ahLst/>
              <a:cxnLst/>
              <a:rect l="l" t="t" r="r" b="b"/>
              <a:pathLst>
                <a:path w="926782" h="666750">
                  <a:moveTo>
                    <a:pt x="0" y="0"/>
                  </a:moveTo>
                  <a:lnTo>
                    <a:pt x="926782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1924050" y="3476625"/>
              <a:ext cx="4171950" cy="666750"/>
            </a:xfrm>
            <a:custGeom>
              <a:avLst/>
              <a:gdLst/>
              <a:ahLst/>
              <a:cxnLst/>
              <a:rect l="l" t="t" r="r" b="b"/>
              <a:pathLst>
                <a:path w="4171950" h="666750">
                  <a:moveTo>
                    <a:pt x="4171950" y="0"/>
                  </a:moveTo>
                  <a:lnTo>
                    <a:pt x="0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4705350" y="3476625"/>
              <a:ext cx="1390650" cy="666750"/>
            </a:xfrm>
            <a:custGeom>
              <a:avLst/>
              <a:gdLst/>
              <a:ahLst/>
              <a:cxnLst/>
              <a:rect l="l" t="t" r="r" b="b"/>
              <a:pathLst>
                <a:path w="1390650" h="666750">
                  <a:moveTo>
                    <a:pt x="1390650" y="0"/>
                  </a:moveTo>
                  <a:lnTo>
                    <a:pt x="0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6096000" y="3476625"/>
              <a:ext cx="1390650" cy="666750"/>
            </a:xfrm>
            <a:custGeom>
              <a:avLst/>
              <a:gdLst/>
              <a:ahLst/>
              <a:cxnLst/>
              <a:rect l="l" t="t" r="r" b="b"/>
              <a:pathLst>
                <a:path w="1390650" h="666750">
                  <a:moveTo>
                    <a:pt x="0" y="0"/>
                  </a:moveTo>
                  <a:lnTo>
                    <a:pt x="1390650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6096000" y="3476625"/>
              <a:ext cx="4171950" cy="666750"/>
            </a:xfrm>
            <a:custGeom>
              <a:avLst/>
              <a:gdLst/>
              <a:ahLst/>
              <a:cxnLst/>
              <a:rect l="l" t="t" r="r" b="b"/>
              <a:pathLst>
                <a:path w="4171950" h="666750">
                  <a:moveTo>
                    <a:pt x="0" y="0"/>
                  </a:moveTo>
                  <a:lnTo>
                    <a:pt x="4171950" y="66675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5" name="Ellipse 45"/>
            <p:cNvSpPr/>
            <p:nvPr/>
          </p:nvSpPr>
          <p:spPr>
            <a:xfrm>
              <a:off x="1447800" y="3667125"/>
              <a:ext cx="952500" cy="952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6" name="Ellipse 46"/>
            <p:cNvSpPr/>
            <p:nvPr/>
          </p:nvSpPr>
          <p:spPr>
            <a:xfrm>
              <a:off x="3533775" y="4333875"/>
              <a:ext cx="952500" cy="952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7" name="Ellipse 47"/>
            <p:cNvSpPr/>
            <p:nvPr/>
          </p:nvSpPr>
          <p:spPr>
            <a:xfrm>
              <a:off x="5057775" y="4467225"/>
              <a:ext cx="685800" cy="685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8" name="Ellipse 48"/>
            <p:cNvSpPr/>
            <p:nvPr/>
          </p:nvSpPr>
          <p:spPr>
            <a:xfrm>
              <a:off x="4095750" y="3533775"/>
              <a:ext cx="1219200" cy="12192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9" name="Ellipse 49"/>
            <p:cNvSpPr/>
            <p:nvPr/>
          </p:nvSpPr>
          <p:spPr>
            <a:xfrm>
              <a:off x="6315075" y="4333875"/>
              <a:ext cx="952500" cy="952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0" name="Ellipse 50"/>
            <p:cNvSpPr/>
            <p:nvPr/>
          </p:nvSpPr>
          <p:spPr>
            <a:xfrm>
              <a:off x="7839075" y="4467225"/>
              <a:ext cx="685800" cy="685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1" name="Ellipse 51"/>
            <p:cNvSpPr/>
            <p:nvPr/>
          </p:nvSpPr>
          <p:spPr>
            <a:xfrm>
              <a:off x="6877050" y="3533775"/>
              <a:ext cx="1219200" cy="12192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2" name="Ellipse 52"/>
            <p:cNvSpPr/>
            <p:nvPr/>
          </p:nvSpPr>
          <p:spPr>
            <a:xfrm>
              <a:off x="8864918" y="4333875"/>
              <a:ext cx="952500" cy="952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3" name="Ellipse 53"/>
            <p:cNvSpPr/>
            <p:nvPr/>
          </p:nvSpPr>
          <p:spPr>
            <a:xfrm>
              <a:off x="9791700" y="4333875"/>
              <a:ext cx="952500" cy="952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4" name="Ellipse 54"/>
            <p:cNvSpPr/>
            <p:nvPr/>
          </p:nvSpPr>
          <p:spPr>
            <a:xfrm>
              <a:off x="10718482" y="4333875"/>
              <a:ext cx="952500" cy="952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5" name="Ellipse 55"/>
            <p:cNvSpPr/>
            <p:nvPr/>
          </p:nvSpPr>
          <p:spPr>
            <a:xfrm>
              <a:off x="9658350" y="3533775"/>
              <a:ext cx="1219200" cy="12192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6" name="Ellipse 56"/>
            <p:cNvSpPr/>
            <p:nvPr/>
          </p:nvSpPr>
          <p:spPr>
            <a:xfrm>
              <a:off x="5619750" y="3000375"/>
              <a:ext cx="952500" cy="952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1494663" y="407765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取得工资数据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3580638" y="47444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计时制工资额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5112639" y="47444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税收扣款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4134612" y="407765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计时工人实发资额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361938" y="47444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薪金制工资额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893939" y="474440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常规扣款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915912" y="407765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薪金工人实发资额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911781" y="47444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编外人员工资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9838563" y="47444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编外人员税款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0765346" y="47444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编外人员扣款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697212" y="4077652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编外人员实发资额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5666613" y="341090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计算实发工资</a:t>
              </a:r>
            </a:p>
          </p:txBody>
        </p:sp>
      </p:grpSp>
      <p:grpSp>
        <p:nvGrpSpPr>
          <p:cNvPr id="75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70" name="Rectangle 70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73" name="Group 73"/>
            <p:cNvGrpSpPr/>
            <p:nvPr/>
          </p:nvGrpSpPr>
          <p:grpSpPr>
            <a:xfrm>
              <a:off x="738188" y="5871212"/>
              <a:ext cx="200023" cy="200023"/>
              <a:chOff x="738188" y="5871212"/>
              <a:chExt cx="200023" cy="200023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738188" y="58712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871538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4" name="TextBox 74"/>
            <p:cNvSpPr txBox="1"/>
            <p:nvPr/>
          </p:nvSpPr>
          <p:spPr>
            <a:xfrm>
              <a:off x="1040130" y="5728335"/>
              <a:ext cx="98926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上图顶层扇出 8，是应避免的扁平结构；下图加了一层中间模块，轮廓像椭圆：顶层扇出较大，中间各层扇出较小，底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层的公共模块（如税收扣款）扇入较大。</a:t>
              </a:r>
            </a:p>
          </p:txBody>
        </p:sp>
      </p:grpSp>
      <p:grpSp>
        <p:nvGrpSpPr>
          <p:cNvPr id="7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6" name="TextBox 76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168063" cy="909257"/>
            <a:chOff x="520446" y="342900"/>
            <a:chExt cx="616806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启发规则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16806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规则 4：模块的作用域应该在控制域之内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kv-1"/>
          <p:cNvGrpSpPr/>
          <p:nvPr/>
        </p:nvGrpSpPr>
        <p:grpSpPr>
          <a:xfrm>
            <a:off x="525780" y="1548765"/>
            <a:ext cx="5417820" cy="1015365"/>
            <a:chOff x="525780" y="1548765"/>
            <a:chExt cx="5417820" cy="101536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作用域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368742" y="154876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受该模块内一个判定影响的所有模块的集合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18688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5780" y="1988820"/>
              <a:ext cx="6210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控制域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68742" y="1988820"/>
              <a:ext cx="4396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这个模块本身，以及所有直接或间接从属于它的模块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的集合</a:t>
              </a:r>
            </a:p>
          </p:txBody>
        </p:sp>
      </p:grpSp>
      <p:grpSp>
        <p:nvGrpSpPr>
          <p:cNvPr id="15" name="c1-card-2"/>
          <p:cNvGrpSpPr/>
          <p:nvPr/>
        </p:nvGrpSpPr>
        <p:grpSpPr>
          <a:xfrm>
            <a:off x="533400" y="2695575"/>
            <a:ext cx="5410200" cy="1249680"/>
            <a:chOff x="533400" y="2695575"/>
            <a:chExt cx="5410200" cy="1249680"/>
          </a:xfrm>
        </p:grpSpPr>
        <p:sp>
          <p:nvSpPr>
            <p:cNvPr id="13" name="Rectangle 13"/>
            <p:cNvSpPr/>
            <p:nvPr/>
          </p:nvSpPr>
          <p:spPr>
            <a:xfrm>
              <a:off x="533400" y="2695575"/>
              <a:ext cx="5410200" cy="1249680"/>
            </a:xfrm>
            <a:prstGeom prst="roundRect">
              <a:avLst>
                <a:gd name="adj" fmla="val 10671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35330" y="2929890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在一个设计得很好的系统中，所有受判定影响的模块都应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该从属于做出判定的那个模块，最好局限于做出判定的那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个模块本身及它的直属下级模块。</a:t>
              </a:r>
            </a:p>
          </p:txBody>
        </p:sp>
      </p:grpSp>
      <p:grpSp>
        <p:nvGrpSpPr>
          <p:cNvPr id="26" name="c1-bullets-3"/>
          <p:cNvGrpSpPr/>
          <p:nvPr/>
        </p:nvGrpSpPr>
        <p:grpSpPr>
          <a:xfrm>
            <a:off x="525780" y="4160520"/>
            <a:ext cx="5170170" cy="1337310"/>
            <a:chOff x="525780" y="4160520"/>
            <a:chExt cx="5170170" cy="1337310"/>
          </a:xfrm>
        </p:grpSpPr>
        <p:sp>
          <p:nvSpPr>
            <p:cNvPr id="16" name="TextBox 16"/>
            <p:cNvSpPr txBox="1"/>
            <p:nvPr/>
          </p:nvSpPr>
          <p:spPr>
            <a:xfrm>
              <a:off x="525780" y="416052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把作用域移进控制域的三种办法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33400" y="450151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95249" y="454380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34390" y="4514850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将判定所在模块合并到父模块中，使判定处于较高层次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33400" y="484632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95249" y="488861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4390" y="485965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将受判定影响的模块下移到控制范围内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533400" y="519112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95249" y="523341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4390" y="520446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将判定上移到层次中较高的位置</a:t>
              </a:r>
            </a:p>
          </p:txBody>
        </p:sp>
      </p:grpSp>
      <p:grpSp>
        <p:nvGrpSpPr>
          <p:cNvPr id="52" name="c2-tree-1"/>
          <p:cNvGrpSpPr/>
          <p:nvPr/>
        </p:nvGrpSpPr>
        <p:grpSpPr>
          <a:xfrm>
            <a:off x="6715125" y="1602105"/>
            <a:ext cx="3871658" cy="2148840"/>
            <a:chOff x="6715125" y="1602105"/>
            <a:chExt cx="3871658" cy="2148840"/>
          </a:xfrm>
        </p:grpSpPr>
        <p:sp>
          <p:nvSpPr>
            <p:cNvPr id="27" name="Freeform 27"/>
            <p:cNvSpPr/>
            <p:nvPr/>
          </p:nvSpPr>
          <p:spPr>
            <a:xfrm>
              <a:off x="7826692" y="2964180"/>
              <a:ext cx="450532" cy="577215"/>
            </a:xfrm>
            <a:custGeom>
              <a:avLst/>
              <a:gdLst/>
              <a:ahLst/>
              <a:cxnLst/>
              <a:rect l="l" t="t" r="r" b="b"/>
              <a:pathLst>
                <a:path w="450532" h="577215">
                  <a:moveTo>
                    <a:pt x="450532" y="0"/>
                  </a:moveTo>
                  <a:lnTo>
                    <a:pt x="0" y="5772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8277225" y="2964180"/>
              <a:ext cx="9525" cy="577215"/>
            </a:xfrm>
            <a:custGeom>
              <a:avLst/>
              <a:gdLst/>
              <a:ahLst/>
              <a:cxnLst/>
              <a:rect l="l" t="t" r="r" b="b"/>
              <a:pathLst>
                <a:path w="9525" h="577215">
                  <a:moveTo>
                    <a:pt x="0" y="0"/>
                  </a:moveTo>
                  <a:lnTo>
                    <a:pt x="0" y="5772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8277225" y="2964180"/>
              <a:ext cx="450532" cy="577215"/>
            </a:xfrm>
            <a:custGeom>
              <a:avLst/>
              <a:gdLst/>
              <a:ahLst/>
              <a:cxnLst/>
              <a:rect l="l" t="t" r="r" b="b"/>
              <a:pathLst>
                <a:path w="450532" h="577215">
                  <a:moveTo>
                    <a:pt x="0" y="0"/>
                  </a:moveTo>
                  <a:lnTo>
                    <a:pt x="450532" y="5772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6924675" y="2388870"/>
              <a:ext cx="676275" cy="575310"/>
            </a:xfrm>
            <a:custGeom>
              <a:avLst/>
              <a:gdLst/>
              <a:ahLst/>
              <a:cxnLst/>
              <a:rect l="l" t="t" r="r" b="b"/>
              <a:pathLst>
                <a:path w="676275" h="575310">
                  <a:moveTo>
                    <a:pt x="676275" y="0"/>
                  </a:moveTo>
                  <a:lnTo>
                    <a:pt x="0" y="5753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7600950" y="2388870"/>
              <a:ext cx="676275" cy="575310"/>
            </a:xfrm>
            <a:custGeom>
              <a:avLst/>
              <a:gdLst/>
              <a:ahLst/>
              <a:cxnLst/>
              <a:rect l="l" t="t" r="r" b="b"/>
              <a:pathLst>
                <a:path w="676275" h="575310">
                  <a:moveTo>
                    <a:pt x="0" y="0"/>
                  </a:moveTo>
                  <a:lnTo>
                    <a:pt x="676275" y="5753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7600950" y="1811655"/>
              <a:ext cx="1352550" cy="577215"/>
            </a:xfrm>
            <a:custGeom>
              <a:avLst/>
              <a:gdLst/>
              <a:ahLst/>
              <a:cxnLst/>
              <a:rect l="l" t="t" r="r" b="b"/>
              <a:pathLst>
                <a:path w="1352550" h="577215">
                  <a:moveTo>
                    <a:pt x="1352550" y="0"/>
                  </a:moveTo>
                  <a:lnTo>
                    <a:pt x="0" y="5772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8953500" y="1811655"/>
              <a:ext cx="1352550" cy="577215"/>
            </a:xfrm>
            <a:custGeom>
              <a:avLst/>
              <a:gdLst/>
              <a:ahLst/>
              <a:cxnLst/>
              <a:rect l="l" t="t" r="r" b="b"/>
              <a:pathLst>
                <a:path w="1352550" h="577215">
                  <a:moveTo>
                    <a:pt x="0" y="0"/>
                  </a:moveTo>
                  <a:lnTo>
                    <a:pt x="1352550" y="5772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Ellipse 34"/>
            <p:cNvSpPr/>
            <p:nvPr/>
          </p:nvSpPr>
          <p:spPr>
            <a:xfrm>
              <a:off x="6715125" y="2754630"/>
              <a:ext cx="419100" cy="4191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7617142" y="3331845"/>
              <a:ext cx="419100" cy="4191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6" name="Ellipse 36"/>
            <p:cNvSpPr/>
            <p:nvPr/>
          </p:nvSpPr>
          <p:spPr>
            <a:xfrm>
              <a:off x="8067675" y="3331845"/>
              <a:ext cx="419100" cy="4191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7" name="Ellipse 37"/>
            <p:cNvSpPr/>
            <p:nvPr/>
          </p:nvSpPr>
          <p:spPr>
            <a:xfrm>
              <a:off x="8518208" y="3331845"/>
              <a:ext cx="419100" cy="4191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8" name="Ellipse 38"/>
            <p:cNvSpPr/>
            <p:nvPr/>
          </p:nvSpPr>
          <p:spPr>
            <a:xfrm>
              <a:off x="8067675" y="2754630"/>
              <a:ext cx="419100" cy="4191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9" name="Ellipse 39"/>
            <p:cNvSpPr/>
            <p:nvPr/>
          </p:nvSpPr>
          <p:spPr>
            <a:xfrm>
              <a:off x="7391400" y="2179320"/>
              <a:ext cx="419100" cy="4191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10096500" y="2179320"/>
              <a:ext cx="419100" cy="419100"/>
            </a:xfrm>
            <a:prstGeom prst="ellipse">
              <a:avLst/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41" name="Ellipse 41"/>
            <p:cNvSpPr/>
            <p:nvPr/>
          </p:nvSpPr>
          <p:spPr>
            <a:xfrm>
              <a:off x="8743950" y="1602105"/>
              <a:ext cx="419100" cy="4191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872960" y="2894171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774977" y="3470434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225510" y="3470434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676042" y="3470434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225510" y="2894171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549235" y="2317909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320216" y="2652236"/>
              <a:ext cx="56146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判定在这里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254335" y="2317909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G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025316" y="2652236"/>
              <a:ext cx="56146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受判定影响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885057" y="1742599"/>
              <a:ext cx="13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</p:grpSp>
      <p:grpSp>
        <p:nvGrpSpPr>
          <p:cNvPr id="59" name="c2-callout-2"/>
          <p:cNvGrpSpPr/>
          <p:nvPr/>
        </p:nvGrpSpPr>
        <p:grpSpPr>
          <a:xfrm>
            <a:off x="6248400" y="4191000"/>
            <a:ext cx="5410200" cy="1247775"/>
            <a:chOff x="6248400" y="4191000"/>
            <a:chExt cx="5410200" cy="1247775"/>
          </a:xfrm>
        </p:grpSpPr>
        <p:sp>
          <p:nvSpPr>
            <p:cNvPr id="53" name="Rectangle 53"/>
            <p:cNvSpPr/>
            <p:nvPr/>
          </p:nvSpPr>
          <p:spPr>
            <a:xfrm>
              <a:off x="6248400" y="4191000"/>
              <a:ext cx="5410200" cy="1247775"/>
            </a:xfrm>
            <a:prstGeom prst="roundRect">
              <a:avLst>
                <a:gd name="adj" fmla="val 9160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7" name="Group 57"/>
            <p:cNvGrpSpPr/>
            <p:nvPr/>
          </p:nvGrpSpPr>
          <p:grpSpPr>
            <a:xfrm>
              <a:off x="6441129" y="4711183"/>
              <a:ext cx="224134" cy="192560"/>
              <a:chOff x="6441129" y="4711183"/>
              <a:chExt cx="224134" cy="19256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6553200" y="478155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6441129" y="471118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553200" y="485933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8" name="TextBox 58"/>
            <p:cNvSpPr txBox="1"/>
            <p:nvPr/>
          </p:nvSpPr>
          <p:spPr>
            <a:xfrm>
              <a:off x="6755130" y="4433888"/>
              <a:ext cx="44348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判定在 A 里做，却影响到 A 的兄弟模块 G。A 只能把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判定结果经 M 传给 G，接口被迫变复杂，这就是作用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域超出控制域。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64553" cy="909257"/>
            <a:chOff x="520446" y="342900"/>
            <a:chExt cx="656455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98786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8957" y="407194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启发规则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6455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规则 5、6、7：接口、入口出口和可预测性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626418" cy="1335405"/>
            <a:chOff x="533400" y="1524000"/>
            <a:chExt cx="5626418" cy="13354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335405"/>
            </a:xfrm>
            <a:prstGeom prst="roundRect">
              <a:avLst>
                <a:gd name="adj" fmla="val 9986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621030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29693" y="1769269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规则 5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70660" y="1768792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力争降低模块接口的复杂程度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129790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模块接口复杂是软件发生错误的一个主要原因。应该仔细设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计模块接口，使得信息传递简单并且和模块的功能一致。</a:t>
              </a:r>
            </a:p>
          </p:txBody>
        </p:sp>
      </p:grpSp>
      <p:grpSp>
        <p:nvGrpSpPr>
          <p:cNvPr id="33" name="c1-compare-2"/>
          <p:cNvGrpSpPr/>
          <p:nvPr/>
        </p:nvGrpSpPr>
        <p:grpSpPr>
          <a:xfrm>
            <a:off x="533400" y="3049905"/>
            <a:ext cx="5627370" cy="2863215"/>
            <a:chOff x="533400" y="3049905"/>
            <a:chExt cx="5627370" cy="2863215"/>
          </a:xfrm>
        </p:grpSpPr>
        <p:sp>
          <p:nvSpPr>
            <p:cNvPr id="13" name="Rectangle 13"/>
            <p:cNvSpPr/>
            <p:nvPr/>
          </p:nvSpPr>
          <p:spPr>
            <a:xfrm>
              <a:off x="533400" y="3049905"/>
              <a:ext cx="2642235" cy="2863215"/>
            </a:xfrm>
            <a:prstGeom prst="roundRect">
              <a:avLst>
                <a:gd name="adj" fmla="val 50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3183255"/>
              <a:ext cx="47625" cy="259651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73430" y="3284220"/>
              <a:ext cx="21883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QUAD_ROOT(TBL, X)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86765" y="370141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44880" y="3638550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传进一张表和一个下标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86765" y="403669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44880" y="3973830"/>
              <a:ext cx="1920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调用者必须知道表的内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部安排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6765" y="465772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44880" y="4594860"/>
              <a:ext cx="17487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求根这件事和"表"本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来没有关系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3518535" y="3049905"/>
              <a:ext cx="2642235" cy="2863215"/>
            </a:xfrm>
            <a:prstGeom prst="roundRect">
              <a:avLst>
                <a:gd name="adj" fmla="val 50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3528060" y="3183255"/>
              <a:ext cx="47625" cy="259651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58565" y="3284220"/>
              <a:ext cx="2015490" cy="55054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QUAD_ROOT(A, B, C,</a:t>
              </a:r>
              <a:br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ROOT1, ROOT2)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3771900" y="395859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3930015" y="3895725"/>
              <a:ext cx="1920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直接传三个系数，返回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两个根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771900" y="457962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930015" y="45167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接口和模块功能一致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3771900" y="4914900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930015" y="4852035"/>
              <a:ext cx="1920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看参数表就知道怎么调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3185160" y="4319588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255500" y="4415790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39" name="c2-card-1"/>
          <p:cNvGrpSpPr/>
          <p:nvPr/>
        </p:nvGrpSpPr>
        <p:grpSpPr>
          <a:xfrm>
            <a:off x="6464618" y="1524000"/>
            <a:ext cx="5193982" cy="1335405"/>
            <a:chOff x="6464618" y="1524000"/>
            <a:chExt cx="5193982" cy="1335405"/>
          </a:xfrm>
        </p:grpSpPr>
        <p:sp>
          <p:nvSpPr>
            <p:cNvPr id="34" name="Rectangle 34"/>
            <p:cNvSpPr/>
            <p:nvPr/>
          </p:nvSpPr>
          <p:spPr>
            <a:xfrm>
              <a:off x="6464618" y="1524000"/>
              <a:ext cx="5193982" cy="1335405"/>
            </a:xfrm>
            <a:prstGeom prst="roundRect">
              <a:avLst>
                <a:gd name="adj" fmla="val 9986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674168" y="1733550"/>
              <a:ext cx="621030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760910" y="1769269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规则 6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401878" y="1768792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设计单入口单出口的模块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666548" y="212979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从顶部进入模块，从底部退出来，这样的软件容易理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解、容易维护，也就避免了内容耦合。</a:t>
              </a:r>
            </a:p>
          </p:txBody>
        </p:sp>
      </p:grpSp>
      <p:grpSp>
        <p:nvGrpSpPr>
          <p:cNvPr id="49" name="c2-card-2"/>
          <p:cNvGrpSpPr/>
          <p:nvPr/>
        </p:nvGrpSpPr>
        <p:grpSpPr>
          <a:xfrm>
            <a:off x="6464618" y="3049905"/>
            <a:ext cx="5193982" cy="2863215"/>
            <a:chOff x="6464618" y="3049905"/>
            <a:chExt cx="5193982" cy="2863215"/>
          </a:xfrm>
        </p:grpSpPr>
        <p:sp>
          <p:nvSpPr>
            <p:cNvPr id="40" name="Rectangle 40"/>
            <p:cNvSpPr/>
            <p:nvPr/>
          </p:nvSpPr>
          <p:spPr>
            <a:xfrm>
              <a:off x="6464618" y="3049905"/>
              <a:ext cx="5193982" cy="2863215"/>
            </a:xfrm>
            <a:prstGeom prst="roundRect">
              <a:avLst>
                <a:gd name="adj" fmla="val 4657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674168" y="3259455"/>
              <a:ext cx="621030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760910" y="3295174"/>
              <a:ext cx="4475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规则 7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401878" y="3294698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模块功能应该可以预测，也不要施加过多限制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666548" y="3655695"/>
              <a:ext cx="45872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如果一个模块可以当做一个黑盒子，只要输入的数据相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同就产生同样的输出，这个模块的功能就是可以预测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的。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679883" y="462534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837998" y="4562475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带内部存储器的模块，同样的输入可能给出不同的输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出，功能就不可预测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679883" y="524637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837998" y="5183505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另一方面，对模块施加过多限制（例如写死数据长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度）会给以后的修改带来麻烦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5367528" cy="2997517"/>
            <a:chOff x="667512" y="1835468"/>
            <a:chExt cx="5367528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36752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描绘软件结构的图形工具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0149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层次图画调用关系，结构图还要画传什么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0779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层次图与带编号的 H 图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7399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HIPO 图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结构图与四种模块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996184" cy="909257"/>
            <a:chOff x="520446" y="342900"/>
            <a:chExt cx="299618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描绘软件结构的图形工具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8964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层次图与 HIPO 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3" name="c1-tree-1"/>
          <p:cNvGrpSpPr/>
          <p:nvPr/>
        </p:nvGrpSpPr>
        <p:grpSpPr>
          <a:xfrm>
            <a:off x="901065" y="1365885"/>
            <a:ext cx="10452735" cy="1421130"/>
            <a:chOff x="901065" y="1365885"/>
            <a:chExt cx="10452735" cy="1421130"/>
          </a:xfrm>
        </p:grpSpPr>
        <p:sp>
          <p:nvSpPr>
            <p:cNvPr id="7" name="Freeform 7"/>
            <p:cNvSpPr/>
            <p:nvPr/>
          </p:nvSpPr>
          <p:spPr>
            <a:xfrm>
              <a:off x="1228725" y="1815465"/>
              <a:ext cx="4867275" cy="581025"/>
            </a:xfrm>
            <a:custGeom>
              <a:avLst/>
              <a:gdLst/>
              <a:ahLst/>
              <a:cxnLst/>
              <a:rect l="l" t="t" r="r" b="b"/>
              <a:pathLst>
                <a:path w="4867275" h="581025">
                  <a:moveTo>
                    <a:pt x="4867275" y="0"/>
                  </a:moveTo>
                  <a:lnTo>
                    <a:pt x="0" y="5810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619375" y="1815465"/>
              <a:ext cx="3476625" cy="581025"/>
            </a:xfrm>
            <a:custGeom>
              <a:avLst/>
              <a:gdLst/>
              <a:ahLst/>
              <a:cxnLst/>
              <a:rect l="l" t="t" r="r" b="b"/>
              <a:pathLst>
                <a:path w="3476625" h="581025">
                  <a:moveTo>
                    <a:pt x="3476625" y="0"/>
                  </a:moveTo>
                  <a:lnTo>
                    <a:pt x="0" y="5810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4010025" y="1815465"/>
              <a:ext cx="2085975" cy="581025"/>
            </a:xfrm>
            <a:custGeom>
              <a:avLst/>
              <a:gdLst/>
              <a:ahLst/>
              <a:cxnLst/>
              <a:rect l="l" t="t" r="r" b="b"/>
              <a:pathLst>
                <a:path w="2085975" h="581025">
                  <a:moveTo>
                    <a:pt x="2085975" y="0"/>
                  </a:moveTo>
                  <a:lnTo>
                    <a:pt x="0" y="5810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5400675" y="1815465"/>
              <a:ext cx="695325" cy="581025"/>
            </a:xfrm>
            <a:custGeom>
              <a:avLst/>
              <a:gdLst/>
              <a:ahLst/>
              <a:cxnLst/>
              <a:rect l="l" t="t" r="r" b="b"/>
              <a:pathLst>
                <a:path w="695325" h="581025">
                  <a:moveTo>
                    <a:pt x="695325" y="0"/>
                  </a:moveTo>
                  <a:lnTo>
                    <a:pt x="0" y="5810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6096000" y="1815465"/>
              <a:ext cx="695325" cy="581025"/>
            </a:xfrm>
            <a:custGeom>
              <a:avLst/>
              <a:gdLst/>
              <a:ahLst/>
              <a:cxnLst/>
              <a:rect l="l" t="t" r="r" b="b"/>
              <a:pathLst>
                <a:path w="695325" h="581025">
                  <a:moveTo>
                    <a:pt x="0" y="0"/>
                  </a:moveTo>
                  <a:lnTo>
                    <a:pt x="695325" y="5810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6096000" y="1815465"/>
              <a:ext cx="2085975" cy="581025"/>
            </a:xfrm>
            <a:custGeom>
              <a:avLst/>
              <a:gdLst/>
              <a:ahLst/>
              <a:cxnLst/>
              <a:rect l="l" t="t" r="r" b="b"/>
              <a:pathLst>
                <a:path w="2085975" h="581025">
                  <a:moveTo>
                    <a:pt x="0" y="0"/>
                  </a:moveTo>
                  <a:lnTo>
                    <a:pt x="2085975" y="5810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6096000" y="1815465"/>
              <a:ext cx="3476625" cy="581025"/>
            </a:xfrm>
            <a:custGeom>
              <a:avLst/>
              <a:gdLst/>
              <a:ahLst/>
              <a:cxnLst/>
              <a:rect l="l" t="t" r="r" b="b"/>
              <a:pathLst>
                <a:path w="3476625" h="581025">
                  <a:moveTo>
                    <a:pt x="0" y="0"/>
                  </a:moveTo>
                  <a:lnTo>
                    <a:pt x="3476625" y="5810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6096000" y="1815465"/>
              <a:ext cx="4867275" cy="581025"/>
            </a:xfrm>
            <a:custGeom>
              <a:avLst/>
              <a:gdLst/>
              <a:ahLst/>
              <a:cxnLst/>
              <a:rect l="l" t="t" r="r" b="b"/>
              <a:pathLst>
                <a:path w="4867275" h="581025">
                  <a:moveTo>
                    <a:pt x="0" y="0"/>
                  </a:moveTo>
                  <a:lnTo>
                    <a:pt x="4867275" y="5810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901065" y="2068830"/>
              <a:ext cx="655320" cy="65532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2291715" y="2068830"/>
              <a:ext cx="655320" cy="65532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3682365" y="2068830"/>
              <a:ext cx="655320" cy="65532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5010150" y="2005965"/>
              <a:ext cx="781050" cy="7810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6463665" y="2068830"/>
              <a:ext cx="655320" cy="65532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0" name="Ellipse 20"/>
            <p:cNvSpPr/>
            <p:nvPr/>
          </p:nvSpPr>
          <p:spPr>
            <a:xfrm>
              <a:off x="7854315" y="2068830"/>
              <a:ext cx="655320" cy="65532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9182100" y="2005965"/>
              <a:ext cx="781050" cy="7810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10572750" y="2005965"/>
              <a:ext cx="781050" cy="7810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5646420" y="1365885"/>
              <a:ext cx="899160" cy="89916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56784" y="2336006"/>
              <a:ext cx="5438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 1.0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347434" y="2336006"/>
              <a:ext cx="5438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 2.0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738084" y="2336006"/>
              <a:ext cx="5438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 3.0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062770" y="2336006"/>
              <a:ext cx="67581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加标题 4.0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519384" y="2336006"/>
              <a:ext cx="5438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 5.0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910034" y="2336006"/>
              <a:ext cx="5438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检索 6.0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234720" y="2336006"/>
              <a:ext cx="67581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编目录 7.0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625370" y="2336006"/>
              <a:ext cx="67581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格式化 8.0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695264" y="1754029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正文加工系统</a:t>
              </a:r>
            </a:p>
          </p:txBody>
        </p:sp>
      </p:grpSp>
      <p:grpSp>
        <p:nvGrpSpPr>
          <p:cNvPr id="54" name="c1-tree-2"/>
          <p:cNvGrpSpPr/>
          <p:nvPr/>
        </p:nvGrpSpPr>
        <p:grpSpPr>
          <a:xfrm>
            <a:off x="1132522" y="2808923"/>
            <a:ext cx="9926956" cy="1192529"/>
            <a:chOff x="1132522" y="2808923"/>
            <a:chExt cx="9926956" cy="1192529"/>
          </a:xfrm>
        </p:grpSpPr>
        <p:sp>
          <p:nvSpPr>
            <p:cNvPr id="34" name="Freeform 34"/>
            <p:cNvSpPr/>
            <p:nvPr/>
          </p:nvSpPr>
          <p:spPr>
            <a:xfrm>
              <a:off x="1460182" y="3136582"/>
              <a:ext cx="4635818" cy="537210"/>
            </a:xfrm>
            <a:custGeom>
              <a:avLst/>
              <a:gdLst/>
              <a:ahLst/>
              <a:cxnLst/>
              <a:rect l="l" t="t" r="r" b="b"/>
              <a:pathLst>
                <a:path w="4635818" h="537210">
                  <a:moveTo>
                    <a:pt x="4635818" y="0"/>
                  </a:moveTo>
                  <a:lnTo>
                    <a:pt x="0" y="5372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3314700" y="3136582"/>
              <a:ext cx="2781300" cy="537210"/>
            </a:xfrm>
            <a:custGeom>
              <a:avLst/>
              <a:gdLst/>
              <a:ahLst/>
              <a:cxnLst/>
              <a:rect l="l" t="t" r="r" b="b"/>
              <a:pathLst>
                <a:path w="2781300" h="537210">
                  <a:moveTo>
                    <a:pt x="2781300" y="0"/>
                  </a:moveTo>
                  <a:lnTo>
                    <a:pt x="0" y="5372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5169218" y="3136582"/>
              <a:ext cx="926782" cy="537210"/>
            </a:xfrm>
            <a:custGeom>
              <a:avLst/>
              <a:gdLst/>
              <a:ahLst/>
              <a:cxnLst/>
              <a:rect l="l" t="t" r="r" b="b"/>
              <a:pathLst>
                <a:path w="926782" h="537210">
                  <a:moveTo>
                    <a:pt x="926782" y="0"/>
                  </a:moveTo>
                  <a:lnTo>
                    <a:pt x="0" y="5372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6096000" y="3136582"/>
              <a:ext cx="926782" cy="537210"/>
            </a:xfrm>
            <a:custGeom>
              <a:avLst/>
              <a:gdLst/>
              <a:ahLst/>
              <a:cxnLst/>
              <a:rect l="l" t="t" r="r" b="b"/>
              <a:pathLst>
                <a:path w="926782" h="537210">
                  <a:moveTo>
                    <a:pt x="0" y="0"/>
                  </a:moveTo>
                  <a:lnTo>
                    <a:pt x="926782" y="5372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6096000" y="3136582"/>
              <a:ext cx="2781300" cy="537210"/>
            </a:xfrm>
            <a:custGeom>
              <a:avLst/>
              <a:gdLst/>
              <a:ahLst/>
              <a:cxnLst/>
              <a:rect l="l" t="t" r="r" b="b"/>
              <a:pathLst>
                <a:path w="2781300" h="537210">
                  <a:moveTo>
                    <a:pt x="0" y="0"/>
                  </a:moveTo>
                  <a:lnTo>
                    <a:pt x="2781300" y="5372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6096000" y="3136582"/>
              <a:ext cx="4635818" cy="537210"/>
            </a:xfrm>
            <a:custGeom>
              <a:avLst/>
              <a:gdLst/>
              <a:ahLst/>
              <a:cxnLst/>
              <a:rect l="l" t="t" r="r" b="b"/>
              <a:pathLst>
                <a:path w="4635818" h="537210">
                  <a:moveTo>
                    <a:pt x="0" y="0"/>
                  </a:moveTo>
                  <a:lnTo>
                    <a:pt x="4635818" y="53721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1132522" y="3346132"/>
              <a:ext cx="655320" cy="65532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1" name="Ellipse 41"/>
            <p:cNvSpPr/>
            <p:nvPr/>
          </p:nvSpPr>
          <p:spPr>
            <a:xfrm>
              <a:off x="2987040" y="3346132"/>
              <a:ext cx="655320" cy="65532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2" name="Ellipse 42"/>
            <p:cNvSpPr/>
            <p:nvPr/>
          </p:nvSpPr>
          <p:spPr>
            <a:xfrm>
              <a:off x="4841558" y="3346132"/>
              <a:ext cx="655320" cy="65532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3" name="Ellipse 43"/>
            <p:cNvSpPr/>
            <p:nvPr/>
          </p:nvSpPr>
          <p:spPr>
            <a:xfrm>
              <a:off x="6695122" y="3346132"/>
              <a:ext cx="655320" cy="65532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4" name="Ellipse 44"/>
            <p:cNvSpPr/>
            <p:nvPr/>
          </p:nvSpPr>
          <p:spPr>
            <a:xfrm>
              <a:off x="8549640" y="3346132"/>
              <a:ext cx="655320" cy="65532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5" name="Ellipse 45"/>
            <p:cNvSpPr/>
            <p:nvPr/>
          </p:nvSpPr>
          <p:spPr>
            <a:xfrm>
              <a:off x="10404158" y="3346132"/>
              <a:ext cx="655320" cy="65532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6" name="Ellipse 46"/>
            <p:cNvSpPr/>
            <p:nvPr/>
          </p:nvSpPr>
          <p:spPr>
            <a:xfrm>
              <a:off x="5768340" y="2808923"/>
              <a:ext cx="655320" cy="65532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188241" y="3613309"/>
              <a:ext cx="5438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添加 3.1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042759" y="3613309"/>
              <a:ext cx="5438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删除 3.2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4897276" y="3613309"/>
              <a:ext cx="5438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 3.3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750841" y="3613309"/>
              <a:ext cx="5438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修改 3.4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605359" y="3613309"/>
              <a:ext cx="5438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合并 3.5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459876" y="3613309"/>
              <a:ext cx="5438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列表 3.6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824059" y="3076099"/>
              <a:ext cx="5438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编辑 3.0</a:t>
              </a:r>
            </a:p>
          </p:txBody>
        </p:sp>
      </p:grpSp>
      <p:grpSp>
        <p:nvGrpSpPr>
          <p:cNvPr id="63" name="c1-kv-3"/>
          <p:cNvGrpSpPr/>
          <p:nvPr/>
        </p:nvGrpSpPr>
        <p:grpSpPr>
          <a:xfrm>
            <a:off x="526161" y="4146709"/>
            <a:ext cx="11132439" cy="1378839"/>
            <a:chOff x="526161" y="4146709"/>
            <a:chExt cx="11132439" cy="1378839"/>
          </a:xfrm>
        </p:grpSpPr>
        <p:sp>
          <p:nvSpPr>
            <p:cNvPr id="55" name="TextBox 55"/>
            <p:cNvSpPr txBox="1"/>
            <p:nvPr/>
          </p:nvSpPr>
          <p:spPr>
            <a:xfrm>
              <a:off x="526161" y="4146709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层次图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445324" y="4146709"/>
              <a:ext cx="823437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一个矩形框代表一个模块，方框间的连线表示调用关系；很适合在自顶向下设计软件的过程中使用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33400" y="444912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526161" y="4562951"/>
              <a:ext cx="38590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H 图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445324" y="4562951"/>
              <a:ext cx="670509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为增加可追踪性，除最顶层方框外每个方框都加上编号，就得到带编号的层次图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533400" y="486537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526161" y="4979194"/>
              <a:ext cx="72523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HIPO 图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445324" y="4979194"/>
              <a:ext cx="9689719" cy="5463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"层次图加输入／处理／输出图"的英文缩写，由 IBM 公司发明；和 H 图中每个方框相对应，有一张 IPO 图描绘这个模块的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处理过程，IPO 图上标出对应的编号</a:t>
              </a:r>
            </a:p>
          </p:txBody>
        </p:sp>
      </p:grpSp>
      <p:grpSp>
        <p:nvGrpSpPr>
          <p:cNvPr id="70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64" name="Rectangle 64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8" name="Group 68"/>
            <p:cNvGrpSpPr/>
            <p:nvPr/>
          </p:nvGrpSpPr>
          <p:grpSpPr>
            <a:xfrm>
              <a:off x="738188" y="6011228"/>
              <a:ext cx="200026" cy="200026"/>
              <a:chOff x="738188" y="6011228"/>
              <a:chExt cx="200026" cy="200026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738188" y="60112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38200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827088" y="61112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9" name="TextBox 69"/>
            <p:cNvSpPr txBox="1"/>
            <p:nvPr/>
          </p:nvSpPr>
          <p:spPr>
            <a:xfrm>
              <a:off x="1040511" y="6011704"/>
              <a:ext cx="69153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层次图只说明"谁调用谁"，不说明模块之间传什么数据，要看数据就得用结构图。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1" name="TextBox 71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描绘软件结构的图形工具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结构图：不但画调用，还画传什么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1" name="c1-graph-1"/>
          <p:cNvGrpSpPr/>
          <p:nvPr/>
        </p:nvGrpSpPr>
        <p:grpSpPr>
          <a:xfrm>
            <a:off x="797624" y="1775460"/>
            <a:ext cx="3320391" cy="1646301"/>
            <a:chOff x="797624" y="1775460"/>
            <a:chExt cx="3320391" cy="1646301"/>
          </a:xfrm>
        </p:grpSpPr>
        <p:sp>
          <p:nvSpPr>
            <p:cNvPr id="7" name="Freeform 7"/>
            <p:cNvSpPr/>
            <p:nvPr/>
          </p:nvSpPr>
          <p:spPr>
            <a:xfrm>
              <a:off x="2816860" y="2095500"/>
              <a:ext cx="217805" cy="923925"/>
            </a:xfrm>
            <a:custGeom>
              <a:avLst/>
              <a:gdLst/>
              <a:ahLst/>
              <a:cxnLst/>
              <a:rect l="l" t="t" r="r" b="b"/>
              <a:pathLst>
                <a:path w="217805" h="923925">
                  <a:moveTo>
                    <a:pt x="217805" y="0"/>
                  </a:moveTo>
                  <a:cubicBezTo>
                    <a:pt x="16510" y="335280"/>
                    <a:pt x="0" y="643255"/>
                    <a:pt x="168275" y="923925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944178" y="2995612"/>
              <a:ext cx="90488" cy="105728"/>
            </a:xfrm>
            <a:custGeom>
              <a:avLst/>
              <a:gdLst/>
              <a:ahLst/>
              <a:cxnLst/>
              <a:rect l="l" t="t" r="r" b="b"/>
              <a:pathLst>
                <a:path w="90488" h="105728">
                  <a:moveTo>
                    <a:pt x="90488" y="105728"/>
                  </a:moveTo>
                  <a:lnTo>
                    <a:pt x="0" y="48578"/>
                  </a:lnTo>
                  <a:lnTo>
                    <a:pt x="81915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3226118" y="2177415"/>
              <a:ext cx="217805" cy="923925"/>
            </a:xfrm>
            <a:custGeom>
              <a:avLst/>
              <a:gdLst/>
              <a:ahLst/>
              <a:cxnLst/>
              <a:rect l="l" t="t" r="r" b="b"/>
              <a:pathLst>
                <a:path w="217805" h="923925">
                  <a:moveTo>
                    <a:pt x="0" y="923925"/>
                  </a:moveTo>
                  <a:cubicBezTo>
                    <a:pt x="201295" y="588645"/>
                    <a:pt x="217805" y="280670"/>
                    <a:pt x="49530" y="0"/>
                  </a:cubicBez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226118" y="2095500"/>
              <a:ext cx="90488" cy="105727"/>
            </a:xfrm>
            <a:custGeom>
              <a:avLst/>
              <a:gdLst/>
              <a:ahLst/>
              <a:cxnLst/>
              <a:rect l="l" t="t" r="r" b="b"/>
              <a:pathLst>
                <a:path w="90488" h="105727">
                  <a:moveTo>
                    <a:pt x="0" y="0"/>
                  </a:moveTo>
                  <a:lnTo>
                    <a:pt x="90488" y="57150"/>
                  </a:lnTo>
                  <a:lnTo>
                    <a:pt x="8573" y="105727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2177415" y="1775460"/>
              <a:ext cx="1905000" cy="320040"/>
            </a:xfrm>
            <a:prstGeom prst="roundRect">
              <a:avLst>
                <a:gd name="adj" fmla="val 2976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2177415" y="3101340"/>
              <a:ext cx="1905000" cy="320040"/>
            </a:xfrm>
            <a:prstGeom prst="roundRect">
              <a:avLst>
                <a:gd name="adj" fmla="val 29762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563017" y="1861185"/>
              <a:ext cx="11337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查询学生成绩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563017" y="3187065"/>
              <a:ext cx="113379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查找学生记录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2721292" y="2505075"/>
              <a:ext cx="32480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746337" y="253984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学号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2645092" y="2505075"/>
              <a:ext cx="1463992" cy="173355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2637116" y="2539841"/>
              <a:ext cx="1480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记录地址 · 查找成功信号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68299" y="1822132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调用模块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97624" y="3148012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被调用模块</a:t>
              </a:r>
            </a:p>
          </p:txBody>
        </p:sp>
      </p:grpSp>
      <p:grpSp>
        <p:nvGrpSpPr>
          <p:cNvPr id="27" name="c1-kv-2"/>
          <p:cNvGrpSpPr/>
          <p:nvPr/>
        </p:nvGrpSpPr>
        <p:grpSpPr>
          <a:xfrm>
            <a:off x="525780" y="4025265"/>
            <a:ext cx="5201602" cy="733425"/>
            <a:chOff x="525780" y="4025265"/>
            <a:chExt cx="5201602" cy="733425"/>
          </a:xfrm>
        </p:grpSpPr>
        <p:sp>
          <p:nvSpPr>
            <p:cNvPr id="22" name="TextBox 22"/>
            <p:cNvSpPr txBox="1"/>
            <p:nvPr/>
          </p:nvSpPr>
          <p:spPr>
            <a:xfrm>
              <a:off x="525780" y="40252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数据信息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566862" y="4025265"/>
              <a:ext cx="40942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尾端是空心圆的箭头，例如"学号""记录地址"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434530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25780" y="446532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控制信息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566862" y="4465320"/>
              <a:ext cx="38721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尾端是实心圆的箭头，例如"查找成功信号"</a:t>
              </a:r>
            </a:p>
          </p:txBody>
        </p:sp>
      </p:grpSp>
      <p:grpSp>
        <p:nvGrpSpPr>
          <p:cNvPr id="42" name="c2-flow-1"/>
          <p:cNvGrpSpPr/>
          <p:nvPr/>
        </p:nvGrpSpPr>
        <p:grpSpPr>
          <a:xfrm>
            <a:off x="6165532" y="1590675"/>
            <a:ext cx="5359718" cy="1581150"/>
            <a:chOff x="6165532" y="1590675"/>
            <a:chExt cx="5359718" cy="1581150"/>
          </a:xfrm>
        </p:grpSpPr>
        <p:sp>
          <p:nvSpPr>
            <p:cNvPr id="28" name="Freeform 28"/>
            <p:cNvSpPr/>
            <p:nvPr/>
          </p:nvSpPr>
          <p:spPr>
            <a:xfrm>
              <a:off x="8844915" y="1975485"/>
              <a:ext cx="9525" cy="53340"/>
            </a:xfrm>
            <a:custGeom>
              <a:avLst/>
              <a:gdLst/>
              <a:ahLst/>
              <a:cxnLst/>
              <a:rect l="l" t="t" r="r" b="b"/>
              <a:pathLst>
                <a:path w="9525" h="53340">
                  <a:moveTo>
                    <a:pt x="0" y="5334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8792528" y="197548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6969442" y="2628900"/>
              <a:ext cx="1875472" cy="79058"/>
            </a:xfrm>
            <a:custGeom>
              <a:avLst/>
              <a:gdLst/>
              <a:ahLst/>
              <a:cxnLst/>
              <a:rect l="l" t="t" r="r" b="b"/>
              <a:pathLst>
                <a:path w="1875472" h="79058">
                  <a:moveTo>
                    <a:pt x="1875472" y="53340"/>
                  </a:moveTo>
                  <a:lnTo>
                    <a:pt x="1875472" y="79058"/>
                  </a:lnTo>
                  <a:lnTo>
                    <a:pt x="0" y="79058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6917055" y="26289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8844915" y="2628900"/>
              <a:ext cx="1875472" cy="79058"/>
            </a:xfrm>
            <a:custGeom>
              <a:avLst/>
              <a:gdLst/>
              <a:ahLst/>
              <a:cxnLst/>
              <a:rect l="l" t="t" r="r" b="b"/>
              <a:pathLst>
                <a:path w="1875472" h="79058">
                  <a:moveTo>
                    <a:pt x="0" y="53340"/>
                  </a:moveTo>
                  <a:lnTo>
                    <a:pt x="0" y="79058"/>
                  </a:lnTo>
                  <a:lnTo>
                    <a:pt x="1875472" y="79058"/>
                  </a:lnTo>
                  <a:lnTo>
                    <a:pt x="1875472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10668000" y="26289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8041005" y="1590675"/>
              <a:ext cx="16087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8041005" y="2080260"/>
              <a:ext cx="1608772" cy="601980"/>
            </a:xfrm>
            <a:custGeom>
              <a:avLst/>
              <a:gdLst/>
              <a:ahLst/>
              <a:cxnLst/>
              <a:rect l="l" t="t" r="r" b="b"/>
              <a:pathLst>
                <a:path w="1608772" h="601980">
                  <a:moveTo>
                    <a:pt x="803910" y="0"/>
                  </a:moveTo>
                  <a:lnTo>
                    <a:pt x="1608772" y="300990"/>
                  </a:lnTo>
                  <a:lnTo>
                    <a:pt x="803910" y="601980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6165532" y="2733675"/>
              <a:ext cx="16087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9916478" y="2733675"/>
              <a:ext cx="16087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88370" y="1720691"/>
              <a:ext cx="1130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666124" y="229219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912897" y="2863691"/>
              <a:ext cx="1130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663842" y="2863691"/>
              <a:ext cx="1130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</p:grpSp>
      <p:grpSp>
        <p:nvGrpSpPr>
          <p:cNvPr id="48" name="c2-kv-2"/>
          <p:cNvGrpSpPr/>
          <p:nvPr/>
        </p:nvGrpSpPr>
        <p:grpSpPr>
          <a:xfrm>
            <a:off x="6024562" y="3453765"/>
            <a:ext cx="5634038" cy="1297305"/>
            <a:chOff x="6024562" y="3453765"/>
            <a:chExt cx="5634038" cy="1297305"/>
          </a:xfrm>
        </p:grpSpPr>
        <p:sp>
          <p:nvSpPr>
            <p:cNvPr id="43" name="TextBox 43"/>
            <p:cNvSpPr txBox="1"/>
            <p:nvPr/>
          </p:nvSpPr>
          <p:spPr>
            <a:xfrm>
              <a:off x="6024562" y="345376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选择调用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065645" y="3453765"/>
              <a:ext cx="4311015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在调用线的起点画一个菱形，表示 A 按条件在 B、C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中选一个调用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032182" y="405574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024562" y="417576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循环调用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065645" y="4175760"/>
              <a:ext cx="4396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在调用线的起点画一段弧形箭头，表示下属的几个模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块被循环调用</a:t>
              </a:r>
            </a:p>
          </p:txBody>
        </p:sp>
      </p:grpSp>
      <p:grpSp>
        <p:nvGrpSpPr>
          <p:cNvPr id="54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49" name="Rectangle 49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738188" y="5871212"/>
              <a:ext cx="200023" cy="200023"/>
              <a:chOff x="738188" y="5871212"/>
              <a:chExt cx="200023" cy="200023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738188" y="58712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71538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1040130" y="5728335"/>
              <a:ext cx="100069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层次图、HIPO 图、结构图都描绘软件结构，和第二章的系统流程图（物理部件）、数据流图（逻辑模型）以及程序流程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图（模块内部控制流）都不是一回事。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描绘软件结构的图形工具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结构图里的四种模块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8" name="c1-table-1"/>
          <p:cNvGrpSpPr/>
          <p:nvPr/>
        </p:nvGrpSpPr>
        <p:grpSpPr>
          <a:xfrm>
            <a:off x="528066" y="1524000"/>
            <a:ext cx="6065139" cy="3468624"/>
            <a:chOff x="528066" y="1524000"/>
            <a:chExt cx="6065139" cy="3468624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63817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49998" y="175926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模块类型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921002" y="1759268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从哪里取数据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536632" y="1759268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把数据送到哪里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5189792" y="1652588"/>
              <a:ext cx="1231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80"/>
                </a:lnSpc>
              </a:pPr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传送的数据流叫什</a:t>
              </a:r>
              <a:br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5889" y="239649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传入模块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726502" y="239649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从下属模块取得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301937" y="2289810"/>
              <a:ext cx="15361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经过处理后送给上级模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120259" y="239649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逻辑输入数据流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79463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33400" y="2799398"/>
              <a:ext cx="6059805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5889" y="303466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传出模块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726502" y="303466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从上级模块获得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301937" y="2927985"/>
              <a:ext cx="15361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经过处理后送给下属模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120259" y="3034665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逻辑输出数据流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432810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5889" y="3672840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变换模块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726502" y="367284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从上级模块取得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301937" y="3566160"/>
              <a:ext cx="15361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转换成其它形式后送回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上级模块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20259" y="367284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变换数据流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407003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33400" y="4074795"/>
              <a:ext cx="6059805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5889" y="431006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协调模块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726502" y="431006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不直接加工数据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301937" y="4203382"/>
              <a:ext cx="15361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对所有下属模块进行协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调和管理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120259" y="431006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1524000"/>
              <a:ext cx="6059805" cy="31889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1619250" y="1524000"/>
              <a:ext cx="9525" cy="31889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3194685" y="1524000"/>
              <a:ext cx="9525" cy="31889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013008" y="1524000"/>
              <a:ext cx="9525" cy="31889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28066" y="4787265"/>
              <a:ext cx="29790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判断模块类型看数据的来去方向，不看模块名字</a:t>
              </a:r>
            </a:p>
          </p:txBody>
        </p:sp>
      </p:grpSp>
      <p:grpSp>
        <p:nvGrpSpPr>
          <p:cNvPr id="45" name="c1-callout-2"/>
          <p:cNvGrpSpPr/>
          <p:nvPr/>
        </p:nvGrpSpPr>
        <p:grpSpPr>
          <a:xfrm>
            <a:off x="533400" y="5132070"/>
            <a:ext cx="6059805" cy="1018222"/>
            <a:chOff x="533400" y="5132070"/>
            <a:chExt cx="6059805" cy="1018222"/>
          </a:xfrm>
        </p:grpSpPr>
        <p:sp>
          <p:nvSpPr>
            <p:cNvPr id="39" name="Rectangle 39"/>
            <p:cNvSpPr/>
            <p:nvPr/>
          </p:nvSpPr>
          <p:spPr>
            <a:xfrm>
              <a:off x="533400" y="5132070"/>
              <a:ext cx="6059805" cy="1018222"/>
            </a:xfrm>
            <a:prstGeom prst="roundRect">
              <a:avLst>
                <a:gd name="adj" fmla="val 11225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38188" y="5540693"/>
              <a:ext cx="200026" cy="200026"/>
              <a:chOff x="738188" y="5540693"/>
              <a:chExt cx="200026" cy="200026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738188" y="554069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38200" y="56073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27088" y="564070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040511" y="5279231"/>
              <a:ext cx="5063998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传入、传出都是相对上级模块说的：传入模块把数据往上送，传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出模块把数据往下送，方向弄反就会把结构图的输入端和输出端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读颠倒。</a:t>
              </a:r>
            </a:p>
          </p:txBody>
        </p:sp>
      </p:grpSp>
      <p:grpSp>
        <p:nvGrpSpPr>
          <p:cNvPr id="54" name="c2-card-1"/>
          <p:cNvGrpSpPr/>
          <p:nvPr/>
        </p:nvGrpSpPr>
        <p:grpSpPr>
          <a:xfrm>
            <a:off x="6898005" y="1524000"/>
            <a:ext cx="4760595" cy="2629852"/>
            <a:chOff x="6898005" y="1524000"/>
            <a:chExt cx="4760595" cy="2629852"/>
          </a:xfrm>
        </p:grpSpPr>
        <p:sp>
          <p:nvSpPr>
            <p:cNvPr id="46" name="Rectangle 46"/>
            <p:cNvSpPr/>
            <p:nvPr/>
          </p:nvSpPr>
          <p:spPr>
            <a:xfrm>
              <a:off x="6898005" y="1524000"/>
              <a:ext cx="4760595" cy="2629852"/>
            </a:xfrm>
            <a:prstGeom prst="roundRect">
              <a:avLst>
                <a:gd name="adj" fmla="val 507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907530" y="1657350"/>
              <a:ext cx="47625" cy="236315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7134225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225665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717536" y="1756886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原子模块与完全因子分解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126986" y="2100739"/>
              <a:ext cx="416229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在系统结构图中，不能再分解的底层模块称为原子模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块。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126986" y="2690336"/>
              <a:ext cx="416229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如果一个软件系统的全部实际加工都由原子模块来完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成，而其他所有非原子模块仅仅执行控制或协调功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能，这样的系统就是完全因子分解的系统。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128129" y="3547110"/>
              <a:ext cx="41269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完全因子分解的系统是理想化的，实际设计中都是尽量向这个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目标靠拢，不必强求。</a:t>
              </a:r>
            </a:p>
          </p:txBody>
        </p:sp>
      </p:grpSp>
      <p:grpSp>
        <p:nvGrpSpPr>
          <p:cNvPr id="61" name="c2-callout-2"/>
          <p:cNvGrpSpPr/>
          <p:nvPr/>
        </p:nvGrpSpPr>
        <p:grpSpPr>
          <a:xfrm>
            <a:off x="6898005" y="4333875"/>
            <a:ext cx="4760595" cy="1816418"/>
            <a:chOff x="6898005" y="4333875"/>
            <a:chExt cx="4760595" cy="1816418"/>
          </a:xfrm>
        </p:grpSpPr>
        <p:sp>
          <p:nvSpPr>
            <p:cNvPr id="55" name="Rectangle 55"/>
            <p:cNvSpPr/>
            <p:nvPr/>
          </p:nvSpPr>
          <p:spPr>
            <a:xfrm>
              <a:off x="6898005" y="4333875"/>
              <a:ext cx="4760595" cy="1816418"/>
            </a:xfrm>
            <a:prstGeom prst="roundRect">
              <a:avLst>
                <a:gd name="adj" fmla="val 629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7102793" y="5141595"/>
              <a:ext cx="200026" cy="200025"/>
              <a:chOff x="7102793" y="5141595"/>
              <a:chExt cx="200026" cy="20002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102793" y="51415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7142531" y="51860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7177247" y="52971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7405116" y="5011579"/>
              <a:ext cx="380161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变换模块管加工，协调模块只管调度，一个模块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如果既加工又调度，通常说明还可以再分。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4882896" cy="2997517"/>
            <a:chOff x="667512" y="1835468"/>
            <a:chExt cx="4882896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88289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面向数据流的设计方法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57073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把数据流图按固定套路映射成结构图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变换流与事务流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变换分析的七个步骤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两个完整实例与事务分析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面向数据流的设计方法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结构化设计的总流程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051320" cy="308039"/>
            <a:chOff x="525399" y="1550194"/>
            <a:chExt cx="9051320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05132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面向数据流的设计方法（SD 方法）把信息流映射成软件结构，信息流的类型决定了映射的方法。</a:t>
              </a:r>
            </a:p>
          </p:txBody>
        </p:sp>
      </p:grpSp>
      <p:grpSp>
        <p:nvGrpSpPr>
          <p:cNvPr id="28" name="c1-bullets-1"/>
          <p:cNvGrpSpPr/>
          <p:nvPr/>
        </p:nvGrpSpPr>
        <p:grpSpPr>
          <a:xfrm>
            <a:off x="525780" y="1992630"/>
            <a:ext cx="3554730" cy="2371725"/>
            <a:chOff x="525780" y="1992630"/>
            <a:chExt cx="3554730" cy="2371725"/>
          </a:xfrm>
        </p:grpSpPr>
        <p:sp>
          <p:nvSpPr>
            <p:cNvPr id="9" name="TextBox 9"/>
            <p:cNvSpPr txBox="1"/>
            <p:nvPr/>
          </p:nvSpPr>
          <p:spPr>
            <a:xfrm>
              <a:off x="525780" y="1992630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基本过程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33362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95249" y="237591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4390" y="2346960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研究、分析和审查数据流图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67843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95249" y="27207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4390" y="269176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根据数据流图决定问题的类型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02323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95249" y="306552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4390" y="303657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由数据流图推导出系统的初始结构图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336804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95249" y="341033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4390" y="338137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根据启发规则对结构进行细化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3400" y="371284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95249" y="375513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4390" y="372618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修改和补充数据字典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33400" y="405765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95249" y="409994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4390" y="407098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制定测试计划</a:t>
              </a:r>
            </a:p>
          </p:txBody>
        </p:sp>
      </p:grpSp>
      <p:grpSp>
        <p:nvGrpSpPr>
          <p:cNvPr id="35" name="c1-callout-2"/>
          <p:cNvGrpSpPr/>
          <p:nvPr/>
        </p:nvGrpSpPr>
        <p:grpSpPr>
          <a:xfrm>
            <a:off x="533400" y="4495800"/>
            <a:ext cx="4544378" cy="1282065"/>
            <a:chOff x="533400" y="4495800"/>
            <a:chExt cx="4544378" cy="1282065"/>
          </a:xfrm>
        </p:grpSpPr>
        <p:sp>
          <p:nvSpPr>
            <p:cNvPr id="29" name="Rectangle 29"/>
            <p:cNvSpPr/>
            <p:nvPr/>
          </p:nvSpPr>
          <p:spPr>
            <a:xfrm>
              <a:off x="533400" y="4495800"/>
              <a:ext cx="4544378" cy="1282065"/>
            </a:xfrm>
            <a:prstGeom prst="roundRect">
              <a:avLst>
                <a:gd name="adj" fmla="val 891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3" name="Group 33"/>
            <p:cNvGrpSpPr/>
            <p:nvPr/>
          </p:nvGrpSpPr>
          <p:grpSpPr>
            <a:xfrm>
              <a:off x="738188" y="5036820"/>
              <a:ext cx="200026" cy="200025"/>
              <a:chOff x="738188" y="5036820"/>
              <a:chExt cx="200026" cy="200025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738188" y="503682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777926" y="508127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812642" y="519239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4" name="TextBox 34"/>
            <p:cNvSpPr txBox="1"/>
            <p:nvPr/>
          </p:nvSpPr>
          <p:spPr>
            <a:xfrm>
              <a:off x="1040130" y="4893945"/>
              <a:ext cx="3634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信息流分成变换流和事务流两类，先判类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型，再选映射方法，这是整套方法的主干。</a:t>
              </a:r>
            </a:p>
          </p:txBody>
        </p:sp>
      </p:grpSp>
      <p:grpSp>
        <p:nvGrpSpPr>
          <p:cNvPr id="76" name="c2-flow-1"/>
          <p:cNvGrpSpPr/>
          <p:nvPr/>
        </p:nvGrpSpPr>
        <p:grpSpPr>
          <a:xfrm>
            <a:off x="5529262" y="2020252"/>
            <a:ext cx="5982652" cy="3800475"/>
            <a:chOff x="5529262" y="2020252"/>
            <a:chExt cx="5982652" cy="3800475"/>
          </a:xfrm>
        </p:grpSpPr>
        <p:sp>
          <p:nvSpPr>
            <p:cNvPr id="36" name="Freeform 36"/>
            <p:cNvSpPr/>
            <p:nvPr/>
          </p:nvSpPr>
          <p:spPr>
            <a:xfrm>
              <a:off x="7433310" y="2784158"/>
              <a:ext cx="187643" cy="543877"/>
            </a:xfrm>
            <a:custGeom>
              <a:avLst/>
              <a:gdLst/>
              <a:ahLst/>
              <a:cxnLst/>
              <a:rect l="l" t="t" r="r" b="b"/>
              <a:pathLst>
                <a:path w="187643" h="543877">
                  <a:moveTo>
                    <a:pt x="187643" y="0"/>
                  </a:moveTo>
                  <a:lnTo>
                    <a:pt x="40958" y="0"/>
                  </a:lnTo>
                  <a:lnTo>
                    <a:pt x="40958" y="543877"/>
                  </a:lnTo>
                  <a:lnTo>
                    <a:pt x="0" y="54387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7328535" y="327564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>
            <a:xfrm>
              <a:off x="9420225" y="2784158"/>
              <a:ext cx="187643" cy="543877"/>
            </a:xfrm>
            <a:custGeom>
              <a:avLst/>
              <a:gdLst/>
              <a:ahLst/>
              <a:cxnLst/>
              <a:rect l="l" t="t" r="r" b="b"/>
              <a:pathLst>
                <a:path w="187643" h="543877">
                  <a:moveTo>
                    <a:pt x="0" y="0"/>
                  </a:moveTo>
                  <a:lnTo>
                    <a:pt x="146685" y="0"/>
                  </a:lnTo>
                  <a:lnTo>
                    <a:pt x="146685" y="543877"/>
                  </a:lnTo>
                  <a:lnTo>
                    <a:pt x="187643" y="54387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9607868" y="327564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8521065" y="2378392"/>
              <a:ext cx="9525" cy="80010"/>
            </a:xfrm>
            <a:custGeom>
              <a:avLst/>
              <a:gdLst/>
              <a:ahLst/>
              <a:cxnLst/>
              <a:rect l="l" t="t" r="r" b="b"/>
              <a:pathLst>
                <a:path w="9525" h="80010">
                  <a:moveTo>
                    <a:pt x="0" y="8001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8468678" y="237839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6428422" y="3549015"/>
              <a:ext cx="9525" cy="94297"/>
            </a:xfrm>
            <a:custGeom>
              <a:avLst/>
              <a:gdLst/>
              <a:ahLst/>
              <a:cxnLst/>
              <a:rect l="l" t="t" r="r" b="b"/>
              <a:pathLst>
                <a:path w="9525" h="94297">
                  <a:moveTo>
                    <a:pt x="0" y="94297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6376035" y="35490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10612755" y="3549015"/>
              <a:ext cx="9525" cy="94297"/>
            </a:xfrm>
            <a:custGeom>
              <a:avLst/>
              <a:gdLst/>
              <a:ahLst/>
              <a:cxnLst/>
              <a:rect l="l" t="t" r="r" b="b"/>
              <a:pathLst>
                <a:path w="9525" h="94297">
                  <a:moveTo>
                    <a:pt x="0" y="94297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10560368" y="354901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6" name="Freeform 46"/>
            <p:cNvSpPr/>
            <p:nvPr/>
          </p:nvSpPr>
          <p:spPr>
            <a:xfrm>
              <a:off x="6428422" y="3997642"/>
              <a:ext cx="2092643" cy="99060"/>
            </a:xfrm>
            <a:custGeom>
              <a:avLst/>
              <a:gdLst/>
              <a:ahLst/>
              <a:cxnLst/>
              <a:rect l="l" t="t" r="r" b="b"/>
              <a:pathLst>
                <a:path w="2092643" h="99060">
                  <a:moveTo>
                    <a:pt x="0" y="94298"/>
                  </a:moveTo>
                  <a:lnTo>
                    <a:pt x="0" y="99060"/>
                  </a:lnTo>
                  <a:lnTo>
                    <a:pt x="2092643" y="99060"/>
                  </a:lnTo>
                  <a:lnTo>
                    <a:pt x="2092643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8468678" y="399764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48" name="Freeform 48"/>
            <p:cNvSpPr/>
            <p:nvPr/>
          </p:nvSpPr>
          <p:spPr>
            <a:xfrm>
              <a:off x="8521065" y="3997642"/>
              <a:ext cx="2091690" cy="99060"/>
            </a:xfrm>
            <a:custGeom>
              <a:avLst/>
              <a:gdLst/>
              <a:ahLst/>
              <a:cxnLst/>
              <a:rect l="l" t="t" r="r" b="b"/>
              <a:pathLst>
                <a:path w="2091690" h="99060">
                  <a:moveTo>
                    <a:pt x="2091690" y="94298"/>
                  </a:moveTo>
                  <a:lnTo>
                    <a:pt x="2091690" y="99060"/>
                  </a:lnTo>
                  <a:lnTo>
                    <a:pt x="0" y="99060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8468678" y="399764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0" name="Freeform 50"/>
            <p:cNvSpPr/>
            <p:nvPr/>
          </p:nvSpPr>
          <p:spPr>
            <a:xfrm>
              <a:off x="7620952" y="4416742"/>
              <a:ext cx="1694497" cy="543877"/>
            </a:xfrm>
            <a:custGeom>
              <a:avLst/>
              <a:gdLst/>
              <a:ahLst/>
              <a:cxnLst/>
              <a:rect l="l" t="t" r="r" b="b"/>
              <a:pathLst>
                <a:path w="1694497" h="543877">
                  <a:moveTo>
                    <a:pt x="0" y="0"/>
                  </a:moveTo>
                  <a:lnTo>
                    <a:pt x="900112" y="0"/>
                  </a:lnTo>
                  <a:lnTo>
                    <a:pt x="900112" y="543877"/>
                  </a:lnTo>
                  <a:lnTo>
                    <a:pt x="1694497" y="54387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9315450" y="490823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2" name="Freeform 52"/>
            <p:cNvSpPr/>
            <p:nvPr/>
          </p:nvSpPr>
          <p:spPr>
            <a:xfrm>
              <a:off x="7620952" y="4960620"/>
              <a:ext cx="1694497" cy="544830"/>
            </a:xfrm>
            <a:custGeom>
              <a:avLst/>
              <a:gdLst/>
              <a:ahLst/>
              <a:cxnLst/>
              <a:rect l="l" t="t" r="r" b="b"/>
              <a:pathLst>
                <a:path w="1694497" h="544830">
                  <a:moveTo>
                    <a:pt x="0" y="0"/>
                  </a:moveTo>
                  <a:lnTo>
                    <a:pt x="900112" y="0"/>
                  </a:lnTo>
                  <a:lnTo>
                    <a:pt x="900112" y="544830"/>
                  </a:lnTo>
                  <a:lnTo>
                    <a:pt x="1694497" y="54483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9315450" y="54530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7620952" y="2020252"/>
              <a:ext cx="17992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7620952" y="2483168"/>
              <a:ext cx="1799272" cy="601028"/>
            </a:xfrm>
            <a:custGeom>
              <a:avLst/>
              <a:gdLst/>
              <a:ahLst/>
              <a:cxnLst/>
              <a:rect l="l" t="t" r="r" b="b"/>
              <a:pathLst>
                <a:path w="1799272" h="601028">
                  <a:moveTo>
                    <a:pt x="900112" y="0"/>
                  </a:moveTo>
                  <a:lnTo>
                    <a:pt x="1799272" y="300990"/>
                  </a:lnTo>
                  <a:lnTo>
                    <a:pt x="900112" y="601028"/>
                  </a:lnTo>
                  <a:lnTo>
                    <a:pt x="0" y="300990"/>
                  </a:lnTo>
                  <a:close/>
                </a:path>
              </a:pathLst>
            </a:custGeom>
            <a:solidFill>
              <a:srgbClr val="FDEEE7"/>
            </a:solidFill>
            <a:ln w="15240">
              <a:solidFill>
                <a:srgbClr val="F26B3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5529262" y="3013710"/>
              <a:ext cx="1799272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9712642" y="3013710"/>
              <a:ext cx="1799272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5529262" y="3653790"/>
              <a:ext cx="17992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9712642" y="3653790"/>
              <a:ext cx="1799272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7620952" y="4102418"/>
              <a:ext cx="1799272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7620952" y="4646295"/>
              <a:ext cx="1799272" cy="629602"/>
            </a:xfrm>
            <a:prstGeom prst="roundRect">
              <a:avLst>
                <a:gd name="adj" fmla="val 1512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7620952" y="5191125"/>
              <a:ext cx="1799272" cy="629602"/>
            </a:xfrm>
            <a:prstGeom prst="roundRect">
              <a:avLst>
                <a:gd name="adj" fmla="val 49924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997647" y="215026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精化数据流图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256118" y="2695099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流类型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5771706" y="3129439"/>
              <a:ext cx="13134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区分事务中心和接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收通路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9956038" y="3129439"/>
              <a:ext cx="13134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区分输入和输出分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支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818848" y="378380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映射成事务结构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0003180" y="378380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映射成变换结构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864348" y="4218146"/>
              <a:ext cx="13134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用启发规则精化软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件结构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864348" y="4762976"/>
              <a:ext cx="13134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导出接口描述和全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程数据结构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864348" y="5306854"/>
              <a:ext cx="1313434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复查后进入详细设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计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7502842" y="2964180"/>
              <a:ext cx="4953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7526084" y="299085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事务流</a:t>
              </a:r>
            </a:p>
          </p:txBody>
        </p:sp>
        <p:sp>
          <p:nvSpPr>
            <p:cNvPr id="74" name="Rectangle 74"/>
            <p:cNvSpPr/>
            <p:nvPr/>
          </p:nvSpPr>
          <p:spPr>
            <a:xfrm>
              <a:off x="9595485" y="2964180"/>
              <a:ext cx="49530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5" name="TextBox 75"/>
            <p:cNvSpPr txBox="1"/>
            <p:nvPr/>
          </p:nvSpPr>
          <p:spPr>
            <a:xfrm>
              <a:off x="9618726" y="2990850"/>
              <a:ext cx="43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变换流</a:t>
              </a:r>
            </a:p>
          </p:txBody>
        </p:sp>
      </p:grpSp>
      <p:grpSp>
        <p:nvGrpSpPr>
          <p:cNvPr id="7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7" name="TextBox 77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854262" cy="909257"/>
            <a:chOff x="520446" y="342900"/>
            <a:chExt cx="285426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面向数据流的设计方法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4288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变换流与事务流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443038"/>
            <a:chOff x="533400" y="1524000"/>
            <a:chExt cx="5410200" cy="144303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443038"/>
            </a:xfrm>
            <a:prstGeom prst="roundRect">
              <a:avLst>
                <a:gd name="adj" fmla="val 92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17633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6811" y="1743551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变换流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48143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信息沿输入通路进入系统，同时由外部形式变换成内部形式；进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入系统的信息通过变换中心，经加工处理以后再沿输出通路变换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成外部形式离开软件系统。</a:t>
              </a:r>
            </a:p>
          </p:txBody>
        </p:sp>
      </p:grpSp>
      <p:grpSp>
        <p:nvGrpSpPr>
          <p:cNvPr id="28" name="c1-graph-2"/>
          <p:cNvGrpSpPr/>
          <p:nvPr/>
        </p:nvGrpSpPr>
        <p:grpSpPr>
          <a:xfrm>
            <a:off x="775335" y="3259455"/>
            <a:ext cx="4926330" cy="751142"/>
            <a:chOff x="775335" y="3259455"/>
            <a:chExt cx="4926330" cy="751142"/>
          </a:xfrm>
        </p:grpSpPr>
        <p:sp>
          <p:nvSpPr>
            <p:cNvPr id="13" name="Freeform 13"/>
            <p:cNvSpPr/>
            <p:nvPr/>
          </p:nvSpPr>
          <p:spPr>
            <a:xfrm>
              <a:off x="1697355" y="3870008"/>
              <a:ext cx="984885" cy="9525"/>
            </a:xfrm>
            <a:custGeom>
              <a:avLst/>
              <a:gdLst/>
              <a:ahLst/>
              <a:cxnLst/>
              <a:rect l="l" t="t" r="r" b="b"/>
              <a:pathLst>
                <a:path w="984885" h="9525">
                  <a:moveTo>
                    <a:pt x="0" y="0"/>
                  </a:moveTo>
                  <a:lnTo>
                    <a:pt x="98488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682240" y="382238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3699510" y="3870008"/>
              <a:ext cx="984885" cy="9525"/>
            </a:xfrm>
            <a:custGeom>
              <a:avLst/>
              <a:gdLst/>
              <a:ahLst/>
              <a:cxnLst/>
              <a:rect l="l" t="t" r="r" b="b"/>
              <a:pathLst>
                <a:path w="984885" h="9525">
                  <a:moveTo>
                    <a:pt x="0" y="0"/>
                  </a:moveTo>
                  <a:lnTo>
                    <a:pt x="98488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684395" y="3822382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75335" y="3729990"/>
              <a:ext cx="922020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2777490" y="3729990"/>
              <a:ext cx="922020" cy="280035"/>
            </a:xfrm>
            <a:prstGeom prst="roundRect">
              <a:avLst>
                <a:gd name="adj" fmla="val 34014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779645" y="3729990"/>
              <a:ext cx="922020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8309" y="380523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外部表示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950464" y="380523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变换中心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952619" y="380523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外部表示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2043112" y="3791902"/>
              <a:ext cx="38862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067077" y="3820954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输入流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045268" y="3791902"/>
              <a:ext cx="38862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069232" y="3820954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输出流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991422" y="325945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内部表示</a:t>
              </a:r>
            </a:p>
          </p:txBody>
        </p:sp>
      </p:grpSp>
      <p:grpSp>
        <p:nvGrpSpPr>
          <p:cNvPr id="30" name="c1-text-3"/>
          <p:cNvGrpSpPr/>
          <p:nvPr/>
        </p:nvGrpSpPr>
        <p:grpSpPr>
          <a:xfrm>
            <a:off x="527685" y="4792504"/>
            <a:ext cx="4989830" cy="441008"/>
            <a:chOff x="527685" y="4792504"/>
            <a:chExt cx="4989830" cy="441008"/>
          </a:xfrm>
        </p:grpSpPr>
        <p:sp>
          <p:nvSpPr>
            <p:cNvPr id="29" name="TextBox 29"/>
            <p:cNvSpPr txBox="1"/>
            <p:nvPr/>
          </p:nvSpPr>
          <p:spPr>
            <a:xfrm>
              <a:off x="527685" y="4792504"/>
              <a:ext cx="4989830" cy="4410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变换型系统结构图由输入、变换中心和输出三部分组成，对应取得数据、变换数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据、给出数据三步。</a:t>
              </a:r>
            </a:p>
          </p:txBody>
        </p:sp>
      </p:grpSp>
      <p:grpSp>
        <p:nvGrpSpPr>
          <p:cNvPr id="45" name="c2-card-1"/>
          <p:cNvGrpSpPr/>
          <p:nvPr/>
        </p:nvGrpSpPr>
        <p:grpSpPr>
          <a:xfrm>
            <a:off x="6248400" y="1524000"/>
            <a:ext cx="5410200" cy="2085975"/>
            <a:chOff x="6248400" y="1524000"/>
            <a:chExt cx="5410200" cy="2085975"/>
          </a:xfrm>
        </p:grpSpPr>
        <p:sp>
          <p:nvSpPr>
            <p:cNvPr id="31" name="Rectangle 31"/>
            <p:cNvSpPr/>
            <p:nvPr/>
          </p:nvSpPr>
          <p:spPr>
            <a:xfrm>
              <a:off x="6248400" y="1524000"/>
              <a:ext cx="5410200" cy="2085975"/>
            </a:xfrm>
            <a:prstGeom prst="roundRect">
              <a:avLst>
                <a:gd name="adj" fmla="val 639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57925" y="1657350"/>
              <a:ext cx="47625" cy="181927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6473190" y="1710690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61811" y="1743551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事务流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66332" y="2054542"/>
              <a:ext cx="478859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数据沿输入通路到达处理 T，T 根据输入数据的类型在若干动作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序列中选一个执行。这类信息流称为事务流，T 称为事务中心。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473190" y="2600325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528868" y="263871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753987" y="2612708"/>
              <a:ext cx="33031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接收输入数据（又称事务 transaction）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473190" y="290036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528868" y="293874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753987" y="291274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分析每个事务以确定它的类型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6473190" y="3200400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28868" y="323878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753987" y="3212782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根据事务类型选取一条活动通路</a:t>
              </a:r>
            </a:p>
          </p:txBody>
        </p:sp>
      </p:grpSp>
      <p:grpSp>
        <p:nvGrpSpPr>
          <p:cNvPr id="65" name="c2-graph-2"/>
          <p:cNvGrpSpPr/>
          <p:nvPr/>
        </p:nvGrpSpPr>
        <p:grpSpPr>
          <a:xfrm>
            <a:off x="6478905" y="3908108"/>
            <a:ext cx="4583430" cy="1493519"/>
            <a:chOff x="6478905" y="3908108"/>
            <a:chExt cx="4583430" cy="1493519"/>
          </a:xfrm>
        </p:grpSpPr>
        <p:sp>
          <p:nvSpPr>
            <p:cNvPr id="46" name="Freeform 46"/>
            <p:cNvSpPr/>
            <p:nvPr/>
          </p:nvSpPr>
          <p:spPr>
            <a:xfrm>
              <a:off x="7099935" y="4618672"/>
              <a:ext cx="851535" cy="9525"/>
            </a:xfrm>
            <a:custGeom>
              <a:avLst/>
              <a:gdLst/>
              <a:ahLst/>
              <a:cxnLst/>
              <a:rect l="l" t="t" r="r" b="b"/>
              <a:pathLst>
                <a:path w="851535" h="9525">
                  <a:moveTo>
                    <a:pt x="0" y="0"/>
                  </a:moveTo>
                  <a:lnTo>
                    <a:pt x="85153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7951470" y="457104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8" name="Freeform 48"/>
            <p:cNvSpPr/>
            <p:nvPr/>
          </p:nvSpPr>
          <p:spPr>
            <a:xfrm>
              <a:off x="8554402" y="4161472"/>
              <a:ext cx="1660208" cy="397193"/>
            </a:xfrm>
            <a:custGeom>
              <a:avLst/>
              <a:gdLst/>
              <a:ahLst/>
              <a:cxnLst/>
              <a:rect l="l" t="t" r="r" b="b"/>
              <a:pathLst>
                <a:path w="1660208" h="397193">
                  <a:moveTo>
                    <a:pt x="0" y="397193"/>
                  </a:moveTo>
                  <a:lnTo>
                    <a:pt x="166020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9" name="Freeform 49"/>
            <p:cNvSpPr/>
            <p:nvPr/>
          </p:nvSpPr>
          <p:spPr>
            <a:xfrm>
              <a:off x="10204132" y="4114800"/>
              <a:ext cx="103823" cy="92392"/>
            </a:xfrm>
            <a:custGeom>
              <a:avLst/>
              <a:gdLst/>
              <a:ahLst/>
              <a:cxnLst/>
              <a:rect l="l" t="t" r="r" b="b"/>
              <a:pathLst>
                <a:path w="103823" h="92392">
                  <a:moveTo>
                    <a:pt x="103823" y="23812"/>
                  </a:moveTo>
                  <a:lnTo>
                    <a:pt x="21907" y="923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0" name="Freeform 50"/>
            <p:cNvSpPr/>
            <p:nvPr/>
          </p:nvSpPr>
          <p:spPr>
            <a:xfrm>
              <a:off x="8561070" y="4618672"/>
              <a:ext cx="1651635" cy="9525"/>
            </a:xfrm>
            <a:custGeom>
              <a:avLst/>
              <a:gdLst/>
              <a:ahLst/>
              <a:cxnLst/>
              <a:rect l="l" t="t" r="r" b="b"/>
              <a:pathLst>
                <a:path w="1651635" h="9525">
                  <a:moveTo>
                    <a:pt x="0" y="0"/>
                  </a:moveTo>
                  <a:lnTo>
                    <a:pt x="165163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1" name="Freeform 51"/>
            <p:cNvSpPr/>
            <p:nvPr/>
          </p:nvSpPr>
          <p:spPr>
            <a:xfrm>
              <a:off x="10212705" y="457104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2" name="Freeform 52"/>
            <p:cNvSpPr/>
            <p:nvPr/>
          </p:nvSpPr>
          <p:spPr>
            <a:xfrm>
              <a:off x="8554402" y="4678680"/>
              <a:ext cx="1660208" cy="397192"/>
            </a:xfrm>
            <a:custGeom>
              <a:avLst/>
              <a:gdLst/>
              <a:ahLst/>
              <a:cxnLst/>
              <a:rect l="l" t="t" r="r" b="b"/>
              <a:pathLst>
                <a:path w="1660208" h="397192">
                  <a:moveTo>
                    <a:pt x="0" y="0"/>
                  </a:moveTo>
                  <a:lnTo>
                    <a:pt x="1660208" y="39719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10204132" y="5029200"/>
              <a:ext cx="103823" cy="93345"/>
            </a:xfrm>
            <a:custGeom>
              <a:avLst/>
              <a:gdLst/>
              <a:ahLst/>
              <a:cxnLst/>
              <a:rect l="l" t="t" r="r" b="b"/>
              <a:pathLst>
                <a:path w="103823" h="93345">
                  <a:moveTo>
                    <a:pt x="103823" y="68580"/>
                  </a:moveTo>
                  <a:lnTo>
                    <a:pt x="0" y="93345"/>
                  </a:lnTo>
                  <a:lnTo>
                    <a:pt x="21907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478905" y="4478655"/>
              <a:ext cx="620078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5" name="Ellipse 55"/>
            <p:cNvSpPr/>
            <p:nvPr/>
          </p:nvSpPr>
          <p:spPr>
            <a:xfrm>
              <a:off x="8056245" y="4371022"/>
              <a:ext cx="495300" cy="4953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10307955" y="3908108"/>
              <a:ext cx="754380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10307955" y="4478655"/>
              <a:ext cx="754380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10307955" y="5048250"/>
              <a:ext cx="754380" cy="280035"/>
            </a:xfrm>
            <a:prstGeom prst="roundRect">
              <a:avLst>
                <a:gd name="adj" fmla="val 34014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642735" y="455295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事务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255436" y="4552950"/>
              <a:ext cx="969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475382" y="3983355"/>
              <a:ext cx="419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通路 1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475382" y="4552950"/>
              <a:ext cx="419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通路 2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475382" y="5123498"/>
              <a:ext cx="4195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通路 3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056816" y="522541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事务中心</a:t>
              </a:r>
            </a:p>
          </p:txBody>
        </p:sp>
      </p:grpSp>
      <p:grpSp>
        <p:nvGrpSpPr>
          <p:cNvPr id="71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66" name="Rectangle 66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9" name="Group 69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0" name="TextBox 70"/>
            <p:cNvSpPr txBox="1"/>
            <p:nvPr/>
          </p:nvSpPr>
          <p:spPr>
            <a:xfrm>
              <a:off x="1040892" y="6028373"/>
              <a:ext cx="82100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数据流图上"一进一出一条主线"是变换流；出现一个处理把数据分派到几条互斥的通路，就是事务流。</a:t>
              </a:r>
            </a:p>
          </p:txBody>
        </p:sp>
      </p:grpSp>
      <p:grpSp>
        <p:nvGrpSpPr>
          <p:cNvPr id="7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2" name="TextBox 72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面向数据流的设计方法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变换分析的七个步骤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6" name="c1-steps-1"/>
          <p:cNvGrpSpPr/>
          <p:nvPr/>
        </p:nvGrpSpPr>
        <p:grpSpPr>
          <a:xfrm>
            <a:off x="533400" y="1533525"/>
            <a:ext cx="5422671" cy="4481798"/>
            <a:chOff x="533400" y="1533525"/>
            <a:chExt cx="5422671" cy="4481798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390429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283464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290845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486150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355996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4136708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27024" y="42105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4787265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7024" y="48610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533400" y="543782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27024" y="551164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1567815"/>
              <a:ext cx="24803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步　复查基本系统模型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1861661"/>
              <a:ext cx="31145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确保系统的输入数据和输出数据符合实际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44880" y="2218372"/>
              <a:ext cx="26822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步　复查并精化数据流图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46023" y="2512219"/>
              <a:ext cx="39761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使每个处理都代表一个规模适中、相对独立的子功能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44880" y="2868930"/>
              <a:ext cx="18745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3 步　确定流类型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46023" y="3162776"/>
              <a:ext cx="5010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按占优势的属性确定全局特性，并把特点不同的局部区域孤立出来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4880" y="3520440"/>
              <a:ext cx="32880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4 步　确定输入流和输出流的边界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6023" y="381333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从而孤立出变换中心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44880" y="4170998"/>
              <a:ext cx="22783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5 步　完成第一级分解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46023" y="4463891"/>
              <a:ext cx="28297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分出 Cm、Ca、Ct、Ce 四个控制模块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44880" y="4821555"/>
              <a:ext cx="22783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6 步　完成第二级分解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46023" y="5115401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把数据流图中每个处理映射成一个适当的模块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44880" y="5472112"/>
              <a:ext cx="1268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7 步　精化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46023" y="5765959"/>
              <a:ext cx="43207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用设计度量和启发规则对第一次分割的结果再分解或合并</a:t>
              </a:r>
            </a:p>
          </p:txBody>
        </p:sp>
      </p:grpSp>
      <p:grpSp>
        <p:nvGrpSpPr>
          <p:cNvPr id="42" name="c2-card-1"/>
          <p:cNvGrpSpPr/>
          <p:nvPr/>
        </p:nvGrpSpPr>
        <p:grpSpPr>
          <a:xfrm>
            <a:off x="6680835" y="1524000"/>
            <a:ext cx="4977765" cy="1316355"/>
            <a:chOff x="6680835" y="1524000"/>
            <a:chExt cx="4977765" cy="1316355"/>
          </a:xfrm>
        </p:grpSpPr>
        <p:sp>
          <p:nvSpPr>
            <p:cNvPr id="37" name="Rectangle 37"/>
            <p:cNvSpPr/>
            <p:nvPr/>
          </p:nvSpPr>
          <p:spPr>
            <a:xfrm>
              <a:off x="6680835" y="1524000"/>
              <a:ext cx="4977765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690360" y="1657350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928485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010794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变换分析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920865" y="211074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把具有变换流特点的数据流图，按预先确定的模式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映射成软件结构的一系列步骤的总称。</a:t>
              </a:r>
            </a:p>
          </p:txBody>
        </p:sp>
      </p:grpSp>
      <p:grpSp>
        <p:nvGrpSpPr>
          <p:cNvPr id="60" name="c2-card-2"/>
          <p:cNvGrpSpPr/>
          <p:nvPr/>
        </p:nvGrpSpPr>
        <p:grpSpPr>
          <a:xfrm>
            <a:off x="6680835" y="3030855"/>
            <a:ext cx="4977765" cy="2055495"/>
            <a:chOff x="6680835" y="3030855"/>
            <a:chExt cx="4977765" cy="2055495"/>
          </a:xfrm>
        </p:grpSpPr>
        <p:sp>
          <p:nvSpPr>
            <p:cNvPr id="43" name="Rectangle 43"/>
            <p:cNvSpPr/>
            <p:nvPr/>
          </p:nvSpPr>
          <p:spPr>
            <a:xfrm>
              <a:off x="6680835" y="3030855"/>
              <a:ext cx="4977765" cy="2055495"/>
            </a:xfrm>
            <a:prstGeom prst="roundRect">
              <a:avLst>
                <a:gd name="adj" fmla="val 648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6690360" y="3164205"/>
              <a:ext cx="47625" cy="178879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928485" y="3240405"/>
              <a:ext cx="66579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014341" y="3276124"/>
              <a:ext cx="4950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 6 步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700962" y="3275648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每个模块的简要说明写什么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6928485" y="362331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990334" y="366560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229475" y="363664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进出该模块的信息，也就是接口描述</a:t>
              </a:r>
            </a:p>
          </p:txBody>
        </p:sp>
        <p:sp>
          <p:nvSpPr>
            <p:cNvPr id="51" name="Ellipse 51"/>
            <p:cNvSpPr/>
            <p:nvPr/>
          </p:nvSpPr>
          <p:spPr>
            <a:xfrm>
              <a:off x="6928485" y="395859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990334" y="400088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229475" y="397192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模块内部的信息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6928485" y="429387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990334" y="433616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229475" y="430720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过程陈述，包括主要判定点及任务</a:t>
              </a:r>
            </a:p>
          </p:txBody>
        </p:sp>
        <p:sp>
          <p:nvSpPr>
            <p:cNvPr id="57" name="Ellipse 57"/>
            <p:cNvSpPr/>
            <p:nvPr/>
          </p:nvSpPr>
          <p:spPr>
            <a:xfrm>
              <a:off x="6928485" y="462915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990334" y="467144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229475" y="464248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对约束和特殊特点的简短讨论</a:t>
              </a:r>
            </a:p>
          </p:txBody>
        </p:sp>
      </p:grpSp>
      <p:grpSp>
        <p:nvGrpSpPr>
          <p:cNvPr id="67" name="c2-callout-3"/>
          <p:cNvGrpSpPr/>
          <p:nvPr/>
        </p:nvGrpSpPr>
        <p:grpSpPr>
          <a:xfrm>
            <a:off x="6680835" y="5276850"/>
            <a:ext cx="4977765" cy="782955"/>
            <a:chOff x="6680835" y="5276850"/>
            <a:chExt cx="4977765" cy="782955"/>
          </a:xfrm>
        </p:grpSpPr>
        <p:sp>
          <p:nvSpPr>
            <p:cNvPr id="61" name="Rectangle 61"/>
            <p:cNvSpPr/>
            <p:nvPr/>
          </p:nvSpPr>
          <p:spPr>
            <a:xfrm>
              <a:off x="6680835" y="5276850"/>
              <a:ext cx="497776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6885623" y="5568315"/>
              <a:ext cx="200026" cy="200025"/>
              <a:chOff x="6885623" y="5568315"/>
              <a:chExt cx="200026" cy="200025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885623" y="556831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6925361" y="561276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6960077" y="572389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7187565" y="5425440"/>
              <a:ext cx="40443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前四步都在看图和划线，从第 5 步才开始画结构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图。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面向数据流的设计方法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第一级分解：分解就是分配控制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8" name="c1-tree-1"/>
          <p:cNvGrpSpPr/>
          <p:nvPr/>
        </p:nvGrpSpPr>
        <p:grpSpPr>
          <a:xfrm>
            <a:off x="869632" y="1610678"/>
            <a:ext cx="4305300" cy="2192654"/>
            <a:chOff x="869632" y="1610678"/>
            <a:chExt cx="4305300" cy="2192654"/>
          </a:xfrm>
        </p:grpSpPr>
        <p:sp>
          <p:nvSpPr>
            <p:cNvPr id="7" name="Freeform 7"/>
            <p:cNvSpPr/>
            <p:nvPr/>
          </p:nvSpPr>
          <p:spPr>
            <a:xfrm>
              <a:off x="1363028" y="2119312"/>
              <a:ext cx="1659255" cy="1190625"/>
            </a:xfrm>
            <a:custGeom>
              <a:avLst/>
              <a:gdLst/>
              <a:ahLst/>
              <a:cxnLst/>
              <a:rect l="l" t="t" r="r" b="b"/>
              <a:pathLst>
                <a:path w="1659255" h="1190625">
                  <a:moveTo>
                    <a:pt x="1659255" y="0"/>
                  </a:moveTo>
                  <a:lnTo>
                    <a:pt x="0" y="11906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022282" y="2119312"/>
              <a:ext cx="9525" cy="1190625"/>
            </a:xfrm>
            <a:custGeom>
              <a:avLst/>
              <a:gdLst/>
              <a:ahLst/>
              <a:cxnLst/>
              <a:rect l="l" t="t" r="r" b="b"/>
              <a:pathLst>
                <a:path w="9525" h="1190625">
                  <a:moveTo>
                    <a:pt x="0" y="0"/>
                  </a:moveTo>
                  <a:lnTo>
                    <a:pt x="0" y="11906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3022282" y="2119312"/>
              <a:ext cx="1659255" cy="1190625"/>
            </a:xfrm>
            <a:custGeom>
              <a:avLst/>
              <a:gdLst/>
              <a:ahLst/>
              <a:cxnLst/>
              <a:rect l="l" t="t" r="r" b="b"/>
              <a:pathLst>
                <a:path w="1659255" h="1190625">
                  <a:moveTo>
                    <a:pt x="0" y="0"/>
                  </a:moveTo>
                  <a:lnTo>
                    <a:pt x="1659255" y="11906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869632" y="2816542"/>
              <a:ext cx="986790" cy="98679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1" name="Ellipse 11"/>
            <p:cNvSpPr/>
            <p:nvPr/>
          </p:nvSpPr>
          <p:spPr>
            <a:xfrm>
              <a:off x="2528888" y="2816542"/>
              <a:ext cx="986790" cy="98679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4188142" y="2816542"/>
              <a:ext cx="986790" cy="98679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2513648" y="1610678"/>
              <a:ext cx="1017270" cy="101727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11748" y="3235642"/>
              <a:ext cx="9025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 输入控制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571003" y="3235642"/>
              <a:ext cx="9025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Ct 变换控制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230258" y="3235642"/>
              <a:ext cx="9025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Ce 输出控制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553561" y="2045018"/>
              <a:ext cx="93744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Cm 主控模块</a:t>
              </a:r>
            </a:p>
          </p:txBody>
        </p:sp>
      </p:grpSp>
      <p:grpSp>
        <p:nvGrpSpPr>
          <p:cNvPr id="25" name="c1-callout-2"/>
          <p:cNvGrpSpPr/>
          <p:nvPr/>
        </p:nvGrpSpPr>
        <p:grpSpPr>
          <a:xfrm>
            <a:off x="533400" y="4095750"/>
            <a:ext cx="4977765" cy="1697355"/>
            <a:chOff x="533400" y="4095750"/>
            <a:chExt cx="4977765" cy="1697355"/>
          </a:xfrm>
        </p:grpSpPr>
        <p:sp>
          <p:nvSpPr>
            <p:cNvPr id="19" name="Rectangle 19"/>
            <p:cNvSpPr/>
            <p:nvPr/>
          </p:nvSpPr>
          <p:spPr>
            <a:xfrm>
              <a:off x="533400" y="4095750"/>
              <a:ext cx="4977765" cy="1697355"/>
            </a:xfrm>
            <a:prstGeom prst="roundRect">
              <a:avLst>
                <a:gd name="adj" fmla="val 673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38188" y="4844415"/>
              <a:ext cx="200026" cy="200026"/>
              <a:chOff x="738188" y="4844415"/>
              <a:chExt cx="200026" cy="20002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484441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38200" y="491109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27088" y="494442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130" y="4701540"/>
              <a:ext cx="38633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课件的图上把这四个模块记作 Mc、Ma、Mt、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Me，含义完全一样。</a:t>
              </a:r>
            </a:p>
          </p:txBody>
        </p:sp>
      </p:grpSp>
      <p:grpSp>
        <p:nvGrpSpPr>
          <p:cNvPr id="37" name="c2-kv-1"/>
          <p:cNvGrpSpPr/>
          <p:nvPr/>
        </p:nvGrpSpPr>
        <p:grpSpPr>
          <a:xfrm>
            <a:off x="5808345" y="1548765"/>
            <a:ext cx="5850255" cy="1613535"/>
            <a:chOff x="5808345" y="1548765"/>
            <a:chExt cx="5850255" cy="1613535"/>
          </a:xfrm>
        </p:grpSpPr>
        <p:sp>
          <p:nvSpPr>
            <p:cNvPr id="26" name="TextBox 26"/>
            <p:cNvSpPr txBox="1"/>
            <p:nvPr/>
          </p:nvSpPr>
          <p:spPr>
            <a:xfrm>
              <a:off x="5808345" y="1548765"/>
              <a:ext cx="2986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Cm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26505" y="154876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协调下述从属的控制功能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815965" y="186880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808345" y="1988820"/>
              <a:ext cx="2550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Ca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26505" y="1988820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输入信息处理控制模块，协调对所有输入数据的接收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815965" y="230886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808345" y="2428875"/>
              <a:ext cx="2550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Ct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326505" y="2428875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变换中心控制模块，管理对内部形式的数据的所有操作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815965" y="274891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808345" y="2868930"/>
              <a:ext cx="2550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Ce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326505" y="2868930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输出信息处理控制模块，协调输出信息的产生过程</a:t>
              </a:r>
            </a:p>
          </p:txBody>
        </p:sp>
      </p:grpSp>
      <p:grpSp>
        <p:nvGrpSpPr>
          <p:cNvPr id="40" name="c2-card-2"/>
          <p:cNvGrpSpPr/>
          <p:nvPr/>
        </p:nvGrpSpPr>
        <p:grpSpPr>
          <a:xfrm>
            <a:off x="5815965" y="3293745"/>
            <a:ext cx="5842635" cy="1249680"/>
            <a:chOff x="5815965" y="3293745"/>
            <a:chExt cx="5842635" cy="1249680"/>
          </a:xfrm>
        </p:grpSpPr>
        <p:sp>
          <p:nvSpPr>
            <p:cNvPr id="38" name="Rectangle 38"/>
            <p:cNvSpPr/>
            <p:nvPr/>
          </p:nvSpPr>
          <p:spPr>
            <a:xfrm>
              <a:off x="5815965" y="3293745"/>
              <a:ext cx="5842635" cy="1249680"/>
            </a:xfrm>
            <a:prstGeom prst="roundRect">
              <a:avLst>
                <a:gd name="adj" fmla="val 10671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017895" y="3528060"/>
              <a:ext cx="51777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第一级分解只决定"谁管谁"，不决定每个模块具体做哪一步加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工。主控模块和三个下属模块之间传递的，正是逻辑输入、变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换后的数据和逻辑输出。</a:t>
              </a:r>
            </a:p>
          </p:txBody>
        </p:sp>
      </p:grpSp>
      <p:grpSp>
        <p:nvGrpSpPr>
          <p:cNvPr id="47" name="c2-callout-3"/>
          <p:cNvGrpSpPr/>
          <p:nvPr/>
        </p:nvGrpSpPr>
        <p:grpSpPr>
          <a:xfrm>
            <a:off x="5815965" y="4733925"/>
            <a:ext cx="5842635" cy="1059180"/>
            <a:chOff x="5815965" y="4733925"/>
            <a:chExt cx="5842635" cy="1059180"/>
          </a:xfrm>
        </p:grpSpPr>
        <p:sp>
          <p:nvSpPr>
            <p:cNvPr id="41" name="Rectangle 41"/>
            <p:cNvSpPr/>
            <p:nvPr/>
          </p:nvSpPr>
          <p:spPr>
            <a:xfrm>
              <a:off x="5815965" y="4733925"/>
              <a:ext cx="5842635" cy="1059180"/>
            </a:xfrm>
            <a:prstGeom prst="roundRect">
              <a:avLst>
                <a:gd name="adj" fmla="val 10791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5" name="Group 45"/>
            <p:cNvGrpSpPr/>
            <p:nvPr/>
          </p:nvGrpSpPr>
          <p:grpSpPr>
            <a:xfrm>
              <a:off x="6020753" y="5163503"/>
              <a:ext cx="200026" cy="200025"/>
              <a:chOff x="6020753" y="5163503"/>
              <a:chExt cx="200026" cy="200025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6020753" y="516350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060491" y="520795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6095207" y="531907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6" name="TextBox 46"/>
            <p:cNvSpPr txBox="1"/>
            <p:nvPr/>
          </p:nvSpPr>
          <p:spPr>
            <a:xfrm>
              <a:off x="6322695" y="4882515"/>
              <a:ext cx="477774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三个控制模块各管一段信息流，输入、加工、输出就可以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分头精化，互相不牵扯，这也是结构图里协调模块的用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法。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面向数据流的设计方法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第二级分解：每个处理映射成一个模块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bullets-1"/>
          <p:cNvGrpSpPr/>
          <p:nvPr/>
        </p:nvGrpSpPr>
        <p:grpSpPr>
          <a:xfrm>
            <a:off x="526542" y="1545907"/>
            <a:ext cx="4587621" cy="1969961"/>
            <a:chOff x="526542" y="1545907"/>
            <a:chExt cx="4587621" cy="1969961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映射方向</a:t>
              </a:r>
            </a:p>
          </p:txBody>
        </p:sp>
        <p:sp>
          <p:nvSpPr>
            <p:cNvPr id="8" name="Ellipse 8"/>
            <p:cNvSpPr/>
            <p:nvPr/>
          </p:nvSpPr>
          <p:spPr>
            <a:xfrm>
              <a:off x="533400" y="185070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89078" y="189004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14197" y="1863090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从变换中心的边界开始沿输入通路向外移动，把每个处理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映射成 Ca 控制下的一个低层模块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533400" y="241649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89078" y="245583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14197" y="2428875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再沿输出通路向外移动，把每个处理映射成直接或间接受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Ce 控制的一个低层模块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2982277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89078" y="302161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14197" y="2994660"/>
              <a:ext cx="424853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最后把变换中心内的每个处理映射成受 Ct 控制的一个模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块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3632835"/>
            <a:ext cx="4760595" cy="729615"/>
            <a:chOff x="533400" y="3632835"/>
            <a:chExt cx="4760595" cy="729615"/>
          </a:xfrm>
        </p:grpSpPr>
        <p:sp>
          <p:nvSpPr>
            <p:cNvPr id="18" name="Rectangle 18"/>
            <p:cNvSpPr/>
            <p:nvPr/>
          </p:nvSpPr>
          <p:spPr>
            <a:xfrm>
              <a:off x="533400" y="3632835"/>
              <a:ext cx="4760595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3897630"/>
              <a:ext cx="200026" cy="200025"/>
              <a:chOff x="738188" y="3897630"/>
              <a:chExt cx="200026" cy="200025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738188" y="389763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777926" y="394208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12642" y="405320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892" y="3778568"/>
              <a:ext cx="381133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映射出来的只是初稿，接着用第 7 步的启发规则做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再分解或合并。</a:t>
              </a:r>
            </a:p>
          </p:txBody>
        </p:sp>
      </p:grpSp>
      <p:grpSp>
        <p:nvGrpSpPr>
          <p:cNvPr id="30" name="c1-card-3"/>
          <p:cNvGrpSpPr/>
          <p:nvPr/>
        </p:nvGrpSpPr>
        <p:grpSpPr>
          <a:xfrm>
            <a:off x="533400" y="4531995"/>
            <a:ext cx="4760595" cy="1700212"/>
            <a:chOff x="533400" y="4531995"/>
            <a:chExt cx="4760595" cy="1700212"/>
          </a:xfrm>
        </p:grpSpPr>
        <p:sp>
          <p:nvSpPr>
            <p:cNvPr id="25" name="Rectangle 25"/>
            <p:cNvSpPr/>
            <p:nvPr/>
          </p:nvSpPr>
          <p:spPr>
            <a:xfrm>
              <a:off x="533400" y="4531995"/>
              <a:ext cx="4760595" cy="1700212"/>
            </a:xfrm>
            <a:prstGeom prst="roundRect">
              <a:avLst>
                <a:gd name="adj" fmla="val 78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542925" y="4665345"/>
              <a:ext cx="47625" cy="143351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58190" y="4718685"/>
              <a:ext cx="956310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35609" y="4751546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走完七步之后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51332" y="5063490"/>
              <a:ext cx="4128516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七个步骤给出的是软件的整体表示。结构一旦定下来，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就能作为一个整体来复查、评价和精化；在这个阶段改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结构只需要很少的附加工作，却会明显影响后期的可维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护性。</a:t>
              </a:r>
            </a:p>
          </p:txBody>
        </p:sp>
      </p:grpSp>
      <p:grpSp>
        <p:nvGrpSpPr>
          <p:cNvPr id="57" name="c2-tree-1"/>
          <p:cNvGrpSpPr/>
          <p:nvPr/>
        </p:nvGrpSpPr>
        <p:grpSpPr>
          <a:xfrm>
            <a:off x="5736908" y="1694497"/>
            <a:ext cx="5373052" cy="3985260"/>
            <a:chOff x="5736908" y="1694497"/>
            <a:chExt cx="5373052" cy="3985260"/>
          </a:xfrm>
        </p:grpSpPr>
        <p:sp>
          <p:nvSpPr>
            <p:cNvPr id="31" name="Freeform 31"/>
            <p:cNvSpPr/>
            <p:nvPr/>
          </p:nvSpPr>
          <p:spPr>
            <a:xfrm>
              <a:off x="5977890" y="4320540"/>
              <a:ext cx="379095" cy="1118235"/>
            </a:xfrm>
            <a:custGeom>
              <a:avLst/>
              <a:gdLst/>
              <a:ahLst/>
              <a:cxnLst/>
              <a:rect l="l" t="t" r="r" b="b"/>
              <a:pathLst>
                <a:path w="379095" h="1118235">
                  <a:moveTo>
                    <a:pt x="379095" y="0"/>
                  </a:moveTo>
                  <a:lnTo>
                    <a:pt x="0" y="111823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6356985" y="4320540"/>
              <a:ext cx="378143" cy="1118235"/>
            </a:xfrm>
            <a:custGeom>
              <a:avLst/>
              <a:gdLst/>
              <a:ahLst/>
              <a:cxnLst/>
              <a:rect l="l" t="t" r="r" b="b"/>
              <a:pathLst>
                <a:path w="378143" h="1118235">
                  <a:moveTo>
                    <a:pt x="0" y="0"/>
                  </a:moveTo>
                  <a:lnTo>
                    <a:pt x="378143" y="111823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6356985" y="3202305"/>
              <a:ext cx="757238" cy="1118235"/>
            </a:xfrm>
            <a:custGeom>
              <a:avLst/>
              <a:gdLst/>
              <a:ahLst/>
              <a:cxnLst/>
              <a:rect l="l" t="t" r="r" b="b"/>
              <a:pathLst>
                <a:path w="757238" h="1118235">
                  <a:moveTo>
                    <a:pt x="757238" y="0"/>
                  </a:moveTo>
                  <a:lnTo>
                    <a:pt x="0" y="111823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7114222" y="3202305"/>
              <a:ext cx="757238" cy="1118235"/>
            </a:xfrm>
            <a:custGeom>
              <a:avLst/>
              <a:gdLst/>
              <a:ahLst/>
              <a:cxnLst/>
              <a:rect l="l" t="t" r="r" b="b"/>
              <a:pathLst>
                <a:path w="757238" h="1118235">
                  <a:moveTo>
                    <a:pt x="0" y="0"/>
                  </a:moveTo>
                  <a:lnTo>
                    <a:pt x="757238" y="111823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9385935" y="3202305"/>
              <a:ext cx="758190" cy="1118235"/>
            </a:xfrm>
            <a:custGeom>
              <a:avLst/>
              <a:gdLst/>
              <a:ahLst/>
              <a:cxnLst/>
              <a:rect l="l" t="t" r="r" b="b"/>
              <a:pathLst>
                <a:path w="758190" h="1118235">
                  <a:moveTo>
                    <a:pt x="758190" y="0"/>
                  </a:moveTo>
                  <a:lnTo>
                    <a:pt x="0" y="111823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10144125" y="3202305"/>
              <a:ext cx="757238" cy="1118235"/>
            </a:xfrm>
            <a:custGeom>
              <a:avLst/>
              <a:gdLst/>
              <a:ahLst/>
              <a:cxnLst/>
              <a:rect l="l" t="t" r="r" b="b"/>
              <a:pathLst>
                <a:path w="757238" h="1118235">
                  <a:moveTo>
                    <a:pt x="0" y="0"/>
                  </a:moveTo>
                  <a:lnTo>
                    <a:pt x="757238" y="111823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7114222" y="2083118"/>
              <a:ext cx="1514475" cy="1119188"/>
            </a:xfrm>
            <a:custGeom>
              <a:avLst/>
              <a:gdLst/>
              <a:ahLst/>
              <a:cxnLst/>
              <a:rect l="l" t="t" r="r" b="b"/>
              <a:pathLst>
                <a:path w="1514475" h="1119188">
                  <a:moveTo>
                    <a:pt x="1514475" y="0"/>
                  </a:moveTo>
                  <a:lnTo>
                    <a:pt x="0" y="111918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8628698" y="2083118"/>
              <a:ext cx="1515428" cy="1119188"/>
            </a:xfrm>
            <a:custGeom>
              <a:avLst/>
              <a:gdLst/>
              <a:ahLst/>
              <a:cxnLst/>
              <a:rect l="l" t="t" r="r" b="b"/>
              <a:pathLst>
                <a:path w="1515428" h="1119188">
                  <a:moveTo>
                    <a:pt x="0" y="0"/>
                  </a:moveTo>
                  <a:lnTo>
                    <a:pt x="1515428" y="111918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9" name="Ellipse 39"/>
            <p:cNvSpPr/>
            <p:nvPr/>
          </p:nvSpPr>
          <p:spPr>
            <a:xfrm>
              <a:off x="5736908" y="5197792"/>
              <a:ext cx="481965" cy="48196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6526530" y="5230178"/>
              <a:ext cx="417195" cy="41719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1" name="Ellipse 41"/>
            <p:cNvSpPr/>
            <p:nvPr/>
          </p:nvSpPr>
          <p:spPr>
            <a:xfrm>
              <a:off x="6148388" y="4111943"/>
              <a:ext cx="417195" cy="41719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2" name="Ellipse 42"/>
            <p:cNvSpPr/>
            <p:nvPr/>
          </p:nvSpPr>
          <p:spPr>
            <a:xfrm>
              <a:off x="7662862" y="4111943"/>
              <a:ext cx="417195" cy="41719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3" name="Ellipse 43"/>
            <p:cNvSpPr/>
            <p:nvPr/>
          </p:nvSpPr>
          <p:spPr>
            <a:xfrm>
              <a:off x="6905625" y="2993708"/>
              <a:ext cx="417195" cy="41719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4" name="Ellipse 44"/>
            <p:cNvSpPr/>
            <p:nvPr/>
          </p:nvSpPr>
          <p:spPr>
            <a:xfrm>
              <a:off x="9144952" y="4079558"/>
              <a:ext cx="481965" cy="48196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5" name="Ellipse 45"/>
            <p:cNvSpPr/>
            <p:nvPr/>
          </p:nvSpPr>
          <p:spPr>
            <a:xfrm>
              <a:off x="10692765" y="4111943"/>
              <a:ext cx="417195" cy="41719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6" name="Ellipse 46"/>
            <p:cNvSpPr/>
            <p:nvPr/>
          </p:nvSpPr>
          <p:spPr>
            <a:xfrm>
              <a:off x="9935528" y="2993708"/>
              <a:ext cx="417195" cy="41719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7" name="Ellipse 47"/>
            <p:cNvSpPr/>
            <p:nvPr/>
          </p:nvSpPr>
          <p:spPr>
            <a:xfrm>
              <a:off x="8240078" y="1694497"/>
              <a:ext cx="777240" cy="77724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794245" y="5383530"/>
              <a:ext cx="36729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ReadA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586467" y="5383530"/>
              <a:ext cx="2973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AtoB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208325" y="4264342"/>
              <a:ext cx="2973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GetB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722800" y="4264342"/>
              <a:ext cx="2973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BtoC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965562" y="3146108"/>
              <a:ext cx="2973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GetC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202290" y="4264342"/>
              <a:ext cx="36729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ReadD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752702" y="4264342"/>
              <a:ext cx="2973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DtoE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995465" y="3146108"/>
              <a:ext cx="2973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GetE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290048" y="2026920"/>
              <a:ext cx="67730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 输入控制</a:t>
              </a:r>
            </a:p>
          </p:txBody>
        </p:sp>
      </p:grpSp>
      <p:grpSp>
        <p:nvGrpSpPr>
          <p:cNvPr id="59" name="c2-text-2"/>
          <p:cNvGrpSpPr/>
          <p:nvPr/>
        </p:nvGrpSpPr>
        <p:grpSpPr>
          <a:xfrm>
            <a:off x="5974630" y="6186964"/>
            <a:ext cx="5308135" cy="220028"/>
            <a:chOff x="5974630" y="6186964"/>
            <a:chExt cx="5308135" cy="220028"/>
          </a:xfrm>
        </p:grpSpPr>
        <p:sp>
          <p:nvSpPr>
            <p:cNvPr id="58" name="TextBox 58"/>
            <p:cNvSpPr txBox="1"/>
            <p:nvPr/>
          </p:nvSpPr>
          <p:spPr>
            <a:xfrm>
              <a:off x="5974630" y="6186964"/>
              <a:ext cx="53081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输入通路 a → A → b → B → c 映射成的一串模块，取数据和转换格式各占一个模块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面向数据流的设计方法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实例一：汽车数字仪表板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card-1"/>
          <p:cNvGrpSpPr/>
          <p:nvPr/>
        </p:nvGrpSpPr>
        <p:grpSpPr>
          <a:xfrm>
            <a:off x="533400" y="1524000"/>
            <a:ext cx="4760595" cy="2943225"/>
            <a:chOff x="533400" y="1524000"/>
            <a:chExt cx="4760595" cy="29432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943225"/>
            </a:xfrm>
            <a:prstGeom prst="roundRect">
              <a:avLst>
                <a:gd name="adj" fmla="val 453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67652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335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系统要求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81050" y="209740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2899" y="213969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2040" y="2110740"/>
              <a:ext cx="36499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通过模数转换实现传感器和微处理机接口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1050" y="243268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42899" y="24749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82040" y="2446020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在发光二极管面板上显示数据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1050" y="276796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42899" y="28102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82040" y="2781300"/>
              <a:ext cx="3663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指示每小时英里数 mph、行驶的里程、每加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仑油行驶的英里数 mpg 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81050" y="338899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42899" y="34312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82040" y="340233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指示加速或减速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81050" y="372427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42899" y="376656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82040" y="3737610"/>
              <a:ext cx="37680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超速警告：车速超过 55 英里每小时时发出超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速警告铃声</a:t>
              </a:r>
            </a:p>
          </p:txBody>
        </p:sp>
      </p:grpSp>
      <p:grpSp>
        <p:nvGrpSpPr>
          <p:cNvPr id="33" name="c1-callout-2"/>
          <p:cNvGrpSpPr/>
          <p:nvPr/>
        </p:nvGrpSpPr>
        <p:grpSpPr>
          <a:xfrm>
            <a:off x="533400" y="4657725"/>
            <a:ext cx="4760595" cy="782955"/>
            <a:chOff x="533400" y="4657725"/>
            <a:chExt cx="4760595" cy="782955"/>
          </a:xfrm>
        </p:grpSpPr>
        <p:sp>
          <p:nvSpPr>
            <p:cNvPr id="27" name="Rectangle 27"/>
            <p:cNvSpPr/>
            <p:nvPr/>
          </p:nvSpPr>
          <p:spPr>
            <a:xfrm>
              <a:off x="533400" y="4657725"/>
              <a:ext cx="4760595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738188" y="4949190"/>
              <a:ext cx="200026" cy="200026"/>
              <a:chOff x="738188" y="4949190"/>
              <a:chExt cx="200026" cy="200026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38188" y="494919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38200" y="501586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827088" y="504920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040130" y="4806315"/>
              <a:ext cx="3825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需求分析阶段要对每条要求做全面分析评价，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建立必要的文档资料，特别是数据流图。</a:t>
              </a:r>
            </a:p>
          </p:txBody>
        </p:sp>
      </p:grpSp>
      <p:grpSp>
        <p:nvGrpSpPr>
          <p:cNvPr id="77" name="c2-graph-1"/>
          <p:cNvGrpSpPr/>
          <p:nvPr/>
        </p:nvGrpSpPr>
        <p:grpSpPr>
          <a:xfrm>
            <a:off x="6018848" y="1478280"/>
            <a:ext cx="5203507" cy="2867977"/>
            <a:chOff x="6018848" y="1478280"/>
            <a:chExt cx="5203507" cy="2867977"/>
          </a:xfrm>
        </p:grpSpPr>
        <p:sp>
          <p:nvSpPr>
            <p:cNvPr id="34" name="Freeform 34"/>
            <p:cNvSpPr/>
            <p:nvPr/>
          </p:nvSpPr>
          <p:spPr>
            <a:xfrm>
              <a:off x="6885622" y="1924050"/>
              <a:ext cx="724853" cy="9525"/>
            </a:xfrm>
            <a:custGeom>
              <a:avLst/>
              <a:gdLst/>
              <a:ahLst/>
              <a:cxnLst/>
              <a:rect l="l" t="t" r="r" b="b"/>
              <a:pathLst>
                <a:path w="724853" h="9525">
                  <a:moveTo>
                    <a:pt x="0" y="0"/>
                  </a:moveTo>
                  <a:lnTo>
                    <a:pt x="72485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7610475" y="18764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8582025" y="1924050"/>
              <a:ext cx="707707" cy="9525"/>
            </a:xfrm>
            <a:custGeom>
              <a:avLst/>
              <a:gdLst/>
              <a:ahLst/>
              <a:cxnLst/>
              <a:rect l="l" t="t" r="r" b="b"/>
              <a:pathLst>
                <a:path w="707707" h="9525">
                  <a:moveTo>
                    <a:pt x="0" y="0"/>
                  </a:moveTo>
                  <a:lnTo>
                    <a:pt x="707707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9289732" y="18764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8" name="Freeform 38"/>
            <p:cNvSpPr/>
            <p:nvPr/>
          </p:nvSpPr>
          <p:spPr>
            <a:xfrm>
              <a:off x="8998268" y="2218372"/>
              <a:ext cx="495300" cy="421005"/>
            </a:xfrm>
            <a:custGeom>
              <a:avLst/>
              <a:gdLst/>
              <a:ahLst/>
              <a:cxnLst/>
              <a:rect l="l" t="t" r="r" b="b"/>
              <a:pathLst>
                <a:path w="495300" h="421005">
                  <a:moveTo>
                    <a:pt x="495300" y="0"/>
                  </a:moveTo>
                  <a:lnTo>
                    <a:pt x="0" y="42100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8924925" y="2603182"/>
              <a:ext cx="103822" cy="98108"/>
            </a:xfrm>
            <a:custGeom>
              <a:avLst/>
              <a:gdLst/>
              <a:ahLst/>
              <a:cxnLst/>
              <a:rect l="l" t="t" r="r" b="b"/>
              <a:pathLst>
                <a:path w="103822" h="98108">
                  <a:moveTo>
                    <a:pt x="0" y="98108"/>
                  </a:moveTo>
                  <a:lnTo>
                    <a:pt x="41910" y="0"/>
                  </a:lnTo>
                  <a:lnTo>
                    <a:pt x="103822" y="7239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0" name="Freeform 40"/>
            <p:cNvSpPr/>
            <p:nvPr/>
          </p:nvSpPr>
          <p:spPr>
            <a:xfrm>
              <a:off x="6757988" y="3981450"/>
              <a:ext cx="795338" cy="9525"/>
            </a:xfrm>
            <a:custGeom>
              <a:avLst/>
              <a:gdLst/>
              <a:ahLst/>
              <a:cxnLst/>
              <a:rect l="l" t="t" r="r" b="b"/>
              <a:pathLst>
                <a:path w="795338" h="9525">
                  <a:moveTo>
                    <a:pt x="0" y="0"/>
                  </a:moveTo>
                  <a:lnTo>
                    <a:pt x="795338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7553325" y="39338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2" name="Freeform 42"/>
            <p:cNvSpPr/>
            <p:nvPr/>
          </p:nvSpPr>
          <p:spPr>
            <a:xfrm>
              <a:off x="8213408" y="3369945"/>
              <a:ext cx="169545" cy="288608"/>
            </a:xfrm>
            <a:custGeom>
              <a:avLst/>
              <a:gdLst/>
              <a:ahLst/>
              <a:cxnLst/>
              <a:rect l="l" t="t" r="r" b="b"/>
              <a:pathLst>
                <a:path w="169545" h="288608">
                  <a:moveTo>
                    <a:pt x="0" y="288608"/>
                  </a:moveTo>
                  <a:lnTo>
                    <a:pt x="16954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8341995" y="3288030"/>
              <a:ext cx="89535" cy="105728"/>
            </a:xfrm>
            <a:custGeom>
              <a:avLst/>
              <a:gdLst/>
              <a:ahLst/>
              <a:cxnLst/>
              <a:rect l="l" t="t" r="r" b="b"/>
              <a:pathLst>
                <a:path w="89535" h="105728">
                  <a:moveTo>
                    <a:pt x="89535" y="0"/>
                  </a:moveTo>
                  <a:lnTo>
                    <a:pt x="81915" y="105728"/>
                  </a:lnTo>
                  <a:lnTo>
                    <a:pt x="0" y="571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4" name="Freeform 44"/>
            <p:cNvSpPr/>
            <p:nvPr/>
          </p:nvSpPr>
          <p:spPr>
            <a:xfrm>
              <a:off x="9016365" y="2834640"/>
              <a:ext cx="1036320" cy="85725"/>
            </a:xfrm>
            <a:custGeom>
              <a:avLst/>
              <a:gdLst/>
              <a:ahLst/>
              <a:cxnLst/>
              <a:rect l="l" t="t" r="r" b="b"/>
              <a:pathLst>
                <a:path w="1036320" h="85725">
                  <a:moveTo>
                    <a:pt x="0" y="85725"/>
                  </a:moveTo>
                  <a:lnTo>
                    <a:pt x="103632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10048875" y="2787015"/>
              <a:ext cx="99060" cy="94297"/>
            </a:xfrm>
            <a:custGeom>
              <a:avLst/>
              <a:gdLst/>
              <a:ahLst/>
              <a:cxnLst/>
              <a:rect l="l" t="t" r="r" b="b"/>
              <a:pathLst>
                <a:path w="99060" h="94297">
                  <a:moveTo>
                    <a:pt x="99060" y="39052"/>
                  </a:moveTo>
                  <a:lnTo>
                    <a:pt x="8573" y="942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6" name="Freeform 46"/>
            <p:cNvSpPr/>
            <p:nvPr/>
          </p:nvSpPr>
          <p:spPr>
            <a:xfrm>
              <a:off x="8980170" y="3118485"/>
              <a:ext cx="1043940" cy="492443"/>
            </a:xfrm>
            <a:custGeom>
              <a:avLst/>
              <a:gdLst/>
              <a:ahLst/>
              <a:cxnLst/>
              <a:rect l="l" t="t" r="r" b="b"/>
              <a:pathLst>
                <a:path w="1043940" h="492443">
                  <a:moveTo>
                    <a:pt x="0" y="0"/>
                  </a:moveTo>
                  <a:lnTo>
                    <a:pt x="1043940" y="492443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10004108" y="3568065"/>
              <a:ext cx="106680" cy="85725"/>
            </a:xfrm>
            <a:custGeom>
              <a:avLst/>
              <a:gdLst/>
              <a:ahLst/>
              <a:cxnLst/>
              <a:rect l="l" t="t" r="r" b="b"/>
              <a:pathLst>
                <a:path w="106680" h="85725">
                  <a:moveTo>
                    <a:pt x="106680" y="83820"/>
                  </a:moveTo>
                  <a:lnTo>
                    <a:pt x="0" y="85725"/>
                  </a:lnTo>
                  <a:lnTo>
                    <a:pt x="40957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48" name="Ellipse 48"/>
            <p:cNvSpPr/>
            <p:nvPr/>
          </p:nvSpPr>
          <p:spPr>
            <a:xfrm>
              <a:off x="6018848" y="1495425"/>
              <a:ext cx="857250" cy="8572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9" name="Ellipse 49"/>
            <p:cNvSpPr/>
            <p:nvPr/>
          </p:nvSpPr>
          <p:spPr>
            <a:xfrm>
              <a:off x="7715250" y="1495425"/>
              <a:ext cx="857250" cy="8572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0" name="Ellipse 50"/>
            <p:cNvSpPr/>
            <p:nvPr/>
          </p:nvSpPr>
          <p:spPr>
            <a:xfrm>
              <a:off x="9395460" y="1478280"/>
              <a:ext cx="891540" cy="89154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1" name="Ellipse 51"/>
            <p:cNvSpPr/>
            <p:nvPr/>
          </p:nvSpPr>
          <p:spPr>
            <a:xfrm>
              <a:off x="6024562" y="361950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2" name="Ellipse 52"/>
            <p:cNvSpPr/>
            <p:nvPr/>
          </p:nvSpPr>
          <p:spPr>
            <a:xfrm>
              <a:off x="7658100" y="3616642"/>
              <a:ext cx="729615" cy="72961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3" name="Ellipse 53"/>
            <p:cNvSpPr/>
            <p:nvPr/>
          </p:nvSpPr>
          <p:spPr>
            <a:xfrm>
              <a:off x="8249602" y="2573655"/>
              <a:ext cx="758190" cy="75819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4" name="Ellipse 54"/>
            <p:cNvSpPr/>
            <p:nvPr/>
          </p:nvSpPr>
          <p:spPr>
            <a:xfrm>
              <a:off x="10155555" y="2247900"/>
              <a:ext cx="1066800" cy="1066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5" name="Ellipse 55"/>
            <p:cNvSpPr/>
            <p:nvPr/>
          </p:nvSpPr>
          <p:spPr>
            <a:xfrm>
              <a:off x="10085070" y="3448050"/>
              <a:ext cx="723900" cy="7239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088761" y="1858328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读旋转信号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785164" y="1858328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收集求平均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464320" y="1858328"/>
              <a:ext cx="7538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转换成 rpm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098477" y="391572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读和校核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731514" y="3915728"/>
              <a:ext cx="582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 gph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322463" y="2887028"/>
              <a:ext cx="6124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 mph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8403158" y="336661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变换中心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219106" y="2715578"/>
              <a:ext cx="93969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产生 mph 显示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158984" y="374427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发出铃声</a:t>
              </a:r>
            </a:p>
          </p:txBody>
        </p:sp>
        <p:sp>
          <p:nvSpPr>
            <p:cNvPr id="65" name="Rectangle 65"/>
            <p:cNvSpPr/>
            <p:nvPr/>
          </p:nvSpPr>
          <p:spPr>
            <a:xfrm>
              <a:off x="7171372" y="1845945"/>
              <a:ext cx="24765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7200317" y="1874996"/>
              <a:ext cx="19166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sps</a:t>
              </a:r>
            </a:p>
          </p:txBody>
        </p:sp>
        <p:sp>
          <p:nvSpPr>
            <p:cNvPr id="67" name="Rectangle 67"/>
            <p:cNvSpPr/>
            <p:nvPr/>
          </p:nvSpPr>
          <p:spPr>
            <a:xfrm>
              <a:off x="9075420" y="2381250"/>
              <a:ext cx="268605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9102851" y="2410301"/>
              <a:ext cx="21374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rpm</a:t>
              </a:r>
            </a:p>
          </p:txBody>
        </p:sp>
        <p:sp>
          <p:nvSpPr>
            <p:cNvPr id="69" name="Rectangle 69"/>
            <p:cNvSpPr/>
            <p:nvPr/>
          </p:nvSpPr>
          <p:spPr>
            <a:xfrm>
              <a:off x="7009448" y="3903345"/>
              <a:ext cx="38862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7033412" y="3932396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燃料流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8198168" y="3394710"/>
              <a:ext cx="24765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8226160" y="3423761"/>
              <a:ext cx="19166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gph</a:t>
              </a:r>
            </a:p>
          </p:txBody>
        </p:sp>
        <p:sp>
          <p:nvSpPr>
            <p:cNvPr id="73" name="Rectangle 73"/>
            <p:cNvSpPr/>
            <p:nvPr/>
          </p:nvSpPr>
          <p:spPr>
            <a:xfrm>
              <a:off x="9447848" y="2794635"/>
              <a:ext cx="268605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9475278" y="2824639"/>
              <a:ext cx="21374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mph</a:t>
              </a:r>
            </a:p>
          </p:txBody>
        </p:sp>
        <p:sp>
          <p:nvSpPr>
            <p:cNvPr id="75" name="Rectangle 75"/>
            <p:cNvSpPr/>
            <p:nvPr/>
          </p:nvSpPr>
          <p:spPr>
            <a:xfrm>
              <a:off x="9351645" y="3306128"/>
              <a:ext cx="388620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76" name="TextBox 76"/>
            <p:cNvSpPr txBox="1"/>
            <p:nvPr/>
          </p:nvSpPr>
          <p:spPr>
            <a:xfrm>
              <a:off x="9375610" y="3336131"/>
              <a:ext cx="3406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超速值</a:t>
              </a:r>
            </a:p>
          </p:txBody>
        </p:sp>
      </p:grpSp>
      <p:grpSp>
        <p:nvGrpSpPr>
          <p:cNvPr id="79" name="c2-text-2"/>
          <p:cNvGrpSpPr/>
          <p:nvPr/>
        </p:nvGrpSpPr>
        <p:grpSpPr>
          <a:xfrm>
            <a:off x="5592318" y="4593431"/>
            <a:ext cx="5808218" cy="752284"/>
            <a:chOff x="5592318" y="4593431"/>
            <a:chExt cx="5808218" cy="752284"/>
          </a:xfrm>
        </p:grpSpPr>
        <p:sp>
          <p:nvSpPr>
            <p:cNvPr id="78" name="TextBox 78"/>
            <p:cNvSpPr txBox="1"/>
            <p:nvPr/>
          </p:nvSpPr>
          <p:spPr>
            <a:xfrm>
              <a:off x="5592318" y="4593431"/>
              <a:ext cx="5808218" cy="7522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图中只画出与 mph 和超速警告有关的一条通路，里程、mpg、加速与减速三条通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路的画法相同。"计算 mph"同时算出超速值。输入通路止于 rpm 和 gph，输出通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路从 mph 显示和铃声开始。</a:t>
              </a:r>
            </a:p>
          </p:txBody>
        </p:sp>
      </p:grpSp>
      <p:grpSp>
        <p:nvGrpSpPr>
          <p:cNvPr id="8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0" name="TextBox 80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面向数据流的设计方法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实例一：映射出来的软件结构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6843659" cy="308039"/>
            <a:chOff x="525399" y="1550194"/>
            <a:chExt cx="6843659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684365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顶层是"数字仪表板控制"，下面三个模块分别管输入、变换中心和输出。</a:t>
              </a:r>
            </a:p>
          </p:txBody>
        </p:sp>
      </p:grpSp>
      <p:grpSp>
        <p:nvGrpSpPr>
          <p:cNvPr id="26" name="c1-tree-1"/>
          <p:cNvGrpSpPr/>
          <p:nvPr/>
        </p:nvGrpSpPr>
        <p:grpSpPr>
          <a:xfrm>
            <a:off x="1188720" y="1782128"/>
            <a:ext cx="2936557" cy="3095624"/>
            <a:chOff x="1188720" y="1782128"/>
            <a:chExt cx="2936557" cy="3095624"/>
          </a:xfrm>
        </p:grpSpPr>
        <p:sp>
          <p:nvSpPr>
            <p:cNvPr id="9" name="Freeform 9"/>
            <p:cNvSpPr/>
            <p:nvPr/>
          </p:nvSpPr>
          <p:spPr>
            <a:xfrm>
              <a:off x="1615440" y="3753802"/>
              <a:ext cx="9525" cy="714375"/>
            </a:xfrm>
            <a:custGeom>
              <a:avLst/>
              <a:gdLst/>
              <a:ahLst/>
              <a:cxnLst/>
              <a:rect l="l" t="t" r="r" b="b"/>
              <a:pathLst>
                <a:path w="9525" h="714375">
                  <a:moveTo>
                    <a:pt x="0" y="0"/>
                  </a:moveTo>
                  <a:lnTo>
                    <a:pt x="0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1615440" y="3039428"/>
              <a:ext cx="9525" cy="714375"/>
            </a:xfrm>
            <a:custGeom>
              <a:avLst/>
              <a:gdLst/>
              <a:ahLst/>
              <a:cxnLst/>
              <a:rect l="l" t="t" r="r" b="b"/>
              <a:pathLst>
                <a:path w="9525" h="714375">
                  <a:moveTo>
                    <a:pt x="0" y="0"/>
                  </a:moveTo>
                  <a:lnTo>
                    <a:pt x="0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3779520" y="3039428"/>
              <a:ext cx="9525" cy="714375"/>
            </a:xfrm>
            <a:custGeom>
              <a:avLst/>
              <a:gdLst/>
              <a:ahLst/>
              <a:cxnLst/>
              <a:rect l="l" t="t" r="r" b="b"/>
              <a:pathLst>
                <a:path w="9525" h="714375">
                  <a:moveTo>
                    <a:pt x="0" y="0"/>
                  </a:moveTo>
                  <a:lnTo>
                    <a:pt x="0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615440" y="2325052"/>
              <a:ext cx="1082040" cy="714375"/>
            </a:xfrm>
            <a:custGeom>
              <a:avLst/>
              <a:gdLst/>
              <a:ahLst/>
              <a:cxnLst/>
              <a:rect l="l" t="t" r="r" b="b"/>
              <a:pathLst>
                <a:path w="1082040" h="714375">
                  <a:moveTo>
                    <a:pt x="1082040" y="0"/>
                  </a:moveTo>
                  <a:lnTo>
                    <a:pt x="0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2697480" y="2325052"/>
              <a:ext cx="1082040" cy="714375"/>
            </a:xfrm>
            <a:custGeom>
              <a:avLst/>
              <a:gdLst/>
              <a:ahLst/>
              <a:cxnLst/>
              <a:rect l="l" t="t" r="r" b="b"/>
              <a:pathLst>
                <a:path w="1082040" h="714375">
                  <a:moveTo>
                    <a:pt x="0" y="0"/>
                  </a:moveTo>
                  <a:lnTo>
                    <a:pt x="1082040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1205865" y="4058602"/>
              <a:ext cx="819150" cy="8191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1269682" y="3408045"/>
              <a:ext cx="691515" cy="69151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1188720" y="2612708"/>
              <a:ext cx="853440" cy="85344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3436620" y="3410902"/>
              <a:ext cx="685800" cy="685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3433762" y="2693670"/>
              <a:ext cx="691515" cy="691515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9" name="Ellipse 19"/>
            <p:cNvSpPr/>
            <p:nvPr/>
          </p:nvSpPr>
          <p:spPr>
            <a:xfrm>
              <a:off x="2154555" y="1782128"/>
              <a:ext cx="1085850" cy="10858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256728" y="440245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读旋转信号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24047" y="3688080"/>
              <a:ext cx="582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收集 sps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238530" y="2973705"/>
              <a:ext cx="7538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转换成 rpm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491484" y="368808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读燃料流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488127" y="2973705"/>
              <a:ext cx="582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 gph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197418" y="2259330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接收传感器信号</a:t>
              </a:r>
            </a:p>
          </p:txBody>
        </p:sp>
      </p:grpSp>
      <p:grpSp>
        <p:nvGrpSpPr>
          <p:cNvPr id="41" name="c2-tree-1"/>
          <p:cNvGrpSpPr/>
          <p:nvPr/>
        </p:nvGrpSpPr>
        <p:grpSpPr>
          <a:xfrm>
            <a:off x="5501640" y="1848802"/>
            <a:ext cx="5688330" cy="1666876"/>
            <a:chOff x="5501640" y="1848802"/>
            <a:chExt cx="5688330" cy="1666876"/>
          </a:xfrm>
        </p:grpSpPr>
        <p:sp>
          <p:nvSpPr>
            <p:cNvPr id="27" name="Freeform 27"/>
            <p:cNvSpPr/>
            <p:nvPr/>
          </p:nvSpPr>
          <p:spPr>
            <a:xfrm>
              <a:off x="5977890" y="2325052"/>
              <a:ext cx="2434590" cy="714375"/>
            </a:xfrm>
            <a:custGeom>
              <a:avLst/>
              <a:gdLst/>
              <a:ahLst/>
              <a:cxnLst/>
              <a:rect l="l" t="t" r="r" b="b"/>
              <a:pathLst>
                <a:path w="2434590" h="714375">
                  <a:moveTo>
                    <a:pt x="2434590" y="0"/>
                  </a:moveTo>
                  <a:lnTo>
                    <a:pt x="0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7600950" y="2325052"/>
              <a:ext cx="811530" cy="714375"/>
            </a:xfrm>
            <a:custGeom>
              <a:avLst/>
              <a:gdLst/>
              <a:ahLst/>
              <a:cxnLst/>
              <a:rect l="l" t="t" r="r" b="b"/>
              <a:pathLst>
                <a:path w="811530" h="714375">
                  <a:moveTo>
                    <a:pt x="811530" y="0"/>
                  </a:moveTo>
                  <a:lnTo>
                    <a:pt x="0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8412480" y="2325052"/>
              <a:ext cx="811530" cy="714375"/>
            </a:xfrm>
            <a:custGeom>
              <a:avLst/>
              <a:gdLst/>
              <a:ahLst/>
              <a:cxnLst/>
              <a:rect l="l" t="t" r="r" b="b"/>
              <a:pathLst>
                <a:path w="811530" h="714375">
                  <a:moveTo>
                    <a:pt x="0" y="0"/>
                  </a:moveTo>
                  <a:lnTo>
                    <a:pt x="811530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8412480" y="2325052"/>
              <a:ext cx="2434590" cy="714375"/>
            </a:xfrm>
            <a:custGeom>
              <a:avLst/>
              <a:gdLst/>
              <a:ahLst/>
              <a:cxnLst/>
              <a:rect l="l" t="t" r="r" b="b"/>
              <a:pathLst>
                <a:path w="2434590" h="714375">
                  <a:moveTo>
                    <a:pt x="0" y="0"/>
                  </a:moveTo>
                  <a:lnTo>
                    <a:pt x="2434590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5501640" y="2563178"/>
              <a:ext cx="952500" cy="952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7240905" y="2679382"/>
              <a:ext cx="720090" cy="72009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8863965" y="2679382"/>
              <a:ext cx="720090" cy="72009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4" name="Ellipse 34"/>
            <p:cNvSpPr/>
            <p:nvPr/>
          </p:nvSpPr>
          <p:spPr>
            <a:xfrm>
              <a:off x="10504170" y="2696528"/>
              <a:ext cx="685800" cy="685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7936230" y="1848802"/>
              <a:ext cx="952500" cy="952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548503" y="2973705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确定加速减速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294715" y="2973705"/>
              <a:ext cx="6124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 mph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917775" y="2973705"/>
              <a:ext cx="6124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 mpg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559034" y="297370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计算里程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983093" y="225933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数据转换控制</a:t>
              </a:r>
            </a:p>
          </p:txBody>
        </p:sp>
      </p:grpSp>
      <p:grpSp>
        <p:nvGrpSpPr>
          <p:cNvPr id="59" name="c2-tree-2"/>
          <p:cNvGrpSpPr/>
          <p:nvPr/>
        </p:nvGrpSpPr>
        <p:grpSpPr>
          <a:xfrm>
            <a:off x="5339715" y="3534728"/>
            <a:ext cx="6012180" cy="1600200"/>
            <a:chOff x="5339715" y="3534728"/>
            <a:chExt cx="6012180" cy="1600200"/>
          </a:xfrm>
        </p:grpSpPr>
        <p:sp>
          <p:nvSpPr>
            <p:cNvPr id="42" name="Freeform 42"/>
            <p:cNvSpPr/>
            <p:nvPr/>
          </p:nvSpPr>
          <p:spPr>
            <a:xfrm>
              <a:off x="5815965" y="3944302"/>
              <a:ext cx="2596515" cy="714375"/>
            </a:xfrm>
            <a:custGeom>
              <a:avLst/>
              <a:gdLst/>
              <a:ahLst/>
              <a:cxnLst/>
              <a:rect l="l" t="t" r="r" b="b"/>
              <a:pathLst>
                <a:path w="2596515" h="714375">
                  <a:moveTo>
                    <a:pt x="2596515" y="0"/>
                  </a:moveTo>
                  <a:lnTo>
                    <a:pt x="0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7114222" y="3944302"/>
              <a:ext cx="1298258" cy="714375"/>
            </a:xfrm>
            <a:custGeom>
              <a:avLst/>
              <a:gdLst/>
              <a:ahLst/>
              <a:cxnLst/>
              <a:rect l="l" t="t" r="r" b="b"/>
              <a:pathLst>
                <a:path w="1298258" h="714375">
                  <a:moveTo>
                    <a:pt x="1298258" y="0"/>
                  </a:moveTo>
                  <a:lnTo>
                    <a:pt x="0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8412480" y="3944302"/>
              <a:ext cx="9525" cy="714375"/>
            </a:xfrm>
            <a:custGeom>
              <a:avLst/>
              <a:gdLst/>
              <a:ahLst/>
              <a:cxnLst/>
              <a:rect l="l" t="t" r="r" b="b"/>
              <a:pathLst>
                <a:path w="9525" h="714375">
                  <a:moveTo>
                    <a:pt x="0" y="0"/>
                  </a:moveTo>
                  <a:lnTo>
                    <a:pt x="0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8412480" y="3944302"/>
              <a:ext cx="1298257" cy="714375"/>
            </a:xfrm>
            <a:custGeom>
              <a:avLst/>
              <a:gdLst/>
              <a:ahLst/>
              <a:cxnLst/>
              <a:rect l="l" t="t" r="r" b="b"/>
              <a:pathLst>
                <a:path w="1298257" h="714375">
                  <a:moveTo>
                    <a:pt x="0" y="0"/>
                  </a:moveTo>
                  <a:lnTo>
                    <a:pt x="1298257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8412480" y="3944302"/>
              <a:ext cx="2596515" cy="714375"/>
            </a:xfrm>
            <a:custGeom>
              <a:avLst/>
              <a:gdLst/>
              <a:ahLst/>
              <a:cxnLst/>
              <a:rect l="l" t="t" r="r" b="b"/>
              <a:pathLst>
                <a:path w="2596515" h="714375">
                  <a:moveTo>
                    <a:pt x="0" y="0"/>
                  </a:moveTo>
                  <a:lnTo>
                    <a:pt x="2596515" y="7143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47" name="Ellipse 47"/>
            <p:cNvSpPr/>
            <p:nvPr/>
          </p:nvSpPr>
          <p:spPr>
            <a:xfrm>
              <a:off x="5339715" y="4182428"/>
              <a:ext cx="952500" cy="9525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8" name="Ellipse 48"/>
            <p:cNvSpPr/>
            <p:nvPr/>
          </p:nvSpPr>
          <p:spPr>
            <a:xfrm>
              <a:off x="6754178" y="4298632"/>
              <a:ext cx="720090" cy="72009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9" name="Ellipse 49"/>
            <p:cNvSpPr/>
            <p:nvPr/>
          </p:nvSpPr>
          <p:spPr>
            <a:xfrm>
              <a:off x="8052435" y="4298632"/>
              <a:ext cx="720090" cy="72009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0" name="Ellipse 50"/>
            <p:cNvSpPr/>
            <p:nvPr/>
          </p:nvSpPr>
          <p:spPr>
            <a:xfrm>
              <a:off x="9367838" y="4315778"/>
              <a:ext cx="685800" cy="685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1" name="Ellipse 51"/>
            <p:cNvSpPr/>
            <p:nvPr/>
          </p:nvSpPr>
          <p:spPr>
            <a:xfrm>
              <a:off x="10666095" y="4315778"/>
              <a:ext cx="685800" cy="6858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2" name="Ellipse 52"/>
            <p:cNvSpPr/>
            <p:nvPr/>
          </p:nvSpPr>
          <p:spPr>
            <a:xfrm>
              <a:off x="8002905" y="3534728"/>
              <a:ext cx="819150" cy="81915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386578" y="4592955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加速减速显示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807988" y="4592955"/>
              <a:ext cx="6124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显示 mph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106245" y="4592955"/>
              <a:ext cx="6124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显示 mpg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422702" y="459295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显示里程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720959" y="459295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发出铃声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053769" y="387858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驱动仪表板</a:t>
              </a:r>
            </a:p>
          </p:txBody>
        </p:sp>
      </p:grpSp>
      <p:grpSp>
        <p:nvGrpSpPr>
          <p:cNvPr id="66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60" name="Rectangle 60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738188" y="5871210"/>
              <a:ext cx="200026" cy="200026"/>
              <a:chOff x="738188" y="5871210"/>
              <a:chExt cx="200026" cy="200026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738188" y="58712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38200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27088" y="59712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1040130" y="5728335"/>
              <a:ext cx="97497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四个显示模块最后都调用同一个"发光二极管显示"模块，这个底层公共模块的扇入很大，正是启发规则希望看到的结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面向数据流的设计方法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实例二：工厂模拟系统的一级分解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11354105" cy="264033"/>
            <a:chOff x="526542" y="1545907"/>
            <a:chExt cx="11354105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135410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本系统模拟一个工厂的生产与销售活动，以"议程"（agenda）描述活动，由各类模拟产生生产与销售数据，再交叉制表生成结果并印出报表。</a:t>
              </a:r>
            </a:p>
          </p:txBody>
        </p:sp>
      </p:grpSp>
      <p:grpSp>
        <p:nvGrpSpPr>
          <p:cNvPr id="14" name="c1-card-1"/>
          <p:cNvGrpSpPr/>
          <p:nvPr/>
        </p:nvGrpSpPr>
        <p:grpSpPr>
          <a:xfrm>
            <a:off x="533400" y="1928812"/>
            <a:ext cx="11125200" cy="1228725"/>
            <a:chOff x="533400" y="1928812"/>
            <a:chExt cx="11125200" cy="122872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11125200" cy="1228725"/>
            </a:xfrm>
            <a:prstGeom prst="roundRect">
              <a:avLst>
                <a:gd name="adj" fmla="val 1085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20090" y="2115502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01560" y="2148364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数据流符号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3232" y="2459355"/>
              <a:ext cx="70923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议程表　b 议程项　c 有效议程项　d 议程数据　e 存储常数　f 有效议程表　g 机器表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13232" y="2759392"/>
              <a:ext cx="62927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h 销售输出　i 机器输出　j 生产线输出　k 制造输出　l 模拟结果　m 报表议程</a:t>
              </a:r>
            </a:p>
          </p:txBody>
        </p:sp>
      </p:grpSp>
      <p:grpSp>
        <p:nvGrpSpPr>
          <p:cNvPr id="35" name="c1-tree-2"/>
          <p:cNvGrpSpPr/>
          <p:nvPr/>
        </p:nvGrpSpPr>
        <p:grpSpPr>
          <a:xfrm>
            <a:off x="1046798" y="3279458"/>
            <a:ext cx="10187940" cy="1664017"/>
            <a:chOff x="1046798" y="3279458"/>
            <a:chExt cx="10187940" cy="1664017"/>
          </a:xfrm>
        </p:grpSpPr>
        <p:sp>
          <p:nvSpPr>
            <p:cNvPr id="15" name="Freeform 15"/>
            <p:cNvSpPr/>
            <p:nvPr/>
          </p:nvSpPr>
          <p:spPr>
            <a:xfrm>
              <a:off x="1460182" y="3698558"/>
              <a:ext cx="4635818" cy="741997"/>
            </a:xfrm>
            <a:custGeom>
              <a:avLst/>
              <a:gdLst/>
              <a:ahLst/>
              <a:cxnLst/>
              <a:rect l="l" t="t" r="r" b="b"/>
              <a:pathLst>
                <a:path w="4635818" h="741997">
                  <a:moveTo>
                    <a:pt x="4635818" y="0"/>
                  </a:moveTo>
                  <a:lnTo>
                    <a:pt x="0" y="74199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3314700" y="3698558"/>
              <a:ext cx="2781300" cy="741997"/>
            </a:xfrm>
            <a:custGeom>
              <a:avLst/>
              <a:gdLst/>
              <a:ahLst/>
              <a:cxnLst/>
              <a:rect l="l" t="t" r="r" b="b"/>
              <a:pathLst>
                <a:path w="2781300" h="741997">
                  <a:moveTo>
                    <a:pt x="2781300" y="0"/>
                  </a:moveTo>
                  <a:lnTo>
                    <a:pt x="0" y="74199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5169218" y="3698558"/>
              <a:ext cx="926782" cy="741997"/>
            </a:xfrm>
            <a:custGeom>
              <a:avLst/>
              <a:gdLst/>
              <a:ahLst/>
              <a:cxnLst/>
              <a:rect l="l" t="t" r="r" b="b"/>
              <a:pathLst>
                <a:path w="926782" h="741997">
                  <a:moveTo>
                    <a:pt x="926782" y="0"/>
                  </a:moveTo>
                  <a:lnTo>
                    <a:pt x="0" y="74199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6096000" y="3698558"/>
              <a:ext cx="926782" cy="741997"/>
            </a:xfrm>
            <a:custGeom>
              <a:avLst/>
              <a:gdLst/>
              <a:ahLst/>
              <a:cxnLst/>
              <a:rect l="l" t="t" r="r" b="b"/>
              <a:pathLst>
                <a:path w="926782" h="741997">
                  <a:moveTo>
                    <a:pt x="0" y="0"/>
                  </a:moveTo>
                  <a:lnTo>
                    <a:pt x="926782" y="74199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6096000" y="3698558"/>
              <a:ext cx="2781300" cy="741997"/>
            </a:xfrm>
            <a:custGeom>
              <a:avLst/>
              <a:gdLst/>
              <a:ahLst/>
              <a:cxnLst/>
              <a:rect l="l" t="t" r="r" b="b"/>
              <a:pathLst>
                <a:path w="2781300" h="741997">
                  <a:moveTo>
                    <a:pt x="0" y="0"/>
                  </a:moveTo>
                  <a:lnTo>
                    <a:pt x="2781300" y="74199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6096000" y="3698558"/>
              <a:ext cx="4635818" cy="741997"/>
            </a:xfrm>
            <a:custGeom>
              <a:avLst/>
              <a:gdLst/>
              <a:ahLst/>
              <a:cxnLst/>
              <a:rect l="l" t="t" r="r" b="b"/>
              <a:pathLst>
                <a:path w="4635818" h="741997">
                  <a:moveTo>
                    <a:pt x="0" y="0"/>
                  </a:moveTo>
                  <a:lnTo>
                    <a:pt x="4635818" y="741997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1" name="Ellipse 21"/>
            <p:cNvSpPr/>
            <p:nvPr/>
          </p:nvSpPr>
          <p:spPr>
            <a:xfrm>
              <a:off x="1046798" y="4027170"/>
              <a:ext cx="826770" cy="82677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2" name="Ellipse 22"/>
            <p:cNvSpPr/>
            <p:nvPr/>
          </p:nvSpPr>
          <p:spPr>
            <a:xfrm>
              <a:off x="2958465" y="4084320"/>
              <a:ext cx="712470" cy="71247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3" name="Ellipse 23"/>
            <p:cNvSpPr/>
            <p:nvPr/>
          </p:nvSpPr>
          <p:spPr>
            <a:xfrm>
              <a:off x="4812983" y="4084320"/>
              <a:ext cx="712470" cy="71247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6609398" y="4027170"/>
              <a:ext cx="826770" cy="82677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5" name="Ellipse 25"/>
            <p:cNvSpPr/>
            <p:nvPr/>
          </p:nvSpPr>
          <p:spPr>
            <a:xfrm>
              <a:off x="8463915" y="4027170"/>
              <a:ext cx="826770" cy="82677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10228898" y="3937635"/>
              <a:ext cx="1005840" cy="100584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7" name="Ellipse 27"/>
            <p:cNvSpPr/>
            <p:nvPr/>
          </p:nvSpPr>
          <p:spPr>
            <a:xfrm>
              <a:off x="5676900" y="3279458"/>
              <a:ext cx="838200" cy="8382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098458" y="4384358"/>
              <a:ext cx="72344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取得议程表 4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13555" y="4384358"/>
              <a:ext cx="60229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销售模拟 5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868072" y="4384358"/>
              <a:ext cx="60229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机器模拟 6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61058" y="4384358"/>
              <a:ext cx="72344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生产线模拟 8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515576" y="4384358"/>
              <a:ext cx="72344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工厂级汇总 9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274530" y="4384358"/>
              <a:ext cx="91457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输出模拟结果 10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727764" y="3642360"/>
              <a:ext cx="7364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工厂模拟系统</a:t>
              </a:r>
            </a:p>
          </p:txBody>
        </p:sp>
      </p:grpSp>
      <p:grpSp>
        <p:nvGrpSpPr>
          <p:cNvPr id="42" name="c1-callout-3"/>
          <p:cNvGrpSpPr/>
          <p:nvPr/>
        </p:nvGrpSpPr>
        <p:grpSpPr>
          <a:xfrm>
            <a:off x="533400" y="4980622"/>
            <a:ext cx="11125200" cy="729615"/>
            <a:chOff x="533400" y="4980622"/>
            <a:chExt cx="11125200" cy="729615"/>
          </a:xfrm>
        </p:grpSpPr>
        <p:sp>
          <p:nvSpPr>
            <p:cNvPr id="36" name="Rectangle 36"/>
            <p:cNvSpPr/>
            <p:nvPr/>
          </p:nvSpPr>
          <p:spPr>
            <a:xfrm>
              <a:off x="533400" y="4980622"/>
              <a:ext cx="11125200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726129" y="5241726"/>
              <a:ext cx="224134" cy="192560"/>
              <a:chOff x="726129" y="5241726"/>
              <a:chExt cx="224134" cy="19256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838200" y="531209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726129" y="524172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38200" y="538988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040892" y="5127308"/>
              <a:ext cx="990638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这是把加工 4、5、6、8、9、10 各映射成一个模块得到的一级分解，六个模块并列，层次还不够清楚；改进办法是在 6、8、9 上面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增设一级"生产模拟"模块，与"销售模拟"并列。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43" name="Rectangle 43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6022658"/>
              <a:ext cx="200026" cy="200026"/>
              <a:chOff x="738188" y="6022658"/>
              <a:chExt cx="200026" cy="200026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6022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838200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27088" y="612267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892" y="6028373"/>
              <a:ext cx="77738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数据流图上共有 16 个加工，模块名后面的数字就是对应的加工编号，字母是加工之间的数据流。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面向数据流的设计方法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实例二：用启发规则做的五处精化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5465826" cy="264033"/>
            <a:chOff x="526542" y="1545907"/>
            <a:chExt cx="5465826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546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第一次分解得到的结构总还可以精化，目标是提高内聚、降低耦合。</a:t>
              </a:r>
            </a:p>
          </p:txBody>
        </p:sp>
      </p:grpSp>
      <p:grpSp>
        <p:nvGrpSpPr>
          <p:cNvPr id="30" name="c1-table-1"/>
          <p:cNvGrpSpPr/>
          <p:nvPr/>
        </p:nvGrpSpPr>
        <p:grpSpPr>
          <a:xfrm>
            <a:off x="533400" y="1928812"/>
            <a:ext cx="11125200" cy="2400300"/>
            <a:chOff x="533400" y="1928812"/>
            <a:chExt cx="11125200" cy="240030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11125200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562619" y="20502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精化动作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275993" y="20502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理由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30555" y="2450306"/>
              <a:ext cx="44852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取消"取得有效议程项"，把 1、2、3 并列为"取得议程数据"的下级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303520" y="2450306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它接近于假模块，除调用下级模块外没有其它内容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7241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728912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0555" y="2850356"/>
              <a:ext cx="19390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2、3 两个模块合并成一个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03520" y="2850356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格式检查和语法分析在内容上比较密切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312420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0555" y="3250406"/>
              <a:ext cx="24705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把"形成议程表"上并到"取得议程表"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303520" y="3250406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减少调用层次，也使后者除调用下级外增加了实质内容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5242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3529012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0555" y="3650456"/>
              <a:ext cx="38275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把"机器模拟"并入上级"取得机器数据"并改名为机器模拟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03520" y="3650456"/>
              <a:ext cx="5831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一般情况下从传入分支取得 f 并变换为 i，必要时也可直接由系统外取得二次传入数据 g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392430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0555" y="4050506"/>
              <a:ext cx="38275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省去"写报表磁带"，三个下属模块直接归"制成报表"调用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5303520" y="4050506"/>
              <a:ext cx="45039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该模块除调用外没有实质内容；若报表 B、C 都很小还可以合二为一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1928812"/>
              <a:ext cx="11125200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5201602" y="1928812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3" name="c1-card-2"/>
          <p:cNvGrpSpPr/>
          <p:nvPr/>
        </p:nvGrpSpPr>
        <p:grpSpPr>
          <a:xfrm>
            <a:off x="533400" y="4498658"/>
            <a:ext cx="11125200" cy="863918"/>
            <a:chOff x="533400" y="4498658"/>
            <a:chExt cx="11125200" cy="863918"/>
          </a:xfrm>
        </p:grpSpPr>
        <p:sp>
          <p:nvSpPr>
            <p:cNvPr id="31" name="Rectangle 31"/>
            <p:cNvSpPr/>
            <p:nvPr/>
          </p:nvSpPr>
          <p:spPr>
            <a:xfrm>
              <a:off x="533400" y="4498658"/>
              <a:ext cx="11125200" cy="863918"/>
            </a:xfrm>
            <a:prstGeom prst="roundRect">
              <a:avLst>
                <a:gd name="adj" fmla="val 15436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13232" y="4708208"/>
              <a:ext cx="103007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五处改动用的是同一个判断：一个模块除了调用下级之外还得有自己的实质内容，否则就取消它或者把它并进上级；内容上密切相关的两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个模块则合并。精化只改结构，不改数据流图上的加工。</a:t>
              </a:r>
            </a:p>
          </p:txBody>
        </p:sp>
      </p:grpSp>
      <p:grpSp>
        <p:nvGrpSpPr>
          <p:cNvPr id="40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34" name="Rectangle 34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738188" y="6022658"/>
              <a:ext cx="200026" cy="200025"/>
              <a:chOff x="738188" y="6022658"/>
              <a:chExt cx="200026" cy="200025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738188" y="60226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777926" y="60671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812642" y="61782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1040892" y="6028373"/>
              <a:ext cx="69197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精化之后模块数从十几个降到必要的几个，层次也从四层压到三层，调用关系更好读。</a:t>
              </a:r>
            </a:p>
          </p:txBody>
        </p:sp>
      </p:grpSp>
      <p:grpSp>
        <p:nvGrpSpPr>
          <p:cNvPr id="4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1" name="TextBox 41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145280" cy="909257"/>
            <a:chOff x="520446" y="342900"/>
            <a:chExt cx="414528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面向数据流的设计方法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14528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实例二：精化后的软件结构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10863682" cy="308039"/>
            <a:chOff x="525399" y="1550194"/>
            <a:chExt cx="10863682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10863682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取消假模块、合并内容密切的模块之后，工厂模拟系统的结构图如下，方框里的数字是数据流图上对应的加工编号。</a:t>
              </a:r>
            </a:p>
          </p:txBody>
        </p:sp>
      </p:grpSp>
      <p:grpSp>
        <p:nvGrpSpPr>
          <p:cNvPr id="62" name="c1-tree-1"/>
          <p:cNvGrpSpPr/>
          <p:nvPr/>
        </p:nvGrpSpPr>
        <p:grpSpPr>
          <a:xfrm>
            <a:off x="533400" y="1937385"/>
            <a:ext cx="11125200" cy="3500438"/>
            <a:chOff x="533400" y="1937385"/>
            <a:chExt cx="11125200" cy="3500438"/>
          </a:xfrm>
        </p:grpSpPr>
        <p:sp>
          <p:nvSpPr>
            <p:cNvPr id="9" name="Freeform 9"/>
            <p:cNvSpPr/>
            <p:nvPr/>
          </p:nvSpPr>
          <p:spPr>
            <a:xfrm>
              <a:off x="8772525" y="2436495"/>
              <a:ext cx="419100" cy="156210"/>
            </a:xfrm>
            <a:custGeom>
              <a:avLst/>
              <a:gdLst/>
              <a:ahLst/>
              <a:cxnLst/>
              <a:rect l="l" t="t" r="r" b="b"/>
              <a:pathLst>
                <a:path w="419100" h="156210">
                  <a:moveTo>
                    <a:pt x="0" y="156210"/>
                  </a:moveTo>
                  <a:lnTo>
                    <a:pt x="209550" y="15621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8772525" y="2592705"/>
              <a:ext cx="419100" cy="157162"/>
            </a:xfrm>
            <a:custGeom>
              <a:avLst/>
              <a:gdLst/>
              <a:ahLst/>
              <a:cxnLst/>
              <a:rect l="l" t="t" r="r" b="b"/>
              <a:pathLst>
                <a:path w="419100" h="157162">
                  <a:moveTo>
                    <a:pt x="0" y="0"/>
                  </a:moveTo>
                  <a:lnTo>
                    <a:pt x="209550" y="0"/>
                  </a:lnTo>
                  <a:lnTo>
                    <a:pt x="209550" y="157162"/>
                  </a:lnTo>
                  <a:lnTo>
                    <a:pt x="419100" y="157162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5886450" y="2124075"/>
              <a:ext cx="419100" cy="234315"/>
            </a:xfrm>
            <a:custGeom>
              <a:avLst/>
              <a:gdLst/>
              <a:ahLst/>
              <a:cxnLst/>
              <a:rect l="l" t="t" r="r" b="b"/>
              <a:pathLst>
                <a:path w="419100" h="234315">
                  <a:moveTo>
                    <a:pt x="0" y="234315"/>
                  </a:moveTo>
                  <a:lnTo>
                    <a:pt x="209550" y="23431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5886450" y="2358390"/>
              <a:ext cx="419100" cy="234315"/>
            </a:xfrm>
            <a:custGeom>
              <a:avLst/>
              <a:gdLst/>
              <a:ahLst/>
              <a:cxnLst/>
              <a:rect l="l" t="t" r="r" b="b"/>
              <a:pathLst>
                <a:path w="419100" h="234315">
                  <a:moveTo>
                    <a:pt x="0" y="0"/>
                  </a:moveTo>
                  <a:lnTo>
                    <a:pt x="209550" y="0"/>
                  </a:lnTo>
                  <a:lnTo>
                    <a:pt x="209550" y="234315"/>
                  </a:lnTo>
                  <a:lnTo>
                    <a:pt x="419100" y="23431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8772525" y="3374708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5886450" y="3374708"/>
              <a:ext cx="419100" cy="313372"/>
            </a:xfrm>
            <a:custGeom>
              <a:avLst/>
              <a:gdLst/>
              <a:ahLst/>
              <a:cxnLst/>
              <a:rect l="l" t="t" r="r" b="b"/>
              <a:pathLst>
                <a:path w="419100" h="313372">
                  <a:moveTo>
                    <a:pt x="0" y="313372"/>
                  </a:moveTo>
                  <a:lnTo>
                    <a:pt x="209550" y="313372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5886450" y="3688080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5886450" y="3688080"/>
              <a:ext cx="419100" cy="312420"/>
            </a:xfrm>
            <a:custGeom>
              <a:avLst/>
              <a:gdLst/>
              <a:ahLst/>
              <a:cxnLst/>
              <a:rect l="l" t="t" r="r" b="b"/>
              <a:pathLst>
                <a:path w="419100" h="312420">
                  <a:moveTo>
                    <a:pt x="0" y="0"/>
                  </a:moveTo>
                  <a:lnTo>
                    <a:pt x="209550" y="0"/>
                  </a:lnTo>
                  <a:lnTo>
                    <a:pt x="209550" y="312420"/>
                  </a:lnTo>
                  <a:lnTo>
                    <a:pt x="419100" y="31242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8772525" y="4626292"/>
              <a:ext cx="419100" cy="312420"/>
            </a:xfrm>
            <a:custGeom>
              <a:avLst/>
              <a:gdLst/>
              <a:ahLst/>
              <a:cxnLst/>
              <a:rect l="l" t="t" r="r" b="b"/>
              <a:pathLst>
                <a:path w="419100" h="312420">
                  <a:moveTo>
                    <a:pt x="0" y="312420"/>
                  </a:moveTo>
                  <a:lnTo>
                    <a:pt x="209550" y="31242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8772525" y="4938712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8772525" y="4938712"/>
              <a:ext cx="419100" cy="313372"/>
            </a:xfrm>
            <a:custGeom>
              <a:avLst/>
              <a:gdLst/>
              <a:ahLst/>
              <a:cxnLst/>
              <a:rect l="l" t="t" r="r" b="b"/>
              <a:pathLst>
                <a:path w="419100" h="313372">
                  <a:moveTo>
                    <a:pt x="0" y="0"/>
                  </a:moveTo>
                  <a:lnTo>
                    <a:pt x="209550" y="0"/>
                  </a:lnTo>
                  <a:lnTo>
                    <a:pt x="209550" y="313372"/>
                  </a:lnTo>
                  <a:lnTo>
                    <a:pt x="419100" y="313372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5886450" y="4313872"/>
              <a:ext cx="419100" cy="312420"/>
            </a:xfrm>
            <a:custGeom>
              <a:avLst/>
              <a:gdLst/>
              <a:ahLst/>
              <a:cxnLst/>
              <a:rect l="l" t="t" r="r" b="b"/>
              <a:pathLst>
                <a:path w="419100" h="312420">
                  <a:moveTo>
                    <a:pt x="0" y="312420"/>
                  </a:moveTo>
                  <a:lnTo>
                    <a:pt x="209550" y="31242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1" name="Freeform 21"/>
            <p:cNvSpPr/>
            <p:nvPr/>
          </p:nvSpPr>
          <p:spPr>
            <a:xfrm>
              <a:off x="5886450" y="4626292"/>
              <a:ext cx="419100" cy="312420"/>
            </a:xfrm>
            <a:custGeom>
              <a:avLst/>
              <a:gdLst/>
              <a:ahLst/>
              <a:cxnLst/>
              <a:rect l="l" t="t" r="r" b="b"/>
              <a:pathLst>
                <a:path w="419100" h="312420">
                  <a:moveTo>
                    <a:pt x="0" y="0"/>
                  </a:moveTo>
                  <a:lnTo>
                    <a:pt x="209550" y="0"/>
                  </a:lnTo>
                  <a:lnTo>
                    <a:pt x="209550" y="312420"/>
                  </a:lnTo>
                  <a:lnTo>
                    <a:pt x="419100" y="31242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3000375" y="2358390"/>
              <a:ext cx="419100" cy="1134428"/>
            </a:xfrm>
            <a:custGeom>
              <a:avLst/>
              <a:gdLst/>
              <a:ahLst/>
              <a:cxnLst/>
              <a:rect l="l" t="t" r="r" b="b"/>
              <a:pathLst>
                <a:path w="419100" h="1134428">
                  <a:moveTo>
                    <a:pt x="0" y="1134428"/>
                  </a:moveTo>
                  <a:lnTo>
                    <a:pt x="209550" y="1134428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3" name="Freeform 23"/>
            <p:cNvSpPr/>
            <p:nvPr/>
          </p:nvSpPr>
          <p:spPr>
            <a:xfrm>
              <a:off x="3000375" y="3062288"/>
              <a:ext cx="419100" cy="430530"/>
            </a:xfrm>
            <a:custGeom>
              <a:avLst/>
              <a:gdLst/>
              <a:ahLst/>
              <a:cxnLst/>
              <a:rect l="l" t="t" r="r" b="b"/>
              <a:pathLst>
                <a:path w="419100" h="430530">
                  <a:moveTo>
                    <a:pt x="0" y="430530"/>
                  </a:moveTo>
                  <a:lnTo>
                    <a:pt x="209550" y="43053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3000375" y="3492818"/>
              <a:ext cx="419100" cy="195262"/>
            </a:xfrm>
            <a:custGeom>
              <a:avLst/>
              <a:gdLst/>
              <a:ahLst/>
              <a:cxnLst/>
              <a:rect l="l" t="t" r="r" b="b"/>
              <a:pathLst>
                <a:path w="419100" h="195262">
                  <a:moveTo>
                    <a:pt x="0" y="0"/>
                  </a:moveTo>
                  <a:lnTo>
                    <a:pt x="209550" y="0"/>
                  </a:lnTo>
                  <a:lnTo>
                    <a:pt x="209550" y="195262"/>
                  </a:lnTo>
                  <a:lnTo>
                    <a:pt x="419100" y="195262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5" name="Freeform 25"/>
            <p:cNvSpPr/>
            <p:nvPr/>
          </p:nvSpPr>
          <p:spPr>
            <a:xfrm>
              <a:off x="3000375" y="3492818"/>
              <a:ext cx="419100" cy="1133475"/>
            </a:xfrm>
            <a:custGeom>
              <a:avLst/>
              <a:gdLst/>
              <a:ahLst/>
              <a:cxnLst/>
              <a:rect l="l" t="t" r="r" b="b"/>
              <a:pathLst>
                <a:path w="419100" h="1133475">
                  <a:moveTo>
                    <a:pt x="0" y="0"/>
                  </a:moveTo>
                  <a:lnTo>
                    <a:pt x="209550" y="0"/>
                  </a:lnTo>
                  <a:lnTo>
                    <a:pt x="209550" y="1133475"/>
                  </a:lnTo>
                  <a:lnTo>
                    <a:pt x="419100" y="113347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305550" y="1937385"/>
              <a:ext cx="2466975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9191625" y="2250758"/>
              <a:ext cx="2466975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9191625" y="2563178"/>
              <a:ext cx="2466975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6305550" y="2406968"/>
              <a:ext cx="2466975" cy="372428"/>
            </a:xfrm>
            <a:prstGeom prst="roundRect">
              <a:avLst>
                <a:gd name="adj" fmla="val 25575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3419475" y="2172652"/>
              <a:ext cx="2466975" cy="372428"/>
            </a:xfrm>
            <a:prstGeom prst="roundRect">
              <a:avLst>
                <a:gd name="adj" fmla="val 25575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3419475" y="2875598"/>
              <a:ext cx="2466975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9191625" y="3188970"/>
              <a:ext cx="2466975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305550" y="3188970"/>
              <a:ext cx="2466975" cy="372428"/>
            </a:xfrm>
            <a:prstGeom prst="roundRect">
              <a:avLst>
                <a:gd name="adj" fmla="val 25575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305550" y="3501390"/>
              <a:ext cx="2466975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305550" y="3814762"/>
              <a:ext cx="2466975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3419475" y="3501390"/>
              <a:ext cx="2466975" cy="372428"/>
            </a:xfrm>
            <a:prstGeom prst="roundRect">
              <a:avLst>
                <a:gd name="adj" fmla="val 25575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305550" y="4127182"/>
              <a:ext cx="2466975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9191625" y="4439602"/>
              <a:ext cx="2466975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9191625" y="4752975"/>
              <a:ext cx="2466975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9191625" y="5065395"/>
              <a:ext cx="2466975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305550" y="4752975"/>
              <a:ext cx="2466975" cy="372428"/>
            </a:xfrm>
            <a:prstGeom prst="roundRect">
              <a:avLst>
                <a:gd name="adj" fmla="val 25575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3419475" y="4439602"/>
              <a:ext cx="2466975" cy="372428"/>
            </a:xfrm>
            <a:prstGeom prst="roundRect">
              <a:avLst>
                <a:gd name="adj" fmla="val 25575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533400" y="3306128"/>
              <a:ext cx="2466975" cy="372428"/>
            </a:xfrm>
            <a:prstGeom prst="roundRect">
              <a:avLst>
                <a:gd name="adj" fmla="val 25575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94323" y="2035016"/>
              <a:ext cx="12880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读入常数数据 16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280398" y="2347436"/>
              <a:ext cx="119330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读入议程卡片 1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280398" y="2660809"/>
              <a:ext cx="12880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检查与分析 2、3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394323" y="250364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取得议程数据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508248" y="2269331"/>
              <a:ext cx="10283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取得议程表 4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3508248" y="2973229"/>
              <a:ext cx="8486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销售模拟 5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280398" y="3285649"/>
              <a:ext cx="10209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取得特种表 7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394323" y="3285649"/>
              <a:ext cx="855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机器模拟 6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394323" y="3599021"/>
              <a:ext cx="10209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生产线模拟 8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394323" y="3911441"/>
              <a:ext cx="10209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工厂级汇总 9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508248" y="359902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生产模拟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394323" y="4224814"/>
              <a:ext cx="9434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交叉制表 10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280398" y="4537234"/>
              <a:ext cx="12880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取得报表议程 11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280398" y="4849654"/>
              <a:ext cx="111186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制成报表 A 13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280398" y="5163026"/>
              <a:ext cx="174616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制成报表 B、C 14、15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394323" y="4849654"/>
              <a:ext cx="95550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制成报表 12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3508248" y="453723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输出模拟结果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22173" y="340375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工厂模拟系统</a:t>
              </a:r>
            </a:p>
          </p:txBody>
        </p:sp>
      </p:grpSp>
      <p:grpSp>
        <p:nvGrpSpPr>
          <p:cNvPr id="69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63" name="Rectangle 63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738188" y="5871210"/>
              <a:ext cx="200026" cy="200026"/>
              <a:chOff x="738188" y="5871210"/>
              <a:chExt cx="200026" cy="200026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738188" y="587121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38200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27088" y="597122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1040130" y="5728335"/>
              <a:ext cx="100355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"检查与分析 2、3"是格式检查和语法分析两个加工合并成的模块；"生产模拟"是精化时增设的控制模块，数据流图上没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有对应的加工。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854262" cy="909257"/>
            <a:chOff x="520446" y="342900"/>
            <a:chExt cx="285426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面向数据流的设计方法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事务分析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410200" cy="1911668"/>
            <a:chOff x="533400" y="1524000"/>
            <a:chExt cx="5410200" cy="191166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911668"/>
            </a:xfrm>
            <a:prstGeom prst="roundRect">
              <a:avLst>
                <a:gd name="adj" fmla="val 69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4496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9660" y="1743551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什么时候用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48143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任何情况下都可以使用变换分析设计软件结构，但是在数据流具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有明显的事务特点，也就是有一个明显的"发射中心"时，还是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以采用事务分析为宜。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2475" y="2865596"/>
              <a:ext cx="470535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事务分析的设计步骤和变换分析大部分相同，主要差别只在由数据流图到软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件结构的映射方法。</a:t>
              </a:r>
            </a:p>
          </p:txBody>
        </p:sp>
      </p:grpSp>
      <p:grpSp>
        <p:nvGrpSpPr>
          <p:cNvPr id="27" name="c1-bullets-2"/>
          <p:cNvGrpSpPr/>
          <p:nvPr/>
        </p:nvGrpSpPr>
        <p:grpSpPr>
          <a:xfrm>
            <a:off x="526542" y="3627120"/>
            <a:ext cx="5390007" cy="2021396"/>
            <a:chOff x="526542" y="3627120"/>
            <a:chExt cx="5390007" cy="2021396"/>
          </a:xfrm>
        </p:grpSpPr>
        <p:sp>
          <p:nvSpPr>
            <p:cNvPr id="14" name="TextBox 14"/>
            <p:cNvSpPr txBox="1"/>
            <p:nvPr/>
          </p:nvSpPr>
          <p:spPr>
            <a:xfrm>
              <a:off x="526542" y="362712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映射方法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533400" y="3931920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89078" y="397125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14197" y="3944302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由事务流映射成的软件结构包括一个接收分支和一个发送分支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4240530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89078" y="427986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14197" y="4252912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映射接收分支：从事务中心的边界开始，把沿着接收流通路的处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理映射成模块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33400" y="4807267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89078" y="484565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14197" y="4818698"/>
              <a:ext cx="510235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发送分支的结构包含一个调度模块，它控制下层的所有活动模块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533400" y="5114925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89078" y="515426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14197" y="5127308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把数据流图中的每个活动流通路映射成与它的流特征相对应的结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</a:t>
              </a:r>
            </a:p>
          </p:txBody>
        </p:sp>
      </p:grpSp>
      <p:grpSp>
        <p:nvGrpSpPr>
          <p:cNvPr id="45" name="c2-tree-1"/>
          <p:cNvGrpSpPr/>
          <p:nvPr/>
        </p:nvGrpSpPr>
        <p:grpSpPr>
          <a:xfrm>
            <a:off x="7296150" y="1683068"/>
            <a:ext cx="4268152" cy="1943100"/>
            <a:chOff x="7296150" y="1683068"/>
            <a:chExt cx="4268152" cy="1943100"/>
          </a:xfrm>
        </p:grpSpPr>
        <p:sp>
          <p:nvSpPr>
            <p:cNvPr id="28" name="Freeform 28"/>
            <p:cNvSpPr/>
            <p:nvPr/>
          </p:nvSpPr>
          <p:spPr>
            <a:xfrm>
              <a:off x="9404032" y="2571750"/>
              <a:ext cx="902018" cy="698183"/>
            </a:xfrm>
            <a:custGeom>
              <a:avLst/>
              <a:gdLst/>
              <a:ahLst/>
              <a:cxnLst/>
              <a:rect l="l" t="t" r="r" b="b"/>
              <a:pathLst>
                <a:path w="902018" h="698183">
                  <a:moveTo>
                    <a:pt x="902018" y="0"/>
                  </a:moveTo>
                  <a:lnTo>
                    <a:pt x="0" y="69818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10306050" y="2571750"/>
              <a:ext cx="9525" cy="698183"/>
            </a:xfrm>
            <a:custGeom>
              <a:avLst/>
              <a:gdLst/>
              <a:ahLst/>
              <a:cxnLst/>
              <a:rect l="l" t="t" r="r" b="b"/>
              <a:pathLst>
                <a:path w="9525" h="698183">
                  <a:moveTo>
                    <a:pt x="0" y="0"/>
                  </a:moveTo>
                  <a:lnTo>
                    <a:pt x="0" y="69818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10306050" y="2571750"/>
              <a:ext cx="902018" cy="698183"/>
            </a:xfrm>
            <a:custGeom>
              <a:avLst/>
              <a:gdLst/>
              <a:ahLst/>
              <a:cxnLst/>
              <a:rect l="l" t="t" r="r" b="b"/>
              <a:pathLst>
                <a:path w="902018" h="698183">
                  <a:moveTo>
                    <a:pt x="0" y="0"/>
                  </a:moveTo>
                  <a:lnTo>
                    <a:pt x="902018" y="69818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7600950" y="1873568"/>
              <a:ext cx="1352550" cy="698183"/>
            </a:xfrm>
            <a:custGeom>
              <a:avLst/>
              <a:gdLst/>
              <a:ahLst/>
              <a:cxnLst/>
              <a:rect l="l" t="t" r="r" b="b"/>
              <a:pathLst>
                <a:path w="1352550" h="698183">
                  <a:moveTo>
                    <a:pt x="1352550" y="0"/>
                  </a:moveTo>
                  <a:lnTo>
                    <a:pt x="0" y="69818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8953500" y="1873568"/>
              <a:ext cx="1352550" cy="698183"/>
            </a:xfrm>
            <a:custGeom>
              <a:avLst/>
              <a:gdLst/>
              <a:ahLst/>
              <a:cxnLst/>
              <a:rect l="l" t="t" r="r" b="b"/>
              <a:pathLst>
                <a:path w="1352550" h="698183">
                  <a:moveTo>
                    <a:pt x="0" y="0"/>
                  </a:moveTo>
                  <a:lnTo>
                    <a:pt x="1352550" y="698183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7296150" y="2266950"/>
              <a:ext cx="609600" cy="6096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4" name="Ellipse 34"/>
            <p:cNvSpPr/>
            <p:nvPr/>
          </p:nvSpPr>
          <p:spPr>
            <a:xfrm>
              <a:off x="9047798" y="2913698"/>
              <a:ext cx="712470" cy="71247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5" name="Ellipse 35"/>
            <p:cNvSpPr/>
            <p:nvPr/>
          </p:nvSpPr>
          <p:spPr>
            <a:xfrm>
              <a:off x="9949815" y="2913698"/>
              <a:ext cx="712470" cy="71247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6" name="Ellipse 36"/>
            <p:cNvSpPr/>
            <p:nvPr/>
          </p:nvSpPr>
          <p:spPr>
            <a:xfrm>
              <a:off x="10851832" y="2913698"/>
              <a:ext cx="712470" cy="71247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7" name="Ellipse 37"/>
            <p:cNvSpPr/>
            <p:nvPr/>
          </p:nvSpPr>
          <p:spPr>
            <a:xfrm>
              <a:off x="10115550" y="2381250"/>
              <a:ext cx="381000" cy="3810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8" name="Ellipse 38"/>
            <p:cNvSpPr/>
            <p:nvPr/>
          </p:nvSpPr>
          <p:spPr>
            <a:xfrm>
              <a:off x="8763000" y="1683068"/>
              <a:ext cx="381000" cy="3810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353871" y="2515552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接收分支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099827" y="3214688"/>
              <a:ext cx="60841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通路控制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001844" y="3214688"/>
              <a:ext cx="60841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 通路控制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903862" y="3214688"/>
              <a:ext cx="60841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通路控制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180130" y="2515552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调度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827580" y="1817370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总控</a:t>
              </a:r>
            </a:p>
          </p:txBody>
        </p:sp>
      </p:grpSp>
      <p:grpSp>
        <p:nvGrpSpPr>
          <p:cNvPr id="52" name="c2-callout-2"/>
          <p:cNvGrpSpPr/>
          <p:nvPr/>
        </p:nvGrpSpPr>
        <p:grpSpPr>
          <a:xfrm>
            <a:off x="6248400" y="3789045"/>
            <a:ext cx="5410200" cy="1805940"/>
            <a:chOff x="6248400" y="3789045"/>
            <a:chExt cx="5410200" cy="1805940"/>
          </a:xfrm>
        </p:grpSpPr>
        <p:sp>
          <p:nvSpPr>
            <p:cNvPr id="46" name="Rectangle 46"/>
            <p:cNvSpPr/>
            <p:nvPr/>
          </p:nvSpPr>
          <p:spPr>
            <a:xfrm>
              <a:off x="6248400" y="3789045"/>
              <a:ext cx="5410200" cy="1805940"/>
            </a:xfrm>
            <a:prstGeom prst="roundRect">
              <a:avLst>
                <a:gd name="adj" fmla="val 63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6453188" y="4592955"/>
              <a:ext cx="200026" cy="200026"/>
              <a:chOff x="6453188" y="4592955"/>
              <a:chExt cx="200026" cy="200026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6453188" y="459295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553200" y="465963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6542088" y="469296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6755892" y="4473892"/>
              <a:ext cx="44714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调度模块下面的每条活动通路，如果它本身是变换流，就再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用变换分析去映射，这就是下一页的混合型问题。</a:t>
              </a:r>
            </a:p>
          </p:txBody>
        </p:sp>
      </p:grpSp>
      <p:grpSp>
        <p:nvGrpSpPr>
          <p:cNvPr id="58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3" name="Rectangle 53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56" name="Group 56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7" name="TextBox 57"/>
            <p:cNvSpPr txBox="1"/>
            <p:nvPr/>
          </p:nvSpPr>
          <p:spPr>
            <a:xfrm>
              <a:off x="1040892" y="6028373"/>
              <a:ext cx="73195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变换分析关心"输入、变换中心、输出"三段，事务分析关心"接收、调度、各条活动通路"。</a:t>
              </a:r>
            </a:p>
          </p:txBody>
        </p:sp>
      </p:grpSp>
      <p:grpSp>
        <p:nvGrpSpPr>
          <p:cNvPr id="6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9" name="TextBox 59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4130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3354" y="407194"/>
              <a:ext cx="2740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面向数据流的设计方法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混合型问题与设计优化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4977765" cy="1887855"/>
            <a:chOff x="533400" y="1524000"/>
            <a:chExt cx="4977765" cy="18878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887855"/>
            </a:xfrm>
            <a:prstGeom prst="roundRect">
              <a:avLst>
                <a:gd name="adj" fmla="val 70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2115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34778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5655" y="176926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变换与事务混合型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20624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大型系统的数据流图往往一部分是变换流、一部分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是事务流。做法是先按占优势的全局特性选定主方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法，再把特点不同的局部区域孤立出来，用另一种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方法映射，最后拼成一张结构图。</a:t>
              </a:r>
            </a:p>
          </p:txBody>
        </p:sp>
      </p:grpSp>
      <p:grpSp>
        <p:nvGrpSpPr>
          <p:cNvPr id="19" name="c1-callout-2"/>
          <p:cNvGrpSpPr/>
          <p:nvPr/>
        </p:nvGrpSpPr>
        <p:grpSpPr>
          <a:xfrm>
            <a:off x="533400" y="3602355"/>
            <a:ext cx="4977765" cy="2091690"/>
            <a:chOff x="533400" y="3602355"/>
            <a:chExt cx="4977765" cy="2091690"/>
          </a:xfrm>
        </p:grpSpPr>
        <p:sp>
          <p:nvSpPr>
            <p:cNvPr id="13" name="Rectangle 13"/>
            <p:cNvSpPr/>
            <p:nvPr/>
          </p:nvSpPr>
          <p:spPr>
            <a:xfrm>
              <a:off x="533400" y="3602355"/>
              <a:ext cx="4977765" cy="2091690"/>
            </a:xfrm>
            <a:prstGeom prst="roundRect">
              <a:avLst>
                <a:gd name="adj" fmla="val 5464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38188" y="4548188"/>
              <a:ext cx="200026" cy="200025"/>
              <a:chOff x="738188" y="4548188"/>
              <a:chExt cx="200026" cy="200025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738188" y="45481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777926" y="45926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12642" y="47037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040130" y="4267200"/>
              <a:ext cx="39585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变换分析第 3 步里那句"把和全局特性有不同特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点的局部区域孤立出来"，就是为混合型问题做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的准备。</a:t>
              </a:r>
            </a:p>
          </p:txBody>
        </p:sp>
      </p:grpSp>
      <p:grpSp>
        <p:nvGrpSpPr>
          <p:cNvPr id="28" name="c2-card-1"/>
          <p:cNvGrpSpPr/>
          <p:nvPr/>
        </p:nvGrpSpPr>
        <p:grpSpPr>
          <a:xfrm>
            <a:off x="5815965" y="1524000"/>
            <a:ext cx="5842635" cy="1986915"/>
            <a:chOff x="5815965" y="1524000"/>
            <a:chExt cx="5842635" cy="1986915"/>
          </a:xfrm>
        </p:grpSpPr>
        <p:sp>
          <p:nvSpPr>
            <p:cNvPr id="20" name="Rectangle 20"/>
            <p:cNvSpPr/>
            <p:nvPr/>
          </p:nvSpPr>
          <p:spPr>
            <a:xfrm>
              <a:off x="5815965" y="1524000"/>
              <a:ext cx="5842635" cy="1986915"/>
            </a:xfrm>
            <a:prstGeom prst="roundRect">
              <a:avLst>
                <a:gd name="adj" fmla="val 6711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025515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06871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设计优化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017895" y="2110740"/>
              <a:ext cx="42759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一个不能工作的"最佳设计"没有任何实际意义。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6031230" y="250888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189345" y="2446020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应该在设计的早期阶段尽量对软件结构进行精化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6031230" y="284416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189345" y="2781300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在有效模块化的前提下使用</a:t>
              </a: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最少量的模块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，在能够满足信息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要求的前提下使用</a:t>
              </a: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最简单的数据结构</a:t>
              </a:r>
            </a:p>
          </p:txBody>
        </p:sp>
      </p:grpSp>
      <p:grpSp>
        <p:nvGrpSpPr>
          <p:cNvPr id="45" name="c2-bullets-2"/>
          <p:cNvGrpSpPr/>
          <p:nvPr/>
        </p:nvGrpSpPr>
        <p:grpSpPr>
          <a:xfrm>
            <a:off x="5808345" y="3726180"/>
            <a:ext cx="5775960" cy="2026920"/>
            <a:chOff x="5808345" y="3726180"/>
            <a:chExt cx="5775960" cy="2026920"/>
          </a:xfrm>
        </p:grpSpPr>
        <p:sp>
          <p:nvSpPr>
            <p:cNvPr id="29" name="TextBox 29"/>
            <p:cNvSpPr txBox="1"/>
            <p:nvPr/>
          </p:nvSpPr>
          <p:spPr>
            <a:xfrm>
              <a:off x="5808345" y="3726180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对时间起决定性作用的软件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815965" y="406717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877814" y="410946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116955" y="4080510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在不考虑时间因素的前提下开发并精化软件结构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5815965" y="441198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877814" y="445427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116955" y="4425315"/>
              <a:ext cx="54673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在详细设计阶段选出最耗费时间的模块，仔细设计它们的算法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5815965" y="475678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5877814" y="47990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116955" y="477012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使用高级程序设计语言编写程序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5815965" y="510159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877814" y="514388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116955" y="5114925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在软件中孤立出那些大量占用处理机资源的模块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5815965" y="544639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877814" y="54886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116955" y="5459730"/>
              <a:ext cx="52654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必要时重新设计或用依赖于机器的语言重写这些模块的代码</a:t>
              </a:r>
            </a:p>
          </p:txBody>
        </p:sp>
      </p:grpSp>
      <p:grpSp>
        <p:nvGrpSpPr>
          <p:cNvPr id="4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6" name="TextBox 46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</p:grpSp>
      <p:grpSp>
        <p:nvGrpSpPr>
          <p:cNvPr id="16" name="section-title"/>
          <p:cNvGrpSpPr/>
          <p:nvPr/>
        </p:nvGrpSpPr>
        <p:grpSpPr>
          <a:xfrm>
            <a:off x="667512" y="1835468"/>
            <a:ext cx="3802761" cy="2997517"/>
            <a:chOff x="667512" y="1835468"/>
            <a:chExt cx="3802761" cy="299751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第六部分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94436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软件体系结构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379285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从模块的层次调用，走到构件与连接器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发展历程与定义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描述内容：构件、连接器、视图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常见风格与设计方案对比</a:t>
              </a:r>
            </a:p>
          </p:txBody>
        </p:sp>
      </p:grpSp>
      <p:grpSp>
        <p:nvGrpSpPr>
          <p:cNvPr id="1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7" name="TextBox 17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软件体系结构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软件体系结构的四个发展阶段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table-1"/>
          <p:cNvGrpSpPr/>
          <p:nvPr/>
        </p:nvGrpSpPr>
        <p:grpSpPr>
          <a:xfrm>
            <a:off x="533400" y="1524000"/>
            <a:ext cx="11125200" cy="3377565"/>
            <a:chOff x="533400" y="1524000"/>
            <a:chExt cx="11125200" cy="33775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35568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阶段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151020" y="165973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当时的技术背景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626386" y="165973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对体系结构的态度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1223" y="2335054"/>
              <a:ext cx="17627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"无体系结构"设计阶段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643378" y="2108359"/>
              <a:ext cx="3914394" cy="70275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硬件向专用方向发展，科学与商业领域使用完全不同的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机器；虽然高级语言已经诞生，但开发主要采用汇编语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言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093458" y="2221706"/>
              <a:ext cx="42395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系统规模较小，很少明确考虑软件体系结构，一般不存在建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模工作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86988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874645"/>
              <a:ext cx="11125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1223" y="312372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萌芽阶段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643378" y="3010376"/>
              <a:ext cx="393065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"软件工程"概念被提出，结构化开发技术成为主流，工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作范围扩展到整个软件生命周期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093458" y="3010376"/>
              <a:ext cx="42395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体系结构已是明确概念：结构化程序中，模块的聚集和嵌套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构成层层调用的高层结构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5461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1223" y="379904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初级阶段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643378" y="3685699"/>
              <a:ext cx="37518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面向对象开发技术兴起，抽象数据类型出现；类库构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造、分布式应用系统规模大、复杂度高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93458" y="3685699"/>
              <a:ext cx="42395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对象的封装降低了模块间耦合，为构件层次上的软件重用提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供了可能，体系结构研究得到重视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22148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4226242"/>
              <a:ext cx="1112520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1223" y="4474369"/>
              <a:ext cx="9012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"高级"阶段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643378" y="4474369"/>
              <a:ext cx="36487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 世纪 90 年代后进入基于构件的软件开发阶段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093458" y="4361021"/>
              <a:ext cx="418261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开发中心是描述系统的高层抽象结构模型，开发模式由"算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法＋数据结构"转向"构件开发＋基于体系结构的构件组装"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1524000"/>
              <a:ext cx="11125200" cy="337756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2530792" y="1524000"/>
              <a:ext cx="9525" cy="33775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6980872" y="1524000"/>
              <a:ext cx="9525" cy="33775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8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2" name="Rectangle 3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6" name="Group 36"/>
            <p:cNvGrpSpPr/>
            <p:nvPr/>
          </p:nvGrpSpPr>
          <p:grpSpPr>
            <a:xfrm>
              <a:off x="738188" y="5995988"/>
              <a:ext cx="200026" cy="200026"/>
              <a:chOff x="738188" y="5995988"/>
              <a:chExt cx="200026" cy="200026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59959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38200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827088" y="60960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040130" y="5991225"/>
              <a:ext cx="7284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体系结构从写代码写出来的副产品，变成了要专门设计、专门写文档的工作产品。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软件体系结构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什么是软件体系结构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700212"/>
            <a:chOff x="533400" y="1524000"/>
            <a:chExt cx="5410200" cy="170021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700212"/>
            </a:xfrm>
            <a:prstGeom prst="roundRect">
              <a:avLst>
                <a:gd name="adj" fmla="val 78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43351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9660" y="1743551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课件的定义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4814316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软件体系结构是对子系统、软件系统构件以及它们之间相互关系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的描述。子系统和构件一般定义在不同的视图内，以显示软件系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统的相关功能属性和非功能属性。系统的软件体系结构是一种软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件设计活动的工作产品。</a:t>
              </a:r>
            </a:p>
          </p:txBody>
        </p:sp>
      </p:grpSp>
      <p:grpSp>
        <p:nvGrpSpPr>
          <p:cNvPr id="19" name="c1-card-2"/>
          <p:cNvGrpSpPr/>
          <p:nvPr/>
        </p:nvGrpSpPr>
        <p:grpSpPr>
          <a:xfrm>
            <a:off x="533400" y="3393758"/>
            <a:ext cx="5410200" cy="2640330"/>
            <a:chOff x="533400" y="3393758"/>
            <a:chExt cx="5410200" cy="2640330"/>
          </a:xfrm>
        </p:grpSpPr>
        <p:sp>
          <p:nvSpPr>
            <p:cNvPr id="13" name="Rectangle 13"/>
            <p:cNvSpPr/>
            <p:nvPr/>
          </p:nvSpPr>
          <p:spPr>
            <a:xfrm>
              <a:off x="533400" y="3393758"/>
              <a:ext cx="5410200" cy="2640330"/>
            </a:xfrm>
            <a:prstGeom prst="roundRect">
              <a:avLst>
                <a:gd name="adj" fmla="val 505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3527108"/>
              <a:ext cx="47625" cy="237363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58190" y="3580448"/>
              <a:ext cx="80486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33843" y="3613309"/>
              <a:ext cx="6545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SEI 的定义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1332" y="3925252"/>
              <a:ext cx="4745736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The software architecture of a system is the structure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or structures of the system, which comprise software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components, the externally visible properties of those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components, and the relationships among them.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2475" y="4992529"/>
              <a:ext cx="4484878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Len Bass, Paul Clements, Rick Kazman. Software Architecture in</a:t>
              </a:r>
              <a:br/>
              <a:r>
                <a:rPr lang="en-US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Practice, 1998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6248400" y="1524000"/>
            <a:ext cx="5410200" cy="2168842"/>
            <a:chOff x="6248400" y="1524000"/>
            <a:chExt cx="5410200" cy="2168842"/>
          </a:xfrm>
        </p:grpSpPr>
        <p:sp>
          <p:nvSpPr>
            <p:cNvPr id="20" name="Rectangle 20"/>
            <p:cNvSpPr/>
            <p:nvPr/>
          </p:nvSpPr>
          <p:spPr>
            <a:xfrm>
              <a:off x="6248400" y="1524000"/>
              <a:ext cx="5410200" cy="2168842"/>
            </a:xfrm>
            <a:prstGeom prst="roundRect">
              <a:avLst>
                <a:gd name="adj" fmla="val 614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57925" y="1657350"/>
              <a:ext cx="47625" cy="190214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73190" y="1710690"/>
              <a:ext cx="1275398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20653" y="1743551"/>
              <a:ext cx="118142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IEEE P1471 的定义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66332" y="2054542"/>
              <a:ext cx="4651438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Architecture is the fundamental organisation of a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system embodied in its components, their relationships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to each other and to the environment, and the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principles guiding its design and evolution.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67475" y="3122771"/>
              <a:ext cx="4783582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特意不用 structure 一词，因为它容易让人联想到系统的物理结构；体系结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构是系统的一种属性或概念，而且必须连同它所处的环境一起看。</a:t>
              </a:r>
            </a:p>
          </p:txBody>
        </p:sp>
      </p:grpSp>
      <p:grpSp>
        <p:nvGrpSpPr>
          <p:cNvPr id="38" name="c2-kv-2"/>
          <p:cNvGrpSpPr/>
          <p:nvPr/>
        </p:nvGrpSpPr>
        <p:grpSpPr>
          <a:xfrm>
            <a:off x="6241542" y="3884295"/>
            <a:ext cx="5417058" cy="2202371"/>
            <a:chOff x="6241542" y="3884295"/>
            <a:chExt cx="5417058" cy="2202371"/>
          </a:xfrm>
        </p:grpSpPr>
        <p:sp>
          <p:nvSpPr>
            <p:cNvPr id="27" name="TextBox 27"/>
            <p:cNvSpPr txBox="1"/>
            <p:nvPr/>
          </p:nvSpPr>
          <p:spPr>
            <a:xfrm>
              <a:off x="6241542" y="3884295"/>
              <a:ext cx="9162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Architect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864602" y="3884295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负责系统体系结构的人、团队或组织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48400" y="417099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241542" y="4276725"/>
              <a:ext cx="118323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Architecting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864602" y="4276725"/>
              <a:ext cx="36141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定义、维护、改进并认证体系结构被正确实现的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活动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48400" y="481774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241542" y="4923473"/>
              <a:ext cx="12108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Architectural</a:t>
              </a:r>
              <a:br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description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864602" y="4923473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用来记录一个体系结构的一组产品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48400" y="546354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241542" y="5569268"/>
              <a:ext cx="850821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View 与</a:t>
              </a:r>
              <a:br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Viewpoint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864602" y="5569268"/>
              <a:ext cx="344271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视图是从一组相关关注点出发对整个系统的表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示；视角是构造这类视图所用的模式或模板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115437" cy="909257"/>
            <a:chOff x="520446" y="342900"/>
            <a:chExt cx="311543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软件体系结构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11543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体系结构描述些什么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193982" cy="2558415"/>
            <a:chOff x="533400" y="1524000"/>
            <a:chExt cx="5193982" cy="25584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2558415"/>
            </a:xfrm>
            <a:prstGeom prst="roundRect">
              <a:avLst>
                <a:gd name="adj" fmla="val 521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29171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307782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7525" y="1769269"/>
              <a:ext cx="11757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构件 component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软件系统的一个封装部分，把自己的实现藏在一组外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部接口后面，并且指明它所需要的接口。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79463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731770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分类方式之一：处理元素、数据元素、连接元素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86765" y="312991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44880" y="3067050"/>
              <a:ext cx="4396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分类方式之二（面向对象）：控制器构件、协作者构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件、接口构件、服务提供者构件、信息持有者构件、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构造用构件</a:t>
              </a:r>
            </a:p>
          </p:txBody>
        </p:sp>
      </p:grpSp>
      <p:grpSp>
        <p:nvGrpSpPr>
          <p:cNvPr id="22" name="c1-card-2"/>
          <p:cNvGrpSpPr/>
          <p:nvPr/>
        </p:nvGrpSpPr>
        <p:grpSpPr>
          <a:xfrm>
            <a:off x="533400" y="4272915"/>
            <a:ext cx="5193982" cy="1887855"/>
            <a:chOff x="533400" y="4272915"/>
            <a:chExt cx="5193982" cy="1887855"/>
          </a:xfrm>
        </p:grpSpPr>
        <p:sp>
          <p:nvSpPr>
            <p:cNvPr id="17" name="Rectangle 17"/>
            <p:cNvSpPr/>
            <p:nvPr/>
          </p:nvSpPr>
          <p:spPr>
            <a:xfrm>
              <a:off x="533400" y="4272915"/>
              <a:ext cx="5193982" cy="1887855"/>
            </a:xfrm>
            <a:prstGeom prst="roundRect">
              <a:avLst>
                <a:gd name="adj" fmla="val 70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4406265"/>
              <a:ext cx="47625" cy="162115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81050" y="4482465"/>
              <a:ext cx="142017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44166" y="4518184"/>
              <a:ext cx="12948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连接器 connector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3430" y="4859655"/>
              <a:ext cx="439674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构件之间的关系。它通常以某个层次虚拟机的某种运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行机制提供，例如本地或远程的过程调用，而不是以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简单的模块形式提供出来。这增加了连接器的隐蔽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性，给识别和认识它造成一定困难。</a:t>
              </a:r>
            </a:p>
          </p:txBody>
        </p:sp>
      </p:grpSp>
      <p:grpSp>
        <p:nvGrpSpPr>
          <p:cNvPr id="28" name="c2-card-1"/>
          <p:cNvGrpSpPr/>
          <p:nvPr/>
        </p:nvGrpSpPr>
        <p:grpSpPr>
          <a:xfrm>
            <a:off x="6032182" y="1524000"/>
            <a:ext cx="5626418" cy="1316355"/>
            <a:chOff x="6032182" y="1524000"/>
            <a:chExt cx="5626418" cy="1316355"/>
          </a:xfrm>
        </p:grpSpPr>
        <p:sp>
          <p:nvSpPr>
            <p:cNvPr id="23" name="Rectangle 23"/>
            <p:cNvSpPr/>
            <p:nvPr/>
          </p:nvSpPr>
          <p:spPr>
            <a:xfrm>
              <a:off x="6032182" y="1524000"/>
              <a:ext cx="5626418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041708" y="1657350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79832" y="1733550"/>
              <a:ext cx="86010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58987" y="1769269"/>
              <a:ext cx="7008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视图 view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72212" y="2110740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代表一个软件体系结构的部分方面，这个部分方面专门显示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软件系统的特定属性。</a:t>
              </a:r>
            </a:p>
          </p:txBody>
        </p:sp>
      </p:grpSp>
      <p:grpSp>
        <p:nvGrpSpPr>
          <p:cNvPr id="47" name="c2-table-2"/>
          <p:cNvGrpSpPr/>
          <p:nvPr/>
        </p:nvGrpSpPr>
        <p:grpSpPr>
          <a:xfrm>
            <a:off x="6032182" y="3030855"/>
            <a:ext cx="5626418" cy="2924175"/>
            <a:chOff x="6032182" y="3030855"/>
            <a:chExt cx="5626418" cy="2924175"/>
          </a:xfrm>
        </p:grpSpPr>
        <p:sp>
          <p:nvSpPr>
            <p:cNvPr id="29" name="Rectangle 29"/>
            <p:cNvSpPr/>
            <p:nvPr/>
          </p:nvSpPr>
          <p:spPr>
            <a:xfrm>
              <a:off x="6032182" y="3030855"/>
              <a:ext cx="5626418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738531" y="316658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视图描述方法之一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552216" y="3166586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视图描述方法之二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140006" y="3728561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概念上的体系结构：构件、连接器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944166" y="3615214"/>
              <a:ext cx="24513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逻辑视图：设计的对象模型或相应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的模型，如 ER 图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32182" y="415004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032182" y="4154805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140006" y="4290536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模块体系结构：子系统、模块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944166" y="4290536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进程视图：并发和同步情况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032182" y="459962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140006" y="4739164"/>
              <a:ext cx="24513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代码体系结构：文件、目录、库、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包含文件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944166" y="4739164"/>
              <a:ext cx="24513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物理视图：软件到硬件的映射及其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分布情况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032182" y="527494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032182" y="5279708"/>
              <a:ext cx="562641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140006" y="5527834"/>
              <a:ext cx="259765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执行体系结构：任务、线程、进程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944166" y="5414486"/>
              <a:ext cx="24513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开发视图：在软件开发环境中的软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件静态组织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032182" y="3030855"/>
              <a:ext cx="5626418" cy="29241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8831580" y="3030855"/>
              <a:ext cx="9525" cy="29241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285619" cy="909257"/>
            <a:chOff x="520446" y="342900"/>
            <a:chExt cx="228561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软件体系结构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体系结构风格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4760595" cy="2133600"/>
            <a:chOff x="533400" y="1524000"/>
            <a:chExt cx="4760595" cy="21336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1336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6690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015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软件体系结构风格根据软件系统的结构定义了软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件系统族。它通过施加于构件上的限制，以及组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成与设计规则，来表现构件和构件间的关系。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4573" y="3014186"/>
              <a:ext cx="407695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体系结构风格为一个软件系统以及怎样建造该系统的相关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方法，表示了一种特殊的基本结构。</a:t>
              </a:r>
            </a:p>
          </p:txBody>
        </p:sp>
      </p:grpSp>
      <p:grpSp>
        <p:nvGrpSpPr>
          <p:cNvPr id="27" name="c1-bullets-2"/>
          <p:cNvGrpSpPr/>
          <p:nvPr/>
        </p:nvGrpSpPr>
        <p:grpSpPr>
          <a:xfrm>
            <a:off x="525780" y="3872865"/>
            <a:ext cx="4514850" cy="1967865"/>
            <a:chOff x="525780" y="3872865"/>
            <a:chExt cx="4514850" cy="1967865"/>
          </a:xfrm>
        </p:grpSpPr>
        <p:sp>
          <p:nvSpPr>
            <p:cNvPr id="14" name="TextBox 14"/>
            <p:cNvSpPr txBox="1"/>
            <p:nvPr/>
          </p:nvSpPr>
          <p:spPr>
            <a:xfrm>
              <a:off x="525780" y="387286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每种风格都要定义四样东西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533400" y="421386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95249" y="42561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34390" y="422719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一组构件，完成系统所需的某种功能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533400" y="455866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95249" y="46009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34390" y="457200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一组连接件，实现构件间的通信、协调和合作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33400" y="490347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95249" y="494576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34390" y="491680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约束，定义构件如何被集成到一起形成系统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533400" y="524827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95249" y="529056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4390" y="5261610"/>
              <a:ext cx="4206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语义模型，使设计者能够通过分析构成成分的已知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性质理解系统的整体性质</a:t>
              </a:r>
            </a:p>
          </p:txBody>
        </p:sp>
      </p:grpSp>
      <p:grpSp>
        <p:nvGrpSpPr>
          <p:cNvPr id="78" name="c2-tree-1"/>
          <p:cNvGrpSpPr/>
          <p:nvPr/>
        </p:nvGrpSpPr>
        <p:grpSpPr>
          <a:xfrm>
            <a:off x="5598795" y="1557338"/>
            <a:ext cx="6059805" cy="4771072"/>
            <a:chOff x="5598795" y="1557338"/>
            <a:chExt cx="6059805" cy="4771072"/>
          </a:xfrm>
        </p:grpSpPr>
        <p:sp>
          <p:nvSpPr>
            <p:cNvPr id="28" name="Freeform 28"/>
            <p:cNvSpPr/>
            <p:nvPr/>
          </p:nvSpPr>
          <p:spPr>
            <a:xfrm>
              <a:off x="9499282" y="1744028"/>
              <a:ext cx="419100" cy="220027"/>
            </a:xfrm>
            <a:custGeom>
              <a:avLst/>
              <a:gdLst/>
              <a:ahLst/>
              <a:cxnLst/>
              <a:rect l="l" t="t" r="r" b="b"/>
              <a:pathLst>
                <a:path w="419100" h="220027">
                  <a:moveTo>
                    <a:pt x="0" y="220027"/>
                  </a:moveTo>
                  <a:lnTo>
                    <a:pt x="209550" y="220027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9499282" y="1964055"/>
              <a:ext cx="419100" cy="220028"/>
            </a:xfrm>
            <a:custGeom>
              <a:avLst/>
              <a:gdLst/>
              <a:ahLst/>
              <a:cxnLst/>
              <a:rect l="l" t="t" r="r" b="b"/>
              <a:pathLst>
                <a:path w="419100" h="220028">
                  <a:moveTo>
                    <a:pt x="0" y="0"/>
                  </a:moveTo>
                  <a:lnTo>
                    <a:pt x="209550" y="0"/>
                  </a:lnTo>
                  <a:lnTo>
                    <a:pt x="209550" y="220028"/>
                  </a:lnTo>
                  <a:lnTo>
                    <a:pt x="419100" y="220028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9499282" y="2624138"/>
              <a:ext cx="419100" cy="439103"/>
            </a:xfrm>
            <a:custGeom>
              <a:avLst/>
              <a:gdLst/>
              <a:ahLst/>
              <a:cxnLst/>
              <a:rect l="l" t="t" r="r" b="b"/>
              <a:pathLst>
                <a:path w="419100" h="439103">
                  <a:moveTo>
                    <a:pt x="0" y="439103"/>
                  </a:moveTo>
                  <a:lnTo>
                    <a:pt x="209550" y="439103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9499282" y="3063240"/>
              <a:ext cx="419100" cy="9525"/>
            </a:xfrm>
            <a:custGeom>
              <a:avLst/>
              <a:gdLst/>
              <a:ahLst/>
              <a:cxnLst/>
              <a:rect l="l" t="t" r="r" b="b"/>
              <a:pathLst>
                <a:path w="419100" h="9525">
                  <a:moveTo>
                    <a:pt x="0" y="0"/>
                  </a:moveTo>
                  <a:lnTo>
                    <a:pt x="209550" y="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9499282" y="3063240"/>
              <a:ext cx="419100" cy="440055"/>
            </a:xfrm>
            <a:custGeom>
              <a:avLst/>
              <a:gdLst/>
              <a:ahLst/>
              <a:cxnLst/>
              <a:rect l="l" t="t" r="r" b="b"/>
              <a:pathLst>
                <a:path w="419100" h="440055">
                  <a:moveTo>
                    <a:pt x="0" y="0"/>
                  </a:moveTo>
                  <a:lnTo>
                    <a:pt x="209550" y="0"/>
                  </a:lnTo>
                  <a:lnTo>
                    <a:pt x="209550" y="440055"/>
                  </a:lnTo>
                  <a:lnTo>
                    <a:pt x="419100" y="44005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9499282" y="3943350"/>
              <a:ext cx="419100" cy="220028"/>
            </a:xfrm>
            <a:custGeom>
              <a:avLst/>
              <a:gdLst/>
              <a:ahLst/>
              <a:cxnLst/>
              <a:rect l="l" t="t" r="r" b="b"/>
              <a:pathLst>
                <a:path w="419100" h="220028">
                  <a:moveTo>
                    <a:pt x="0" y="220028"/>
                  </a:moveTo>
                  <a:lnTo>
                    <a:pt x="209550" y="220028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9499282" y="4163378"/>
              <a:ext cx="419100" cy="220027"/>
            </a:xfrm>
            <a:custGeom>
              <a:avLst/>
              <a:gdLst/>
              <a:ahLst/>
              <a:cxnLst/>
              <a:rect l="l" t="t" r="r" b="b"/>
              <a:pathLst>
                <a:path w="419100" h="220027">
                  <a:moveTo>
                    <a:pt x="0" y="0"/>
                  </a:moveTo>
                  <a:lnTo>
                    <a:pt x="209550" y="0"/>
                  </a:lnTo>
                  <a:lnTo>
                    <a:pt x="209550" y="220027"/>
                  </a:lnTo>
                  <a:lnTo>
                    <a:pt x="419100" y="220027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9499282" y="4823460"/>
              <a:ext cx="419100" cy="220028"/>
            </a:xfrm>
            <a:custGeom>
              <a:avLst/>
              <a:gdLst/>
              <a:ahLst/>
              <a:cxnLst/>
              <a:rect l="l" t="t" r="r" b="b"/>
              <a:pathLst>
                <a:path w="419100" h="220028">
                  <a:moveTo>
                    <a:pt x="0" y="220028"/>
                  </a:moveTo>
                  <a:lnTo>
                    <a:pt x="209550" y="220028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9499282" y="5043488"/>
              <a:ext cx="419100" cy="219075"/>
            </a:xfrm>
            <a:custGeom>
              <a:avLst/>
              <a:gdLst/>
              <a:ahLst/>
              <a:cxnLst/>
              <a:rect l="l" t="t" r="r" b="b"/>
              <a:pathLst>
                <a:path w="419100" h="219075">
                  <a:moveTo>
                    <a:pt x="0" y="0"/>
                  </a:moveTo>
                  <a:lnTo>
                    <a:pt x="209550" y="0"/>
                  </a:lnTo>
                  <a:lnTo>
                    <a:pt x="209550" y="219075"/>
                  </a:lnTo>
                  <a:lnTo>
                    <a:pt x="419100" y="21907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9499282" y="5702618"/>
              <a:ext cx="419100" cy="220027"/>
            </a:xfrm>
            <a:custGeom>
              <a:avLst/>
              <a:gdLst/>
              <a:ahLst/>
              <a:cxnLst/>
              <a:rect l="l" t="t" r="r" b="b"/>
              <a:pathLst>
                <a:path w="419100" h="220027">
                  <a:moveTo>
                    <a:pt x="0" y="220027"/>
                  </a:moveTo>
                  <a:lnTo>
                    <a:pt x="209550" y="220027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9499282" y="5922645"/>
              <a:ext cx="419100" cy="220028"/>
            </a:xfrm>
            <a:custGeom>
              <a:avLst/>
              <a:gdLst/>
              <a:ahLst/>
              <a:cxnLst/>
              <a:rect l="l" t="t" r="r" b="b"/>
              <a:pathLst>
                <a:path w="419100" h="220028">
                  <a:moveTo>
                    <a:pt x="0" y="0"/>
                  </a:moveTo>
                  <a:lnTo>
                    <a:pt x="209550" y="0"/>
                  </a:lnTo>
                  <a:lnTo>
                    <a:pt x="209550" y="220028"/>
                  </a:lnTo>
                  <a:lnTo>
                    <a:pt x="419100" y="220028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7339965" y="1964055"/>
              <a:ext cx="419100" cy="1979295"/>
            </a:xfrm>
            <a:custGeom>
              <a:avLst/>
              <a:gdLst/>
              <a:ahLst/>
              <a:cxnLst/>
              <a:rect l="l" t="t" r="r" b="b"/>
              <a:pathLst>
                <a:path w="419100" h="1979295">
                  <a:moveTo>
                    <a:pt x="0" y="1979295"/>
                  </a:moveTo>
                  <a:lnTo>
                    <a:pt x="209550" y="197929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7339965" y="3063240"/>
              <a:ext cx="419100" cy="880110"/>
            </a:xfrm>
            <a:custGeom>
              <a:avLst/>
              <a:gdLst/>
              <a:ahLst/>
              <a:cxnLst/>
              <a:rect l="l" t="t" r="r" b="b"/>
              <a:pathLst>
                <a:path w="419100" h="880110">
                  <a:moveTo>
                    <a:pt x="0" y="880110"/>
                  </a:moveTo>
                  <a:lnTo>
                    <a:pt x="209550" y="880110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1" name="Freeform 41"/>
            <p:cNvSpPr/>
            <p:nvPr/>
          </p:nvSpPr>
          <p:spPr>
            <a:xfrm>
              <a:off x="7339965" y="3943350"/>
              <a:ext cx="419100" cy="220028"/>
            </a:xfrm>
            <a:custGeom>
              <a:avLst/>
              <a:gdLst/>
              <a:ahLst/>
              <a:cxnLst/>
              <a:rect l="l" t="t" r="r" b="b"/>
              <a:pathLst>
                <a:path w="419100" h="220028">
                  <a:moveTo>
                    <a:pt x="0" y="0"/>
                  </a:moveTo>
                  <a:lnTo>
                    <a:pt x="209550" y="0"/>
                  </a:lnTo>
                  <a:lnTo>
                    <a:pt x="209550" y="220028"/>
                  </a:lnTo>
                  <a:lnTo>
                    <a:pt x="419100" y="220028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2" name="Freeform 42"/>
            <p:cNvSpPr/>
            <p:nvPr/>
          </p:nvSpPr>
          <p:spPr>
            <a:xfrm>
              <a:off x="7339965" y="3943350"/>
              <a:ext cx="419100" cy="1100138"/>
            </a:xfrm>
            <a:custGeom>
              <a:avLst/>
              <a:gdLst/>
              <a:ahLst/>
              <a:cxnLst/>
              <a:rect l="l" t="t" r="r" b="b"/>
              <a:pathLst>
                <a:path w="419100" h="1100138">
                  <a:moveTo>
                    <a:pt x="0" y="0"/>
                  </a:moveTo>
                  <a:lnTo>
                    <a:pt x="209550" y="0"/>
                  </a:lnTo>
                  <a:lnTo>
                    <a:pt x="209550" y="1100138"/>
                  </a:lnTo>
                  <a:lnTo>
                    <a:pt x="419100" y="1100138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7339965" y="3943350"/>
              <a:ext cx="419100" cy="1979295"/>
            </a:xfrm>
            <a:custGeom>
              <a:avLst/>
              <a:gdLst/>
              <a:ahLst/>
              <a:cxnLst/>
              <a:rect l="l" t="t" r="r" b="b"/>
              <a:pathLst>
                <a:path w="419100" h="1979295">
                  <a:moveTo>
                    <a:pt x="0" y="0"/>
                  </a:moveTo>
                  <a:lnTo>
                    <a:pt x="209550" y="0"/>
                  </a:lnTo>
                  <a:lnTo>
                    <a:pt x="209550" y="1979295"/>
                  </a:lnTo>
                  <a:lnTo>
                    <a:pt x="419100" y="1979295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9918382" y="1557338"/>
              <a:ext cx="174021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9918382" y="1997392"/>
              <a:ext cx="174021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759065" y="1777365"/>
              <a:ext cx="1740218" cy="372428"/>
            </a:xfrm>
            <a:prstGeom prst="roundRect">
              <a:avLst>
                <a:gd name="adj" fmla="val 25575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9918382" y="2437448"/>
              <a:ext cx="174021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9918382" y="2877502"/>
              <a:ext cx="174021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9918382" y="3317558"/>
              <a:ext cx="174021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7759065" y="2877502"/>
              <a:ext cx="1740218" cy="372428"/>
            </a:xfrm>
            <a:prstGeom prst="roundRect">
              <a:avLst>
                <a:gd name="adj" fmla="val 25575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9918382" y="3756660"/>
              <a:ext cx="174021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9918382" y="4196715"/>
              <a:ext cx="174021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7759065" y="3976688"/>
              <a:ext cx="1740218" cy="372428"/>
            </a:xfrm>
            <a:prstGeom prst="roundRect">
              <a:avLst>
                <a:gd name="adj" fmla="val 25575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9918382" y="4636770"/>
              <a:ext cx="174021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9918382" y="5076825"/>
              <a:ext cx="174021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7759065" y="4856798"/>
              <a:ext cx="1740218" cy="372428"/>
            </a:xfrm>
            <a:prstGeom prst="roundRect">
              <a:avLst>
                <a:gd name="adj" fmla="val 25575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9918382" y="5516880"/>
              <a:ext cx="174021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9918382" y="5955982"/>
              <a:ext cx="1740218" cy="372428"/>
            </a:xfrm>
            <a:prstGeom prst="roundRect">
              <a:avLst>
                <a:gd name="adj" fmla="val 25575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7759065" y="5736908"/>
              <a:ext cx="1740218" cy="372428"/>
            </a:xfrm>
            <a:prstGeom prst="roundRect">
              <a:avLst>
                <a:gd name="adj" fmla="val 25575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5598795" y="3651885"/>
              <a:ext cx="1740218" cy="582930"/>
            </a:xfrm>
            <a:prstGeom prst="roundRect">
              <a:avLst>
                <a:gd name="adj" fmla="val 1634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10007155" y="165496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批处理序列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07155" y="2095024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管道／过滤器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847838" y="187499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数据流风格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007155" y="2535079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主程序／子程序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0007155" y="297418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面向对象风格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0007155" y="341423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层次结构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847838" y="2974181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调用／返回风格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0007155" y="385429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进程通讯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007155" y="429434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事件系统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847838" y="407431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独立构件风格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0007155" y="473440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解释器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007155" y="517350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基于规则的系统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847838" y="495442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虚拟机风格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0007155" y="5613559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数据库系统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0007155" y="605361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黑板系统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7847838" y="583358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仓库风格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5687568" y="3749516"/>
              <a:ext cx="1421943" cy="4598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8"/>
                </a:lnSpc>
              </a:pPr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Garlan 和 Shaw 的</a:t>
              </a:r>
              <a:br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分类</a:t>
              </a:r>
            </a:p>
          </p:txBody>
        </p:sp>
      </p:grpSp>
      <p:grpSp>
        <p:nvGrpSpPr>
          <p:cNvPr id="8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9" name="TextBox 79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772156" cy="909257"/>
            <a:chOff x="520446" y="342900"/>
            <a:chExt cx="27721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软件体系结构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7721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管道／过滤器风格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626418" cy="1700212"/>
            <a:chOff x="533400" y="1524000"/>
            <a:chExt cx="5626418" cy="170021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700212"/>
            </a:xfrm>
            <a:prstGeom prst="roundRect">
              <a:avLst>
                <a:gd name="adj" fmla="val 78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43351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4985766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构件读输入的数据流，经过内部处理产生输出数据流。这个过程通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常靠对输入流的变换及增量计算完成，所以输入被完全消费之前输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出便产生了。这样的构件称为过滤器，连接件是传输数据流的管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道。</a:t>
              </a:r>
            </a:p>
          </p:txBody>
        </p:sp>
      </p:grpSp>
      <p:grpSp>
        <p:nvGrpSpPr>
          <p:cNvPr id="20" name="c1-bullets-2"/>
          <p:cNvGrpSpPr/>
          <p:nvPr/>
        </p:nvGrpSpPr>
        <p:grpSpPr>
          <a:xfrm>
            <a:off x="526542" y="3416618"/>
            <a:ext cx="4066413" cy="1197483"/>
            <a:chOff x="526542" y="3416618"/>
            <a:chExt cx="4066413" cy="1197483"/>
          </a:xfrm>
        </p:grpSpPr>
        <p:sp>
          <p:nvSpPr>
            <p:cNvPr id="13" name="TextBox 13"/>
            <p:cNvSpPr txBox="1"/>
            <p:nvPr/>
          </p:nvSpPr>
          <p:spPr>
            <a:xfrm>
              <a:off x="526542" y="34166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三条限制条件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533400" y="3766185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62762" y="3732848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过滤器是独立实体，不能与其它过滤器共享状态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533400" y="4074795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2762" y="4041458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一个过滤器不知道它上游和下游的标识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533400" y="4383405"/>
              <a:ext cx="102870" cy="102870"/>
            </a:xfrm>
            <a:custGeom>
              <a:avLst/>
              <a:gdLst/>
              <a:ahLst/>
              <a:cxnLst/>
              <a:rect l="l" t="t" r="r" b="b"/>
              <a:pathLst>
                <a:path w="102870" h="102870">
                  <a:moveTo>
                    <a:pt x="0" y="0"/>
                  </a:moveTo>
                  <a:lnTo>
                    <a:pt x="102870" y="102870"/>
                  </a:lnTo>
                  <a:moveTo>
                    <a:pt x="102870" y="0"/>
                  </a:moveTo>
                  <a:lnTo>
                    <a:pt x="0" y="10287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62762" y="4350068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输出的正确性不应依赖增量计算过程的顺序</a:t>
              </a:r>
            </a:p>
          </p:txBody>
        </p:sp>
      </p:grpSp>
      <p:grpSp>
        <p:nvGrpSpPr>
          <p:cNvPr id="22" name="c1-text-3"/>
          <p:cNvGrpSpPr/>
          <p:nvPr/>
        </p:nvGrpSpPr>
        <p:grpSpPr>
          <a:xfrm>
            <a:off x="527685" y="4749641"/>
            <a:ext cx="5338318" cy="661988"/>
            <a:chOff x="527685" y="4749641"/>
            <a:chExt cx="5338318" cy="661988"/>
          </a:xfrm>
        </p:grpSpPr>
        <p:sp>
          <p:nvSpPr>
            <p:cNvPr id="21" name="TextBox 21"/>
            <p:cNvSpPr txBox="1"/>
            <p:nvPr/>
          </p:nvSpPr>
          <p:spPr>
            <a:xfrm>
              <a:off x="527685" y="4749641"/>
              <a:ext cx="5338318" cy="661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四个特例：pipelines 把拓扑限定为线性结构；bounded pipes 限定一个管道上可存在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的数据量；typed pipes 规定传递数据的类型；batch sequential 把全部输入作为一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个单一实体处理。</a:t>
              </a:r>
            </a:p>
          </p:txBody>
        </p:sp>
      </p:grpSp>
      <p:grpSp>
        <p:nvGrpSpPr>
          <p:cNvPr id="25" name="c2-image-1"/>
          <p:cNvGrpSpPr/>
          <p:nvPr/>
        </p:nvGrpSpPr>
        <p:grpSpPr>
          <a:xfrm>
            <a:off x="6464618" y="1524000"/>
            <a:ext cx="5193982" cy="1246536"/>
            <a:chOff x="6464618" y="1524000"/>
            <a:chExt cx="5193982" cy="1246536"/>
          </a:xfrm>
        </p:grpSpPr>
        <p:pic>
          <p:nvPicPr>
            <p:cNvPr id="23" name="Image 23"/>
            <p:cNvPicPr>
              <a:picLocks noChangeAspect="1"/>
            </p:cNvPicPr>
            <p:nvPr/>
          </p:nvPicPr>
          <p:blipFill>
            <a:blip r:embed="rId2"/>
            <a:srcRect l="0" t="37628" r="0" b="37627"/>
            <a:stretch>
              <a:fillRect/>
            </a:stretch>
          </p:blipFill>
          <p:spPr>
            <a:xfrm>
              <a:off x="6464618" y="1524000"/>
              <a:ext cx="5193982" cy="963930"/>
            </a:xfrm>
            <a:prstGeom prst="roundRect">
              <a:avLst>
                <a:gd name="adj" fmla="val 13833"/>
              </a:avLst>
            </a:prstGeom>
          </p:spPr>
        </p:pic>
        <p:sp>
          <p:nvSpPr>
            <p:cNvPr id="24" name="TextBox 24"/>
            <p:cNvSpPr txBox="1"/>
            <p:nvPr/>
          </p:nvSpPr>
          <p:spPr>
            <a:xfrm>
              <a:off x="7935747" y="2579846"/>
              <a:ext cx="225267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数据从左端流入，依次经过每个过滤器</a:t>
              </a:r>
            </a:p>
          </p:txBody>
        </p:sp>
      </p:grpSp>
      <p:grpSp>
        <p:nvGrpSpPr>
          <p:cNvPr id="48" name="c2-compare-2"/>
          <p:cNvGrpSpPr/>
          <p:nvPr/>
        </p:nvGrpSpPr>
        <p:grpSpPr>
          <a:xfrm>
            <a:off x="6464618" y="2921318"/>
            <a:ext cx="5193982" cy="2595562"/>
            <a:chOff x="6464618" y="2921318"/>
            <a:chExt cx="5193982" cy="2595562"/>
          </a:xfrm>
        </p:grpSpPr>
        <p:sp>
          <p:nvSpPr>
            <p:cNvPr id="26" name="Rectangle 26"/>
            <p:cNvSpPr/>
            <p:nvPr/>
          </p:nvSpPr>
          <p:spPr>
            <a:xfrm>
              <a:off x="6464618" y="2921318"/>
              <a:ext cx="2425065" cy="2595562"/>
            </a:xfrm>
            <a:prstGeom prst="roundRect">
              <a:avLst>
                <a:gd name="adj" fmla="val 549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474142" y="3054668"/>
              <a:ext cx="47625" cy="232886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682549" y="31308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697980" y="350329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853999" y="3447098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隐蔽性好、高内聚低耦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697980" y="406146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853999" y="4005262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整体行为是各过滤器的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简单合成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697980" y="461867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53999" y="4562475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支持重用、替换与并行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697980" y="517588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853999" y="511968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可分析吞吐量和死锁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233535" y="2921318"/>
              <a:ext cx="2425065" cy="2595562"/>
            </a:xfrm>
            <a:prstGeom prst="roundRect">
              <a:avLst>
                <a:gd name="adj" fmla="val 549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9243060" y="3054668"/>
              <a:ext cx="47625" cy="232886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451467" y="3130868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9466898" y="350329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622917" y="344709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容易变成批处理结构</a:t>
              </a:r>
            </a:p>
          </p:txBody>
        </p:sp>
        <p:sp>
          <p:nvSpPr>
            <p:cNvPr id="42" name="Ellipse 42"/>
            <p:cNvSpPr/>
            <p:nvPr/>
          </p:nvSpPr>
          <p:spPr>
            <a:xfrm>
              <a:off x="9466898" y="380428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622917" y="374808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不适合交互式应用</a:t>
              </a:r>
            </a:p>
          </p:txBody>
        </p:sp>
        <p:sp>
          <p:nvSpPr>
            <p:cNvPr id="44" name="Ellipse 44"/>
            <p:cNvSpPr/>
            <p:nvPr/>
          </p:nvSpPr>
          <p:spPr>
            <a:xfrm>
              <a:off x="9466898" y="410432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622917" y="4048125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解析和合成数据要自己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写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8900160" y="405765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970500" y="4153852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55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49" name="Rectangle 49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738188" y="6022658"/>
              <a:ext cx="200026" cy="200025"/>
              <a:chOff x="738188" y="6022658"/>
              <a:chExt cx="200026" cy="200025"/>
            </a:xfrm>
          </p:grpSpPr>
          <p:sp>
            <p:nvSpPr>
              <p:cNvPr id="50" name="Freeform 50"/>
              <p:cNvSpPr/>
              <p:nvPr/>
            </p:nvSpPr>
            <p:spPr>
              <a:xfrm>
                <a:off x="738188" y="60226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777926" y="60671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812642" y="61782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4" name="TextBox 54"/>
            <p:cNvSpPr txBox="1"/>
            <p:nvPr/>
          </p:nvSpPr>
          <p:spPr>
            <a:xfrm>
              <a:off x="1040892" y="6028373"/>
              <a:ext cx="42176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典型应用是 Unix shell 的管道和编译器的各遍扫描。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软件体系结构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数据抽象与面向对象风格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193982" cy="1522095"/>
            <a:chOff x="533400" y="1524000"/>
            <a:chExt cx="5193982" cy="15220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522095"/>
            </a:xfrm>
            <a:prstGeom prst="roundRect">
              <a:avLst>
                <a:gd name="adj" fmla="val 876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25539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1060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452297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将数据的表示和相关操作封装在一个抽象数据类型或对象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中。这种风格的构件是对象，或者说是抽象数据类型的实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例；对象是通过函数和过程的调用来交互的。</a:t>
              </a:r>
            </a:p>
          </p:txBody>
        </p:sp>
      </p:grpSp>
      <p:grpSp>
        <p:nvGrpSpPr>
          <p:cNvPr id="18" name="c1-bullets-2"/>
          <p:cNvGrpSpPr/>
          <p:nvPr/>
        </p:nvGrpSpPr>
        <p:grpSpPr>
          <a:xfrm>
            <a:off x="526161" y="3250406"/>
            <a:ext cx="3697300" cy="940690"/>
            <a:chOff x="526161" y="3250406"/>
            <a:chExt cx="3697300" cy="940690"/>
          </a:xfrm>
        </p:grpSpPr>
        <p:sp>
          <p:nvSpPr>
            <p:cNvPr id="13" name="TextBox 13"/>
            <p:cNvSpPr txBox="1"/>
            <p:nvPr/>
          </p:nvSpPr>
          <p:spPr>
            <a:xfrm>
              <a:off x="526161" y="325040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两个限制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533400" y="3620452"/>
              <a:ext cx="108585" cy="108585"/>
            </a:xfrm>
            <a:custGeom>
              <a:avLst/>
              <a:gdLst/>
              <a:ahLst/>
              <a:cxnLst/>
              <a:rect l="l" t="t" r="r" b="b"/>
              <a:pathLst>
                <a:path w="108585" h="108585">
                  <a:moveTo>
                    <a:pt x="0" y="0"/>
                  </a:moveTo>
                  <a:lnTo>
                    <a:pt x="108585" y="108585"/>
                  </a:lnTo>
                  <a:moveTo>
                    <a:pt x="108585" y="0"/>
                  </a:moveTo>
                  <a:lnTo>
                    <a:pt x="0" y="10858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68096" y="3585686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对象要负责保证其数据表示的完整性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533400" y="3947160"/>
              <a:ext cx="108585" cy="108585"/>
            </a:xfrm>
            <a:custGeom>
              <a:avLst/>
              <a:gdLst/>
              <a:ahLst/>
              <a:cxnLst/>
              <a:rect l="l" t="t" r="r" b="b"/>
              <a:pathLst>
                <a:path w="108585" h="108585">
                  <a:moveTo>
                    <a:pt x="0" y="0"/>
                  </a:moveTo>
                  <a:lnTo>
                    <a:pt x="108585" y="108585"/>
                  </a:lnTo>
                  <a:moveTo>
                    <a:pt x="108585" y="0"/>
                  </a:moveTo>
                  <a:lnTo>
                    <a:pt x="0" y="108585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8096" y="3912394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对象的数据表示对其他对象来说是隐藏的</a:t>
              </a:r>
            </a:p>
          </p:txBody>
        </p:sp>
      </p:grpSp>
      <p:grpSp>
        <p:nvGrpSpPr>
          <p:cNvPr id="39" name="c1-graph-3"/>
          <p:cNvGrpSpPr/>
          <p:nvPr/>
        </p:nvGrpSpPr>
        <p:grpSpPr>
          <a:xfrm>
            <a:off x="1116330" y="4381500"/>
            <a:ext cx="4027170" cy="1528762"/>
            <a:chOff x="1116330" y="4381500"/>
            <a:chExt cx="4027170" cy="1528762"/>
          </a:xfrm>
        </p:grpSpPr>
        <p:sp>
          <p:nvSpPr>
            <p:cNvPr id="19" name="Freeform 19"/>
            <p:cNvSpPr/>
            <p:nvPr/>
          </p:nvSpPr>
          <p:spPr>
            <a:xfrm>
              <a:off x="1621155" y="4629150"/>
              <a:ext cx="2922270" cy="9525"/>
            </a:xfrm>
            <a:custGeom>
              <a:avLst/>
              <a:gdLst/>
              <a:ahLst/>
              <a:cxnLst/>
              <a:rect l="l" t="t" r="r" b="b"/>
              <a:pathLst>
                <a:path w="2922270" h="9525">
                  <a:moveTo>
                    <a:pt x="0" y="0"/>
                  </a:moveTo>
                  <a:lnTo>
                    <a:pt x="292227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4543425" y="45815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1611630" y="4698682"/>
              <a:ext cx="1179195" cy="335280"/>
            </a:xfrm>
            <a:custGeom>
              <a:avLst/>
              <a:gdLst/>
              <a:ahLst/>
              <a:cxnLst/>
              <a:rect l="l" t="t" r="r" b="b"/>
              <a:pathLst>
                <a:path w="1179195" h="335280">
                  <a:moveTo>
                    <a:pt x="0" y="0"/>
                  </a:moveTo>
                  <a:lnTo>
                    <a:pt x="1179195" y="33528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2778442" y="4988242"/>
              <a:ext cx="104775" cy="91440"/>
            </a:xfrm>
            <a:custGeom>
              <a:avLst/>
              <a:gdLst/>
              <a:ahLst/>
              <a:cxnLst/>
              <a:rect l="l" t="t" r="r" b="b"/>
              <a:pathLst>
                <a:path w="104775" h="91440">
                  <a:moveTo>
                    <a:pt x="104775" y="71438"/>
                  </a:moveTo>
                  <a:lnTo>
                    <a:pt x="0" y="91440"/>
                  </a:lnTo>
                  <a:lnTo>
                    <a:pt x="25717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3" name="Freeform 23"/>
            <p:cNvSpPr/>
            <p:nvPr/>
          </p:nvSpPr>
          <p:spPr>
            <a:xfrm>
              <a:off x="3377565" y="4725352"/>
              <a:ext cx="1179195" cy="334328"/>
            </a:xfrm>
            <a:custGeom>
              <a:avLst/>
              <a:gdLst/>
              <a:ahLst/>
              <a:cxnLst/>
              <a:rect l="l" t="t" r="r" b="b"/>
              <a:pathLst>
                <a:path w="1179195" h="334328">
                  <a:moveTo>
                    <a:pt x="0" y="334328"/>
                  </a:moveTo>
                  <a:lnTo>
                    <a:pt x="117919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4544378" y="4679632"/>
              <a:ext cx="104775" cy="91440"/>
            </a:xfrm>
            <a:custGeom>
              <a:avLst/>
              <a:gdLst/>
              <a:ahLst/>
              <a:cxnLst/>
              <a:rect l="l" t="t" r="r" b="b"/>
              <a:pathLst>
                <a:path w="104775" h="91440">
                  <a:moveTo>
                    <a:pt x="104775" y="19050"/>
                  </a:moveTo>
                  <a:lnTo>
                    <a:pt x="25717" y="914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1702118" y="5204460"/>
              <a:ext cx="1182053" cy="356235"/>
            </a:xfrm>
            <a:custGeom>
              <a:avLst/>
              <a:gdLst/>
              <a:ahLst/>
              <a:cxnLst/>
              <a:rect l="l" t="t" r="r" b="b"/>
              <a:pathLst>
                <a:path w="1182053" h="356235">
                  <a:moveTo>
                    <a:pt x="1182053" y="0"/>
                  </a:moveTo>
                  <a:lnTo>
                    <a:pt x="0" y="35623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1610678" y="5515928"/>
              <a:ext cx="104775" cy="90488"/>
            </a:xfrm>
            <a:custGeom>
              <a:avLst/>
              <a:gdLst/>
              <a:ahLst/>
              <a:cxnLst/>
              <a:rect l="l" t="t" r="r" b="b"/>
              <a:pathLst>
                <a:path w="104775" h="90488">
                  <a:moveTo>
                    <a:pt x="0" y="72390"/>
                  </a:moveTo>
                  <a:lnTo>
                    <a:pt x="77152" y="0"/>
                  </a:lnTo>
                  <a:lnTo>
                    <a:pt x="104775" y="90488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3376612" y="5204460"/>
              <a:ext cx="1182053" cy="356235"/>
            </a:xfrm>
            <a:custGeom>
              <a:avLst/>
              <a:gdLst/>
              <a:ahLst/>
              <a:cxnLst/>
              <a:rect l="l" t="t" r="r" b="b"/>
              <a:pathLst>
                <a:path w="1182053" h="356235">
                  <a:moveTo>
                    <a:pt x="0" y="0"/>
                  </a:moveTo>
                  <a:lnTo>
                    <a:pt x="1182053" y="35623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4545330" y="5515928"/>
              <a:ext cx="104775" cy="90488"/>
            </a:xfrm>
            <a:custGeom>
              <a:avLst/>
              <a:gdLst/>
              <a:ahLst/>
              <a:cxnLst/>
              <a:rect l="l" t="t" r="r" b="b"/>
              <a:pathLst>
                <a:path w="104775" h="90488">
                  <a:moveTo>
                    <a:pt x="104775" y="72390"/>
                  </a:moveTo>
                  <a:lnTo>
                    <a:pt x="0" y="90488"/>
                  </a:lnTo>
                  <a:lnTo>
                    <a:pt x="27623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9" name="Ellipse 29"/>
            <p:cNvSpPr/>
            <p:nvPr/>
          </p:nvSpPr>
          <p:spPr>
            <a:xfrm>
              <a:off x="1116330" y="4381500"/>
              <a:ext cx="495300" cy="495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0" name="Ellipse 30"/>
            <p:cNvSpPr/>
            <p:nvPr/>
          </p:nvSpPr>
          <p:spPr>
            <a:xfrm>
              <a:off x="4648200" y="4381500"/>
              <a:ext cx="495300" cy="495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2882265" y="4882515"/>
              <a:ext cx="495300" cy="495300"/>
            </a:xfrm>
            <a:prstGeom prst="ellipse">
              <a:avLst/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1116330" y="5414962"/>
              <a:ext cx="495300" cy="495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3" name="Ellipse 33"/>
            <p:cNvSpPr/>
            <p:nvPr/>
          </p:nvSpPr>
          <p:spPr>
            <a:xfrm>
              <a:off x="4648200" y="5414962"/>
              <a:ext cx="495300" cy="4953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227099" y="456771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758969" y="456771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993034" y="506968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227099" y="560212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758969" y="560212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</a:t>
              </a:r>
            </a:p>
          </p:txBody>
        </p:sp>
      </p:grpSp>
      <p:grpSp>
        <p:nvGrpSpPr>
          <p:cNvPr id="56" name="c2-compare-1"/>
          <p:cNvGrpSpPr/>
          <p:nvPr/>
        </p:nvGrpSpPr>
        <p:grpSpPr>
          <a:xfrm>
            <a:off x="6032182" y="1524000"/>
            <a:ext cx="5626418" cy="3195638"/>
            <a:chOff x="6032182" y="1524000"/>
            <a:chExt cx="5626418" cy="3195638"/>
          </a:xfrm>
        </p:grpSpPr>
        <p:sp>
          <p:nvSpPr>
            <p:cNvPr id="40" name="Rectangle 40"/>
            <p:cNvSpPr/>
            <p:nvPr/>
          </p:nvSpPr>
          <p:spPr>
            <a:xfrm>
              <a:off x="6032182" y="1524000"/>
              <a:ext cx="2642235" cy="3195638"/>
            </a:xfrm>
            <a:prstGeom prst="roundRect">
              <a:avLst>
                <a:gd name="adj" fmla="val 50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041708" y="1657350"/>
              <a:ext cx="47625" cy="292893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261164" y="174545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276022" y="214122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432614" y="2081689"/>
              <a:ext cx="1817878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对象对其它对象隐藏它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的表示，可以改变一个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对象的表示而不影响它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的使用者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276022" y="327374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32614" y="3213259"/>
              <a:ext cx="1817878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访问数据的操作和数据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绑定在一起，设计者可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以把问题分解成一些交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互的代理程序的集合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016365" y="1524000"/>
              <a:ext cx="2642235" cy="3195638"/>
            </a:xfrm>
            <a:prstGeom prst="roundRect">
              <a:avLst>
                <a:gd name="adj" fmla="val 50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9025890" y="1657350"/>
              <a:ext cx="47625" cy="292893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9245346" y="174545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9260205" y="214122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416796" y="2081689"/>
              <a:ext cx="1817878" cy="10930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要通过过程调用交互就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必须知道对象的标识，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标识一改，所有明确调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用它的对象都要修改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9260205" y="327374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416796" y="3213259"/>
              <a:ext cx="1944116" cy="13645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副作用难以预料：A 使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用了对象 B，C 也使用了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B，C 对 B 的使用给 A 造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成的影响可能是料想不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到的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8682990" y="2960370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753330" y="3056573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63" name="c2-callout-2"/>
          <p:cNvGrpSpPr/>
          <p:nvPr/>
        </p:nvGrpSpPr>
        <p:grpSpPr>
          <a:xfrm>
            <a:off x="6032182" y="4900612"/>
            <a:ext cx="5626418" cy="982028"/>
            <a:chOff x="6032182" y="4900612"/>
            <a:chExt cx="5626418" cy="982028"/>
          </a:xfrm>
        </p:grpSpPr>
        <p:sp>
          <p:nvSpPr>
            <p:cNvPr id="57" name="Rectangle 57"/>
            <p:cNvSpPr/>
            <p:nvPr/>
          </p:nvSpPr>
          <p:spPr>
            <a:xfrm>
              <a:off x="6032182" y="4900612"/>
              <a:ext cx="5626418" cy="982028"/>
            </a:xfrm>
            <a:prstGeom prst="roundRect">
              <a:avLst>
                <a:gd name="adj" fmla="val 1163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6236970" y="5291138"/>
              <a:ext cx="200026" cy="200026"/>
              <a:chOff x="6236970" y="5291138"/>
              <a:chExt cx="200026" cy="200026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6236970" y="529113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6336983" y="535781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6325870" y="539115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6539294" y="5160169"/>
              <a:ext cx="470331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这种风格属于调用／返回风格，和主程序／子程序、层次结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构是同一类。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801999" cy="909257"/>
            <a:chOff x="520446" y="342900"/>
            <a:chExt cx="380199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软件体系结构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80199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基于事件的隐式调用风格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700212"/>
            <a:chOff x="533400" y="1524000"/>
            <a:chExt cx="5410200" cy="170021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700212"/>
            </a:xfrm>
            <a:prstGeom prst="roundRect">
              <a:avLst>
                <a:gd name="adj" fmla="val 78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433512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0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4814316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构件不直接调用一个过程，而是发布或广播一个或多个事件；系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统中其它构件为它感兴趣的事件注册过程。当一个事件被发布，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系统自动调用在这个事件中注册的所有过程，于是一个事件的发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布就"隐式地"激发了另一模块中的过程。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393758"/>
            <a:ext cx="5410200" cy="1443038"/>
            <a:chOff x="533400" y="3393758"/>
            <a:chExt cx="5410200" cy="1443038"/>
          </a:xfrm>
        </p:grpSpPr>
        <p:sp>
          <p:nvSpPr>
            <p:cNvPr id="13" name="Rectangle 13"/>
            <p:cNvSpPr/>
            <p:nvPr/>
          </p:nvSpPr>
          <p:spPr>
            <a:xfrm>
              <a:off x="533400" y="3393758"/>
              <a:ext cx="5410200" cy="1443038"/>
            </a:xfrm>
            <a:prstGeom prst="roundRect">
              <a:avLst>
                <a:gd name="adj" fmla="val 92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542925" y="3527108"/>
              <a:ext cx="47625" cy="117633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758190" y="3580448"/>
              <a:ext cx="83153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39660" y="3613309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构件的接口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1332" y="3925252"/>
              <a:ext cx="48143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这种风格的构件是一些模块，模块的接口既提供了一些过程，也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有一些事件的集合。过程可以用通用的方式调用，构件也可以在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系统事件中注册一些过程。</a:t>
              </a:r>
            </a:p>
          </p:txBody>
        </p:sp>
      </p:grpSp>
      <p:grpSp>
        <p:nvGrpSpPr>
          <p:cNvPr id="25" name="c1-callout-3"/>
          <p:cNvGrpSpPr/>
          <p:nvPr/>
        </p:nvGrpSpPr>
        <p:grpSpPr>
          <a:xfrm>
            <a:off x="533400" y="5006340"/>
            <a:ext cx="5410200" cy="1101090"/>
            <a:chOff x="533400" y="5006340"/>
            <a:chExt cx="5410200" cy="1101090"/>
          </a:xfrm>
        </p:grpSpPr>
        <p:sp>
          <p:nvSpPr>
            <p:cNvPr id="19" name="Rectangle 19"/>
            <p:cNvSpPr/>
            <p:nvPr/>
          </p:nvSpPr>
          <p:spPr>
            <a:xfrm>
              <a:off x="533400" y="5006340"/>
              <a:ext cx="5410200" cy="1101090"/>
            </a:xfrm>
            <a:prstGeom prst="roundRect">
              <a:avLst>
                <a:gd name="adj" fmla="val 10381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26129" y="5454133"/>
              <a:ext cx="224134" cy="192560"/>
              <a:chOff x="726129" y="5454133"/>
              <a:chExt cx="224134" cy="19256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838200" y="552450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726129" y="545413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38200" y="560228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892" y="5338762"/>
              <a:ext cx="44714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事件的发布者并不知道哪些构件会被这些事件影响，不能假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定构件的处理顺序，甚至不知道哪些过程会被调用。</a:t>
              </a:r>
            </a:p>
          </p:txBody>
        </p:sp>
      </p:grpSp>
      <p:grpSp>
        <p:nvGrpSpPr>
          <p:cNvPr id="32" name="c2-card-1"/>
          <p:cNvGrpSpPr/>
          <p:nvPr/>
        </p:nvGrpSpPr>
        <p:grpSpPr>
          <a:xfrm>
            <a:off x="6248400" y="1524000"/>
            <a:ext cx="5410200" cy="1861185"/>
            <a:chOff x="6248400" y="1524000"/>
            <a:chExt cx="5410200" cy="1861185"/>
          </a:xfrm>
        </p:grpSpPr>
        <p:sp>
          <p:nvSpPr>
            <p:cNvPr id="26" name="Rectangle 26"/>
            <p:cNvSpPr/>
            <p:nvPr/>
          </p:nvSpPr>
          <p:spPr>
            <a:xfrm>
              <a:off x="6248400" y="1524000"/>
              <a:ext cx="5410200" cy="1861185"/>
            </a:xfrm>
            <a:prstGeom prst="roundRect">
              <a:avLst>
                <a:gd name="adj" fmla="val 716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57925" y="1657350"/>
              <a:ext cx="47625" cy="159448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3190" y="171069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65862" y="174355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应用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66332" y="2054542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在编程环境中集成各种工具；在数据库管理系统中确保一致性约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束；在用户界面系统中管理数据；在编辑器中支持语法检查。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67475" y="2608421"/>
              <a:ext cx="4705350" cy="635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例：编辑器和变量监视器向调试器登记断点事件。调试器在断点停下时声明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该事件，系统自动调用注册的处理程序：编辑器卷屏到断点，变量监视器刷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新数值。</a:t>
              </a:r>
            </a:p>
          </p:txBody>
        </p:sp>
      </p:grpSp>
      <p:grpSp>
        <p:nvGrpSpPr>
          <p:cNvPr id="51" name="c2-compare-2"/>
          <p:cNvGrpSpPr/>
          <p:nvPr/>
        </p:nvGrpSpPr>
        <p:grpSpPr>
          <a:xfrm>
            <a:off x="6248400" y="3555682"/>
            <a:ext cx="5410200" cy="2552700"/>
            <a:chOff x="6248400" y="3555682"/>
            <a:chExt cx="5410200" cy="2552700"/>
          </a:xfrm>
        </p:grpSpPr>
        <p:sp>
          <p:nvSpPr>
            <p:cNvPr id="33" name="Rectangle 33"/>
            <p:cNvSpPr/>
            <p:nvPr/>
          </p:nvSpPr>
          <p:spPr>
            <a:xfrm>
              <a:off x="6248400" y="3555682"/>
              <a:ext cx="2533650" cy="2552700"/>
            </a:xfrm>
            <a:prstGeom prst="roundRect">
              <a:avLst>
                <a:gd name="adj" fmla="val 52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257925" y="3689032"/>
              <a:ext cx="47625" cy="228600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66332" y="376428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6481762" y="413766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637782" y="4081462"/>
              <a:ext cx="17282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为软件重用提供强大支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持，加入新构件只需把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它注册到系统的事件中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481762" y="495204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637782" y="4895850"/>
              <a:ext cx="17282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用一个构件代替另一个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构件时，不会影响其它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构件的接口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124950" y="3555682"/>
              <a:ext cx="2533650" cy="2552700"/>
            </a:xfrm>
            <a:prstGeom prst="roundRect">
              <a:avLst>
                <a:gd name="adj" fmla="val 52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9134475" y="3689032"/>
              <a:ext cx="47625" cy="228600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342882" y="3764280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9358312" y="413766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514332" y="4081462"/>
              <a:ext cx="17282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构件放弃了对系统计算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的控制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9358312" y="4694872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9514332" y="46386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数据交换的问题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9358312" y="499491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9514332" y="4938712"/>
              <a:ext cx="1728216" cy="1035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过程的语义依赖被触发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事件的上下文约束，关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于正确性的推理存在问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题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8791575" y="4670108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861915" y="4766310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285619" cy="909257"/>
            <a:chOff x="520446" y="342900"/>
            <a:chExt cx="228561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软件体系结构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层次系统风格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626418" cy="2158365"/>
            <a:chOff x="533400" y="1524000"/>
            <a:chExt cx="5626418" cy="21583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158365"/>
            </a:xfrm>
            <a:prstGeom prst="roundRect">
              <a:avLst>
                <a:gd name="adj" fmla="val 61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9166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1060" y="175641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488365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层次系统组织成一个层次结构，</a:t>
              </a:r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每一层为上层服务，并作为下</a:t>
              </a:r>
              <a:br/>
              <a:r>
                <a:rPr lang="zh-CN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层的客户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。在一些层次系统中，除了一些精心挑选的用于输出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的函数外，内部的层只对相邻的外层可见。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7240" y="300323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3831" y="2943701"/>
              <a:ext cx="34553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连接件由决定层间如何交互的协议来定义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7240" y="332136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3831" y="3260884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拓扑约束是对相邻层间交互的约束</a:t>
              </a:r>
            </a:p>
          </p:txBody>
        </p:sp>
      </p:grpSp>
      <p:grpSp>
        <p:nvGrpSpPr>
          <p:cNvPr id="25" name="c1-kv-2"/>
          <p:cNvGrpSpPr/>
          <p:nvPr/>
        </p:nvGrpSpPr>
        <p:grpSpPr>
          <a:xfrm>
            <a:off x="526161" y="3885724"/>
            <a:ext cx="5633657" cy="1111187"/>
            <a:chOff x="526161" y="3885724"/>
            <a:chExt cx="5633657" cy="1111187"/>
          </a:xfrm>
        </p:grpSpPr>
        <p:sp>
          <p:nvSpPr>
            <p:cNvPr id="17" name="TextBox 17"/>
            <p:cNvSpPr txBox="1"/>
            <p:nvPr/>
          </p:nvSpPr>
          <p:spPr>
            <a:xfrm>
              <a:off x="526161" y="3885724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分层通信协议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900619" y="3885724"/>
              <a:ext cx="268423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OSI 七层模型、TCP／IP 协议族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418909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26161" y="4301966"/>
              <a:ext cx="97028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数据库系统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900619" y="4301966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从存储管理到查询处理逐层向上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460533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6161" y="471820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操作系统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900619" y="4718209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内核、系统调用、应用程序逐层向外</a:t>
              </a:r>
            </a:p>
          </p:txBody>
        </p:sp>
      </p:grpSp>
      <p:grpSp>
        <p:nvGrpSpPr>
          <p:cNvPr id="46" name="c2-flow-1"/>
          <p:cNvGrpSpPr/>
          <p:nvPr/>
        </p:nvGrpSpPr>
        <p:grpSpPr>
          <a:xfrm>
            <a:off x="6828472" y="1553528"/>
            <a:ext cx="4466272" cy="1821180"/>
            <a:chOff x="6828472" y="1553528"/>
            <a:chExt cx="4466272" cy="1821180"/>
          </a:xfrm>
        </p:grpSpPr>
        <p:sp>
          <p:nvSpPr>
            <p:cNvPr id="26" name="Freeform 26"/>
            <p:cNvSpPr/>
            <p:nvPr/>
          </p:nvSpPr>
          <p:spPr>
            <a:xfrm>
              <a:off x="9062085" y="1918335"/>
              <a:ext cx="9525" cy="46673"/>
            </a:xfrm>
            <a:custGeom>
              <a:avLst/>
              <a:gdLst/>
              <a:ahLst/>
              <a:cxnLst/>
              <a:rect l="l" t="t" r="r" b="b"/>
              <a:pathLst>
                <a:path w="9525" h="46673">
                  <a:moveTo>
                    <a:pt x="0" y="46673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9009698" y="191833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9062085" y="2388870"/>
              <a:ext cx="9525" cy="45720"/>
            </a:xfrm>
            <a:custGeom>
              <a:avLst/>
              <a:gdLst/>
              <a:ahLst/>
              <a:cxnLst/>
              <a:rect l="l" t="t" r="r" b="b"/>
              <a:pathLst>
                <a:path w="9525" h="45720">
                  <a:moveTo>
                    <a:pt x="0" y="4572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9009698" y="238887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9062085" y="2858452"/>
              <a:ext cx="9525" cy="46672"/>
            </a:xfrm>
            <a:custGeom>
              <a:avLst/>
              <a:gdLst/>
              <a:ahLst/>
              <a:cxnLst/>
              <a:rect l="l" t="t" r="r" b="b"/>
              <a:pathLst>
                <a:path w="9525" h="46672">
                  <a:moveTo>
                    <a:pt x="0" y="46672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9009698" y="285845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6828472" y="1553528"/>
              <a:ext cx="4466272" cy="411480"/>
            </a:xfrm>
            <a:custGeom>
              <a:avLst/>
              <a:gdLst/>
              <a:ahLst/>
              <a:cxnLst/>
              <a:rect l="l" t="t" r="r" b="b"/>
              <a:pathLst>
                <a:path w="4466272" h="411480">
                  <a:moveTo>
                    <a:pt x="133350" y="0"/>
                  </a:moveTo>
                  <a:lnTo>
                    <a:pt x="4466272" y="0"/>
                  </a:lnTo>
                  <a:lnTo>
                    <a:pt x="4332922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828472" y="2023110"/>
              <a:ext cx="4466272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828472" y="2493645"/>
              <a:ext cx="4466272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828472" y="2963228"/>
              <a:ext cx="4466272" cy="411480"/>
            </a:xfrm>
            <a:prstGeom prst="roundRect">
              <a:avLst>
                <a:gd name="adj" fmla="val 23148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894445" y="167544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652129" y="2145030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有用的系统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732901" y="261556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基本工具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813673" y="3085148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核心层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090660" y="1908810"/>
              <a:ext cx="59340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114282" y="193309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过程调用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090660" y="2378392"/>
              <a:ext cx="59340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114282" y="2403634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过程调用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9090660" y="2848928"/>
              <a:ext cx="59340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114282" y="287321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过程调用</a:t>
              </a:r>
            </a:p>
          </p:txBody>
        </p:sp>
      </p:grpSp>
      <p:grpSp>
        <p:nvGrpSpPr>
          <p:cNvPr id="65" name="c2-compare-2"/>
          <p:cNvGrpSpPr/>
          <p:nvPr/>
        </p:nvGrpSpPr>
        <p:grpSpPr>
          <a:xfrm>
            <a:off x="6464618" y="3584258"/>
            <a:ext cx="5193982" cy="1884998"/>
            <a:chOff x="6464618" y="3584258"/>
            <a:chExt cx="5193982" cy="1884998"/>
          </a:xfrm>
        </p:grpSpPr>
        <p:sp>
          <p:nvSpPr>
            <p:cNvPr id="47" name="Rectangle 47"/>
            <p:cNvSpPr/>
            <p:nvPr/>
          </p:nvSpPr>
          <p:spPr>
            <a:xfrm>
              <a:off x="6464618" y="3584258"/>
              <a:ext cx="2425065" cy="1884998"/>
            </a:xfrm>
            <a:prstGeom prst="roundRect">
              <a:avLst>
                <a:gd name="adj" fmla="val 7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474142" y="3717608"/>
              <a:ext cx="47625" cy="161829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693598" y="380571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优点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6708458" y="420147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865048" y="4141946"/>
              <a:ext cx="16375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支持基于抽象程度递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增的系统设计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6708458" y="479107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865048" y="4730591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支持功能增强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6708458" y="510825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865048" y="504872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支持重用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233535" y="3584258"/>
              <a:ext cx="2425065" cy="1884998"/>
            </a:xfrm>
            <a:prstGeom prst="roundRect">
              <a:avLst>
                <a:gd name="adj" fmla="val 7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9243060" y="3717608"/>
              <a:ext cx="47625" cy="1618298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9462516" y="380571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缺点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9477375" y="420147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9633966" y="4141946"/>
              <a:ext cx="16375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并不是每个系统都容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易划分为分层的模式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9477375" y="479107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9633966" y="4730591"/>
              <a:ext cx="163753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很难找到合适的、正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确的层次抽象方法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8900160" y="4365308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8970500" y="4461510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72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66" name="Rectangle 66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738188" y="6011228"/>
              <a:ext cx="200026" cy="200026"/>
              <a:chOff x="738188" y="6011228"/>
              <a:chExt cx="200026" cy="200026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738188" y="601122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838200" y="60779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827088" y="611124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1040511" y="6011704"/>
              <a:ext cx="679857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更正：原课件把层次系统写作 Layerd System，正确拼写是 Layered System。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软件体系结构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仓库风格与解释器风格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626418" cy="2300288"/>
            <a:chOff x="533400" y="1524000"/>
            <a:chExt cx="5626418" cy="230028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300288"/>
            </a:xfrm>
            <a:prstGeom prst="roundRect">
              <a:avLst>
                <a:gd name="adj" fmla="val 579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033588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58190" y="1710690"/>
              <a:ext cx="1294448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23642" y="1743551"/>
              <a:ext cx="116449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仓库 Repositories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1332" y="2054542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两种不同的构件：中央数据结构说明当前状态，一组独立构件在中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央数据存贮上执行。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66762" y="266890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22782" y="2612708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若是输入流中的事务类型触发选择执行进程，仓库就是</a:t>
              </a: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传统型数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据库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66762" y="3226118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22782" y="3169920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若是中央数据结构的当前状态触发选择执行进程，仓库就是</a:t>
              </a: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黑板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</a:t>
              </a:r>
            </a:p>
          </p:txBody>
        </p:sp>
      </p:grpSp>
      <p:grpSp>
        <p:nvGrpSpPr>
          <p:cNvPr id="24" name="c1-card-2"/>
          <p:cNvGrpSpPr/>
          <p:nvPr/>
        </p:nvGrpSpPr>
        <p:grpSpPr>
          <a:xfrm>
            <a:off x="533400" y="3994785"/>
            <a:ext cx="5626418" cy="2300288"/>
            <a:chOff x="533400" y="3994785"/>
            <a:chExt cx="5626418" cy="2300288"/>
          </a:xfrm>
        </p:grpSpPr>
        <p:sp>
          <p:nvSpPr>
            <p:cNvPr id="17" name="Rectangle 17"/>
            <p:cNvSpPr/>
            <p:nvPr/>
          </p:nvSpPr>
          <p:spPr>
            <a:xfrm>
              <a:off x="533400" y="3994785"/>
              <a:ext cx="5626418" cy="2300288"/>
            </a:xfrm>
            <a:prstGeom prst="roundRect">
              <a:avLst>
                <a:gd name="adj" fmla="val 579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542925" y="4128135"/>
              <a:ext cx="47625" cy="203358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758190" y="4181475"/>
              <a:ext cx="120491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28459" y="4214336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黑板系统的三部分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1332" y="4525328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知识源：包含独立的、与应用程序相关的知识，知识源之间不直接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通讯，交互只通过黑板完成。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51332" y="5082540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黑板数据结构：按与应用相关的层次组织的问题求解状态数据，知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识源不断改变它来解决问题。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51332" y="5639752"/>
              <a:ext cx="49857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控制：完全由黑板的状态驱动，黑板状态一变知识源就响应。应用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于语音和模式识别系统。</a:t>
              </a:r>
            </a:p>
          </p:txBody>
        </p:sp>
      </p:grpSp>
      <p:grpSp>
        <p:nvGrpSpPr>
          <p:cNvPr id="47" name="c2-graph-1"/>
          <p:cNvGrpSpPr/>
          <p:nvPr/>
        </p:nvGrpSpPr>
        <p:grpSpPr>
          <a:xfrm>
            <a:off x="6911340" y="1564005"/>
            <a:ext cx="4300538" cy="1596390"/>
            <a:chOff x="6911340" y="1564005"/>
            <a:chExt cx="4300538" cy="1596390"/>
          </a:xfrm>
        </p:grpSpPr>
        <p:sp>
          <p:nvSpPr>
            <p:cNvPr id="25" name="Freeform 25"/>
            <p:cNvSpPr/>
            <p:nvPr/>
          </p:nvSpPr>
          <p:spPr>
            <a:xfrm>
              <a:off x="7459980" y="1886902"/>
              <a:ext cx="1105852" cy="328612"/>
            </a:xfrm>
            <a:custGeom>
              <a:avLst/>
              <a:gdLst/>
              <a:ahLst/>
              <a:cxnLst/>
              <a:rect l="l" t="t" r="r" b="b"/>
              <a:pathLst>
                <a:path w="1105852" h="328612">
                  <a:moveTo>
                    <a:pt x="0" y="0"/>
                  </a:moveTo>
                  <a:lnTo>
                    <a:pt x="1105852" y="32861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8552498" y="2169795"/>
              <a:ext cx="104775" cy="91440"/>
            </a:xfrm>
            <a:custGeom>
              <a:avLst/>
              <a:gdLst/>
              <a:ahLst/>
              <a:cxnLst/>
              <a:rect l="l" t="t" r="r" b="b"/>
              <a:pathLst>
                <a:path w="104775" h="91440">
                  <a:moveTo>
                    <a:pt x="104775" y="72390"/>
                  </a:moveTo>
                  <a:lnTo>
                    <a:pt x="0" y="91440"/>
                  </a:lnTo>
                  <a:lnTo>
                    <a:pt x="2667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7368540" y="1841182"/>
              <a:ext cx="104775" cy="91440"/>
            </a:xfrm>
            <a:custGeom>
              <a:avLst/>
              <a:gdLst/>
              <a:ahLst/>
              <a:cxnLst/>
              <a:rect l="l" t="t" r="r" b="b"/>
              <a:pathLst>
                <a:path w="104775" h="91440">
                  <a:moveTo>
                    <a:pt x="0" y="19050"/>
                  </a:moveTo>
                  <a:lnTo>
                    <a:pt x="104775" y="0"/>
                  </a:lnTo>
                  <a:lnTo>
                    <a:pt x="77153" y="9144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9557385" y="1886902"/>
              <a:ext cx="1106805" cy="328612"/>
            </a:xfrm>
            <a:custGeom>
              <a:avLst/>
              <a:gdLst/>
              <a:ahLst/>
              <a:cxnLst/>
              <a:rect l="l" t="t" r="r" b="b"/>
              <a:pathLst>
                <a:path w="1106805" h="328612">
                  <a:moveTo>
                    <a:pt x="1106805" y="0"/>
                  </a:moveTo>
                  <a:lnTo>
                    <a:pt x="0" y="328612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9465945" y="2169795"/>
              <a:ext cx="105728" cy="91440"/>
            </a:xfrm>
            <a:custGeom>
              <a:avLst/>
              <a:gdLst/>
              <a:ahLst/>
              <a:cxnLst/>
              <a:rect l="l" t="t" r="r" b="b"/>
              <a:pathLst>
                <a:path w="105728" h="91440">
                  <a:moveTo>
                    <a:pt x="0" y="72390"/>
                  </a:moveTo>
                  <a:lnTo>
                    <a:pt x="78105" y="0"/>
                  </a:lnTo>
                  <a:lnTo>
                    <a:pt x="105728" y="9144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10649902" y="1841182"/>
              <a:ext cx="104775" cy="91440"/>
            </a:xfrm>
            <a:custGeom>
              <a:avLst/>
              <a:gdLst/>
              <a:ahLst/>
              <a:cxnLst/>
              <a:rect l="l" t="t" r="r" b="b"/>
              <a:pathLst>
                <a:path w="104775" h="91440">
                  <a:moveTo>
                    <a:pt x="104775" y="19050"/>
                  </a:moveTo>
                  <a:lnTo>
                    <a:pt x="27623" y="914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7459980" y="2508885"/>
              <a:ext cx="1105852" cy="328612"/>
            </a:xfrm>
            <a:custGeom>
              <a:avLst/>
              <a:gdLst/>
              <a:ahLst/>
              <a:cxnLst/>
              <a:rect l="l" t="t" r="r" b="b"/>
              <a:pathLst>
                <a:path w="1105852" h="328612">
                  <a:moveTo>
                    <a:pt x="0" y="328612"/>
                  </a:moveTo>
                  <a:lnTo>
                    <a:pt x="110585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8552498" y="2463165"/>
              <a:ext cx="104775" cy="91440"/>
            </a:xfrm>
            <a:custGeom>
              <a:avLst/>
              <a:gdLst/>
              <a:ahLst/>
              <a:cxnLst/>
              <a:rect l="l" t="t" r="r" b="b"/>
              <a:pathLst>
                <a:path w="104775" h="91440">
                  <a:moveTo>
                    <a:pt x="104775" y="19050"/>
                  </a:moveTo>
                  <a:lnTo>
                    <a:pt x="26670" y="914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7368540" y="2791778"/>
              <a:ext cx="104775" cy="91440"/>
            </a:xfrm>
            <a:custGeom>
              <a:avLst/>
              <a:gdLst/>
              <a:ahLst/>
              <a:cxnLst/>
              <a:rect l="l" t="t" r="r" b="b"/>
              <a:pathLst>
                <a:path w="104775" h="91440">
                  <a:moveTo>
                    <a:pt x="0" y="72390"/>
                  </a:moveTo>
                  <a:lnTo>
                    <a:pt x="77153" y="0"/>
                  </a:lnTo>
                  <a:lnTo>
                    <a:pt x="104775" y="9144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9557385" y="2508885"/>
              <a:ext cx="1106805" cy="328612"/>
            </a:xfrm>
            <a:custGeom>
              <a:avLst/>
              <a:gdLst/>
              <a:ahLst/>
              <a:cxnLst/>
              <a:rect l="l" t="t" r="r" b="b"/>
              <a:pathLst>
                <a:path w="1106805" h="328612">
                  <a:moveTo>
                    <a:pt x="1106805" y="328612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9465945" y="2463165"/>
              <a:ext cx="105728" cy="91440"/>
            </a:xfrm>
            <a:custGeom>
              <a:avLst/>
              <a:gdLst/>
              <a:ahLst/>
              <a:cxnLst/>
              <a:rect l="l" t="t" r="r" b="b"/>
              <a:pathLst>
                <a:path w="105728" h="91440">
                  <a:moveTo>
                    <a:pt x="0" y="19050"/>
                  </a:moveTo>
                  <a:lnTo>
                    <a:pt x="105728" y="0"/>
                  </a:lnTo>
                  <a:lnTo>
                    <a:pt x="78105" y="9144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10649902" y="2791778"/>
              <a:ext cx="104775" cy="91440"/>
            </a:xfrm>
            <a:custGeom>
              <a:avLst/>
              <a:gdLst/>
              <a:ahLst/>
              <a:cxnLst/>
              <a:rect l="l" t="t" r="r" b="b"/>
              <a:pathLst>
                <a:path w="104775" h="91440">
                  <a:moveTo>
                    <a:pt x="104775" y="72390"/>
                  </a:moveTo>
                  <a:lnTo>
                    <a:pt x="0" y="91440"/>
                  </a:lnTo>
                  <a:lnTo>
                    <a:pt x="27623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8265795" y="2242185"/>
              <a:ext cx="1592580" cy="240030"/>
            </a:xfrm>
            <a:prstGeom prst="roundRect">
              <a:avLst>
                <a:gd name="adj" fmla="val 39683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38" name="Ellipse 38"/>
            <p:cNvSpPr/>
            <p:nvPr/>
          </p:nvSpPr>
          <p:spPr>
            <a:xfrm>
              <a:off x="6911340" y="1564005"/>
              <a:ext cx="457200" cy="4572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9" name="Ellipse 39"/>
            <p:cNvSpPr/>
            <p:nvPr/>
          </p:nvSpPr>
          <p:spPr>
            <a:xfrm>
              <a:off x="10754678" y="1564005"/>
              <a:ext cx="457200" cy="4572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0" name="Ellipse 40"/>
            <p:cNvSpPr/>
            <p:nvPr/>
          </p:nvSpPr>
          <p:spPr>
            <a:xfrm>
              <a:off x="6911340" y="2703195"/>
              <a:ext cx="457200" cy="4572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1" name="Ellipse 41"/>
            <p:cNvSpPr/>
            <p:nvPr/>
          </p:nvSpPr>
          <p:spPr>
            <a:xfrm>
              <a:off x="10754678" y="2703195"/>
              <a:ext cx="457200" cy="457200"/>
            </a:xfrm>
            <a:prstGeom prst="ellipse">
              <a:avLst/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572690" y="2306002"/>
              <a:ext cx="9787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黑板（共享数据）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024284" y="1736408"/>
              <a:ext cx="23131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KS1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67621" y="1736408"/>
              <a:ext cx="23131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KS2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024284" y="2876550"/>
              <a:ext cx="23131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KS3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867621" y="2876550"/>
              <a:ext cx="23131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KS4</a:t>
              </a:r>
            </a:p>
          </p:txBody>
        </p:sp>
      </p:grpSp>
      <p:grpSp>
        <p:nvGrpSpPr>
          <p:cNvPr id="55" name="c2-card-2"/>
          <p:cNvGrpSpPr/>
          <p:nvPr/>
        </p:nvGrpSpPr>
        <p:grpSpPr>
          <a:xfrm>
            <a:off x="6464618" y="3369945"/>
            <a:ext cx="5193982" cy="2924175"/>
            <a:chOff x="6464618" y="3369945"/>
            <a:chExt cx="5193982" cy="2924175"/>
          </a:xfrm>
        </p:grpSpPr>
        <p:sp>
          <p:nvSpPr>
            <p:cNvPr id="48" name="Rectangle 48"/>
            <p:cNvSpPr/>
            <p:nvPr/>
          </p:nvSpPr>
          <p:spPr>
            <a:xfrm>
              <a:off x="6464618" y="3369945"/>
              <a:ext cx="5193982" cy="2924175"/>
            </a:xfrm>
            <a:prstGeom prst="roundRect">
              <a:avLst>
                <a:gd name="adj" fmla="val 456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474142" y="3503295"/>
              <a:ext cx="47625" cy="265747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689408" y="3556635"/>
              <a:ext cx="1451610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749603" y="3589496"/>
              <a:ext cx="133121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解释器 Interpreters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682549" y="3901440"/>
              <a:ext cx="447141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解释器取一串称为伪代码的字符，把它转换成可以执行的实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际代码。它不仅能把程序设计语言转换成机器码，也能把任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何一种编码转换成更明确、更可用的形式。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6697980" y="477202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853999" y="4715828"/>
              <a:ext cx="4299966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四个组成部分：存放待解释伪代码的存储区；转换伪代码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并模拟它所表示程序的解释引擎；解释引擎的当前状态；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被模拟程序的当前状态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285619" cy="909257"/>
            <a:chOff x="520446" y="342900"/>
            <a:chExt cx="228561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软件体系结构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过程控制风格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410200" cy="2701290"/>
            <a:chOff x="533400" y="1524000"/>
            <a:chExt cx="5410200" cy="270129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701290"/>
            </a:xfrm>
            <a:prstGeom prst="roundRect">
              <a:avLst>
                <a:gd name="adj" fmla="val 493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43459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9058" y="175641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特点与目的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470331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过程控制系统的特征不仅由构件类型刻画，也由构件之间的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关系刻画。它通过对输入和中间产品的持续操作，把输入转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换为有特定属性的最终产品。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7240" y="3003232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3831" y="2943701"/>
              <a:ext cx="454101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目的是把过程结果的特定属性维持在"设定点"附近，例如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核电站、空调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7240" y="359283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3831" y="3532346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主要构件：过程定义、过程变量、传感器、设定点、控制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</p:grpSp>
      <p:grpSp>
        <p:nvGrpSpPr>
          <p:cNvPr id="31" name="c1-kv-2"/>
          <p:cNvGrpSpPr/>
          <p:nvPr/>
        </p:nvGrpSpPr>
        <p:grpSpPr>
          <a:xfrm>
            <a:off x="526161" y="4428649"/>
            <a:ext cx="5417439" cy="1943672"/>
            <a:chOff x="526161" y="4428649"/>
            <a:chExt cx="5417439" cy="1943672"/>
          </a:xfrm>
        </p:grpSpPr>
        <p:sp>
          <p:nvSpPr>
            <p:cNvPr id="17" name="TextBox 17"/>
            <p:cNvSpPr txBox="1"/>
            <p:nvPr/>
          </p:nvSpPr>
          <p:spPr>
            <a:xfrm>
              <a:off x="526161" y="4428649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过程变量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525334" y="4428649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某个过程的可以被测量的属性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473202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26161" y="4844891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受控变量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525334" y="4844891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系统希望控制其值变化的过程变量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514826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6161" y="526113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输入变量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525334" y="5261134"/>
              <a:ext cx="28818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用于监测过程某个输入的过程变量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556450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6161" y="5677376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操作变量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525334" y="5677376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控制器可改变其值的过程变量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598074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26161" y="6093619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设定点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525334" y="6093619"/>
              <a:ext cx="15437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受控变量的期望值</a:t>
              </a:r>
            </a:p>
          </p:txBody>
        </p:sp>
      </p:grpSp>
      <p:grpSp>
        <p:nvGrpSpPr>
          <p:cNvPr id="48" name="c2-flow-1"/>
          <p:cNvGrpSpPr/>
          <p:nvPr/>
        </p:nvGrpSpPr>
        <p:grpSpPr>
          <a:xfrm>
            <a:off x="6381750" y="2168842"/>
            <a:ext cx="5143500" cy="861727"/>
            <a:chOff x="6381750" y="2168842"/>
            <a:chExt cx="5143500" cy="861727"/>
          </a:xfrm>
        </p:grpSpPr>
        <p:sp>
          <p:nvSpPr>
            <p:cNvPr id="32" name="Freeform 32"/>
            <p:cNvSpPr/>
            <p:nvPr/>
          </p:nvSpPr>
          <p:spPr>
            <a:xfrm>
              <a:off x="7918132" y="2374582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8080058" y="23221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4" name="Freeform 34"/>
            <p:cNvSpPr/>
            <p:nvPr/>
          </p:nvSpPr>
          <p:spPr>
            <a:xfrm>
              <a:off x="9722168" y="2374582"/>
              <a:ext cx="161925" cy="9525"/>
            </a:xfrm>
            <a:custGeom>
              <a:avLst/>
              <a:gdLst/>
              <a:ahLst/>
              <a:cxnLst/>
              <a:rect l="l" t="t" r="r" b="b"/>
              <a:pathLst>
                <a:path w="161925" h="9525">
                  <a:moveTo>
                    <a:pt x="0" y="0"/>
                  </a:moveTo>
                  <a:lnTo>
                    <a:pt x="16192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9884092" y="232219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7150418" y="2580322"/>
              <a:ext cx="3606165" cy="441008"/>
            </a:xfrm>
            <a:custGeom>
              <a:avLst/>
              <a:gdLst/>
              <a:ahLst/>
              <a:cxnLst/>
              <a:rect l="l" t="t" r="r" b="b"/>
              <a:pathLst>
                <a:path w="3606165" h="441008">
                  <a:moveTo>
                    <a:pt x="3606165" y="0"/>
                  </a:moveTo>
                  <a:lnTo>
                    <a:pt x="3606165" y="209550"/>
                  </a:lnTo>
                  <a:lnTo>
                    <a:pt x="3606165" y="441008"/>
                  </a:lnTo>
                  <a:lnTo>
                    <a:pt x="1803082" y="441008"/>
                  </a:lnTo>
                  <a:lnTo>
                    <a:pt x="0" y="441008"/>
                  </a:lnTo>
                  <a:lnTo>
                    <a:pt x="0" y="209550"/>
                  </a:lnTo>
                  <a:lnTo>
                    <a:pt x="0" y="1047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7098030" y="258032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381750" y="2168842"/>
              <a:ext cx="1536382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8184832" y="2168842"/>
              <a:ext cx="1536382" cy="411480"/>
            </a:xfrm>
            <a:prstGeom prst="roundRect">
              <a:avLst>
                <a:gd name="adj" fmla="val 23148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9988868" y="2168842"/>
              <a:ext cx="1536382" cy="41148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902006" y="229076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控制器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785860" y="229076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427398" y="229076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受控变量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755255" y="2168842"/>
              <a:ext cx="59340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782674" y="219313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操作变量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9496425" y="2814638"/>
              <a:ext cx="71723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520746" y="2839879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反馈测量值</a:t>
              </a:r>
            </a:p>
          </p:txBody>
        </p:sp>
      </p:grpSp>
      <p:grpSp>
        <p:nvGrpSpPr>
          <p:cNvPr id="67" name="c2-compare-2"/>
          <p:cNvGrpSpPr/>
          <p:nvPr/>
        </p:nvGrpSpPr>
        <p:grpSpPr>
          <a:xfrm>
            <a:off x="6248400" y="3405188"/>
            <a:ext cx="5410200" cy="2910840"/>
            <a:chOff x="6248400" y="3405188"/>
            <a:chExt cx="5410200" cy="2910840"/>
          </a:xfrm>
        </p:grpSpPr>
        <p:sp>
          <p:nvSpPr>
            <p:cNvPr id="49" name="Rectangle 49"/>
            <p:cNvSpPr/>
            <p:nvPr/>
          </p:nvSpPr>
          <p:spPr>
            <a:xfrm>
              <a:off x="6248400" y="3405188"/>
              <a:ext cx="2533650" cy="2910840"/>
            </a:xfrm>
            <a:prstGeom prst="roundRect">
              <a:avLst>
                <a:gd name="adj" fmla="val 52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257925" y="3538538"/>
              <a:ext cx="47625" cy="264414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477381" y="362664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反馈控制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6492240" y="402240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648831" y="3962876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测量受控变量本身（例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如温度）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6492240" y="461200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648831" y="4551521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据此调整过程，使受控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变量保持在设定点附近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24950" y="3405188"/>
              <a:ext cx="2533650" cy="2910840"/>
            </a:xfrm>
            <a:prstGeom prst="roundRect">
              <a:avLst>
                <a:gd name="adj" fmla="val 52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9134475" y="3538538"/>
              <a:ext cx="47625" cy="264414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9353931" y="3626644"/>
              <a:ext cx="77912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前馈控制</a:t>
              </a:r>
            </a:p>
          </p:txBody>
        </p:sp>
        <p:sp>
          <p:nvSpPr>
            <p:cNvPr id="59" name="Ellipse 59"/>
            <p:cNvSpPr/>
            <p:nvPr/>
          </p:nvSpPr>
          <p:spPr>
            <a:xfrm>
              <a:off x="9368790" y="4022408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9525381" y="3962876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测量其他可作为先兆的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过程变量</a:t>
              </a:r>
            </a:p>
          </p:txBody>
        </p:sp>
        <p:sp>
          <p:nvSpPr>
            <p:cNvPr id="61" name="Ellipse 61"/>
            <p:cNvSpPr/>
            <p:nvPr/>
          </p:nvSpPr>
          <p:spPr>
            <a:xfrm>
              <a:off x="9368790" y="4612005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9525381" y="4551521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预测未来影响并提前调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</a:t>
              </a:r>
            </a:p>
          </p:txBody>
        </p:sp>
        <p:sp>
          <p:nvSpPr>
            <p:cNvPr id="63" name="Ellipse 63"/>
            <p:cNvSpPr/>
            <p:nvPr/>
          </p:nvSpPr>
          <p:spPr>
            <a:xfrm>
              <a:off x="9368790" y="5200650"/>
              <a:ext cx="60960" cy="609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9525381" y="5141119"/>
              <a:ext cx="18178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受控变量的改变更加及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</a:t>
              </a:r>
            </a:p>
          </p:txBody>
        </p:sp>
        <p:sp>
          <p:nvSpPr>
            <p:cNvPr id="65" name="Ellipse 65"/>
            <p:cNvSpPr/>
            <p:nvPr/>
          </p:nvSpPr>
          <p:spPr>
            <a:xfrm>
              <a:off x="8791575" y="4698682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8861915" y="4794885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658906" cy="909257"/>
            <a:chOff x="520446" y="342900"/>
            <a:chExt cx="465890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软件体系结构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65890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客户／服务器与三层 C/S 结构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4977765" cy="1887855"/>
            <a:chOff x="533400" y="1524000"/>
            <a:chExt cx="4977765" cy="18878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887855"/>
            </a:xfrm>
            <a:prstGeom prst="roundRect">
              <a:avLst>
                <a:gd name="adj" fmla="val 706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2115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4507" y="176926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客户／服务器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20624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客户系统请求某个动作或服务，服务器系统响应该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请求。服务器不必知道客户的身份和数目，客户知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道服务器的身份。这种风格基于资源不对等，为实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现共享而提出。</a:t>
              </a:r>
            </a:p>
          </p:txBody>
        </p:sp>
      </p:grpSp>
      <p:grpSp>
        <p:nvGrpSpPr>
          <p:cNvPr id="22" name="c1-bullets-2"/>
          <p:cNvGrpSpPr/>
          <p:nvPr/>
        </p:nvGrpSpPr>
        <p:grpSpPr>
          <a:xfrm>
            <a:off x="525780" y="3627120"/>
            <a:ext cx="4644390" cy="1967865"/>
            <a:chOff x="525780" y="3627120"/>
            <a:chExt cx="4644390" cy="1967865"/>
          </a:xfrm>
        </p:grpSpPr>
        <p:sp>
          <p:nvSpPr>
            <p:cNvPr id="13" name="TextBox 13"/>
            <p:cNvSpPr txBox="1"/>
            <p:nvPr/>
          </p:nvSpPr>
          <p:spPr>
            <a:xfrm>
              <a:off x="525780" y="3627120"/>
              <a:ext cx="23366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传统二层 C/S 结构的局限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533400" y="401764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73430" y="398145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单一服务器且以局域网为中心，难以扩展至大型企业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广域网和 Internet</a:t>
              </a:r>
            </a:p>
          </p:txBody>
        </p:sp>
        <p:sp>
          <p:nvSpPr>
            <p:cNvPr id="16" name="Freeform 16"/>
            <p:cNvSpPr/>
            <p:nvPr/>
          </p:nvSpPr>
          <p:spPr>
            <a:xfrm>
              <a:off x="533400" y="464820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73430" y="461200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软、硬件的组合及集成能力有限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533400" y="499300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73430" y="4956810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客户端的负荷太重，系统性能容易变坏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533400" y="533781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0" y="0"/>
                  </a:moveTo>
                  <a:lnTo>
                    <a:pt x="114300" y="114300"/>
                  </a:lnTo>
                  <a:moveTo>
                    <a:pt x="114300" y="0"/>
                  </a:moveTo>
                  <a:lnTo>
                    <a:pt x="0" y="114300"/>
                  </a:lnTo>
                </a:path>
              </a:pathLst>
            </a:custGeom>
            <a:noFill/>
            <a:ln w="24765" cap="rnd">
              <a:solidFill>
                <a:srgbClr val="B42318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73430" y="53016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数据安全性不好</a:t>
              </a:r>
            </a:p>
          </p:txBody>
        </p:sp>
      </p:grpSp>
      <p:grpSp>
        <p:nvGrpSpPr>
          <p:cNvPr id="33" name="c2-flow-1"/>
          <p:cNvGrpSpPr/>
          <p:nvPr/>
        </p:nvGrpSpPr>
        <p:grpSpPr>
          <a:xfrm>
            <a:off x="5952172" y="1828800"/>
            <a:ext cx="5570221" cy="438150"/>
            <a:chOff x="5952172" y="1828800"/>
            <a:chExt cx="5570221" cy="438150"/>
          </a:xfrm>
        </p:grpSpPr>
        <p:sp>
          <p:nvSpPr>
            <p:cNvPr id="23" name="Freeform 23"/>
            <p:cNvSpPr/>
            <p:nvPr/>
          </p:nvSpPr>
          <p:spPr>
            <a:xfrm>
              <a:off x="7626668" y="2047875"/>
              <a:ext cx="168592" cy="9525"/>
            </a:xfrm>
            <a:custGeom>
              <a:avLst/>
              <a:gdLst/>
              <a:ahLst/>
              <a:cxnLst/>
              <a:rect l="l" t="t" r="r" b="b"/>
              <a:pathLst>
                <a:path w="168592" h="9525">
                  <a:moveTo>
                    <a:pt x="0" y="0"/>
                  </a:moveTo>
                  <a:lnTo>
                    <a:pt x="168592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4" name="Freeform 24"/>
            <p:cNvSpPr/>
            <p:nvPr/>
          </p:nvSpPr>
          <p:spPr>
            <a:xfrm>
              <a:off x="7795260" y="19954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9574530" y="2047875"/>
              <a:ext cx="167640" cy="9525"/>
            </a:xfrm>
            <a:custGeom>
              <a:avLst/>
              <a:gdLst/>
              <a:ahLst/>
              <a:cxnLst/>
              <a:rect l="l" t="t" r="r" b="b"/>
              <a:pathLst>
                <a:path w="167640" h="9525">
                  <a:moveTo>
                    <a:pt x="0" y="0"/>
                  </a:moveTo>
                  <a:lnTo>
                    <a:pt x="16764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9742170" y="199548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7" name="Freeform 27"/>
            <p:cNvSpPr/>
            <p:nvPr/>
          </p:nvSpPr>
          <p:spPr>
            <a:xfrm>
              <a:off x="5952172" y="1828800"/>
              <a:ext cx="1674495" cy="438150"/>
            </a:xfrm>
            <a:custGeom>
              <a:avLst/>
              <a:gdLst/>
              <a:ahLst/>
              <a:cxnLst/>
              <a:rect l="l" t="t" r="r" b="b"/>
              <a:pathLst>
                <a:path w="1674495" h="438150">
                  <a:moveTo>
                    <a:pt x="133350" y="0"/>
                  </a:moveTo>
                  <a:lnTo>
                    <a:pt x="1674495" y="0"/>
                  </a:lnTo>
                  <a:lnTo>
                    <a:pt x="1541145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900035" y="1828800"/>
              <a:ext cx="1675448" cy="438150"/>
            </a:xfrm>
            <a:prstGeom prst="roundRect">
              <a:avLst>
                <a:gd name="adj" fmla="val 21739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9846945" y="1828800"/>
              <a:ext cx="1675448" cy="438150"/>
            </a:xfrm>
            <a:custGeom>
              <a:avLst/>
              <a:gdLst/>
              <a:ahLst/>
              <a:cxnLst/>
              <a:rect l="l" t="t" r="r" b="b"/>
              <a:pathLst>
                <a:path w="1675448" h="438150">
                  <a:moveTo>
                    <a:pt x="133350" y="0"/>
                  </a:moveTo>
                  <a:lnTo>
                    <a:pt x="1675448" y="0"/>
                  </a:lnTo>
                  <a:lnTo>
                    <a:pt x="1542098" y="438150"/>
                  </a:lnTo>
                  <a:lnTo>
                    <a:pt x="0" y="438150"/>
                  </a:lnTo>
                  <a:close/>
                </a:path>
              </a:pathLst>
            </a:custGeom>
            <a:solidFill>
              <a:srgbClr val="E7EDF3"/>
            </a:solidFill>
            <a:ln w="13335">
              <a:solidFill>
                <a:srgbClr val="334E68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610629" y="195881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300022" y="195881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应用服务器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161727" y="195881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数据库服务器</a:t>
              </a:r>
            </a:p>
          </p:txBody>
        </p:sp>
      </p:grpSp>
      <p:grpSp>
        <p:nvGrpSpPr>
          <p:cNvPr id="35" name="c2-text-2"/>
          <p:cNvGrpSpPr/>
          <p:nvPr/>
        </p:nvGrpSpPr>
        <p:grpSpPr>
          <a:xfrm>
            <a:off x="5973788" y="2783681"/>
            <a:ext cx="5526989" cy="249364"/>
            <a:chOff x="5973788" y="2783681"/>
            <a:chExt cx="5526989" cy="249364"/>
          </a:xfrm>
        </p:grpSpPr>
        <p:sp>
          <p:nvSpPr>
            <p:cNvPr id="34" name="TextBox 34"/>
            <p:cNvSpPr txBox="1"/>
            <p:nvPr/>
          </p:nvSpPr>
          <p:spPr>
            <a:xfrm>
              <a:off x="5973788" y="2783681"/>
              <a:ext cx="55269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用户提出业务处理请求，应用服务器再向数据库服务器提出数据存取请求</a:t>
              </a:r>
            </a:p>
          </p:txBody>
        </p:sp>
      </p:grpSp>
      <p:grpSp>
        <p:nvGrpSpPr>
          <p:cNvPr id="50" name="c2-table-3"/>
          <p:cNvGrpSpPr/>
          <p:nvPr/>
        </p:nvGrpSpPr>
        <p:grpSpPr>
          <a:xfrm>
            <a:off x="5815965" y="3172778"/>
            <a:ext cx="5842635" cy="2248852"/>
            <a:chOff x="5815965" y="3172778"/>
            <a:chExt cx="5842635" cy="2248852"/>
          </a:xfrm>
        </p:grpSpPr>
        <p:sp>
          <p:nvSpPr>
            <p:cNvPr id="36" name="Rectangle 36"/>
            <p:cNvSpPr/>
            <p:nvPr/>
          </p:nvSpPr>
          <p:spPr>
            <a:xfrm>
              <a:off x="5815965" y="3172778"/>
              <a:ext cx="5842635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190056" y="3308509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层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26169" y="330850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职责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5923788" y="3870484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表示层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858191" y="3757136"/>
              <a:ext cx="44020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应用的用户接口部分，担负用户与应用间的对话功能；检查用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户从键盘等设备输入的数据，显示应用输出的数据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815965" y="429291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815965" y="4297680"/>
              <a:ext cx="584263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923788" y="454580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功能层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858191" y="4432459"/>
              <a:ext cx="44020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应用的本体，把具体的业务处理逻辑编入程序；处理所需的数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据从表示层或数据层取得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815965" y="496824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923788" y="5107781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数据层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858191" y="5107781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数据库管理系统，负责管理对数据库数据的读写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5815965" y="3172778"/>
              <a:ext cx="5842635" cy="224885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6745605" y="3172778"/>
              <a:ext cx="9525" cy="22488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51" name="Rectangle 5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5" name="Group 55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4" name="Freeform 54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6" name="TextBox 56"/>
            <p:cNvSpPr txBox="1"/>
            <p:nvPr/>
          </p:nvSpPr>
          <p:spPr>
            <a:xfrm>
              <a:off x="1040130" y="5991225"/>
              <a:ext cx="86982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三层结构把界面、业务和数据分开，客户端变轻，业务逻辑集中在应用服务器上，扩展也更容易。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8" name="TextBox 58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22454" cy="909257"/>
            <a:chOff x="520446" y="342900"/>
            <a:chExt cx="622245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软件体系结构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2245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实例：同一个 KWIC 问题的四种设计方案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10578465" cy="569595"/>
            <a:chOff x="525780" y="1548765"/>
            <a:chExt cx="10578465" cy="569595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5784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KWIC 索引系统接收一个有序的行集合，行是字的有序集合，字是字符的有序集合；任何一行可以以字为单位循环移位，系统输</a:t>
              </a:r>
              <a:br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出所有行经过所有循环移位后的排序列表。</a:t>
              </a:r>
            </a:p>
          </p:txBody>
        </p:sp>
      </p:grpSp>
      <p:grpSp>
        <p:nvGrpSpPr>
          <p:cNvPr id="35" name="c1-table-1"/>
          <p:cNvGrpSpPr/>
          <p:nvPr/>
        </p:nvGrpSpPr>
        <p:grpSpPr>
          <a:xfrm>
            <a:off x="533400" y="2230755"/>
            <a:ext cx="11125200" cy="2975610"/>
            <a:chOff x="533400" y="2230755"/>
            <a:chExt cx="11125200" cy="2975610"/>
          </a:xfrm>
        </p:grpSpPr>
        <p:sp>
          <p:nvSpPr>
            <p:cNvPr id="9" name="Rectangle 9"/>
            <p:cNvSpPr/>
            <p:nvPr/>
          </p:nvSpPr>
          <p:spPr>
            <a:xfrm>
              <a:off x="533400" y="2230755"/>
              <a:ext cx="11125200" cy="42481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255395" y="235934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方案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431411" y="235934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结构特点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104376" y="2359342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主要问题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42925" y="2665095"/>
              <a:ext cx="1761172" cy="619125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5889" y="288988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公共数据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416112" y="2783205"/>
              <a:ext cx="4279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主控模块调用输入、循环移位、字母序排列、输出四个模块，字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符、索引、字母序索引等数据放在共享内存里被各模块直接访问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11009" y="2783205"/>
              <a:ext cx="38221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数据无封装，表示形式一改（例如改用行号加位移表示一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行）所有模块都受影响，不易改进更不易重用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" y="328803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533400" y="3292792"/>
              <a:ext cx="1112520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35889" y="352806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抽象数据类型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416112" y="3528060"/>
              <a:ext cx="46969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数据被封装，向外提供访问数据的接口，主控模块顺序激活各模块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311009" y="3421380"/>
              <a:ext cx="3974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抽象数据类型内部仍要知道其他类型的接口，形成固定的加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工链条，添加新功能困难，设计是僵硬的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92620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5889" y="416623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隐式调用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416112" y="4059555"/>
              <a:ext cx="4279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数据被封装且内部不含功能方面的知识，主控只负责初始化和终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结，各功能靠隐式调用连成处理链条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311009" y="4059555"/>
              <a:ext cx="3974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只需声明自己的通知事件，由下游注册，因此易于添加新功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能，但控制流不直观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56342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4568190"/>
              <a:ext cx="11125200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542925" y="4577715"/>
              <a:ext cx="1761172" cy="61912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5889" y="4803458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管道／过滤器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416112" y="4696778"/>
              <a:ext cx="44317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输入、循环移位、字母序排列、输出各是一个过滤器，用管道串起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来，没有共享数据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311009" y="4696778"/>
              <a:ext cx="3974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过滤器之间传递的类型固定，不易改变数据的表示形式；适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合批处理，不适合交互式系统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2230755"/>
              <a:ext cx="11125200" cy="297561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2308860" y="2230755"/>
              <a:ext cx="9525" cy="29756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7203758" y="2230755"/>
              <a:ext cx="9525" cy="297561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2" name="takeaway"/>
          <p:cNvGrpSpPr/>
          <p:nvPr/>
        </p:nvGrpSpPr>
        <p:grpSpPr>
          <a:xfrm>
            <a:off x="533400" y="5606415"/>
            <a:ext cx="11125200" cy="756285"/>
            <a:chOff x="533400" y="5606415"/>
            <a:chExt cx="11125200" cy="756285"/>
          </a:xfrm>
        </p:grpSpPr>
        <p:sp>
          <p:nvSpPr>
            <p:cNvPr id="36" name="Rectangle 36"/>
            <p:cNvSpPr/>
            <p:nvPr/>
          </p:nvSpPr>
          <p:spPr>
            <a:xfrm>
              <a:off x="533400" y="5606415"/>
              <a:ext cx="11125200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40" name="Group 40"/>
            <p:cNvGrpSpPr/>
            <p:nvPr/>
          </p:nvGrpSpPr>
          <p:grpSpPr>
            <a:xfrm>
              <a:off x="738188" y="5884545"/>
              <a:ext cx="200026" cy="200026"/>
              <a:chOff x="738188" y="5884545"/>
              <a:chExt cx="200026" cy="200026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738188" y="588454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38200" y="59512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827088" y="598455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1040511" y="5753576"/>
              <a:ext cx="993317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看图时注意箭头的含义不同：公共数据方案里既有子程序调用也有直接访问内存，管道／过滤器方案的箭头表示数据流向，不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是调用关系。</a:t>
              </a:r>
            </a:p>
          </p:txBody>
        </p:sp>
      </p:grpSp>
      <p:grpSp>
        <p:nvGrpSpPr>
          <p:cNvPr id="4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3" name="TextBox 43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58718" cy="909257"/>
            <a:chOff x="520446" y="342900"/>
            <a:chExt cx="34587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软件体系结构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587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实例：给四种方案打分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7" name="c1-table-1"/>
          <p:cNvGrpSpPr/>
          <p:nvPr/>
        </p:nvGrpSpPr>
        <p:grpSpPr>
          <a:xfrm>
            <a:off x="528447" y="1524000"/>
            <a:ext cx="6497193" cy="3263931"/>
            <a:chOff x="528447" y="1524000"/>
            <a:chExt cx="6497193" cy="3263931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492240" cy="60007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85596" y="17454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指标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583853" y="174545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权重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310331" y="17454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公共数据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229735" y="1645444"/>
              <a:ext cx="7226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抽象数据类</a:t>
              </a:r>
              <a:br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257241" y="174545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隐式调用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177597" y="1645444"/>
              <a:ext cx="7226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管道／过滤</a:t>
              </a:r>
              <a:br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0555" y="224551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易于改变算法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693165" y="224551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570417" y="224551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43872" y="224551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517327" y="224551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91735" y="224551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251936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2524125"/>
              <a:ext cx="649224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0555" y="2645569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易于改变数据表示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693165" y="264556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570417" y="264556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43872" y="264556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517327" y="264556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1735" y="264556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291941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30555" y="304561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易于改变功能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693165" y="304561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570417" y="304561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543872" y="304561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517327" y="304561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91735" y="304561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331946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533400" y="3324225"/>
              <a:ext cx="649224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30555" y="34456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性能好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693165" y="344566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570417" y="344566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43872" y="344566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517327" y="344566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1735" y="344566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33400" y="371951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30555" y="384571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易于重用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693165" y="384571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570417" y="384571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543872" y="384571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517327" y="384571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491735" y="384571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33400" y="4119562"/>
              <a:ext cx="649224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533400" y="4124325"/>
              <a:ext cx="649224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30555" y="42457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加权总分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3139440" y="4133850"/>
              <a:ext cx="954405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3528954" y="4245769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4113848" y="4133850"/>
              <a:ext cx="954405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4502409" y="4245769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57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475864" y="4245769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061710" y="4133850"/>
              <a:ext cx="954405" cy="38100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450272" y="4245769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533400" y="1524000"/>
              <a:ext cx="6492240" cy="30003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2346008" y="1524000"/>
              <a:ext cx="9525" cy="30003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3125152" y="1524000"/>
              <a:ext cx="9525" cy="30003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4099560" y="1524000"/>
              <a:ext cx="9525" cy="30003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5073015" y="1524000"/>
              <a:ext cx="9525" cy="30003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6047422" y="1524000"/>
              <a:ext cx="9525" cy="30003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528447" y="4597241"/>
              <a:ext cx="26814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分数越高越好，总分按"权重 × 得分"逐行求和</a:t>
              </a:r>
            </a:p>
          </p:txBody>
        </p:sp>
      </p:grpSp>
      <p:grpSp>
        <p:nvGrpSpPr>
          <p:cNvPr id="74" name="c1-card-2"/>
          <p:cNvGrpSpPr/>
          <p:nvPr/>
        </p:nvGrpSpPr>
        <p:grpSpPr>
          <a:xfrm>
            <a:off x="533400" y="4919662"/>
            <a:ext cx="6492240" cy="1361122"/>
            <a:chOff x="533400" y="4919662"/>
            <a:chExt cx="6492240" cy="1361122"/>
          </a:xfrm>
        </p:grpSpPr>
        <p:sp>
          <p:nvSpPr>
            <p:cNvPr id="68" name="Rectangle 68"/>
            <p:cNvSpPr/>
            <p:nvPr/>
          </p:nvSpPr>
          <p:spPr>
            <a:xfrm>
              <a:off x="533400" y="4919662"/>
              <a:ext cx="6492240" cy="1361122"/>
            </a:xfrm>
            <a:prstGeom prst="roundRect">
              <a:avLst>
                <a:gd name="adj" fmla="val 979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542925" y="5053012"/>
              <a:ext cx="47625" cy="109442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70" name="Rectangle 70"/>
            <p:cNvSpPr/>
            <p:nvPr/>
          </p:nvSpPr>
          <p:spPr>
            <a:xfrm>
              <a:off x="758190" y="5106352"/>
              <a:ext cx="1329690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824408" y="5139214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另外两个方案的总分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51332" y="5451158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公共数据：1×1 + 4×1 + 3×4 + 3×5 + 5×1 = 37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51332" y="5751195"/>
              <a:ext cx="366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隐式调用：1×4 + 4×2 + 3×4 + 3×2 + 5×2 = 40</a:t>
              </a:r>
            </a:p>
          </p:txBody>
        </p:sp>
      </p:grpSp>
      <p:grpSp>
        <p:nvGrpSpPr>
          <p:cNvPr id="88" name="c2-bullets-1"/>
          <p:cNvGrpSpPr/>
          <p:nvPr/>
        </p:nvGrpSpPr>
        <p:grpSpPr>
          <a:xfrm>
            <a:off x="7323582" y="1545907"/>
            <a:ext cx="2118741" cy="1507046"/>
            <a:chOff x="7323582" y="1545907"/>
            <a:chExt cx="2118741" cy="1507046"/>
          </a:xfrm>
        </p:grpSpPr>
        <p:sp>
          <p:nvSpPr>
            <p:cNvPr id="75" name="TextBox 75"/>
            <p:cNvSpPr txBox="1"/>
            <p:nvPr/>
          </p:nvSpPr>
          <p:spPr>
            <a:xfrm>
              <a:off x="7323582" y="1545907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对比表怎么做</a:t>
              </a:r>
            </a:p>
          </p:txBody>
        </p:sp>
        <p:sp>
          <p:nvSpPr>
            <p:cNvPr id="76" name="Ellipse 76"/>
            <p:cNvSpPr/>
            <p:nvPr/>
          </p:nvSpPr>
          <p:spPr>
            <a:xfrm>
              <a:off x="7330440" y="185070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7386118" y="189004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611237" y="186309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选择对比的指标</a:t>
              </a:r>
            </a:p>
          </p:txBody>
        </p:sp>
        <p:sp>
          <p:nvSpPr>
            <p:cNvPr id="79" name="Ellipse 79"/>
            <p:cNvSpPr/>
            <p:nvPr/>
          </p:nvSpPr>
          <p:spPr>
            <a:xfrm>
              <a:off x="7330440" y="215931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7386118" y="219865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7611237" y="21717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设定各指标的优先权重</a:t>
              </a:r>
            </a:p>
          </p:txBody>
        </p:sp>
        <p:sp>
          <p:nvSpPr>
            <p:cNvPr id="82" name="Ellipse 82"/>
            <p:cNvSpPr/>
            <p:nvPr/>
          </p:nvSpPr>
          <p:spPr>
            <a:xfrm>
              <a:off x="7330440" y="2467927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7386118" y="250726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7611237" y="248031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为每种方案逐项打分</a:t>
              </a:r>
            </a:p>
          </p:txBody>
        </p:sp>
        <p:sp>
          <p:nvSpPr>
            <p:cNvPr id="85" name="Ellipse 85"/>
            <p:cNvSpPr/>
            <p:nvPr/>
          </p:nvSpPr>
          <p:spPr>
            <a:xfrm>
              <a:off x="7330440" y="277653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6" name="TextBox 86"/>
            <p:cNvSpPr txBox="1"/>
            <p:nvPr/>
          </p:nvSpPr>
          <p:spPr>
            <a:xfrm>
              <a:off x="7386118" y="281587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7611237" y="278892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为每种方案计算总分</a:t>
              </a:r>
            </a:p>
          </p:txBody>
        </p:sp>
      </p:grpSp>
      <p:grpSp>
        <p:nvGrpSpPr>
          <p:cNvPr id="96" name="c2-card-2"/>
          <p:cNvGrpSpPr/>
          <p:nvPr/>
        </p:nvGrpSpPr>
        <p:grpSpPr>
          <a:xfrm>
            <a:off x="7330440" y="3169920"/>
            <a:ext cx="4328160" cy="2211705"/>
            <a:chOff x="7330440" y="3169920"/>
            <a:chExt cx="4328160" cy="2211705"/>
          </a:xfrm>
        </p:grpSpPr>
        <p:sp>
          <p:nvSpPr>
            <p:cNvPr id="89" name="Rectangle 89"/>
            <p:cNvSpPr/>
            <p:nvPr/>
          </p:nvSpPr>
          <p:spPr>
            <a:xfrm>
              <a:off x="7330440" y="3169920"/>
              <a:ext cx="4328160" cy="2211705"/>
            </a:xfrm>
            <a:prstGeom prst="roundRect">
              <a:avLst>
                <a:gd name="adj" fmla="val 602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90" name="Rectangle 90"/>
            <p:cNvSpPr/>
            <p:nvPr/>
          </p:nvSpPr>
          <p:spPr>
            <a:xfrm>
              <a:off x="7339965" y="3303270"/>
              <a:ext cx="47625" cy="194500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7555230" y="3356610"/>
              <a:ext cx="582930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92" name="TextBox 92"/>
            <p:cNvSpPr txBox="1"/>
            <p:nvPr/>
          </p:nvSpPr>
          <p:spPr>
            <a:xfrm>
              <a:off x="7643851" y="3389471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算一遍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7548372" y="3700462"/>
              <a:ext cx="341699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抽象数据类型：1×2 + 4×5 + 3×1 + 3×4 + 5×4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57</a:t>
              </a:r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7548372" y="4258628"/>
              <a:ext cx="341699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管道／过滤器：1×5 + 4×1 + 3×5 + 3×2 + 5×5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55</a:t>
              </a:r>
            </a:p>
          </p:txBody>
        </p:sp>
        <p:sp>
          <p:nvSpPr>
            <p:cNvPr id="95" name="TextBox 95"/>
            <p:cNvSpPr txBox="1"/>
            <p:nvPr/>
          </p:nvSpPr>
          <p:spPr>
            <a:xfrm>
              <a:off x="7549515" y="4811554"/>
              <a:ext cx="3524758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两者接近，公共数据方案 37 分最低。原课件只给出打分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表，总分由本讲义算出。</a:t>
              </a:r>
            </a:p>
          </p:txBody>
        </p:sp>
      </p:grpSp>
      <p:grpSp>
        <p:nvGrpSpPr>
          <p:cNvPr id="103" name="c2-callout-3"/>
          <p:cNvGrpSpPr/>
          <p:nvPr/>
        </p:nvGrpSpPr>
        <p:grpSpPr>
          <a:xfrm>
            <a:off x="7330440" y="5551170"/>
            <a:ext cx="4328160" cy="729615"/>
            <a:chOff x="7330440" y="5551170"/>
            <a:chExt cx="4328160" cy="729615"/>
          </a:xfrm>
        </p:grpSpPr>
        <p:sp>
          <p:nvSpPr>
            <p:cNvPr id="97" name="Rectangle 97"/>
            <p:cNvSpPr/>
            <p:nvPr/>
          </p:nvSpPr>
          <p:spPr>
            <a:xfrm>
              <a:off x="7330440" y="5551170"/>
              <a:ext cx="4328160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101" name="Group 101"/>
            <p:cNvGrpSpPr/>
            <p:nvPr/>
          </p:nvGrpSpPr>
          <p:grpSpPr>
            <a:xfrm>
              <a:off x="7523169" y="5812273"/>
              <a:ext cx="224134" cy="192560"/>
              <a:chOff x="7523169" y="5812273"/>
              <a:chExt cx="224134" cy="192560"/>
            </a:xfrm>
          </p:grpSpPr>
          <p:sp>
            <p:nvSpPr>
              <p:cNvPr id="98" name="Freeform 98"/>
              <p:cNvSpPr/>
              <p:nvPr/>
            </p:nvSpPr>
            <p:spPr>
              <a:xfrm>
                <a:off x="7635240" y="588264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99" name="Freeform 99"/>
              <p:cNvSpPr/>
              <p:nvPr/>
            </p:nvSpPr>
            <p:spPr>
              <a:xfrm>
                <a:off x="7523169" y="581227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100" name="Freeform 100"/>
              <p:cNvSpPr/>
              <p:nvPr/>
            </p:nvSpPr>
            <p:spPr>
              <a:xfrm>
                <a:off x="7635240" y="596042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102" name="TextBox 102"/>
            <p:cNvSpPr txBox="1"/>
            <p:nvPr/>
          </p:nvSpPr>
          <p:spPr>
            <a:xfrm>
              <a:off x="7837932" y="5697855"/>
              <a:ext cx="34427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这种比较方法有主观性：指标、权重和分数都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是人定的，换一组权重结论可能就变了。</a:t>
              </a:r>
            </a:p>
          </p:txBody>
        </p:sp>
      </p:grpSp>
      <p:grpSp>
        <p:nvGrpSpPr>
          <p:cNvPr id="10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4" name="TextBox 104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105" name="TextBox 10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285619" cy="909257"/>
            <a:chOff x="520446" y="342900"/>
            <a:chExt cx="228561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272665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1058" y="407194"/>
              <a:ext cx="21373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 · 软件体系结构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自测（一）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3419196" cy="308039"/>
            <a:chOff x="525399" y="1550194"/>
            <a:chExt cx="3419196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3419196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先自己写出答案，再看右边的解答。</a:t>
              </a:r>
            </a:p>
          </p:txBody>
        </p:sp>
      </p:grpSp>
      <p:grpSp>
        <p:nvGrpSpPr>
          <p:cNvPr id="14" name="c1-card-1"/>
          <p:cNvGrpSpPr/>
          <p:nvPr/>
        </p:nvGrpSpPr>
        <p:grpSpPr>
          <a:xfrm>
            <a:off x="533400" y="1967865"/>
            <a:ext cx="5410200" cy="1937385"/>
            <a:chOff x="533400" y="1967865"/>
            <a:chExt cx="5410200" cy="193738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42950" y="217741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30437" y="221313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35330" y="2554605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总体设计分成哪两个阶段？从第几步开始真正设计软件结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35330" y="3175635"/>
              <a:ext cx="47205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系统设计阶段（第 1～3 步，定方案）和结构设计阶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段（第 4～9 步，定结构）。从第 5 步开始画结构图。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4095750"/>
            <a:ext cx="5410200" cy="1651635"/>
            <a:chOff x="533400" y="4095750"/>
            <a:chExt cx="5410200" cy="1651635"/>
          </a:xfrm>
        </p:grpSpPr>
        <p:sp>
          <p:nvSpPr>
            <p:cNvPr id="15" name="Rectangle 15"/>
            <p:cNvSpPr/>
            <p:nvPr/>
          </p:nvSpPr>
          <p:spPr>
            <a:xfrm>
              <a:off x="533400" y="4095750"/>
              <a:ext cx="5410200" cy="1651635"/>
            </a:xfrm>
            <a:prstGeom prst="roundRect">
              <a:avLst>
                <a:gd name="adj" fmla="val 80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42950" y="430530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30437" y="434101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35330" y="468249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数据耦合和标记耦合怎么区分？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5330" y="501777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传简单变量（用水量）是数据耦合；传整条记录或数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据结构（房租水电）是标记耦合。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6248400" y="1967865"/>
            <a:ext cx="5410200" cy="1937385"/>
            <a:chOff x="6248400" y="1967865"/>
            <a:chExt cx="5410200" cy="1937385"/>
          </a:xfrm>
        </p:grpSpPr>
        <p:sp>
          <p:nvSpPr>
            <p:cNvPr id="21" name="Rectangle 21"/>
            <p:cNvSpPr/>
            <p:nvPr/>
          </p:nvSpPr>
          <p:spPr>
            <a:xfrm>
              <a:off x="6248400" y="196786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57950" y="217741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45437" y="221313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50330" y="2554605"/>
              <a:ext cx="4776311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调用 B 时传去一个标志，B 按标志决定执行哪项功能。</a:t>
              </a:r>
              <a:br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这是什么耦合？B 是什么内聚？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50330" y="3175635"/>
              <a:ext cx="47491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控制耦合；B 是逻辑内聚。单接口多功能的模块必然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要调用者传控制参数，两个毛病一起出现。</a:t>
              </a:r>
            </a:p>
          </p:txBody>
        </p:sp>
      </p:grpSp>
      <p:grpSp>
        <p:nvGrpSpPr>
          <p:cNvPr id="32" name="c2-card-2"/>
          <p:cNvGrpSpPr/>
          <p:nvPr/>
        </p:nvGrpSpPr>
        <p:grpSpPr>
          <a:xfrm>
            <a:off x="6248400" y="4095750"/>
            <a:ext cx="5410200" cy="1651635"/>
            <a:chOff x="6248400" y="4095750"/>
            <a:chExt cx="5410200" cy="1651635"/>
          </a:xfrm>
        </p:grpSpPr>
        <p:sp>
          <p:nvSpPr>
            <p:cNvPr id="27" name="Rectangle 27"/>
            <p:cNvSpPr/>
            <p:nvPr/>
          </p:nvSpPr>
          <p:spPr>
            <a:xfrm>
              <a:off x="6248400" y="4095750"/>
              <a:ext cx="5410200" cy="1651635"/>
            </a:xfrm>
            <a:prstGeom prst="roundRect">
              <a:avLst>
                <a:gd name="adj" fmla="val 80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57950" y="430530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45437" y="434101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50330" y="4682490"/>
              <a:ext cx="42557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作用域和控制域各指什么？两者应是什么关系？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50330" y="501777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作用域是受某判定影响的所有模块，控制域是模块本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身及其全部下属，作用域应在控制域内。</a:t>
              </a:r>
            </a:p>
          </p:txBody>
        </p:sp>
      </p:grpSp>
      <p:grpSp>
        <p:nvGrpSpPr>
          <p:cNvPr id="3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3" name="TextBox 33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742313" cy="909257"/>
            <a:chOff x="520446" y="342900"/>
            <a:chExt cx="174231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96297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9866" y="407194"/>
              <a:ext cx="7490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74231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自测（二）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651635"/>
            <a:chOff x="533400" y="1524000"/>
            <a:chExt cx="5410200" cy="16516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651635"/>
            </a:xfrm>
            <a:prstGeom prst="roundRect">
              <a:avLst>
                <a:gd name="adj" fmla="val 8074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42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30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35330" y="2110740"/>
              <a:ext cx="373378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变换分析的第 4 步和第 5 步分别做什么？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35330" y="2446020"/>
              <a:ext cx="4806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4 步定输入流和输出流的边界，孤立出变换中心；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5 步做第一级分解，分出 Cm、Ca、Ct、Ce。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3366135"/>
            <a:ext cx="5410200" cy="2223135"/>
            <a:chOff x="533400" y="3366135"/>
            <a:chExt cx="5410200" cy="2223135"/>
          </a:xfrm>
        </p:grpSpPr>
        <p:sp>
          <p:nvSpPr>
            <p:cNvPr id="13" name="Rectangle 13"/>
            <p:cNvSpPr/>
            <p:nvPr/>
          </p:nvSpPr>
          <p:spPr>
            <a:xfrm>
              <a:off x="533400" y="3366135"/>
              <a:ext cx="5410200" cy="2223135"/>
            </a:xfrm>
            <a:prstGeom prst="roundRect">
              <a:avLst>
                <a:gd name="adj" fmla="val 5998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42950" y="357568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30437" y="361140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35330" y="3952875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管道／过滤器风格的三条限制条件是什么？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35330" y="4288155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过滤器是独立实体，不共享状态；不知道上下游的标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识；输出正确性不依赖增量计算的顺序。</a:t>
              </a:r>
            </a:p>
          </p:txBody>
        </p:sp>
      </p:grpSp>
      <p:grpSp>
        <p:nvGrpSpPr>
          <p:cNvPr id="24" name="c2-card-1"/>
          <p:cNvGrpSpPr/>
          <p:nvPr/>
        </p:nvGrpSpPr>
        <p:grpSpPr>
          <a:xfrm>
            <a:off x="6248400" y="1524000"/>
            <a:ext cx="5410200" cy="1937385"/>
            <a:chOff x="6248400" y="1524000"/>
            <a:chExt cx="5410200" cy="1937385"/>
          </a:xfrm>
        </p:grpSpPr>
        <p:sp>
          <p:nvSpPr>
            <p:cNvPr id="19" name="Rectangle 19"/>
            <p:cNvSpPr/>
            <p:nvPr/>
          </p:nvSpPr>
          <p:spPr>
            <a:xfrm>
              <a:off x="6248400" y="1524000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457950" y="1733550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545437" y="1769269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450330" y="2110740"/>
              <a:ext cx="48615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什么情况下用事务分析？映射出来的结构有什么特点？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50330" y="2446020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数据流有明显的事务中心（发射中心）时。结构含一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个接收分支和一个发送分支，发送分支里有调度模块控制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各活动通路。</a:t>
              </a:r>
            </a:p>
          </p:txBody>
        </p:sp>
      </p:grpSp>
      <p:grpSp>
        <p:nvGrpSpPr>
          <p:cNvPr id="30" name="c2-card-2"/>
          <p:cNvGrpSpPr/>
          <p:nvPr/>
        </p:nvGrpSpPr>
        <p:grpSpPr>
          <a:xfrm>
            <a:off x="6248400" y="3651885"/>
            <a:ext cx="5410200" cy="1937385"/>
            <a:chOff x="6248400" y="3651885"/>
            <a:chExt cx="5410200" cy="1937385"/>
          </a:xfrm>
        </p:grpSpPr>
        <p:sp>
          <p:nvSpPr>
            <p:cNvPr id="25" name="Rectangle 25"/>
            <p:cNvSpPr/>
            <p:nvPr/>
          </p:nvSpPr>
          <p:spPr>
            <a:xfrm>
              <a:off x="6248400" y="3651885"/>
              <a:ext cx="5410200" cy="1937385"/>
            </a:xfrm>
            <a:prstGeom prst="roundRect">
              <a:avLst>
                <a:gd name="adj" fmla="val 6883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57950" y="3861435"/>
              <a:ext cx="403860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45437" y="3897154"/>
              <a:ext cx="2288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50330" y="4238625"/>
              <a:ext cx="46596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黑板系统和传统数据库同属仓库风格，区别在哪里？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50330" y="4573905"/>
              <a:ext cx="4777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看谁触发进程的选择：输入流中的事务类型触发的是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传统数据库；中央数据结构的当前状态触发的是黑板系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统。</a:t>
              </a:r>
            </a:p>
          </p:txBody>
        </p:sp>
      </p:grpSp>
      <p:grpSp>
        <p:nvGrpSpPr>
          <p:cNvPr id="3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1" name="TextBox 31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第5章 总体设计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bullets-1"/>
          <p:cNvGrpSpPr/>
          <p:nvPr/>
        </p:nvGrpSpPr>
        <p:grpSpPr>
          <a:xfrm>
            <a:off x="533400" y="1535430"/>
            <a:ext cx="5078730" cy="2484120"/>
            <a:chOff x="533400" y="1535430"/>
            <a:chExt cx="5078730" cy="2484120"/>
          </a:xfrm>
        </p:grpSpPr>
        <p:sp>
          <p:nvSpPr>
            <p:cNvPr id="7" name="Ellipse 7"/>
            <p:cNvSpPr/>
            <p:nvPr/>
          </p:nvSpPr>
          <p:spPr>
            <a:xfrm>
              <a:off x="533400" y="153543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95249" y="15777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4390" y="1548765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设计过程：两个阶段九个步骤，文档和两道审查也是设计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的产品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6598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95249" y="22082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4390" y="2179320"/>
              <a:ext cx="4587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设计原理：模块化、抽象、逐步求精、信息隐藏与局部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化，最后都落到模块独立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79654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95249" y="283883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4390" y="2809875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模块独立用两把尺子量：耦合七级从非直接到内容，内聚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七级从偶然到功能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42709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95249" y="34693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4390" y="344043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启发规则七条，最常考的是作用域与控制域，以及扇入扇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出和结构轮廓</a:t>
              </a:r>
            </a:p>
          </p:txBody>
        </p:sp>
      </p:grpSp>
      <p:grpSp>
        <p:nvGrpSpPr>
          <p:cNvPr id="25" name="c1-callout-2"/>
          <p:cNvGrpSpPr/>
          <p:nvPr/>
        </p:nvGrpSpPr>
        <p:grpSpPr>
          <a:xfrm>
            <a:off x="533400" y="4150995"/>
            <a:ext cx="5410200" cy="782955"/>
            <a:chOff x="533400" y="4150995"/>
            <a:chExt cx="5410200" cy="782955"/>
          </a:xfrm>
        </p:grpSpPr>
        <p:sp>
          <p:nvSpPr>
            <p:cNvPr id="20" name="Rectangle 20"/>
            <p:cNvSpPr/>
            <p:nvPr/>
          </p:nvSpPr>
          <p:spPr>
            <a:xfrm>
              <a:off x="533400" y="415099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38188" y="4442462"/>
              <a:ext cx="200023" cy="200023"/>
              <a:chOff x="738188" y="4442462"/>
              <a:chExt cx="200023" cy="200023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738188" y="444246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71538" y="450913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130" y="4299585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判耦合看模块之间传什么，判内聚看模块内部为什么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放在一起。</a:t>
              </a:r>
            </a:p>
          </p:txBody>
        </p:sp>
      </p:grpSp>
      <p:grpSp>
        <p:nvGrpSpPr>
          <p:cNvPr id="38" name="c2-bullets-1"/>
          <p:cNvGrpSpPr/>
          <p:nvPr/>
        </p:nvGrpSpPr>
        <p:grpSpPr>
          <a:xfrm>
            <a:off x="6248400" y="1535430"/>
            <a:ext cx="5164455" cy="2484120"/>
            <a:chOff x="6248400" y="1535430"/>
            <a:chExt cx="5164455" cy="2484120"/>
          </a:xfrm>
        </p:grpSpPr>
        <p:sp>
          <p:nvSpPr>
            <p:cNvPr id="26" name="Ellipse 26"/>
            <p:cNvSpPr/>
            <p:nvPr/>
          </p:nvSpPr>
          <p:spPr>
            <a:xfrm>
              <a:off x="6248400" y="153543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10249" y="15777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549390" y="1548765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面向数据流的设计：先判流类型，变换流映射成输入、变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换中心、输出三分支，事务流映射成接收分支加调度模块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248400" y="216598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310249" y="22082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49390" y="217932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两级分解之后一定要用启发规则精化，两个实例的精化动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作就是规则的具体用法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248400" y="279654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10249" y="283883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49390" y="2809875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体系结构描述构件、连接器和视图，五类风格各有自己的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构件、连接件、约束和优缺点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248400" y="342709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10249" y="34693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49390" y="3440430"/>
              <a:ext cx="48634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KWIC 实例说明同一个问题可以有多种结构，选哪一种取决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于最看重哪项指标</a:t>
              </a:r>
            </a:p>
          </p:txBody>
        </p:sp>
      </p:grpSp>
      <p:grpSp>
        <p:nvGrpSpPr>
          <p:cNvPr id="45" name="c2-callout-2"/>
          <p:cNvGrpSpPr/>
          <p:nvPr/>
        </p:nvGrpSpPr>
        <p:grpSpPr>
          <a:xfrm>
            <a:off x="6248400" y="4150995"/>
            <a:ext cx="5410200" cy="782955"/>
            <a:chOff x="6248400" y="4150995"/>
            <a:chExt cx="5410200" cy="782955"/>
          </a:xfrm>
        </p:grpSpPr>
        <p:sp>
          <p:nvSpPr>
            <p:cNvPr id="39" name="Rectangle 39"/>
            <p:cNvSpPr/>
            <p:nvPr/>
          </p:nvSpPr>
          <p:spPr>
            <a:xfrm>
              <a:off x="6248400" y="415099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6453188" y="4442460"/>
              <a:ext cx="200026" cy="200025"/>
              <a:chOff x="6453188" y="4442460"/>
              <a:chExt cx="200026" cy="200025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6453188" y="444246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492926" y="448691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527642" y="459803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6755130" y="4299585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复习顺序：先背耦合内聚两张表，再练一张数据流图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到结构图的映射，最后过一遍五类风格的优缺点。</a:t>
              </a:r>
            </a:p>
          </p:txBody>
        </p:sp>
      </p:grpSp>
      <p:grpSp>
        <p:nvGrpSpPr>
          <p:cNvPr id="51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6" name="Rectangle 46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38188" y="5995990"/>
              <a:ext cx="200023" cy="200023"/>
              <a:chOff x="738188" y="5995990"/>
              <a:chExt cx="200023" cy="200023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738188" y="599599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71538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040130" y="5991225"/>
              <a:ext cx="81126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总体设计交出的是"模块怎么划、怎么连"的方案，它的质量决定了后面编码和维护的难易。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59303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第5章 总体设计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e_ch05">
  <a:themeElements>
    <a:clrScheme name="se_ch05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e_ch05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e_ch05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2026-09-19T03:55:21Z</dcterms:created>
  <dcterms:modified xsi:type="dcterms:W3CDTF">2026-09-19T03:55:21Z</dcterms:modified>
  <cp:category/>
  <cp:contentStatus/>
</cp:coreProperties>
</file>