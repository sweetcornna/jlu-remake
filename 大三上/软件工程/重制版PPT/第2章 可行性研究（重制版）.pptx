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se_ch02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se_ch02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e192708162fd8e7e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73c9c14ec89df21f.png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173e5f868429e2b9.png"/>
</Relationships>
</file>

<file path=ppt/slides/_rels/slide5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hero"/>
          <p:cNvPicPr>
            <a:picLocks noChangeAspect="1"/>
          </p:cNvPicPr>
          <p:nvPr/>
        </p:nvPicPr>
        <p:blipFill>
          <a:blip r:embed="rId2"/>
          <a:srcRect l="0" t="26" r="0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scrim"/>
          <p:cNvSpPr/>
          <p:nvPr/>
        </p:nvSpPr>
        <p:spPr>
          <a:xfrm>
            <a:off x="0" y="0"/>
            <a:ext cx="7620000" cy="6858000"/>
          </a:xfrm>
          <a:prstGeom prst="rect">
            <a:avLst/>
          </a:prstGeom>
          <a:gradFill>
            <a:gsLst>
              <a:gs pos="0">
                <a:srgbClr val="FFFFFF">
                  <a:alpha val="97000"/>
                </a:srgbClr>
              </a:gs>
              <a:gs pos="58000">
                <a:srgbClr val="FFFFFF">
                  <a:alpha val="8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17" name="cover-title"/>
          <p:cNvGrpSpPr/>
          <p:nvPr/>
        </p:nvGrpSpPr>
        <p:grpSpPr>
          <a:xfrm>
            <a:off x="666750" y="1619250"/>
            <a:ext cx="3662934" cy="3437763"/>
            <a:chOff x="666750" y="1619250"/>
            <a:chExt cx="3662934" cy="3437763"/>
          </a:xfrm>
        </p:grpSpPr>
        <p:sp>
          <p:nvSpPr>
            <p:cNvPr id="4" name="Rectangle 4"/>
            <p:cNvSpPr/>
            <p:nvPr/>
          </p:nvSpPr>
          <p:spPr>
            <a:xfrm>
              <a:off x="685800" y="1619250"/>
              <a:ext cx="1593532" cy="3429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814010" y="1718310"/>
              <a:ext cx="13380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软件工程 · 第二章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6750" y="2407920"/>
              <a:ext cx="2865120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可行性研究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85800" y="3147060"/>
              <a:ext cx="9906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6656" y="3467100"/>
              <a:ext cx="365302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用最小的代价判断问题值不值得解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709612" y="3976688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9442" y="3921442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任务与研究过程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09612" y="4267200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9442" y="4211955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系统流程图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09612" y="4557712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9442" y="450246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数据流图与数据字典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09612" y="4848225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9442" y="4792980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成本／效益分析</a:t>
              </a:r>
            </a:p>
          </p:txBody>
        </p:sp>
      </p:grpSp>
      <p:grpSp>
        <p:nvGrpSpPr>
          <p:cNvPr id="19" name="cover-credit"/>
          <p:cNvGrpSpPr/>
          <p:nvPr/>
        </p:nvGrpSpPr>
        <p:grpSpPr>
          <a:xfrm>
            <a:off x="680466" y="6192202"/>
            <a:ext cx="4131050" cy="205359"/>
            <a:chOff x="680466" y="6192202"/>
            <a:chExt cx="4131050" cy="205359"/>
          </a:xfrm>
        </p:grpSpPr>
        <p:sp>
          <p:nvSpPr>
            <p:cNvPr id="18" name="TextBox 18"/>
            <p:cNvSpPr txBox="1"/>
            <p:nvPr/>
          </p:nvSpPr>
          <p:spPr>
            <a:xfrm>
              <a:off x="680466" y="6192202"/>
              <a:ext cx="413105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重制讲义 · 自学复习版｜据吉林大学《软件工程》第二章课件整理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085594" cy="909257"/>
            <a:chOff x="520446" y="342900"/>
            <a:chExt cx="20855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38969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7064" y="407194"/>
              <a:ext cx="12014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第2章 可行性研究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本章学习路线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0" name="c1-agenda-1"/>
          <p:cNvGrpSpPr/>
          <p:nvPr/>
        </p:nvGrpSpPr>
        <p:grpSpPr>
          <a:xfrm>
            <a:off x="521970" y="1515428"/>
            <a:ext cx="6287453" cy="4461795"/>
            <a:chOff x="521970" y="1515428"/>
            <a:chExt cx="6287453" cy="4461795"/>
          </a:xfrm>
        </p:grpSpPr>
        <p:sp>
          <p:nvSpPr>
            <p:cNvPr id="7" name="TextBox 7"/>
            <p:cNvSpPr txBox="1"/>
            <p:nvPr/>
          </p:nvSpPr>
          <p:spPr>
            <a:xfrm>
              <a:off x="521970" y="151542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65086" y="1551622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可行性研究的任务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66990" y="1868329"/>
              <a:ext cx="31145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目的、实质、四类可行性与最根本的任务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73468" y="218122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1970" y="2286952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5086" y="2323148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可行性研究过程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66990" y="2639854"/>
              <a:ext cx="32869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八个步骤，物理模型与逻辑模型的来回转换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73468" y="2953702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1970" y="305847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65086" y="3094673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系统流程图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66990" y="3412331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符号、三个例子、分层画法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73468" y="3725228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1970" y="3830955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65086" y="3867150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数据流图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66990" y="4183856"/>
              <a:ext cx="31145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四种成分、逐层分解、平衡、命名与用途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073468" y="449770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1970" y="4602480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65086" y="4638675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数据字典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66990" y="4955381"/>
              <a:ext cx="31145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四类条目、定义符号、加工逻辑三种工具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073468" y="5269230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21970" y="537495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65086" y="5411152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成本／效益分析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66990" y="5727859"/>
              <a:ext cx="31145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成本估计、货币时间价值、四项评价指标</a:t>
              </a:r>
            </a:p>
          </p:txBody>
        </p:sp>
      </p:grpSp>
      <p:grpSp>
        <p:nvGrpSpPr>
          <p:cNvPr id="45" name="c2-card-1"/>
          <p:cNvGrpSpPr/>
          <p:nvPr/>
        </p:nvGrpSpPr>
        <p:grpSpPr>
          <a:xfrm>
            <a:off x="7114222" y="1524000"/>
            <a:ext cx="4544378" cy="4402455"/>
            <a:chOff x="7114222" y="1524000"/>
            <a:chExt cx="4544378" cy="4402455"/>
          </a:xfrm>
        </p:grpSpPr>
        <p:sp>
          <p:nvSpPr>
            <p:cNvPr id="31" name="Rectangle 31"/>
            <p:cNvSpPr/>
            <p:nvPr/>
          </p:nvSpPr>
          <p:spPr>
            <a:xfrm>
              <a:off x="7114222" y="1524000"/>
              <a:ext cx="4544378" cy="4402455"/>
            </a:xfrm>
            <a:prstGeom prst="roundRect">
              <a:avLst>
                <a:gd name="adj" fmla="val 302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7123748" y="1657350"/>
              <a:ext cx="47625" cy="4135755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7361872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44322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学习目标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367588" y="217360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525702" y="2110740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说出可行性研究的四个方面和五步路线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367588" y="250888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25702" y="2446020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看懂并画出系统流程图与分层数据流图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367588" y="284416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25702" y="2781300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用数据字典的符号写出数据流的定义式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7367588" y="317944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525702" y="311658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用结构化英语、判定表、判定树描述加工逻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辑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7367588" y="380047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525702" y="373761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算出现值、投资回收期、纯收入和投资回收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率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6" name="TextBox 46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第2章 可行性研究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334E6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7EDF3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3913632" cy="3351847"/>
            <a:chOff x="667512" y="1835468"/>
            <a:chExt cx="3913632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第一部分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91363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可行性研究的任务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33486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先弄清研究什么、研究到什么程度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可行性研究的目的与实质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最根本的任务与五步路线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技术、经济、操作、法律四类可行性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开发方案的选择性研究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第2章 可行性研究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228332" cy="909257"/>
            <a:chOff x="520446" y="342900"/>
            <a:chExt cx="522833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第2章 可行性研究 · 可行性研究的任务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2283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可行性研究回答的是“值不值得解”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5546192" cy="308039"/>
            <a:chOff x="525399" y="1550194"/>
            <a:chExt cx="5546192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5546192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它不打算解决问题，只判断问题有没有解、解得起解不起。</a:t>
              </a:r>
            </a:p>
          </p:txBody>
        </p:sp>
      </p:grpSp>
      <p:grpSp>
        <p:nvGrpSpPr>
          <p:cNvPr id="16" name="c1-card-1"/>
          <p:cNvGrpSpPr/>
          <p:nvPr/>
        </p:nvGrpSpPr>
        <p:grpSpPr>
          <a:xfrm>
            <a:off x="533400" y="1967865"/>
            <a:ext cx="5842635" cy="1670685"/>
            <a:chOff x="533400" y="1967865"/>
            <a:chExt cx="5842635" cy="1670685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5842635" cy="1670685"/>
            </a:xfrm>
            <a:prstGeom prst="roundRect">
              <a:avLst>
                <a:gd name="adj" fmla="val 798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101215"/>
              <a:ext cx="47625" cy="1403985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81050" y="217741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71258" y="221313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82078" y="2212658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可行性研究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73430" y="2573655"/>
              <a:ext cx="5158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目的：用最小的代价，在尽可能短的时间内确定问题是否能够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解决。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73430" y="3194685"/>
              <a:ext cx="46596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实质：一次压缩、简化了的系统分析和设计的过程。</a:t>
              </a:r>
            </a:p>
          </p:txBody>
        </p:sp>
      </p:grpSp>
      <p:grpSp>
        <p:nvGrpSpPr>
          <p:cNvPr id="25" name="c1-card-2"/>
          <p:cNvGrpSpPr/>
          <p:nvPr/>
        </p:nvGrpSpPr>
        <p:grpSpPr>
          <a:xfrm>
            <a:off x="533400" y="3829050"/>
            <a:ext cx="5842635" cy="1819275"/>
            <a:chOff x="533400" y="3829050"/>
            <a:chExt cx="5842635" cy="1819275"/>
          </a:xfrm>
        </p:grpSpPr>
        <p:sp>
          <p:nvSpPr>
            <p:cNvPr id="17" name="Rectangle 17"/>
            <p:cNvSpPr/>
            <p:nvPr/>
          </p:nvSpPr>
          <p:spPr>
            <a:xfrm>
              <a:off x="533400" y="3829050"/>
              <a:ext cx="5842635" cy="1819275"/>
            </a:xfrm>
            <a:prstGeom prst="roundRect">
              <a:avLst>
                <a:gd name="adj" fmla="val 733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742950" y="4038600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243B53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16407" y="4074319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最根本的任务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912620" y="4073842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对以后的行动方针提出建议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748665" y="449770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06780" y="4434840"/>
              <a:ext cx="30744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问题没有可行的解 → 建议停止项目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748665" y="483298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06780" y="4770120"/>
              <a:ext cx="49968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问题值得解 → 推荐一个较好的解决方案，并为项目制定初步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计划</a:t>
              </a:r>
            </a:p>
          </p:txBody>
        </p:sp>
      </p:grpSp>
      <p:grpSp>
        <p:nvGrpSpPr>
          <p:cNvPr id="37" name="c2-kv-1"/>
          <p:cNvGrpSpPr/>
          <p:nvPr/>
        </p:nvGrpSpPr>
        <p:grpSpPr>
          <a:xfrm>
            <a:off x="6673215" y="1992630"/>
            <a:ext cx="4985385" cy="2741295"/>
            <a:chOff x="6673215" y="1992630"/>
            <a:chExt cx="4985385" cy="2741295"/>
          </a:xfrm>
        </p:grpSpPr>
        <p:sp>
          <p:nvSpPr>
            <p:cNvPr id="26" name="TextBox 26"/>
            <p:cNvSpPr txBox="1"/>
            <p:nvPr/>
          </p:nvSpPr>
          <p:spPr>
            <a:xfrm>
              <a:off x="6673215" y="199263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研究深度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913370" y="1992630"/>
              <a:ext cx="34442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只做到足以判断的程度，分析和设计都被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压缩、简化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6680835" y="2594610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673215" y="271462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代价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913370" y="2714625"/>
              <a:ext cx="3415665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可行性研究的成本一般为预期总成本的 5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％～10％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680835" y="3316605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673215" y="343662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产出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913370" y="3436620"/>
              <a:ext cx="34442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可行性研究报告，以及推荐方案的初步开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发计划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680835" y="4038600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673215" y="415861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不做的后果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913370" y="4158615"/>
              <a:ext cx="34442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问题本来无解时，前期投入的人力和资金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全部作废</a:t>
              </a:r>
            </a:p>
          </p:txBody>
        </p:sp>
      </p:grpSp>
      <p:grpSp>
        <p:nvGrpSpPr>
          <p:cNvPr id="44" name="c2-callout-2"/>
          <p:cNvGrpSpPr/>
          <p:nvPr/>
        </p:nvGrpSpPr>
        <p:grpSpPr>
          <a:xfrm>
            <a:off x="6680835" y="4865370"/>
            <a:ext cx="4977765" cy="782955"/>
            <a:chOff x="6680835" y="4865370"/>
            <a:chExt cx="4977765" cy="782955"/>
          </a:xfrm>
        </p:grpSpPr>
        <p:sp>
          <p:nvSpPr>
            <p:cNvPr id="38" name="Rectangle 38"/>
            <p:cNvSpPr/>
            <p:nvPr/>
          </p:nvSpPr>
          <p:spPr>
            <a:xfrm>
              <a:off x="6680835" y="4865370"/>
              <a:ext cx="4977765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6885623" y="5156835"/>
              <a:ext cx="200026" cy="200025"/>
              <a:chOff x="6885623" y="5156835"/>
              <a:chExt cx="200026" cy="200025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6885623" y="515683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6925361" y="520128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6960077" y="531241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7187565" y="5013960"/>
              <a:ext cx="38442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判断标准是“够不够用来做决定”，所以允许估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算，但估算的依据要写清楚。</a:t>
              </a:r>
            </a:p>
          </p:txBody>
        </p:sp>
      </p:grpSp>
      <p:grpSp>
        <p:nvGrpSpPr>
          <p:cNvPr id="4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5" name="TextBox 45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第2章 可行性研究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458718" cy="909257"/>
            <a:chOff x="520446" y="342900"/>
            <a:chExt cx="345871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第2章 可行性研究 · 可行性研究的任务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45871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可行性研究的五步路线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8" name="c1-steps-1"/>
          <p:cNvGrpSpPr/>
          <p:nvPr/>
        </p:nvGrpSpPr>
        <p:grpSpPr>
          <a:xfrm>
            <a:off x="533400" y="1533525"/>
            <a:ext cx="3699535" cy="3179730"/>
            <a:chOff x="533400" y="1533525"/>
            <a:chExt cx="3699535" cy="3179730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260318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184082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2579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834640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90845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486150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5599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4136708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7024" y="42105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4880" y="156781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澄清问题定义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023" y="1861661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分析并核实问题到底是什么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4880" y="2218372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导出系统逻辑模型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023" y="2512219"/>
              <a:ext cx="278720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用数据流图和数据字典描述“做什么”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4880" y="2868930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探索主要解法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023" y="3162776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提出若干种可供选择的系统实现方案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4880" y="3520440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逐个研究可行性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6023" y="3813334"/>
              <a:ext cx="32869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对每种解法做技术、经济、操作、法律评价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4880" y="4170998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制定粗略进度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6023" y="4463891"/>
              <a:ext cx="24253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为每种可行的解法安排实现进度</a:t>
              </a:r>
            </a:p>
          </p:txBody>
        </p:sp>
      </p:grpSp>
      <p:grpSp>
        <p:nvGrpSpPr>
          <p:cNvPr id="51" name="c2-table-1"/>
          <p:cNvGrpSpPr/>
          <p:nvPr/>
        </p:nvGrpSpPr>
        <p:grpSpPr>
          <a:xfrm>
            <a:off x="5376862" y="1524000"/>
            <a:ext cx="6281738" cy="3441859"/>
            <a:chOff x="5376862" y="1524000"/>
            <a:chExt cx="6281738" cy="3441859"/>
          </a:xfrm>
        </p:grpSpPr>
        <p:sp>
          <p:nvSpPr>
            <p:cNvPr id="29" name="Rectangle 29"/>
            <p:cNvSpPr/>
            <p:nvPr/>
          </p:nvSpPr>
          <p:spPr>
            <a:xfrm>
              <a:off x="5382578" y="1524000"/>
              <a:ext cx="6276022" cy="448628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988825" y="1659731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路线上的一步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696528" y="1659731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在研究过程中对应的动作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490401" y="2108359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澄清问题定义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749730" y="2108359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复查系统规模和目标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82578" y="241649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5382578" y="2421255"/>
              <a:ext cx="6276022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490401" y="2670334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导出系统逻辑模型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749730" y="2556986"/>
              <a:ext cx="358927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研究目前正在使用的系统，再导出新系统的高层逻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辑模型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82578" y="309276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490401" y="3232309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探索主要解法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749730" y="3232309"/>
              <a:ext cx="25976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导出和评价若干种可供选择的解法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382578" y="3541395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5382578" y="3546158"/>
              <a:ext cx="6276022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5490401" y="3794284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逐个研究可行性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749730" y="3680936"/>
              <a:ext cx="358927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从技术、经济、操作、法律四个方面淘汰不可行的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方案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5382578" y="421671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5490401" y="4357211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制定粗略进度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749730" y="4357211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推荐行动方针，草拟开发计划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5382578" y="1524000"/>
              <a:ext cx="6276022" cy="314610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7637145" y="1524000"/>
              <a:ext cx="9525" cy="31461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5376862" y="4745831"/>
              <a:ext cx="41200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右列的动作就是 2.2 节的研究过程，两张清单说的是同一件事</a:t>
              </a:r>
            </a:p>
          </p:txBody>
        </p:sp>
      </p:grpSp>
      <p:grpSp>
        <p:nvGrpSpPr>
          <p:cNvPr id="58" name="c2-callout-2"/>
          <p:cNvGrpSpPr/>
          <p:nvPr/>
        </p:nvGrpSpPr>
        <p:grpSpPr>
          <a:xfrm>
            <a:off x="5382578" y="5112068"/>
            <a:ext cx="6276022" cy="782955"/>
            <a:chOff x="5382578" y="5112068"/>
            <a:chExt cx="6276022" cy="782955"/>
          </a:xfrm>
        </p:grpSpPr>
        <p:sp>
          <p:nvSpPr>
            <p:cNvPr id="52" name="Rectangle 52"/>
            <p:cNvSpPr/>
            <p:nvPr/>
          </p:nvSpPr>
          <p:spPr>
            <a:xfrm>
              <a:off x="5382578" y="5112068"/>
              <a:ext cx="6276022" cy="782955"/>
            </a:xfrm>
            <a:prstGeom prst="roundRect">
              <a:avLst>
                <a:gd name="adj" fmla="val 1459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6" name="Group 56"/>
            <p:cNvGrpSpPr/>
            <p:nvPr/>
          </p:nvGrpSpPr>
          <p:grpSpPr>
            <a:xfrm>
              <a:off x="5587365" y="5403533"/>
              <a:ext cx="200026" cy="200026"/>
              <a:chOff x="5587365" y="5403533"/>
              <a:chExt cx="200026" cy="200026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5587365" y="540353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5687378" y="547020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5676265" y="550354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7" name="TextBox 57"/>
            <p:cNvSpPr txBox="1"/>
            <p:nvPr/>
          </p:nvSpPr>
          <p:spPr>
            <a:xfrm>
              <a:off x="5889308" y="5260658"/>
              <a:ext cx="51873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这五步是“研究的思路”，2.2 节的八个步骤是“干活的顺序”，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复习时对照着记。</a:t>
              </a:r>
            </a:p>
          </p:txBody>
        </p:sp>
      </p:grpSp>
      <p:grpSp>
        <p:nvGrpSpPr>
          <p:cNvPr id="6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9" name="TextBox 59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第2章 可行性研究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第2章 可行性研究 · 可行性研究的任务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着重考虑的四个方面，外加方案选择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2" name="c1-table-1"/>
          <p:cNvGrpSpPr/>
          <p:nvPr/>
        </p:nvGrpSpPr>
        <p:grpSpPr>
          <a:xfrm>
            <a:off x="533400" y="1524000"/>
            <a:ext cx="11125200" cy="3146108"/>
            <a:chOff x="533400" y="1524000"/>
            <a:chExt cx="11125200" cy="314610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48628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244244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方面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014167" y="1659731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要回答的问题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078271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考察什么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527273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判断依据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41223" y="2221706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技术可行性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421446" y="2221706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用现有技术能不能实现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868418" y="2108359"/>
              <a:ext cx="293903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开发者的技术实力、以往工作基础、问题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的复杂性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205978" y="2221706"/>
              <a:ext cx="31145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在时间和费用的限制条件下成功的可能性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64318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647950"/>
              <a:ext cx="1112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41223" y="278368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经济可行性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421446" y="2783681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开发这个系统合不合算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868418" y="2783681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进行成本／效益分析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205978" y="2783681"/>
              <a:ext cx="315767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效益能否抵偿成本，见 2.6 节的四项指标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309276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41223" y="3345656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操作可行性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421446" y="3345656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系统的操作方式行不行得通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868418" y="3232309"/>
              <a:ext cx="293903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用户组织的工作习惯、管理制度、人员素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质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205978" y="3345656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用户是否愿意并且能够按新方式工作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376809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533400" y="3772852"/>
              <a:ext cx="1112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41223" y="390763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法律可行性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421446" y="3907631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会不会惹上官司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868418" y="3907631"/>
              <a:ext cx="29422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系统开发可能导致的侵权、妨碍和责任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205978" y="3907631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是否存在无法回避的法律障碍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421671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41223" y="4357211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方案的选择性研究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421446" y="4357211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哪个方案更好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868418" y="4357211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提出并评价实现系统的各种开发方案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205978" y="4357211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综合四个方面推荐较优方案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1524000"/>
              <a:ext cx="11125200" cy="314610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2308860" y="1524000"/>
              <a:ext cx="9525" cy="31461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4755832" y="1524000"/>
              <a:ext cx="9525" cy="31461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8093392" y="1524000"/>
              <a:ext cx="9525" cy="31461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9" name="takeaway"/>
          <p:cNvGrpSpPr/>
          <p:nvPr/>
        </p:nvGrpSpPr>
        <p:grpSpPr>
          <a:xfrm>
            <a:off x="533400" y="5579745"/>
            <a:ext cx="11125200" cy="782955"/>
            <a:chOff x="533400" y="5579745"/>
            <a:chExt cx="11125200" cy="782955"/>
          </a:xfrm>
        </p:grpSpPr>
        <p:sp>
          <p:nvSpPr>
            <p:cNvPr id="43" name="Rectangle 43"/>
            <p:cNvSpPr/>
            <p:nvPr/>
          </p:nvSpPr>
          <p:spPr>
            <a:xfrm>
              <a:off x="533400" y="5579745"/>
              <a:ext cx="11125200" cy="782955"/>
            </a:xfrm>
            <a:prstGeom prst="roundRect">
              <a:avLst>
                <a:gd name="adj" fmla="val 1459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726129" y="5867518"/>
              <a:ext cx="224134" cy="192560"/>
              <a:chOff x="726129" y="5867518"/>
              <a:chExt cx="224134" cy="192560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838200" y="593788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726129" y="586751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838200" y="601567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1040130" y="5728335"/>
              <a:ext cx="9921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四个方面里任何一个通不过，都足以否掉一个方案；实际项目中通常还要加一条进度可行性，即在要求的期限内能不能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做完。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0" name="TextBox 50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第2章 可行性研究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第2章 可行性研究 · 可行性研究的任务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技术可行性怎么判断，经济可行性算什么账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1" name="c1-card-1"/>
          <p:cNvGrpSpPr/>
          <p:nvPr/>
        </p:nvGrpSpPr>
        <p:grpSpPr>
          <a:xfrm>
            <a:off x="533400" y="1524000"/>
            <a:ext cx="4977765" cy="1545908"/>
            <a:chOff x="533400" y="1524000"/>
            <a:chExt cx="4977765" cy="154590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1545908"/>
            </a:xfrm>
            <a:prstGeom prst="roundRect">
              <a:avLst>
                <a:gd name="adj" fmla="val 86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27920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8190" y="1710690"/>
              <a:ext cx="83153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9660" y="1743551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技术可行性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697164" y="1745932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建模、试验、再决定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58190" y="2059305"/>
              <a:ext cx="192405" cy="19240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13868" y="2097691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38987" y="2071688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根据系统的功能、性能需求建立系统模型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58190" y="2359342"/>
              <a:ext cx="192405" cy="19240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13868" y="2398681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38987" y="2371725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对模型进行一系列的试验、评审和修改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58190" y="2660332"/>
              <a:ext cx="192405" cy="19240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13868" y="2698718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38987" y="2671762"/>
              <a:ext cx="36484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由项目管理人员作出是否进行系统开发的决定</a:t>
              </a:r>
            </a:p>
          </p:txBody>
        </p:sp>
      </p:grpSp>
      <p:grpSp>
        <p:nvGrpSpPr>
          <p:cNvPr id="28" name="c1-callout-2"/>
          <p:cNvGrpSpPr/>
          <p:nvPr/>
        </p:nvGrpSpPr>
        <p:grpSpPr>
          <a:xfrm>
            <a:off x="533400" y="3239452"/>
            <a:ext cx="4977765" cy="978218"/>
            <a:chOff x="533400" y="3239452"/>
            <a:chExt cx="4977765" cy="978218"/>
          </a:xfrm>
        </p:grpSpPr>
        <p:sp>
          <p:nvSpPr>
            <p:cNvPr id="22" name="Rectangle 22"/>
            <p:cNvSpPr/>
            <p:nvPr/>
          </p:nvSpPr>
          <p:spPr>
            <a:xfrm>
              <a:off x="533400" y="3239452"/>
              <a:ext cx="4977765" cy="978218"/>
            </a:xfrm>
            <a:prstGeom prst="roundRect">
              <a:avLst>
                <a:gd name="adj" fmla="val 11685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26129" y="3625333"/>
              <a:ext cx="224134" cy="192560"/>
              <a:chOff x="726129" y="3625333"/>
              <a:chExt cx="224134" cy="19256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838200" y="369570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726129" y="362533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838200" y="377348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1040892" y="3386138"/>
              <a:ext cx="3957066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开发技术风险很大、模型演示表明现有技术达不到预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期功能和性能、或者各子系统无法集成时，项目管理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人员可以作出停止开发的决定。</a:t>
              </a:r>
            </a:p>
          </p:txBody>
        </p:sp>
      </p:grpSp>
      <p:grpSp>
        <p:nvGrpSpPr>
          <p:cNvPr id="34" name="c1-kv-3"/>
          <p:cNvGrpSpPr/>
          <p:nvPr/>
        </p:nvGrpSpPr>
        <p:grpSpPr>
          <a:xfrm>
            <a:off x="526542" y="4410075"/>
            <a:ext cx="4984623" cy="909828"/>
            <a:chOff x="526542" y="4410075"/>
            <a:chExt cx="4984623" cy="909828"/>
          </a:xfrm>
        </p:grpSpPr>
        <p:sp>
          <p:nvSpPr>
            <p:cNvPr id="29" name="TextBox 29"/>
            <p:cNvSpPr txBox="1"/>
            <p:nvPr/>
          </p:nvSpPr>
          <p:spPr>
            <a:xfrm>
              <a:off x="526542" y="4410075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常见风险点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667637" y="4410075"/>
              <a:ext cx="3614166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没做过的算法、没用过的硬件、指标很硬的性能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要求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495014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26542" y="505587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模型的用处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667637" y="5055870"/>
              <a:ext cx="38301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让用户和管理人员提前看到关键功能能不能实现</a:t>
              </a:r>
            </a:p>
          </p:txBody>
        </p:sp>
      </p:grpSp>
      <p:grpSp>
        <p:nvGrpSpPr>
          <p:cNvPr id="57" name="c2-compare-1"/>
          <p:cNvGrpSpPr/>
          <p:nvPr/>
        </p:nvGrpSpPr>
        <p:grpSpPr>
          <a:xfrm>
            <a:off x="5815965" y="1524000"/>
            <a:ext cx="5842635" cy="2338388"/>
            <a:chOff x="5815965" y="1524000"/>
            <a:chExt cx="5842635" cy="2338388"/>
          </a:xfrm>
        </p:grpSpPr>
        <p:sp>
          <p:nvSpPr>
            <p:cNvPr id="35" name="Rectangle 35"/>
            <p:cNvSpPr/>
            <p:nvPr/>
          </p:nvSpPr>
          <p:spPr>
            <a:xfrm>
              <a:off x="5815965" y="1524000"/>
              <a:ext cx="2749868" cy="2338388"/>
            </a:xfrm>
            <a:prstGeom prst="roundRect">
              <a:avLst>
                <a:gd name="adj" fmla="val 570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5825490" y="1657350"/>
              <a:ext cx="47625" cy="2071688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033897" y="1732597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成本包括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6049328" y="2105978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205347" y="2049780"/>
              <a:ext cx="20711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购置并安装软、硬件及有关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设备的费用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6049328" y="2663190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205347" y="2606992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系统开发费用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6049328" y="2964180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205347" y="2907982"/>
              <a:ext cx="20711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系统安装、运行及维护的费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6049328" y="3521392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205347" y="3465195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人员培训费用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8908732" y="1524000"/>
              <a:ext cx="2749868" cy="2338388"/>
            </a:xfrm>
            <a:prstGeom prst="roundRect">
              <a:avLst>
                <a:gd name="adj" fmla="val 570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8918258" y="1657350"/>
              <a:ext cx="47625" cy="207168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9126664" y="1732597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效益包括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9142095" y="2105978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9298114" y="2049780"/>
              <a:ext cx="20711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有形效益：为用户增加的收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入或节省的开支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9142095" y="2663190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9298114" y="2606992"/>
              <a:ext cx="20711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无形效益：给潜在用户心理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上造成的影响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9142095" y="3221355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9298114" y="3165158"/>
              <a:ext cx="20711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无形效益可以转化为有形效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益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8575358" y="2531745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8645698" y="2627948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64" name="c2-callout-2"/>
          <p:cNvGrpSpPr/>
          <p:nvPr/>
        </p:nvGrpSpPr>
        <p:grpSpPr>
          <a:xfrm>
            <a:off x="5815965" y="4032885"/>
            <a:ext cx="5842635" cy="1234440"/>
            <a:chOff x="5815965" y="4032885"/>
            <a:chExt cx="5842635" cy="1234440"/>
          </a:xfrm>
        </p:grpSpPr>
        <p:sp>
          <p:nvSpPr>
            <p:cNvPr id="58" name="Rectangle 58"/>
            <p:cNvSpPr/>
            <p:nvPr/>
          </p:nvSpPr>
          <p:spPr>
            <a:xfrm>
              <a:off x="5815965" y="4032885"/>
              <a:ext cx="5842635" cy="1234440"/>
            </a:xfrm>
            <a:prstGeom prst="roundRect">
              <a:avLst>
                <a:gd name="adj" fmla="val 925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2" name="Group 62"/>
            <p:cNvGrpSpPr/>
            <p:nvPr/>
          </p:nvGrpSpPr>
          <p:grpSpPr>
            <a:xfrm>
              <a:off x="6020753" y="4550093"/>
              <a:ext cx="200026" cy="200025"/>
              <a:chOff x="6020753" y="4550093"/>
              <a:chExt cx="200026" cy="200025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6020753" y="455009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6060491" y="459454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6095207" y="470566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3" name="TextBox 63"/>
            <p:cNvSpPr txBox="1"/>
            <p:nvPr/>
          </p:nvSpPr>
          <p:spPr>
            <a:xfrm>
              <a:off x="6323457" y="4431030"/>
              <a:ext cx="481431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写成本时别漏掉运行维护和培训，它们往往在五年生命周期里累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计得比开发费还多。</a:t>
              </a:r>
            </a:p>
          </p:txBody>
        </p:sp>
      </p:grpSp>
      <p:grpSp>
        <p:nvGrpSpPr>
          <p:cNvPr id="70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65" name="Rectangle 65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68" name="Group 68"/>
            <p:cNvGrpSpPr/>
            <p:nvPr/>
          </p:nvGrpSpPr>
          <p:grpSpPr>
            <a:xfrm>
              <a:off x="738188" y="6022660"/>
              <a:ext cx="200023" cy="200023"/>
              <a:chOff x="738188" y="6022660"/>
              <a:chExt cx="200023" cy="200023"/>
            </a:xfrm>
          </p:grpSpPr>
          <p:sp>
            <p:nvSpPr>
              <p:cNvPr id="66" name="Freeform 66"/>
              <p:cNvSpPr/>
              <p:nvPr/>
            </p:nvSpPr>
            <p:spPr>
              <a:xfrm>
                <a:off x="738188" y="602266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871538" y="60893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9" name="TextBox 69"/>
            <p:cNvSpPr txBox="1"/>
            <p:nvPr/>
          </p:nvSpPr>
          <p:spPr>
            <a:xfrm>
              <a:off x="1040892" y="6028373"/>
              <a:ext cx="91187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技术可行性的结论要有模型和试验撑着，经济可行性的结论要有成本和效益的数字撑着，两边都不能只写“可行”。</a:t>
              </a:r>
            </a:p>
          </p:txBody>
        </p:sp>
      </p:grpSp>
      <p:grpSp>
        <p:nvGrpSpPr>
          <p:cNvPr id="7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1" name="TextBox 71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第2章 可行性研究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334E6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7EDF3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3429000" cy="3351847"/>
            <a:chOff x="667512" y="1835468"/>
            <a:chExt cx="3429000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第二部分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42900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可行性研究过程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33486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八个步骤，以及两条模型转换的路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研究过程的八个步骤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循环修正与重新定义问题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物理模型与逻辑模型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抽象化、实例化与具体化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第2章 可行性研究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145280" cy="909257"/>
            <a:chOff x="520446" y="342900"/>
            <a:chExt cx="414528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第2章 可行性研究 · 可行性研究过程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14528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可行性研究过程的八个步骤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3" name="c1-flow-1"/>
          <p:cNvGrpSpPr/>
          <p:nvPr/>
        </p:nvGrpSpPr>
        <p:grpSpPr>
          <a:xfrm>
            <a:off x="521018" y="1936432"/>
            <a:ext cx="5441632" cy="4109086"/>
            <a:chOff x="521018" y="1936432"/>
            <a:chExt cx="5441632" cy="4109086"/>
          </a:xfrm>
        </p:grpSpPr>
        <p:sp>
          <p:nvSpPr>
            <p:cNvPr id="7" name="Freeform 7"/>
            <p:cNvSpPr/>
            <p:nvPr/>
          </p:nvSpPr>
          <p:spPr>
            <a:xfrm>
              <a:off x="1940242" y="2321242"/>
              <a:ext cx="9525" cy="720090"/>
            </a:xfrm>
            <a:custGeom>
              <a:avLst/>
              <a:gdLst/>
              <a:ahLst/>
              <a:cxnLst/>
              <a:rect l="l" t="t" r="r" b="b"/>
              <a:pathLst>
                <a:path w="9525" h="720090">
                  <a:moveTo>
                    <a:pt x="0" y="0"/>
                  </a:moveTo>
                  <a:lnTo>
                    <a:pt x="0" y="72009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887855" y="304133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1940242" y="3530918"/>
              <a:ext cx="9525" cy="720090"/>
            </a:xfrm>
            <a:custGeom>
              <a:avLst/>
              <a:gdLst/>
              <a:ahLst/>
              <a:cxnLst/>
              <a:rect l="l" t="t" r="r" b="b"/>
              <a:pathLst>
                <a:path w="9525" h="720090">
                  <a:moveTo>
                    <a:pt x="0" y="0"/>
                  </a:moveTo>
                  <a:lnTo>
                    <a:pt x="0" y="72009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887855" y="425100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1940242" y="4740592"/>
              <a:ext cx="9525" cy="624840"/>
            </a:xfrm>
            <a:custGeom>
              <a:avLst/>
              <a:gdLst/>
              <a:ahLst/>
              <a:cxnLst/>
              <a:rect l="l" t="t" r="r" b="b"/>
              <a:pathLst>
                <a:path w="9525" h="624840">
                  <a:moveTo>
                    <a:pt x="0" y="0"/>
                  </a:moveTo>
                  <a:lnTo>
                    <a:pt x="0" y="62484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887855" y="536543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3149918" y="5757862"/>
              <a:ext cx="288608" cy="9525"/>
            </a:xfrm>
            <a:custGeom>
              <a:avLst/>
              <a:gdLst/>
              <a:ahLst/>
              <a:cxnLst/>
              <a:rect l="l" t="t" r="r" b="b"/>
              <a:pathLst>
                <a:path w="288608" h="9525">
                  <a:moveTo>
                    <a:pt x="0" y="0"/>
                  </a:moveTo>
                  <a:lnTo>
                    <a:pt x="288608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3438525" y="570547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521018" y="2128838"/>
              <a:ext cx="209550" cy="3629025"/>
            </a:xfrm>
            <a:custGeom>
              <a:avLst/>
              <a:gdLst/>
              <a:ahLst/>
              <a:cxnLst/>
              <a:rect l="l" t="t" r="r" b="b"/>
              <a:pathLst>
                <a:path w="209550" h="3629025">
                  <a:moveTo>
                    <a:pt x="209550" y="3629025"/>
                  </a:moveTo>
                  <a:lnTo>
                    <a:pt x="0" y="3629025"/>
                  </a:lnTo>
                  <a:lnTo>
                    <a:pt x="180975" y="3629025"/>
                  </a:lnTo>
                  <a:lnTo>
                    <a:pt x="180975" y="1814512"/>
                  </a:lnTo>
                  <a:lnTo>
                    <a:pt x="180975" y="0"/>
                  </a:lnTo>
                  <a:lnTo>
                    <a:pt x="0" y="0"/>
                  </a:lnTo>
                  <a:lnTo>
                    <a:pt x="10477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625792" y="207645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4752975" y="4845368"/>
              <a:ext cx="9525" cy="720090"/>
            </a:xfrm>
            <a:custGeom>
              <a:avLst/>
              <a:gdLst/>
              <a:ahLst/>
              <a:cxnLst/>
              <a:rect l="l" t="t" r="r" b="b"/>
              <a:pathLst>
                <a:path w="9525" h="720090">
                  <a:moveTo>
                    <a:pt x="0" y="72009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4700588" y="474059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0"/>
                  </a:moveTo>
                  <a:lnTo>
                    <a:pt x="104775" y="104775"/>
                  </a:lnTo>
                  <a:lnTo>
                    <a:pt x="0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4752975" y="3635692"/>
              <a:ext cx="9525" cy="720090"/>
            </a:xfrm>
            <a:custGeom>
              <a:avLst/>
              <a:gdLst/>
              <a:ahLst/>
              <a:cxnLst/>
              <a:rect l="l" t="t" r="r" b="b"/>
              <a:pathLst>
                <a:path w="9525" h="720090">
                  <a:moveTo>
                    <a:pt x="0" y="72009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4700588" y="353091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0"/>
                  </a:moveTo>
                  <a:lnTo>
                    <a:pt x="104775" y="104775"/>
                  </a:lnTo>
                  <a:lnTo>
                    <a:pt x="0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4752975" y="2426018"/>
              <a:ext cx="9525" cy="720090"/>
            </a:xfrm>
            <a:custGeom>
              <a:avLst/>
              <a:gdLst/>
              <a:ahLst/>
              <a:cxnLst/>
              <a:rect l="l" t="t" r="r" b="b"/>
              <a:pathLst>
                <a:path w="9525" h="720090">
                  <a:moveTo>
                    <a:pt x="0" y="72009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4700588" y="232124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0"/>
                  </a:moveTo>
                  <a:lnTo>
                    <a:pt x="104775" y="104775"/>
                  </a:lnTo>
                  <a:lnTo>
                    <a:pt x="0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730568" y="1936432"/>
              <a:ext cx="2419350" cy="385762"/>
            </a:xfrm>
            <a:prstGeom prst="roundRect">
              <a:avLst>
                <a:gd name="adj" fmla="val 49877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730568" y="3146108"/>
              <a:ext cx="2419350" cy="385762"/>
            </a:xfrm>
            <a:prstGeom prst="roundRect">
              <a:avLst>
                <a:gd name="adj" fmla="val 24691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730568" y="4355782"/>
              <a:ext cx="2419350" cy="385762"/>
            </a:xfrm>
            <a:prstGeom prst="roundRect">
              <a:avLst>
                <a:gd name="adj" fmla="val 24691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730568" y="5470208"/>
              <a:ext cx="2419350" cy="575310"/>
            </a:xfrm>
            <a:custGeom>
              <a:avLst/>
              <a:gdLst/>
              <a:ahLst/>
              <a:cxnLst/>
              <a:rect l="l" t="t" r="r" b="b"/>
              <a:pathLst>
                <a:path w="2419350" h="575310">
                  <a:moveTo>
                    <a:pt x="1209675" y="0"/>
                  </a:moveTo>
                  <a:lnTo>
                    <a:pt x="2419350" y="287655"/>
                  </a:lnTo>
                  <a:lnTo>
                    <a:pt x="1209675" y="575310"/>
                  </a:lnTo>
                  <a:lnTo>
                    <a:pt x="0" y="287655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3543300" y="5565458"/>
              <a:ext cx="2419350" cy="385762"/>
            </a:xfrm>
            <a:prstGeom prst="roundRect">
              <a:avLst>
                <a:gd name="adj" fmla="val 24691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3543300" y="4355782"/>
              <a:ext cx="2419350" cy="385762"/>
            </a:xfrm>
            <a:prstGeom prst="roundRect">
              <a:avLst>
                <a:gd name="adj" fmla="val 24691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3543300" y="3146108"/>
              <a:ext cx="2419350" cy="385762"/>
            </a:xfrm>
            <a:prstGeom prst="roundRect">
              <a:avLst>
                <a:gd name="adj" fmla="val 24691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3543300" y="1936432"/>
              <a:ext cx="2419350" cy="385762"/>
            </a:xfrm>
            <a:prstGeom prst="roundRect">
              <a:avLst>
                <a:gd name="adj" fmla="val 49877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256043" y="205025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复查系统规模和目标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05268" y="3259931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研究目前正在使用的系统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29881" y="4469606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导出新系统的高层逻辑模型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331430" y="5679281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符合系统目标吗？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918001" y="5679281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导出和评价供选择的解法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294937" y="446960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推荐行动方针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294937" y="325993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草拟开发计划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144162" y="2050256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书写文档提交审查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3242310" y="5561648"/>
              <a:ext cx="209550" cy="165735"/>
            </a:xfrm>
            <a:prstGeom prst="roundRect">
              <a:avLst>
                <a:gd name="adj" fmla="val 2298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3281743" y="5584508"/>
              <a:ext cx="1306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730568" y="4772025"/>
              <a:ext cx="209550" cy="165735"/>
            </a:xfrm>
            <a:prstGeom prst="roundRect">
              <a:avLst>
                <a:gd name="adj" fmla="val 2298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54380" y="4794885"/>
              <a:ext cx="1306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</p:grpSp>
      <p:grpSp>
        <p:nvGrpSpPr>
          <p:cNvPr id="67" name="c2-kv-1"/>
          <p:cNvGrpSpPr/>
          <p:nvPr/>
        </p:nvGrpSpPr>
        <p:grpSpPr>
          <a:xfrm>
            <a:off x="6457760" y="1545907"/>
            <a:ext cx="5200840" cy="4279774"/>
            <a:chOff x="6457760" y="1545907"/>
            <a:chExt cx="5200840" cy="4279774"/>
          </a:xfrm>
        </p:grpSpPr>
        <p:sp>
          <p:nvSpPr>
            <p:cNvPr id="44" name="TextBox 44"/>
            <p:cNvSpPr txBox="1"/>
            <p:nvPr/>
          </p:nvSpPr>
          <p:spPr>
            <a:xfrm>
              <a:off x="6457760" y="1545907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复查规模和目标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134160" y="1545907"/>
              <a:ext cx="3271266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核实问题定义、规模和目标，写成书面材料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请用户确认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464618" y="208597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457760" y="2192655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研究现有系统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134160" y="2192655"/>
              <a:ext cx="3271266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现有系统是信息的重要来源，要弄清功能、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数据流和缺点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464618" y="273272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457760" y="2838450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高层逻辑模型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134160" y="2838450"/>
              <a:ext cx="34848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用数据流图和数据字典描述新系统“做什么”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6464618" y="312515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457760" y="3230880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重新定义问题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134160" y="3230880"/>
              <a:ext cx="3271266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与目标不符时回到第一步，前三步可能反复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几次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6464618" y="377094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457760" y="3877627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导出并评价解法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134160" y="3877627"/>
              <a:ext cx="3271266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从技术、经济、操作、法律四方面筛掉不可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行的方案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6464618" y="441769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457760" y="4523422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推荐行动方针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134160" y="4523422"/>
              <a:ext cx="3271266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做还是不做、选哪个方案，由使用部门负责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人决定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6464618" y="506349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457760" y="51692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草拟开发计划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134160" y="5169218"/>
              <a:ext cx="34667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进度表、人员安排、资源与成本的粗略估计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6464618" y="545592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457760" y="556164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书写文档提交审查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8134160" y="5561648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写成可行性研究报告，交审查决策</a:t>
              </a:r>
            </a:p>
          </p:txBody>
        </p:sp>
      </p:grpSp>
      <p:grpSp>
        <p:nvGrpSpPr>
          <p:cNvPr id="7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8" name="TextBox 68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第2章 可行性研究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145280" cy="909257"/>
            <a:chOff x="520446" y="342900"/>
            <a:chExt cx="414528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第2章 可行性研究 · 可行性研究过程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14528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分析员手里的四次模型转换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6396990" cy="308039"/>
            <a:chOff x="525399" y="1550194"/>
            <a:chExt cx="6396990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639699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从当前系统出发绕一圈，落到目标系统上，中间必须经过逻辑模型。</a:t>
              </a:r>
            </a:p>
          </p:txBody>
        </p:sp>
      </p:grpSp>
      <p:grpSp>
        <p:nvGrpSpPr>
          <p:cNvPr id="43" name="c1-graph-1"/>
          <p:cNvGrpSpPr/>
          <p:nvPr/>
        </p:nvGrpSpPr>
        <p:grpSpPr>
          <a:xfrm>
            <a:off x="667702" y="2608898"/>
            <a:ext cx="6245543" cy="2937034"/>
            <a:chOff x="667702" y="2608898"/>
            <a:chExt cx="6245543" cy="2937034"/>
          </a:xfrm>
        </p:grpSpPr>
        <p:sp>
          <p:nvSpPr>
            <p:cNvPr id="9" name="Freeform 9"/>
            <p:cNvSpPr/>
            <p:nvPr/>
          </p:nvSpPr>
          <p:spPr>
            <a:xfrm>
              <a:off x="1905952" y="2758440"/>
              <a:ext cx="812482" cy="9525"/>
            </a:xfrm>
            <a:custGeom>
              <a:avLst/>
              <a:gdLst/>
              <a:ahLst/>
              <a:cxnLst/>
              <a:rect l="l" t="t" r="r" b="b"/>
              <a:pathLst>
                <a:path w="812482" h="9525">
                  <a:moveTo>
                    <a:pt x="0" y="0"/>
                  </a:moveTo>
                  <a:lnTo>
                    <a:pt x="81248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718435" y="271081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4528185" y="2758440"/>
              <a:ext cx="575310" cy="9525"/>
            </a:xfrm>
            <a:custGeom>
              <a:avLst/>
              <a:gdLst/>
              <a:ahLst/>
              <a:cxnLst/>
              <a:rect l="l" t="t" r="r" b="b"/>
              <a:pathLst>
                <a:path w="575310" h="9525">
                  <a:moveTo>
                    <a:pt x="0" y="0"/>
                  </a:moveTo>
                  <a:lnTo>
                    <a:pt x="57531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5103495" y="271081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6055995" y="2908935"/>
              <a:ext cx="9525" cy="2241233"/>
            </a:xfrm>
            <a:custGeom>
              <a:avLst/>
              <a:gdLst/>
              <a:ahLst/>
              <a:cxnLst/>
              <a:rect l="l" t="t" r="r" b="b"/>
              <a:pathLst>
                <a:path w="9525" h="2241233">
                  <a:moveTo>
                    <a:pt x="0" y="0"/>
                  </a:moveTo>
                  <a:lnTo>
                    <a:pt x="0" y="224123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6008370" y="515016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4623435" y="5395912"/>
              <a:ext cx="575310" cy="9525"/>
            </a:xfrm>
            <a:custGeom>
              <a:avLst/>
              <a:gdLst/>
              <a:ahLst/>
              <a:cxnLst/>
              <a:rect l="l" t="t" r="r" b="b"/>
              <a:pathLst>
                <a:path w="575310" h="9525">
                  <a:moveTo>
                    <a:pt x="575310" y="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4528185" y="534828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2001202" y="5395912"/>
              <a:ext cx="812482" cy="9525"/>
            </a:xfrm>
            <a:custGeom>
              <a:avLst/>
              <a:gdLst/>
              <a:ahLst/>
              <a:cxnLst/>
              <a:rect l="l" t="t" r="r" b="b"/>
              <a:pathLst>
                <a:path w="812482" h="9525">
                  <a:moveTo>
                    <a:pt x="812482" y="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1905952" y="534828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667702" y="2608898"/>
              <a:ext cx="1238250" cy="300038"/>
            </a:xfrm>
            <a:prstGeom prst="roundRect">
              <a:avLst>
                <a:gd name="adj" fmla="val 31746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2813685" y="2608898"/>
              <a:ext cx="1714500" cy="300038"/>
            </a:xfrm>
            <a:prstGeom prst="roundRect">
              <a:avLst>
                <a:gd name="adj" fmla="val 31746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5198745" y="2608898"/>
              <a:ext cx="1714500" cy="300038"/>
            </a:xfrm>
            <a:prstGeom prst="roundRect">
              <a:avLst>
                <a:gd name="adj" fmla="val 31746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5198745" y="5245418"/>
              <a:ext cx="1714500" cy="300038"/>
            </a:xfrm>
            <a:prstGeom prst="roundRect">
              <a:avLst>
                <a:gd name="adj" fmla="val 31746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2813685" y="5245418"/>
              <a:ext cx="1714500" cy="300038"/>
            </a:xfrm>
            <a:prstGeom prst="roundRect">
              <a:avLst>
                <a:gd name="adj" fmla="val 31746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67702" y="5245418"/>
              <a:ext cx="1238250" cy="300038"/>
            </a:xfrm>
            <a:prstGeom prst="roundRect">
              <a:avLst>
                <a:gd name="adj" fmla="val 31746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79564" y="268843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当前系统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062122" y="2688431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当前系统物理模型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447182" y="2688431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当前系统逻辑模型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447182" y="5325904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目标系统逻辑模型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062122" y="5325904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目标系统物理模型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79564" y="532590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目标系统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2150745" y="2672715"/>
              <a:ext cx="419100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2173796" y="2705100"/>
              <a:ext cx="37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模型化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4653915" y="2672715"/>
              <a:ext cx="419100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76966" y="2705100"/>
              <a:ext cx="37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抽象化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903595" y="3991928"/>
              <a:ext cx="304800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930074" y="4023360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导出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4653915" y="5310188"/>
              <a:ext cx="419100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4676966" y="5341620"/>
              <a:ext cx="37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实例化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2150745" y="5310188"/>
              <a:ext cx="419100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2173796" y="5341620"/>
              <a:ext cx="37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具体化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160271" y="3788093"/>
              <a:ext cx="10213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怎么做 → 做什么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160271" y="4403408"/>
              <a:ext cx="10213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做什么 → 怎么做</a:t>
              </a:r>
            </a:p>
          </p:txBody>
        </p:sp>
      </p:grpSp>
      <p:grpSp>
        <p:nvGrpSpPr>
          <p:cNvPr id="55" name="c2-kv-1"/>
          <p:cNvGrpSpPr/>
          <p:nvPr/>
        </p:nvGrpSpPr>
        <p:grpSpPr>
          <a:xfrm>
            <a:off x="7106602" y="1992630"/>
            <a:ext cx="4551998" cy="2741295"/>
            <a:chOff x="7106602" y="1992630"/>
            <a:chExt cx="4551998" cy="2741295"/>
          </a:xfrm>
        </p:grpSpPr>
        <p:sp>
          <p:nvSpPr>
            <p:cNvPr id="44" name="TextBox 44"/>
            <p:cNvSpPr txBox="1"/>
            <p:nvPr/>
          </p:nvSpPr>
          <p:spPr>
            <a:xfrm>
              <a:off x="7106602" y="199263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物理模型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147685" y="1992630"/>
              <a:ext cx="327279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描述系统“怎么做”：具体的人、设备、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程序和文件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7114222" y="2594610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106602" y="27146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逻辑模型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147685" y="2714625"/>
              <a:ext cx="327279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描述系统“做什么”：数据流和加工，不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涉及实现手段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7114222" y="3316605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106602" y="3436620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抽象化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147685" y="3436620"/>
              <a:ext cx="32537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抽掉当前系统的实现细节，只留下业务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本身的数据与加工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7114222" y="4038600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106602" y="415861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实例化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147685" y="4158615"/>
              <a:ext cx="32537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给目标系统的逻辑模型配上具体的实现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手段</a:t>
              </a:r>
            </a:p>
          </p:txBody>
        </p:sp>
      </p:grpSp>
      <p:grpSp>
        <p:nvGrpSpPr>
          <p:cNvPr id="61" name="c2-callout-2"/>
          <p:cNvGrpSpPr/>
          <p:nvPr/>
        </p:nvGrpSpPr>
        <p:grpSpPr>
          <a:xfrm>
            <a:off x="7114222" y="4865370"/>
            <a:ext cx="4544378" cy="1059180"/>
            <a:chOff x="7114222" y="4865370"/>
            <a:chExt cx="4544378" cy="1059180"/>
          </a:xfrm>
        </p:grpSpPr>
        <p:sp>
          <p:nvSpPr>
            <p:cNvPr id="56" name="Rectangle 56"/>
            <p:cNvSpPr/>
            <p:nvPr/>
          </p:nvSpPr>
          <p:spPr>
            <a:xfrm>
              <a:off x="7114222" y="4865370"/>
              <a:ext cx="4544378" cy="1059180"/>
            </a:xfrm>
            <a:prstGeom prst="roundRect">
              <a:avLst>
                <a:gd name="adj" fmla="val 10791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59" name="Group 59"/>
            <p:cNvGrpSpPr/>
            <p:nvPr/>
          </p:nvGrpSpPr>
          <p:grpSpPr>
            <a:xfrm>
              <a:off x="7319010" y="5294950"/>
              <a:ext cx="200023" cy="200023"/>
              <a:chOff x="7319010" y="5294950"/>
              <a:chExt cx="200023" cy="200023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7319010" y="529495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7452360" y="536162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0" name="TextBox 60"/>
            <p:cNvSpPr txBox="1"/>
            <p:nvPr/>
          </p:nvSpPr>
          <p:spPr>
            <a:xfrm>
              <a:off x="7620952" y="5013960"/>
              <a:ext cx="3549015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可行性研究只走到“目标系统的高层逻辑模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型”，实例化和具体化留给后面的设计阶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段。</a:t>
              </a:r>
            </a:p>
          </p:txBody>
        </p:sp>
      </p:grpSp>
      <p:grpSp>
        <p:nvGrpSpPr>
          <p:cNvPr id="6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2" name="TextBox 62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第2章 可行性研究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334E6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7EDF3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2475738" cy="3351847"/>
            <a:chOff x="667512" y="1835468"/>
            <a:chExt cx="2475738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第三部分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245973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系统流程图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24601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描绘物理系统的传统工具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基本符号与系统符号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零件库存清单系统的例子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售书系统的三张图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系统流程图的分层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第2章 可行性研究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第2章 可行性研究 · 系统流程图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系统流程图：把每个部件当成黑盒子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193982" cy="1906905"/>
            <a:chOff x="533400" y="1524000"/>
            <a:chExt cx="5193982" cy="190690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1906905"/>
            </a:xfrm>
            <a:prstGeom prst="roundRect">
              <a:avLst>
                <a:gd name="adj" fmla="val 699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640205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82078" y="1768792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系统流程图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4396740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概括地描绘物理系统的传统工具。用图形符号以黑盒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子形式描绘组成系统的每个部件，包括程序、文档、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数据库和人工过程等，表达数据在系统各部件之间的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流动情况。</a:t>
              </a:r>
            </a:p>
          </p:txBody>
        </p:sp>
      </p:grpSp>
      <p:grpSp>
        <p:nvGrpSpPr>
          <p:cNvPr id="23" name="c1-card-2"/>
          <p:cNvGrpSpPr/>
          <p:nvPr/>
        </p:nvGrpSpPr>
        <p:grpSpPr>
          <a:xfrm>
            <a:off x="533400" y="3621405"/>
            <a:ext cx="5193982" cy="1701165"/>
            <a:chOff x="533400" y="3621405"/>
            <a:chExt cx="5193982" cy="1701165"/>
          </a:xfrm>
        </p:grpSpPr>
        <p:sp>
          <p:nvSpPr>
            <p:cNvPr id="14" name="Rectangle 14"/>
            <p:cNvSpPr/>
            <p:nvPr/>
          </p:nvSpPr>
          <p:spPr>
            <a:xfrm>
              <a:off x="533400" y="3621405"/>
              <a:ext cx="5193982" cy="1701165"/>
            </a:xfrm>
            <a:prstGeom prst="roundRect">
              <a:avLst>
                <a:gd name="adj" fmla="val 7839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42950" y="383095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243B53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25259" y="386667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三个要点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48665" y="4271010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06780" y="4208145"/>
              <a:ext cx="29230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画的是 </a:t>
              </a:r>
              <a:r>
                <a:rPr lang="zh-CN" sz="150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物理系统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，回答“怎么做”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748665" y="4606290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06780" y="4543425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部件只看输入输出，内部处理不画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748665" y="4941570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06780" y="487870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箭头表示数据流动的方向</a:t>
              </a:r>
            </a:p>
          </p:txBody>
        </p:sp>
      </p:grpSp>
      <p:grpSp>
        <p:nvGrpSpPr>
          <p:cNvPr id="48" name="c2-table-1"/>
          <p:cNvGrpSpPr/>
          <p:nvPr/>
        </p:nvGrpSpPr>
        <p:grpSpPr>
          <a:xfrm>
            <a:off x="6032182" y="1524000"/>
            <a:ext cx="5626418" cy="2244090"/>
            <a:chOff x="6032182" y="1524000"/>
            <a:chExt cx="5626418" cy="2244090"/>
          </a:xfrm>
        </p:grpSpPr>
        <p:sp>
          <p:nvSpPr>
            <p:cNvPr id="24" name="Rectangle 24"/>
            <p:cNvSpPr/>
            <p:nvPr/>
          </p:nvSpPr>
          <p:spPr>
            <a:xfrm>
              <a:off x="6032182" y="1524000"/>
              <a:ext cx="5626418" cy="448628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86360" y="165973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比较项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958074" y="165973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系统流程图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152634" y="165973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程序流程图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140006" y="210835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描绘对象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377303" y="2108359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系统的各个部件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628060" y="2108359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一个程序内部的处理步骤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032182" y="241649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032182" y="2421255"/>
              <a:ext cx="5626418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140006" y="255698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箭头含义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377303" y="2556986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数据流动方向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628060" y="2556986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控制转移方向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032182" y="286607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140006" y="300561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抽象层次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377303" y="3005614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物理系统的总体结构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628060" y="3005614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程序的算法细节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032182" y="331470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6032182" y="3319462"/>
              <a:ext cx="5626418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140006" y="345424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使用阶段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377303" y="345424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可行性研究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628060" y="3454241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详细设计与编码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6032182" y="1524000"/>
              <a:ext cx="5626418" cy="22440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7264718" y="1524000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9515475" y="1524000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5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49" name="Rectangle 49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726129" y="5992296"/>
              <a:ext cx="224134" cy="192560"/>
              <a:chOff x="726129" y="5992296"/>
              <a:chExt cx="224134" cy="192560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838200" y="606266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726129" y="599229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838200" y="614045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1040130" y="5991225"/>
              <a:ext cx="83145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系统流程图上的箭头表示数据流动，看到两个方框连在一起，不要读成“先做这个再做那个”。</a:t>
              </a:r>
            </a:p>
          </p:txBody>
        </p:sp>
      </p:grpSp>
      <p:grpSp>
        <p:nvGrpSpPr>
          <p:cNvPr id="5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6" name="TextBox 56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第2章 可行性研究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772156" cy="909257"/>
            <a:chOff x="520446" y="342900"/>
            <a:chExt cx="277215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第2章 可行性研究 · 系统流程图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77215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系统流程图的符号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6" name="c1-table-1"/>
          <p:cNvGrpSpPr/>
          <p:nvPr/>
        </p:nvGrpSpPr>
        <p:grpSpPr>
          <a:xfrm>
            <a:off x="528447" y="1524000"/>
            <a:ext cx="5415153" cy="3263931"/>
            <a:chOff x="528447" y="1524000"/>
            <a:chExt cx="5415153" cy="3263931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40005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75741" y="164544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符号形状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108556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名称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164051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说明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0555" y="214550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矩形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928812" y="214550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处理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794635" y="2045494"/>
              <a:ext cx="285623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能改变数据值或数据位置的加工或部件，例如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程序、处理机、人工加工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51936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524125"/>
              <a:ext cx="5410200" cy="6000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0555" y="274558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平行四边形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928812" y="274558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输入输出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794635" y="2645569"/>
              <a:ext cx="285623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表示输入或输出，是不指明具体设备的广义符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号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11943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0555" y="334565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圆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928812" y="334565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连接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794635" y="3245644"/>
              <a:ext cx="285623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指出转到图的另一部分或由另一部分转来，画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在同一页上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71951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724275"/>
              <a:ext cx="5410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0555" y="3845719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下尖的五边形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928812" y="384571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换页连接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794635" y="3845719"/>
              <a:ext cx="25745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指出转到另一页图上或由另一页图转来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411956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0555" y="42457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箭头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928812" y="424576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数据流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794635" y="4245769"/>
              <a:ext cx="2725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用来连接其他符号，指明数据流动的方向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1524000"/>
              <a:ext cx="5410200" cy="300037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1826895" y="1524000"/>
              <a:ext cx="9525" cy="30003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2692718" y="1524000"/>
              <a:ext cx="9525" cy="30003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28447" y="4597241"/>
              <a:ext cx="317616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上面四个是基本符号，下面是常用的系统符号（设备）</a:t>
              </a:r>
            </a:p>
          </p:txBody>
        </p:sp>
      </p:grpSp>
      <p:grpSp>
        <p:nvGrpSpPr>
          <p:cNvPr id="43" name="c1-callout-2"/>
          <p:cNvGrpSpPr/>
          <p:nvPr/>
        </p:nvGrpSpPr>
        <p:grpSpPr>
          <a:xfrm>
            <a:off x="533400" y="4919662"/>
            <a:ext cx="5410200" cy="1015365"/>
            <a:chOff x="533400" y="4919662"/>
            <a:chExt cx="5410200" cy="1015365"/>
          </a:xfrm>
        </p:grpSpPr>
        <p:sp>
          <p:nvSpPr>
            <p:cNvPr id="37" name="Rectangle 37"/>
            <p:cNvSpPr/>
            <p:nvPr/>
          </p:nvSpPr>
          <p:spPr>
            <a:xfrm>
              <a:off x="533400" y="4919662"/>
              <a:ext cx="5410200" cy="1015365"/>
            </a:xfrm>
            <a:prstGeom prst="roundRect">
              <a:avLst>
                <a:gd name="adj" fmla="val 11257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738188" y="5327333"/>
              <a:ext cx="200026" cy="200025"/>
              <a:chOff x="738188" y="5327333"/>
              <a:chExt cx="200026" cy="200025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738188" y="532733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777926" y="537178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812642" y="548290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1040892" y="5209223"/>
              <a:ext cx="447141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只要能说出符号代表哪类设备、数据往哪个方向流，就够用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了。</a:t>
              </a:r>
            </a:p>
          </p:txBody>
        </p:sp>
      </p:grpSp>
      <p:grpSp>
        <p:nvGrpSpPr>
          <p:cNvPr id="76" name="c2-kv-1"/>
          <p:cNvGrpSpPr/>
          <p:nvPr/>
        </p:nvGrpSpPr>
        <p:grpSpPr>
          <a:xfrm>
            <a:off x="6241542" y="1545907"/>
            <a:ext cx="5417058" cy="4442651"/>
            <a:chOff x="6241542" y="1545907"/>
            <a:chExt cx="5417058" cy="4442651"/>
          </a:xfrm>
        </p:grpSpPr>
        <p:sp>
          <p:nvSpPr>
            <p:cNvPr id="44" name="TextBox 44"/>
            <p:cNvSpPr txBox="1"/>
            <p:nvPr/>
          </p:nvSpPr>
          <p:spPr>
            <a:xfrm>
              <a:off x="6241542" y="1545907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穿孔卡片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203567" y="1545907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穿孔卡片输入输出，或一个穿孔卡片文件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248400" y="183261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241542" y="193833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文档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203567" y="1938338"/>
              <a:ext cx="38301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通常表示打印输出，也可表示打印终端输入数据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248400" y="222504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241542" y="233076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磁带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203567" y="2330768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磁带输入输出，或一个磁带文件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6248400" y="261747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241542" y="272319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联机存储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203567" y="2723198"/>
              <a:ext cx="4128516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任何种类的联机存储：磁盘、磁鼓、软盘、海量存储器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件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6248400" y="326326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241542" y="3369945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磁盘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203567" y="3369945"/>
              <a:ext cx="38301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磁盘输入输出，也可表示磁盘上的文件或数据库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6248400" y="365569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241542" y="3762375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磁鼓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203567" y="3762375"/>
              <a:ext cx="38301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磁鼓输入输出，也可表示磁鼓上的文件或数据库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6248400" y="404812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241542" y="4154805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显示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203567" y="4154805"/>
              <a:ext cx="43863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CRT 终端或类似显示部件，可输入、可输出、也可兼有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6248400" y="444055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241542" y="4547235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人工输入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203567" y="4547235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人工输入数据的脱机处理，例如填写表格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6248400" y="483298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6241542" y="4939665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人工操作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7203567" y="4939665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人工完成的处理，例如在工资支票上签名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6248400" y="522541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6241542" y="5332095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辅助操作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7203567" y="5332095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使用设备进行的脱机操作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6248400" y="561784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6241542" y="5724525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通信链路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7203567" y="5724525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通过远程通信线路或链路传送数据</a:t>
              </a:r>
            </a:p>
          </p:txBody>
        </p:sp>
      </p:grpSp>
      <p:grpSp>
        <p:nvGrpSpPr>
          <p:cNvPr id="7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7" name="TextBox 77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第2章 可行性研究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801999" cy="909257"/>
            <a:chOff x="520446" y="342900"/>
            <a:chExt cx="380199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第2章 可行性研究 · 系统流程图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80199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例一：零件库存清单系统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4977765" cy="2065020"/>
            <a:chOff x="533400" y="1524000"/>
            <a:chExt cx="4977765" cy="206502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2065020"/>
            </a:xfrm>
            <a:prstGeom prst="roundRect">
              <a:avLst>
                <a:gd name="adj" fmla="val 645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79832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9620" y="172212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1060" y="17564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题目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381" y="2082641"/>
              <a:ext cx="4342638" cy="13645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某装配厂有一座零件仓库，各种零件的现有数量以及每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种零件的库存量临界值记录在库存清单主文件中。仓库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中零件数量有变化时应及时修改该文件；哪种零件的库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存量少于它的临界值，就报告给采购部门以便定货。规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定每天向采购部门送一次定货报告。</a:t>
              </a:r>
            </a:p>
          </p:txBody>
        </p:sp>
      </p:grpSp>
      <p:grpSp>
        <p:nvGrpSpPr>
          <p:cNvPr id="25" name="c1-bullets-2"/>
          <p:cNvGrpSpPr/>
          <p:nvPr/>
        </p:nvGrpSpPr>
        <p:grpSpPr>
          <a:xfrm>
            <a:off x="533400" y="3778568"/>
            <a:ext cx="4956620" cy="1337690"/>
            <a:chOff x="533400" y="3778568"/>
            <a:chExt cx="4956620" cy="1337690"/>
          </a:xfrm>
        </p:grpSpPr>
        <p:sp>
          <p:nvSpPr>
            <p:cNvPr id="13" name="Ellipse 13"/>
            <p:cNvSpPr/>
            <p:nvPr/>
          </p:nvSpPr>
          <p:spPr>
            <a:xfrm>
              <a:off x="533400" y="3778568"/>
              <a:ext cx="171450" cy="1714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82488" y="3812238"/>
              <a:ext cx="73274" cy="160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93052" y="3789045"/>
              <a:ext cx="4469892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零件库存量的每一次变化称为一个事务，由放在仓库中的 CRT 终端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输入到计算机中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4294822"/>
              <a:ext cx="171450" cy="1714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82488" y="4328493"/>
              <a:ext cx="73274" cy="160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93052" y="4306252"/>
              <a:ext cx="46969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库存清单程序负责处理事务，更新存储在磁盘上的库存清单主文件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533400" y="4582478"/>
              <a:ext cx="171450" cy="1714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82488" y="4617101"/>
              <a:ext cx="73274" cy="160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93052" y="4593908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必要的定货信息写在磁带上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533400" y="4870132"/>
              <a:ext cx="171450" cy="1714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82488" y="4904756"/>
              <a:ext cx="73274" cy="160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93052" y="4881562"/>
              <a:ext cx="40507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每天由报告生成程序读一次磁带，生成并打印出定货报告</a:t>
              </a:r>
            </a:p>
          </p:txBody>
        </p:sp>
      </p:grpSp>
      <p:grpSp>
        <p:nvGrpSpPr>
          <p:cNvPr id="50" name="c2-flow-1"/>
          <p:cNvGrpSpPr/>
          <p:nvPr/>
        </p:nvGrpSpPr>
        <p:grpSpPr>
          <a:xfrm>
            <a:off x="6019800" y="1734502"/>
            <a:ext cx="5434965" cy="3742373"/>
            <a:chOff x="6019800" y="1734502"/>
            <a:chExt cx="5434965" cy="3742373"/>
          </a:xfrm>
        </p:grpSpPr>
        <p:sp>
          <p:nvSpPr>
            <p:cNvPr id="26" name="Freeform 26"/>
            <p:cNvSpPr/>
            <p:nvPr/>
          </p:nvSpPr>
          <p:spPr>
            <a:xfrm>
              <a:off x="7276148" y="2145982"/>
              <a:ext cx="9525" cy="316230"/>
            </a:xfrm>
            <a:custGeom>
              <a:avLst/>
              <a:gdLst/>
              <a:ahLst/>
              <a:cxnLst/>
              <a:rect l="l" t="t" r="r" b="b"/>
              <a:pathLst>
                <a:path w="9525" h="316230">
                  <a:moveTo>
                    <a:pt x="0" y="0"/>
                  </a:moveTo>
                  <a:lnTo>
                    <a:pt x="0" y="31623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7223760" y="246221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8" name="Freeform 28"/>
            <p:cNvSpPr/>
            <p:nvPr/>
          </p:nvSpPr>
          <p:spPr>
            <a:xfrm>
              <a:off x="8532495" y="2772728"/>
              <a:ext cx="304800" cy="9525"/>
            </a:xfrm>
            <a:custGeom>
              <a:avLst/>
              <a:gdLst/>
              <a:ahLst/>
              <a:cxnLst/>
              <a:rect l="l" t="t" r="r" b="b"/>
              <a:pathLst>
                <a:path w="304800" h="9525">
                  <a:moveTo>
                    <a:pt x="0" y="0"/>
                  </a:moveTo>
                  <a:lnTo>
                    <a:pt x="30480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8837295" y="272034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0" name="Freeform 30"/>
            <p:cNvSpPr/>
            <p:nvPr/>
          </p:nvSpPr>
          <p:spPr>
            <a:xfrm>
              <a:off x="7276148" y="2979420"/>
              <a:ext cx="9525" cy="315277"/>
            </a:xfrm>
            <a:custGeom>
              <a:avLst/>
              <a:gdLst/>
              <a:ahLst/>
              <a:cxnLst/>
              <a:rect l="l" t="t" r="r" b="b"/>
              <a:pathLst>
                <a:path w="9525" h="315277">
                  <a:moveTo>
                    <a:pt x="0" y="0"/>
                  </a:moveTo>
                  <a:lnTo>
                    <a:pt x="0" y="31527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7223760" y="329469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2" name="Freeform 32"/>
            <p:cNvSpPr/>
            <p:nvPr/>
          </p:nvSpPr>
          <p:spPr>
            <a:xfrm>
              <a:off x="7276148" y="3811905"/>
              <a:ext cx="9525" cy="316230"/>
            </a:xfrm>
            <a:custGeom>
              <a:avLst/>
              <a:gdLst/>
              <a:ahLst/>
              <a:cxnLst/>
              <a:rect l="l" t="t" r="r" b="b"/>
              <a:pathLst>
                <a:path w="9525" h="316230">
                  <a:moveTo>
                    <a:pt x="0" y="0"/>
                  </a:moveTo>
                  <a:lnTo>
                    <a:pt x="0" y="31623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7223760" y="412813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4" name="Freeform 34"/>
            <p:cNvSpPr/>
            <p:nvPr/>
          </p:nvSpPr>
          <p:spPr>
            <a:xfrm>
              <a:off x="7276148" y="4644390"/>
              <a:ext cx="9525" cy="316230"/>
            </a:xfrm>
            <a:custGeom>
              <a:avLst/>
              <a:gdLst/>
              <a:ahLst/>
              <a:cxnLst/>
              <a:rect l="l" t="t" r="r" b="b"/>
              <a:pathLst>
                <a:path w="9525" h="316230">
                  <a:moveTo>
                    <a:pt x="0" y="0"/>
                  </a:moveTo>
                  <a:lnTo>
                    <a:pt x="0" y="31623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7223760" y="496062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6" name="Freeform 36"/>
            <p:cNvSpPr/>
            <p:nvPr/>
          </p:nvSpPr>
          <p:spPr>
            <a:xfrm>
              <a:off x="6019800" y="1734502"/>
              <a:ext cx="2512695" cy="411480"/>
            </a:xfrm>
            <a:custGeom>
              <a:avLst/>
              <a:gdLst/>
              <a:ahLst/>
              <a:cxnLst/>
              <a:rect l="l" t="t" r="r" b="b"/>
              <a:pathLst>
                <a:path w="2512695" h="411480">
                  <a:moveTo>
                    <a:pt x="133350" y="0"/>
                  </a:moveTo>
                  <a:lnTo>
                    <a:pt x="2512695" y="0"/>
                  </a:lnTo>
                  <a:lnTo>
                    <a:pt x="2379345" y="411480"/>
                  </a:lnTo>
                  <a:lnTo>
                    <a:pt x="0" y="411480"/>
                  </a:lnTo>
                  <a:close/>
                </a:path>
              </a:pathLst>
            </a:custGeom>
            <a:solidFill>
              <a:srgbClr val="E7EDF3"/>
            </a:solidFill>
            <a:ln w="13335">
              <a:solidFill>
                <a:srgbClr val="334E68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6019800" y="2566988"/>
              <a:ext cx="2512695" cy="411480"/>
            </a:xfrm>
            <a:prstGeom prst="roundRect">
              <a:avLst>
                <a:gd name="adj" fmla="val 23148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8942070" y="2566988"/>
              <a:ext cx="2512695" cy="411480"/>
            </a:xfrm>
            <a:prstGeom prst="roundRect">
              <a:avLst>
                <a:gd name="adj" fmla="val 18519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39" name="Freeform 39"/>
            <p:cNvSpPr/>
            <p:nvPr/>
          </p:nvSpPr>
          <p:spPr>
            <a:xfrm>
              <a:off x="6019800" y="3399472"/>
              <a:ext cx="2512695" cy="412433"/>
            </a:xfrm>
            <a:custGeom>
              <a:avLst/>
              <a:gdLst/>
              <a:ahLst/>
              <a:cxnLst/>
              <a:rect l="l" t="t" r="r" b="b"/>
              <a:pathLst>
                <a:path w="2512695" h="412433">
                  <a:moveTo>
                    <a:pt x="133350" y="0"/>
                  </a:moveTo>
                  <a:lnTo>
                    <a:pt x="2512695" y="0"/>
                  </a:lnTo>
                  <a:lnTo>
                    <a:pt x="2379345" y="412433"/>
                  </a:lnTo>
                  <a:lnTo>
                    <a:pt x="0" y="412433"/>
                  </a:lnTo>
                  <a:close/>
                </a:path>
              </a:pathLst>
            </a:custGeom>
            <a:solidFill>
              <a:srgbClr val="E7EDF3"/>
            </a:solidFill>
            <a:ln w="13335">
              <a:solidFill>
                <a:srgbClr val="334E68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6019800" y="4232910"/>
              <a:ext cx="2512695" cy="411480"/>
            </a:xfrm>
            <a:prstGeom prst="roundRect">
              <a:avLst>
                <a:gd name="adj" fmla="val 23148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6019800" y="5065395"/>
              <a:ext cx="2512695" cy="411480"/>
            </a:xfrm>
            <a:custGeom>
              <a:avLst/>
              <a:gdLst/>
              <a:ahLst/>
              <a:cxnLst/>
              <a:rect l="l" t="t" r="r" b="b"/>
              <a:pathLst>
                <a:path w="2512695" h="411480">
                  <a:moveTo>
                    <a:pt x="133350" y="0"/>
                  </a:moveTo>
                  <a:lnTo>
                    <a:pt x="2512695" y="0"/>
                  </a:lnTo>
                  <a:lnTo>
                    <a:pt x="2379345" y="411480"/>
                  </a:lnTo>
                  <a:lnTo>
                    <a:pt x="0" y="411480"/>
                  </a:lnTo>
                  <a:close/>
                </a:path>
              </a:pathLst>
            </a:custGeom>
            <a:solidFill>
              <a:srgbClr val="E7EDF3"/>
            </a:solidFill>
            <a:ln w="13335">
              <a:solidFill>
                <a:srgbClr val="334E68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108508" y="185642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事务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785420" y="2688907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库存清单程序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302877" y="2688907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库存清单主文件（磁盘）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623876" y="3522345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定货信息（磁带）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785420" y="435483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报告生成程序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946964" y="518731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定货报告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8502968" y="2566988"/>
              <a:ext cx="468630" cy="179070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8534438" y="2591276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读／写</a:t>
              </a:r>
            </a:p>
          </p:txBody>
        </p:sp>
      </p:grpSp>
      <p:grpSp>
        <p:nvGrpSpPr>
          <p:cNvPr id="56" name="takeaway"/>
          <p:cNvGrpSpPr/>
          <p:nvPr/>
        </p:nvGrpSpPr>
        <p:grpSpPr>
          <a:xfrm>
            <a:off x="533400" y="5858828"/>
            <a:ext cx="11125200" cy="503872"/>
            <a:chOff x="533400" y="5858828"/>
            <a:chExt cx="11125200" cy="503872"/>
          </a:xfrm>
        </p:grpSpPr>
        <p:sp>
          <p:nvSpPr>
            <p:cNvPr id="51" name="Rectangle 51"/>
            <p:cNvSpPr/>
            <p:nvPr/>
          </p:nvSpPr>
          <p:spPr>
            <a:xfrm>
              <a:off x="533400" y="5858828"/>
              <a:ext cx="11125200" cy="503872"/>
            </a:xfrm>
            <a:prstGeom prst="roundRect">
              <a:avLst>
                <a:gd name="adj" fmla="val 22684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54" name="Group 54"/>
            <p:cNvGrpSpPr/>
            <p:nvPr/>
          </p:nvGrpSpPr>
          <p:grpSpPr>
            <a:xfrm>
              <a:off x="738188" y="6011230"/>
              <a:ext cx="200023" cy="200023"/>
              <a:chOff x="738188" y="6011230"/>
              <a:chExt cx="200023" cy="200023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738188" y="601123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871538" y="607790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1040511" y="6011704"/>
              <a:ext cx="844465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图上看不出库存清单程序怎么判断临界值，这正是“黑盒子”的意思：部件内部留给后面的设计阶段。</a:t>
              </a:r>
            </a:p>
          </p:txBody>
        </p:sp>
      </p:grpSp>
      <p:grpSp>
        <p:nvGrpSpPr>
          <p:cNvPr id="5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7" name="TextBox 57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第2章 可行性研究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第2章 可行性研究 · 系统流程图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例二之一：人工售书的当前系统物理模型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4328160" cy="2133600"/>
            <a:chOff x="533400" y="1524000"/>
            <a:chExt cx="4328160" cy="213360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328160" cy="2133600"/>
            </a:xfrm>
            <a:prstGeom prst="roundRect">
              <a:avLst>
                <a:gd name="adj" fmla="val 625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86690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题目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36347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学生购买学校教材的手续是：先到系办公室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开一张购书证明，凭证明到教材科开购书发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票，向出纳交付书款，然后到书库领书。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4573" y="3014186"/>
              <a:ext cx="358927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原课件用了几位工作人员的姓氏，这里换成岗位名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称，不影响题意。</a:t>
              </a:r>
            </a:p>
          </p:txBody>
        </p:sp>
      </p:grpSp>
      <p:grpSp>
        <p:nvGrpSpPr>
          <p:cNvPr id="24" name="c1-card-2"/>
          <p:cNvGrpSpPr/>
          <p:nvPr/>
        </p:nvGrpSpPr>
        <p:grpSpPr>
          <a:xfrm>
            <a:off x="533400" y="3848100"/>
            <a:ext cx="4328160" cy="2272665"/>
            <a:chOff x="533400" y="3848100"/>
            <a:chExt cx="4328160" cy="2272665"/>
          </a:xfrm>
        </p:grpSpPr>
        <p:sp>
          <p:nvSpPr>
            <p:cNvPr id="14" name="Rectangle 14"/>
            <p:cNvSpPr/>
            <p:nvPr/>
          </p:nvSpPr>
          <p:spPr>
            <a:xfrm>
              <a:off x="533400" y="3848100"/>
              <a:ext cx="4328160" cy="2272665"/>
            </a:xfrm>
            <a:prstGeom prst="roundRect">
              <a:avLst>
                <a:gd name="adj" fmla="val 586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542925" y="3981450"/>
              <a:ext cx="47625" cy="200596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81050" y="40576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63359" y="40933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读图要点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86765" y="449770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44880" y="4434840"/>
              <a:ext cx="35013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每个方框都是一个 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人工岗位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，学生在四个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窗口之间跑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86765" y="511873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44880" y="5055870"/>
              <a:ext cx="34632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这张图描绘的是当前系统“怎么做”，属于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物理模型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786765" y="573976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44880" y="5676900"/>
              <a:ext cx="367017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分析员先画出它，再从中抽象出“做什么”</a:t>
              </a:r>
            </a:p>
          </p:txBody>
        </p:sp>
      </p:grpSp>
      <p:grpSp>
        <p:nvGrpSpPr>
          <p:cNvPr id="59" name="c2-flow-1"/>
          <p:cNvGrpSpPr/>
          <p:nvPr/>
        </p:nvGrpSpPr>
        <p:grpSpPr>
          <a:xfrm>
            <a:off x="5317808" y="2111692"/>
            <a:ext cx="6189345" cy="3663316"/>
            <a:chOff x="5317808" y="2111692"/>
            <a:chExt cx="6189345" cy="3663316"/>
          </a:xfrm>
        </p:grpSpPr>
        <p:sp>
          <p:nvSpPr>
            <p:cNvPr id="25" name="Freeform 25"/>
            <p:cNvSpPr/>
            <p:nvPr/>
          </p:nvSpPr>
          <p:spPr>
            <a:xfrm>
              <a:off x="7178992" y="2330768"/>
              <a:ext cx="198120" cy="9525"/>
            </a:xfrm>
            <a:custGeom>
              <a:avLst/>
              <a:gdLst/>
              <a:ahLst/>
              <a:cxnLst/>
              <a:rect l="l" t="t" r="r" b="b"/>
              <a:pathLst>
                <a:path w="198120" h="9525">
                  <a:moveTo>
                    <a:pt x="0" y="0"/>
                  </a:moveTo>
                  <a:lnTo>
                    <a:pt x="19812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7377112" y="227838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7" name="Freeform 27"/>
            <p:cNvSpPr/>
            <p:nvPr/>
          </p:nvSpPr>
          <p:spPr>
            <a:xfrm>
              <a:off x="9343072" y="2330768"/>
              <a:ext cx="198120" cy="9525"/>
            </a:xfrm>
            <a:custGeom>
              <a:avLst/>
              <a:gdLst/>
              <a:ahLst/>
              <a:cxnLst/>
              <a:rect l="l" t="t" r="r" b="b"/>
              <a:pathLst>
                <a:path w="198120" h="9525">
                  <a:moveTo>
                    <a:pt x="0" y="0"/>
                  </a:moveTo>
                  <a:lnTo>
                    <a:pt x="19812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9541192" y="227838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9" name="Freeform 29"/>
            <p:cNvSpPr/>
            <p:nvPr/>
          </p:nvSpPr>
          <p:spPr>
            <a:xfrm>
              <a:off x="10576560" y="2549842"/>
              <a:ext cx="9525" cy="1069658"/>
            </a:xfrm>
            <a:custGeom>
              <a:avLst/>
              <a:gdLst/>
              <a:ahLst/>
              <a:cxnLst/>
              <a:rect l="l" t="t" r="r" b="b"/>
              <a:pathLst>
                <a:path w="9525" h="1069658">
                  <a:moveTo>
                    <a:pt x="0" y="0"/>
                  </a:moveTo>
                  <a:lnTo>
                    <a:pt x="0" y="106965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10524172" y="361950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1" name="Freeform 31"/>
            <p:cNvSpPr/>
            <p:nvPr/>
          </p:nvSpPr>
          <p:spPr>
            <a:xfrm>
              <a:off x="9447848" y="3943350"/>
              <a:ext cx="198120" cy="9525"/>
            </a:xfrm>
            <a:custGeom>
              <a:avLst/>
              <a:gdLst/>
              <a:ahLst/>
              <a:cxnLst/>
              <a:rect l="l" t="t" r="r" b="b"/>
              <a:pathLst>
                <a:path w="198120" h="9525">
                  <a:moveTo>
                    <a:pt x="198120" y="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9343072" y="389096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0" y="52388"/>
                  </a:moveTo>
                  <a:lnTo>
                    <a:pt x="104775" y="0"/>
                  </a:lnTo>
                  <a:lnTo>
                    <a:pt x="104775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3" name="Freeform 33"/>
            <p:cNvSpPr/>
            <p:nvPr/>
          </p:nvSpPr>
          <p:spPr>
            <a:xfrm>
              <a:off x="7283768" y="3943350"/>
              <a:ext cx="198120" cy="9525"/>
            </a:xfrm>
            <a:custGeom>
              <a:avLst/>
              <a:gdLst/>
              <a:ahLst/>
              <a:cxnLst/>
              <a:rect l="l" t="t" r="r" b="b"/>
              <a:pathLst>
                <a:path w="198120" h="9525">
                  <a:moveTo>
                    <a:pt x="198120" y="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7178992" y="389096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0" y="52388"/>
                  </a:moveTo>
                  <a:lnTo>
                    <a:pt x="104775" y="0"/>
                  </a:lnTo>
                  <a:lnTo>
                    <a:pt x="104775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5" name="Freeform 35"/>
            <p:cNvSpPr/>
            <p:nvPr/>
          </p:nvSpPr>
          <p:spPr>
            <a:xfrm>
              <a:off x="6248400" y="4162425"/>
              <a:ext cx="9525" cy="1069657"/>
            </a:xfrm>
            <a:custGeom>
              <a:avLst/>
              <a:gdLst/>
              <a:ahLst/>
              <a:cxnLst/>
              <a:rect l="l" t="t" r="r" b="b"/>
              <a:pathLst>
                <a:path w="9525" h="1069657">
                  <a:moveTo>
                    <a:pt x="0" y="0"/>
                  </a:moveTo>
                  <a:lnTo>
                    <a:pt x="0" y="106965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6196012" y="523208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7" name="Freeform 37"/>
            <p:cNvSpPr/>
            <p:nvPr/>
          </p:nvSpPr>
          <p:spPr>
            <a:xfrm>
              <a:off x="7178992" y="5555932"/>
              <a:ext cx="198120" cy="9525"/>
            </a:xfrm>
            <a:custGeom>
              <a:avLst/>
              <a:gdLst/>
              <a:ahLst/>
              <a:cxnLst/>
              <a:rect l="l" t="t" r="r" b="b"/>
              <a:pathLst>
                <a:path w="198120" h="9525">
                  <a:moveTo>
                    <a:pt x="0" y="0"/>
                  </a:moveTo>
                  <a:lnTo>
                    <a:pt x="19812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7377112" y="550354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9" name="Freeform 39"/>
            <p:cNvSpPr/>
            <p:nvPr/>
          </p:nvSpPr>
          <p:spPr>
            <a:xfrm>
              <a:off x="9343072" y="5555932"/>
              <a:ext cx="198120" cy="9525"/>
            </a:xfrm>
            <a:custGeom>
              <a:avLst/>
              <a:gdLst/>
              <a:ahLst/>
              <a:cxnLst/>
              <a:rect l="l" t="t" r="r" b="b"/>
              <a:pathLst>
                <a:path w="198120" h="9525">
                  <a:moveTo>
                    <a:pt x="0" y="0"/>
                  </a:moveTo>
                  <a:lnTo>
                    <a:pt x="19812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9541192" y="550354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5317808" y="2111692"/>
              <a:ext cx="1861185" cy="438150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7481888" y="2111692"/>
              <a:ext cx="1861185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9645968" y="2111692"/>
              <a:ext cx="1861185" cy="438150"/>
            </a:xfrm>
            <a:custGeom>
              <a:avLst/>
              <a:gdLst/>
              <a:ahLst/>
              <a:cxnLst/>
              <a:rect l="l" t="t" r="r" b="b"/>
              <a:pathLst>
                <a:path w="1861185" h="438150">
                  <a:moveTo>
                    <a:pt x="133350" y="0"/>
                  </a:moveTo>
                  <a:lnTo>
                    <a:pt x="1861185" y="0"/>
                  </a:lnTo>
                  <a:lnTo>
                    <a:pt x="1727835" y="438150"/>
                  </a:lnTo>
                  <a:lnTo>
                    <a:pt x="0" y="438150"/>
                  </a:lnTo>
                  <a:close/>
                </a:path>
              </a:pathLst>
            </a:custGeom>
            <a:solidFill>
              <a:srgbClr val="E7EDF3"/>
            </a:solidFill>
            <a:ln w="13335">
              <a:solidFill>
                <a:srgbClr val="334E68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9645968" y="3724275"/>
              <a:ext cx="1861185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45" name="Freeform 45"/>
            <p:cNvSpPr/>
            <p:nvPr/>
          </p:nvSpPr>
          <p:spPr>
            <a:xfrm>
              <a:off x="7481888" y="3724275"/>
              <a:ext cx="1861185" cy="438150"/>
            </a:xfrm>
            <a:custGeom>
              <a:avLst/>
              <a:gdLst/>
              <a:ahLst/>
              <a:cxnLst/>
              <a:rect l="l" t="t" r="r" b="b"/>
              <a:pathLst>
                <a:path w="1861185" h="438150">
                  <a:moveTo>
                    <a:pt x="133350" y="0"/>
                  </a:moveTo>
                  <a:lnTo>
                    <a:pt x="1861185" y="0"/>
                  </a:lnTo>
                  <a:lnTo>
                    <a:pt x="1727835" y="438150"/>
                  </a:lnTo>
                  <a:lnTo>
                    <a:pt x="0" y="438150"/>
                  </a:lnTo>
                  <a:close/>
                </a:path>
              </a:pathLst>
            </a:custGeom>
            <a:solidFill>
              <a:srgbClr val="E7EDF3"/>
            </a:solidFill>
            <a:ln w="13335">
              <a:solidFill>
                <a:srgbClr val="334E68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5317808" y="3724275"/>
              <a:ext cx="1861185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47" name="Freeform 47"/>
            <p:cNvSpPr/>
            <p:nvPr/>
          </p:nvSpPr>
          <p:spPr>
            <a:xfrm>
              <a:off x="5317808" y="5336858"/>
              <a:ext cx="1861185" cy="438150"/>
            </a:xfrm>
            <a:custGeom>
              <a:avLst/>
              <a:gdLst/>
              <a:ahLst/>
              <a:cxnLst/>
              <a:rect l="l" t="t" r="r" b="b"/>
              <a:pathLst>
                <a:path w="1861185" h="438150">
                  <a:moveTo>
                    <a:pt x="133350" y="0"/>
                  </a:moveTo>
                  <a:lnTo>
                    <a:pt x="1861185" y="0"/>
                  </a:lnTo>
                  <a:lnTo>
                    <a:pt x="1727835" y="438150"/>
                  </a:lnTo>
                  <a:lnTo>
                    <a:pt x="0" y="438150"/>
                  </a:lnTo>
                  <a:close/>
                </a:path>
              </a:pathLst>
            </a:custGeom>
            <a:solidFill>
              <a:srgbClr val="E7EDF3"/>
            </a:solidFill>
            <a:ln w="13335">
              <a:solidFill>
                <a:srgbClr val="334E68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7481888" y="5336858"/>
              <a:ext cx="1861185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9645968" y="5336858"/>
              <a:ext cx="1861185" cy="438150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069609" y="224170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学生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975219" y="2241709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开购书证明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0225456" y="224170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购书证明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0139299" y="385429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开购书发票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233689" y="385429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发票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5983453" y="385429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收书费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5983453" y="546687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领书单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233689" y="546687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发书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0139299" y="546687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学生领到书</a:t>
              </a:r>
            </a:p>
          </p:txBody>
        </p:sp>
      </p:grpSp>
      <p:grpSp>
        <p:nvGrpSpPr>
          <p:cNvPr id="6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0" name="TextBox 60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第2章 可行性研究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第2章 可行性研究 · 系统流程图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例二之二：计算机售书系统流程图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51" name="c1-flow-1"/>
          <p:cNvGrpSpPr/>
          <p:nvPr/>
        </p:nvGrpSpPr>
        <p:grpSpPr>
          <a:xfrm>
            <a:off x="684848" y="1909762"/>
            <a:ext cx="6189345" cy="4067176"/>
            <a:chOff x="684848" y="1909762"/>
            <a:chExt cx="6189345" cy="4067176"/>
          </a:xfrm>
        </p:grpSpPr>
        <p:sp>
          <p:nvSpPr>
            <p:cNvPr id="7" name="Freeform 7"/>
            <p:cNvSpPr/>
            <p:nvPr/>
          </p:nvSpPr>
          <p:spPr>
            <a:xfrm>
              <a:off x="1615440" y="2347912"/>
              <a:ext cx="9525" cy="666750"/>
            </a:xfrm>
            <a:custGeom>
              <a:avLst/>
              <a:gdLst/>
              <a:ahLst/>
              <a:cxnLst/>
              <a:rect l="l" t="t" r="r" b="b"/>
              <a:pathLst>
                <a:path w="9525" h="666750">
                  <a:moveTo>
                    <a:pt x="0" y="0"/>
                  </a:moveTo>
                  <a:lnTo>
                    <a:pt x="0" y="66675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563052" y="301466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1615440" y="3557588"/>
              <a:ext cx="9525" cy="666750"/>
            </a:xfrm>
            <a:custGeom>
              <a:avLst/>
              <a:gdLst/>
              <a:ahLst/>
              <a:cxnLst/>
              <a:rect l="l" t="t" r="r" b="b"/>
              <a:pathLst>
                <a:path w="9525" h="666750">
                  <a:moveTo>
                    <a:pt x="0" y="0"/>
                  </a:moveTo>
                  <a:lnTo>
                    <a:pt x="0" y="66675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563052" y="422433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1615440" y="3557588"/>
              <a:ext cx="2164080" cy="666750"/>
            </a:xfrm>
            <a:custGeom>
              <a:avLst/>
              <a:gdLst/>
              <a:ahLst/>
              <a:cxnLst/>
              <a:rect l="l" t="t" r="r" b="b"/>
              <a:pathLst>
                <a:path w="2164080" h="666750">
                  <a:moveTo>
                    <a:pt x="2164080" y="0"/>
                  </a:moveTo>
                  <a:lnTo>
                    <a:pt x="2164080" y="385762"/>
                  </a:lnTo>
                  <a:lnTo>
                    <a:pt x="0" y="385762"/>
                  </a:lnTo>
                  <a:lnTo>
                    <a:pt x="0" y="66675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563052" y="422433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2650808" y="4548188"/>
              <a:ext cx="198120" cy="9525"/>
            </a:xfrm>
            <a:custGeom>
              <a:avLst/>
              <a:gdLst/>
              <a:ahLst/>
              <a:cxnLst/>
              <a:rect l="l" t="t" r="r" b="b"/>
              <a:pathLst>
                <a:path w="198120" h="9525">
                  <a:moveTo>
                    <a:pt x="198120" y="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2546032" y="449580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0" y="52388"/>
                  </a:moveTo>
                  <a:lnTo>
                    <a:pt x="104775" y="0"/>
                  </a:lnTo>
                  <a:lnTo>
                    <a:pt x="104775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1615440" y="4767262"/>
              <a:ext cx="9525" cy="666750"/>
            </a:xfrm>
            <a:custGeom>
              <a:avLst/>
              <a:gdLst/>
              <a:ahLst/>
              <a:cxnLst/>
              <a:rect l="l" t="t" r="r" b="b"/>
              <a:pathLst>
                <a:path w="9525" h="666750">
                  <a:moveTo>
                    <a:pt x="0" y="0"/>
                  </a:moveTo>
                  <a:lnTo>
                    <a:pt x="0" y="66675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1563052" y="543401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2546032" y="5757862"/>
              <a:ext cx="198120" cy="9525"/>
            </a:xfrm>
            <a:custGeom>
              <a:avLst/>
              <a:gdLst/>
              <a:ahLst/>
              <a:cxnLst/>
              <a:rect l="l" t="t" r="r" b="b"/>
              <a:pathLst>
                <a:path w="198120" h="9525">
                  <a:moveTo>
                    <a:pt x="0" y="0"/>
                  </a:moveTo>
                  <a:lnTo>
                    <a:pt x="19812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2744152" y="570547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4710112" y="5757862"/>
              <a:ext cx="198120" cy="9525"/>
            </a:xfrm>
            <a:custGeom>
              <a:avLst/>
              <a:gdLst/>
              <a:ahLst/>
              <a:cxnLst/>
              <a:rect l="l" t="t" r="r" b="b"/>
              <a:pathLst>
                <a:path w="198120" h="9525">
                  <a:moveTo>
                    <a:pt x="0" y="0"/>
                  </a:moveTo>
                  <a:lnTo>
                    <a:pt x="19812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4908232" y="570547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5943600" y="4872038"/>
              <a:ext cx="9525" cy="666750"/>
            </a:xfrm>
            <a:custGeom>
              <a:avLst/>
              <a:gdLst/>
              <a:ahLst/>
              <a:cxnLst/>
              <a:rect l="l" t="t" r="r" b="b"/>
              <a:pathLst>
                <a:path w="9525" h="666750">
                  <a:moveTo>
                    <a:pt x="0" y="66675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5891212" y="476726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0"/>
                  </a:moveTo>
                  <a:lnTo>
                    <a:pt x="104775" y="104775"/>
                  </a:lnTo>
                  <a:lnTo>
                    <a:pt x="0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5943600" y="3662362"/>
              <a:ext cx="9525" cy="666750"/>
            </a:xfrm>
            <a:custGeom>
              <a:avLst/>
              <a:gdLst/>
              <a:ahLst/>
              <a:cxnLst/>
              <a:rect l="l" t="t" r="r" b="b"/>
              <a:pathLst>
                <a:path w="9525" h="666750">
                  <a:moveTo>
                    <a:pt x="0" y="66675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5891212" y="355758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0"/>
                  </a:moveTo>
                  <a:lnTo>
                    <a:pt x="104775" y="104775"/>
                  </a:lnTo>
                  <a:lnTo>
                    <a:pt x="0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5" name="Freeform 25"/>
            <p:cNvSpPr/>
            <p:nvPr/>
          </p:nvSpPr>
          <p:spPr>
            <a:xfrm>
              <a:off x="5943600" y="2452688"/>
              <a:ext cx="9525" cy="666750"/>
            </a:xfrm>
            <a:custGeom>
              <a:avLst/>
              <a:gdLst/>
              <a:ahLst/>
              <a:cxnLst/>
              <a:rect l="l" t="t" r="r" b="b"/>
              <a:pathLst>
                <a:path w="9525" h="666750">
                  <a:moveTo>
                    <a:pt x="0" y="66675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5891212" y="234791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0"/>
                  </a:moveTo>
                  <a:lnTo>
                    <a:pt x="104775" y="104775"/>
                  </a:lnTo>
                  <a:lnTo>
                    <a:pt x="0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7" name="Freeform 27"/>
            <p:cNvSpPr/>
            <p:nvPr/>
          </p:nvSpPr>
          <p:spPr>
            <a:xfrm>
              <a:off x="2650808" y="2128838"/>
              <a:ext cx="2362200" cy="9525"/>
            </a:xfrm>
            <a:custGeom>
              <a:avLst/>
              <a:gdLst/>
              <a:ahLst/>
              <a:cxnLst/>
              <a:rect l="l" t="t" r="r" b="b"/>
              <a:pathLst>
                <a:path w="2362200" h="9525">
                  <a:moveTo>
                    <a:pt x="2362200" y="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2546032" y="207645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0" y="52388"/>
                  </a:moveTo>
                  <a:lnTo>
                    <a:pt x="104775" y="0"/>
                  </a:lnTo>
                  <a:lnTo>
                    <a:pt x="104775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684848" y="1909762"/>
              <a:ext cx="1861185" cy="438150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0" name="Freeform 30"/>
            <p:cNvSpPr/>
            <p:nvPr/>
          </p:nvSpPr>
          <p:spPr>
            <a:xfrm>
              <a:off x="684848" y="3119438"/>
              <a:ext cx="1861185" cy="438150"/>
            </a:xfrm>
            <a:custGeom>
              <a:avLst/>
              <a:gdLst/>
              <a:ahLst/>
              <a:cxnLst/>
              <a:rect l="l" t="t" r="r" b="b"/>
              <a:pathLst>
                <a:path w="1861185" h="438150">
                  <a:moveTo>
                    <a:pt x="133350" y="0"/>
                  </a:moveTo>
                  <a:lnTo>
                    <a:pt x="1861185" y="0"/>
                  </a:lnTo>
                  <a:lnTo>
                    <a:pt x="1727835" y="438150"/>
                  </a:lnTo>
                  <a:lnTo>
                    <a:pt x="0" y="438150"/>
                  </a:lnTo>
                  <a:close/>
                </a:path>
              </a:pathLst>
            </a:custGeom>
            <a:solidFill>
              <a:srgbClr val="E7EDF3"/>
            </a:solidFill>
            <a:ln w="13335">
              <a:solidFill>
                <a:srgbClr val="334E68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684848" y="4329112"/>
              <a:ext cx="1861185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684848" y="5538788"/>
              <a:ext cx="1861185" cy="438150"/>
            </a:xfrm>
            <a:custGeom>
              <a:avLst/>
              <a:gdLst/>
              <a:ahLst/>
              <a:cxnLst/>
              <a:rect l="l" t="t" r="r" b="b"/>
              <a:pathLst>
                <a:path w="1861185" h="438150">
                  <a:moveTo>
                    <a:pt x="133350" y="0"/>
                  </a:moveTo>
                  <a:lnTo>
                    <a:pt x="1861185" y="0"/>
                  </a:lnTo>
                  <a:lnTo>
                    <a:pt x="1727835" y="438150"/>
                  </a:lnTo>
                  <a:lnTo>
                    <a:pt x="0" y="438150"/>
                  </a:lnTo>
                  <a:close/>
                </a:path>
              </a:pathLst>
            </a:custGeom>
            <a:solidFill>
              <a:srgbClr val="E7EDF3"/>
            </a:solidFill>
            <a:ln w="13335">
              <a:solidFill>
                <a:srgbClr val="334E68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2848928" y="3119438"/>
              <a:ext cx="1861185" cy="438150"/>
            </a:xfrm>
            <a:prstGeom prst="roundRect">
              <a:avLst>
                <a:gd name="adj" fmla="val 17391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2848928" y="4329112"/>
              <a:ext cx="1861185" cy="438150"/>
            </a:xfrm>
            <a:prstGeom prst="roundRect">
              <a:avLst>
                <a:gd name="adj" fmla="val 17391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2848928" y="5538788"/>
              <a:ext cx="1861185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5013008" y="1909762"/>
              <a:ext cx="1861185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5013008" y="3119438"/>
              <a:ext cx="1861185" cy="438150"/>
            </a:xfrm>
            <a:custGeom>
              <a:avLst/>
              <a:gdLst/>
              <a:ahLst/>
              <a:cxnLst/>
              <a:rect l="l" t="t" r="r" b="b"/>
              <a:pathLst>
                <a:path w="1861185" h="438150">
                  <a:moveTo>
                    <a:pt x="133350" y="0"/>
                  </a:moveTo>
                  <a:lnTo>
                    <a:pt x="1861185" y="0"/>
                  </a:lnTo>
                  <a:lnTo>
                    <a:pt x="1727835" y="438150"/>
                  </a:lnTo>
                  <a:lnTo>
                    <a:pt x="0" y="438150"/>
                  </a:lnTo>
                  <a:close/>
                </a:path>
              </a:pathLst>
            </a:custGeom>
            <a:solidFill>
              <a:srgbClr val="E7EDF3"/>
            </a:solidFill>
            <a:ln w="13335">
              <a:solidFill>
                <a:srgbClr val="334E68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5013008" y="4329112"/>
              <a:ext cx="1861185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5013008" y="5538788"/>
              <a:ext cx="1861185" cy="438150"/>
            </a:xfrm>
            <a:custGeom>
              <a:avLst/>
              <a:gdLst/>
              <a:ahLst/>
              <a:cxnLst/>
              <a:rect l="l" t="t" r="r" b="b"/>
              <a:pathLst>
                <a:path w="1861185" h="438150">
                  <a:moveTo>
                    <a:pt x="133350" y="0"/>
                  </a:moveTo>
                  <a:lnTo>
                    <a:pt x="1861185" y="0"/>
                  </a:lnTo>
                  <a:lnTo>
                    <a:pt x="1727835" y="438150"/>
                  </a:lnTo>
                  <a:lnTo>
                    <a:pt x="0" y="438150"/>
                  </a:lnTo>
                  <a:close/>
                </a:path>
              </a:pathLst>
            </a:custGeom>
            <a:solidFill>
              <a:srgbClr val="E7EDF3"/>
            </a:solidFill>
            <a:ln w="13335">
              <a:solidFill>
                <a:srgbClr val="334E68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1436649" y="203977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学生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350493" y="324945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购书单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92022" y="4459129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审查并开发票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436649" y="566880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发票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3169945" y="3249454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各班学生用书表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3342259" y="4459129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教材存量表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3514573" y="566880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收书费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764809" y="203977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发书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5678653" y="324945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领书单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5592496" y="445912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开领书单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5592496" y="566880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发票收讫</a:t>
              </a:r>
            </a:p>
          </p:txBody>
        </p:sp>
      </p:grpSp>
      <p:grpSp>
        <p:nvGrpSpPr>
          <p:cNvPr id="62" name="c2-card-1"/>
          <p:cNvGrpSpPr/>
          <p:nvPr/>
        </p:nvGrpSpPr>
        <p:grpSpPr>
          <a:xfrm>
            <a:off x="7330440" y="1524000"/>
            <a:ext cx="4328160" cy="2558415"/>
            <a:chOff x="7330440" y="1524000"/>
            <a:chExt cx="4328160" cy="2558415"/>
          </a:xfrm>
        </p:grpSpPr>
        <p:sp>
          <p:nvSpPr>
            <p:cNvPr id="52" name="Rectangle 52"/>
            <p:cNvSpPr/>
            <p:nvPr/>
          </p:nvSpPr>
          <p:spPr>
            <a:xfrm>
              <a:off x="7330440" y="1524000"/>
              <a:ext cx="4328160" cy="2558415"/>
            </a:xfrm>
            <a:prstGeom prst="roundRect">
              <a:avLst>
                <a:gd name="adj" fmla="val 521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7339965" y="1657350"/>
              <a:ext cx="47625" cy="229171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7578090" y="1733550"/>
              <a:ext cx="134778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642695" y="1769269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与人工系统的差别</a:t>
              </a:r>
            </a:p>
          </p:txBody>
        </p:sp>
        <p:sp>
          <p:nvSpPr>
            <p:cNvPr id="56" name="Ellipse 56"/>
            <p:cNvSpPr/>
            <p:nvPr/>
          </p:nvSpPr>
          <p:spPr>
            <a:xfrm>
              <a:off x="7583805" y="217360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7741920" y="2110740"/>
              <a:ext cx="3444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开购书证明这一步没有了，学生只交一张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购书单</a:t>
              </a:r>
            </a:p>
          </p:txBody>
        </p:sp>
        <p:sp>
          <p:nvSpPr>
            <p:cNvPr id="58" name="Ellipse 58"/>
            <p:cNvSpPr/>
            <p:nvPr/>
          </p:nvSpPr>
          <p:spPr>
            <a:xfrm>
              <a:off x="7583805" y="279463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7741920" y="2731770"/>
              <a:ext cx="34251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审查资格改由 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各班学生用书表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和 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教材存</a:t>
              </a:r>
              <a:br/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量表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两个文件支持</a:t>
              </a:r>
            </a:p>
          </p:txBody>
        </p:sp>
        <p:sp>
          <p:nvSpPr>
            <p:cNvPr id="60" name="Ellipse 60"/>
            <p:cNvSpPr/>
            <p:nvPr/>
          </p:nvSpPr>
          <p:spPr>
            <a:xfrm>
              <a:off x="7583805" y="341566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7741920" y="3352800"/>
              <a:ext cx="3444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审查并开发票、开领书单由程序完成，收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书费和发书仍是人工操作</a:t>
              </a:r>
            </a:p>
          </p:txBody>
        </p:sp>
      </p:grpSp>
      <p:grpSp>
        <p:nvGrpSpPr>
          <p:cNvPr id="69" name="c2-callout-2"/>
          <p:cNvGrpSpPr/>
          <p:nvPr/>
        </p:nvGrpSpPr>
        <p:grpSpPr>
          <a:xfrm>
            <a:off x="7330440" y="4272915"/>
            <a:ext cx="4328160" cy="1059180"/>
            <a:chOff x="7330440" y="4272915"/>
            <a:chExt cx="4328160" cy="1059180"/>
          </a:xfrm>
        </p:grpSpPr>
        <p:sp>
          <p:nvSpPr>
            <p:cNvPr id="63" name="Rectangle 63"/>
            <p:cNvSpPr/>
            <p:nvPr/>
          </p:nvSpPr>
          <p:spPr>
            <a:xfrm>
              <a:off x="7330440" y="4272915"/>
              <a:ext cx="4328160" cy="1059180"/>
            </a:xfrm>
            <a:prstGeom prst="roundRect">
              <a:avLst>
                <a:gd name="adj" fmla="val 10791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7" name="Group 67"/>
            <p:cNvGrpSpPr/>
            <p:nvPr/>
          </p:nvGrpSpPr>
          <p:grpSpPr>
            <a:xfrm>
              <a:off x="7535228" y="4702493"/>
              <a:ext cx="200026" cy="200025"/>
              <a:chOff x="7535228" y="4702493"/>
              <a:chExt cx="200026" cy="200025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7535228" y="470249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7574966" y="474694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7609682" y="485806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8" name="TextBox 68"/>
            <p:cNvSpPr txBox="1"/>
            <p:nvPr/>
          </p:nvSpPr>
          <p:spPr>
            <a:xfrm>
              <a:off x="7837170" y="4421505"/>
              <a:ext cx="344424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改造现有系统时，先看哪些人工查账动作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可以换成读文件，这是最容易产生效益的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地方。</a:t>
              </a:r>
            </a:p>
          </p:txBody>
        </p:sp>
      </p:grpSp>
      <p:grpSp>
        <p:nvGrpSpPr>
          <p:cNvPr id="7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0" name="TextBox 70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第2章 可行性研究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第2章 可行性研究 · 系统流程图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例二之三：把缺书处理也纳入的教材销购系统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77" name="c1-flow-1"/>
          <p:cNvGrpSpPr/>
          <p:nvPr/>
        </p:nvGrpSpPr>
        <p:grpSpPr>
          <a:xfrm>
            <a:off x="666750" y="1909762"/>
            <a:ext cx="7091362" cy="4067176"/>
            <a:chOff x="666750" y="1909762"/>
            <a:chExt cx="7091362" cy="4067176"/>
          </a:xfrm>
        </p:grpSpPr>
        <p:sp>
          <p:nvSpPr>
            <p:cNvPr id="7" name="Freeform 7"/>
            <p:cNvSpPr/>
            <p:nvPr/>
          </p:nvSpPr>
          <p:spPr>
            <a:xfrm>
              <a:off x="4211955" y="2347912"/>
              <a:ext cx="9525" cy="666750"/>
            </a:xfrm>
            <a:custGeom>
              <a:avLst/>
              <a:gdLst/>
              <a:ahLst/>
              <a:cxnLst/>
              <a:rect l="l" t="t" r="r" b="b"/>
              <a:pathLst>
                <a:path w="9525" h="666750">
                  <a:moveTo>
                    <a:pt x="0" y="0"/>
                  </a:moveTo>
                  <a:lnTo>
                    <a:pt x="0" y="66675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4159568" y="301466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4211955" y="3557588"/>
              <a:ext cx="9525" cy="571500"/>
            </a:xfrm>
            <a:custGeom>
              <a:avLst/>
              <a:gdLst/>
              <a:ahLst/>
              <a:cxnLst/>
              <a:rect l="l" t="t" r="r" b="b"/>
              <a:pathLst>
                <a:path w="9525" h="571500">
                  <a:moveTo>
                    <a:pt x="0" y="0"/>
                  </a:moveTo>
                  <a:lnTo>
                    <a:pt x="0" y="57150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4159568" y="412908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4211955" y="3652838"/>
              <a:ext cx="1471613" cy="476250"/>
            </a:xfrm>
            <a:custGeom>
              <a:avLst/>
              <a:gdLst/>
              <a:ahLst/>
              <a:cxnLst/>
              <a:rect l="l" t="t" r="r" b="b"/>
              <a:pathLst>
                <a:path w="1471613" h="476250">
                  <a:moveTo>
                    <a:pt x="1471613" y="0"/>
                  </a:moveTo>
                  <a:lnTo>
                    <a:pt x="1471613" y="290512"/>
                  </a:lnTo>
                  <a:lnTo>
                    <a:pt x="0" y="290512"/>
                  </a:lnTo>
                  <a:lnTo>
                    <a:pt x="0" y="47625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4159568" y="412908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4919662" y="4548188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161925" y="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4814888" y="449580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0" y="52388"/>
                  </a:moveTo>
                  <a:lnTo>
                    <a:pt x="104775" y="0"/>
                  </a:lnTo>
                  <a:lnTo>
                    <a:pt x="104775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4211955" y="4862512"/>
              <a:ext cx="9525" cy="571500"/>
            </a:xfrm>
            <a:custGeom>
              <a:avLst/>
              <a:gdLst/>
              <a:ahLst/>
              <a:cxnLst/>
              <a:rect l="l" t="t" r="r" b="b"/>
              <a:pathLst>
                <a:path w="9525" h="571500">
                  <a:moveTo>
                    <a:pt x="0" y="0"/>
                  </a:moveTo>
                  <a:lnTo>
                    <a:pt x="0" y="57150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4159568" y="543401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4814888" y="5757862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4976812" y="570547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6286500" y="5757862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6448425" y="570547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7155180" y="4872038"/>
              <a:ext cx="9525" cy="666750"/>
            </a:xfrm>
            <a:custGeom>
              <a:avLst/>
              <a:gdLst/>
              <a:ahLst/>
              <a:cxnLst/>
              <a:rect l="l" t="t" r="r" b="b"/>
              <a:pathLst>
                <a:path w="9525" h="666750">
                  <a:moveTo>
                    <a:pt x="0" y="66675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7102792" y="476726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0"/>
                  </a:moveTo>
                  <a:lnTo>
                    <a:pt x="104775" y="104775"/>
                  </a:lnTo>
                  <a:lnTo>
                    <a:pt x="0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7155180" y="3662362"/>
              <a:ext cx="9525" cy="666750"/>
            </a:xfrm>
            <a:custGeom>
              <a:avLst/>
              <a:gdLst/>
              <a:ahLst/>
              <a:cxnLst/>
              <a:rect l="l" t="t" r="r" b="b"/>
              <a:pathLst>
                <a:path w="9525" h="666750">
                  <a:moveTo>
                    <a:pt x="0" y="66675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7102792" y="355758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0"/>
                  </a:moveTo>
                  <a:lnTo>
                    <a:pt x="104775" y="104775"/>
                  </a:lnTo>
                  <a:lnTo>
                    <a:pt x="0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5" name="Freeform 25"/>
            <p:cNvSpPr/>
            <p:nvPr/>
          </p:nvSpPr>
          <p:spPr>
            <a:xfrm>
              <a:off x="7155180" y="2452688"/>
              <a:ext cx="9525" cy="666750"/>
            </a:xfrm>
            <a:custGeom>
              <a:avLst/>
              <a:gdLst/>
              <a:ahLst/>
              <a:cxnLst/>
              <a:rect l="l" t="t" r="r" b="b"/>
              <a:pathLst>
                <a:path w="9525" h="666750">
                  <a:moveTo>
                    <a:pt x="0" y="66675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7102792" y="234791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0"/>
                  </a:moveTo>
                  <a:lnTo>
                    <a:pt x="104775" y="104775"/>
                  </a:lnTo>
                  <a:lnTo>
                    <a:pt x="0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7" name="Freeform 27"/>
            <p:cNvSpPr/>
            <p:nvPr/>
          </p:nvSpPr>
          <p:spPr>
            <a:xfrm>
              <a:off x="4919662" y="2128838"/>
              <a:ext cx="1633538" cy="9525"/>
            </a:xfrm>
            <a:custGeom>
              <a:avLst/>
              <a:gdLst/>
              <a:ahLst/>
              <a:cxnLst/>
              <a:rect l="l" t="t" r="r" b="b"/>
              <a:pathLst>
                <a:path w="1633538" h="9525">
                  <a:moveTo>
                    <a:pt x="1633538" y="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4814888" y="207645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0" y="52388"/>
                  </a:moveTo>
                  <a:lnTo>
                    <a:pt x="104775" y="0"/>
                  </a:lnTo>
                  <a:lnTo>
                    <a:pt x="104775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9" name="Freeform 29"/>
            <p:cNvSpPr/>
            <p:nvPr/>
          </p:nvSpPr>
          <p:spPr>
            <a:xfrm>
              <a:off x="3448050" y="4548188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161925" y="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3343275" y="449580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0" y="52388"/>
                  </a:moveTo>
                  <a:lnTo>
                    <a:pt x="104775" y="0"/>
                  </a:lnTo>
                  <a:lnTo>
                    <a:pt x="104775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1" name="Freeform 31"/>
            <p:cNvSpPr/>
            <p:nvPr/>
          </p:nvSpPr>
          <p:spPr>
            <a:xfrm>
              <a:off x="2740342" y="4767262"/>
              <a:ext cx="9525" cy="666750"/>
            </a:xfrm>
            <a:custGeom>
              <a:avLst/>
              <a:gdLst/>
              <a:ahLst/>
              <a:cxnLst/>
              <a:rect l="l" t="t" r="r" b="b"/>
              <a:pathLst>
                <a:path w="9525" h="666750">
                  <a:moveTo>
                    <a:pt x="0" y="0"/>
                  </a:moveTo>
                  <a:lnTo>
                    <a:pt x="0" y="66675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2687955" y="543401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3" name="Freeform 33"/>
            <p:cNvSpPr/>
            <p:nvPr/>
          </p:nvSpPr>
          <p:spPr>
            <a:xfrm>
              <a:off x="1976438" y="5757862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161925" y="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1871662" y="570547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0" y="52388"/>
                  </a:moveTo>
                  <a:lnTo>
                    <a:pt x="104775" y="0"/>
                  </a:lnTo>
                  <a:lnTo>
                    <a:pt x="104775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5" name="Freeform 35"/>
            <p:cNvSpPr/>
            <p:nvPr/>
          </p:nvSpPr>
          <p:spPr>
            <a:xfrm>
              <a:off x="1268730" y="4872038"/>
              <a:ext cx="9525" cy="666750"/>
            </a:xfrm>
            <a:custGeom>
              <a:avLst/>
              <a:gdLst/>
              <a:ahLst/>
              <a:cxnLst/>
              <a:rect l="l" t="t" r="r" b="b"/>
              <a:pathLst>
                <a:path w="9525" h="666750">
                  <a:moveTo>
                    <a:pt x="0" y="66675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1216342" y="476726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7" y="0"/>
                  </a:moveTo>
                  <a:lnTo>
                    <a:pt x="104775" y="104775"/>
                  </a:lnTo>
                  <a:lnTo>
                    <a:pt x="0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7" name="Freeform 37"/>
            <p:cNvSpPr/>
            <p:nvPr/>
          </p:nvSpPr>
          <p:spPr>
            <a:xfrm>
              <a:off x="1268730" y="3662362"/>
              <a:ext cx="9525" cy="666750"/>
            </a:xfrm>
            <a:custGeom>
              <a:avLst/>
              <a:gdLst/>
              <a:ahLst/>
              <a:cxnLst/>
              <a:rect l="l" t="t" r="r" b="b"/>
              <a:pathLst>
                <a:path w="9525" h="666750">
                  <a:moveTo>
                    <a:pt x="0" y="66675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1216342" y="355758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7" y="0"/>
                  </a:moveTo>
                  <a:lnTo>
                    <a:pt x="104775" y="104775"/>
                  </a:lnTo>
                  <a:lnTo>
                    <a:pt x="0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9" name="Freeform 39"/>
            <p:cNvSpPr/>
            <p:nvPr/>
          </p:nvSpPr>
          <p:spPr>
            <a:xfrm>
              <a:off x="1268730" y="2452688"/>
              <a:ext cx="9525" cy="666750"/>
            </a:xfrm>
            <a:custGeom>
              <a:avLst/>
              <a:gdLst/>
              <a:ahLst/>
              <a:cxnLst/>
              <a:rect l="l" t="t" r="r" b="b"/>
              <a:pathLst>
                <a:path w="9525" h="666750">
                  <a:moveTo>
                    <a:pt x="0" y="66675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1216342" y="234791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7" y="0"/>
                  </a:moveTo>
                  <a:lnTo>
                    <a:pt x="104775" y="104775"/>
                  </a:lnTo>
                  <a:lnTo>
                    <a:pt x="0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1" name="Freeform 41"/>
            <p:cNvSpPr/>
            <p:nvPr/>
          </p:nvSpPr>
          <p:spPr>
            <a:xfrm>
              <a:off x="1871662" y="2128838"/>
              <a:ext cx="1633538" cy="9525"/>
            </a:xfrm>
            <a:custGeom>
              <a:avLst/>
              <a:gdLst/>
              <a:ahLst/>
              <a:cxnLst/>
              <a:rect l="l" t="t" r="r" b="b"/>
              <a:pathLst>
                <a:path w="1633538" h="9525">
                  <a:moveTo>
                    <a:pt x="0" y="0"/>
                  </a:moveTo>
                  <a:lnTo>
                    <a:pt x="1633538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3505200" y="207645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3" name="Freeform 43"/>
            <p:cNvSpPr/>
            <p:nvPr/>
          </p:nvSpPr>
          <p:spPr>
            <a:xfrm>
              <a:off x="666750" y="1909762"/>
              <a:ext cx="1204912" cy="438150"/>
            </a:xfrm>
            <a:custGeom>
              <a:avLst/>
              <a:gdLst/>
              <a:ahLst/>
              <a:cxnLst/>
              <a:rect l="l" t="t" r="r" b="b"/>
              <a:pathLst>
                <a:path w="1204912" h="438150">
                  <a:moveTo>
                    <a:pt x="133350" y="0"/>
                  </a:moveTo>
                  <a:lnTo>
                    <a:pt x="1204912" y="0"/>
                  </a:lnTo>
                  <a:lnTo>
                    <a:pt x="1071562" y="438150"/>
                  </a:lnTo>
                  <a:lnTo>
                    <a:pt x="0" y="438150"/>
                  </a:lnTo>
                  <a:close/>
                </a:path>
              </a:pathLst>
            </a:custGeom>
            <a:solidFill>
              <a:srgbClr val="E7EDF3"/>
            </a:solidFill>
            <a:ln w="13335">
              <a:solidFill>
                <a:srgbClr val="334E68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666750" y="3119438"/>
              <a:ext cx="1204912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666750" y="4329112"/>
              <a:ext cx="1204912" cy="438150"/>
            </a:xfrm>
            <a:prstGeom prst="roundRect">
              <a:avLst>
                <a:gd name="adj" fmla="val 21739"/>
              </a:avLst>
            </a:prstGeom>
            <a:solidFill>
              <a:srgbClr val="F4F6FB"/>
            </a:solidFill>
            <a:ln w="13335">
              <a:solidFill>
                <a:srgbClr val="D9DFEA"/>
              </a:solidFill>
            </a:ln>
          </p:spPr>
        </p:sp>
        <p:sp>
          <p:nvSpPr>
            <p:cNvPr id="46" name="Freeform 46"/>
            <p:cNvSpPr/>
            <p:nvPr/>
          </p:nvSpPr>
          <p:spPr>
            <a:xfrm>
              <a:off x="666750" y="5538788"/>
              <a:ext cx="1204912" cy="438150"/>
            </a:xfrm>
            <a:custGeom>
              <a:avLst/>
              <a:gdLst/>
              <a:ahLst/>
              <a:cxnLst/>
              <a:rect l="l" t="t" r="r" b="b"/>
              <a:pathLst>
                <a:path w="1204912" h="438150">
                  <a:moveTo>
                    <a:pt x="133350" y="0"/>
                  </a:moveTo>
                  <a:lnTo>
                    <a:pt x="1204912" y="0"/>
                  </a:lnTo>
                  <a:lnTo>
                    <a:pt x="1071562" y="438150"/>
                  </a:lnTo>
                  <a:lnTo>
                    <a:pt x="0" y="438150"/>
                  </a:lnTo>
                  <a:close/>
                </a:path>
              </a:pathLst>
            </a:custGeom>
            <a:solidFill>
              <a:srgbClr val="E7EDF3"/>
            </a:solidFill>
            <a:ln w="13335">
              <a:solidFill>
                <a:srgbClr val="334E68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2138362" y="4329112"/>
              <a:ext cx="1204912" cy="438150"/>
            </a:xfrm>
            <a:prstGeom prst="roundRect">
              <a:avLst>
                <a:gd name="adj" fmla="val 17391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2138362" y="5538788"/>
              <a:ext cx="1204912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3609975" y="1909762"/>
              <a:ext cx="1204912" cy="438150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0" name="Freeform 50"/>
            <p:cNvSpPr/>
            <p:nvPr/>
          </p:nvSpPr>
          <p:spPr>
            <a:xfrm>
              <a:off x="3609975" y="3119438"/>
              <a:ext cx="1204912" cy="438150"/>
            </a:xfrm>
            <a:custGeom>
              <a:avLst/>
              <a:gdLst/>
              <a:ahLst/>
              <a:cxnLst/>
              <a:rect l="l" t="t" r="r" b="b"/>
              <a:pathLst>
                <a:path w="1204912" h="438150">
                  <a:moveTo>
                    <a:pt x="133350" y="0"/>
                  </a:moveTo>
                  <a:lnTo>
                    <a:pt x="1204912" y="0"/>
                  </a:lnTo>
                  <a:lnTo>
                    <a:pt x="1071562" y="438150"/>
                  </a:lnTo>
                  <a:lnTo>
                    <a:pt x="0" y="438150"/>
                  </a:lnTo>
                  <a:close/>
                </a:path>
              </a:pathLst>
            </a:custGeom>
            <a:solidFill>
              <a:srgbClr val="E7EDF3"/>
            </a:solidFill>
            <a:ln w="13335">
              <a:solidFill>
                <a:srgbClr val="334E68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3609975" y="4233862"/>
              <a:ext cx="1204912" cy="629602"/>
            </a:xfrm>
            <a:prstGeom prst="roundRect">
              <a:avLst>
                <a:gd name="adj" fmla="val 15129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52" name="Freeform 52"/>
            <p:cNvSpPr/>
            <p:nvPr/>
          </p:nvSpPr>
          <p:spPr>
            <a:xfrm>
              <a:off x="3609975" y="5538788"/>
              <a:ext cx="1204912" cy="438150"/>
            </a:xfrm>
            <a:custGeom>
              <a:avLst/>
              <a:gdLst/>
              <a:ahLst/>
              <a:cxnLst/>
              <a:rect l="l" t="t" r="r" b="b"/>
              <a:pathLst>
                <a:path w="1204912" h="438150">
                  <a:moveTo>
                    <a:pt x="133350" y="0"/>
                  </a:moveTo>
                  <a:lnTo>
                    <a:pt x="1204912" y="0"/>
                  </a:lnTo>
                  <a:lnTo>
                    <a:pt x="1071562" y="438150"/>
                  </a:lnTo>
                  <a:lnTo>
                    <a:pt x="0" y="438150"/>
                  </a:lnTo>
                  <a:close/>
                </a:path>
              </a:pathLst>
            </a:custGeom>
            <a:solidFill>
              <a:srgbClr val="E7EDF3"/>
            </a:solidFill>
            <a:ln w="13335">
              <a:solidFill>
                <a:srgbClr val="334E68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5081588" y="3024188"/>
              <a:ext cx="1204912" cy="629602"/>
            </a:xfrm>
            <a:prstGeom prst="roundRect">
              <a:avLst>
                <a:gd name="adj" fmla="val 12103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5081588" y="4329112"/>
              <a:ext cx="1204912" cy="438150"/>
            </a:xfrm>
            <a:prstGeom prst="roundRect">
              <a:avLst>
                <a:gd name="adj" fmla="val 17391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5081588" y="5538788"/>
              <a:ext cx="1204912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6553200" y="1909762"/>
              <a:ext cx="1204912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57" name="Freeform 57"/>
            <p:cNvSpPr/>
            <p:nvPr/>
          </p:nvSpPr>
          <p:spPr>
            <a:xfrm>
              <a:off x="6553200" y="3119438"/>
              <a:ext cx="1204912" cy="438150"/>
            </a:xfrm>
            <a:custGeom>
              <a:avLst/>
              <a:gdLst/>
              <a:ahLst/>
              <a:cxnLst/>
              <a:rect l="l" t="t" r="r" b="b"/>
              <a:pathLst>
                <a:path w="1204912" h="438150">
                  <a:moveTo>
                    <a:pt x="133350" y="0"/>
                  </a:moveTo>
                  <a:lnTo>
                    <a:pt x="1204912" y="0"/>
                  </a:lnTo>
                  <a:lnTo>
                    <a:pt x="1071562" y="438150"/>
                  </a:lnTo>
                  <a:lnTo>
                    <a:pt x="0" y="438150"/>
                  </a:lnTo>
                  <a:close/>
                </a:path>
              </a:pathLst>
            </a:custGeom>
            <a:solidFill>
              <a:srgbClr val="E7EDF3"/>
            </a:solidFill>
            <a:ln w="13335">
              <a:solidFill>
                <a:srgbClr val="334E68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6553200" y="4329112"/>
              <a:ext cx="1204912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59" name="Freeform 59"/>
            <p:cNvSpPr/>
            <p:nvPr/>
          </p:nvSpPr>
          <p:spPr>
            <a:xfrm>
              <a:off x="6553200" y="5538788"/>
              <a:ext cx="1204912" cy="438150"/>
            </a:xfrm>
            <a:custGeom>
              <a:avLst/>
              <a:gdLst/>
              <a:ahLst/>
              <a:cxnLst/>
              <a:rect l="l" t="t" r="r" b="b"/>
              <a:pathLst>
                <a:path w="1204912" h="438150">
                  <a:moveTo>
                    <a:pt x="133350" y="0"/>
                  </a:moveTo>
                  <a:lnTo>
                    <a:pt x="1204912" y="0"/>
                  </a:lnTo>
                  <a:lnTo>
                    <a:pt x="1071562" y="438150"/>
                  </a:lnTo>
                  <a:lnTo>
                    <a:pt x="0" y="438150"/>
                  </a:lnTo>
                  <a:close/>
                </a:path>
              </a:pathLst>
            </a:custGeom>
            <a:solidFill>
              <a:srgbClr val="E7EDF3"/>
            </a:solidFill>
            <a:ln w="13335">
              <a:solidFill>
                <a:srgbClr val="334E68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917626" y="203977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补购通知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917626" y="324945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采购缺书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089939" y="445912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书库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003783" y="566880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缺书单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2389238" y="445912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缺书登记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2389238" y="566880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缺书统计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4033164" y="203977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学生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3947008" y="324945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购书单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3799078" y="4349591"/>
              <a:ext cx="82575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审查并开发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票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4033164" y="566880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发票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5270691" y="3139916"/>
              <a:ext cx="82575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各班学生用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书表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5246307" y="4459129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教材存量表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5418620" y="566880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收书费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6976389" y="203977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发书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6890233" y="324945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领书单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6804076" y="445912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开领书单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6804076" y="566880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发票收讫</a:t>
              </a:r>
            </a:p>
          </p:txBody>
        </p:sp>
      </p:grpSp>
      <p:grpSp>
        <p:nvGrpSpPr>
          <p:cNvPr id="87" name="c2-card-1"/>
          <p:cNvGrpSpPr/>
          <p:nvPr/>
        </p:nvGrpSpPr>
        <p:grpSpPr>
          <a:xfrm>
            <a:off x="8196262" y="1524000"/>
            <a:ext cx="3462338" cy="3415665"/>
            <a:chOff x="8196262" y="1524000"/>
            <a:chExt cx="3462338" cy="3415665"/>
          </a:xfrm>
        </p:grpSpPr>
        <p:sp>
          <p:nvSpPr>
            <p:cNvPr id="78" name="Rectangle 78"/>
            <p:cNvSpPr/>
            <p:nvPr/>
          </p:nvSpPr>
          <p:spPr>
            <a:xfrm>
              <a:off x="8196262" y="1524000"/>
              <a:ext cx="3462338" cy="3415665"/>
            </a:xfrm>
            <a:prstGeom prst="roundRect">
              <a:avLst>
                <a:gd name="adj" fmla="val 3904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79" name="Rectangle 79"/>
            <p:cNvSpPr/>
            <p:nvPr/>
          </p:nvSpPr>
          <p:spPr>
            <a:xfrm>
              <a:off x="8405812" y="1733550"/>
              <a:ext cx="1347788" cy="257175"/>
            </a:xfrm>
            <a:prstGeom prst="roundRect">
              <a:avLst>
                <a:gd name="adj" fmla="val 50000"/>
              </a:avLst>
            </a:prstGeom>
            <a:solidFill>
              <a:srgbClr val="243B53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8470417" y="1769269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系统流程图的分层</a:t>
              </a:r>
            </a:p>
          </p:txBody>
        </p:sp>
        <p:sp>
          <p:nvSpPr>
            <p:cNvPr id="81" name="Ellipse 81"/>
            <p:cNvSpPr/>
            <p:nvPr/>
          </p:nvSpPr>
          <p:spPr>
            <a:xfrm>
              <a:off x="8411528" y="217360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8569642" y="2110740"/>
              <a:ext cx="26822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用一张高层次的系统流程图描绘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系统的总体概貌，表明系统的关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键功能</a:t>
              </a:r>
            </a:p>
          </p:txBody>
        </p:sp>
        <p:sp>
          <p:nvSpPr>
            <p:cNvPr id="83" name="Ellipse 83"/>
            <p:cNvSpPr/>
            <p:nvPr/>
          </p:nvSpPr>
          <p:spPr>
            <a:xfrm>
              <a:off x="8411528" y="308038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8569642" y="3017520"/>
              <a:ext cx="26822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分别把每个关键功能扩展到适当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的详细程度，画在单独的一页纸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上</a:t>
              </a:r>
            </a:p>
          </p:txBody>
        </p:sp>
        <p:sp>
          <p:nvSpPr>
            <p:cNvPr id="85" name="Ellipse 85"/>
            <p:cNvSpPr/>
            <p:nvPr/>
          </p:nvSpPr>
          <p:spPr>
            <a:xfrm>
              <a:off x="8411528" y="398716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8569642" y="3924300"/>
              <a:ext cx="26822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便于阅读者按从抽象到具体的过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程逐步深入地了解一个复杂的系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统</a:t>
              </a:r>
            </a:p>
          </p:txBody>
        </p:sp>
      </p:grpSp>
      <p:grpSp>
        <p:nvGrpSpPr>
          <p:cNvPr id="94" name="c2-callout-2"/>
          <p:cNvGrpSpPr/>
          <p:nvPr/>
        </p:nvGrpSpPr>
        <p:grpSpPr>
          <a:xfrm>
            <a:off x="8196262" y="5130165"/>
            <a:ext cx="3462338" cy="1059180"/>
            <a:chOff x="8196262" y="5130165"/>
            <a:chExt cx="3462338" cy="1059180"/>
          </a:xfrm>
        </p:grpSpPr>
        <p:sp>
          <p:nvSpPr>
            <p:cNvPr id="88" name="Rectangle 88"/>
            <p:cNvSpPr/>
            <p:nvPr/>
          </p:nvSpPr>
          <p:spPr>
            <a:xfrm>
              <a:off x="8196262" y="5130165"/>
              <a:ext cx="3462338" cy="1059180"/>
            </a:xfrm>
            <a:prstGeom prst="roundRect">
              <a:avLst>
                <a:gd name="adj" fmla="val 10791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92" name="Group 92"/>
            <p:cNvGrpSpPr/>
            <p:nvPr/>
          </p:nvGrpSpPr>
          <p:grpSpPr>
            <a:xfrm>
              <a:off x="8401050" y="5559743"/>
              <a:ext cx="200026" cy="200026"/>
              <a:chOff x="8401050" y="5559743"/>
              <a:chExt cx="200026" cy="200026"/>
            </a:xfrm>
          </p:grpSpPr>
          <p:sp>
            <p:nvSpPr>
              <p:cNvPr id="89" name="Freeform 89"/>
              <p:cNvSpPr/>
              <p:nvPr/>
            </p:nvSpPr>
            <p:spPr>
              <a:xfrm>
                <a:off x="8401050" y="555974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90" name="Freeform 90"/>
              <p:cNvSpPr/>
              <p:nvPr/>
            </p:nvSpPr>
            <p:spPr>
              <a:xfrm>
                <a:off x="8501063" y="562641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91" name="Freeform 91"/>
              <p:cNvSpPr/>
              <p:nvPr/>
            </p:nvSpPr>
            <p:spPr>
              <a:xfrm>
                <a:off x="8489950" y="565975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93" name="TextBox 93"/>
            <p:cNvSpPr txBox="1"/>
            <p:nvPr/>
          </p:nvSpPr>
          <p:spPr>
            <a:xfrm>
              <a:off x="8702992" y="5278755"/>
              <a:ext cx="230124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这张图已经接近一页纸的上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限，再往下细化就该分层画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了。</a:t>
              </a:r>
            </a:p>
          </p:txBody>
        </p:sp>
      </p:grpSp>
      <p:grpSp>
        <p:nvGrpSpPr>
          <p:cNvPr id="9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5" name="TextBox 95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第2章 可行性研究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334E6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7EDF3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3283458" cy="3351847"/>
            <a:chOff x="667512" y="1835468"/>
            <a:chExt cx="3283458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第四部分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023555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数据流图 DFD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290436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描绘系统逻辑模型的主要工具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四种成分与三个分叉符号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自顶向下逐层分解与编号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父图子图的平衡、局部文件与命名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数据流图的用途与自动化边界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第2章 可行性研究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458718" cy="909257"/>
            <a:chOff x="520446" y="342900"/>
            <a:chExt cx="345871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2125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7648" y="407194"/>
              <a:ext cx="231275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第2章 可行性研究 · 数据流图 DFD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45871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数据流图只有四种成分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1" name="c1-table-1"/>
          <p:cNvGrpSpPr/>
          <p:nvPr/>
        </p:nvGrpSpPr>
        <p:grpSpPr>
          <a:xfrm>
            <a:off x="533400" y="1524000"/>
            <a:ext cx="4977765" cy="2924175"/>
            <a:chOff x="533400" y="1524000"/>
            <a:chExt cx="4977765" cy="292417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448628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01357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成分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123491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图形符号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136987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含义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41223" y="2108359"/>
              <a:ext cx="98831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数据的源点／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终点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935670" y="2108359"/>
              <a:ext cx="98831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正方形或立方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体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229166" y="2108359"/>
              <a:ext cx="196367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系统之外的实体：人、物或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其他软件系统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643188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647950"/>
              <a:ext cx="497776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1223" y="278368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加工／变换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935670" y="278368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圆形或椭圆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229166" y="2783681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对数据进行处理的单元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092768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1223" y="3232309"/>
              <a:ext cx="98831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数据存储（文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件）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935670" y="3232309"/>
              <a:ext cx="98831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双横线或右端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开口的长方形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229166" y="3345656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暂时存储数据的地方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768090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772852"/>
              <a:ext cx="4977765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41223" y="4020979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数据流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935670" y="402097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箭头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229166" y="3907631"/>
              <a:ext cx="196367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沿箭头方向传送的一组数据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项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1524000"/>
              <a:ext cx="4977765" cy="292417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1823085" y="1524000"/>
              <a:ext cx="9525" cy="29241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3116580" y="1524000"/>
              <a:ext cx="9525" cy="29241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7" name="c1-callout-2"/>
          <p:cNvGrpSpPr/>
          <p:nvPr/>
        </p:nvGrpSpPr>
        <p:grpSpPr>
          <a:xfrm>
            <a:off x="533400" y="4638675"/>
            <a:ext cx="4977765" cy="782955"/>
            <a:chOff x="533400" y="4638675"/>
            <a:chExt cx="4977765" cy="782955"/>
          </a:xfrm>
        </p:grpSpPr>
        <p:sp>
          <p:nvSpPr>
            <p:cNvPr id="32" name="Rectangle 32"/>
            <p:cNvSpPr/>
            <p:nvPr/>
          </p:nvSpPr>
          <p:spPr>
            <a:xfrm>
              <a:off x="533400" y="4638675"/>
              <a:ext cx="4977765" cy="782955"/>
            </a:xfrm>
            <a:prstGeom prst="roundRect">
              <a:avLst>
                <a:gd name="adj" fmla="val 14599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738188" y="4930142"/>
              <a:ext cx="200023" cy="200023"/>
              <a:chOff x="738188" y="4930142"/>
              <a:chExt cx="200023" cy="200023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738188" y="493014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871538" y="499681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1040130" y="4787265"/>
              <a:ext cx="4015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四种成分画出来的是系统的逻辑模型，图上没有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任何“用什么设备、用什么程序”的信息。</a:t>
              </a:r>
            </a:p>
          </p:txBody>
        </p:sp>
      </p:grpSp>
      <p:grpSp>
        <p:nvGrpSpPr>
          <p:cNvPr id="78" name="c2-graph-1"/>
          <p:cNvGrpSpPr/>
          <p:nvPr/>
        </p:nvGrpSpPr>
        <p:grpSpPr>
          <a:xfrm>
            <a:off x="5934075" y="1772602"/>
            <a:ext cx="5729859" cy="4633532"/>
            <a:chOff x="5934075" y="1772602"/>
            <a:chExt cx="5729859" cy="4633532"/>
          </a:xfrm>
        </p:grpSpPr>
        <p:sp>
          <p:nvSpPr>
            <p:cNvPr id="38" name="Freeform 38"/>
            <p:cNvSpPr/>
            <p:nvPr/>
          </p:nvSpPr>
          <p:spPr>
            <a:xfrm>
              <a:off x="6886575" y="2445068"/>
              <a:ext cx="807720" cy="277178"/>
            </a:xfrm>
            <a:custGeom>
              <a:avLst/>
              <a:gdLst/>
              <a:ahLst/>
              <a:cxnLst/>
              <a:rect l="l" t="t" r="r" b="b"/>
              <a:pathLst>
                <a:path w="807720" h="277178">
                  <a:moveTo>
                    <a:pt x="0" y="0"/>
                  </a:moveTo>
                  <a:lnTo>
                    <a:pt x="807720" y="27717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7679055" y="2676525"/>
              <a:ext cx="105727" cy="90488"/>
            </a:xfrm>
            <a:custGeom>
              <a:avLst/>
              <a:gdLst/>
              <a:ahLst/>
              <a:cxnLst/>
              <a:rect l="l" t="t" r="r" b="b"/>
              <a:pathLst>
                <a:path w="105727" h="90488">
                  <a:moveTo>
                    <a:pt x="105727" y="76200"/>
                  </a:moveTo>
                  <a:lnTo>
                    <a:pt x="0" y="90488"/>
                  </a:lnTo>
                  <a:lnTo>
                    <a:pt x="3048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0" name="Freeform 40"/>
            <p:cNvSpPr/>
            <p:nvPr/>
          </p:nvSpPr>
          <p:spPr>
            <a:xfrm>
              <a:off x="8521065" y="2310765"/>
              <a:ext cx="1277303" cy="441007"/>
            </a:xfrm>
            <a:custGeom>
              <a:avLst/>
              <a:gdLst/>
              <a:ahLst/>
              <a:cxnLst/>
              <a:rect l="l" t="t" r="r" b="b"/>
              <a:pathLst>
                <a:path w="1277303" h="441007">
                  <a:moveTo>
                    <a:pt x="0" y="441007"/>
                  </a:moveTo>
                  <a:lnTo>
                    <a:pt x="1277303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9783128" y="2265998"/>
              <a:ext cx="104775" cy="90488"/>
            </a:xfrm>
            <a:custGeom>
              <a:avLst/>
              <a:gdLst/>
              <a:ahLst/>
              <a:cxnLst/>
              <a:rect l="l" t="t" r="r" b="b"/>
              <a:pathLst>
                <a:path w="104775" h="90488">
                  <a:moveTo>
                    <a:pt x="104775" y="14288"/>
                  </a:moveTo>
                  <a:lnTo>
                    <a:pt x="30480" y="904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2" name="Freeform 42"/>
            <p:cNvSpPr/>
            <p:nvPr/>
          </p:nvSpPr>
          <p:spPr>
            <a:xfrm>
              <a:off x="10370820" y="2525078"/>
              <a:ext cx="512445" cy="1661160"/>
            </a:xfrm>
            <a:custGeom>
              <a:avLst/>
              <a:gdLst/>
              <a:ahLst/>
              <a:cxnLst/>
              <a:rect l="l" t="t" r="r" b="b"/>
              <a:pathLst>
                <a:path w="512445" h="1661160">
                  <a:moveTo>
                    <a:pt x="0" y="0"/>
                  </a:moveTo>
                  <a:lnTo>
                    <a:pt x="512445" y="166116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10837545" y="4171950"/>
              <a:ext cx="91440" cy="105728"/>
            </a:xfrm>
            <a:custGeom>
              <a:avLst/>
              <a:gdLst/>
              <a:ahLst/>
              <a:cxnLst/>
              <a:rect l="l" t="t" r="r" b="b"/>
              <a:pathLst>
                <a:path w="91440" h="105728">
                  <a:moveTo>
                    <a:pt x="73343" y="105728"/>
                  </a:moveTo>
                  <a:lnTo>
                    <a:pt x="0" y="28575"/>
                  </a:lnTo>
                  <a:lnTo>
                    <a:pt x="9144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4" name="Freeform 44"/>
            <p:cNvSpPr/>
            <p:nvPr/>
          </p:nvSpPr>
          <p:spPr>
            <a:xfrm>
              <a:off x="8195310" y="3266122"/>
              <a:ext cx="154305" cy="1401128"/>
            </a:xfrm>
            <a:custGeom>
              <a:avLst/>
              <a:gdLst/>
              <a:ahLst/>
              <a:cxnLst/>
              <a:rect l="l" t="t" r="r" b="b"/>
              <a:pathLst>
                <a:path w="154305" h="1401128">
                  <a:moveTo>
                    <a:pt x="0" y="0"/>
                  </a:moveTo>
                  <a:lnTo>
                    <a:pt x="154305" y="140112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5" name="Freeform 45"/>
            <p:cNvSpPr/>
            <p:nvPr/>
          </p:nvSpPr>
          <p:spPr>
            <a:xfrm>
              <a:off x="8301990" y="4662488"/>
              <a:ext cx="94297" cy="100012"/>
            </a:xfrm>
            <a:custGeom>
              <a:avLst/>
              <a:gdLst/>
              <a:ahLst/>
              <a:cxnLst/>
              <a:rect l="l" t="t" r="r" b="b"/>
              <a:pathLst>
                <a:path w="94297" h="100012">
                  <a:moveTo>
                    <a:pt x="57150" y="100012"/>
                  </a:moveTo>
                  <a:lnTo>
                    <a:pt x="0" y="10478"/>
                  </a:lnTo>
                  <a:lnTo>
                    <a:pt x="94297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6" name="Freeform 46"/>
            <p:cNvSpPr/>
            <p:nvPr/>
          </p:nvSpPr>
          <p:spPr>
            <a:xfrm>
              <a:off x="8627745" y="4531995"/>
              <a:ext cx="1864995" cy="421005"/>
            </a:xfrm>
            <a:custGeom>
              <a:avLst/>
              <a:gdLst/>
              <a:ahLst/>
              <a:cxnLst/>
              <a:rect l="l" t="t" r="r" b="b"/>
              <a:pathLst>
                <a:path w="1864995" h="421005">
                  <a:moveTo>
                    <a:pt x="0" y="421005"/>
                  </a:moveTo>
                  <a:lnTo>
                    <a:pt x="186499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7" name="Freeform 47"/>
            <p:cNvSpPr/>
            <p:nvPr/>
          </p:nvSpPr>
          <p:spPr>
            <a:xfrm>
              <a:off x="10482262" y="4485322"/>
              <a:ext cx="103823" cy="93345"/>
            </a:xfrm>
            <a:custGeom>
              <a:avLst/>
              <a:gdLst/>
              <a:ahLst/>
              <a:cxnLst/>
              <a:rect l="l" t="t" r="r" b="b"/>
              <a:pathLst>
                <a:path w="103823" h="93345">
                  <a:moveTo>
                    <a:pt x="103823" y="25718"/>
                  </a:moveTo>
                  <a:lnTo>
                    <a:pt x="20955" y="933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8" name="Freeform 48"/>
            <p:cNvSpPr/>
            <p:nvPr/>
          </p:nvSpPr>
          <p:spPr>
            <a:xfrm>
              <a:off x="6633210" y="3193732"/>
              <a:ext cx="1151572" cy="986790"/>
            </a:xfrm>
            <a:custGeom>
              <a:avLst/>
              <a:gdLst/>
              <a:ahLst/>
              <a:cxnLst/>
              <a:rect l="l" t="t" r="r" b="b"/>
              <a:pathLst>
                <a:path w="1151572" h="986790">
                  <a:moveTo>
                    <a:pt x="0" y="986790"/>
                  </a:moveTo>
                  <a:lnTo>
                    <a:pt x="115157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9" name="Freeform 49"/>
            <p:cNvSpPr/>
            <p:nvPr/>
          </p:nvSpPr>
          <p:spPr>
            <a:xfrm>
              <a:off x="7754302" y="3131820"/>
              <a:ext cx="102870" cy="98108"/>
            </a:xfrm>
            <a:custGeom>
              <a:avLst/>
              <a:gdLst/>
              <a:ahLst/>
              <a:cxnLst/>
              <a:rect l="l" t="t" r="r" b="b"/>
              <a:pathLst>
                <a:path w="102870" h="98108">
                  <a:moveTo>
                    <a:pt x="102870" y="0"/>
                  </a:moveTo>
                  <a:lnTo>
                    <a:pt x="61912" y="98108"/>
                  </a:lnTo>
                  <a:lnTo>
                    <a:pt x="0" y="25717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0" name="Freeform 50"/>
            <p:cNvSpPr/>
            <p:nvPr/>
          </p:nvSpPr>
          <p:spPr>
            <a:xfrm>
              <a:off x="8203882" y="5342572"/>
              <a:ext cx="112395" cy="535305"/>
            </a:xfrm>
            <a:custGeom>
              <a:avLst/>
              <a:gdLst/>
              <a:ahLst/>
              <a:cxnLst/>
              <a:rect l="l" t="t" r="r" b="b"/>
              <a:pathLst>
                <a:path w="112395" h="535305">
                  <a:moveTo>
                    <a:pt x="112395" y="0"/>
                  </a:moveTo>
                  <a:lnTo>
                    <a:pt x="0" y="53530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1" name="Freeform 51"/>
            <p:cNvSpPr/>
            <p:nvPr/>
          </p:nvSpPr>
          <p:spPr>
            <a:xfrm>
              <a:off x="8157210" y="5867400"/>
              <a:ext cx="93345" cy="103822"/>
            </a:xfrm>
            <a:custGeom>
              <a:avLst/>
              <a:gdLst/>
              <a:ahLst/>
              <a:cxnLst/>
              <a:rect l="l" t="t" r="r" b="b"/>
              <a:pathLst>
                <a:path w="93345" h="103822">
                  <a:moveTo>
                    <a:pt x="26670" y="103822"/>
                  </a:moveTo>
                  <a:lnTo>
                    <a:pt x="0" y="0"/>
                  </a:lnTo>
                  <a:lnTo>
                    <a:pt x="93345" y="20003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2" name="Freeform 52"/>
            <p:cNvSpPr/>
            <p:nvPr/>
          </p:nvSpPr>
          <p:spPr>
            <a:xfrm>
              <a:off x="8269605" y="5249228"/>
              <a:ext cx="93345" cy="103822"/>
            </a:xfrm>
            <a:custGeom>
              <a:avLst/>
              <a:gdLst/>
              <a:ahLst/>
              <a:cxnLst/>
              <a:rect l="l" t="t" r="r" b="b"/>
              <a:pathLst>
                <a:path w="93345" h="103822">
                  <a:moveTo>
                    <a:pt x="65722" y="0"/>
                  </a:moveTo>
                  <a:lnTo>
                    <a:pt x="93345" y="103822"/>
                  </a:lnTo>
                  <a:lnTo>
                    <a:pt x="0" y="8382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6029325" y="2147888"/>
              <a:ext cx="857250" cy="300038"/>
            </a:xfrm>
            <a:prstGeom prst="roundRect">
              <a:avLst>
                <a:gd name="adj" fmla="val 12698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54" name="Ellipse 54"/>
            <p:cNvSpPr/>
            <p:nvPr/>
          </p:nvSpPr>
          <p:spPr>
            <a:xfrm>
              <a:off x="7772400" y="2498408"/>
              <a:ext cx="760095" cy="76009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55" name="Ellipse 55"/>
            <p:cNvSpPr/>
            <p:nvPr/>
          </p:nvSpPr>
          <p:spPr>
            <a:xfrm>
              <a:off x="9876472" y="1772602"/>
              <a:ext cx="760095" cy="76009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56" name="Ellipse 56"/>
            <p:cNvSpPr/>
            <p:nvPr/>
          </p:nvSpPr>
          <p:spPr>
            <a:xfrm>
              <a:off x="8149590" y="4771072"/>
              <a:ext cx="474345" cy="47434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10586085" y="4277678"/>
              <a:ext cx="742950" cy="300038"/>
            </a:xfrm>
            <a:prstGeom prst="roundRect">
              <a:avLst>
                <a:gd name="adj" fmla="val 12698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5934075" y="4180522"/>
              <a:ext cx="1047750" cy="300038"/>
            </a:xfrm>
            <a:prstGeom prst="roundRect">
              <a:avLst>
                <a:gd name="adj" fmla="val 31746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7628572" y="5971222"/>
              <a:ext cx="1047750" cy="300038"/>
            </a:xfrm>
            <a:prstGeom prst="roundRect">
              <a:avLst>
                <a:gd name="adj" fmla="val 31746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226073" y="222837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旅行社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845184" y="280844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预定机票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9949256" y="208264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准备机票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230273" y="493823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记帐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0801071" y="435721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旅客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150686" y="426005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航班目录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845184" y="605075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记帐文件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7126605" y="2512695"/>
              <a:ext cx="419100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7149656" y="2545080"/>
              <a:ext cx="37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订票单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9052560" y="2429828"/>
              <a:ext cx="304800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9079040" y="2462212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航班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10488930" y="3315652"/>
              <a:ext cx="304800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10515410" y="3347085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机票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8124825" y="3928110"/>
              <a:ext cx="304800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8151304" y="3960495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费用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9454515" y="4646295"/>
              <a:ext cx="304800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9480994" y="4678680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帐单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0098405" y="6200775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飞机订票系统的数据流图</a:t>
              </a:r>
            </a:p>
          </p:txBody>
        </p:sp>
      </p:grpSp>
      <p:grpSp>
        <p:nvGrpSpPr>
          <p:cNvPr id="8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9" name="TextBox 79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第2章 可行性研究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115437" cy="909257"/>
            <a:chOff x="520446" y="342900"/>
            <a:chExt cx="311543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2125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7648" y="407194"/>
              <a:ext cx="231275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第2章 可行性研究 · 数据流图 DFD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11543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四种成分各自的规矩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410200" cy="1612582"/>
            <a:chOff x="533400" y="1524000"/>
            <a:chExt cx="5410200" cy="161258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612582"/>
            </a:xfrm>
            <a:prstGeom prst="roundRect">
              <a:avLst>
                <a:gd name="adj" fmla="val 826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345882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8457" y="1769269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源点和终点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系统之外的实体，可以是人、物或其他软件系统。引入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它们是为了帮助理解系统接口。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4573" y="2728436"/>
              <a:ext cx="38038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源点和终点不属于系统，所以图上不给它们编号。</a:t>
              </a:r>
            </a:p>
          </p:txBody>
        </p:sp>
      </p:grpSp>
      <p:grpSp>
        <p:nvGrpSpPr>
          <p:cNvPr id="19" name="c1-card-2"/>
          <p:cNvGrpSpPr/>
          <p:nvPr/>
        </p:nvGrpSpPr>
        <p:grpSpPr>
          <a:xfrm>
            <a:off x="533400" y="3327082"/>
            <a:ext cx="5410200" cy="2212658"/>
            <a:chOff x="533400" y="3327082"/>
            <a:chExt cx="5410200" cy="2212658"/>
          </a:xfrm>
        </p:grpSpPr>
        <p:sp>
          <p:nvSpPr>
            <p:cNvPr id="14" name="Rectangle 14"/>
            <p:cNvSpPr/>
            <p:nvPr/>
          </p:nvSpPr>
          <p:spPr>
            <a:xfrm>
              <a:off x="533400" y="3327082"/>
              <a:ext cx="5410200" cy="2212658"/>
            </a:xfrm>
            <a:prstGeom prst="roundRect">
              <a:avLst>
                <a:gd name="adj" fmla="val 602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542925" y="3460432"/>
              <a:ext cx="47625" cy="1945958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81050" y="3536632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58457" y="357235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加工／变换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73430" y="3913822"/>
              <a:ext cx="45872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对数据进行处理的单元。在分层数据流图中要对加工编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号，以便于管理；加工也要选取适当的名字，以提高数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据流图的易读性。</a:t>
              </a:r>
            </a:p>
          </p:txBody>
        </p:sp>
      </p:grpSp>
      <p:grpSp>
        <p:nvGrpSpPr>
          <p:cNvPr id="27" name="c2-card-1"/>
          <p:cNvGrpSpPr/>
          <p:nvPr/>
        </p:nvGrpSpPr>
        <p:grpSpPr>
          <a:xfrm>
            <a:off x="6248400" y="1524000"/>
            <a:ext cx="5410200" cy="2223135"/>
            <a:chOff x="6248400" y="1524000"/>
            <a:chExt cx="5410200" cy="2223135"/>
          </a:xfrm>
        </p:grpSpPr>
        <p:sp>
          <p:nvSpPr>
            <p:cNvPr id="20" name="Rectangle 20"/>
            <p:cNvSpPr/>
            <p:nvPr/>
          </p:nvSpPr>
          <p:spPr>
            <a:xfrm>
              <a:off x="6248400" y="1524000"/>
              <a:ext cx="5410200" cy="2223135"/>
            </a:xfrm>
            <a:prstGeom prst="roundRect">
              <a:avLst>
                <a:gd name="adj" fmla="val 599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6257925" y="1657350"/>
              <a:ext cx="47625" cy="1956435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6496050" y="1733550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582308" y="176926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数据流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88430" y="2110740"/>
              <a:ext cx="45872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由一组数据项组成。例如数据流“订票单”由姓名、住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址、电话、航班号、日期、始点、终点等数据项组成，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数据流“航班”由航班号、日期和姓名等数据项组成。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6501765" y="308038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659880" y="3017520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流向：加工到加工、源点到加工、加工到终点、加工与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数据存储之间</a:t>
              </a:r>
            </a:p>
          </p:txBody>
        </p:sp>
      </p:grpSp>
      <p:grpSp>
        <p:nvGrpSpPr>
          <p:cNvPr id="33" name="c2-card-2"/>
          <p:cNvGrpSpPr/>
          <p:nvPr/>
        </p:nvGrpSpPr>
        <p:grpSpPr>
          <a:xfrm>
            <a:off x="6248400" y="3937635"/>
            <a:ext cx="5410200" cy="1602105"/>
            <a:chOff x="6248400" y="3937635"/>
            <a:chExt cx="5410200" cy="1602105"/>
          </a:xfrm>
        </p:grpSpPr>
        <p:sp>
          <p:nvSpPr>
            <p:cNvPr id="28" name="Rectangle 28"/>
            <p:cNvSpPr/>
            <p:nvPr/>
          </p:nvSpPr>
          <p:spPr>
            <a:xfrm>
              <a:off x="6248400" y="3937635"/>
              <a:ext cx="5410200" cy="1602105"/>
            </a:xfrm>
            <a:prstGeom prst="roundRect">
              <a:avLst>
                <a:gd name="adj" fmla="val 83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6257925" y="4070985"/>
              <a:ext cx="47625" cy="1335405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6496050" y="4147185"/>
              <a:ext cx="1347788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560655" y="4182904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文件（数据存储）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488430" y="4524375"/>
              <a:ext cx="45872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用来暂时存储数据。加工要读文件，数据流方向是从文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件到加工；加工要写文件，方向是从加工到文件；既读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又写，方向是双向的。</a:t>
              </a:r>
            </a:p>
          </p:txBody>
        </p:sp>
      </p:grpSp>
      <p:grpSp>
        <p:nvGrpSpPr>
          <p:cNvPr id="40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34" name="Rectangle 34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738188" y="5995988"/>
              <a:ext cx="200026" cy="200025"/>
              <a:chOff x="738188" y="5995988"/>
              <a:chExt cx="200026" cy="200025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738188" y="59959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777926" y="60404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812642" y="61515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1040130" y="5991225"/>
              <a:ext cx="80924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数据流是运动中的数据，文件是静止的数据；同一批数据在两种符号里可以有不同的名字。</a:t>
              </a:r>
            </a:p>
          </p:txBody>
        </p:sp>
      </p:grpSp>
      <p:grpSp>
        <p:nvGrpSpPr>
          <p:cNvPr id="4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1" name="TextBox 41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第2章 可行性研究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831842" cy="909257"/>
            <a:chOff x="520446" y="342900"/>
            <a:chExt cx="48318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2125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7648" y="407194"/>
              <a:ext cx="231275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第2章 可行性研究 · 数据流图 DFD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8318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数据流分叉与汇合时的三个符号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1" name="c1-table-1"/>
          <p:cNvGrpSpPr/>
          <p:nvPr/>
        </p:nvGrpSpPr>
        <p:grpSpPr>
          <a:xfrm>
            <a:off x="533400" y="1524000"/>
            <a:ext cx="6059805" cy="3017520"/>
            <a:chOff x="533400" y="1524000"/>
            <a:chExt cx="6059805" cy="301752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75438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33425" y="1663065"/>
              <a:ext cx="2057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符</a:t>
              </a:r>
              <a:br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号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353502" y="179641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名称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323148" y="179641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一进多出（分叉）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626292" y="179641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多进一出（汇合）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40080" y="2550795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＋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245870" y="2550795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或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094547" y="2417445"/>
              <a:ext cx="1948815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 A 则有 B 或 C，或者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两者都有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396740" y="2417445"/>
              <a:ext cx="19202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或 B 有一个存在，就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 C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302799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3032760"/>
              <a:ext cx="6059805" cy="7543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40080" y="330517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245870" y="3305175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094547" y="3171825"/>
              <a:ext cx="1815465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 A 则 B 与 C 两者同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时有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396740" y="3305175"/>
              <a:ext cx="20368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与 B 都存在，才有 C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378237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40080" y="405955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⊕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245870" y="405955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异或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094547" y="3926205"/>
              <a:ext cx="1948815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 A 则有 B 或 C，但不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会同时有 B 和 C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396740" y="3926205"/>
              <a:ext cx="197739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 A 或有 B 但不能同时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存在，就有 C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1524000"/>
              <a:ext cx="6059805" cy="301752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1134428" y="1524000"/>
              <a:ext cx="9525" cy="30175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1983105" y="1524000"/>
              <a:ext cx="9525" cy="30175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4285298" y="1524000"/>
              <a:ext cx="9525" cy="30175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8" name="c1-callout-2"/>
          <p:cNvGrpSpPr/>
          <p:nvPr/>
        </p:nvGrpSpPr>
        <p:grpSpPr>
          <a:xfrm>
            <a:off x="533400" y="4732020"/>
            <a:ext cx="6059805" cy="782955"/>
            <a:chOff x="533400" y="4732020"/>
            <a:chExt cx="6059805" cy="782955"/>
          </a:xfrm>
        </p:grpSpPr>
        <p:sp>
          <p:nvSpPr>
            <p:cNvPr id="32" name="Rectangle 32"/>
            <p:cNvSpPr/>
            <p:nvPr/>
          </p:nvSpPr>
          <p:spPr>
            <a:xfrm>
              <a:off x="533400" y="4732020"/>
              <a:ext cx="6059805" cy="782955"/>
            </a:xfrm>
            <a:prstGeom prst="roundRect">
              <a:avLst>
                <a:gd name="adj" fmla="val 1459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726129" y="5019793"/>
              <a:ext cx="224134" cy="192560"/>
              <a:chOff x="726129" y="5019793"/>
              <a:chExt cx="224134" cy="192560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838200" y="509016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726129" y="501979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838200" y="51679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1040130" y="4880610"/>
              <a:ext cx="4968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这三个符号描述的是数据之间的组合关系，与执行的先后无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关；数据流图上不画判断框，也不画循环。</a:t>
              </a:r>
            </a:p>
          </p:txBody>
        </p:sp>
      </p:grpSp>
      <p:grpSp>
        <p:nvGrpSpPr>
          <p:cNvPr id="72" name="c2-graph-1"/>
          <p:cNvGrpSpPr/>
          <p:nvPr/>
        </p:nvGrpSpPr>
        <p:grpSpPr>
          <a:xfrm>
            <a:off x="7226337" y="1647349"/>
            <a:ext cx="3531479" cy="4672013"/>
            <a:chOff x="7226337" y="1647349"/>
            <a:chExt cx="3531479" cy="4672013"/>
          </a:xfrm>
        </p:grpSpPr>
        <p:sp>
          <p:nvSpPr>
            <p:cNvPr id="39" name="Freeform 39"/>
            <p:cNvSpPr/>
            <p:nvPr/>
          </p:nvSpPr>
          <p:spPr>
            <a:xfrm>
              <a:off x="7356158" y="2201228"/>
              <a:ext cx="1179195" cy="9525"/>
            </a:xfrm>
            <a:custGeom>
              <a:avLst/>
              <a:gdLst/>
              <a:ahLst/>
              <a:cxnLst/>
              <a:rect l="l" t="t" r="r" b="b"/>
              <a:pathLst>
                <a:path w="1179195" h="9525">
                  <a:moveTo>
                    <a:pt x="0" y="0"/>
                  </a:moveTo>
                  <a:lnTo>
                    <a:pt x="117919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8535352" y="215360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1" name="Freeform 41"/>
            <p:cNvSpPr/>
            <p:nvPr/>
          </p:nvSpPr>
          <p:spPr>
            <a:xfrm>
              <a:off x="8967788" y="1760220"/>
              <a:ext cx="1568768" cy="399097"/>
            </a:xfrm>
            <a:custGeom>
              <a:avLst/>
              <a:gdLst/>
              <a:ahLst/>
              <a:cxnLst/>
              <a:rect l="l" t="t" r="r" b="b"/>
              <a:pathLst>
                <a:path w="1568768" h="399097">
                  <a:moveTo>
                    <a:pt x="0" y="399097"/>
                  </a:moveTo>
                  <a:lnTo>
                    <a:pt x="1568768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10525125" y="1714500"/>
              <a:ext cx="103823" cy="92392"/>
            </a:xfrm>
            <a:custGeom>
              <a:avLst/>
              <a:gdLst/>
              <a:ahLst/>
              <a:cxnLst/>
              <a:rect l="l" t="t" r="r" b="b"/>
              <a:pathLst>
                <a:path w="103823" h="92392">
                  <a:moveTo>
                    <a:pt x="103823" y="22860"/>
                  </a:moveTo>
                  <a:lnTo>
                    <a:pt x="23812" y="923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3" name="Freeform 43"/>
            <p:cNvSpPr/>
            <p:nvPr/>
          </p:nvSpPr>
          <p:spPr>
            <a:xfrm>
              <a:off x="8965882" y="2251710"/>
              <a:ext cx="1572578" cy="479107"/>
            </a:xfrm>
            <a:custGeom>
              <a:avLst/>
              <a:gdLst/>
              <a:ahLst/>
              <a:cxnLst/>
              <a:rect l="l" t="t" r="r" b="b"/>
              <a:pathLst>
                <a:path w="1572578" h="479107">
                  <a:moveTo>
                    <a:pt x="0" y="0"/>
                  </a:moveTo>
                  <a:lnTo>
                    <a:pt x="1572578" y="47910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10524172" y="2685098"/>
              <a:ext cx="104775" cy="91440"/>
            </a:xfrm>
            <a:custGeom>
              <a:avLst/>
              <a:gdLst/>
              <a:ahLst/>
              <a:cxnLst/>
              <a:rect l="l" t="t" r="r" b="b"/>
              <a:pathLst>
                <a:path w="104775" h="91440">
                  <a:moveTo>
                    <a:pt x="104775" y="73343"/>
                  </a:moveTo>
                  <a:lnTo>
                    <a:pt x="0" y="91440"/>
                  </a:lnTo>
                  <a:lnTo>
                    <a:pt x="27622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5" name="Freeform 45"/>
            <p:cNvSpPr/>
            <p:nvPr/>
          </p:nvSpPr>
          <p:spPr>
            <a:xfrm>
              <a:off x="7356158" y="3943350"/>
              <a:ext cx="1179195" cy="9525"/>
            </a:xfrm>
            <a:custGeom>
              <a:avLst/>
              <a:gdLst/>
              <a:ahLst/>
              <a:cxnLst/>
              <a:rect l="l" t="t" r="r" b="b"/>
              <a:pathLst>
                <a:path w="1179195" h="9525">
                  <a:moveTo>
                    <a:pt x="0" y="0"/>
                  </a:moveTo>
                  <a:lnTo>
                    <a:pt x="117919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6" name="Freeform 46"/>
            <p:cNvSpPr/>
            <p:nvPr/>
          </p:nvSpPr>
          <p:spPr>
            <a:xfrm>
              <a:off x="8535352" y="389572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7" name="Freeform 47"/>
            <p:cNvSpPr/>
            <p:nvPr/>
          </p:nvSpPr>
          <p:spPr>
            <a:xfrm>
              <a:off x="8967788" y="3502342"/>
              <a:ext cx="1568768" cy="399098"/>
            </a:xfrm>
            <a:custGeom>
              <a:avLst/>
              <a:gdLst/>
              <a:ahLst/>
              <a:cxnLst/>
              <a:rect l="l" t="t" r="r" b="b"/>
              <a:pathLst>
                <a:path w="1568768" h="399098">
                  <a:moveTo>
                    <a:pt x="0" y="399098"/>
                  </a:moveTo>
                  <a:lnTo>
                    <a:pt x="1568768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8" name="Freeform 48"/>
            <p:cNvSpPr/>
            <p:nvPr/>
          </p:nvSpPr>
          <p:spPr>
            <a:xfrm>
              <a:off x="10525125" y="3456622"/>
              <a:ext cx="103823" cy="92393"/>
            </a:xfrm>
            <a:custGeom>
              <a:avLst/>
              <a:gdLst/>
              <a:ahLst/>
              <a:cxnLst/>
              <a:rect l="l" t="t" r="r" b="b"/>
              <a:pathLst>
                <a:path w="103823" h="92393">
                  <a:moveTo>
                    <a:pt x="103823" y="22860"/>
                  </a:moveTo>
                  <a:lnTo>
                    <a:pt x="23812" y="923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9" name="Freeform 49"/>
            <p:cNvSpPr/>
            <p:nvPr/>
          </p:nvSpPr>
          <p:spPr>
            <a:xfrm>
              <a:off x="8965882" y="3992880"/>
              <a:ext cx="1572578" cy="480060"/>
            </a:xfrm>
            <a:custGeom>
              <a:avLst/>
              <a:gdLst/>
              <a:ahLst/>
              <a:cxnLst/>
              <a:rect l="l" t="t" r="r" b="b"/>
              <a:pathLst>
                <a:path w="1572578" h="480060">
                  <a:moveTo>
                    <a:pt x="0" y="0"/>
                  </a:moveTo>
                  <a:lnTo>
                    <a:pt x="1572578" y="48006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0" name="Freeform 50"/>
            <p:cNvSpPr/>
            <p:nvPr/>
          </p:nvSpPr>
          <p:spPr>
            <a:xfrm>
              <a:off x="10524172" y="4427220"/>
              <a:ext cx="104775" cy="91440"/>
            </a:xfrm>
            <a:custGeom>
              <a:avLst/>
              <a:gdLst/>
              <a:ahLst/>
              <a:cxnLst/>
              <a:rect l="l" t="t" r="r" b="b"/>
              <a:pathLst>
                <a:path w="104775" h="91440">
                  <a:moveTo>
                    <a:pt x="104775" y="73342"/>
                  </a:moveTo>
                  <a:lnTo>
                    <a:pt x="0" y="91440"/>
                  </a:lnTo>
                  <a:lnTo>
                    <a:pt x="27622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1" name="Freeform 51"/>
            <p:cNvSpPr/>
            <p:nvPr/>
          </p:nvSpPr>
          <p:spPr>
            <a:xfrm>
              <a:off x="7356158" y="5781675"/>
              <a:ext cx="1179195" cy="9525"/>
            </a:xfrm>
            <a:custGeom>
              <a:avLst/>
              <a:gdLst/>
              <a:ahLst/>
              <a:cxnLst/>
              <a:rect l="l" t="t" r="r" b="b"/>
              <a:pathLst>
                <a:path w="1179195" h="9525">
                  <a:moveTo>
                    <a:pt x="0" y="0"/>
                  </a:moveTo>
                  <a:lnTo>
                    <a:pt x="117919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2" name="Freeform 52"/>
            <p:cNvSpPr/>
            <p:nvPr/>
          </p:nvSpPr>
          <p:spPr>
            <a:xfrm>
              <a:off x="8535352" y="573405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3" name="Freeform 53"/>
            <p:cNvSpPr/>
            <p:nvPr/>
          </p:nvSpPr>
          <p:spPr>
            <a:xfrm>
              <a:off x="8967788" y="5341620"/>
              <a:ext cx="1568768" cy="398145"/>
            </a:xfrm>
            <a:custGeom>
              <a:avLst/>
              <a:gdLst/>
              <a:ahLst/>
              <a:cxnLst/>
              <a:rect l="l" t="t" r="r" b="b"/>
              <a:pathLst>
                <a:path w="1568768" h="398145">
                  <a:moveTo>
                    <a:pt x="0" y="398145"/>
                  </a:moveTo>
                  <a:lnTo>
                    <a:pt x="1568768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4" name="Freeform 54"/>
            <p:cNvSpPr/>
            <p:nvPr/>
          </p:nvSpPr>
          <p:spPr>
            <a:xfrm>
              <a:off x="10525125" y="5294948"/>
              <a:ext cx="103823" cy="92393"/>
            </a:xfrm>
            <a:custGeom>
              <a:avLst/>
              <a:gdLst/>
              <a:ahLst/>
              <a:cxnLst/>
              <a:rect l="l" t="t" r="r" b="b"/>
              <a:pathLst>
                <a:path w="103823" h="92393">
                  <a:moveTo>
                    <a:pt x="103823" y="22860"/>
                  </a:moveTo>
                  <a:lnTo>
                    <a:pt x="23812" y="923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5" name="Freeform 55"/>
            <p:cNvSpPr/>
            <p:nvPr/>
          </p:nvSpPr>
          <p:spPr>
            <a:xfrm>
              <a:off x="8969692" y="5815965"/>
              <a:ext cx="1565910" cy="318135"/>
            </a:xfrm>
            <a:custGeom>
              <a:avLst/>
              <a:gdLst/>
              <a:ahLst/>
              <a:cxnLst/>
              <a:rect l="l" t="t" r="r" b="b"/>
              <a:pathLst>
                <a:path w="1565910" h="318135">
                  <a:moveTo>
                    <a:pt x="0" y="0"/>
                  </a:moveTo>
                  <a:lnTo>
                    <a:pt x="1565910" y="31813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6" name="Freeform 56"/>
            <p:cNvSpPr/>
            <p:nvPr/>
          </p:nvSpPr>
          <p:spPr>
            <a:xfrm>
              <a:off x="10526078" y="6087428"/>
              <a:ext cx="102870" cy="93345"/>
            </a:xfrm>
            <a:custGeom>
              <a:avLst/>
              <a:gdLst/>
              <a:ahLst/>
              <a:cxnLst/>
              <a:rect l="l" t="t" r="r" b="b"/>
              <a:pathLst>
                <a:path w="102870" h="93345">
                  <a:moveTo>
                    <a:pt x="102870" y="65722"/>
                  </a:moveTo>
                  <a:lnTo>
                    <a:pt x="0" y="93345"/>
                  </a:lnTo>
                  <a:lnTo>
                    <a:pt x="190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7" name="Ellipse 57"/>
            <p:cNvSpPr/>
            <p:nvPr/>
          </p:nvSpPr>
          <p:spPr>
            <a:xfrm>
              <a:off x="8640128" y="2039302"/>
              <a:ext cx="323850" cy="3238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58" name="Ellipse 58"/>
            <p:cNvSpPr/>
            <p:nvPr/>
          </p:nvSpPr>
          <p:spPr>
            <a:xfrm>
              <a:off x="8640128" y="3781425"/>
              <a:ext cx="323850" cy="3238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59" name="Ellipse 59"/>
            <p:cNvSpPr/>
            <p:nvPr/>
          </p:nvSpPr>
          <p:spPr>
            <a:xfrm>
              <a:off x="8640128" y="5619750"/>
              <a:ext cx="323850" cy="3238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226337" y="2131219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720950" y="2131219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＋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0654385" y="1647349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0654385" y="2712244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226337" y="3873341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8752801" y="387334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×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0654385" y="3389471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0654385" y="4454366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226337" y="5711666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8752801" y="57116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⊕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0654385" y="5227796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0654385" y="6099334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</p:grpSp>
      <p:grpSp>
        <p:nvGrpSpPr>
          <p:cNvPr id="7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3" name="TextBox 73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第2章 可行性研究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231214" cy="909257"/>
            <a:chOff x="520446" y="342900"/>
            <a:chExt cx="523121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2125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7648" y="407194"/>
              <a:ext cx="231275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第2章 可行性研究 · 数据流图 DFD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23121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怎样画 DFD：先把四类成分列出来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5193982" cy="3099435"/>
            <a:chOff x="533400" y="1524000"/>
            <a:chExt cx="5193982" cy="309943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3099435"/>
            </a:xfrm>
            <a:prstGeom prst="roundRect">
              <a:avLst>
                <a:gd name="adj" fmla="val 430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83273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题目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82078" y="1768792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定货系统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4396740" cy="1436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假设一家工厂的采购部每天需要一张定货报表，报表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按零件编号排序，表中列出所有需要再次定货的零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件。对于每个需要再次定货的零件应该列出：零件编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号、零件名称、定货数量、目前价格、主要供应者、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次要供应者。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73430" y="3608070"/>
              <a:ext cx="444436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零件入库或出库称为事务，通过放在仓库中的 CRT 终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端把事务报告给定货系统。当某种零件的库存量少于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库存量临界值时就应再次定货。</a:t>
              </a:r>
            </a:p>
          </p:txBody>
        </p:sp>
      </p:grpSp>
      <p:grpSp>
        <p:nvGrpSpPr>
          <p:cNvPr id="33" name="c2-table-1"/>
          <p:cNvGrpSpPr/>
          <p:nvPr/>
        </p:nvGrpSpPr>
        <p:grpSpPr>
          <a:xfrm>
            <a:off x="6032182" y="1524000"/>
            <a:ext cx="5626418" cy="2924175"/>
            <a:chOff x="6032182" y="1524000"/>
            <a:chExt cx="5626418" cy="2924175"/>
          </a:xfrm>
        </p:grpSpPr>
        <p:sp>
          <p:nvSpPr>
            <p:cNvPr id="15" name="Rectangle 15"/>
            <p:cNvSpPr/>
            <p:nvPr/>
          </p:nvSpPr>
          <p:spPr>
            <a:xfrm>
              <a:off x="6032182" y="1524000"/>
              <a:ext cx="5626418" cy="448628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72517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成分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940622" y="1659731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本题中有哪些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140006" y="2108359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源点／终点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377303" y="2108359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采购员、仓库管理员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032182" y="241649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6032182" y="2421255"/>
              <a:ext cx="5626418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140006" y="255698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处理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377303" y="2556986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产生报表、处理事务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032182" y="286607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140006" y="3232309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数据流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377303" y="3005614"/>
              <a:ext cx="3849370" cy="7027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定货报表 = 零件编号 + 零件名称 + 定货数量 + 目前价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格 + 主要供应者 + 次要供应者；事务 = 零件编号 + 事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务类型 + 数量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032182" y="376809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032182" y="3772852"/>
              <a:ext cx="5626418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140006" y="402097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数据存储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377303" y="3907631"/>
              <a:ext cx="3963162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定货信息（同定货报表）；库存清单 = 零件编号 + 库存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量 + 库存量临界值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032182" y="1524000"/>
              <a:ext cx="5626418" cy="292417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7264718" y="1524000"/>
              <a:ext cx="9525" cy="29241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9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34" name="Rectangle 34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1040130" y="5991225"/>
              <a:ext cx="86982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动手前先在需求描述上圈名词、划动词：名词多半是源点终点、数据流和文件，动词多半是加工。</a:t>
              </a:r>
            </a:p>
          </p:txBody>
        </p:sp>
      </p:grpSp>
      <p:grpSp>
        <p:nvGrpSpPr>
          <p:cNvPr id="4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0" name="TextBox 40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第2章 可行性研究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78090" cy="909257"/>
            <a:chOff x="520446" y="342900"/>
            <a:chExt cx="75780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2125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7648" y="407194"/>
              <a:ext cx="231275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第2章 可行性研究 · 数据流图 DFD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780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第一步：基本系统模型，第二步：功能级数据流图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2" name="c1-graph-1"/>
          <p:cNvGrpSpPr/>
          <p:nvPr/>
        </p:nvGrpSpPr>
        <p:grpSpPr>
          <a:xfrm>
            <a:off x="560070" y="1754505"/>
            <a:ext cx="3575685" cy="1719835"/>
            <a:chOff x="560070" y="1754505"/>
            <a:chExt cx="3575685" cy="1719835"/>
          </a:xfrm>
        </p:grpSpPr>
        <p:sp>
          <p:nvSpPr>
            <p:cNvPr id="7" name="Freeform 7"/>
            <p:cNvSpPr/>
            <p:nvPr/>
          </p:nvSpPr>
          <p:spPr>
            <a:xfrm>
              <a:off x="1403032" y="2055495"/>
              <a:ext cx="541972" cy="288607"/>
            </a:xfrm>
            <a:custGeom>
              <a:avLst/>
              <a:gdLst/>
              <a:ahLst/>
              <a:cxnLst/>
              <a:rect l="l" t="t" r="r" b="b"/>
              <a:pathLst>
                <a:path w="541972" h="288607">
                  <a:moveTo>
                    <a:pt x="0" y="0"/>
                  </a:moveTo>
                  <a:lnTo>
                    <a:pt x="541972" y="28860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923098" y="2302192"/>
              <a:ext cx="106680" cy="86678"/>
            </a:xfrm>
            <a:custGeom>
              <a:avLst/>
              <a:gdLst/>
              <a:ahLst/>
              <a:cxnLst/>
              <a:rect l="l" t="t" r="r" b="b"/>
              <a:pathLst>
                <a:path w="106680" h="86678">
                  <a:moveTo>
                    <a:pt x="106680" y="86678"/>
                  </a:moveTo>
                  <a:lnTo>
                    <a:pt x="0" y="83820"/>
                  </a:lnTo>
                  <a:lnTo>
                    <a:pt x="44767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2720340" y="2097405"/>
              <a:ext cx="593407" cy="299085"/>
            </a:xfrm>
            <a:custGeom>
              <a:avLst/>
              <a:gdLst/>
              <a:ahLst/>
              <a:cxnLst/>
              <a:rect l="l" t="t" r="r" b="b"/>
              <a:pathLst>
                <a:path w="593407" h="299085">
                  <a:moveTo>
                    <a:pt x="0" y="299085"/>
                  </a:moveTo>
                  <a:lnTo>
                    <a:pt x="593407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3292792" y="2055495"/>
              <a:ext cx="106680" cy="84772"/>
            </a:xfrm>
            <a:custGeom>
              <a:avLst/>
              <a:gdLst/>
              <a:ahLst/>
              <a:cxnLst/>
              <a:rect l="l" t="t" r="r" b="b"/>
              <a:pathLst>
                <a:path w="106680" h="84772">
                  <a:moveTo>
                    <a:pt x="106680" y="0"/>
                  </a:moveTo>
                  <a:lnTo>
                    <a:pt x="42862" y="847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560070" y="1754505"/>
              <a:ext cx="1123950" cy="300038"/>
            </a:xfrm>
            <a:prstGeom prst="roundRect">
              <a:avLst>
                <a:gd name="adj" fmla="val 12698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1992630" y="2191702"/>
              <a:ext cx="760095" cy="76009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3259455" y="1754505"/>
              <a:ext cx="876300" cy="300038"/>
            </a:xfrm>
            <a:prstGeom prst="roundRect">
              <a:avLst>
                <a:gd name="adj" fmla="val 12698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39394" y="183499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仓库管理员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065414" y="250174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定货系统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465728" y="183499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采购员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1564005" y="2136458"/>
              <a:ext cx="304800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590484" y="2167890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事务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2793682" y="2140268"/>
              <a:ext cx="533400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2813304" y="2171700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定货报表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700594" y="3088958"/>
              <a:ext cx="1344168" cy="3853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418"/>
                </a:lnSpc>
              </a:pPr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定货系统的基本系统模</a:t>
              </a:r>
              <a:br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型</a:t>
              </a:r>
            </a:p>
          </p:txBody>
        </p:sp>
      </p:grpSp>
      <p:grpSp>
        <p:nvGrpSpPr>
          <p:cNvPr id="31" name="c1-card-2"/>
          <p:cNvGrpSpPr/>
          <p:nvPr/>
        </p:nvGrpSpPr>
        <p:grpSpPr>
          <a:xfrm>
            <a:off x="533400" y="3619500"/>
            <a:ext cx="3678555" cy="1937385"/>
            <a:chOff x="533400" y="3619500"/>
            <a:chExt cx="3678555" cy="1937385"/>
          </a:xfrm>
        </p:grpSpPr>
        <p:sp>
          <p:nvSpPr>
            <p:cNvPr id="23" name="Rectangle 23"/>
            <p:cNvSpPr/>
            <p:nvPr/>
          </p:nvSpPr>
          <p:spPr>
            <a:xfrm>
              <a:off x="533400" y="3619500"/>
              <a:ext cx="3678555" cy="1937385"/>
            </a:xfrm>
            <a:prstGeom prst="roundRect">
              <a:avLst>
                <a:gd name="adj" fmla="val 688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542925" y="3752850"/>
              <a:ext cx="47625" cy="167068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781050" y="3829050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54507" y="3864769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顶层图的作用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786765" y="426910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44880" y="4206240"/>
              <a:ext cx="29298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把整个系统画成 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一个加工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，只画它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与外界的输入输出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786765" y="489013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44880" y="4827270"/>
              <a:ext cx="2682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用来确定系统边界：什么在系统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内，什么在系统外</a:t>
              </a:r>
            </a:p>
          </p:txBody>
        </p:sp>
      </p:grpSp>
      <p:grpSp>
        <p:nvGrpSpPr>
          <p:cNvPr id="68" name="c2-graph-1"/>
          <p:cNvGrpSpPr/>
          <p:nvPr/>
        </p:nvGrpSpPr>
        <p:grpSpPr>
          <a:xfrm>
            <a:off x="4511421" y="1761172"/>
            <a:ext cx="6994779" cy="4644962"/>
            <a:chOff x="4511421" y="1761172"/>
            <a:chExt cx="6994779" cy="4644962"/>
          </a:xfrm>
        </p:grpSpPr>
        <p:sp>
          <p:nvSpPr>
            <p:cNvPr id="32" name="Freeform 32"/>
            <p:cNvSpPr/>
            <p:nvPr/>
          </p:nvSpPr>
          <p:spPr>
            <a:xfrm>
              <a:off x="5693092" y="3943350"/>
              <a:ext cx="757238" cy="9525"/>
            </a:xfrm>
            <a:custGeom>
              <a:avLst/>
              <a:gdLst/>
              <a:ahLst/>
              <a:cxnLst/>
              <a:rect l="l" t="t" r="r" b="b"/>
              <a:pathLst>
                <a:path w="757238" h="9525">
                  <a:moveTo>
                    <a:pt x="0" y="0"/>
                  </a:moveTo>
                  <a:lnTo>
                    <a:pt x="757238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6450330" y="389572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4" name="Freeform 34"/>
            <p:cNvSpPr/>
            <p:nvPr/>
          </p:nvSpPr>
          <p:spPr>
            <a:xfrm>
              <a:off x="6802755" y="2156460"/>
              <a:ext cx="9525" cy="1434465"/>
            </a:xfrm>
            <a:custGeom>
              <a:avLst/>
              <a:gdLst/>
              <a:ahLst/>
              <a:cxnLst/>
              <a:rect l="l" t="t" r="r" b="b"/>
              <a:pathLst>
                <a:path w="9525" h="1434465">
                  <a:moveTo>
                    <a:pt x="0" y="1434465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6755130" y="206121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6" name="Freeform 36"/>
            <p:cNvSpPr/>
            <p:nvPr/>
          </p:nvSpPr>
          <p:spPr>
            <a:xfrm>
              <a:off x="6755130" y="359092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7" name="Freeform 37"/>
            <p:cNvSpPr/>
            <p:nvPr/>
          </p:nvSpPr>
          <p:spPr>
            <a:xfrm>
              <a:off x="6935152" y="4163378"/>
              <a:ext cx="1012507" cy="1677353"/>
            </a:xfrm>
            <a:custGeom>
              <a:avLst/>
              <a:gdLst/>
              <a:ahLst/>
              <a:cxnLst/>
              <a:rect l="l" t="t" r="r" b="b"/>
              <a:pathLst>
                <a:path w="1012507" h="1677353">
                  <a:moveTo>
                    <a:pt x="0" y="0"/>
                  </a:moveTo>
                  <a:lnTo>
                    <a:pt x="1012507" y="167735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7907655" y="5815965"/>
              <a:ext cx="89535" cy="106680"/>
            </a:xfrm>
            <a:custGeom>
              <a:avLst/>
              <a:gdLst/>
              <a:ahLst/>
              <a:cxnLst/>
              <a:rect l="l" t="t" r="r" b="b"/>
              <a:pathLst>
                <a:path w="89535" h="106680">
                  <a:moveTo>
                    <a:pt x="89535" y="106680"/>
                  </a:moveTo>
                  <a:lnTo>
                    <a:pt x="0" y="49530"/>
                  </a:lnTo>
                  <a:lnTo>
                    <a:pt x="80962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9" name="Freeform 39"/>
            <p:cNvSpPr/>
            <p:nvPr/>
          </p:nvSpPr>
          <p:spPr>
            <a:xfrm>
              <a:off x="8188642" y="4235768"/>
              <a:ext cx="1131570" cy="1686877"/>
            </a:xfrm>
            <a:custGeom>
              <a:avLst/>
              <a:gdLst/>
              <a:ahLst/>
              <a:cxnLst/>
              <a:rect l="l" t="t" r="r" b="b"/>
              <a:pathLst>
                <a:path w="1131570" h="1686877">
                  <a:moveTo>
                    <a:pt x="0" y="1686877"/>
                  </a:moveTo>
                  <a:lnTo>
                    <a:pt x="113157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9280208" y="4156710"/>
              <a:ext cx="92393" cy="105728"/>
            </a:xfrm>
            <a:custGeom>
              <a:avLst/>
              <a:gdLst/>
              <a:ahLst/>
              <a:cxnLst/>
              <a:rect l="l" t="t" r="r" b="b"/>
              <a:pathLst>
                <a:path w="92393" h="105728">
                  <a:moveTo>
                    <a:pt x="92393" y="0"/>
                  </a:moveTo>
                  <a:lnTo>
                    <a:pt x="79058" y="105728"/>
                  </a:lnTo>
                  <a:lnTo>
                    <a:pt x="0" y="52388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1" name="Freeform 41"/>
            <p:cNvSpPr/>
            <p:nvPr/>
          </p:nvSpPr>
          <p:spPr>
            <a:xfrm>
              <a:off x="9773602" y="3943350"/>
              <a:ext cx="799148" cy="9525"/>
            </a:xfrm>
            <a:custGeom>
              <a:avLst/>
              <a:gdLst/>
              <a:ahLst/>
              <a:cxnLst/>
              <a:rect l="l" t="t" r="r" b="b"/>
              <a:pathLst>
                <a:path w="799148" h="9525">
                  <a:moveTo>
                    <a:pt x="0" y="0"/>
                  </a:moveTo>
                  <a:lnTo>
                    <a:pt x="799148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10572750" y="389572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4626292" y="3792855"/>
              <a:ext cx="1066800" cy="300038"/>
            </a:xfrm>
            <a:prstGeom prst="roundRect">
              <a:avLst>
                <a:gd name="adj" fmla="val 12698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44" name="Ellipse 44"/>
            <p:cNvSpPr/>
            <p:nvPr/>
          </p:nvSpPr>
          <p:spPr>
            <a:xfrm>
              <a:off x="6555105" y="3695700"/>
              <a:ext cx="495300" cy="4953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6136005" y="1761172"/>
              <a:ext cx="1333500" cy="300038"/>
            </a:xfrm>
            <a:prstGeom prst="roundRect">
              <a:avLst>
                <a:gd name="adj" fmla="val 31746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7420928" y="5922645"/>
              <a:ext cx="1333500" cy="300038"/>
            </a:xfrm>
            <a:prstGeom prst="roundRect">
              <a:avLst>
                <a:gd name="adj" fmla="val 31746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47" name="Ellipse 47"/>
            <p:cNvSpPr/>
            <p:nvPr/>
          </p:nvSpPr>
          <p:spPr>
            <a:xfrm>
              <a:off x="9268778" y="3695700"/>
              <a:ext cx="495300" cy="4953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10668000" y="3792855"/>
              <a:ext cx="838200" cy="300038"/>
            </a:xfrm>
            <a:prstGeom prst="roundRect">
              <a:avLst>
                <a:gd name="adj" fmla="val 12698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4777042" y="387334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仓库管理员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753504" y="387334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555676" y="4227195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处理事务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378399" y="1840706"/>
              <a:ext cx="8487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D1 库存清单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663322" y="6002179"/>
              <a:ext cx="8487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D2 定货信息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467176" y="387334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269349" y="4227195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产生报表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0855223" y="387334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采购员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5966460" y="3857625"/>
              <a:ext cx="304800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5992939" y="3890010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事务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6536055" y="2787968"/>
              <a:ext cx="533400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555676" y="2820352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库存清单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7199948" y="4956810"/>
              <a:ext cx="533400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7219569" y="4989195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定货信息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8514398" y="4953952"/>
              <a:ext cx="533400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8534019" y="4986338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定货信息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9953625" y="3857625"/>
              <a:ext cx="533400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9973246" y="3890010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定货报表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4511421" y="6200775"/>
              <a:ext cx="22510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定货系统的功能级数据流图（0 层）</a:t>
              </a:r>
            </a:p>
          </p:txBody>
        </p:sp>
      </p:grpSp>
      <p:grpSp>
        <p:nvGrpSpPr>
          <p:cNvPr id="7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9" name="TextBox 69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第2章 可行性研究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541770" cy="909257"/>
            <a:chOff x="520446" y="342900"/>
            <a:chExt cx="454177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2125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7648" y="407194"/>
              <a:ext cx="231275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第2章 可行性研究 · 数据流图 DFD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54177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第三步：把“处理事务”再分解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56" name="c1-graph-1"/>
          <p:cNvGrpSpPr/>
          <p:nvPr/>
        </p:nvGrpSpPr>
        <p:grpSpPr>
          <a:xfrm>
            <a:off x="537210" y="1644015"/>
            <a:ext cx="6803708" cy="3840479"/>
            <a:chOff x="537210" y="1644015"/>
            <a:chExt cx="6803708" cy="3840479"/>
          </a:xfrm>
        </p:grpSpPr>
        <p:sp>
          <p:nvSpPr>
            <p:cNvPr id="7" name="Freeform 7"/>
            <p:cNvSpPr/>
            <p:nvPr/>
          </p:nvSpPr>
          <p:spPr>
            <a:xfrm>
              <a:off x="1468755" y="3397568"/>
              <a:ext cx="408623" cy="9525"/>
            </a:xfrm>
            <a:custGeom>
              <a:avLst/>
              <a:gdLst/>
              <a:ahLst/>
              <a:cxnLst/>
              <a:rect l="l" t="t" r="r" b="b"/>
              <a:pathLst>
                <a:path w="408623" h="9525">
                  <a:moveTo>
                    <a:pt x="0" y="0"/>
                  </a:moveTo>
                  <a:lnTo>
                    <a:pt x="408623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877378" y="334994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2448878" y="3397568"/>
              <a:ext cx="769620" cy="9525"/>
            </a:xfrm>
            <a:custGeom>
              <a:avLst/>
              <a:gdLst/>
              <a:ahLst/>
              <a:cxnLst/>
              <a:rect l="l" t="t" r="r" b="b"/>
              <a:pathLst>
                <a:path w="769620" h="9525">
                  <a:moveTo>
                    <a:pt x="0" y="0"/>
                  </a:moveTo>
                  <a:lnTo>
                    <a:pt x="76962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3218498" y="334994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3551872" y="1999298"/>
              <a:ext cx="9525" cy="1064895"/>
            </a:xfrm>
            <a:custGeom>
              <a:avLst/>
              <a:gdLst/>
              <a:ahLst/>
              <a:cxnLst/>
              <a:rect l="l" t="t" r="r" b="b"/>
              <a:pathLst>
                <a:path w="9525" h="1064895">
                  <a:moveTo>
                    <a:pt x="0" y="1064895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3504248" y="190404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3504248" y="306419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4" name="Freeform 14"/>
            <p:cNvSpPr/>
            <p:nvPr/>
          </p:nvSpPr>
          <p:spPr>
            <a:xfrm>
              <a:off x="3789998" y="3397568"/>
              <a:ext cx="770573" cy="9525"/>
            </a:xfrm>
            <a:custGeom>
              <a:avLst/>
              <a:gdLst/>
              <a:ahLst/>
              <a:cxnLst/>
              <a:rect l="l" t="t" r="r" b="b"/>
              <a:pathLst>
                <a:path w="770573" h="9525">
                  <a:moveTo>
                    <a:pt x="0" y="0"/>
                  </a:moveTo>
                  <a:lnTo>
                    <a:pt x="770573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4560570" y="334994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6" name="Freeform 16"/>
            <p:cNvSpPr/>
            <p:nvPr/>
          </p:nvSpPr>
          <p:spPr>
            <a:xfrm>
              <a:off x="4949190" y="3629025"/>
              <a:ext cx="360997" cy="1503045"/>
            </a:xfrm>
            <a:custGeom>
              <a:avLst/>
              <a:gdLst/>
              <a:ahLst/>
              <a:cxnLst/>
              <a:rect l="l" t="t" r="r" b="b"/>
              <a:pathLst>
                <a:path w="360997" h="1503045">
                  <a:moveTo>
                    <a:pt x="0" y="0"/>
                  </a:moveTo>
                  <a:lnTo>
                    <a:pt x="360997" y="150304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5263515" y="5120640"/>
              <a:ext cx="93345" cy="103822"/>
            </a:xfrm>
            <a:custGeom>
              <a:avLst/>
              <a:gdLst/>
              <a:ahLst/>
              <a:cxnLst/>
              <a:rect l="l" t="t" r="r" b="b"/>
              <a:pathLst>
                <a:path w="93345" h="103822">
                  <a:moveTo>
                    <a:pt x="68580" y="103822"/>
                  </a:moveTo>
                  <a:lnTo>
                    <a:pt x="0" y="21907"/>
                  </a:lnTo>
                  <a:lnTo>
                    <a:pt x="93345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8" name="Freeform 18"/>
            <p:cNvSpPr/>
            <p:nvPr/>
          </p:nvSpPr>
          <p:spPr>
            <a:xfrm>
              <a:off x="5413058" y="3709988"/>
              <a:ext cx="570548" cy="1514475"/>
            </a:xfrm>
            <a:custGeom>
              <a:avLst/>
              <a:gdLst/>
              <a:ahLst/>
              <a:cxnLst/>
              <a:rect l="l" t="t" r="r" b="b"/>
              <a:pathLst>
                <a:path w="570548" h="1514475">
                  <a:moveTo>
                    <a:pt x="0" y="1514475"/>
                  </a:moveTo>
                  <a:lnTo>
                    <a:pt x="570548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5939790" y="3620452"/>
              <a:ext cx="88582" cy="105727"/>
            </a:xfrm>
            <a:custGeom>
              <a:avLst/>
              <a:gdLst/>
              <a:ahLst/>
              <a:cxnLst/>
              <a:rect l="l" t="t" r="r" b="b"/>
              <a:pathLst>
                <a:path w="88582" h="105727">
                  <a:moveTo>
                    <a:pt x="78105" y="0"/>
                  </a:moveTo>
                  <a:lnTo>
                    <a:pt x="88582" y="105727"/>
                  </a:lnTo>
                  <a:lnTo>
                    <a:pt x="0" y="7239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0" name="Freeform 20"/>
            <p:cNvSpPr/>
            <p:nvPr/>
          </p:nvSpPr>
          <p:spPr>
            <a:xfrm>
              <a:off x="6339840" y="3397568"/>
              <a:ext cx="171450" cy="9525"/>
            </a:xfrm>
            <a:custGeom>
              <a:avLst/>
              <a:gdLst/>
              <a:ahLst/>
              <a:cxnLst/>
              <a:rect l="l" t="t" r="r" b="b"/>
              <a:pathLst>
                <a:path w="171450" h="9525">
                  <a:moveTo>
                    <a:pt x="0" y="0"/>
                  </a:moveTo>
                  <a:lnTo>
                    <a:pt x="17145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6511290" y="334994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537210" y="3268028"/>
              <a:ext cx="931545" cy="260032"/>
            </a:xfrm>
            <a:prstGeom prst="roundRect">
              <a:avLst>
                <a:gd name="adj" fmla="val 14652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1982152" y="3168968"/>
              <a:ext cx="457200" cy="4572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3323272" y="3168968"/>
              <a:ext cx="457200" cy="4572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4665345" y="3168968"/>
              <a:ext cx="457200" cy="4572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5873115" y="3168968"/>
              <a:ext cx="457200" cy="4572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6606540" y="3268028"/>
              <a:ext cx="734378" cy="260032"/>
            </a:xfrm>
            <a:prstGeom prst="roundRect">
              <a:avLst>
                <a:gd name="adj" fmla="val 14652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2961322" y="1644015"/>
              <a:ext cx="1182052" cy="260032"/>
            </a:xfrm>
            <a:prstGeom prst="roundRect">
              <a:avLst>
                <a:gd name="adj" fmla="val 36630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4772978" y="5224462"/>
              <a:ext cx="1182052" cy="260032"/>
            </a:xfrm>
            <a:prstGeom prst="roundRect">
              <a:avLst>
                <a:gd name="adj" fmla="val 36630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68210" y="3337084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仓库管理员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091517" y="3337084"/>
              <a:ext cx="2384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1.1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985213" y="3660934"/>
              <a:ext cx="4510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接收事务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432637" y="3337084"/>
              <a:ext cx="2384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1.2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215945" y="3660934"/>
              <a:ext cx="67185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更新库存清单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774710" y="3337084"/>
              <a:ext cx="2384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1.3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668406" y="3660934"/>
              <a:ext cx="4510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处理定货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058668" y="333708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876176" y="3660934"/>
              <a:ext cx="4510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产生报表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770408" y="3337084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采购员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180609" y="1713071"/>
              <a:ext cx="7425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D1 库存清单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992264" y="5293519"/>
              <a:ext cx="7425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D2 定货信息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1578292" y="3319462"/>
              <a:ext cx="284798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1605064" y="3348514"/>
              <a:ext cx="23030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事务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2739390" y="3319462"/>
              <a:ext cx="284798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2766162" y="3348514"/>
              <a:ext cx="23030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事务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3306128" y="2452688"/>
              <a:ext cx="492442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3326333" y="2482691"/>
              <a:ext cx="4510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库存清单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3976688" y="3319462"/>
              <a:ext cx="492442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3997846" y="3348514"/>
              <a:ext cx="4510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库存信息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4894898" y="4348162"/>
              <a:ext cx="492442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4915103" y="4377214"/>
              <a:ext cx="4510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定货信息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5468302" y="4343400"/>
              <a:ext cx="492442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5489461" y="4373404"/>
              <a:ext cx="4510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定货信息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6226492" y="3319462"/>
              <a:ext cx="492442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247651" y="3348514"/>
              <a:ext cx="4510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定货报表</a:t>
              </a:r>
            </a:p>
          </p:txBody>
        </p:sp>
      </p:grpSp>
      <p:grpSp>
        <p:nvGrpSpPr>
          <p:cNvPr id="67" name="c2-card-1"/>
          <p:cNvGrpSpPr/>
          <p:nvPr/>
        </p:nvGrpSpPr>
        <p:grpSpPr>
          <a:xfrm>
            <a:off x="7546658" y="1524000"/>
            <a:ext cx="4111942" cy="2068830"/>
            <a:chOff x="7546658" y="1524000"/>
            <a:chExt cx="4111942" cy="2068830"/>
          </a:xfrm>
        </p:grpSpPr>
        <p:sp>
          <p:nvSpPr>
            <p:cNvPr id="57" name="Rectangle 57"/>
            <p:cNvSpPr/>
            <p:nvPr/>
          </p:nvSpPr>
          <p:spPr>
            <a:xfrm>
              <a:off x="7546658" y="1524000"/>
              <a:ext cx="4111942" cy="2068830"/>
            </a:xfrm>
            <a:prstGeom prst="roundRect">
              <a:avLst>
                <a:gd name="adj" fmla="val 6446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7744778" y="1722120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243B53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7828217" y="175641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编号原则</a:t>
              </a:r>
            </a:p>
          </p:txBody>
        </p:sp>
        <p:sp>
          <p:nvSpPr>
            <p:cNvPr id="60" name="Ellipse 60"/>
            <p:cNvSpPr/>
            <p:nvPr/>
          </p:nvSpPr>
          <p:spPr>
            <a:xfrm>
              <a:off x="7745730" y="2070735"/>
              <a:ext cx="201930" cy="20193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7804075" y="2110121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035671" y="2082641"/>
              <a:ext cx="345536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子图的图号就是分解的父图中加工的编号</a:t>
              </a:r>
            </a:p>
          </p:txBody>
        </p:sp>
        <p:sp>
          <p:nvSpPr>
            <p:cNvPr id="63" name="Ellipse 63"/>
            <p:cNvSpPr/>
            <p:nvPr/>
          </p:nvSpPr>
          <p:spPr>
            <a:xfrm>
              <a:off x="7745730" y="2387918"/>
              <a:ext cx="201930" cy="20193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7804075" y="2428256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8035671" y="2400776"/>
              <a:ext cx="326059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子图中加工的编号由子图号、小数点、局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部顺序号组成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738682" y="2986088"/>
              <a:ext cx="357835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加工 1 分解成 1.1、1.2、1.3，这张子图的图号就是</a:t>
              </a:r>
              <a:br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1。</a:t>
              </a:r>
            </a:p>
          </p:txBody>
        </p:sp>
      </p:grpSp>
      <p:grpSp>
        <p:nvGrpSpPr>
          <p:cNvPr id="76" name="c2-card-2"/>
          <p:cNvGrpSpPr/>
          <p:nvPr/>
        </p:nvGrpSpPr>
        <p:grpSpPr>
          <a:xfrm>
            <a:off x="7546658" y="3772852"/>
            <a:ext cx="4111942" cy="1840230"/>
            <a:chOff x="7546658" y="3772852"/>
            <a:chExt cx="4111942" cy="1840230"/>
          </a:xfrm>
        </p:grpSpPr>
        <p:sp>
          <p:nvSpPr>
            <p:cNvPr id="68" name="Rectangle 68"/>
            <p:cNvSpPr/>
            <p:nvPr/>
          </p:nvSpPr>
          <p:spPr>
            <a:xfrm>
              <a:off x="7546658" y="3772852"/>
              <a:ext cx="4111942" cy="1840230"/>
            </a:xfrm>
            <a:prstGeom prst="roundRect">
              <a:avLst>
                <a:gd name="adj" fmla="val 724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9" name="Rectangle 69"/>
            <p:cNvSpPr/>
            <p:nvPr/>
          </p:nvSpPr>
          <p:spPr>
            <a:xfrm>
              <a:off x="7556182" y="3906202"/>
              <a:ext cx="47625" cy="157353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70" name="Rectangle 70"/>
            <p:cNvSpPr/>
            <p:nvPr/>
          </p:nvSpPr>
          <p:spPr>
            <a:xfrm>
              <a:off x="7782878" y="3970972"/>
              <a:ext cx="12763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7850315" y="400526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分解到哪一步为止</a:t>
              </a:r>
            </a:p>
          </p:txBody>
        </p:sp>
        <p:sp>
          <p:nvSpPr>
            <p:cNvPr id="72" name="Ellipse 72"/>
            <p:cNvSpPr/>
            <p:nvPr/>
          </p:nvSpPr>
          <p:spPr>
            <a:xfrm>
              <a:off x="7790498" y="4391978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7947088" y="4331494"/>
              <a:ext cx="326059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加工的功能已经足够简单，可以用一段小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说明说清楚</a:t>
              </a:r>
            </a:p>
          </p:txBody>
        </p:sp>
        <p:sp>
          <p:nvSpPr>
            <p:cNvPr id="74" name="Ellipse 74"/>
            <p:cNvSpPr/>
            <p:nvPr/>
          </p:nvSpPr>
          <p:spPr>
            <a:xfrm>
              <a:off x="7790498" y="4980622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7947088" y="4921091"/>
              <a:ext cx="326059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再分下去就要写出算法了，那属于详细设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</a:t>
              </a:r>
            </a:p>
          </p:txBody>
        </p:sp>
      </p:grpSp>
      <p:grpSp>
        <p:nvGrpSpPr>
          <p:cNvPr id="83" name="takeaway"/>
          <p:cNvGrpSpPr/>
          <p:nvPr/>
        </p:nvGrpSpPr>
        <p:grpSpPr>
          <a:xfrm>
            <a:off x="533400" y="5858828"/>
            <a:ext cx="11125200" cy="503872"/>
            <a:chOff x="533400" y="5858828"/>
            <a:chExt cx="11125200" cy="503872"/>
          </a:xfrm>
        </p:grpSpPr>
        <p:sp>
          <p:nvSpPr>
            <p:cNvPr id="77" name="Rectangle 77"/>
            <p:cNvSpPr/>
            <p:nvPr/>
          </p:nvSpPr>
          <p:spPr>
            <a:xfrm>
              <a:off x="533400" y="5858828"/>
              <a:ext cx="11125200" cy="503872"/>
            </a:xfrm>
            <a:prstGeom prst="roundRect">
              <a:avLst>
                <a:gd name="adj" fmla="val 22684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81" name="Group 81"/>
            <p:cNvGrpSpPr/>
            <p:nvPr/>
          </p:nvGrpSpPr>
          <p:grpSpPr>
            <a:xfrm>
              <a:off x="726129" y="6007536"/>
              <a:ext cx="224134" cy="192560"/>
              <a:chOff x="726129" y="6007536"/>
              <a:chExt cx="224134" cy="192560"/>
            </a:xfrm>
          </p:grpSpPr>
          <p:sp>
            <p:nvSpPr>
              <p:cNvPr id="78" name="Freeform 78"/>
              <p:cNvSpPr/>
              <p:nvPr/>
            </p:nvSpPr>
            <p:spPr>
              <a:xfrm>
                <a:off x="838200" y="607790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79" name="Freeform 79"/>
              <p:cNvSpPr/>
              <p:nvPr/>
            </p:nvSpPr>
            <p:spPr>
              <a:xfrm>
                <a:off x="726129" y="600753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80" name="Freeform 80"/>
              <p:cNvSpPr/>
              <p:nvPr/>
            </p:nvSpPr>
            <p:spPr>
              <a:xfrm>
                <a:off x="838200" y="615569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82" name="TextBox 82"/>
            <p:cNvSpPr txBox="1"/>
            <p:nvPr/>
          </p:nvSpPr>
          <p:spPr>
            <a:xfrm>
              <a:off x="1040511" y="6011704"/>
              <a:ext cx="919017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分解只改变描述的详细程度，不改变系统做的事；子图与父图的输入输出必须对得上，这就是下一页的平衡。</a:t>
              </a:r>
            </a:p>
          </p:txBody>
        </p:sp>
      </p:grpSp>
      <p:grpSp>
        <p:nvGrpSpPr>
          <p:cNvPr id="8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4" name="TextBox 84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第2章 可行性研究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801999" cy="909257"/>
            <a:chOff x="520446" y="342900"/>
            <a:chExt cx="380199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2125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7648" y="407194"/>
              <a:ext cx="231275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第2章 可行性研究 · 数据流图 DFD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80199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自顶向下逐层画数据流图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0" name="c1-steps-1"/>
          <p:cNvGrpSpPr/>
          <p:nvPr/>
        </p:nvGrpSpPr>
        <p:grpSpPr>
          <a:xfrm>
            <a:off x="533400" y="1533525"/>
            <a:ext cx="4388790" cy="1878615"/>
            <a:chOff x="533400" y="1533525"/>
            <a:chExt cx="4388790" cy="1878615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13011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184082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2579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834640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90845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44880" y="156781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画顶层图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46023" y="1861661"/>
              <a:ext cx="39761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把基本系统模型加上源点和终点，作为顶层数据流图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4880" y="2218372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画各层图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023" y="2512219"/>
              <a:ext cx="291643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逐层分解，0 层、一层、二层依次画出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4880" y="2868930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画总的数据流图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023" y="3162776"/>
              <a:ext cx="34592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把各层图拼成一张总图，检查整体是否连得上</a:t>
              </a:r>
            </a:p>
          </p:txBody>
        </p:sp>
      </p:grpSp>
      <p:grpSp>
        <p:nvGrpSpPr>
          <p:cNvPr id="23" name="c1-image-2"/>
          <p:cNvGrpSpPr/>
          <p:nvPr/>
        </p:nvGrpSpPr>
        <p:grpSpPr>
          <a:xfrm>
            <a:off x="533400" y="3590925"/>
            <a:ext cx="4328160" cy="2315052"/>
            <a:chOff x="533400" y="3590925"/>
            <a:chExt cx="4328160" cy="2315052"/>
          </a:xfrm>
        </p:grpSpPr>
        <p:pic>
          <p:nvPicPr>
            <p:cNvPr id="21" name="Image 21"/>
            <p:cNvPicPr>
              <a:picLocks noChangeAspect="1"/>
            </p:cNvPicPr>
            <p:nvPr/>
          </p:nvPicPr>
          <p:blipFill>
            <a:blip r:embed="rId2"/>
            <a:srcRect l="0" t="19190" r="0" b="19190"/>
            <a:stretch>
              <a:fillRect/>
            </a:stretch>
          </p:blipFill>
          <p:spPr>
            <a:xfrm>
              <a:off x="533400" y="3590925"/>
              <a:ext cx="4328160" cy="2000250"/>
            </a:xfrm>
            <a:prstGeom prst="roundRect">
              <a:avLst>
                <a:gd name="adj" fmla="val 6666"/>
              </a:avLst>
            </a:prstGeom>
          </p:spPr>
        </p:pic>
        <p:sp>
          <p:nvSpPr>
            <p:cNvPr id="22" name="TextBox 22"/>
            <p:cNvSpPr txBox="1"/>
            <p:nvPr/>
          </p:nvSpPr>
          <p:spPr>
            <a:xfrm>
              <a:off x="807085" y="5685949"/>
              <a:ext cx="37807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大箱套中箱、中箱套小箱，每打开一层只看这一层的内容</a:t>
              </a:r>
            </a:p>
          </p:txBody>
        </p:sp>
      </p:grpSp>
      <p:grpSp>
        <p:nvGrpSpPr>
          <p:cNvPr id="59" name="c2-tree-1"/>
          <p:cNvGrpSpPr/>
          <p:nvPr/>
        </p:nvGrpSpPr>
        <p:grpSpPr>
          <a:xfrm>
            <a:off x="5487352" y="1711642"/>
            <a:ext cx="6031231" cy="2005966"/>
            <a:chOff x="5487352" y="1711642"/>
            <a:chExt cx="6031231" cy="2005966"/>
          </a:xfrm>
        </p:grpSpPr>
        <p:sp>
          <p:nvSpPr>
            <p:cNvPr id="24" name="Freeform 24"/>
            <p:cNvSpPr/>
            <p:nvPr/>
          </p:nvSpPr>
          <p:spPr>
            <a:xfrm>
              <a:off x="5707380" y="2714625"/>
              <a:ext cx="541020" cy="793433"/>
            </a:xfrm>
            <a:custGeom>
              <a:avLst/>
              <a:gdLst/>
              <a:ahLst/>
              <a:cxnLst/>
              <a:rect l="l" t="t" r="r" b="b"/>
              <a:pathLst>
                <a:path w="541020" h="793433">
                  <a:moveTo>
                    <a:pt x="541020" y="0"/>
                  </a:moveTo>
                  <a:lnTo>
                    <a:pt x="0" y="793433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6248400" y="2714625"/>
              <a:ext cx="541020" cy="793433"/>
            </a:xfrm>
            <a:custGeom>
              <a:avLst/>
              <a:gdLst/>
              <a:ahLst/>
              <a:cxnLst/>
              <a:rect l="l" t="t" r="r" b="b"/>
              <a:pathLst>
                <a:path w="541020" h="793433">
                  <a:moveTo>
                    <a:pt x="0" y="0"/>
                  </a:moveTo>
                  <a:lnTo>
                    <a:pt x="541020" y="793433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7691438" y="2714625"/>
              <a:ext cx="721043" cy="793433"/>
            </a:xfrm>
            <a:custGeom>
              <a:avLst/>
              <a:gdLst/>
              <a:ahLst/>
              <a:cxnLst/>
              <a:rect l="l" t="t" r="r" b="b"/>
              <a:pathLst>
                <a:path w="721043" h="793433">
                  <a:moveTo>
                    <a:pt x="721043" y="0"/>
                  </a:moveTo>
                  <a:lnTo>
                    <a:pt x="0" y="793433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8412480" y="2714625"/>
              <a:ext cx="9525" cy="793433"/>
            </a:xfrm>
            <a:custGeom>
              <a:avLst/>
              <a:gdLst/>
              <a:ahLst/>
              <a:cxnLst/>
              <a:rect l="l" t="t" r="r" b="b"/>
              <a:pathLst>
                <a:path w="9525" h="793433">
                  <a:moveTo>
                    <a:pt x="0" y="0"/>
                  </a:moveTo>
                  <a:lnTo>
                    <a:pt x="0" y="793433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8412480" y="2714625"/>
              <a:ext cx="721042" cy="793433"/>
            </a:xfrm>
            <a:custGeom>
              <a:avLst/>
              <a:gdLst/>
              <a:ahLst/>
              <a:cxnLst/>
              <a:rect l="l" t="t" r="r" b="b"/>
              <a:pathLst>
                <a:path w="721042" h="793433">
                  <a:moveTo>
                    <a:pt x="0" y="0"/>
                  </a:moveTo>
                  <a:lnTo>
                    <a:pt x="721042" y="793433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9855518" y="2714625"/>
              <a:ext cx="721043" cy="793433"/>
            </a:xfrm>
            <a:custGeom>
              <a:avLst/>
              <a:gdLst/>
              <a:ahLst/>
              <a:cxnLst/>
              <a:rect l="l" t="t" r="r" b="b"/>
              <a:pathLst>
                <a:path w="721043" h="793433">
                  <a:moveTo>
                    <a:pt x="721043" y="0"/>
                  </a:moveTo>
                  <a:lnTo>
                    <a:pt x="0" y="793433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10576560" y="2714625"/>
              <a:ext cx="9525" cy="793433"/>
            </a:xfrm>
            <a:custGeom>
              <a:avLst/>
              <a:gdLst/>
              <a:ahLst/>
              <a:cxnLst/>
              <a:rect l="l" t="t" r="r" b="b"/>
              <a:pathLst>
                <a:path w="9525" h="793433">
                  <a:moveTo>
                    <a:pt x="0" y="0"/>
                  </a:moveTo>
                  <a:lnTo>
                    <a:pt x="0" y="793433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10576560" y="2714625"/>
              <a:ext cx="721042" cy="793433"/>
            </a:xfrm>
            <a:custGeom>
              <a:avLst/>
              <a:gdLst/>
              <a:ahLst/>
              <a:cxnLst/>
              <a:rect l="l" t="t" r="r" b="b"/>
              <a:pathLst>
                <a:path w="721042" h="793433">
                  <a:moveTo>
                    <a:pt x="0" y="0"/>
                  </a:moveTo>
                  <a:lnTo>
                    <a:pt x="721042" y="793433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6248400" y="1921192"/>
              <a:ext cx="2164080" cy="793433"/>
            </a:xfrm>
            <a:custGeom>
              <a:avLst/>
              <a:gdLst/>
              <a:ahLst/>
              <a:cxnLst/>
              <a:rect l="l" t="t" r="r" b="b"/>
              <a:pathLst>
                <a:path w="2164080" h="793433">
                  <a:moveTo>
                    <a:pt x="2164080" y="0"/>
                  </a:moveTo>
                  <a:lnTo>
                    <a:pt x="0" y="793433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8412480" y="1921192"/>
              <a:ext cx="9525" cy="793433"/>
            </a:xfrm>
            <a:custGeom>
              <a:avLst/>
              <a:gdLst/>
              <a:ahLst/>
              <a:cxnLst/>
              <a:rect l="l" t="t" r="r" b="b"/>
              <a:pathLst>
                <a:path w="9525" h="793433">
                  <a:moveTo>
                    <a:pt x="0" y="0"/>
                  </a:moveTo>
                  <a:lnTo>
                    <a:pt x="0" y="793433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8412480" y="1921192"/>
              <a:ext cx="2164080" cy="793433"/>
            </a:xfrm>
            <a:custGeom>
              <a:avLst/>
              <a:gdLst/>
              <a:ahLst/>
              <a:cxnLst/>
              <a:rect l="l" t="t" r="r" b="b"/>
              <a:pathLst>
                <a:path w="2164080" h="793433">
                  <a:moveTo>
                    <a:pt x="0" y="0"/>
                  </a:moveTo>
                  <a:lnTo>
                    <a:pt x="2164080" y="793433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5487352" y="3298508"/>
              <a:ext cx="441008" cy="419100"/>
            </a:xfrm>
            <a:prstGeom prst="roundRect">
              <a:avLst>
                <a:gd name="adj" fmla="val 18182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6569392" y="3298508"/>
              <a:ext cx="441008" cy="419100"/>
            </a:xfrm>
            <a:prstGeom prst="roundRect">
              <a:avLst>
                <a:gd name="adj" fmla="val 18182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5654040" y="2505075"/>
              <a:ext cx="1188720" cy="419100"/>
            </a:xfrm>
            <a:prstGeom prst="roundRect">
              <a:avLst>
                <a:gd name="adj" fmla="val 18182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7470458" y="3298508"/>
              <a:ext cx="441008" cy="419100"/>
            </a:xfrm>
            <a:prstGeom prst="roundRect">
              <a:avLst>
                <a:gd name="adj" fmla="val 18182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8192452" y="3298508"/>
              <a:ext cx="441008" cy="419100"/>
            </a:xfrm>
            <a:prstGeom prst="roundRect">
              <a:avLst>
                <a:gd name="adj" fmla="val 18182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8913495" y="3298508"/>
              <a:ext cx="441008" cy="419100"/>
            </a:xfrm>
            <a:prstGeom prst="roundRect">
              <a:avLst>
                <a:gd name="adj" fmla="val 18182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7818120" y="2505075"/>
              <a:ext cx="1188720" cy="419100"/>
            </a:xfrm>
            <a:prstGeom prst="roundRect">
              <a:avLst>
                <a:gd name="adj" fmla="val 18182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9634538" y="3298508"/>
              <a:ext cx="441008" cy="419100"/>
            </a:xfrm>
            <a:prstGeom prst="roundRect">
              <a:avLst>
                <a:gd name="adj" fmla="val 18182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10356532" y="3298508"/>
              <a:ext cx="441008" cy="419100"/>
            </a:xfrm>
            <a:prstGeom prst="roundRect">
              <a:avLst>
                <a:gd name="adj" fmla="val 18182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11077575" y="3298508"/>
              <a:ext cx="441008" cy="419100"/>
            </a:xfrm>
            <a:prstGeom prst="roundRect">
              <a:avLst>
                <a:gd name="adj" fmla="val 18182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9982200" y="2505075"/>
              <a:ext cx="1188720" cy="419100"/>
            </a:xfrm>
            <a:prstGeom prst="roundRect">
              <a:avLst>
                <a:gd name="adj" fmla="val 18182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7781925" y="1711642"/>
              <a:ext cx="1262062" cy="419100"/>
            </a:xfrm>
            <a:prstGeom prst="roundRect">
              <a:avLst>
                <a:gd name="adj" fmla="val 18182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5579601" y="3443288"/>
              <a:ext cx="255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1.1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661641" y="3443288"/>
              <a:ext cx="255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1.2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5748868" y="2648902"/>
              <a:ext cx="99906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加工 1 → 图号 1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563658" y="3443288"/>
              <a:ext cx="255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2.1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284701" y="3443288"/>
              <a:ext cx="255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2.2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005743" y="3443288"/>
              <a:ext cx="255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2.3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912948" y="2648902"/>
              <a:ext cx="99906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加工 2 → 图号 2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727738" y="3443288"/>
              <a:ext cx="255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3.1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0448781" y="3443288"/>
              <a:ext cx="255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3.2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169823" y="3443288"/>
              <a:ext cx="255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3.3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077028" y="2648902"/>
              <a:ext cx="99906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加工 3 → 图号 3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845769" y="1855470"/>
              <a:ext cx="113342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顶层图（系统 G）</a:t>
              </a:r>
            </a:p>
          </p:txBody>
        </p:sp>
      </p:grpSp>
      <p:grpSp>
        <p:nvGrpSpPr>
          <p:cNvPr id="69" name="c2-card-2"/>
          <p:cNvGrpSpPr/>
          <p:nvPr/>
        </p:nvGrpSpPr>
        <p:grpSpPr>
          <a:xfrm>
            <a:off x="5166360" y="4095750"/>
            <a:ext cx="6492240" cy="1784985"/>
            <a:chOff x="5166360" y="4095750"/>
            <a:chExt cx="6492240" cy="1784985"/>
          </a:xfrm>
        </p:grpSpPr>
        <p:sp>
          <p:nvSpPr>
            <p:cNvPr id="60" name="Rectangle 60"/>
            <p:cNvSpPr/>
            <p:nvPr/>
          </p:nvSpPr>
          <p:spPr>
            <a:xfrm>
              <a:off x="5166360" y="4095750"/>
              <a:ext cx="6492240" cy="1784985"/>
            </a:xfrm>
            <a:prstGeom prst="roundRect">
              <a:avLst>
                <a:gd name="adj" fmla="val 7471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5375910" y="4305300"/>
              <a:ext cx="1347788" cy="257175"/>
            </a:xfrm>
            <a:prstGeom prst="roundRect">
              <a:avLst>
                <a:gd name="adj" fmla="val 50000"/>
              </a:avLst>
            </a:prstGeom>
            <a:solidFill>
              <a:srgbClr val="243B53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5440515" y="4341019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看编号就知道位置</a:t>
              </a:r>
            </a:p>
          </p:txBody>
        </p:sp>
        <p:sp>
          <p:nvSpPr>
            <p:cNvPr id="63" name="Ellipse 63"/>
            <p:cNvSpPr/>
            <p:nvPr/>
          </p:nvSpPr>
          <p:spPr>
            <a:xfrm>
              <a:off x="5381625" y="474535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5539740" y="4682490"/>
              <a:ext cx="417247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3.3.2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在图号 3.3 中，是该子图的第 2 个加工</a:t>
              </a:r>
            </a:p>
          </p:txBody>
        </p:sp>
        <p:sp>
          <p:nvSpPr>
            <p:cNvPr id="65" name="Ellipse 65"/>
            <p:cNvSpPr/>
            <p:nvPr/>
          </p:nvSpPr>
          <p:spPr>
            <a:xfrm>
              <a:off x="5381625" y="508063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5539740" y="5017770"/>
              <a:ext cx="384181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它的父加工是 3.3，再往上是 0 层的加工 3</a:t>
              </a:r>
            </a:p>
          </p:txBody>
        </p:sp>
        <p:sp>
          <p:nvSpPr>
            <p:cNvPr id="67" name="Ellipse 67"/>
            <p:cNvSpPr/>
            <p:nvPr/>
          </p:nvSpPr>
          <p:spPr>
            <a:xfrm>
              <a:off x="5381625" y="541591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5539740" y="5353050"/>
              <a:ext cx="38519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层次深了也不会乱，编号本身就是一条路径</a:t>
              </a:r>
            </a:p>
          </p:txBody>
        </p:sp>
      </p:grpSp>
      <p:grpSp>
        <p:nvGrpSpPr>
          <p:cNvPr id="7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0" name="TextBox 70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第2章 可行性研究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772156" cy="909257"/>
            <a:chOff x="520446" y="342900"/>
            <a:chExt cx="277215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2125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7648" y="407194"/>
              <a:ext cx="231275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第2章 可行性研究 · 数据流图 DFD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77215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父图和子图的平衡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9" name="c1-graph-1"/>
          <p:cNvGrpSpPr/>
          <p:nvPr/>
        </p:nvGrpSpPr>
        <p:grpSpPr>
          <a:xfrm>
            <a:off x="983652" y="1711166"/>
            <a:ext cx="4998329" cy="1286923"/>
            <a:chOff x="983652" y="1711166"/>
            <a:chExt cx="4998329" cy="1286923"/>
          </a:xfrm>
        </p:grpSpPr>
        <p:sp>
          <p:nvSpPr>
            <p:cNvPr id="7" name="Freeform 7"/>
            <p:cNvSpPr/>
            <p:nvPr/>
          </p:nvSpPr>
          <p:spPr>
            <a:xfrm>
              <a:off x="1112520" y="2238375"/>
              <a:ext cx="1491615" cy="9525"/>
            </a:xfrm>
            <a:custGeom>
              <a:avLst/>
              <a:gdLst/>
              <a:ahLst/>
              <a:cxnLst/>
              <a:rect l="l" t="t" r="r" b="b"/>
              <a:pathLst>
                <a:path w="1491615" h="9525">
                  <a:moveTo>
                    <a:pt x="0" y="0"/>
                  </a:moveTo>
                  <a:lnTo>
                    <a:pt x="149161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2604135" y="219075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3134678" y="1806892"/>
              <a:ext cx="2624138" cy="398145"/>
            </a:xfrm>
            <a:custGeom>
              <a:avLst/>
              <a:gdLst/>
              <a:ahLst/>
              <a:cxnLst/>
              <a:rect l="l" t="t" r="r" b="b"/>
              <a:pathLst>
                <a:path w="2624138" h="398145">
                  <a:moveTo>
                    <a:pt x="0" y="398145"/>
                  </a:moveTo>
                  <a:lnTo>
                    <a:pt x="2624138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5752148" y="1760220"/>
              <a:ext cx="100965" cy="94297"/>
            </a:xfrm>
            <a:custGeom>
              <a:avLst/>
              <a:gdLst/>
              <a:ahLst/>
              <a:cxnLst/>
              <a:rect l="l" t="t" r="r" b="b"/>
              <a:pathLst>
                <a:path w="100965" h="94297">
                  <a:moveTo>
                    <a:pt x="100965" y="32385"/>
                  </a:moveTo>
                  <a:lnTo>
                    <a:pt x="14288" y="942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3134678" y="2271712"/>
              <a:ext cx="2624138" cy="398145"/>
            </a:xfrm>
            <a:custGeom>
              <a:avLst/>
              <a:gdLst/>
              <a:ahLst/>
              <a:cxnLst/>
              <a:rect l="l" t="t" r="r" b="b"/>
              <a:pathLst>
                <a:path w="2624138" h="398145">
                  <a:moveTo>
                    <a:pt x="0" y="0"/>
                  </a:moveTo>
                  <a:lnTo>
                    <a:pt x="2624138" y="39814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5752148" y="2622232"/>
              <a:ext cx="100965" cy="94297"/>
            </a:xfrm>
            <a:custGeom>
              <a:avLst/>
              <a:gdLst/>
              <a:ahLst/>
              <a:cxnLst/>
              <a:rect l="l" t="t" r="r" b="b"/>
              <a:pathLst>
                <a:path w="100965" h="94297">
                  <a:moveTo>
                    <a:pt x="100965" y="61912"/>
                  </a:moveTo>
                  <a:lnTo>
                    <a:pt x="0" y="94297"/>
                  </a:lnTo>
                  <a:lnTo>
                    <a:pt x="14288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2708910" y="2028825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83652" y="2168366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869209" y="21683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878550" y="1711166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878550" y="2625566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616470" y="2792730"/>
              <a:ext cx="21089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父图：加工 4 只有 E 进，G、F 出</a:t>
              </a:r>
            </a:p>
          </p:txBody>
        </p:sp>
      </p:grpSp>
      <p:grpSp>
        <p:nvGrpSpPr>
          <p:cNvPr id="50" name="c1-graph-2"/>
          <p:cNvGrpSpPr/>
          <p:nvPr/>
        </p:nvGrpSpPr>
        <p:grpSpPr>
          <a:xfrm>
            <a:off x="736401" y="3399473"/>
            <a:ext cx="5493784" cy="3008566"/>
            <a:chOff x="736401" y="3399473"/>
            <a:chExt cx="5493784" cy="3008566"/>
          </a:xfrm>
        </p:grpSpPr>
        <p:sp>
          <p:nvSpPr>
            <p:cNvPr id="20" name="Freeform 20"/>
            <p:cNvSpPr/>
            <p:nvPr/>
          </p:nvSpPr>
          <p:spPr>
            <a:xfrm>
              <a:off x="859155" y="4044315"/>
              <a:ext cx="499110" cy="9525"/>
            </a:xfrm>
            <a:custGeom>
              <a:avLst/>
              <a:gdLst/>
              <a:ahLst/>
              <a:cxnLst/>
              <a:rect l="l" t="t" r="r" b="b"/>
              <a:pathLst>
                <a:path w="499110" h="9525">
                  <a:moveTo>
                    <a:pt x="0" y="0"/>
                  </a:moveTo>
                  <a:lnTo>
                    <a:pt x="49911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1358265" y="399669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2" name="Freeform 22"/>
            <p:cNvSpPr/>
            <p:nvPr/>
          </p:nvSpPr>
          <p:spPr>
            <a:xfrm>
              <a:off x="1872615" y="4044315"/>
              <a:ext cx="866775" cy="9525"/>
            </a:xfrm>
            <a:custGeom>
              <a:avLst/>
              <a:gdLst/>
              <a:ahLst/>
              <a:cxnLst/>
              <a:rect l="l" t="t" r="r" b="b"/>
              <a:pathLst>
                <a:path w="866775" h="9525">
                  <a:moveTo>
                    <a:pt x="0" y="0"/>
                  </a:moveTo>
                  <a:lnTo>
                    <a:pt x="86677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2739390" y="399669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4" name="Freeform 24"/>
            <p:cNvSpPr/>
            <p:nvPr/>
          </p:nvSpPr>
          <p:spPr>
            <a:xfrm>
              <a:off x="3253740" y="4044315"/>
              <a:ext cx="991552" cy="9525"/>
            </a:xfrm>
            <a:custGeom>
              <a:avLst/>
              <a:gdLst/>
              <a:ahLst/>
              <a:cxnLst/>
              <a:rect l="l" t="t" r="r" b="b"/>
              <a:pathLst>
                <a:path w="991552" h="9525">
                  <a:moveTo>
                    <a:pt x="0" y="0"/>
                  </a:moveTo>
                  <a:lnTo>
                    <a:pt x="99155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4245292" y="399669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6" name="Freeform 26"/>
            <p:cNvSpPr/>
            <p:nvPr/>
          </p:nvSpPr>
          <p:spPr>
            <a:xfrm>
              <a:off x="4747260" y="3523298"/>
              <a:ext cx="1269683" cy="451485"/>
            </a:xfrm>
            <a:custGeom>
              <a:avLst/>
              <a:gdLst/>
              <a:ahLst/>
              <a:cxnLst/>
              <a:rect l="l" t="t" r="r" b="b"/>
              <a:pathLst>
                <a:path w="1269683" h="451485">
                  <a:moveTo>
                    <a:pt x="0" y="451485"/>
                  </a:moveTo>
                  <a:lnTo>
                    <a:pt x="1269683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6000750" y="3478530"/>
              <a:ext cx="105728" cy="89535"/>
            </a:xfrm>
            <a:custGeom>
              <a:avLst/>
              <a:gdLst/>
              <a:ahLst/>
              <a:cxnLst/>
              <a:rect l="l" t="t" r="r" b="b"/>
              <a:pathLst>
                <a:path w="105728" h="89535">
                  <a:moveTo>
                    <a:pt x="105728" y="13335"/>
                  </a:moveTo>
                  <a:lnTo>
                    <a:pt x="32385" y="895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8" name="Freeform 28"/>
            <p:cNvSpPr/>
            <p:nvPr/>
          </p:nvSpPr>
          <p:spPr>
            <a:xfrm>
              <a:off x="4747260" y="4114800"/>
              <a:ext cx="1269683" cy="450533"/>
            </a:xfrm>
            <a:custGeom>
              <a:avLst/>
              <a:gdLst/>
              <a:ahLst/>
              <a:cxnLst/>
              <a:rect l="l" t="t" r="r" b="b"/>
              <a:pathLst>
                <a:path w="1269683" h="450533">
                  <a:moveTo>
                    <a:pt x="0" y="0"/>
                  </a:moveTo>
                  <a:lnTo>
                    <a:pt x="1269683" y="45053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6000750" y="4520565"/>
              <a:ext cx="105728" cy="90488"/>
            </a:xfrm>
            <a:custGeom>
              <a:avLst/>
              <a:gdLst/>
              <a:ahLst/>
              <a:cxnLst/>
              <a:rect l="l" t="t" r="r" b="b"/>
              <a:pathLst>
                <a:path w="105728" h="90488">
                  <a:moveTo>
                    <a:pt x="105728" y="77152"/>
                  </a:moveTo>
                  <a:lnTo>
                    <a:pt x="0" y="90488"/>
                  </a:lnTo>
                  <a:lnTo>
                    <a:pt x="32385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0" name="Freeform 30"/>
            <p:cNvSpPr/>
            <p:nvPr/>
          </p:nvSpPr>
          <p:spPr>
            <a:xfrm>
              <a:off x="3044190" y="4253865"/>
              <a:ext cx="9525" cy="1160145"/>
            </a:xfrm>
            <a:custGeom>
              <a:avLst/>
              <a:gdLst/>
              <a:ahLst/>
              <a:cxnLst/>
              <a:rect l="l" t="t" r="r" b="b"/>
              <a:pathLst>
                <a:path w="9525" h="1160145">
                  <a:moveTo>
                    <a:pt x="0" y="0"/>
                  </a:moveTo>
                  <a:lnTo>
                    <a:pt x="0" y="116014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2996565" y="541401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2" name="Freeform 32"/>
            <p:cNvSpPr/>
            <p:nvPr/>
          </p:nvSpPr>
          <p:spPr>
            <a:xfrm>
              <a:off x="1612582" y="5718810"/>
              <a:ext cx="1126808" cy="9525"/>
            </a:xfrm>
            <a:custGeom>
              <a:avLst/>
              <a:gdLst/>
              <a:ahLst/>
              <a:cxnLst/>
              <a:rect l="l" t="t" r="r" b="b"/>
              <a:pathLst>
                <a:path w="1126808" h="9525">
                  <a:moveTo>
                    <a:pt x="0" y="0"/>
                  </a:moveTo>
                  <a:lnTo>
                    <a:pt x="1126808" y="0"/>
                  </a:lnTo>
                </a:path>
              </a:pathLst>
            </a:custGeom>
            <a:noFill/>
            <a:ln w="17145">
              <a:solidFill>
                <a:srgbClr val="B42318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2739390" y="567118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34" name="Freeform 34"/>
            <p:cNvSpPr/>
            <p:nvPr/>
          </p:nvSpPr>
          <p:spPr>
            <a:xfrm>
              <a:off x="3253740" y="5718810"/>
              <a:ext cx="1251585" cy="9525"/>
            </a:xfrm>
            <a:custGeom>
              <a:avLst/>
              <a:gdLst/>
              <a:ahLst/>
              <a:cxnLst/>
              <a:rect l="l" t="t" r="r" b="b"/>
              <a:pathLst>
                <a:path w="1251585" h="9525">
                  <a:moveTo>
                    <a:pt x="0" y="0"/>
                  </a:moveTo>
                  <a:lnTo>
                    <a:pt x="1251585" y="0"/>
                  </a:lnTo>
                </a:path>
              </a:pathLst>
            </a:custGeom>
            <a:noFill/>
            <a:ln w="17145">
              <a:solidFill>
                <a:srgbClr val="B42318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4505325" y="567118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1463040" y="3844290"/>
              <a:ext cx="400050" cy="4000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37" name="Ellipse 37"/>
            <p:cNvSpPr/>
            <p:nvPr/>
          </p:nvSpPr>
          <p:spPr>
            <a:xfrm>
              <a:off x="2844165" y="3844290"/>
              <a:ext cx="400050" cy="4000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38" name="Ellipse 38"/>
            <p:cNvSpPr/>
            <p:nvPr/>
          </p:nvSpPr>
          <p:spPr>
            <a:xfrm>
              <a:off x="4350068" y="3844290"/>
              <a:ext cx="400050" cy="4000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39" name="Ellipse 39"/>
            <p:cNvSpPr/>
            <p:nvPr/>
          </p:nvSpPr>
          <p:spPr>
            <a:xfrm>
              <a:off x="2844165" y="5518785"/>
              <a:ext cx="400050" cy="4000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36401" y="3979545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535286" y="3979545"/>
              <a:ext cx="255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4.1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2916411" y="3979545"/>
              <a:ext cx="255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4.2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422313" y="3979545"/>
              <a:ext cx="255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4.3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133266" y="3399473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133266" y="4558665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2916411" y="5653088"/>
              <a:ext cx="255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4.4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488876" y="5653088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H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4627363" y="5653088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L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2456116" y="6202680"/>
              <a:ext cx="24296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子图：多出 H 进、L 出，与父图对不上</a:t>
              </a:r>
            </a:p>
          </p:txBody>
        </p:sp>
      </p:grpSp>
      <p:grpSp>
        <p:nvGrpSpPr>
          <p:cNvPr id="56" name="c2-card-1"/>
          <p:cNvGrpSpPr/>
          <p:nvPr/>
        </p:nvGrpSpPr>
        <p:grpSpPr>
          <a:xfrm>
            <a:off x="7114222" y="1524000"/>
            <a:ext cx="4544378" cy="1316355"/>
            <a:chOff x="7114222" y="1524000"/>
            <a:chExt cx="4544378" cy="1316355"/>
          </a:xfrm>
        </p:grpSpPr>
        <p:sp>
          <p:nvSpPr>
            <p:cNvPr id="51" name="Rectangle 51"/>
            <p:cNvSpPr/>
            <p:nvPr/>
          </p:nvSpPr>
          <p:spPr>
            <a:xfrm>
              <a:off x="7114222" y="1524000"/>
              <a:ext cx="4544378" cy="1316355"/>
            </a:xfrm>
            <a:prstGeom prst="roundRect">
              <a:avLst>
                <a:gd name="adj" fmla="val 101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7123748" y="1657350"/>
              <a:ext cx="47625" cy="1049655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7361872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44322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平衡规则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354252" y="2110740"/>
              <a:ext cx="3825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子图的输入输出数据流，必须与父图中对应加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工的输入输出数据流一致。</a:t>
              </a:r>
            </a:p>
          </p:txBody>
        </p:sp>
      </p:grpSp>
      <p:grpSp>
        <p:nvGrpSpPr>
          <p:cNvPr id="63" name="c2-card-2"/>
          <p:cNvGrpSpPr/>
          <p:nvPr/>
        </p:nvGrpSpPr>
        <p:grpSpPr>
          <a:xfrm>
            <a:off x="7114222" y="3030855"/>
            <a:ext cx="4544378" cy="2082165"/>
            <a:chOff x="7114222" y="3030855"/>
            <a:chExt cx="4544378" cy="2082165"/>
          </a:xfrm>
        </p:grpSpPr>
        <p:sp>
          <p:nvSpPr>
            <p:cNvPr id="57" name="Rectangle 57"/>
            <p:cNvSpPr/>
            <p:nvPr/>
          </p:nvSpPr>
          <p:spPr>
            <a:xfrm>
              <a:off x="7114222" y="3030855"/>
              <a:ext cx="4544378" cy="2082165"/>
            </a:xfrm>
            <a:prstGeom prst="roundRect">
              <a:avLst>
                <a:gd name="adj" fmla="val 640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7123748" y="3164205"/>
              <a:ext cx="47625" cy="181546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7361872" y="3240405"/>
              <a:ext cx="134778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426477" y="3276124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仍然算平衡的情况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354252" y="3617595"/>
              <a:ext cx="3825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父图上的一条数据流，在子图中细分成几股子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数据流时仍然平衡。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355396" y="4235291"/>
              <a:ext cx="3914394" cy="7179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例：父图中进入加工 3 的是“考生情况”，子图里分成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考生姓名、准考证号、考生成绩、通讯地址四股，数据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内容没有变。</a:t>
              </a:r>
            </a:p>
          </p:txBody>
        </p:sp>
      </p:grpSp>
      <p:grpSp>
        <p:nvGrpSpPr>
          <p:cNvPr id="70" name="c2-callout-3"/>
          <p:cNvGrpSpPr/>
          <p:nvPr/>
        </p:nvGrpSpPr>
        <p:grpSpPr>
          <a:xfrm>
            <a:off x="7114222" y="5303520"/>
            <a:ext cx="4544378" cy="782955"/>
            <a:chOff x="7114222" y="5303520"/>
            <a:chExt cx="4544378" cy="782955"/>
          </a:xfrm>
        </p:grpSpPr>
        <p:sp>
          <p:nvSpPr>
            <p:cNvPr id="64" name="Rectangle 64"/>
            <p:cNvSpPr/>
            <p:nvPr/>
          </p:nvSpPr>
          <p:spPr>
            <a:xfrm>
              <a:off x="7114222" y="5303520"/>
              <a:ext cx="4544378" cy="782955"/>
            </a:xfrm>
            <a:prstGeom prst="roundRect">
              <a:avLst>
                <a:gd name="adj" fmla="val 1459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68" name="Group 68"/>
            <p:cNvGrpSpPr/>
            <p:nvPr/>
          </p:nvGrpSpPr>
          <p:grpSpPr>
            <a:xfrm>
              <a:off x="7306952" y="5591293"/>
              <a:ext cx="224134" cy="192560"/>
              <a:chOff x="7306952" y="5591293"/>
              <a:chExt cx="224134" cy="192560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7419023" y="566166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7306952" y="559129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7419023" y="57394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69" name="TextBox 69"/>
            <p:cNvSpPr txBox="1"/>
            <p:nvPr/>
          </p:nvSpPr>
          <p:spPr>
            <a:xfrm>
              <a:off x="7620952" y="5452110"/>
              <a:ext cx="3634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检查平衡只数跨出子图边界的数据流，子图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内部新增的数据流不参与比较。</a:t>
              </a:r>
            </a:p>
          </p:txBody>
        </p:sp>
      </p:grpSp>
      <p:grpSp>
        <p:nvGrpSpPr>
          <p:cNvPr id="7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1" name="TextBox 71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第2章 可行性研究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145280" cy="909257"/>
            <a:chOff x="520446" y="342900"/>
            <a:chExt cx="414528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2125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7648" y="407194"/>
              <a:ext cx="231275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第2章 可行性研究 · 数据流图 DFD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14528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画数据流图容易踩的三个坑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0" name="c1-card-1"/>
          <p:cNvGrpSpPr/>
          <p:nvPr/>
        </p:nvGrpSpPr>
        <p:grpSpPr>
          <a:xfrm>
            <a:off x="533400" y="1524000"/>
            <a:ext cx="3505200" cy="3198495"/>
            <a:chOff x="533400" y="1524000"/>
            <a:chExt cx="3505200" cy="319849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3505200" cy="3198495"/>
            </a:xfrm>
            <a:prstGeom prst="roundRect">
              <a:avLst>
                <a:gd name="adj" fmla="val 416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93179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坑一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82078" y="1768792"/>
              <a:ext cx="193281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 DFD 画成了流程图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86765" y="219265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44880" y="2129790"/>
              <a:ext cx="27298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DFD 的箭头是 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数据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，流程图的箭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头是控制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86765" y="281368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44880" y="2750820"/>
              <a:ext cx="28544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DFD 上不画判断框，也不画循环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86765" y="314896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44880" y="3086100"/>
              <a:ext cx="2682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加工之间没有先后顺序，数据到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齐了就能做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86765" y="376999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44880" y="3707130"/>
              <a:ext cx="2682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一条数据流只说明数据从哪来、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到哪去</a:t>
              </a:r>
            </a:p>
          </p:txBody>
        </p:sp>
      </p:grpSp>
      <p:grpSp>
        <p:nvGrpSpPr>
          <p:cNvPr id="31" name="c2-card-1"/>
          <p:cNvGrpSpPr/>
          <p:nvPr/>
        </p:nvGrpSpPr>
        <p:grpSpPr>
          <a:xfrm>
            <a:off x="4343400" y="1524000"/>
            <a:ext cx="3505200" cy="3198495"/>
            <a:chOff x="4343400" y="1524000"/>
            <a:chExt cx="3505200" cy="3198495"/>
          </a:xfrm>
        </p:grpSpPr>
        <p:sp>
          <p:nvSpPr>
            <p:cNvPr id="21" name="Rectangle 21"/>
            <p:cNvSpPr/>
            <p:nvPr/>
          </p:nvSpPr>
          <p:spPr>
            <a:xfrm>
              <a:off x="4343400" y="1524000"/>
              <a:ext cx="3505200" cy="3198495"/>
            </a:xfrm>
            <a:prstGeom prst="roundRect">
              <a:avLst>
                <a:gd name="adj" fmla="val 416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4352925" y="1657350"/>
              <a:ext cx="47625" cy="293179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459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68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坑二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192078" y="1768792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局部文件画到了父图上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583430" y="2129790"/>
              <a:ext cx="2872740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文件（数据存储）总是局部于分层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数据流图的某一层或某几层，所以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数据流图中引入的文件都是局部文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件。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4596765" y="338518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754880" y="3322320"/>
              <a:ext cx="2682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只被一个加工读写的文件，在父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图上不必画出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4596765" y="400621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4754880" y="3943350"/>
              <a:ext cx="2682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被两个以上加工共享时，才提升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到它们的公共父图</a:t>
              </a:r>
            </a:p>
          </p:txBody>
        </p:sp>
      </p:grpSp>
      <p:grpSp>
        <p:nvGrpSpPr>
          <p:cNvPr id="45" name="c3-card-1"/>
          <p:cNvGrpSpPr/>
          <p:nvPr/>
        </p:nvGrpSpPr>
        <p:grpSpPr>
          <a:xfrm>
            <a:off x="8153400" y="1524000"/>
            <a:ext cx="3505200" cy="3198495"/>
            <a:chOff x="8153400" y="1524000"/>
            <a:chExt cx="3505200" cy="3198495"/>
          </a:xfrm>
        </p:grpSpPr>
        <p:sp>
          <p:nvSpPr>
            <p:cNvPr id="32" name="Rectangle 32"/>
            <p:cNvSpPr/>
            <p:nvPr/>
          </p:nvSpPr>
          <p:spPr>
            <a:xfrm>
              <a:off x="8153400" y="1524000"/>
              <a:ext cx="3505200" cy="3198495"/>
            </a:xfrm>
            <a:prstGeom prst="roundRect">
              <a:avLst>
                <a:gd name="adj" fmla="val 416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8162925" y="1657350"/>
              <a:ext cx="47625" cy="293179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840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49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坑三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002078" y="1768792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分解的深度和层次没把握好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8406765" y="219265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564880" y="2129790"/>
              <a:ext cx="26536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一个加工的分解最好不要超过 9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个子加工，超过时增加层次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8406765" y="281368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564880" y="2750820"/>
              <a:ext cx="2682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分解在逻辑上应合理、自然，不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能硬性分割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8406765" y="343471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8564880" y="3371850"/>
              <a:ext cx="2682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在保证易理解的前提下尽量减少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分解层次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8406765" y="405574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8564880" y="3992880"/>
              <a:ext cx="2682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分解要均匀，不要有的加工已是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基本加工、有的还要再分好几层</a:t>
              </a:r>
            </a:p>
          </p:txBody>
        </p:sp>
      </p:grpSp>
      <p:grpSp>
        <p:nvGrpSpPr>
          <p:cNvPr id="51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46" name="Rectangle 46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1040130" y="5991225"/>
              <a:ext cx="66789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前两个坑影响读图的人是否会误解，第三个坑影响这套图能不能维护下去。</a:t>
              </a:r>
            </a:p>
          </p:txBody>
        </p:sp>
      </p:grpSp>
      <p:grpSp>
        <p:nvGrpSpPr>
          <p:cNvPr id="5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2" name="TextBox 52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第2章 可行性研究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2125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7648" y="407194"/>
              <a:ext cx="231275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第2章 可行性研究 · 数据流图 DFD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命名问题：先给数据流起名，再给加工起名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1" name="c1-card-1"/>
          <p:cNvGrpSpPr/>
          <p:nvPr/>
        </p:nvGrpSpPr>
        <p:grpSpPr>
          <a:xfrm>
            <a:off x="533400" y="1524000"/>
            <a:ext cx="5410200" cy="2644140"/>
            <a:chOff x="533400" y="1524000"/>
            <a:chExt cx="5410200" cy="264414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644140"/>
            </a:xfrm>
            <a:prstGeom prst="roundRect">
              <a:avLst>
                <a:gd name="adj" fmla="val 504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37744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8190" y="1710690"/>
              <a:ext cx="831532" cy="23812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9660" y="1743551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数据流命名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66762" y="2110740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22782" y="2054542"/>
              <a:ext cx="46428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名字应代表整个数据流，有时也把其中最重要的那个数据的名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字作为数据流名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66762" y="2668905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22782" y="2612708"/>
              <a:ext cx="46428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现实环境中传递的表格、单据的名字可以直接用，如日报表、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月报表、统计表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66762" y="3226118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22782" y="3169920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不要使用空洞的、缺乏具体含义的名字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66762" y="3526155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22782" y="346995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不要把控制流作为数据流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766762" y="3826192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22782" y="3769995"/>
              <a:ext cx="49206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命名遇到困难，往往说明数据流图分解不当，应考虑重新分解</a:t>
              </a:r>
            </a:p>
          </p:txBody>
        </p:sp>
      </p:grpSp>
      <p:grpSp>
        <p:nvGrpSpPr>
          <p:cNvPr id="33" name="c1-graph-2"/>
          <p:cNvGrpSpPr/>
          <p:nvPr/>
        </p:nvGrpSpPr>
        <p:grpSpPr>
          <a:xfrm>
            <a:off x="989267" y="4340542"/>
            <a:ext cx="4686490" cy="1098232"/>
            <a:chOff x="989267" y="4340542"/>
            <a:chExt cx="4686490" cy="1098232"/>
          </a:xfrm>
        </p:grpSpPr>
        <p:sp>
          <p:nvSpPr>
            <p:cNvPr id="22" name="Freeform 22"/>
            <p:cNvSpPr/>
            <p:nvPr/>
          </p:nvSpPr>
          <p:spPr>
            <a:xfrm>
              <a:off x="1503045" y="4589145"/>
              <a:ext cx="1306830" cy="57150"/>
            </a:xfrm>
            <a:custGeom>
              <a:avLst/>
              <a:gdLst/>
              <a:ahLst/>
              <a:cxnLst/>
              <a:rect l="l" t="t" r="r" b="b"/>
              <a:pathLst>
                <a:path w="1306830" h="57150">
                  <a:moveTo>
                    <a:pt x="0" y="0"/>
                  </a:moveTo>
                  <a:lnTo>
                    <a:pt x="1306830" y="5715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2807970" y="4598670"/>
              <a:ext cx="97155" cy="95250"/>
            </a:xfrm>
            <a:custGeom>
              <a:avLst/>
              <a:gdLst/>
              <a:ahLst/>
              <a:cxnLst/>
              <a:rect l="l" t="t" r="r" b="b"/>
              <a:pathLst>
                <a:path w="97155" h="95250">
                  <a:moveTo>
                    <a:pt x="97155" y="51435"/>
                  </a:moveTo>
                  <a:lnTo>
                    <a:pt x="0" y="95250"/>
                  </a:lnTo>
                  <a:lnTo>
                    <a:pt x="4762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4" name="Freeform 24"/>
            <p:cNvSpPr/>
            <p:nvPr/>
          </p:nvSpPr>
          <p:spPr>
            <a:xfrm>
              <a:off x="3571875" y="4603432"/>
              <a:ext cx="1023938" cy="46672"/>
            </a:xfrm>
            <a:custGeom>
              <a:avLst/>
              <a:gdLst/>
              <a:ahLst/>
              <a:cxnLst/>
              <a:rect l="l" t="t" r="r" b="b"/>
              <a:pathLst>
                <a:path w="1023938" h="46672">
                  <a:moveTo>
                    <a:pt x="0" y="46672"/>
                  </a:moveTo>
                  <a:lnTo>
                    <a:pt x="1023938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4593908" y="4555808"/>
              <a:ext cx="97155" cy="95250"/>
            </a:xfrm>
            <a:custGeom>
              <a:avLst/>
              <a:gdLst/>
              <a:ahLst/>
              <a:cxnLst/>
              <a:rect l="l" t="t" r="r" b="b"/>
              <a:pathLst>
                <a:path w="97155" h="95250">
                  <a:moveTo>
                    <a:pt x="97155" y="43815"/>
                  </a:moveTo>
                  <a:lnTo>
                    <a:pt x="381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6" name="Freeform 26"/>
            <p:cNvSpPr/>
            <p:nvPr/>
          </p:nvSpPr>
          <p:spPr>
            <a:xfrm>
              <a:off x="2772728" y="4994910"/>
              <a:ext cx="192405" cy="232410"/>
            </a:xfrm>
            <a:custGeom>
              <a:avLst/>
              <a:gdLst/>
              <a:ahLst/>
              <a:cxnLst/>
              <a:rect l="l" t="t" r="r" b="b"/>
              <a:pathLst>
                <a:path w="192405" h="232410">
                  <a:moveTo>
                    <a:pt x="0" y="232410"/>
                  </a:moveTo>
                  <a:lnTo>
                    <a:pt x="192405" y="0"/>
                  </a:lnTo>
                </a:path>
              </a:pathLst>
            </a:custGeom>
            <a:noFill/>
            <a:ln w="17145">
              <a:solidFill>
                <a:srgbClr val="B42318"/>
              </a:solidFill>
              <a:custDash>
                <a:ds d="333333" sp="222222"/>
              </a:custDash>
            </a:ln>
          </p:spPr>
        </p:sp>
        <p:sp>
          <p:nvSpPr>
            <p:cNvPr id="27" name="Freeform 27"/>
            <p:cNvSpPr/>
            <p:nvPr/>
          </p:nvSpPr>
          <p:spPr>
            <a:xfrm>
              <a:off x="2928938" y="4921568"/>
              <a:ext cx="97155" cy="103822"/>
            </a:xfrm>
            <a:custGeom>
              <a:avLst/>
              <a:gdLst/>
              <a:ahLst/>
              <a:cxnLst/>
              <a:rect l="l" t="t" r="r" b="b"/>
              <a:pathLst>
                <a:path w="97155" h="103822">
                  <a:moveTo>
                    <a:pt x="97155" y="0"/>
                  </a:moveTo>
                  <a:lnTo>
                    <a:pt x="73342" y="103822"/>
                  </a:lnTo>
                  <a:lnTo>
                    <a:pt x="0" y="42862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2914650" y="4340542"/>
              <a:ext cx="647700" cy="6477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89267" y="4521518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考生成绩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991422" y="4608195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录取分类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696968" y="4521518"/>
              <a:ext cx="9787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分类后的考生成绩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905190" y="5262562"/>
              <a:ext cx="15845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取下一个考生成绩（控制流）</a:t>
              </a:r>
            </a:p>
          </p:txBody>
        </p:sp>
      </p:grpSp>
      <p:grpSp>
        <p:nvGrpSpPr>
          <p:cNvPr id="50" name="c2-card-1"/>
          <p:cNvGrpSpPr/>
          <p:nvPr/>
        </p:nvGrpSpPr>
        <p:grpSpPr>
          <a:xfrm>
            <a:off x="6248400" y="1524000"/>
            <a:ext cx="5410200" cy="3903345"/>
            <a:chOff x="6248400" y="1524000"/>
            <a:chExt cx="5410200" cy="3903345"/>
          </a:xfrm>
        </p:grpSpPr>
        <p:sp>
          <p:nvSpPr>
            <p:cNvPr id="34" name="Rectangle 34"/>
            <p:cNvSpPr/>
            <p:nvPr/>
          </p:nvSpPr>
          <p:spPr>
            <a:xfrm>
              <a:off x="6248400" y="1524000"/>
              <a:ext cx="5410200" cy="3903345"/>
            </a:xfrm>
            <a:prstGeom prst="roundRect">
              <a:avLst>
                <a:gd name="adj" fmla="val 341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6257925" y="1657350"/>
              <a:ext cx="47625" cy="363664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6473190" y="1710690"/>
              <a:ext cx="1204912" cy="23812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543459" y="1743551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加工（处理）命名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6481762" y="2110740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637782" y="2054542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顶层的加工名可以是软件项目的名字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6481762" y="2411730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637782" y="2355532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不要使用空洞的、缺乏具体含义的名字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6481762" y="2711768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637782" y="2655570"/>
              <a:ext cx="46428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通常先为数据流命名，再为与之关联的处理命名，这符合人类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由表及里的思考过程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6481762" y="3268980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637782" y="3212782"/>
              <a:ext cx="458285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名字最好由一个谓语动词加一个宾语组成，如“计算运费”“准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备机票”，也可颠倒成“运费计算”“机票准备”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6481762" y="3826192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637782" y="3769995"/>
              <a:ext cx="38301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名字应反映整个处理的功能，而不是它的一部分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6481762" y="4126230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637782" y="4070032"/>
              <a:ext cx="46428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名字中通常只包括一个动词；必须用两个动词才能描述时，把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这个处理再分解成两个更恰当</a:t>
              </a:r>
            </a:p>
          </p:txBody>
        </p:sp>
      </p:grpSp>
      <p:grpSp>
        <p:nvGrpSpPr>
          <p:cNvPr id="57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51" name="Rectangle 51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726129" y="6018966"/>
              <a:ext cx="224134" cy="192560"/>
              <a:chOff x="726129" y="6018966"/>
              <a:chExt cx="224134" cy="192560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838200" y="608933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726129" y="601896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838200" y="616712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1040892" y="6028373"/>
              <a:ext cx="65744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“取下一个考生成绩”是控制流，不能画成数据流；一条数据流上只写数据的名字。</a:t>
              </a:r>
            </a:p>
          </p:txBody>
        </p:sp>
      </p:grpSp>
      <p:grpSp>
        <p:nvGrpSpPr>
          <p:cNvPr id="6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8" name="TextBox 58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第2章 可行性研究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488561" cy="909257"/>
            <a:chOff x="520446" y="342900"/>
            <a:chExt cx="44885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2125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7648" y="407194"/>
              <a:ext cx="231275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第2章 可行性研究 · 数据流图 DFD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4885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数据流图的用途与自动化边界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bullets-1"/>
          <p:cNvGrpSpPr/>
          <p:nvPr/>
        </p:nvGrpSpPr>
        <p:grpSpPr>
          <a:xfrm>
            <a:off x="526161" y="1547336"/>
            <a:ext cx="4487481" cy="1811274"/>
            <a:chOff x="526161" y="1547336"/>
            <a:chExt cx="4487481" cy="1811274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三个用途</a:t>
              </a:r>
            </a:p>
          </p:txBody>
        </p:sp>
        <p:sp>
          <p:nvSpPr>
            <p:cNvPr id="8" name="Ellipse 8"/>
            <p:cNvSpPr/>
            <p:nvPr/>
          </p:nvSpPr>
          <p:spPr>
            <a:xfrm>
              <a:off x="533400" y="1870710"/>
              <a:ext cx="201930" cy="20193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591745" y="1911048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24293" y="1883569"/>
              <a:ext cx="416229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作为交流信息的工具：符号少、图形直观，用户和开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发人员都看得懂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533400" y="2468880"/>
              <a:ext cx="201930" cy="20193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91745" y="2509218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24293" y="2481739"/>
              <a:ext cx="402884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作为分析和设计的工具：在图上划分自动化边界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2795588"/>
              <a:ext cx="201930" cy="20193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91745" y="2835926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24293" y="2808446"/>
              <a:ext cx="4189349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可以从数据流图出发映射出软件结构（第 5 章的面向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数据流设计）</a:t>
              </a:r>
            </a:p>
          </p:txBody>
        </p:sp>
      </p:grpSp>
      <p:grpSp>
        <p:nvGrpSpPr>
          <p:cNvPr id="23" name="c1-card-2"/>
          <p:cNvGrpSpPr/>
          <p:nvPr/>
        </p:nvGrpSpPr>
        <p:grpSpPr>
          <a:xfrm>
            <a:off x="533400" y="3482340"/>
            <a:ext cx="4760595" cy="2065020"/>
            <a:chOff x="533400" y="3482340"/>
            <a:chExt cx="4760595" cy="2065020"/>
          </a:xfrm>
        </p:grpSpPr>
        <p:sp>
          <p:nvSpPr>
            <p:cNvPr id="18" name="Rectangle 18"/>
            <p:cNvSpPr/>
            <p:nvPr/>
          </p:nvSpPr>
          <p:spPr>
            <a:xfrm>
              <a:off x="533400" y="3482340"/>
              <a:ext cx="4760595" cy="2065020"/>
            </a:xfrm>
            <a:prstGeom prst="roundRect">
              <a:avLst>
                <a:gd name="adj" fmla="val 645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542925" y="3615690"/>
              <a:ext cx="47625" cy="1798320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69620" y="3680460"/>
              <a:ext cx="876300" cy="24765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49058" y="3714750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自动化边界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381" y="4040981"/>
              <a:ext cx="4162298" cy="13645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用数据流图辅助物理系统的设计时，以图中不同处理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的定时要求为指南，能够在数据流图上画出许多组自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动化边界。每组自动化边界可能意味着一个不同的物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理系统，因此可以根据系统的逻辑模型考虑系统的物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理实现。</a:t>
              </a:r>
            </a:p>
          </p:txBody>
        </p:sp>
      </p:grpSp>
      <p:grpSp>
        <p:nvGrpSpPr>
          <p:cNvPr id="39" name="c2-table-1"/>
          <p:cNvGrpSpPr/>
          <p:nvPr/>
        </p:nvGrpSpPr>
        <p:grpSpPr>
          <a:xfrm>
            <a:off x="5598795" y="1524000"/>
            <a:ext cx="6059805" cy="2126933"/>
            <a:chOff x="5598795" y="1524000"/>
            <a:chExt cx="6059805" cy="2126933"/>
          </a:xfrm>
        </p:grpSpPr>
        <p:sp>
          <p:nvSpPr>
            <p:cNvPr id="24" name="Rectangle 24"/>
            <p:cNvSpPr/>
            <p:nvPr/>
          </p:nvSpPr>
          <p:spPr>
            <a:xfrm>
              <a:off x="5598795" y="1524000"/>
              <a:ext cx="6059805" cy="42481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754434" y="165258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划分方式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551992" y="1652588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边界内包含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935528" y="1652588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暗示的物理系统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701284" y="228981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方式一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670929" y="2076450"/>
              <a:ext cx="2442972" cy="6614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接收事务 1.1 与事务文件 D3 单独成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一块；更新库存清单 1.2、处理定货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1.3、产生报表 2 在另一块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458896" y="2183130"/>
              <a:ext cx="194767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事务先积累在 D3 里，以批量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方式更新库存清单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598795" y="279463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5598795" y="2799398"/>
              <a:ext cx="6059805" cy="85153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701284" y="314134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方式二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670929" y="2927985"/>
              <a:ext cx="2442972" cy="6614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接收事务 1.1、更新库存清单 1.2、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处理定货 1.3 与 D1 在同一块；产生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报表 2 单独成一块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458896" y="3034665"/>
              <a:ext cx="19933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事务一到就更新，以联机方式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更新库存清单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598795" y="1524000"/>
              <a:ext cx="6059805" cy="212693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6563678" y="1524000"/>
              <a:ext cx="9525" cy="212693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9351645" y="1524000"/>
              <a:ext cx="9525" cy="212693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9" name="c2-card-2"/>
          <p:cNvGrpSpPr/>
          <p:nvPr/>
        </p:nvGrpSpPr>
        <p:grpSpPr>
          <a:xfrm>
            <a:off x="5598795" y="3830955"/>
            <a:ext cx="6059805" cy="1716405"/>
            <a:chOff x="5598795" y="3830955"/>
            <a:chExt cx="6059805" cy="1716405"/>
          </a:xfrm>
        </p:grpSpPr>
        <p:sp>
          <p:nvSpPr>
            <p:cNvPr id="40" name="Rectangle 40"/>
            <p:cNvSpPr/>
            <p:nvPr/>
          </p:nvSpPr>
          <p:spPr>
            <a:xfrm>
              <a:off x="5598795" y="3830955"/>
              <a:ext cx="6059805" cy="1716405"/>
            </a:xfrm>
            <a:prstGeom prst="roundRect">
              <a:avLst>
                <a:gd name="adj" fmla="val 776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5608320" y="3964305"/>
              <a:ext cx="47625" cy="144970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5835015" y="4029075"/>
              <a:ext cx="114300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5906452" y="4063365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两种方式的取舍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5842635" y="4450080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999226" y="4389596"/>
              <a:ext cx="463100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要求库存数据随时准确 → 联机方式，边界把更新包进来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5842635" y="4767262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5999226" y="4707731"/>
              <a:ext cx="463100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事务量大、允许当天汇总 → 批量方式，用事务文件缓冲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5828919" y="5021580"/>
              <a:ext cx="50362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定货报表每天只要一张，所以两种方式里“产生报表”都可以单独成块。</a:t>
              </a:r>
            </a:p>
          </p:txBody>
        </p:sp>
      </p:grpSp>
      <p:grpSp>
        <p:nvGrpSpPr>
          <p:cNvPr id="55" name="takeaway"/>
          <p:cNvGrpSpPr/>
          <p:nvPr/>
        </p:nvGrpSpPr>
        <p:grpSpPr>
          <a:xfrm>
            <a:off x="533400" y="5858828"/>
            <a:ext cx="11125200" cy="503872"/>
            <a:chOff x="533400" y="5858828"/>
            <a:chExt cx="11125200" cy="503872"/>
          </a:xfrm>
        </p:grpSpPr>
        <p:sp>
          <p:nvSpPr>
            <p:cNvPr id="50" name="Rectangle 50"/>
            <p:cNvSpPr/>
            <p:nvPr/>
          </p:nvSpPr>
          <p:spPr>
            <a:xfrm>
              <a:off x="533400" y="5858828"/>
              <a:ext cx="11125200" cy="503872"/>
            </a:xfrm>
            <a:prstGeom prst="roundRect">
              <a:avLst>
                <a:gd name="adj" fmla="val 22684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738188" y="6011230"/>
              <a:ext cx="200023" cy="200023"/>
              <a:chOff x="738188" y="6011230"/>
              <a:chExt cx="200023" cy="200023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738188" y="601123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871538" y="607790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1040511" y="6011704"/>
              <a:ext cx="849767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边界画在哪里由定时要求决定，逻辑模型本身不变；这就是同一张 DFD 能导出多个物理方案的原因。</a:t>
              </a:r>
            </a:p>
          </p:txBody>
        </p:sp>
      </p:grpSp>
      <p:grpSp>
        <p:nvGrpSpPr>
          <p:cNvPr id="5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6" name="TextBox 56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第2章 可行性研究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2125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7648" y="407194"/>
              <a:ext cx="231275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第2章 可行性研究 · 数据流图 DFD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完整实例：房产管理系统的顶层图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842635" cy="1602105"/>
            <a:chOff x="533400" y="1524000"/>
            <a:chExt cx="5842635" cy="160210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1602105"/>
            </a:xfrm>
            <a:prstGeom prst="roundRect">
              <a:avLst>
                <a:gd name="adj" fmla="val 83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33540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题目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51587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房产管理系统用计算机对房产进行管理，包括住房的分配、调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整和计算房租等。用户可以查询住房情况和房租金额，还可以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对房产进行统计，给出统计表格。</a:t>
              </a:r>
            </a:p>
          </p:txBody>
        </p:sp>
      </p:grpSp>
      <p:grpSp>
        <p:nvGrpSpPr>
          <p:cNvPr id="23" name="c1-bullets-2"/>
          <p:cNvGrpSpPr/>
          <p:nvPr/>
        </p:nvGrpSpPr>
        <p:grpSpPr>
          <a:xfrm>
            <a:off x="542925" y="3338036"/>
            <a:ext cx="5682437" cy="1958149"/>
            <a:chOff x="542925" y="3338036"/>
            <a:chExt cx="5682437" cy="1958149"/>
          </a:xfrm>
        </p:grpSpPr>
        <p:sp>
          <p:nvSpPr>
            <p:cNvPr id="13" name="Ellipse 13"/>
            <p:cNvSpPr/>
            <p:nvPr/>
          </p:nvSpPr>
          <p:spPr>
            <a:xfrm>
              <a:off x="542925" y="3389948"/>
              <a:ext cx="57150" cy="571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98373" y="3338036"/>
              <a:ext cx="537743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房管部门把住户要求（按统一格式填写）输入系统，系统先检查合法性，不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合法就拒绝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542925" y="3938588"/>
              <a:ext cx="57150" cy="571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98373" y="3886676"/>
              <a:ext cx="55269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住户要求分三类：分房要求、调房要求、退房要求，分别进行不同的处理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542925" y="4245292"/>
              <a:ext cx="57150" cy="571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98373" y="4192429"/>
              <a:ext cx="537743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分房先按住房标准文件核准资格，够标准才输出核准后的分房单，再分配住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房，最后计算房租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542925" y="4793932"/>
              <a:ext cx="57150" cy="571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98373" y="4741069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调房处理和退房处理与分房处理相似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542925" y="5099685"/>
              <a:ext cx="57150" cy="571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98373" y="5046821"/>
              <a:ext cx="51823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咨询要求分三种：查询住户住房情况、查询房租、统计全局住房情况</a:t>
              </a:r>
            </a:p>
          </p:txBody>
        </p:sp>
      </p:grpSp>
      <p:grpSp>
        <p:nvGrpSpPr>
          <p:cNvPr id="29" name="c1-callout-3"/>
          <p:cNvGrpSpPr/>
          <p:nvPr/>
        </p:nvGrpSpPr>
        <p:grpSpPr>
          <a:xfrm>
            <a:off x="533400" y="5436870"/>
            <a:ext cx="5842635" cy="782955"/>
            <a:chOff x="533400" y="5436870"/>
            <a:chExt cx="5842635" cy="782955"/>
          </a:xfrm>
        </p:grpSpPr>
        <p:sp>
          <p:nvSpPr>
            <p:cNvPr id="24" name="Rectangle 24"/>
            <p:cNvSpPr/>
            <p:nvPr/>
          </p:nvSpPr>
          <p:spPr>
            <a:xfrm>
              <a:off x="533400" y="5436870"/>
              <a:ext cx="5842635" cy="782955"/>
            </a:xfrm>
            <a:prstGeom prst="roundRect">
              <a:avLst>
                <a:gd name="adj" fmla="val 14599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738188" y="5728337"/>
              <a:ext cx="200023" cy="200023"/>
              <a:chOff x="738188" y="5728337"/>
              <a:chExt cx="200023" cy="200023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738188" y="572833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871538" y="579501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1040130" y="5585460"/>
              <a:ext cx="4777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读题时先分类：要求三类、咨询三类，正好对应后面两张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一层图里的加工个数。</a:t>
              </a:r>
            </a:p>
          </p:txBody>
        </p:sp>
      </p:grpSp>
      <p:grpSp>
        <p:nvGrpSpPr>
          <p:cNvPr id="53" name="c2-graph-1"/>
          <p:cNvGrpSpPr/>
          <p:nvPr/>
        </p:nvGrpSpPr>
        <p:grpSpPr>
          <a:xfrm>
            <a:off x="6760845" y="2226945"/>
            <a:ext cx="4662487" cy="2390394"/>
            <a:chOff x="6760845" y="2226945"/>
            <a:chExt cx="4662487" cy="2390394"/>
          </a:xfrm>
        </p:grpSpPr>
        <p:sp>
          <p:nvSpPr>
            <p:cNvPr id="30" name="Freeform 30"/>
            <p:cNvSpPr/>
            <p:nvPr/>
          </p:nvSpPr>
          <p:spPr>
            <a:xfrm>
              <a:off x="7729538" y="2527935"/>
              <a:ext cx="978218" cy="484823"/>
            </a:xfrm>
            <a:custGeom>
              <a:avLst/>
              <a:gdLst/>
              <a:ahLst/>
              <a:cxnLst/>
              <a:rect l="l" t="t" r="r" b="b"/>
              <a:pathLst>
                <a:path w="978218" h="484823">
                  <a:moveTo>
                    <a:pt x="0" y="0"/>
                  </a:moveTo>
                  <a:lnTo>
                    <a:pt x="978218" y="48482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8686800" y="2970848"/>
              <a:ext cx="106680" cy="84773"/>
            </a:xfrm>
            <a:custGeom>
              <a:avLst/>
              <a:gdLst/>
              <a:ahLst/>
              <a:cxnLst/>
              <a:rect l="l" t="t" r="r" b="b"/>
              <a:pathLst>
                <a:path w="106680" h="84773">
                  <a:moveTo>
                    <a:pt x="106680" y="84773"/>
                  </a:moveTo>
                  <a:lnTo>
                    <a:pt x="0" y="84773"/>
                  </a:lnTo>
                  <a:lnTo>
                    <a:pt x="42862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2" name="Freeform 32"/>
            <p:cNvSpPr/>
            <p:nvPr/>
          </p:nvSpPr>
          <p:spPr>
            <a:xfrm>
              <a:off x="9633585" y="2370772"/>
              <a:ext cx="1065847" cy="410527"/>
            </a:xfrm>
            <a:custGeom>
              <a:avLst/>
              <a:gdLst/>
              <a:ahLst/>
              <a:cxnLst/>
              <a:rect l="l" t="t" r="r" b="b"/>
              <a:pathLst>
                <a:path w="1065847" h="410527">
                  <a:moveTo>
                    <a:pt x="1065847" y="3810"/>
                  </a:moveTo>
                  <a:cubicBezTo>
                    <a:pt x="551497" y="0"/>
                    <a:pt x="196215" y="135572"/>
                    <a:pt x="0" y="410527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9578340" y="2753678"/>
              <a:ext cx="93345" cy="105727"/>
            </a:xfrm>
            <a:custGeom>
              <a:avLst/>
              <a:gdLst/>
              <a:ahLst/>
              <a:cxnLst/>
              <a:rect l="l" t="t" r="r" b="b"/>
              <a:pathLst>
                <a:path w="93345" h="105727">
                  <a:moveTo>
                    <a:pt x="0" y="105727"/>
                  </a:moveTo>
                  <a:lnTo>
                    <a:pt x="16192" y="0"/>
                  </a:lnTo>
                  <a:lnTo>
                    <a:pt x="93345" y="5524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4" name="Freeform 34"/>
            <p:cNvSpPr/>
            <p:nvPr/>
          </p:nvSpPr>
          <p:spPr>
            <a:xfrm>
              <a:off x="9743122" y="2570798"/>
              <a:ext cx="939165" cy="479108"/>
            </a:xfrm>
            <a:custGeom>
              <a:avLst/>
              <a:gdLst/>
              <a:ahLst/>
              <a:cxnLst/>
              <a:rect l="l" t="t" r="r" b="b"/>
              <a:pathLst>
                <a:path w="939165" h="479108">
                  <a:moveTo>
                    <a:pt x="0" y="479108"/>
                  </a:moveTo>
                  <a:lnTo>
                    <a:pt x="93916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10660380" y="2527935"/>
              <a:ext cx="106680" cy="84773"/>
            </a:xfrm>
            <a:custGeom>
              <a:avLst/>
              <a:gdLst/>
              <a:ahLst/>
              <a:cxnLst/>
              <a:rect l="l" t="t" r="r" b="b"/>
              <a:pathLst>
                <a:path w="106680" h="84773">
                  <a:moveTo>
                    <a:pt x="106680" y="0"/>
                  </a:moveTo>
                  <a:lnTo>
                    <a:pt x="43815" y="847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6" name="Freeform 36"/>
            <p:cNvSpPr/>
            <p:nvPr/>
          </p:nvSpPr>
          <p:spPr>
            <a:xfrm>
              <a:off x="9801225" y="2605088"/>
              <a:ext cx="1098232" cy="693737"/>
            </a:xfrm>
            <a:custGeom>
              <a:avLst/>
              <a:gdLst/>
              <a:ahLst/>
              <a:cxnLst/>
              <a:rect l="l" t="t" r="r" b="b"/>
              <a:pathLst>
                <a:path w="1098232" h="693737">
                  <a:moveTo>
                    <a:pt x="0" y="690562"/>
                  </a:moveTo>
                  <a:cubicBezTo>
                    <a:pt x="401320" y="693737"/>
                    <a:pt x="767397" y="463550"/>
                    <a:pt x="1098232" y="0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10860405" y="2526982"/>
              <a:ext cx="94297" cy="105727"/>
            </a:xfrm>
            <a:custGeom>
              <a:avLst/>
              <a:gdLst/>
              <a:ahLst/>
              <a:cxnLst/>
              <a:rect l="l" t="t" r="r" b="b"/>
              <a:pathLst>
                <a:path w="94297" h="105727">
                  <a:moveTo>
                    <a:pt x="94297" y="0"/>
                  </a:moveTo>
                  <a:lnTo>
                    <a:pt x="77152" y="105727"/>
                  </a:lnTo>
                  <a:lnTo>
                    <a:pt x="0" y="50483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760845" y="2226945"/>
              <a:ext cx="1333500" cy="300038"/>
            </a:xfrm>
            <a:prstGeom prst="roundRect">
              <a:avLst>
                <a:gd name="adj" fmla="val 12698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39" name="Ellipse 39"/>
            <p:cNvSpPr/>
            <p:nvPr/>
          </p:nvSpPr>
          <p:spPr>
            <a:xfrm>
              <a:off x="8747760" y="2769870"/>
              <a:ext cx="1043940" cy="104394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10699432" y="2226945"/>
              <a:ext cx="723900" cy="300038"/>
            </a:xfrm>
            <a:prstGeom prst="roundRect">
              <a:avLst>
                <a:gd name="adj" fmla="val 12698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969557" y="230743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房产管理部门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811692" y="322183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房产管理系统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904893" y="230743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住户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7995285" y="2706052"/>
              <a:ext cx="533400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014906" y="2737485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住户要求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9881235" y="2406968"/>
              <a:ext cx="304800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9907714" y="2439352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咨询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9988868" y="2703195"/>
              <a:ext cx="533400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10008489" y="2735580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住房情况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10181272" y="3020378"/>
              <a:ext cx="419100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10204323" y="3052762"/>
              <a:ext cx="37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统计表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840343" y="4411980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顶层数据流图</a:t>
              </a:r>
            </a:p>
          </p:txBody>
        </p:sp>
      </p:grpSp>
      <p:grpSp>
        <p:nvGrpSpPr>
          <p:cNvPr id="60" name="c2-callout-2"/>
          <p:cNvGrpSpPr/>
          <p:nvPr/>
        </p:nvGrpSpPr>
        <p:grpSpPr>
          <a:xfrm>
            <a:off x="6680835" y="4762500"/>
            <a:ext cx="4977765" cy="1457325"/>
            <a:chOff x="6680835" y="4762500"/>
            <a:chExt cx="4977765" cy="1457325"/>
          </a:xfrm>
        </p:grpSpPr>
        <p:sp>
          <p:nvSpPr>
            <p:cNvPr id="54" name="Rectangle 54"/>
            <p:cNvSpPr/>
            <p:nvPr/>
          </p:nvSpPr>
          <p:spPr>
            <a:xfrm>
              <a:off x="6680835" y="4762500"/>
              <a:ext cx="4977765" cy="1457325"/>
            </a:xfrm>
            <a:prstGeom prst="roundRect">
              <a:avLst>
                <a:gd name="adj" fmla="val 784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8" name="Group 58"/>
            <p:cNvGrpSpPr/>
            <p:nvPr/>
          </p:nvGrpSpPr>
          <p:grpSpPr>
            <a:xfrm>
              <a:off x="6885623" y="5391150"/>
              <a:ext cx="200026" cy="200025"/>
              <a:chOff x="6885623" y="5391150"/>
              <a:chExt cx="200026" cy="200025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6885623" y="539115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6925361" y="543560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6960077" y="554672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9" name="TextBox 59"/>
            <p:cNvSpPr txBox="1"/>
            <p:nvPr/>
          </p:nvSpPr>
          <p:spPr>
            <a:xfrm>
              <a:off x="7187565" y="5248275"/>
              <a:ext cx="4015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顶层图上只有一个加工，作用是圈定系统边界：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房管部门和住户都在系统之外。</a:t>
              </a:r>
            </a:p>
          </p:txBody>
        </p:sp>
      </p:grpSp>
      <p:grpSp>
        <p:nvGrpSpPr>
          <p:cNvPr id="6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1" name="TextBox 61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第2章 可行性研究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24782" cy="909257"/>
            <a:chOff x="520446" y="342900"/>
            <a:chExt cx="582478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2125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7648" y="407194"/>
              <a:ext cx="231275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第2章 可行性研究 · 数据流图 DFD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2478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层图：先检查合法性，再按类型分流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7" name="c1-graph-1"/>
          <p:cNvGrpSpPr/>
          <p:nvPr/>
        </p:nvGrpSpPr>
        <p:grpSpPr>
          <a:xfrm>
            <a:off x="762394" y="1857375"/>
            <a:ext cx="6317145" cy="4550664"/>
            <a:chOff x="762394" y="1857375"/>
            <a:chExt cx="6317145" cy="4550664"/>
          </a:xfrm>
        </p:grpSpPr>
        <p:sp>
          <p:nvSpPr>
            <p:cNvPr id="7" name="Freeform 7"/>
            <p:cNvSpPr/>
            <p:nvPr/>
          </p:nvSpPr>
          <p:spPr>
            <a:xfrm>
              <a:off x="1156335" y="2122170"/>
              <a:ext cx="976312" cy="1297305"/>
            </a:xfrm>
            <a:custGeom>
              <a:avLst/>
              <a:gdLst/>
              <a:ahLst/>
              <a:cxnLst/>
              <a:rect l="l" t="t" r="r" b="b"/>
              <a:pathLst>
                <a:path w="976312" h="1297305">
                  <a:moveTo>
                    <a:pt x="0" y="0"/>
                  </a:moveTo>
                  <a:lnTo>
                    <a:pt x="976312" y="129730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2094548" y="3390900"/>
              <a:ext cx="95250" cy="104775"/>
            </a:xfrm>
            <a:custGeom>
              <a:avLst/>
              <a:gdLst/>
              <a:ahLst/>
              <a:cxnLst/>
              <a:rect l="l" t="t" r="r" b="b"/>
              <a:pathLst>
                <a:path w="95250" h="104775">
                  <a:moveTo>
                    <a:pt x="95250" y="104775"/>
                  </a:moveTo>
                  <a:lnTo>
                    <a:pt x="0" y="5715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1025842" y="3978592"/>
              <a:ext cx="1101090" cy="1399223"/>
            </a:xfrm>
            <a:custGeom>
              <a:avLst/>
              <a:gdLst/>
              <a:ahLst/>
              <a:cxnLst/>
              <a:rect l="l" t="t" r="r" b="b"/>
              <a:pathLst>
                <a:path w="1101090" h="1399223">
                  <a:moveTo>
                    <a:pt x="0" y="1399223"/>
                  </a:moveTo>
                  <a:lnTo>
                    <a:pt x="110109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089785" y="3903345"/>
              <a:ext cx="96202" cy="104775"/>
            </a:xfrm>
            <a:custGeom>
              <a:avLst/>
              <a:gdLst/>
              <a:ahLst/>
              <a:cxnLst/>
              <a:rect l="l" t="t" r="r" b="b"/>
              <a:pathLst>
                <a:path w="96202" h="104775">
                  <a:moveTo>
                    <a:pt x="96202" y="0"/>
                  </a:moveTo>
                  <a:lnTo>
                    <a:pt x="74295" y="104775"/>
                  </a:lnTo>
                  <a:lnTo>
                    <a:pt x="0" y="4572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2562225" y="2291715"/>
              <a:ext cx="2033588" cy="1273493"/>
            </a:xfrm>
            <a:custGeom>
              <a:avLst/>
              <a:gdLst/>
              <a:ahLst/>
              <a:cxnLst/>
              <a:rect l="l" t="t" r="r" b="b"/>
              <a:pathLst>
                <a:path w="2033588" h="1273493">
                  <a:moveTo>
                    <a:pt x="0" y="1273493"/>
                  </a:moveTo>
                  <a:lnTo>
                    <a:pt x="2033588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4570095" y="2241232"/>
              <a:ext cx="105727" cy="90488"/>
            </a:xfrm>
            <a:custGeom>
              <a:avLst/>
              <a:gdLst/>
              <a:ahLst/>
              <a:cxnLst/>
              <a:rect l="l" t="t" r="r" b="b"/>
              <a:pathLst>
                <a:path w="105727" h="90488">
                  <a:moveTo>
                    <a:pt x="105727" y="0"/>
                  </a:moveTo>
                  <a:lnTo>
                    <a:pt x="50483" y="90488"/>
                  </a:lnTo>
                  <a:lnTo>
                    <a:pt x="0" y="10477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2573655" y="3818572"/>
              <a:ext cx="2006918" cy="1028700"/>
            </a:xfrm>
            <a:custGeom>
              <a:avLst/>
              <a:gdLst/>
              <a:ahLst/>
              <a:cxnLst/>
              <a:rect l="l" t="t" r="r" b="b"/>
              <a:pathLst>
                <a:path w="2006918" h="1028700">
                  <a:moveTo>
                    <a:pt x="0" y="0"/>
                  </a:moveTo>
                  <a:lnTo>
                    <a:pt x="2006918" y="102870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4558665" y="4804410"/>
              <a:ext cx="106680" cy="85725"/>
            </a:xfrm>
            <a:custGeom>
              <a:avLst/>
              <a:gdLst/>
              <a:ahLst/>
              <a:cxnLst/>
              <a:rect l="l" t="t" r="r" b="b"/>
              <a:pathLst>
                <a:path w="106680" h="85725">
                  <a:moveTo>
                    <a:pt x="106680" y="85725"/>
                  </a:moveTo>
                  <a:lnTo>
                    <a:pt x="0" y="84772"/>
                  </a:lnTo>
                  <a:lnTo>
                    <a:pt x="43815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5129212" y="4337685"/>
              <a:ext cx="1295400" cy="566738"/>
            </a:xfrm>
            <a:custGeom>
              <a:avLst/>
              <a:gdLst/>
              <a:ahLst/>
              <a:cxnLst/>
              <a:rect l="l" t="t" r="r" b="b"/>
              <a:pathLst>
                <a:path w="1295400" h="566738">
                  <a:moveTo>
                    <a:pt x="0" y="566738"/>
                  </a:moveTo>
                  <a:lnTo>
                    <a:pt x="129540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6404610" y="4293870"/>
              <a:ext cx="106680" cy="87630"/>
            </a:xfrm>
            <a:custGeom>
              <a:avLst/>
              <a:gdLst/>
              <a:ahLst/>
              <a:cxnLst/>
              <a:rect l="l" t="t" r="r" b="b"/>
              <a:pathLst>
                <a:path w="106680" h="87630">
                  <a:moveTo>
                    <a:pt x="106680" y="5715"/>
                  </a:moveTo>
                  <a:lnTo>
                    <a:pt x="39053" y="876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5122545" y="5125402"/>
              <a:ext cx="1343025" cy="692467"/>
            </a:xfrm>
            <a:custGeom>
              <a:avLst/>
              <a:gdLst/>
              <a:ahLst/>
              <a:cxnLst/>
              <a:rect l="l" t="t" r="r" b="b"/>
              <a:pathLst>
                <a:path w="1343025" h="692467">
                  <a:moveTo>
                    <a:pt x="0" y="0"/>
                  </a:moveTo>
                  <a:lnTo>
                    <a:pt x="1343025" y="69246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6443662" y="5775008"/>
              <a:ext cx="106680" cy="86678"/>
            </a:xfrm>
            <a:custGeom>
              <a:avLst/>
              <a:gdLst/>
              <a:ahLst/>
              <a:cxnLst/>
              <a:rect l="l" t="t" r="r" b="b"/>
              <a:pathLst>
                <a:path w="106680" h="86678">
                  <a:moveTo>
                    <a:pt x="106680" y="86678"/>
                  </a:moveTo>
                  <a:lnTo>
                    <a:pt x="0" y="84773"/>
                  </a:lnTo>
                  <a:lnTo>
                    <a:pt x="43815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2097405" y="3453765"/>
              <a:ext cx="495300" cy="4953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4646295" y="1857375"/>
              <a:ext cx="495300" cy="4953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21" name="Ellipse 21"/>
            <p:cNvSpPr/>
            <p:nvPr/>
          </p:nvSpPr>
          <p:spPr>
            <a:xfrm>
              <a:off x="4646295" y="4760595"/>
              <a:ext cx="495300" cy="4953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394" y="193786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住户要求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79818" y="542210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咨询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295804" y="36314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037397" y="3985260"/>
              <a:ext cx="6153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检查合法性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844694" y="203501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646866" y="2388870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要求处理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844694" y="493823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646866" y="5292090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咨询处理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465011" y="411527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住房情况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540398" y="590597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统计表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3181350" y="2817495"/>
              <a:ext cx="876300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3190684" y="2848928"/>
              <a:ext cx="8576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合法的住户要求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3295650" y="4269105"/>
              <a:ext cx="647700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3311842" y="4300538"/>
              <a:ext cx="6153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合法的咨询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469319" y="6202680"/>
              <a:ext cx="8375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 层数据流图</a:t>
              </a:r>
            </a:p>
          </p:txBody>
        </p:sp>
      </p:grpSp>
      <p:grpSp>
        <p:nvGrpSpPr>
          <p:cNvPr id="50" name="c2-card-1"/>
          <p:cNvGrpSpPr/>
          <p:nvPr/>
        </p:nvGrpSpPr>
        <p:grpSpPr>
          <a:xfrm>
            <a:off x="7546658" y="1524000"/>
            <a:ext cx="4111942" cy="2272665"/>
            <a:chOff x="7546658" y="1524000"/>
            <a:chExt cx="4111942" cy="2272665"/>
          </a:xfrm>
        </p:grpSpPr>
        <p:sp>
          <p:nvSpPr>
            <p:cNvPr id="38" name="Rectangle 38"/>
            <p:cNvSpPr/>
            <p:nvPr/>
          </p:nvSpPr>
          <p:spPr>
            <a:xfrm>
              <a:off x="7546658" y="1524000"/>
              <a:ext cx="4111942" cy="2272665"/>
            </a:xfrm>
            <a:prstGeom prst="roundRect">
              <a:avLst>
                <a:gd name="adj" fmla="val 5868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7756208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243B53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838516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读图顺序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7756208" y="2097405"/>
              <a:ext cx="213360" cy="2133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818057" y="213969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057198" y="2110740"/>
              <a:ext cx="3253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先看边界上的输入输出，和顶层图对一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遍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7756208" y="2718435"/>
              <a:ext cx="213360" cy="2133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818057" y="276072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057198" y="2731770"/>
              <a:ext cx="32442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再看加工编号，1、2、3 就是下一层的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图号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7756208" y="3339465"/>
              <a:ext cx="213360" cy="2133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818057" y="338175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057198" y="3352800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最后看加工之间的数据流叫什么名字</a:t>
              </a:r>
            </a:p>
          </p:txBody>
        </p:sp>
      </p:grpSp>
      <p:grpSp>
        <p:nvGrpSpPr>
          <p:cNvPr id="56" name="c2-card-2"/>
          <p:cNvGrpSpPr/>
          <p:nvPr/>
        </p:nvGrpSpPr>
        <p:grpSpPr>
          <a:xfrm>
            <a:off x="7546658" y="3987165"/>
            <a:ext cx="4111942" cy="1316355"/>
            <a:chOff x="7546658" y="3987165"/>
            <a:chExt cx="4111942" cy="1316355"/>
          </a:xfrm>
        </p:grpSpPr>
        <p:sp>
          <p:nvSpPr>
            <p:cNvPr id="51" name="Rectangle 51"/>
            <p:cNvSpPr/>
            <p:nvPr/>
          </p:nvSpPr>
          <p:spPr>
            <a:xfrm>
              <a:off x="7546658" y="3987165"/>
              <a:ext cx="4111942" cy="1316355"/>
            </a:xfrm>
            <a:prstGeom prst="roundRect">
              <a:avLst>
                <a:gd name="adj" fmla="val 101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7556182" y="4120515"/>
              <a:ext cx="47625" cy="104965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7794308" y="4196715"/>
              <a:ext cx="1489710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854963" y="4232434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为什么先检查合法性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786688" y="4573905"/>
              <a:ext cx="3444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不合法的要求在第一个加工就被拒绝，后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面的加工不必再判断输入是否可信。</a:t>
              </a:r>
            </a:p>
          </p:txBody>
        </p:sp>
      </p:grpSp>
      <p:grpSp>
        <p:nvGrpSpPr>
          <p:cNvPr id="63" name="c2-callout-3"/>
          <p:cNvGrpSpPr/>
          <p:nvPr/>
        </p:nvGrpSpPr>
        <p:grpSpPr>
          <a:xfrm>
            <a:off x="7546658" y="5494020"/>
            <a:ext cx="4111942" cy="782955"/>
            <a:chOff x="7546658" y="5494020"/>
            <a:chExt cx="4111942" cy="782955"/>
          </a:xfrm>
        </p:grpSpPr>
        <p:sp>
          <p:nvSpPr>
            <p:cNvPr id="57" name="Rectangle 57"/>
            <p:cNvSpPr/>
            <p:nvPr/>
          </p:nvSpPr>
          <p:spPr>
            <a:xfrm>
              <a:off x="7546658" y="5494020"/>
              <a:ext cx="4111942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1" name="Group 61"/>
            <p:cNvGrpSpPr/>
            <p:nvPr/>
          </p:nvGrpSpPr>
          <p:grpSpPr>
            <a:xfrm>
              <a:off x="7751445" y="5785485"/>
              <a:ext cx="200026" cy="200025"/>
              <a:chOff x="7751445" y="5785485"/>
              <a:chExt cx="200026" cy="200025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7751445" y="578548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7791184" y="582993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7825899" y="594106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2" name="TextBox 62"/>
            <p:cNvSpPr txBox="1"/>
            <p:nvPr/>
          </p:nvSpPr>
          <p:spPr>
            <a:xfrm>
              <a:off x="8053388" y="5642610"/>
              <a:ext cx="32251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 层图上还看不到任何文件，文件都是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下面各层的局部文件。</a:t>
              </a:r>
            </a:p>
          </p:txBody>
        </p:sp>
      </p:grpSp>
      <p:grpSp>
        <p:nvGrpSpPr>
          <p:cNvPr id="6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4" name="TextBox 64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第2章 可行性研究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197906" cy="909257"/>
            <a:chOff x="520446" y="342900"/>
            <a:chExt cx="719790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2125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7648" y="407194"/>
              <a:ext cx="231275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第2章 可行性研究 · 数据流图 DFD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19790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一层图号 2：按要求类型分成分房、调房、退房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3" name="c1-graph-1"/>
          <p:cNvGrpSpPr/>
          <p:nvPr/>
        </p:nvGrpSpPr>
        <p:grpSpPr>
          <a:xfrm>
            <a:off x="863917" y="1857375"/>
            <a:ext cx="6593206" cy="4547901"/>
            <a:chOff x="863917" y="1857375"/>
            <a:chExt cx="6593206" cy="4547901"/>
          </a:xfrm>
        </p:grpSpPr>
        <p:sp>
          <p:nvSpPr>
            <p:cNvPr id="7" name="Freeform 7"/>
            <p:cNvSpPr/>
            <p:nvPr/>
          </p:nvSpPr>
          <p:spPr>
            <a:xfrm>
              <a:off x="1868805" y="3943350"/>
              <a:ext cx="736283" cy="9525"/>
            </a:xfrm>
            <a:custGeom>
              <a:avLst/>
              <a:gdLst/>
              <a:ahLst/>
              <a:cxnLst/>
              <a:rect l="l" t="t" r="r" b="b"/>
              <a:pathLst>
                <a:path w="736283" h="9525">
                  <a:moveTo>
                    <a:pt x="0" y="0"/>
                  </a:moveTo>
                  <a:lnTo>
                    <a:pt x="736283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2605088" y="389572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3152775" y="2333625"/>
              <a:ext cx="1683068" cy="1442085"/>
            </a:xfrm>
            <a:custGeom>
              <a:avLst/>
              <a:gdLst/>
              <a:ahLst/>
              <a:cxnLst/>
              <a:rect l="l" t="t" r="r" b="b"/>
              <a:pathLst>
                <a:path w="1683068" h="1442085">
                  <a:moveTo>
                    <a:pt x="0" y="1442085"/>
                  </a:moveTo>
                  <a:lnTo>
                    <a:pt x="1683068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4805362" y="2271712"/>
              <a:ext cx="102870" cy="98108"/>
            </a:xfrm>
            <a:custGeom>
              <a:avLst/>
              <a:gdLst/>
              <a:ahLst/>
              <a:cxnLst/>
              <a:rect l="l" t="t" r="r" b="b"/>
              <a:pathLst>
                <a:path w="102870" h="98108">
                  <a:moveTo>
                    <a:pt x="102870" y="0"/>
                  </a:moveTo>
                  <a:lnTo>
                    <a:pt x="61912" y="98108"/>
                  </a:lnTo>
                  <a:lnTo>
                    <a:pt x="0" y="25717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3214688" y="3943350"/>
              <a:ext cx="1536382" cy="9525"/>
            </a:xfrm>
            <a:custGeom>
              <a:avLst/>
              <a:gdLst/>
              <a:ahLst/>
              <a:cxnLst/>
              <a:rect l="l" t="t" r="r" b="b"/>
              <a:pathLst>
                <a:path w="1536382" h="9525">
                  <a:moveTo>
                    <a:pt x="0" y="0"/>
                  </a:moveTo>
                  <a:lnTo>
                    <a:pt x="153638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4751070" y="389572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3152775" y="4110990"/>
              <a:ext cx="1683068" cy="1442085"/>
            </a:xfrm>
            <a:custGeom>
              <a:avLst/>
              <a:gdLst/>
              <a:ahLst/>
              <a:cxnLst/>
              <a:rect l="l" t="t" r="r" b="b"/>
              <a:pathLst>
                <a:path w="1683068" h="1442085">
                  <a:moveTo>
                    <a:pt x="0" y="0"/>
                  </a:moveTo>
                  <a:lnTo>
                    <a:pt x="1683068" y="144208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4805362" y="5516880"/>
              <a:ext cx="102870" cy="98107"/>
            </a:xfrm>
            <a:custGeom>
              <a:avLst/>
              <a:gdLst/>
              <a:ahLst/>
              <a:cxnLst/>
              <a:rect l="l" t="t" r="r" b="b"/>
              <a:pathLst>
                <a:path w="102870" h="98107">
                  <a:moveTo>
                    <a:pt x="102870" y="98107"/>
                  </a:moveTo>
                  <a:lnTo>
                    <a:pt x="0" y="72390"/>
                  </a:lnTo>
                  <a:lnTo>
                    <a:pt x="61912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5287328" y="2285048"/>
              <a:ext cx="1476375" cy="1451610"/>
            </a:xfrm>
            <a:custGeom>
              <a:avLst/>
              <a:gdLst/>
              <a:ahLst/>
              <a:cxnLst/>
              <a:rect l="l" t="t" r="r" b="b"/>
              <a:pathLst>
                <a:path w="1476375" h="1451610">
                  <a:moveTo>
                    <a:pt x="0" y="0"/>
                  </a:moveTo>
                  <a:lnTo>
                    <a:pt x="1476375" y="145161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6730365" y="3702368"/>
              <a:ext cx="100965" cy="100965"/>
            </a:xfrm>
            <a:custGeom>
              <a:avLst/>
              <a:gdLst/>
              <a:ahLst/>
              <a:cxnLst/>
              <a:rect l="l" t="t" r="r" b="b"/>
              <a:pathLst>
                <a:path w="100965" h="100965">
                  <a:moveTo>
                    <a:pt x="100965" y="100965"/>
                  </a:moveTo>
                  <a:lnTo>
                    <a:pt x="0" y="68580"/>
                  </a:lnTo>
                  <a:lnTo>
                    <a:pt x="66675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5360670" y="3943350"/>
              <a:ext cx="1034415" cy="9525"/>
            </a:xfrm>
            <a:custGeom>
              <a:avLst/>
              <a:gdLst/>
              <a:ahLst/>
              <a:cxnLst/>
              <a:rect l="l" t="t" r="r" b="b"/>
              <a:pathLst>
                <a:path w="1034415" h="9525">
                  <a:moveTo>
                    <a:pt x="0" y="0"/>
                  </a:moveTo>
                  <a:lnTo>
                    <a:pt x="103441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6395085" y="389572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5287328" y="4150042"/>
              <a:ext cx="1476375" cy="1451610"/>
            </a:xfrm>
            <a:custGeom>
              <a:avLst/>
              <a:gdLst/>
              <a:ahLst/>
              <a:cxnLst/>
              <a:rect l="l" t="t" r="r" b="b"/>
              <a:pathLst>
                <a:path w="1476375" h="1451610">
                  <a:moveTo>
                    <a:pt x="0" y="1451610"/>
                  </a:moveTo>
                  <a:lnTo>
                    <a:pt x="147637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6730365" y="4083368"/>
              <a:ext cx="100965" cy="100965"/>
            </a:xfrm>
            <a:custGeom>
              <a:avLst/>
              <a:gdLst/>
              <a:ahLst/>
              <a:cxnLst/>
              <a:rect l="l" t="t" r="r" b="b"/>
              <a:pathLst>
                <a:path w="100965" h="100965">
                  <a:moveTo>
                    <a:pt x="100965" y="0"/>
                  </a:moveTo>
                  <a:lnTo>
                    <a:pt x="66675" y="100965"/>
                  </a:lnTo>
                  <a:lnTo>
                    <a:pt x="0" y="3238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2709862" y="3695700"/>
              <a:ext cx="495300" cy="4953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4855845" y="1857375"/>
              <a:ext cx="495300" cy="4953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4855845" y="3695700"/>
              <a:ext cx="495300" cy="4953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4855845" y="5534025"/>
              <a:ext cx="495300" cy="4953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6490335" y="3803332"/>
              <a:ext cx="966788" cy="280035"/>
            </a:xfrm>
            <a:prstGeom prst="roundRect">
              <a:avLst>
                <a:gd name="adj" fmla="val 34014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63917" y="3877628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合法的住户要求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829733" y="3877628"/>
              <a:ext cx="255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2.1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621585" y="4225766"/>
              <a:ext cx="67185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要求类型处理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975716" y="2039302"/>
              <a:ext cx="255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2.2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877956" y="2387441"/>
              <a:ext cx="4510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分房处理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975716" y="3877628"/>
              <a:ext cx="255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877956" y="4225766"/>
              <a:ext cx="4510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调房处理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975716" y="5716905"/>
              <a:ext cx="255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2.4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877956" y="6064091"/>
              <a:ext cx="4510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退房处理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685217" y="387762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房产文件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3836670" y="2945130"/>
              <a:ext cx="388620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3860635" y="2975134"/>
              <a:ext cx="34069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分房单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3836670" y="3865245"/>
              <a:ext cx="388620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3860635" y="3894296"/>
              <a:ext cx="34069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调房单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3836670" y="4784408"/>
              <a:ext cx="388620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3860635" y="4813459"/>
              <a:ext cx="34069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退房单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341041" y="6214586"/>
              <a:ext cx="130939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一层数据流图，图号 2</a:t>
              </a:r>
            </a:p>
          </p:txBody>
        </p:sp>
      </p:grpSp>
      <p:grpSp>
        <p:nvGrpSpPr>
          <p:cNvPr id="51" name="c2-card-1"/>
          <p:cNvGrpSpPr/>
          <p:nvPr/>
        </p:nvGrpSpPr>
        <p:grpSpPr>
          <a:xfrm>
            <a:off x="7762875" y="1524000"/>
            <a:ext cx="3895725" cy="1819275"/>
            <a:chOff x="7762875" y="1524000"/>
            <a:chExt cx="3895725" cy="1819275"/>
          </a:xfrm>
        </p:grpSpPr>
        <p:sp>
          <p:nvSpPr>
            <p:cNvPr id="44" name="Rectangle 44"/>
            <p:cNvSpPr/>
            <p:nvPr/>
          </p:nvSpPr>
          <p:spPr>
            <a:xfrm>
              <a:off x="7762875" y="1524000"/>
              <a:ext cx="3895725" cy="1819275"/>
            </a:xfrm>
            <a:prstGeom prst="roundRect">
              <a:avLst>
                <a:gd name="adj" fmla="val 73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7772400" y="1657350"/>
              <a:ext cx="47625" cy="1552575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7999095" y="1722120"/>
              <a:ext cx="749618" cy="24765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082987" y="1756410"/>
              <a:ext cx="5827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加工 2.1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855774" y="1756886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要求类型处理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991856" y="2100739"/>
              <a:ext cx="3323717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根据住户要求选择：case 1 要求分房，输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出分房单；case 2 要求调房，输出调房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单；case 3 要求退房，输出退房单。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992999" y="2957512"/>
              <a:ext cx="25968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有合法住户要求输入时执行此加工。</a:t>
              </a:r>
            </a:p>
          </p:txBody>
        </p:sp>
      </p:grpSp>
      <p:grpSp>
        <p:nvGrpSpPr>
          <p:cNvPr id="57" name="c2-callout-2"/>
          <p:cNvGrpSpPr/>
          <p:nvPr/>
        </p:nvGrpSpPr>
        <p:grpSpPr>
          <a:xfrm>
            <a:off x="7762875" y="3523298"/>
            <a:ext cx="3895725" cy="756285"/>
            <a:chOff x="7762875" y="3523298"/>
            <a:chExt cx="3895725" cy="756285"/>
          </a:xfrm>
        </p:grpSpPr>
        <p:sp>
          <p:nvSpPr>
            <p:cNvPr id="52" name="Rectangle 52"/>
            <p:cNvSpPr/>
            <p:nvPr/>
          </p:nvSpPr>
          <p:spPr>
            <a:xfrm>
              <a:off x="7762875" y="3523298"/>
              <a:ext cx="3895725" cy="756285"/>
            </a:xfrm>
            <a:prstGeom prst="roundRect">
              <a:avLst>
                <a:gd name="adj" fmla="val 15113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7967663" y="3801430"/>
              <a:ext cx="200023" cy="200023"/>
              <a:chOff x="7967663" y="3801430"/>
              <a:chExt cx="200023" cy="200023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7967663" y="380143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8101013" y="386810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8269986" y="3670459"/>
              <a:ext cx="289991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分房单、调房单、退房单就是下一层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三张子图的输入。</a:t>
              </a:r>
            </a:p>
          </p:txBody>
        </p:sp>
      </p:grpSp>
      <p:grpSp>
        <p:nvGrpSpPr>
          <p:cNvPr id="66" name="c2-card-3"/>
          <p:cNvGrpSpPr/>
          <p:nvPr/>
        </p:nvGrpSpPr>
        <p:grpSpPr>
          <a:xfrm>
            <a:off x="7762875" y="4459605"/>
            <a:ext cx="3895725" cy="1840230"/>
            <a:chOff x="7762875" y="4459605"/>
            <a:chExt cx="3895725" cy="1840230"/>
          </a:xfrm>
        </p:grpSpPr>
        <p:sp>
          <p:nvSpPr>
            <p:cNvPr id="58" name="Rectangle 58"/>
            <p:cNvSpPr/>
            <p:nvPr/>
          </p:nvSpPr>
          <p:spPr>
            <a:xfrm>
              <a:off x="7762875" y="4459605"/>
              <a:ext cx="3895725" cy="1840230"/>
            </a:xfrm>
            <a:prstGeom prst="roundRect">
              <a:avLst>
                <a:gd name="adj" fmla="val 724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7772400" y="4592955"/>
              <a:ext cx="47625" cy="157353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7999095" y="4657725"/>
              <a:ext cx="1170622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8070155" y="4692015"/>
              <a:ext cx="10294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和 0 层图对一遍</a:t>
              </a:r>
            </a:p>
          </p:txBody>
        </p:sp>
        <p:sp>
          <p:nvSpPr>
            <p:cNvPr id="62" name="Ellipse 62"/>
            <p:cNvSpPr/>
            <p:nvPr/>
          </p:nvSpPr>
          <p:spPr>
            <a:xfrm>
              <a:off x="8006715" y="5078730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8163306" y="5019199"/>
              <a:ext cx="3098292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层图上加工 2 只有“合法的住户要求”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一条输入，子图也只有它</a:t>
              </a:r>
            </a:p>
          </p:txBody>
        </p:sp>
        <p:sp>
          <p:nvSpPr>
            <p:cNvPr id="64" name="Ellipse 64"/>
            <p:cNvSpPr/>
            <p:nvPr/>
          </p:nvSpPr>
          <p:spPr>
            <a:xfrm>
              <a:off x="8006715" y="5668327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8163306" y="5607844"/>
              <a:ext cx="2999105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房产文件被 2.2、2.3、2.4 共用，所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以画在这一层</a:t>
              </a:r>
            </a:p>
          </p:txBody>
        </p:sp>
      </p:grpSp>
      <p:grpSp>
        <p:nvGrpSpPr>
          <p:cNvPr id="6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7" name="TextBox 67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第2章 可行性研究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11344" cy="909257"/>
            <a:chOff x="520446" y="342900"/>
            <a:chExt cx="651134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2125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7648" y="407194"/>
              <a:ext cx="231275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第2章 可行性研究 · 数据流图 DFD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1134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一层图号 3：三类咨询汇到同一个打印处理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60" name="c1-graph-1"/>
          <p:cNvGrpSpPr/>
          <p:nvPr/>
        </p:nvGrpSpPr>
        <p:grpSpPr>
          <a:xfrm>
            <a:off x="868680" y="1694498"/>
            <a:ext cx="6767893" cy="4707254"/>
            <a:chOff x="868680" y="1694498"/>
            <a:chExt cx="6767893" cy="4707254"/>
          </a:xfrm>
        </p:grpSpPr>
        <p:sp>
          <p:nvSpPr>
            <p:cNvPr id="7" name="Freeform 7"/>
            <p:cNvSpPr/>
            <p:nvPr/>
          </p:nvSpPr>
          <p:spPr>
            <a:xfrm>
              <a:off x="1500188" y="3943350"/>
              <a:ext cx="627698" cy="9525"/>
            </a:xfrm>
            <a:custGeom>
              <a:avLst/>
              <a:gdLst/>
              <a:ahLst/>
              <a:cxnLst/>
              <a:rect l="l" t="t" r="r" b="b"/>
              <a:pathLst>
                <a:path w="627698" h="9525">
                  <a:moveTo>
                    <a:pt x="0" y="0"/>
                  </a:moveTo>
                  <a:lnTo>
                    <a:pt x="627698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2127885" y="389572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2639378" y="2506980"/>
              <a:ext cx="1443990" cy="1278255"/>
            </a:xfrm>
            <a:custGeom>
              <a:avLst/>
              <a:gdLst/>
              <a:ahLst/>
              <a:cxnLst/>
              <a:rect l="l" t="t" r="r" b="b"/>
              <a:pathLst>
                <a:path w="1443990" h="1278255">
                  <a:moveTo>
                    <a:pt x="0" y="1278255"/>
                  </a:moveTo>
                  <a:lnTo>
                    <a:pt x="144399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4051935" y="2443162"/>
              <a:ext cx="102870" cy="99060"/>
            </a:xfrm>
            <a:custGeom>
              <a:avLst/>
              <a:gdLst/>
              <a:ahLst/>
              <a:cxnLst/>
              <a:rect l="l" t="t" r="r" b="b"/>
              <a:pathLst>
                <a:path w="102870" h="99060">
                  <a:moveTo>
                    <a:pt x="102870" y="0"/>
                  </a:moveTo>
                  <a:lnTo>
                    <a:pt x="62865" y="99060"/>
                  </a:lnTo>
                  <a:lnTo>
                    <a:pt x="0" y="27622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2699385" y="3955732"/>
              <a:ext cx="1304925" cy="67627"/>
            </a:xfrm>
            <a:custGeom>
              <a:avLst/>
              <a:gdLst/>
              <a:ahLst/>
              <a:cxnLst/>
              <a:rect l="l" t="t" r="r" b="b"/>
              <a:pathLst>
                <a:path w="1304925" h="67627">
                  <a:moveTo>
                    <a:pt x="0" y="0"/>
                  </a:moveTo>
                  <a:lnTo>
                    <a:pt x="1304925" y="6762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4002405" y="3975735"/>
              <a:ext cx="97155" cy="95250"/>
            </a:xfrm>
            <a:custGeom>
              <a:avLst/>
              <a:gdLst/>
              <a:ahLst/>
              <a:cxnLst/>
              <a:rect l="l" t="t" r="r" b="b"/>
              <a:pathLst>
                <a:path w="97155" h="95250">
                  <a:moveTo>
                    <a:pt x="97155" y="53340"/>
                  </a:moveTo>
                  <a:lnTo>
                    <a:pt x="0" y="95250"/>
                  </a:lnTo>
                  <a:lnTo>
                    <a:pt x="4762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2630805" y="4110990"/>
              <a:ext cx="1463992" cy="1449705"/>
            </a:xfrm>
            <a:custGeom>
              <a:avLst/>
              <a:gdLst/>
              <a:ahLst/>
              <a:cxnLst/>
              <a:rect l="l" t="t" r="r" b="b"/>
              <a:pathLst>
                <a:path w="1463992" h="1449705">
                  <a:moveTo>
                    <a:pt x="0" y="0"/>
                  </a:moveTo>
                  <a:lnTo>
                    <a:pt x="1463992" y="144970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4061460" y="5527358"/>
              <a:ext cx="100965" cy="100965"/>
            </a:xfrm>
            <a:custGeom>
              <a:avLst/>
              <a:gdLst/>
              <a:ahLst/>
              <a:cxnLst/>
              <a:rect l="l" t="t" r="r" b="b"/>
              <a:pathLst>
                <a:path w="100965" h="100965">
                  <a:moveTo>
                    <a:pt x="100965" y="100965"/>
                  </a:moveTo>
                  <a:lnTo>
                    <a:pt x="0" y="67628"/>
                  </a:lnTo>
                  <a:lnTo>
                    <a:pt x="66675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3083242" y="1934528"/>
              <a:ext cx="933450" cy="275273"/>
            </a:xfrm>
            <a:custGeom>
              <a:avLst/>
              <a:gdLst/>
              <a:ahLst/>
              <a:cxnLst/>
              <a:rect l="l" t="t" r="r" b="b"/>
              <a:pathLst>
                <a:path w="933450" h="275273">
                  <a:moveTo>
                    <a:pt x="0" y="0"/>
                  </a:moveTo>
                  <a:lnTo>
                    <a:pt x="933450" y="27527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4003358" y="2164080"/>
              <a:ext cx="104775" cy="91440"/>
            </a:xfrm>
            <a:custGeom>
              <a:avLst/>
              <a:gdLst/>
              <a:ahLst/>
              <a:cxnLst/>
              <a:rect l="l" t="t" r="r" b="b"/>
              <a:pathLst>
                <a:path w="104775" h="91440">
                  <a:moveTo>
                    <a:pt x="104775" y="72390"/>
                  </a:moveTo>
                  <a:lnTo>
                    <a:pt x="0" y="91440"/>
                  </a:lnTo>
                  <a:lnTo>
                    <a:pt x="2667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4612005" y="4151948"/>
              <a:ext cx="1175385" cy="445770"/>
            </a:xfrm>
            <a:custGeom>
              <a:avLst/>
              <a:gdLst/>
              <a:ahLst/>
              <a:cxnLst/>
              <a:rect l="l" t="t" r="r" b="b"/>
              <a:pathLst>
                <a:path w="1175385" h="445770">
                  <a:moveTo>
                    <a:pt x="1175385" y="44577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4523422" y="4107180"/>
              <a:ext cx="105728" cy="88583"/>
            </a:xfrm>
            <a:custGeom>
              <a:avLst/>
              <a:gdLst/>
              <a:ahLst/>
              <a:cxnLst/>
              <a:rect l="l" t="t" r="r" b="b"/>
              <a:pathLst>
                <a:path w="105728" h="88583">
                  <a:moveTo>
                    <a:pt x="0" y="10478"/>
                  </a:moveTo>
                  <a:lnTo>
                    <a:pt x="105728" y="0"/>
                  </a:lnTo>
                  <a:lnTo>
                    <a:pt x="72390" y="88583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2808922" y="5820728"/>
              <a:ext cx="1197293" cy="150495"/>
            </a:xfrm>
            <a:custGeom>
              <a:avLst/>
              <a:gdLst/>
              <a:ahLst/>
              <a:cxnLst/>
              <a:rect l="l" t="t" r="r" b="b"/>
              <a:pathLst>
                <a:path w="1197293" h="150495">
                  <a:moveTo>
                    <a:pt x="0" y="150495"/>
                  </a:moveTo>
                  <a:lnTo>
                    <a:pt x="1197293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4000500" y="5774055"/>
              <a:ext cx="100965" cy="94297"/>
            </a:xfrm>
            <a:custGeom>
              <a:avLst/>
              <a:gdLst/>
              <a:ahLst/>
              <a:cxnLst/>
              <a:rect l="l" t="t" r="r" b="b"/>
              <a:pathLst>
                <a:path w="100965" h="94297">
                  <a:moveTo>
                    <a:pt x="100965" y="35242"/>
                  </a:moveTo>
                  <a:lnTo>
                    <a:pt x="12383" y="942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4520565" y="2383155"/>
              <a:ext cx="1579245" cy="663892"/>
            </a:xfrm>
            <a:custGeom>
              <a:avLst/>
              <a:gdLst/>
              <a:ahLst/>
              <a:cxnLst/>
              <a:rect l="l" t="t" r="r" b="b"/>
              <a:pathLst>
                <a:path w="1579245" h="663892">
                  <a:moveTo>
                    <a:pt x="0" y="0"/>
                  </a:moveTo>
                  <a:lnTo>
                    <a:pt x="1579245" y="66389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6080760" y="3003232"/>
              <a:ext cx="106680" cy="87630"/>
            </a:xfrm>
            <a:custGeom>
              <a:avLst/>
              <a:gdLst/>
              <a:ahLst/>
              <a:cxnLst/>
              <a:rect l="l" t="t" r="r" b="b"/>
              <a:pathLst>
                <a:path w="106680" h="87630">
                  <a:moveTo>
                    <a:pt x="106680" y="80962"/>
                  </a:moveTo>
                  <a:lnTo>
                    <a:pt x="0" y="87630"/>
                  </a:lnTo>
                  <a:lnTo>
                    <a:pt x="37147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4520565" y="3290888"/>
              <a:ext cx="1579245" cy="663892"/>
            </a:xfrm>
            <a:custGeom>
              <a:avLst/>
              <a:gdLst/>
              <a:ahLst/>
              <a:cxnLst/>
              <a:rect l="l" t="t" r="r" b="b"/>
              <a:pathLst>
                <a:path w="1579245" h="663892">
                  <a:moveTo>
                    <a:pt x="0" y="663892"/>
                  </a:moveTo>
                  <a:lnTo>
                    <a:pt x="157924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6080760" y="3247072"/>
              <a:ext cx="106680" cy="87630"/>
            </a:xfrm>
            <a:custGeom>
              <a:avLst/>
              <a:gdLst/>
              <a:ahLst/>
              <a:cxnLst/>
              <a:rect l="l" t="t" r="r" b="b"/>
              <a:pathLst>
                <a:path w="106680" h="87630">
                  <a:moveTo>
                    <a:pt x="106680" y="6668"/>
                  </a:moveTo>
                  <a:lnTo>
                    <a:pt x="37147" y="876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5" name="Freeform 25"/>
            <p:cNvSpPr/>
            <p:nvPr/>
          </p:nvSpPr>
          <p:spPr>
            <a:xfrm>
              <a:off x="6546532" y="2359342"/>
              <a:ext cx="680085" cy="657225"/>
            </a:xfrm>
            <a:custGeom>
              <a:avLst/>
              <a:gdLst/>
              <a:ahLst/>
              <a:cxnLst/>
              <a:rect l="l" t="t" r="r" b="b"/>
              <a:pathLst>
                <a:path w="680085" h="657225">
                  <a:moveTo>
                    <a:pt x="0" y="657225"/>
                  </a:moveTo>
                  <a:lnTo>
                    <a:pt x="68008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7193280" y="2292668"/>
              <a:ext cx="101917" cy="100965"/>
            </a:xfrm>
            <a:custGeom>
              <a:avLst/>
              <a:gdLst/>
              <a:ahLst/>
              <a:cxnLst/>
              <a:rect l="l" t="t" r="r" b="b"/>
              <a:pathLst>
                <a:path w="101917" h="100965">
                  <a:moveTo>
                    <a:pt x="101917" y="0"/>
                  </a:moveTo>
                  <a:lnTo>
                    <a:pt x="65722" y="100965"/>
                  </a:lnTo>
                  <a:lnTo>
                    <a:pt x="0" y="3238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7" name="Freeform 27"/>
            <p:cNvSpPr/>
            <p:nvPr/>
          </p:nvSpPr>
          <p:spPr>
            <a:xfrm>
              <a:off x="4535805" y="5808345"/>
              <a:ext cx="2264092" cy="275273"/>
            </a:xfrm>
            <a:custGeom>
              <a:avLst/>
              <a:gdLst/>
              <a:ahLst/>
              <a:cxnLst/>
              <a:rect l="l" t="t" r="r" b="b"/>
              <a:pathLst>
                <a:path w="2264092" h="275273">
                  <a:moveTo>
                    <a:pt x="0" y="0"/>
                  </a:moveTo>
                  <a:lnTo>
                    <a:pt x="2264092" y="27527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6793230" y="6036945"/>
              <a:ext cx="100965" cy="94298"/>
            </a:xfrm>
            <a:custGeom>
              <a:avLst/>
              <a:gdLst/>
              <a:ahLst/>
              <a:cxnLst/>
              <a:rect l="l" t="t" r="r" b="b"/>
              <a:pathLst>
                <a:path w="100965" h="94298">
                  <a:moveTo>
                    <a:pt x="100965" y="58103"/>
                  </a:moveTo>
                  <a:lnTo>
                    <a:pt x="0" y="94298"/>
                  </a:lnTo>
                  <a:lnTo>
                    <a:pt x="12382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2232660" y="3714750"/>
              <a:ext cx="457200" cy="4572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30" name="Ellipse 30"/>
            <p:cNvSpPr/>
            <p:nvPr/>
          </p:nvSpPr>
          <p:spPr>
            <a:xfrm>
              <a:off x="4109085" y="2088832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31" name="Ellipse 31"/>
            <p:cNvSpPr/>
            <p:nvPr/>
          </p:nvSpPr>
          <p:spPr>
            <a:xfrm>
              <a:off x="4109085" y="3830955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4109085" y="5572125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33" name="Ellipse 33"/>
            <p:cNvSpPr/>
            <p:nvPr/>
          </p:nvSpPr>
          <p:spPr>
            <a:xfrm>
              <a:off x="6179820" y="2959418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2256472" y="1694498"/>
              <a:ext cx="838200" cy="240030"/>
            </a:xfrm>
            <a:prstGeom prst="roundRect">
              <a:avLst>
                <a:gd name="adj" fmla="val 39683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5684520" y="4597718"/>
              <a:ext cx="838200" cy="240030"/>
            </a:xfrm>
            <a:prstGeom prst="roundRect">
              <a:avLst>
                <a:gd name="adj" fmla="val 39683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1970722" y="5903595"/>
              <a:ext cx="838200" cy="240030"/>
            </a:xfrm>
            <a:prstGeom prst="roundRect">
              <a:avLst>
                <a:gd name="adj" fmla="val 39683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68680" y="3887152"/>
              <a:ext cx="6153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合法的咨询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2351544" y="3887152"/>
              <a:ext cx="2194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3.1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125332" y="4206716"/>
              <a:ext cx="67185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咨询类别处理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208919" y="2242185"/>
              <a:ext cx="2194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3.2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093096" y="2542699"/>
              <a:ext cx="4510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住房查询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208919" y="3984308"/>
              <a:ext cx="2194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3.3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093096" y="4284821"/>
              <a:ext cx="4510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房租查询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208919" y="5726430"/>
              <a:ext cx="2194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3.4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093096" y="5425916"/>
              <a:ext cx="4510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房产统计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279654" y="3112770"/>
              <a:ext cx="2194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3.5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163831" y="3413284"/>
              <a:ext cx="4510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打印处理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2428494" y="1758315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住房文件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5856541" y="4661535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房租文件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2142744" y="5968365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房产文件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142416" y="2145030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住房情况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917245" y="6064567"/>
              <a:ext cx="37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统计表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3149918" y="4791075"/>
              <a:ext cx="492442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3171076" y="4820126"/>
              <a:ext cx="4510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统计要求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5107305" y="2655570"/>
              <a:ext cx="492442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5128463" y="2684621"/>
              <a:ext cx="4510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住房记录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5107305" y="3526155"/>
              <a:ext cx="492442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5128463" y="3555206"/>
              <a:ext cx="4510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房租记录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3502857" y="6225540"/>
              <a:ext cx="12029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一层数据流图，图号 3</a:t>
              </a:r>
            </a:p>
          </p:txBody>
        </p:sp>
      </p:grpSp>
      <p:grpSp>
        <p:nvGrpSpPr>
          <p:cNvPr id="75" name="c2-kv-1"/>
          <p:cNvGrpSpPr/>
          <p:nvPr/>
        </p:nvGrpSpPr>
        <p:grpSpPr>
          <a:xfrm>
            <a:off x="7973187" y="1545907"/>
            <a:ext cx="3685413" cy="2594801"/>
            <a:chOff x="7973187" y="1545907"/>
            <a:chExt cx="3685413" cy="2594801"/>
          </a:xfrm>
        </p:grpSpPr>
        <p:sp>
          <p:nvSpPr>
            <p:cNvPr id="61" name="TextBox 61"/>
            <p:cNvSpPr txBox="1"/>
            <p:nvPr/>
          </p:nvSpPr>
          <p:spPr>
            <a:xfrm>
              <a:off x="7973187" y="1545907"/>
              <a:ext cx="3285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3.1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529447" y="1545907"/>
              <a:ext cx="2928366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根据咨询要求选择查询住房、查询房租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或统计要求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7980045" y="2085975"/>
              <a:ext cx="36785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7973187" y="2192655"/>
              <a:ext cx="3285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3.2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8529447" y="2192655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按住户名从住房文件读出住房记录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7980045" y="2478405"/>
              <a:ext cx="36785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7973187" y="2585085"/>
              <a:ext cx="3285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3.3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8529447" y="2585085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按户主名从房租文件读出房租记录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7980045" y="2870835"/>
              <a:ext cx="36785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7973187" y="2977515"/>
              <a:ext cx="3285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3.4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8529447" y="2977515"/>
              <a:ext cx="2928366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读房产文件，按面积分类，统计已分配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和未分配的住房数，输出统计表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7980045" y="3517582"/>
              <a:ext cx="36785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7973187" y="3623310"/>
              <a:ext cx="3285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3.5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8529447" y="3623310"/>
              <a:ext cx="2928366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把住房记录或房租记录变换成住房情况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并打印</a:t>
              </a:r>
            </a:p>
          </p:txBody>
        </p:sp>
      </p:grpSp>
      <p:grpSp>
        <p:nvGrpSpPr>
          <p:cNvPr id="81" name="c2-card-2"/>
          <p:cNvGrpSpPr/>
          <p:nvPr/>
        </p:nvGrpSpPr>
        <p:grpSpPr>
          <a:xfrm>
            <a:off x="7980045" y="4257675"/>
            <a:ext cx="3678555" cy="1700212"/>
            <a:chOff x="7980045" y="4257675"/>
            <a:chExt cx="3678555" cy="1700212"/>
          </a:xfrm>
        </p:grpSpPr>
        <p:sp>
          <p:nvSpPr>
            <p:cNvPr id="76" name="Rectangle 76"/>
            <p:cNvSpPr/>
            <p:nvPr/>
          </p:nvSpPr>
          <p:spPr>
            <a:xfrm>
              <a:off x="7980045" y="4257675"/>
              <a:ext cx="3678555" cy="1700212"/>
            </a:xfrm>
            <a:prstGeom prst="roundRect">
              <a:avLst>
                <a:gd name="adj" fmla="val 784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7" name="Rectangle 77"/>
            <p:cNvSpPr/>
            <p:nvPr/>
          </p:nvSpPr>
          <p:spPr>
            <a:xfrm>
              <a:off x="7989570" y="4391025"/>
              <a:ext cx="47625" cy="143351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78" name="Rectangle 78"/>
            <p:cNvSpPr/>
            <p:nvPr/>
          </p:nvSpPr>
          <p:spPr>
            <a:xfrm>
              <a:off x="8204835" y="444436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8296554" y="447722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8197977" y="4789170"/>
              <a:ext cx="3134106" cy="1035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原课件的小说明把 3.1 写作“咨询类型处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理”、3.4 写作“统计房产”，与数据流图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上的“咨询类别处理”“房产统计”不一致。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加工名以图上为准，条目和图必须同名。</a:t>
              </a:r>
            </a:p>
          </p:txBody>
        </p:sp>
      </p:grpSp>
      <p:grpSp>
        <p:nvGrpSpPr>
          <p:cNvPr id="8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2" name="TextBox 82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第2章 可行性研究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34710" cy="909257"/>
            <a:chOff x="520446" y="342900"/>
            <a:chExt cx="553471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2125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7648" y="407194"/>
              <a:ext cx="231275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第2章 可行性研究 · 数据流图 DFD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3471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二层图号 2.2：核准、分配、算房租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5" name="c1-graph-1"/>
          <p:cNvGrpSpPr/>
          <p:nvPr/>
        </p:nvGrpSpPr>
        <p:grpSpPr>
          <a:xfrm>
            <a:off x="528638" y="1645920"/>
            <a:ext cx="5570220" cy="4747259"/>
            <a:chOff x="528638" y="1645920"/>
            <a:chExt cx="5570220" cy="4747259"/>
          </a:xfrm>
        </p:grpSpPr>
        <p:sp>
          <p:nvSpPr>
            <p:cNvPr id="7" name="Freeform 7"/>
            <p:cNvSpPr/>
            <p:nvPr/>
          </p:nvSpPr>
          <p:spPr>
            <a:xfrm>
              <a:off x="1244918" y="3701415"/>
              <a:ext cx="529590" cy="9525"/>
            </a:xfrm>
            <a:custGeom>
              <a:avLst/>
              <a:gdLst/>
              <a:ahLst/>
              <a:cxnLst/>
              <a:rect l="l" t="t" r="r" b="b"/>
              <a:pathLst>
                <a:path w="529590" h="9525">
                  <a:moveTo>
                    <a:pt x="0" y="0"/>
                  </a:moveTo>
                  <a:lnTo>
                    <a:pt x="52959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774508" y="365379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2165032" y="1934528"/>
              <a:ext cx="9525" cy="1376363"/>
            </a:xfrm>
            <a:custGeom>
              <a:avLst/>
              <a:gdLst/>
              <a:ahLst/>
              <a:cxnLst/>
              <a:rect l="l" t="t" r="r" b="b"/>
              <a:pathLst>
                <a:path w="9525" h="1376363">
                  <a:moveTo>
                    <a:pt x="0" y="0"/>
                  </a:moveTo>
                  <a:lnTo>
                    <a:pt x="0" y="137636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117408" y="331089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2433638" y="2944178"/>
              <a:ext cx="1384935" cy="634365"/>
            </a:xfrm>
            <a:custGeom>
              <a:avLst/>
              <a:gdLst/>
              <a:ahLst/>
              <a:cxnLst/>
              <a:rect l="l" t="t" r="r" b="b"/>
              <a:pathLst>
                <a:path w="1384935" h="634365">
                  <a:moveTo>
                    <a:pt x="0" y="634365"/>
                  </a:moveTo>
                  <a:lnTo>
                    <a:pt x="138493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3798570" y="2901315"/>
              <a:ext cx="106680" cy="86677"/>
            </a:xfrm>
            <a:custGeom>
              <a:avLst/>
              <a:gdLst/>
              <a:ahLst/>
              <a:cxnLst/>
              <a:rect l="l" t="t" r="r" b="b"/>
              <a:pathLst>
                <a:path w="106680" h="86677">
                  <a:moveTo>
                    <a:pt x="106680" y="3810"/>
                  </a:moveTo>
                  <a:lnTo>
                    <a:pt x="40005" y="866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4429125" y="1958340"/>
              <a:ext cx="457200" cy="528638"/>
            </a:xfrm>
            <a:custGeom>
              <a:avLst/>
              <a:gdLst/>
              <a:ahLst/>
              <a:cxnLst/>
              <a:rect l="l" t="t" r="r" b="b"/>
              <a:pathLst>
                <a:path w="457200" h="528638">
                  <a:moveTo>
                    <a:pt x="457200" y="0"/>
                  </a:moveTo>
                  <a:lnTo>
                    <a:pt x="0" y="52863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4366260" y="2455545"/>
              <a:ext cx="98108" cy="102870"/>
            </a:xfrm>
            <a:custGeom>
              <a:avLst/>
              <a:gdLst/>
              <a:ahLst/>
              <a:cxnLst/>
              <a:rect l="l" t="t" r="r" b="b"/>
              <a:pathLst>
                <a:path w="98108" h="102870">
                  <a:moveTo>
                    <a:pt x="0" y="102870"/>
                  </a:moveTo>
                  <a:lnTo>
                    <a:pt x="26670" y="0"/>
                  </a:lnTo>
                  <a:lnTo>
                    <a:pt x="98108" y="61912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4850130" y="1885950"/>
              <a:ext cx="98108" cy="102870"/>
            </a:xfrm>
            <a:custGeom>
              <a:avLst/>
              <a:gdLst/>
              <a:ahLst/>
              <a:cxnLst/>
              <a:rect l="l" t="t" r="r" b="b"/>
              <a:pathLst>
                <a:path w="98108" h="102870">
                  <a:moveTo>
                    <a:pt x="98108" y="0"/>
                  </a:moveTo>
                  <a:lnTo>
                    <a:pt x="71438" y="102870"/>
                  </a:lnTo>
                  <a:lnTo>
                    <a:pt x="0" y="40958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6" name="Freeform 16"/>
            <p:cNvSpPr/>
            <p:nvPr/>
          </p:nvSpPr>
          <p:spPr>
            <a:xfrm>
              <a:off x="2298382" y="3027045"/>
              <a:ext cx="1710690" cy="2555558"/>
            </a:xfrm>
            <a:custGeom>
              <a:avLst/>
              <a:gdLst/>
              <a:ahLst/>
              <a:cxnLst/>
              <a:rect l="l" t="t" r="r" b="b"/>
              <a:pathLst>
                <a:path w="1710690" h="2555558">
                  <a:moveTo>
                    <a:pt x="1710690" y="0"/>
                  </a:moveTo>
                  <a:lnTo>
                    <a:pt x="0" y="255555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2245042" y="5555932"/>
              <a:ext cx="93345" cy="105728"/>
            </a:xfrm>
            <a:custGeom>
              <a:avLst/>
              <a:gdLst/>
              <a:ahLst/>
              <a:cxnLst/>
              <a:rect l="l" t="t" r="r" b="b"/>
              <a:pathLst>
                <a:path w="93345" h="105728">
                  <a:moveTo>
                    <a:pt x="0" y="105728"/>
                  </a:moveTo>
                  <a:lnTo>
                    <a:pt x="14288" y="0"/>
                  </a:lnTo>
                  <a:lnTo>
                    <a:pt x="93345" y="5334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8" name="Freeform 18"/>
            <p:cNvSpPr/>
            <p:nvPr/>
          </p:nvSpPr>
          <p:spPr>
            <a:xfrm>
              <a:off x="4315778" y="3041332"/>
              <a:ext cx="1050607" cy="1914525"/>
            </a:xfrm>
            <a:custGeom>
              <a:avLst/>
              <a:gdLst/>
              <a:ahLst/>
              <a:cxnLst/>
              <a:rect l="l" t="t" r="r" b="b"/>
              <a:pathLst>
                <a:path w="1050607" h="1914525">
                  <a:moveTo>
                    <a:pt x="0" y="0"/>
                  </a:moveTo>
                  <a:lnTo>
                    <a:pt x="1050607" y="191452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5324475" y="4932998"/>
              <a:ext cx="87630" cy="106680"/>
            </a:xfrm>
            <a:custGeom>
              <a:avLst/>
              <a:gdLst/>
              <a:ahLst/>
              <a:cxnLst/>
              <a:rect l="l" t="t" r="r" b="b"/>
              <a:pathLst>
                <a:path w="87630" h="106680">
                  <a:moveTo>
                    <a:pt x="87630" y="106680"/>
                  </a:moveTo>
                  <a:lnTo>
                    <a:pt x="0" y="45720"/>
                  </a:lnTo>
                  <a:lnTo>
                    <a:pt x="8382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0" name="Freeform 20"/>
            <p:cNvSpPr/>
            <p:nvPr/>
          </p:nvSpPr>
          <p:spPr>
            <a:xfrm>
              <a:off x="5595938" y="5590222"/>
              <a:ext cx="52388" cy="364808"/>
            </a:xfrm>
            <a:custGeom>
              <a:avLst/>
              <a:gdLst/>
              <a:ahLst/>
              <a:cxnLst/>
              <a:rect l="l" t="t" r="r" b="b"/>
              <a:pathLst>
                <a:path w="52388" h="364808">
                  <a:moveTo>
                    <a:pt x="0" y="0"/>
                  </a:moveTo>
                  <a:lnTo>
                    <a:pt x="52388" y="36480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5601652" y="5948362"/>
              <a:ext cx="94297" cy="100965"/>
            </a:xfrm>
            <a:custGeom>
              <a:avLst/>
              <a:gdLst/>
              <a:ahLst/>
              <a:cxnLst/>
              <a:rect l="l" t="t" r="r" b="b"/>
              <a:pathLst>
                <a:path w="94297" h="100965">
                  <a:moveTo>
                    <a:pt x="60960" y="100965"/>
                  </a:moveTo>
                  <a:lnTo>
                    <a:pt x="0" y="13335"/>
                  </a:lnTo>
                  <a:lnTo>
                    <a:pt x="94297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1879282" y="3415665"/>
              <a:ext cx="571500" cy="5715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3888105" y="2496502"/>
              <a:ext cx="571500" cy="5715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5268278" y="5012055"/>
              <a:ext cx="571500" cy="5715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1620202" y="1694498"/>
              <a:ext cx="1089660" cy="240030"/>
            </a:xfrm>
            <a:prstGeom prst="roundRect">
              <a:avLst>
                <a:gd name="adj" fmla="val 39683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4632960" y="1645920"/>
              <a:ext cx="838200" cy="240030"/>
            </a:xfrm>
            <a:prstGeom prst="roundRect">
              <a:avLst>
                <a:gd name="adj" fmla="val 39683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1745932" y="5661660"/>
              <a:ext cx="838200" cy="240030"/>
            </a:xfrm>
            <a:prstGeom prst="roundRect">
              <a:avLst>
                <a:gd name="adj" fmla="val 39683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5260658" y="6049328"/>
              <a:ext cx="838200" cy="240030"/>
            </a:xfrm>
            <a:prstGeom prst="roundRect">
              <a:avLst>
                <a:gd name="adj" fmla="val 39683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48868" y="3645218"/>
              <a:ext cx="37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分房单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985348" y="3645218"/>
              <a:ext cx="35936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2.2.1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829105" y="4021931"/>
              <a:ext cx="67185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核准住房条件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994171" y="2726055"/>
              <a:ext cx="35936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2.2.2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948316" y="3102769"/>
              <a:ext cx="4510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分配住房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374343" y="5242560"/>
              <a:ext cx="35936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2.2.3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328488" y="5618321"/>
              <a:ext cx="4510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房租计算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796796" y="1758315"/>
              <a:ext cx="7364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住房标准文件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804982" y="1709738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房产文件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917954" y="5726430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住房文件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432679" y="6113145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房租文件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2767012" y="3163252"/>
              <a:ext cx="804862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2777846" y="3192304"/>
              <a:ext cx="78224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核准后的分房单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4669155" y="3961448"/>
              <a:ext cx="388620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4693120" y="3990499"/>
              <a:ext cx="34069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住房单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28638" y="6216967"/>
              <a:ext cx="133620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二层数据流图，图号 2.2</a:t>
              </a:r>
            </a:p>
          </p:txBody>
        </p:sp>
      </p:grpSp>
      <p:grpSp>
        <p:nvGrpSpPr>
          <p:cNvPr id="75" name="c2-table-1"/>
          <p:cNvGrpSpPr/>
          <p:nvPr/>
        </p:nvGrpSpPr>
        <p:grpSpPr>
          <a:xfrm>
            <a:off x="7109270" y="1524000"/>
            <a:ext cx="4549330" cy="3663981"/>
            <a:chOff x="7109270" y="1524000"/>
            <a:chExt cx="4549330" cy="3663981"/>
          </a:xfrm>
        </p:grpSpPr>
        <p:sp>
          <p:nvSpPr>
            <p:cNvPr id="46" name="Rectangle 46"/>
            <p:cNvSpPr/>
            <p:nvPr/>
          </p:nvSpPr>
          <p:spPr>
            <a:xfrm>
              <a:off x="7114222" y="1524000"/>
              <a:ext cx="4544378" cy="40005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275868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图号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184553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加工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0063696" y="164544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做什么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211378" y="2145506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2.3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847648" y="2045494"/>
              <a:ext cx="871982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2.3.1 审查调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房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028748" y="2045494"/>
              <a:ext cx="228727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按住房标准文件审查调房单，输出审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核后的调房单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7114222" y="2519362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7114222" y="2524125"/>
              <a:ext cx="4544378" cy="6000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211378" y="2745581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2.3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847648" y="2645569"/>
              <a:ext cx="871982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2.3.2 调房处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理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028748" y="2645569"/>
              <a:ext cx="228727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读写房产文件和住房文件，输出住房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单和退房单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7114222" y="3119438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7211378" y="3345656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2.3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847648" y="3245644"/>
              <a:ext cx="871982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2.3.3 房租核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9028748" y="3345656"/>
              <a:ext cx="22730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按新住房重算房租，写入房租文件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7114222" y="3719512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7114222" y="3724275"/>
              <a:ext cx="4544378" cy="6000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7211378" y="3945731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2.4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847648" y="3845719"/>
              <a:ext cx="871982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2.4.1 退房处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理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9028748" y="3845719"/>
              <a:ext cx="228727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按退房单读写房产文件和住房文件，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输出审核后的退房单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7114222" y="4319588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7211378" y="4545806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2.4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7847648" y="4445794"/>
              <a:ext cx="871982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2.4.2 消去房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租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9028748" y="4545806"/>
              <a:ext cx="22730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从房租文件中消去该户的房租记录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7114222" y="1524000"/>
              <a:ext cx="4544378" cy="34004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2" name="Rectangle 72"/>
            <p:cNvSpPr/>
            <p:nvPr/>
          </p:nvSpPr>
          <p:spPr>
            <a:xfrm>
              <a:off x="7745730" y="1524000"/>
              <a:ext cx="9525" cy="34004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3" name="Rectangle 73"/>
            <p:cNvSpPr/>
            <p:nvPr/>
          </p:nvSpPr>
          <p:spPr>
            <a:xfrm>
              <a:off x="8926830" y="1524000"/>
              <a:ext cx="9525" cy="34004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7109270" y="4997291"/>
              <a:ext cx="425137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图号 2.3、2.4 的结构与 2.2 相似，都是先审查、再改文件、最后管房租</a:t>
              </a:r>
            </a:p>
          </p:txBody>
        </p:sp>
      </p:grpSp>
      <p:grpSp>
        <p:nvGrpSpPr>
          <p:cNvPr id="81" name="c2-callout-2"/>
          <p:cNvGrpSpPr/>
          <p:nvPr/>
        </p:nvGrpSpPr>
        <p:grpSpPr>
          <a:xfrm>
            <a:off x="7114222" y="5319712"/>
            <a:ext cx="4544378" cy="729615"/>
            <a:chOff x="7114222" y="5319712"/>
            <a:chExt cx="4544378" cy="729615"/>
          </a:xfrm>
        </p:grpSpPr>
        <p:sp>
          <p:nvSpPr>
            <p:cNvPr id="76" name="Rectangle 76"/>
            <p:cNvSpPr/>
            <p:nvPr/>
          </p:nvSpPr>
          <p:spPr>
            <a:xfrm>
              <a:off x="7114222" y="5319712"/>
              <a:ext cx="4544378" cy="729615"/>
            </a:xfrm>
            <a:prstGeom prst="roundRect">
              <a:avLst>
                <a:gd name="adj" fmla="val 15666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79" name="Group 79"/>
            <p:cNvGrpSpPr/>
            <p:nvPr/>
          </p:nvGrpSpPr>
          <p:grpSpPr>
            <a:xfrm>
              <a:off x="7319010" y="5584510"/>
              <a:ext cx="200023" cy="200023"/>
              <a:chOff x="7319010" y="5584510"/>
              <a:chExt cx="200023" cy="200023"/>
            </a:xfrm>
          </p:grpSpPr>
          <p:sp>
            <p:nvSpPr>
              <p:cNvPr id="77" name="Freeform 77"/>
              <p:cNvSpPr/>
              <p:nvPr/>
            </p:nvSpPr>
            <p:spPr>
              <a:xfrm>
                <a:off x="7319010" y="558451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8" name="Freeform 78"/>
              <p:cNvSpPr/>
              <p:nvPr/>
            </p:nvSpPr>
            <p:spPr>
              <a:xfrm>
                <a:off x="7452360" y="56511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80" name="TextBox 80"/>
            <p:cNvSpPr txBox="1"/>
            <p:nvPr/>
          </p:nvSpPr>
          <p:spPr>
            <a:xfrm>
              <a:off x="7621714" y="5466398"/>
              <a:ext cx="361416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三张二层子图共用住房文件、房产文件、房租文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件，所以这三个文件要画在它们的公共父图上。</a:t>
              </a:r>
            </a:p>
          </p:txBody>
        </p:sp>
      </p:grpSp>
      <p:grpSp>
        <p:nvGrpSpPr>
          <p:cNvPr id="8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2" name="TextBox 82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第2章 可行性研究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334E6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7EDF3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4293108" cy="3351847"/>
            <a:chOff x="667512" y="1835468"/>
            <a:chExt cx="4293108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第五部分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197510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数据字典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379285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给数据流图上的每个名字一个确切定义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40538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数据流、数据元素、数据存储、加工四类条目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定义数据的四种方式与符号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结构化英语、判定表、判定树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房产管理系统的字典片段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第2章 可行性研究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第2章 可行性研究 · 数据字典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数据字典：数据流图上名字的说明书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ard-1"/>
          <p:cNvGrpSpPr/>
          <p:nvPr/>
        </p:nvGrpSpPr>
        <p:grpSpPr>
          <a:xfrm>
            <a:off x="533400" y="1524000"/>
            <a:ext cx="4977765" cy="2005965"/>
            <a:chOff x="533400" y="1524000"/>
            <a:chExt cx="4977765" cy="200596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2005965"/>
            </a:xfrm>
            <a:prstGeom prst="roundRect">
              <a:avLst>
                <a:gd name="adj" fmla="val 664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739265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82078" y="1768792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数据字典（数据词典）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40538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对数据流图中包含的所有元素的定义的集合。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86765" y="252793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44880" y="2465070"/>
              <a:ext cx="417499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数据字典与数据流图 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共同构成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系统的逻辑模型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6765" y="286321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44880" y="2800350"/>
              <a:ext cx="3825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由四类元素的定义组成：数据流、数据流分量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（数据元素）、数据存储、处理</a:t>
              </a:r>
            </a:p>
          </p:txBody>
        </p:sp>
      </p:grpSp>
      <p:grpSp>
        <p:nvGrpSpPr>
          <p:cNvPr id="23" name="c1-callout-2"/>
          <p:cNvGrpSpPr/>
          <p:nvPr/>
        </p:nvGrpSpPr>
        <p:grpSpPr>
          <a:xfrm>
            <a:off x="533400" y="3720465"/>
            <a:ext cx="4977765" cy="1554480"/>
            <a:chOff x="533400" y="3720465"/>
            <a:chExt cx="4977765" cy="1554480"/>
          </a:xfrm>
        </p:grpSpPr>
        <p:sp>
          <p:nvSpPr>
            <p:cNvPr id="18" name="Rectangle 18"/>
            <p:cNvSpPr/>
            <p:nvPr/>
          </p:nvSpPr>
          <p:spPr>
            <a:xfrm>
              <a:off x="533400" y="3720465"/>
              <a:ext cx="4977765" cy="1554480"/>
            </a:xfrm>
            <a:prstGeom prst="roundRect">
              <a:avLst>
                <a:gd name="adj" fmla="val 7353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738188" y="4397695"/>
              <a:ext cx="200023" cy="200023"/>
              <a:chOff x="738188" y="4397695"/>
              <a:chExt cx="200023" cy="200023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738188" y="439769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871538" y="446436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1040130" y="4254818"/>
              <a:ext cx="4015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数据流图给出结构，数据字典给出含义；只有图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没有字典，图上的名字就是一堆不确定的词。</a:t>
              </a:r>
            </a:p>
          </p:txBody>
        </p:sp>
      </p:grpSp>
      <p:grpSp>
        <p:nvGrpSpPr>
          <p:cNvPr id="48" name="c2-table-1"/>
          <p:cNvGrpSpPr/>
          <p:nvPr/>
        </p:nvGrpSpPr>
        <p:grpSpPr>
          <a:xfrm>
            <a:off x="5815965" y="1524000"/>
            <a:ext cx="5842635" cy="2244090"/>
            <a:chOff x="5815965" y="1524000"/>
            <a:chExt cx="5842635" cy="2244090"/>
          </a:xfrm>
        </p:grpSpPr>
        <p:sp>
          <p:nvSpPr>
            <p:cNvPr id="24" name="Rectangle 24"/>
            <p:cNvSpPr/>
            <p:nvPr/>
          </p:nvSpPr>
          <p:spPr>
            <a:xfrm>
              <a:off x="5815965" y="1524000"/>
              <a:ext cx="5842635" cy="448628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279159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元素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487717" y="1659731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在数据流图上的样子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766097" y="1659731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在数据字典里的条目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923788" y="2108359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数据流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208711" y="2108359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箭头和它旁边的名字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546146" y="2108359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数据流条目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815965" y="241649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5815965" y="2421255"/>
              <a:ext cx="584263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923788" y="2556986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数据流分量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208711" y="2556986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图上不出现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546146" y="2556986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数据元素条目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815965" y="286607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923788" y="300561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数据存储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208711" y="3005614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双横线和它的名字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546146" y="3005614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数据存储（文件）条目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815965" y="331470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5815965" y="3319462"/>
              <a:ext cx="584263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923788" y="345424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处理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208711" y="3454241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圆圈里的编号和名字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546146" y="3454241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加工条目（小说明）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5815965" y="1524000"/>
              <a:ext cx="5842635" cy="22440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7096125" y="1524000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9433560" y="1524000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4" name="c2-card-2"/>
          <p:cNvGrpSpPr/>
          <p:nvPr/>
        </p:nvGrpSpPr>
        <p:grpSpPr>
          <a:xfrm>
            <a:off x="5815965" y="3958590"/>
            <a:ext cx="5842635" cy="1316355"/>
            <a:chOff x="5815965" y="3958590"/>
            <a:chExt cx="5842635" cy="1316355"/>
          </a:xfrm>
        </p:grpSpPr>
        <p:sp>
          <p:nvSpPr>
            <p:cNvPr id="49" name="Rectangle 49"/>
            <p:cNvSpPr/>
            <p:nvPr/>
          </p:nvSpPr>
          <p:spPr>
            <a:xfrm>
              <a:off x="5815965" y="3958590"/>
              <a:ext cx="5842635" cy="1316355"/>
            </a:xfrm>
            <a:prstGeom prst="roundRect">
              <a:avLst>
                <a:gd name="adj" fmla="val 101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5825490" y="4091940"/>
              <a:ext cx="47625" cy="104965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6063615" y="4168140"/>
              <a:ext cx="1631632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119368" y="4203859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为什么数据元素不上图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055995" y="4545330"/>
              <a:ext cx="4968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画到数据元素这一级，图上会有几十条箭头。图只画到数据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流，数据流由哪些数据元素组成，写在字典里。</a:t>
              </a:r>
            </a:p>
          </p:txBody>
        </p:sp>
      </p:grpSp>
      <p:grpSp>
        <p:nvGrpSpPr>
          <p:cNvPr id="5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5" name="TextBox 55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第2章 可行性研究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第2章 可行性研究 · 数据字典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数据流条目写什么，怎么定义复杂数据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4" name="c1-card-1"/>
          <p:cNvGrpSpPr/>
          <p:nvPr/>
        </p:nvGrpSpPr>
        <p:grpSpPr>
          <a:xfrm>
            <a:off x="533400" y="1524000"/>
            <a:ext cx="5410200" cy="2726055"/>
            <a:chOff x="533400" y="1524000"/>
            <a:chExt cx="5410200" cy="272605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726055"/>
            </a:xfrm>
            <a:prstGeom prst="roundRect">
              <a:avLst>
                <a:gd name="adj" fmla="val 489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459355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8457" y="1769269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数据流条目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808797" y="1768792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数据流是数据结构在系统内传播的路径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86765" y="219265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44880" y="212979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数据流名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86765" y="252793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44880" y="2465070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说明：简要介绍它产生的原因和结果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86765" y="286321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44880" y="2800350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数据流来源：来自何方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86765" y="319849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44880" y="3135630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数据流去向：去向何处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86765" y="353377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44880" y="3470910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数据流组成：数据结构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786765" y="386905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44880" y="3806190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每个数据量的流通量：数据量，流通量</a:t>
              </a:r>
            </a:p>
          </p:txBody>
        </p:sp>
      </p:grpSp>
      <p:grpSp>
        <p:nvGrpSpPr>
          <p:cNvPr id="31" name="c1-callout-2"/>
          <p:cNvGrpSpPr/>
          <p:nvPr/>
        </p:nvGrpSpPr>
        <p:grpSpPr>
          <a:xfrm>
            <a:off x="533400" y="4440555"/>
            <a:ext cx="5410200" cy="782955"/>
            <a:chOff x="533400" y="4440555"/>
            <a:chExt cx="5410200" cy="782955"/>
          </a:xfrm>
        </p:grpSpPr>
        <p:sp>
          <p:nvSpPr>
            <p:cNvPr id="25" name="Rectangle 25"/>
            <p:cNvSpPr/>
            <p:nvPr/>
          </p:nvSpPr>
          <p:spPr>
            <a:xfrm>
              <a:off x="533400" y="4440555"/>
              <a:ext cx="5410200" cy="782955"/>
            </a:xfrm>
            <a:prstGeom prst="roundRect">
              <a:avLst>
                <a:gd name="adj" fmla="val 1459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738188" y="4732020"/>
              <a:ext cx="200026" cy="200026"/>
              <a:chOff x="738188" y="4732020"/>
              <a:chExt cx="200026" cy="200026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738188" y="473202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838200" y="479869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827088" y="483203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1040130" y="4589145"/>
              <a:ext cx="4396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流通量指单位时间内经过这条数据流的数据量，后面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估算存储容量和处理能力时要用。</a:t>
              </a:r>
            </a:p>
          </p:txBody>
        </p:sp>
      </p:grpSp>
      <p:grpSp>
        <p:nvGrpSpPr>
          <p:cNvPr id="38" name="c1-callout-3"/>
          <p:cNvGrpSpPr/>
          <p:nvPr/>
        </p:nvGrpSpPr>
        <p:grpSpPr>
          <a:xfrm>
            <a:off x="533400" y="5414010"/>
            <a:ext cx="5410200" cy="782955"/>
            <a:chOff x="533400" y="5414010"/>
            <a:chExt cx="5410200" cy="782955"/>
          </a:xfrm>
        </p:grpSpPr>
        <p:sp>
          <p:nvSpPr>
            <p:cNvPr id="32" name="Rectangle 32"/>
            <p:cNvSpPr/>
            <p:nvPr/>
          </p:nvSpPr>
          <p:spPr>
            <a:xfrm>
              <a:off x="533400" y="5414010"/>
              <a:ext cx="5410200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738188" y="5705475"/>
              <a:ext cx="200026" cy="200025"/>
              <a:chOff x="738188" y="5705475"/>
              <a:chExt cx="200026" cy="200025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738188" y="570547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777926" y="574992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812642" y="586105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1040130" y="5562600"/>
              <a:ext cx="4396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来源和去向两项写清楚，父图子图的平衡检查就有了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依据。</a:t>
              </a:r>
            </a:p>
          </p:txBody>
        </p:sp>
      </p:grpSp>
      <p:grpSp>
        <p:nvGrpSpPr>
          <p:cNvPr id="55" name="c2-card-1"/>
          <p:cNvGrpSpPr/>
          <p:nvPr/>
        </p:nvGrpSpPr>
        <p:grpSpPr>
          <a:xfrm>
            <a:off x="6248400" y="1524000"/>
            <a:ext cx="5410200" cy="2657475"/>
            <a:chOff x="6248400" y="1524000"/>
            <a:chExt cx="5410200" cy="2657475"/>
          </a:xfrm>
        </p:grpSpPr>
        <p:sp>
          <p:nvSpPr>
            <p:cNvPr id="39" name="Rectangle 39"/>
            <p:cNvSpPr/>
            <p:nvPr/>
          </p:nvSpPr>
          <p:spPr>
            <a:xfrm>
              <a:off x="6248400" y="1524000"/>
              <a:ext cx="5410200" cy="2657475"/>
            </a:xfrm>
            <a:prstGeom prst="roundRect">
              <a:avLst>
                <a:gd name="adj" fmla="val 5018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6457950" y="1733550"/>
              <a:ext cx="1774508" cy="257175"/>
            </a:xfrm>
            <a:prstGeom prst="roundRect">
              <a:avLst>
                <a:gd name="adj" fmla="val 50000"/>
              </a:avLst>
            </a:prstGeom>
            <a:solidFill>
              <a:srgbClr val="243B53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509753" y="1769269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定义复杂事物的四种方式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450330" y="2110740"/>
              <a:ext cx="4777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用被定义事物的成分的某种组合表示这个事物，这些组成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成分又由更低层的成分的组合来定义。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6457950" y="2718435"/>
              <a:ext cx="213360" cy="2133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519799" y="276072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758940" y="2731770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顺序：以确定次序连接两个或多个分量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6457950" y="3053715"/>
              <a:ext cx="213360" cy="2133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519799" y="309600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758940" y="3067050"/>
              <a:ext cx="38519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选择：从两个或多个可能的元素中选取一个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6457950" y="3388995"/>
              <a:ext cx="213360" cy="2133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519799" y="343128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758940" y="3402330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重复：把指定的分量重复零次或多次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6457950" y="3724275"/>
              <a:ext cx="213360" cy="2133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519799" y="376656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758940" y="3737610"/>
              <a:ext cx="40538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可选：一个分量可有可无，即重复零次或一次</a:t>
              </a:r>
            </a:p>
          </p:txBody>
        </p:sp>
      </p:grpSp>
      <p:grpSp>
        <p:nvGrpSpPr>
          <p:cNvPr id="62" name="c2-callout-2"/>
          <p:cNvGrpSpPr/>
          <p:nvPr/>
        </p:nvGrpSpPr>
        <p:grpSpPr>
          <a:xfrm>
            <a:off x="6248400" y="4371975"/>
            <a:ext cx="5410200" cy="1824990"/>
            <a:chOff x="6248400" y="4371975"/>
            <a:chExt cx="5410200" cy="1824990"/>
          </a:xfrm>
        </p:grpSpPr>
        <p:sp>
          <p:nvSpPr>
            <p:cNvPr id="56" name="Rectangle 56"/>
            <p:cNvSpPr/>
            <p:nvPr/>
          </p:nvSpPr>
          <p:spPr>
            <a:xfrm>
              <a:off x="6248400" y="4371975"/>
              <a:ext cx="5410200" cy="1824990"/>
            </a:xfrm>
            <a:prstGeom prst="roundRect">
              <a:avLst>
                <a:gd name="adj" fmla="val 626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0" name="Group 60"/>
            <p:cNvGrpSpPr/>
            <p:nvPr/>
          </p:nvGrpSpPr>
          <p:grpSpPr>
            <a:xfrm>
              <a:off x="6453188" y="5184458"/>
              <a:ext cx="200026" cy="200025"/>
              <a:chOff x="6453188" y="5184458"/>
              <a:chExt cx="200026" cy="200025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6453188" y="518445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6492926" y="522890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6527642" y="534003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1" name="TextBox 61"/>
            <p:cNvSpPr txBox="1"/>
            <p:nvPr/>
          </p:nvSpPr>
          <p:spPr>
            <a:xfrm>
              <a:off x="6755130" y="5041582"/>
              <a:ext cx="4206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顺序、选择、重复这三种方式足以定义任何数据结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构，和程序的三种基本控制结构正好对应。</a:t>
              </a:r>
            </a:p>
          </p:txBody>
        </p:sp>
      </p:grpSp>
      <p:grpSp>
        <p:nvGrpSpPr>
          <p:cNvPr id="6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3" name="TextBox 63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第2章 可行性研究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第2章 可行性研究 · 数据字典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数据流条目中的符号与存折的完整定义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53" name="c1-table-1"/>
          <p:cNvGrpSpPr/>
          <p:nvPr/>
        </p:nvGrpSpPr>
        <p:grpSpPr>
          <a:xfrm>
            <a:off x="533400" y="1524000"/>
            <a:ext cx="5410200" cy="4629150"/>
            <a:chOff x="533400" y="1524000"/>
            <a:chExt cx="5410200" cy="462915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439102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532" y="164877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符号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913572" y="164877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含义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131945" y="164877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举例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29412" y="2087880"/>
              <a:ext cx="1954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＝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602867" y="208788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被定义为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793492" y="2087880"/>
              <a:ext cx="20764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存折 ＝ 户名 ＋ 所号 ＋ …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39744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402205"/>
              <a:ext cx="5410200" cy="43910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29412" y="2526982"/>
              <a:ext cx="1954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＋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602867" y="2526982"/>
              <a:ext cx="1954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793492" y="2526982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＝ a ＋ b，x 由 a 和 b 组成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83559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29412" y="2966085"/>
              <a:ext cx="6529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[… , …]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602867" y="2966085"/>
              <a:ext cx="1954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或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793492" y="2966085"/>
              <a:ext cx="26761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＝ [a , b]，x 由 a 或由 b 组成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27469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279458"/>
              <a:ext cx="5410200" cy="43910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29412" y="3405188"/>
              <a:ext cx="6152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[…｜…]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602867" y="3405188"/>
              <a:ext cx="1954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或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793492" y="3405188"/>
              <a:ext cx="28033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＝ [a｜b]，写法不同，含义相同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371379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29412" y="3843338"/>
              <a:ext cx="4430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 … }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602867" y="384333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重复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793492" y="3843338"/>
              <a:ext cx="27306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＝ {a}，x 由 0 个或多个 a 组成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415290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33400" y="4157662"/>
              <a:ext cx="5410200" cy="43910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29412" y="4282440"/>
              <a:ext cx="57664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m{…}n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602867" y="4282440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重复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793492" y="4282440"/>
              <a:ext cx="27761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＝ 3{a}8，x 由 3 到 8 个 a 组成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459200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29412" y="4721542"/>
              <a:ext cx="3285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(…)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602867" y="472154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可选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793492" y="4721542"/>
              <a:ext cx="23944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＝ (a)，在 x 中 a 可有可无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33400" y="503015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533400" y="5034915"/>
              <a:ext cx="5410200" cy="67913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29412" y="5280660"/>
              <a:ext cx="3285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“…”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602867" y="5160645"/>
              <a:ext cx="870966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基本数据元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素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2793492" y="5280660"/>
              <a:ext cx="252168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＝ “a”，x 是取值为 a 的元素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33400" y="570928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29412" y="583977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..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602867" y="583977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连结符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2793492" y="5839778"/>
              <a:ext cx="28306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＝ 1..9，x 可取 1 到 9 中任一值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33400" y="1524000"/>
              <a:ext cx="5410200" cy="46291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1502092" y="1524000"/>
              <a:ext cx="9525" cy="46291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2692718" y="1524000"/>
              <a:ext cx="9525" cy="46291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7" name="c2-code-1"/>
          <p:cNvGrpSpPr/>
          <p:nvPr/>
        </p:nvGrpSpPr>
        <p:grpSpPr>
          <a:xfrm>
            <a:off x="6248400" y="1524000"/>
            <a:ext cx="5410200" cy="2440305"/>
            <a:chOff x="6248400" y="1524000"/>
            <a:chExt cx="5410200" cy="2440305"/>
          </a:xfrm>
        </p:grpSpPr>
        <p:sp>
          <p:nvSpPr>
            <p:cNvPr id="54" name="Rectangle 54"/>
            <p:cNvSpPr/>
            <p:nvPr/>
          </p:nvSpPr>
          <p:spPr>
            <a:xfrm>
              <a:off x="6248400" y="1524000"/>
              <a:ext cx="5410200" cy="2440305"/>
            </a:xfrm>
            <a:prstGeom prst="roundRect">
              <a:avLst>
                <a:gd name="adj" fmla="val 390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376797" y="1675924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存折的数据流条目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376797" y="1935956"/>
              <a:ext cx="3003169" cy="19528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存折  ＝ 户名 ＋ 所号 ＋ 帐号 ＋ 开户日 ＋ 性质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   ＋ (印密) ＋ 1{存取行}50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户名  ＝ 2{字母}24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所号  ＝ “001”..“999”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帐号  ＝ “00000001”..“99999999”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开户日 ＝ 年 ＋ 月 ＋ 日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性质  ＝ “1”..“6”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   注：“1”表示普通户，“5”表示工资户等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印密  ＝ “0”   注：印密在存折上不显示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存取行 ＝ 日期 ＋ (摘要) ＋ 支出 ＋ 存入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   ＋ 余额 ＋ 操作 ＋ 复核</a:t>
              </a:r>
            </a:p>
          </p:txBody>
        </p:sp>
      </p:grpSp>
      <p:grpSp>
        <p:nvGrpSpPr>
          <p:cNvPr id="63" name="c2-callout-2"/>
          <p:cNvGrpSpPr/>
          <p:nvPr/>
        </p:nvGrpSpPr>
        <p:grpSpPr>
          <a:xfrm>
            <a:off x="6248400" y="4133850"/>
            <a:ext cx="5410200" cy="729615"/>
            <a:chOff x="6248400" y="4133850"/>
            <a:chExt cx="5410200" cy="729615"/>
          </a:xfrm>
        </p:grpSpPr>
        <p:sp>
          <p:nvSpPr>
            <p:cNvPr id="58" name="Rectangle 58"/>
            <p:cNvSpPr/>
            <p:nvPr/>
          </p:nvSpPr>
          <p:spPr>
            <a:xfrm>
              <a:off x="6248400" y="4133850"/>
              <a:ext cx="5410200" cy="729615"/>
            </a:xfrm>
            <a:prstGeom prst="roundRect">
              <a:avLst>
                <a:gd name="adj" fmla="val 15666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61" name="Group 61"/>
            <p:cNvGrpSpPr/>
            <p:nvPr/>
          </p:nvGrpSpPr>
          <p:grpSpPr>
            <a:xfrm>
              <a:off x="6453188" y="4398647"/>
              <a:ext cx="200023" cy="200023"/>
              <a:chOff x="6453188" y="4398647"/>
              <a:chExt cx="200023" cy="200023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6453188" y="439864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6586538" y="446532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2" name="TextBox 62"/>
            <p:cNvSpPr txBox="1"/>
            <p:nvPr/>
          </p:nvSpPr>
          <p:spPr>
            <a:xfrm>
              <a:off x="6755892" y="4280535"/>
              <a:ext cx="4428554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读定义式时把符号念出来：1{存取行}50 就是“至少 1 行、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最多 50 行存取记录”，(印密) 就是“可有可无”。</a:t>
              </a:r>
            </a:p>
          </p:txBody>
        </p:sp>
      </p:grpSp>
      <p:grpSp>
        <p:nvGrpSpPr>
          <p:cNvPr id="72" name="c2-kv-3"/>
          <p:cNvGrpSpPr/>
          <p:nvPr/>
        </p:nvGrpSpPr>
        <p:grpSpPr>
          <a:xfrm>
            <a:off x="6241542" y="5055870"/>
            <a:ext cx="5417058" cy="1048893"/>
            <a:chOff x="6241542" y="5055870"/>
            <a:chExt cx="5417058" cy="1048893"/>
          </a:xfrm>
        </p:grpSpPr>
        <p:sp>
          <p:nvSpPr>
            <p:cNvPr id="64" name="TextBox 64"/>
            <p:cNvSpPr txBox="1"/>
            <p:nvPr/>
          </p:nvSpPr>
          <p:spPr>
            <a:xfrm>
              <a:off x="6241542" y="5055870"/>
              <a:ext cx="6734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＝ 和 ＋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8131302" y="5055870"/>
              <a:ext cx="9405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对应“顺序”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6248400" y="534257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241542" y="5448300"/>
              <a:ext cx="12263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[…] 和 […｜…]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8131302" y="5448300"/>
              <a:ext cx="9405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对应“选择”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6248400" y="573500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6241542" y="5840730"/>
              <a:ext cx="16843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{…}、m{…}n 和 (…)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8131302" y="5840730"/>
              <a:ext cx="16856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对应“重复”和“可选”</a:t>
              </a:r>
            </a:p>
          </p:txBody>
        </p:sp>
      </p:grpSp>
      <p:grpSp>
        <p:nvGrpSpPr>
          <p:cNvPr id="7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3" name="TextBox 73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第2章 可行性研究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第2章 可行性研究 · 数据字典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另外三类条目，以及一份真实的字典片段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6" name="c1-card-1"/>
          <p:cNvGrpSpPr/>
          <p:nvPr/>
        </p:nvGrpSpPr>
        <p:grpSpPr>
          <a:xfrm>
            <a:off x="533400" y="1524000"/>
            <a:ext cx="5410200" cy="1245870"/>
            <a:chOff x="533400" y="1524000"/>
            <a:chExt cx="5410200" cy="124587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245870"/>
            </a:xfrm>
            <a:prstGeom prst="roundRect">
              <a:avLst>
                <a:gd name="adj" fmla="val 1070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979170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8190" y="1710690"/>
              <a:ext cx="956310" cy="23812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5609" y="1743551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数据元素条目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821942" y="1745932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数据处理中最小的、不可再分的单位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66762" y="2127885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22782" y="2071688"/>
              <a:ext cx="41936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类型：数字（离散值、连续值）、文字（编码类型）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66762" y="2427922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22782" y="2371725"/>
              <a:ext cx="36484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长度、取值范围、相关的数据元素及数据结构</a:t>
              </a:r>
            </a:p>
          </p:txBody>
        </p:sp>
      </p:grpSp>
      <p:grpSp>
        <p:nvGrpSpPr>
          <p:cNvPr id="27" name="c1-card-2"/>
          <p:cNvGrpSpPr/>
          <p:nvPr/>
        </p:nvGrpSpPr>
        <p:grpSpPr>
          <a:xfrm>
            <a:off x="533400" y="2939415"/>
            <a:ext cx="5410200" cy="1528762"/>
            <a:chOff x="533400" y="2939415"/>
            <a:chExt cx="5410200" cy="1528762"/>
          </a:xfrm>
        </p:grpSpPr>
        <p:sp>
          <p:nvSpPr>
            <p:cNvPr id="17" name="Rectangle 17"/>
            <p:cNvSpPr/>
            <p:nvPr/>
          </p:nvSpPr>
          <p:spPr>
            <a:xfrm>
              <a:off x="533400" y="2939415"/>
              <a:ext cx="5410200" cy="1528762"/>
            </a:xfrm>
            <a:prstGeom prst="roundRect">
              <a:avLst>
                <a:gd name="adj" fmla="val 87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542925" y="3072765"/>
              <a:ext cx="47625" cy="1262062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758190" y="3126105"/>
              <a:ext cx="1454468" cy="23812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20357" y="3158966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数据存储（文件）条目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766762" y="3526155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22782" y="3469958"/>
              <a:ext cx="38301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简述：存放的是什么数据；输入数据、输出数据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766762" y="3827145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22782" y="377094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文件组成：数据结构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766762" y="4127182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22782" y="4070985"/>
              <a:ext cx="34667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存储方式：顺序、直接、关键码；存取频率</a:t>
              </a:r>
            </a:p>
          </p:txBody>
        </p:sp>
      </p:grpSp>
      <p:grpSp>
        <p:nvGrpSpPr>
          <p:cNvPr id="38" name="c1-card-3"/>
          <p:cNvGrpSpPr/>
          <p:nvPr/>
        </p:nvGrpSpPr>
        <p:grpSpPr>
          <a:xfrm>
            <a:off x="533400" y="4638675"/>
            <a:ext cx="5410200" cy="1528762"/>
            <a:chOff x="533400" y="4638675"/>
            <a:chExt cx="5410200" cy="1528762"/>
          </a:xfrm>
        </p:grpSpPr>
        <p:sp>
          <p:nvSpPr>
            <p:cNvPr id="28" name="Rectangle 28"/>
            <p:cNvSpPr/>
            <p:nvPr/>
          </p:nvSpPr>
          <p:spPr>
            <a:xfrm>
              <a:off x="533400" y="4638675"/>
              <a:ext cx="5410200" cy="1528762"/>
            </a:xfrm>
            <a:prstGeom prst="roundRect">
              <a:avLst>
                <a:gd name="adj" fmla="val 87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542925" y="4772025"/>
              <a:ext cx="47625" cy="1262062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758190" y="4825365"/>
              <a:ext cx="1204912" cy="23812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28459" y="4858226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加工（处理）条目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766762" y="5225415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22782" y="5169218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加工编号：反映该加工的层次；简要描述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766762" y="5525452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22782" y="5469255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输入数据流、输出数据流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766762" y="5825490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922782" y="5769292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加工逻辑：简述加工程序、加工顺序</a:t>
              </a:r>
            </a:p>
          </p:txBody>
        </p:sp>
      </p:grpSp>
      <p:grpSp>
        <p:nvGrpSpPr>
          <p:cNvPr id="42" name="c2-code-1"/>
          <p:cNvGrpSpPr/>
          <p:nvPr/>
        </p:nvGrpSpPr>
        <p:grpSpPr>
          <a:xfrm>
            <a:off x="6248400" y="1524000"/>
            <a:ext cx="5410200" cy="2967990"/>
            <a:chOff x="6248400" y="1524000"/>
            <a:chExt cx="5410200" cy="2967990"/>
          </a:xfrm>
        </p:grpSpPr>
        <p:sp>
          <p:nvSpPr>
            <p:cNvPr id="39" name="Rectangle 39"/>
            <p:cNvSpPr/>
            <p:nvPr/>
          </p:nvSpPr>
          <p:spPr>
            <a:xfrm>
              <a:off x="6248400" y="1524000"/>
              <a:ext cx="5410200" cy="2967990"/>
            </a:xfrm>
            <a:prstGeom prst="roundRect">
              <a:avLst>
                <a:gd name="adj" fmla="val 3209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376797" y="1675924"/>
              <a:ext cx="251653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定货系统的字典片段（格式可以灵活剪裁）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376797" y="1935956"/>
              <a:ext cx="3121406" cy="24814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名字（数据流名）：定货报表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别名：定货信息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描述（说明）：每天一次送给采购员的需要定货的零件表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定义（数据流组成）：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定货报表 ＝ 零件编号 ＋ 零件名称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         ＋ 定货数量 ＋ 目前价格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         ＋ 主要供应者 ＋ 次要供应者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位置（数据流去向）：输出到打印机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名字：定货数量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别名：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描述：某个零件一次定货的数量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定义：定货数量 ＝ 1{数字}5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位置（相关的数据结构）：定货报表、定货信息</a:t>
              </a:r>
            </a:p>
          </p:txBody>
        </p:sp>
      </p:grpSp>
      <p:grpSp>
        <p:nvGrpSpPr>
          <p:cNvPr id="49" name="c2-callout-2"/>
          <p:cNvGrpSpPr/>
          <p:nvPr/>
        </p:nvGrpSpPr>
        <p:grpSpPr>
          <a:xfrm>
            <a:off x="6248400" y="4661535"/>
            <a:ext cx="5410200" cy="1505902"/>
            <a:chOff x="6248400" y="4661535"/>
            <a:chExt cx="5410200" cy="1505902"/>
          </a:xfrm>
        </p:grpSpPr>
        <p:sp>
          <p:nvSpPr>
            <p:cNvPr id="43" name="Rectangle 43"/>
            <p:cNvSpPr/>
            <p:nvPr/>
          </p:nvSpPr>
          <p:spPr>
            <a:xfrm>
              <a:off x="6248400" y="4661535"/>
              <a:ext cx="5410200" cy="1505902"/>
            </a:xfrm>
            <a:prstGeom prst="roundRect">
              <a:avLst>
                <a:gd name="adj" fmla="val 759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6453188" y="5313998"/>
              <a:ext cx="200026" cy="200026"/>
              <a:chOff x="6453188" y="5313998"/>
              <a:chExt cx="200026" cy="200026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6453188" y="531399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6553200" y="538067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6542088" y="541401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6755892" y="5195888"/>
              <a:ext cx="4488561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加工条目又叫“小说明”，它只说做什么、按什么规则做，不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写具体算法。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0" name="TextBox 50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第2章 可行性研究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第2章 可行性研究 · 数据字典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写加工逻辑的三种工具：先看结构化英语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6" name="c1-card-1"/>
          <p:cNvGrpSpPr/>
          <p:nvPr/>
        </p:nvGrpSpPr>
        <p:grpSpPr>
          <a:xfrm>
            <a:off x="533400" y="1524000"/>
            <a:ext cx="4977765" cy="1528762"/>
            <a:chOff x="533400" y="1524000"/>
            <a:chExt cx="4977765" cy="152876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1528762"/>
            </a:xfrm>
            <a:prstGeom prst="roundRect">
              <a:avLst>
                <a:gd name="adj" fmla="val 8723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20090" y="1710690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243B53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04659" y="1743551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三种工具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8662" y="2110740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84682" y="2054542"/>
              <a:ext cx="29598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结构化英语（Structured English）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8662" y="2411730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84682" y="2355532"/>
              <a:ext cx="21506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判定表（Decision Table）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8662" y="2711768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84682" y="2655570"/>
              <a:ext cx="20964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判定树（Decision Tree）</a:t>
              </a:r>
            </a:p>
          </p:txBody>
        </p:sp>
      </p:grpSp>
      <p:grpSp>
        <p:nvGrpSpPr>
          <p:cNvPr id="28" name="c1-card-2"/>
          <p:cNvGrpSpPr/>
          <p:nvPr/>
        </p:nvGrpSpPr>
        <p:grpSpPr>
          <a:xfrm>
            <a:off x="533400" y="3223260"/>
            <a:ext cx="4977765" cy="2600325"/>
            <a:chOff x="533400" y="3223260"/>
            <a:chExt cx="4977765" cy="2600325"/>
          </a:xfrm>
        </p:grpSpPr>
        <p:sp>
          <p:nvSpPr>
            <p:cNvPr id="17" name="Rectangle 17"/>
            <p:cNvSpPr/>
            <p:nvPr/>
          </p:nvSpPr>
          <p:spPr>
            <a:xfrm>
              <a:off x="533400" y="3223260"/>
              <a:ext cx="4977765" cy="2600325"/>
            </a:xfrm>
            <a:prstGeom prst="roundRect">
              <a:avLst>
                <a:gd name="adj" fmla="val 512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542925" y="3356610"/>
              <a:ext cx="47625" cy="2333625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758190" y="3409950"/>
              <a:ext cx="831532" cy="23812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39660" y="3442811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结构化英语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51332" y="3753802"/>
              <a:ext cx="42999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介于自然语言和形式化语言之间的语言。正文用基本控制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结构进行分割，加工中的操作用自然语言短语来表示。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766762" y="4367212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22782" y="4311015"/>
              <a:ext cx="41285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词汇表：英语命令动词、数据词典中定义的名字、有限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的自定义词、控制结构关键词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766762" y="4924425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22782" y="4868228"/>
              <a:ext cx="351129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控制结构关键词：IF_THEN_ELSE、CASE_OF、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WHILE_DO、REPEAT_UNTIL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766762" y="5482590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22782" y="5426392"/>
              <a:ext cx="43754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三种基本控制结构：简单陈述句、重复结构、判定结构</a:t>
              </a:r>
            </a:p>
          </p:txBody>
        </p:sp>
      </p:grpSp>
      <p:grpSp>
        <p:nvGrpSpPr>
          <p:cNvPr id="32" name="c2-code-1"/>
          <p:cNvGrpSpPr/>
          <p:nvPr/>
        </p:nvGrpSpPr>
        <p:grpSpPr>
          <a:xfrm>
            <a:off x="5815965" y="1524000"/>
            <a:ext cx="5842635" cy="2264092"/>
            <a:chOff x="5815965" y="1524000"/>
            <a:chExt cx="5842635" cy="2264092"/>
          </a:xfrm>
        </p:grpSpPr>
        <p:sp>
          <p:nvSpPr>
            <p:cNvPr id="29" name="Rectangle 29"/>
            <p:cNvSpPr/>
            <p:nvPr/>
          </p:nvSpPr>
          <p:spPr>
            <a:xfrm>
              <a:off x="5815965" y="1524000"/>
              <a:ext cx="5842635" cy="2264092"/>
            </a:xfrm>
            <a:prstGeom prst="roundRect">
              <a:avLst>
                <a:gd name="adj" fmla="val 420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944362" y="1675924"/>
              <a:ext cx="200926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商店业务处理系统中“检查发货单”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944362" y="1935956"/>
              <a:ext cx="2175510" cy="17766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if 发货单金额超过 $500 then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if 欠款超过了 60 天 then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    在偿还欠款前不予批准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else （欠款未超期）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    发批准书，发货单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else （发货单金额未超过 $500）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if 欠款超过 60 天 then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    发批准书，发货单及赊欠报告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else （欠款未超期）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    发批准书，发货单</a:t>
              </a:r>
            </a:p>
          </p:txBody>
        </p:sp>
      </p:grpSp>
      <p:grpSp>
        <p:nvGrpSpPr>
          <p:cNvPr id="39" name="c2-callout-2"/>
          <p:cNvGrpSpPr/>
          <p:nvPr/>
        </p:nvGrpSpPr>
        <p:grpSpPr>
          <a:xfrm>
            <a:off x="5815965" y="3958590"/>
            <a:ext cx="5842635" cy="1864995"/>
            <a:chOff x="5815965" y="3958590"/>
            <a:chExt cx="5842635" cy="1864995"/>
          </a:xfrm>
        </p:grpSpPr>
        <p:sp>
          <p:nvSpPr>
            <p:cNvPr id="33" name="Rectangle 33"/>
            <p:cNvSpPr/>
            <p:nvPr/>
          </p:nvSpPr>
          <p:spPr>
            <a:xfrm>
              <a:off x="5815965" y="3958590"/>
              <a:ext cx="5842635" cy="1864995"/>
            </a:xfrm>
            <a:prstGeom prst="roundRect">
              <a:avLst>
                <a:gd name="adj" fmla="val 612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6020753" y="4791075"/>
              <a:ext cx="200026" cy="200025"/>
              <a:chOff x="6020753" y="4791075"/>
              <a:chExt cx="200026" cy="200025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6020753" y="479107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6060491" y="483552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6095207" y="494665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6323457" y="4672012"/>
              <a:ext cx="481431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结构化英语最接近程序，缩进层次就是条件的嵌套层次，适合顺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序、选择、循环为主的加工。</a:t>
              </a:r>
            </a:p>
          </p:txBody>
        </p:sp>
      </p:grpSp>
      <p:grpSp>
        <p:nvGrpSpPr>
          <p:cNvPr id="4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0" name="TextBox 40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第2章 可行性研究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831842" cy="909257"/>
            <a:chOff x="520446" y="342900"/>
            <a:chExt cx="48318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第2章 可行性研究 · 数据字典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8318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判定表：把条件的所有组合摆开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6192774" cy="264033"/>
            <a:chOff x="526542" y="1545907"/>
            <a:chExt cx="6192774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61927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数据流图的加工需要依赖于多个逻辑条件的取值时，用判定表描述比较合适。</a:t>
              </a:r>
            </a:p>
          </p:txBody>
        </p:sp>
      </p:grpSp>
      <p:grpSp>
        <p:nvGrpSpPr>
          <p:cNvPr id="51" name="c1-table-1"/>
          <p:cNvGrpSpPr/>
          <p:nvPr/>
        </p:nvGrpSpPr>
        <p:grpSpPr>
          <a:xfrm>
            <a:off x="528447" y="1928812"/>
            <a:ext cx="6713411" cy="3063907"/>
            <a:chOff x="528447" y="1928812"/>
            <a:chExt cx="6713411" cy="3063907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6708458" cy="40005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358519" y="205025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检查发货单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435946" y="20502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509414" y="20502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582881" y="20502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656349" y="20502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30555" y="2450306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条件：发货单金额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272168" y="2450306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&gt;$500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345635" y="2450306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&gt;$500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419103" y="2450306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≤$500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492570" y="2450306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≤$500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2724150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33400" y="2728912"/>
              <a:ext cx="6708458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30555" y="285035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条件：赊欠情况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257090" y="2850356"/>
              <a:ext cx="4562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&gt;60 天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330558" y="2850356"/>
              <a:ext cx="4562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≤60 天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404025" y="2850356"/>
              <a:ext cx="4562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&gt;60 天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477493" y="2850356"/>
              <a:ext cx="4562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≤60 天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3124200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30555" y="325040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操作：不发出批准书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404095" y="325040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3524250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533400" y="3529012"/>
              <a:ext cx="6708458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30555" y="3650456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操作：发出批准书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477563" y="365045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551030" y="365045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624498" y="365045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33400" y="3924300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30555" y="4050506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操作：发出发货单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477563" y="405050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551030" y="405050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624498" y="405050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33400" y="4324350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533400" y="4329112"/>
              <a:ext cx="6708458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30555" y="445055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操作：发出赊欠报告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551030" y="445055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533400" y="1928812"/>
              <a:ext cx="6708458" cy="28003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2944178" y="1928812"/>
              <a:ext cx="9525" cy="28003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4016692" y="1928812"/>
              <a:ext cx="9525" cy="28003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5090160" y="1928812"/>
              <a:ext cx="9525" cy="28003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6163628" y="1928812"/>
              <a:ext cx="9525" cy="28003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528447" y="4802029"/>
              <a:ext cx="409966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上面两行是条件及其取值，下面四行是对应的操作；每一列是一条规则</a:t>
              </a:r>
            </a:p>
          </p:txBody>
        </p:sp>
      </p:grpSp>
      <p:grpSp>
        <p:nvGrpSpPr>
          <p:cNvPr id="62" name="c1-bullets-2"/>
          <p:cNvGrpSpPr/>
          <p:nvPr/>
        </p:nvGrpSpPr>
        <p:grpSpPr>
          <a:xfrm>
            <a:off x="526542" y="5146358"/>
            <a:ext cx="3969355" cy="1072991"/>
            <a:chOff x="526542" y="5146358"/>
            <a:chExt cx="3969355" cy="1072991"/>
          </a:xfrm>
        </p:grpSpPr>
        <p:sp>
          <p:nvSpPr>
            <p:cNvPr id="52" name="TextBox 52"/>
            <p:cNvSpPr txBox="1"/>
            <p:nvPr/>
          </p:nvSpPr>
          <p:spPr>
            <a:xfrm>
              <a:off x="526542" y="514635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从结构化英语得到判定表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533400" y="5450205"/>
              <a:ext cx="160020" cy="16002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579105" y="5481923"/>
              <a:ext cx="68610" cy="1504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6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82955" y="5460206"/>
              <a:ext cx="37129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数出条件个数 n，列出 2ⁿ 种取值组合，每种组合占一列</a:t>
              </a:r>
            </a:p>
          </p:txBody>
        </p:sp>
        <p:sp>
          <p:nvSpPr>
            <p:cNvPr id="56" name="Ellipse 56"/>
            <p:cNvSpPr/>
            <p:nvPr/>
          </p:nvSpPr>
          <p:spPr>
            <a:xfrm>
              <a:off x="533400" y="5719762"/>
              <a:ext cx="160020" cy="16002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579105" y="5751481"/>
              <a:ext cx="68610" cy="1504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6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82955" y="5729764"/>
              <a:ext cx="36300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按结构化英语逐条走一遍，打勾记下这一列要做的操作</a:t>
              </a:r>
            </a:p>
          </p:txBody>
        </p:sp>
        <p:sp>
          <p:nvSpPr>
            <p:cNvPr id="59" name="Ellipse 59"/>
            <p:cNvSpPr/>
            <p:nvPr/>
          </p:nvSpPr>
          <p:spPr>
            <a:xfrm>
              <a:off x="533400" y="5989320"/>
              <a:ext cx="160020" cy="16002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579105" y="6021038"/>
              <a:ext cx="68610" cy="1504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6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82955" y="5999321"/>
              <a:ext cx="36300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操作相同、只差某个条件取值的列可以合并成无关条件</a:t>
              </a:r>
            </a:p>
          </p:txBody>
        </p:sp>
      </p:grpSp>
      <p:grpSp>
        <p:nvGrpSpPr>
          <p:cNvPr id="70" name="c2-card-1"/>
          <p:cNvGrpSpPr/>
          <p:nvPr/>
        </p:nvGrpSpPr>
        <p:grpSpPr>
          <a:xfrm>
            <a:off x="7546658" y="1928812"/>
            <a:ext cx="4111942" cy="1743075"/>
            <a:chOff x="7546658" y="1928812"/>
            <a:chExt cx="4111942" cy="1743075"/>
          </a:xfrm>
        </p:grpSpPr>
        <p:sp>
          <p:nvSpPr>
            <p:cNvPr id="63" name="Rectangle 63"/>
            <p:cNvSpPr/>
            <p:nvPr/>
          </p:nvSpPr>
          <p:spPr>
            <a:xfrm>
              <a:off x="7546658" y="1928812"/>
              <a:ext cx="4111942" cy="1743075"/>
            </a:xfrm>
            <a:prstGeom prst="roundRect">
              <a:avLst>
                <a:gd name="adj" fmla="val 765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7733348" y="2115502"/>
              <a:ext cx="1081088" cy="238125"/>
            </a:xfrm>
            <a:prstGeom prst="roundRect">
              <a:avLst>
                <a:gd name="adj" fmla="val 50000"/>
              </a:avLst>
            </a:prstGeom>
            <a:solidFill>
              <a:srgbClr val="243B53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7807668" y="2148364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判定表的四个区</a:t>
              </a:r>
            </a:p>
          </p:txBody>
        </p:sp>
        <p:sp>
          <p:nvSpPr>
            <p:cNvPr id="66" name="Ellipse 66"/>
            <p:cNvSpPr/>
            <p:nvPr/>
          </p:nvSpPr>
          <p:spPr>
            <a:xfrm>
              <a:off x="7741920" y="2515552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7897939" y="2459355"/>
              <a:ext cx="32712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左上：条件的名字；右上：条件的各种取值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组合</a:t>
              </a:r>
            </a:p>
          </p:txBody>
        </p:sp>
        <p:sp>
          <p:nvSpPr>
            <p:cNvPr id="68" name="Ellipse 68"/>
            <p:cNvSpPr/>
            <p:nvPr/>
          </p:nvSpPr>
          <p:spPr>
            <a:xfrm>
              <a:off x="7741920" y="3072765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7897939" y="3016568"/>
              <a:ext cx="32712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左下：可能采取的操作；右下：每条规则做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哪些操作</a:t>
              </a:r>
            </a:p>
          </p:txBody>
        </p:sp>
      </p:grpSp>
      <p:grpSp>
        <p:nvGrpSpPr>
          <p:cNvPr id="76" name="c2-card-2"/>
          <p:cNvGrpSpPr/>
          <p:nvPr/>
        </p:nvGrpSpPr>
        <p:grpSpPr>
          <a:xfrm>
            <a:off x="7546658" y="3841432"/>
            <a:ext cx="4111942" cy="1185862"/>
            <a:chOff x="7546658" y="3841432"/>
            <a:chExt cx="4111942" cy="1185862"/>
          </a:xfrm>
        </p:grpSpPr>
        <p:sp>
          <p:nvSpPr>
            <p:cNvPr id="71" name="Rectangle 71"/>
            <p:cNvSpPr/>
            <p:nvPr/>
          </p:nvSpPr>
          <p:spPr>
            <a:xfrm>
              <a:off x="7546658" y="3841432"/>
              <a:ext cx="4111942" cy="1185862"/>
            </a:xfrm>
            <a:prstGeom prst="roundRect">
              <a:avLst>
                <a:gd name="adj" fmla="val 1124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2" name="Rectangle 72"/>
            <p:cNvSpPr/>
            <p:nvPr/>
          </p:nvSpPr>
          <p:spPr>
            <a:xfrm>
              <a:off x="7556182" y="3974782"/>
              <a:ext cx="47625" cy="91916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73" name="Rectangle 73"/>
            <p:cNvSpPr/>
            <p:nvPr/>
          </p:nvSpPr>
          <p:spPr>
            <a:xfrm>
              <a:off x="7771448" y="4028122"/>
              <a:ext cx="582930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7860068" y="4060984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怎么读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7764589" y="4372928"/>
              <a:ext cx="335699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3 列：金额 ≤ $500 且欠款超过 60 天，发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出批准书、发货单，再加一份赊欠报告。</a:t>
              </a:r>
            </a:p>
          </p:txBody>
        </p:sp>
      </p:grpSp>
      <p:grpSp>
        <p:nvGrpSpPr>
          <p:cNvPr id="83" name="c2-callout-3"/>
          <p:cNvGrpSpPr/>
          <p:nvPr/>
        </p:nvGrpSpPr>
        <p:grpSpPr>
          <a:xfrm>
            <a:off x="7546658" y="5196840"/>
            <a:ext cx="4111942" cy="978218"/>
            <a:chOff x="7546658" y="5196840"/>
            <a:chExt cx="4111942" cy="978218"/>
          </a:xfrm>
        </p:grpSpPr>
        <p:sp>
          <p:nvSpPr>
            <p:cNvPr id="77" name="Rectangle 77"/>
            <p:cNvSpPr/>
            <p:nvPr/>
          </p:nvSpPr>
          <p:spPr>
            <a:xfrm>
              <a:off x="7546658" y="5196840"/>
              <a:ext cx="4111942" cy="978218"/>
            </a:xfrm>
            <a:prstGeom prst="roundRect">
              <a:avLst>
                <a:gd name="adj" fmla="val 11685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81" name="Group 81"/>
            <p:cNvGrpSpPr/>
            <p:nvPr/>
          </p:nvGrpSpPr>
          <p:grpSpPr>
            <a:xfrm>
              <a:off x="7739387" y="5582721"/>
              <a:ext cx="224134" cy="192560"/>
              <a:chOff x="7739387" y="5582721"/>
              <a:chExt cx="224134" cy="192560"/>
            </a:xfrm>
          </p:grpSpPr>
          <p:sp>
            <p:nvSpPr>
              <p:cNvPr id="78" name="Freeform 78"/>
              <p:cNvSpPr/>
              <p:nvPr/>
            </p:nvSpPr>
            <p:spPr>
              <a:xfrm>
                <a:off x="7851458" y="565308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79" name="Freeform 79"/>
              <p:cNvSpPr/>
              <p:nvPr/>
            </p:nvSpPr>
            <p:spPr>
              <a:xfrm>
                <a:off x="7739387" y="558272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80" name="Freeform 80"/>
              <p:cNvSpPr/>
              <p:nvPr/>
            </p:nvSpPr>
            <p:spPr>
              <a:xfrm>
                <a:off x="7851458" y="573087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82" name="TextBox 82"/>
            <p:cNvSpPr txBox="1"/>
            <p:nvPr/>
          </p:nvSpPr>
          <p:spPr>
            <a:xfrm>
              <a:off x="8054149" y="5343525"/>
              <a:ext cx="3271266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n 个二值条件最多有 2ⁿ 列；条件一多，表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就宽得没法看，这时改用判定树或拆成几个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加工。</a:t>
              </a:r>
            </a:p>
          </p:txBody>
        </p:sp>
      </p:grpSp>
      <p:grpSp>
        <p:nvGrpSpPr>
          <p:cNvPr id="8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4" name="TextBox 84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第2章 可行性研究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第2章 可行性研究 · 数据字典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判定树：同一份逻辑，换一种画法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7" name="c1-tree-1"/>
          <p:cNvGrpSpPr/>
          <p:nvPr/>
        </p:nvGrpSpPr>
        <p:grpSpPr>
          <a:xfrm>
            <a:off x="533400" y="1732598"/>
            <a:ext cx="6058853" cy="3485197"/>
            <a:chOff x="533400" y="1732598"/>
            <a:chExt cx="6058853" cy="3485197"/>
          </a:xfrm>
        </p:grpSpPr>
        <p:sp>
          <p:nvSpPr>
            <p:cNvPr id="7" name="Freeform 7"/>
            <p:cNvSpPr/>
            <p:nvPr/>
          </p:nvSpPr>
          <p:spPr>
            <a:xfrm>
              <a:off x="4432935" y="2011680"/>
              <a:ext cx="419100" cy="487680"/>
            </a:xfrm>
            <a:custGeom>
              <a:avLst/>
              <a:gdLst/>
              <a:ahLst/>
              <a:cxnLst/>
              <a:rect l="l" t="t" r="r" b="b"/>
              <a:pathLst>
                <a:path w="419100" h="487680">
                  <a:moveTo>
                    <a:pt x="0" y="487680"/>
                  </a:moveTo>
                  <a:lnTo>
                    <a:pt x="209550" y="48768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4432935" y="2499360"/>
              <a:ext cx="419100" cy="487680"/>
            </a:xfrm>
            <a:custGeom>
              <a:avLst/>
              <a:gdLst/>
              <a:ahLst/>
              <a:cxnLst/>
              <a:rect l="l" t="t" r="r" b="b"/>
              <a:pathLst>
                <a:path w="419100" h="487680">
                  <a:moveTo>
                    <a:pt x="0" y="0"/>
                  </a:moveTo>
                  <a:lnTo>
                    <a:pt x="209550" y="0"/>
                  </a:lnTo>
                  <a:lnTo>
                    <a:pt x="209550" y="487680"/>
                  </a:lnTo>
                  <a:lnTo>
                    <a:pt x="419100" y="48768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4432935" y="3963352"/>
              <a:ext cx="419100" cy="487680"/>
            </a:xfrm>
            <a:custGeom>
              <a:avLst/>
              <a:gdLst/>
              <a:ahLst/>
              <a:cxnLst/>
              <a:rect l="l" t="t" r="r" b="b"/>
              <a:pathLst>
                <a:path w="419100" h="487680">
                  <a:moveTo>
                    <a:pt x="0" y="487680"/>
                  </a:moveTo>
                  <a:lnTo>
                    <a:pt x="209550" y="48768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4432935" y="4451032"/>
              <a:ext cx="419100" cy="487680"/>
            </a:xfrm>
            <a:custGeom>
              <a:avLst/>
              <a:gdLst/>
              <a:ahLst/>
              <a:cxnLst/>
              <a:rect l="l" t="t" r="r" b="b"/>
              <a:pathLst>
                <a:path w="419100" h="487680">
                  <a:moveTo>
                    <a:pt x="0" y="0"/>
                  </a:moveTo>
                  <a:lnTo>
                    <a:pt x="209550" y="0"/>
                  </a:lnTo>
                  <a:lnTo>
                    <a:pt x="209550" y="487680"/>
                  </a:lnTo>
                  <a:lnTo>
                    <a:pt x="419100" y="48768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2273618" y="2499360"/>
              <a:ext cx="419100" cy="975360"/>
            </a:xfrm>
            <a:custGeom>
              <a:avLst/>
              <a:gdLst/>
              <a:ahLst/>
              <a:cxnLst/>
              <a:rect l="l" t="t" r="r" b="b"/>
              <a:pathLst>
                <a:path w="419100" h="975360">
                  <a:moveTo>
                    <a:pt x="0" y="975360"/>
                  </a:moveTo>
                  <a:lnTo>
                    <a:pt x="209550" y="97536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2273618" y="3474720"/>
              <a:ext cx="419100" cy="976312"/>
            </a:xfrm>
            <a:custGeom>
              <a:avLst/>
              <a:gdLst/>
              <a:ahLst/>
              <a:cxnLst/>
              <a:rect l="l" t="t" r="r" b="b"/>
              <a:pathLst>
                <a:path w="419100" h="976312">
                  <a:moveTo>
                    <a:pt x="0" y="0"/>
                  </a:moveTo>
                  <a:lnTo>
                    <a:pt x="209550" y="0"/>
                  </a:lnTo>
                  <a:lnTo>
                    <a:pt x="209550" y="976312"/>
                  </a:lnTo>
                  <a:lnTo>
                    <a:pt x="419100" y="976312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4852035" y="1732598"/>
              <a:ext cx="1740218" cy="558165"/>
            </a:xfrm>
            <a:prstGeom prst="roundRect">
              <a:avLst>
                <a:gd name="adj" fmla="val 1706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4852035" y="2708910"/>
              <a:ext cx="1740218" cy="558165"/>
            </a:xfrm>
            <a:prstGeom prst="roundRect">
              <a:avLst>
                <a:gd name="adj" fmla="val 1706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2692718" y="2319338"/>
              <a:ext cx="1740218" cy="360045"/>
            </a:xfrm>
            <a:prstGeom prst="roundRect">
              <a:avLst>
                <a:gd name="adj" fmla="val 26455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4852035" y="3585210"/>
              <a:ext cx="1740218" cy="756285"/>
            </a:xfrm>
            <a:prstGeom prst="roundRect">
              <a:avLst>
                <a:gd name="adj" fmla="val 12594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4852035" y="4659630"/>
              <a:ext cx="1740218" cy="558165"/>
            </a:xfrm>
            <a:prstGeom prst="roundRect">
              <a:avLst>
                <a:gd name="adj" fmla="val 1706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2692718" y="4271010"/>
              <a:ext cx="1740218" cy="360045"/>
            </a:xfrm>
            <a:prstGeom prst="roundRect">
              <a:avLst>
                <a:gd name="adj" fmla="val 26455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33400" y="3295650"/>
              <a:ext cx="1740218" cy="360045"/>
            </a:xfrm>
            <a:prstGeom prst="roundRect">
              <a:avLst>
                <a:gd name="adj" fmla="val 26455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941189" y="1828800"/>
              <a:ext cx="1467612" cy="4328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6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欠款 &gt; 60 天：不发出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批准书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941189" y="2804160"/>
              <a:ext cx="1315212" cy="4328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6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欠款 ≤ 60 天：发批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准书、发货单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781872" y="2415540"/>
              <a:ext cx="90351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金额 &gt; $500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941189" y="3681412"/>
              <a:ext cx="1467612" cy="6309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6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欠款 &gt; 60 天：发批准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书、发货单及赊欠报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告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941189" y="4755832"/>
              <a:ext cx="1315212" cy="4328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6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欠款 ≤ 60 天：发批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准书、发货单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781872" y="4367212"/>
              <a:ext cx="90351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金额 ≤ $500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22554" y="339090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检查发货单</a:t>
              </a:r>
            </a:p>
          </p:txBody>
        </p:sp>
      </p:grpSp>
      <p:grpSp>
        <p:nvGrpSpPr>
          <p:cNvPr id="34" name="c1-callout-2"/>
          <p:cNvGrpSpPr/>
          <p:nvPr/>
        </p:nvGrpSpPr>
        <p:grpSpPr>
          <a:xfrm>
            <a:off x="533400" y="5606415"/>
            <a:ext cx="6059805" cy="756285"/>
            <a:chOff x="533400" y="5606415"/>
            <a:chExt cx="6059805" cy="756285"/>
          </a:xfrm>
        </p:grpSpPr>
        <p:sp>
          <p:nvSpPr>
            <p:cNvPr id="28" name="Rectangle 28"/>
            <p:cNvSpPr/>
            <p:nvPr/>
          </p:nvSpPr>
          <p:spPr>
            <a:xfrm>
              <a:off x="533400" y="5606415"/>
              <a:ext cx="6059805" cy="756285"/>
            </a:xfrm>
            <a:prstGeom prst="roundRect">
              <a:avLst>
                <a:gd name="adj" fmla="val 1511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738188" y="5884545"/>
              <a:ext cx="200026" cy="200025"/>
              <a:chOff x="738188" y="5884545"/>
              <a:chExt cx="200026" cy="200025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738188" y="588454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777926" y="592899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812642" y="604012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1040511" y="5753576"/>
              <a:ext cx="506399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判定树的每一条从根到叶的路径，对应判定表的一列，两种表示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可以互相转换。</a:t>
              </a:r>
            </a:p>
          </p:txBody>
        </p:sp>
      </p:grpSp>
      <p:grpSp>
        <p:nvGrpSpPr>
          <p:cNvPr id="54" name="c2-table-1"/>
          <p:cNvGrpSpPr/>
          <p:nvPr/>
        </p:nvGrpSpPr>
        <p:grpSpPr>
          <a:xfrm>
            <a:off x="6898005" y="1524000"/>
            <a:ext cx="4760595" cy="3373755"/>
            <a:chOff x="6898005" y="1524000"/>
            <a:chExt cx="4760595" cy="3373755"/>
          </a:xfrm>
        </p:grpSpPr>
        <p:sp>
          <p:nvSpPr>
            <p:cNvPr id="35" name="Rectangle 35"/>
            <p:cNvSpPr/>
            <p:nvPr/>
          </p:nvSpPr>
          <p:spPr>
            <a:xfrm>
              <a:off x="6898005" y="1524000"/>
              <a:ext cx="4760595" cy="46291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222528" y="1655921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工具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507412" y="1655921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适合的场合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650576" y="1655921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短处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999351" y="2246471"/>
              <a:ext cx="735838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结构化英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语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046148" y="2246471"/>
              <a:ext cx="1637538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加工逻辑以顺序、选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择、重复为主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141648" y="2119789"/>
              <a:ext cx="1276858" cy="7854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条件一多就嵌套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很深，不容易一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眼看全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898005" y="2952750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6898005" y="2957512"/>
              <a:ext cx="4760595" cy="96964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999351" y="3342799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判定表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046148" y="3216116"/>
              <a:ext cx="1637538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加工依赖多个逻辑条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件的取值组合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0141648" y="3089434"/>
              <a:ext cx="1276858" cy="7854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不够直观，条件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多时列数按 2ⁿ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增长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898005" y="3922395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999351" y="4312444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判定树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046148" y="4185761"/>
              <a:ext cx="1637538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条件有层次、分支不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太多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0141648" y="4059079"/>
              <a:ext cx="1276858" cy="7854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分枝次序影响简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洁程度，条件多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时树很大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6898005" y="1524000"/>
              <a:ext cx="4760595" cy="337375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7940040" y="1524000"/>
              <a:ext cx="9525" cy="33737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10035540" y="1524000"/>
              <a:ext cx="9525" cy="33737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0" name="c2-card-2"/>
          <p:cNvGrpSpPr/>
          <p:nvPr/>
        </p:nvGrpSpPr>
        <p:grpSpPr>
          <a:xfrm>
            <a:off x="6898005" y="5077778"/>
            <a:ext cx="4760595" cy="1250632"/>
            <a:chOff x="6898005" y="5077778"/>
            <a:chExt cx="4760595" cy="1250632"/>
          </a:xfrm>
        </p:grpSpPr>
        <p:sp>
          <p:nvSpPr>
            <p:cNvPr id="55" name="Rectangle 55"/>
            <p:cNvSpPr/>
            <p:nvPr/>
          </p:nvSpPr>
          <p:spPr>
            <a:xfrm>
              <a:off x="6898005" y="5077778"/>
              <a:ext cx="4760595" cy="1250632"/>
            </a:xfrm>
            <a:prstGeom prst="roundRect">
              <a:avLst>
                <a:gd name="adj" fmla="val 106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6907530" y="5211128"/>
              <a:ext cx="47625" cy="98393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7134225" y="5275898"/>
              <a:ext cx="10096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209663" y="5310188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三者的共同点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126986" y="5636419"/>
              <a:ext cx="3819652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都只描述“在什么条件下做什么”，都不写具体算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法，也都不涉及数据结构。</a:t>
              </a:r>
            </a:p>
          </p:txBody>
        </p:sp>
      </p:grpSp>
      <p:grpSp>
        <p:nvGrpSpPr>
          <p:cNvPr id="6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1" name="TextBox 61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第2章 可行性研究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145280" cy="909257"/>
            <a:chOff x="520446" y="342900"/>
            <a:chExt cx="414528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第2章 可行性研究 · 数据字典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14528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例题：行李托运费的判定树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3678555" cy="2607945"/>
            <a:chOff x="533400" y="1524000"/>
            <a:chExt cx="3678555" cy="260794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3678555" cy="2607945"/>
            </a:xfrm>
            <a:prstGeom prst="roundRect">
              <a:avLst>
                <a:gd name="adj" fmla="val 511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34124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9620" y="172212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1060" y="17564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题目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381" y="2082641"/>
              <a:ext cx="3080258" cy="19074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某航空公司规定，乘客可以免费托运重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量不超过 30 公斤的行李。超过 30 公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斤时，国内乘客超重部分头等舱每公斤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元、其他舱每公斤 6 元；外国乘客超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重部分每公斤收费比国内乘客多一倍；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残疾乘客超重部分每公斤收费比正常乘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客少一倍。</a:t>
              </a:r>
            </a:p>
          </p:txBody>
        </p:sp>
      </p:grpSp>
      <p:grpSp>
        <p:nvGrpSpPr>
          <p:cNvPr id="21" name="c1-kv-2"/>
          <p:cNvGrpSpPr/>
          <p:nvPr/>
        </p:nvGrpSpPr>
        <p:grpSpPr>
          <a:xfrm>
            <a:off x="526161" y="4336256"/>
            <a:ext cx="3685794" cy="1111187"/>
            <a:chOff x="526161" y="4336256"/>
            <a:chExt cx="3685794" cy="1111187"/>
          </a:xfrm>
        </p:grpSpPr>
        <p:sp>
          <p:nvSpPr>
            <p:cNvPr id="13" name="TextBox 13"/>
            <p:cNvSpPr txBox="1"/>
            <p:nvPr/>
          </p:nvSpPr>
          <p:spPr>
            <a:xfrm>
              <a:off x="526161" y="4336256"/>
              <a:ext cx="100994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国内 → 国外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193988" y="4336256"/>
              <a:ext cx="94160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单价乘以 2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33400" y="4639628"/>
              <a:ext cx="36785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26161" y="4752499"/>
              <a:ext cx="139226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头等舱 → 其他舱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193988" y="4752499"/>
              <a:ext cx="11518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单价乘以 1.5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5055870"/>
              <a:ext cx="36785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6161" y="5168741"/>
              <a:ext cx="100994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正常 → 残疾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193988" y="5168741"/>
              <a:ext cx="94160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单价除以 2</a:t>
              </a:r>
            </a:p>
          </p:txBody>
        </p:sp>
      </p:grpSp>
      <p:grpSp>
        <p:nvGrpSpPr>
          <p:cNvPr id="75" name="c2-tree-1"/>
          <p:cNvGrpSpPr/>
          <p:nvPr/>
        </p:nvGrpSpPr>
        <p:grpSpPr>
          <a:xfrm>
            <a:off x="4516755" y="1561148"/>
            <a:ext cx="7141845" cy="3836669"/>
            <a:chOff x="4516755" y="1561148"/>
            <a:chExt cx="7141845" cy="3836669"/>
          </a:xfrm>
        </p:grpSpPr>
        <p:sp>
          <p:nvSpPr>
            <p:cNvPr id="22" name="Freeform 22"/>
            <p:cNvSpPr/>
            <p:nvPr/>
          </p:nvSpPr>
          <p:spPr>
            <a:xfrm>
              <a:off x="7121842" y="1741170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209550" y="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10146030" y="2175510"/>
              <a:ext cx="419100" cy="217170"/>
            </a:xfrm>
            <a:custGeom>
              <a:avLst/>
              <a:gdLst/>
              <a:ahLst/>
              <a:cxnLst/>
              <a:rect l="l" t="t" r="r" b="b"/>
              <a:pathLst>
                <a:path w="419100" h="217170">
                  <a:moveTo>
                    <a:pt x="0" y="217170"/>
                  </a:moveTo>
                  <a:lnTo>
                    <a:pt x="209550" y="21717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10146030" y="2392680"/>
              <a:ext cx="419100" cy="218123"/>
            </a:xfrm>
            <a:custGeom>
              <a:avLst/>
              <a:gdLst/>
              <a:ahLst/>
              <a:cxnLst/>
              <a:rect l="l" t="t" r="r" b="b"/>
              <a:pathLst>
                <a:path w="419100" h="218123">
                  <a:moveTo>
                    <a:pt x="0" y="0"/>
                  </a:moveTo>
                  <a:lnTo>
                    <a:pt x="209550" y="0"/>
                  </a:lnTo>
                  <a:lnTo>
                    <a:pt x="209550" y="218123"/>
                  </a:lnTo>
                  <a:lnTo>
                    <a:pt x="419100" y="218123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10146030" y="3045142"/>
              <a:ext cx="419100" cy="217170"/>
            </a:xfrm>
            <a:custGeom>
              <a:avLst/>
              <a:gdLst/>
              <a:ahLst/>
              <a:cxnLst/>
              <a:rect l="l" t="t" r="r" b="b"/>
              <a:pathLst>
                <a:path w="419100" h="217170">
                  <a:moveTo>
                    <a:pt x="0" y="217170"/>
                  </a:moveTo>
                  <a:lnTo>
                    <a:pt x="209550" y="21717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10146030" y="3262312"/>
              <a:ext cx="419100" cy="217170"/>
            </a:xfrm>
            <a:custGeom>
              <a:avLst/>
              <a:gdLst/>
              <a:ahLst/>
              <a:cxnLst/>
              <a:rect l="l" t="t" r="r" b="b"/>
              <a:pathLst>
                <a:path w="419100" h="217170">
                  <a:moveTo>
                    <a:pt x="0" y="0"/>
                  </a:moveTo>
                  <a:lnTo>
                    <a:pt x="209550" y="0"/>
                  </a:lnTo>
                  <a:lnTo>
                    <a:pt x="209550" y="217170"/>
                  </a:lnTo>
                  <a:lnTo>
                    <a:pt x="419100" y="21717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8634412" y="2392680"/>
              <a:ext cx="419100" cy="435292"/>
            </a:xfrm>
            <a:custGeom>
              <a:avLst/>
              <a:gdLst/>
              <a:ahLst/>
              <a:cxnLst/>
              <a:rect l="l" t="t" r="r" b="b"/>
              <a:pathLst>
                <a:path w="419100" h="435292">
                  <a:moveTo>
                    <a:pt x="0" y="435292"/>
                  </a:moveTo>
                  <a:lnTo>
                    <a:pt x="209550" y="435292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8634412" y="2827972"/>
              <a:ext cx="419100" cy="434340"/>
            </a:xfrm>
            <a:custGeom>
              <a:avLst/>
              <a:gdLst/>
              <a:ahLst/>
              <a:cxnLst/>
              <a:rect l="l" t="t" r="r" b="b"/>
              <a:pathLst>
                <a:path w="419100" h="434340">
                  <a:moveTo>
                    <a:pt x="0" y="0"/>
                  </a:moveTo>
                  <a:lnTo>
                    <a:pt x="209550" y="0"/>
                  </a:lnTo>
                  <a:lnTo>
                    <a:pt x="209550" y="434340"/>
                  </a:lnTo>
                  <a:lnTo>
                    <a:pt x="419100" y="43434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10146030" y="3913822"/>
              <a:ext cx="419100" cy="217170"/>
            </a:xfrm>
            <a:custGeom>
              <a:avLst/>
              <a:gdLst/>
              <a:ahLst/>
              <a:cxnLst/>
              <a:rect l="l" t="t" r="r" b="b"/>
              <a:pathLst>
                <a:path w="419100" h="217170">
                  <a:moveTo>
                    <a:pt x="0" y="217170"/>
                  </a:moveTo>
                  <a:lnTo>
                    <a:pt x="209550" y="21717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10146030" y="4130992"/>
              <a:ext cx="419100" cy="218123"/>
            </a:xfrm>
            <a:custGeom>
              <a:avLst/>
              <a:gdLst/>
              <a:ahLst/>
              <a:cxnLst/>
              <a:rect l="l" t="t" r="r" b="b"/>
              <a:pathLst>
                <a:path w="419100" h="218123">
                  <a:moveTo>
                    <a:pt x="0" y="0"/>
                  </a:moveTo>
                  <a:lnTo>
                    <a:pt x="209550" y="0"/>
                  </a:lnTo>
                  <a:lnTo>
                    <a:pt x="209550" y="218123"/>
                  </a:lnTo>
                  <a:lnTo>
                    <a:pt x="419100" y="218123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10146030" y="4783455"/>
              <a:ext cx="419100" cy="217170"/>
            </a:xfrm>
            <a:custGeom>
              <a:avLst/>
              <a:gdLst/>
              <a:ahLst/>
              <a:cxnLst/>
              <a:rect l="l" t="t" r="r" b="b"/>
              <a:pathLst>
                <a:path w="419100" h="217170">
                  <a:moveTo>
                    <a:pt x="0" y="217170"/>
                  </a:moveTo>
                  <a:lnTo>
                    <a:pt x="209550" y="21717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10146030" y="5000625"/>
              <a:ext cx="419100" cy="217170"/>
            </a:xfrm>
            <a:custGeom>
              <a:avLst/>
              <a:gdLst/>
              <a:ahLst/>
              <a:cxnLst/>
              <a:rect l="l" t="t" r="r" b="b"/>
              <a:pathLst>
                <a:path w="419100" h="217170">
                  <a:moveTo>
                    <a:pt x="0" y="0"/>
                  </a:moveTo>
                  <a:lnTo>
                    <a:pt x="209550" y="0"/>
                  </a:lnTo>
                  <a:lnTo>
                    <a:pt x="209550" y="217170"/>
                  </a:lnTo>
                  <a:lnTo>
                    <a:pt x="419100" y="21717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8634412" y="4130992"/>
              <a:ext cx="419100" cy="435292"/>
            </a:xfrm>
            <a:custGeom>
              <a:avLst/>
              <a:gdLst/>
              <a:ahLst/>
              <a:cxnLst/>
              <a:rect l="l" t="t" r="r" b="b"/>
              <a:pathLst>
                <a:path w="419100" h="435292">
                  <a:moveTo>
                    <a:pt x="0" y="435292"/>
                  </a:moveTo>
                  <a:lnTo>
                    <a:pt x="209550" y="435292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8634412" y="4566285"/>
              <a:ext cx="419100" cy="434340"/>
            </a:xfrm>
            <a:custGeom>
              <a:avLst/>
              <a:gdLst/>
              <a:ahLst/>
              <a:cxnLst/>
              <a:rect l="l" t="t" r="r" b="b"/>
              <a:pathLst>
                <a:path w="419100" h="434340">
                  <a:moveTo>
                    <a:pt x="0" y="0"/>
                  </a:moveTo>
                  <a:lnTo>
                    <a:pt x="209550" y="0"/>
                  </a:lnTo>
                  <a:lnTo>
                    <a:pt x="209550" y="434340"/>
                  </a:lnTo>
                  <a:lnTo>
                    <a:pt x="419100" y="43434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7121842" y="2827972"/>
              <a:ext cx="419100" cy="868680"/>
            </a:xfrm>
            <a:custGeom>
              <a:avLst/>
              <a:gdLst/>
              <a:ahLst/>
              <a:cxnLst/>
              <a:rect l="l" t="t" r="r" b="b"/>
              <a:pathLst>
                <a:path w="419100" h="868680">
                  <a:moveTo>
                    <a:pt x="0" y="868680"/>
                  </a:moveTo>
                  <a:lnTo>
                    <a:pt x="209550" y="86868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7121842" y="3696652"/>
              <a:ext cx="419100" cy="869632"/>
            </a:xfrm>
            <a:custGeom>
              <a:avLst/>
              <a:gdLst/>
              <a:ahLst/>
              <a:cxnLst/>
              <a:rect l="l" t="t" r="r" b="b"/>
              <a:pathLst>
                <a:path w="419100" h="869632">
                  <a:moveTo>
                    <a:pt x="0" y="0"/>
                  </a:moveTo>
                  <a:lnTo>
                    <a:pt x="209550" y="0"/>
                  </a:lnTo>
                  <a:lnTo>
                    <a:pt x="209550" y="869632"/>
                  </a:lnTo>
                  <a:lnTo>
                    <a:pt x="419100" y="869632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5610225" y="1741170"/>
              <a:ext cx="419100" cy="978217"/>
            </a:xfrm>
            <a:custGeom>
              <a:avLst/>
              <a:gdLst/>
              <a:ahLst/>
              <a:cxnLst/>
              <a:rect l="l" t="t" r="r" b="b"/>
              <a:pathLst>
                <a:path w="419100" h="978217">
                  <a:moveTo>
                    <a:pt x="0" y="978217"/>
                  </a:moveTo>
                  <a:lnTo>
                    <a:pt x="209550" y="978217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5610225" y="2719388"/>
              <a:ext cx="419100" cy="977265"/>
            </a:xfrm>
            <a:custGeom>
              <a:avLst/>
              <a:gdLst/>
              <a:ahLst/>
              <a:cxnLst/>
              <a:rect l="l" t="t" r="r" b="b"/>
              <a:pathLst>
                <a:path w="419100" h="977265">
                  <a:moveTo>
                    <a:pt x="0" y="0"/>
                  </a:moveTo>
                  <a:lnTo>
                    <a:pt x="209550" y="0"/>
                  </a:lnTo>
                  <a:lnTo>
                    <a:pt x="209550" y="977265"/>
                  </a:lnTo>
                  <a:lnTo>
                    <a:pt x="419100" y="977265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7540942" y="1561148"/>
              <a:ext cx="1093470" cy="360045"/>
            </a:xfrm>
            <a:prstGeom prst="roundRect">
              <a:avLst>
                <a:gd name="adj" fmla="val 2645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6029325" y="1561148"/>
              <a:ext cx="1093470" cy="360045"/>
            </a:xfrm>
            <a:prstGeom prst="roundRect">
              <a:avLst>
                <a:gd name="adj" fmla="val 26455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10565130" y="1996440"/>
              <a:ext cx="1093470" cy="360045"/>
            </a:xfrm>
            <a:prstGeom prst="roundRect">
              <a:avLst>
                <a:gd name="adj" fmla="val 2645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10565130" y="2430780"/>
              <a:ext cx="1093470" cy="360045"/>
            </a:xfrm>
            <a:prstGeom prst="roundRect">
              <a:avLst>
                <a:gd name="adj" fmla="val 2645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9053512" y="2213610"/>
              <a:ext cx="1093470" cy="360045"/>
            </a:xfrm>
            <a:prstGeom prst="roundRect">
              <a:avLst>
                <a:gd name="adj" fmla="val 26455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10565130" y="2865120"/>
              <a:ext cx="1093470" cy="360045"/>
            </a:xfrm>
            <a:prstGeom prst="roundRect">
              <a:avLst>
                <a:gd name="adj" fmla="val 2645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10565130" y="3299460"/>
              <a:ext cx="1093470" cy="360045"/>
            </a:xfrm>
            <a:prstGeom prst="roundRect">
              <a:avLst>
                <a:gd name="adj" fmla="val 2645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9053512" y="3082290"/>
              <a:ext cx="1093470" cy="360045"/>
            </a:xfrm>
            <a:prstGeom prst="roundRect">
              <a:avLst>
                <a:gd name="adj" fmla="val 26455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7540942" y="2647950"/>
              <a:ext cx="1093470" cy="360045"/>
            </a:xfrm>
            <a:prstGeom prst="roundRect">
              <a:avLst>
                <a:gd name="adj" fmla="val 26455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10565130" y="3733800"/>
              <a:ext cx="1093470" cy="360045"/>
            </a:xfrm>
            <a:prstGeom prst="roundRect">
              <a:avLst>
                <a:gd name="adj" fmla="val 2645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10565130" y="4169092"/>
              <a:ext cx="1093470" cy="360045"/>
            </a:xfrm>
            <a:prstGeom prst="roundRect">
              <a:avLst>
                <a:gd name="adj" fmla="val 2645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9053512" y="3951922"/>
              <a:ext cx="1093470" cy="360045"/>
            </a:xfrm>
            <a:prstGeom prst="roundRect">
              <a:avLst>
                <a:gd name="adj" fmla="val 26455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10565130" y="4603432"/>
              <a:ext cx="1093470" cy="360045"/>
            </a:xfrm>
            <a:prstGeom prst="roundRect">
              <a:avLst>
                <a:gd name="adj" fmla="val 2645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10565130" y="5037772"/>
              <a:ext cx="1093470" cy="360045"/>
            </a:xfrm>
            <a:prstGeom prst="roundRect">
              <a:avLst>
                <a:gd name="adj" fmla="val 2645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9053512" y="4820602"/>
              <a:ext cx="1093470" cy="360045"/>
            </a:xfrm>
            <a:prstGeom prst="roundRect">
              <a:avLst>
                <a:gd name="adj" fmla="val 26455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7540942" y="4386262"/>
              <a:ext cx="1093470" cy="360045"/>
            </a:xfrm>
            <a:prstGeom prst="roundRect">
              <a:avLst>
                <a:gd name="adj" fmla="val 26455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6029325" y="3516630"/>
              <a:ext cx="1093470" cy="360045"/>
            </a:xfrm>
            <a:prstGeom prst="roundRect">
              <a:avLst>
                <a:gd name="adj" fmla="val 26455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4516755" y="2539365"/>
              <a:ext cx="1093470" cy="360045"/>
            </a:xfrm>
            <a:prstGeom prst="roundRect">
              <a:avLst>
                <a:gd name="adj" fmla="val 26455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7630097" y="165735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免费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118479" y="1657350"/>
              <a:ext cx="5498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W ≤ 30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0654284" y="2091690"/>
              <a:ext cx="5614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正常 ×4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0654284" y="2526982"/>
              <a:ext cx="5614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残疾 ×2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9142666" y="230886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头等舱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0654284" y="2961322"/>
              <a:ext cx="5614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正常 ×6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0654284" y="3395662"/>
              <a:ext cx="5614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残疾 ×3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9142666" y="3178492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其他舱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630097" y="274415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国内乘客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0654284" y="3830002"/>
              <a:ext cx="5614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正常 ×8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0654284" y="4265295"/>
              <a:ext cx="5614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残疾 ×4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9142666" y="4047172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头等舱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0654284" y="4699635"/>
              <a:ext cx="6502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正常 ×12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0654284" y="5133975"/>
              <a:ext cx="5614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残疾 ×6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9142666" y="491680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其他舱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7630097" y="448246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国外乘客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6118479" y="3612832"/>
              <a:ext cx="5498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W &gt; 30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4605909" y="2635568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行李费算法</a:t>
              </a:r>
            </a:p>
          </p:txBody>
        </p:sp>
      </p:grpSp>
      <p:grpSp>
        <p:nvGrpSpPr>
          <p:cNvPr id="82" name="takeaway"/>
          <p:cNvGrpSpPr/>
          <p:nvPr/>
        </p:nvGrpSpPr>
        <p:grpSpPr>
          <a:xfrm>
            <a:off x="533400" y="5606415"/>
            <a:ext cx="11125200" cy="756285"/>
            <a:chOff x="533400" y="5606415"/>
            <a:chExt cx="11125200" cy="756285"/>
          </a:xfrm>
        </p:grpSpPr>
        <p:sp>
          <p:nvSpPr>
            <p:cNvPr id="76" name="Rectangle 76"/>
            <p:cNvSpPr/>
            <p:nvPr/>
          </p:nvSpPr>
          <p:spPr>
            <a:xfrm>
              <a:off x="533400" y="5606415"/>
              <a:ext cx="11125200" cy="756285"/>
            </a:xfrm>
            <a:prstGeom prst="roundRect">
              <a:avLst>
                <a:gd name="adj" fmla="val 15113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80" name="Group 80"/>
            <p:cNvGrpSpPr/>
            <p:nvPr/>
          </p:nvGrpSpPr>
          <p:grpSpPr>
            <a:xfrm>
              <a:off x="726129" y="5880853"/>
              <a:ext cx="224134" cy="192560"/>
              <a:chOff x="726129" y="5880853"/>
              <a:chExt cx="224134" cy="192560"/>
            </a:xfrm>
          </p:grpSpPr>
          <p:sp>
            <p:nvSpPr>
              <p:cNvPr id="77" name="Freeform 77"/>
              <p:cNvSpPr/>
              <p:nvPr/>
            </p:nvSpPr>
            <p:spPr>
              <a:xfrm>
                <a:off x="838200" y="595122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78" name="Freeform 78"/>
              <p:cNvSpPr/>
              <p:nvPr/>
            </p:nvSpPr>
            <p:spPr>
              <a:xfrm>
                <a:off x="726129" y="588085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79" name="Freeform 79"/>
              <p:cNvSpPr/>
              <p:nvPr/>
            </p:nvSpPr>
            <p:spPr>
              <a:xfrm>
                <a:off x="838200" y="602900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81" name="TextBox 81"/>
            <p:cNvSpPr txBox="1"/>
            <p:nvPr/>
          </p:nvSpPr>
          <p:spPr>
            <a:xfrm>
              <a:off x="1040511" y="5753576"/>
              <a:ext cx="9815957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叶子上的 ×k 表示行李费 ＝ (W－30) × k 元。分枝的次序会明显影响判定树是否简洁，先按“是否超重”分枝，免费那一支就</a:t>
              </a:r>
              <a:br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只有一片叶子。</a:t>
              </a:r>
            </a:p>
          </p:txBody>
        </p:sp>
      </p:grpSp>
      <p:grpSp>
        <p:nvGrpSpPr>
          <p:cNvPr id="8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3" name="TextBox 83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第2章 可行性研究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第2章 可行性研究 · 数据字典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同一道题的判定表，以及八个单价的来历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95" name="c1-table-1"/>
          <p:cNvGrpSpPr/>
          <p:nvPr/>
        </p:nvGrpSpPr>
        <p:grpSpPr>
          <a:xfrm>
            <a:off x="533400" y="1524000"/>
            <a:ext cx="7141845" cy="4800600"/>
            <a:chOff x="533400" y="1524000"/>
            <a:chExt cx="7141845" cy="480060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7141845" cy="40005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2216746" y="16454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853016" y="16454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489286" y="16454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125556" y="16454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761826" y="16454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398096" y="16454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034366" y="16454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670636" y="16454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307859" y="16454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30555" y="204549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国内乘客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852743" y="2045494"/>
              <a:ext cx="990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489013" y="2045494"/>
              <a:ext cx="990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125283" y="2045494"/>
              <a:ext cx="990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761553" y="2045494"/>
              <a:ext cx="990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397823" y="2045494"/>
              <a:ext cx="990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034093" y="2045494"/>
              <a:ext cx="990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670363" y="2045494"/>
              <a:ext cx="990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307585" y="2045494"/>
              <a:ext cx="990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2319338"/>
              <a:ext cx="714184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533400" y="2324100"/>
              <a:ext cx="714184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30555" y="244554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头等舱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852743" y="2445544"/>
              <a:ext cx="990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489013" y="2445544"/>
              <a:ext cx="990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125283" y="2445544"/>
              <a:ext cx="990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761553" y="2445544"/>
              <a:ext cx="990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397823" y="2445544"/>
              <a:ext cx="990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034093" y="2445544"/>
              <a:ext cx="990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670363" y="2445544"/>
              <a:ext cx="990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307585" y="2445544"/>
              <a:ext cx="990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2719388"/>
              <a:ext cx="714184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30555" y="284559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残疾乘客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852743" y="2845594"/>
              <a:ext cx="990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489013" y="2845594"/>
              <a:ext cx="990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125283" y="2845594"/>
              <a:ext cx="990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761553" y="2845594"/>
              <a:ext cx="990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397823" y="2845594"/>
              <a:ext cx="990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034093" y="2845594"/>
              <a:ext cx="990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670363" y="2845594"/>
              <a:ext cx="990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307585" y="2845594"/>
              <a:ext cx="990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533400" y="3119438"/>
              <a:ext cx="714184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533400" y="3124200"/>
              <a:ext cx="714184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30555" y="3245644"/>
              <a:ext cx="7211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 ≤ 30 kg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2216473" y="3245644"/>
              <a:ext cx="990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2852743" y="3245644"/>
              <a:ext cx="990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3489013" y="3245644"/>
              <a:ext cx="990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4125283" y="3245644"/>
              <a:ext cx="990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4761553" y="3245644"/>
              <a:ext cx="990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5397823" y="3245644"/>
              <a:ext cx="990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034093" y="3245644"/>
              <a:ext cx="990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670363" y="3245644"/>
              <a:ext cx="990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307585" y="3245644"/>
              <a:ext cx="990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533400" y="3519488"/>
              <a:ext cx="714184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30555" y="36456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免费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2184895" y="3645694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533400" y="3919538"/>
              <a:ext cx="714184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533400" y="3924300"/>
              <a:ext cx="714184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30555" y="4045744"/>
              <a:ext cx="7808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(W-30)×2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4093705" y="4045744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533400" y="4319588"/>
              <a:ext cx="714184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30555" y="4445794"/>
              <a:ext cx="7808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(W-30)×3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4729975" y="4445794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533400" y="4719638"/>
              <a:ext cx="714184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0" name="Rectangle 70"/>
            <p:cNvSpPr/>
            <p:nvPr/>
          </p:nvSpPr>
          <p:spPr>
            <a:xfrm>
              <a:off x="533400" y="4724400"/>
              <a:ext cx="714184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630555" y="4845844"/>
              <a:ext cx="7808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(W-30)×4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2821165" y="4845844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6638785" y="4845844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533400" y="5119688"/>
              <a:ext cx="714184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630555" y="5245894"/>
              <a:ext cx="7808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(W-30)×6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3457435" y="5245894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7276008" y="5245894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533400" y="5519738"/>
              <a:ext cx="714184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9" name="Rectangle 79"/>
            <p:cNvSpPr/>
            <p:nvPr/>
          </p:nvSpPr>
          <p:spPr>
            <a:xfrm>
              <a:off x="533400" y="5524500"/>
              <a:ext cx="714184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630555" y="5645944"/>
              <a:ext cx="7808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(W-30)×8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5366245" y="5645944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82" name="Rectangle 82"/>
            <p:cNvSpPr/>
            <p:nvPr/>
          </p:nvSpPr>
          <p:spPr>
            <a:xfrm>
              <a:off x="533400" y="5919788"/>
              <a:ext cx="714184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630555" y="6045994"/>
              <a:ext cx="8728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(W-30)×12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6002515" y="6045994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85" name="Rectangle 85"/>
            <p:cNvSpPr/>
            <p:nvPr/>
          </p:nvSpPr>
          <p:spPr>
            <a:xfrm>
              <a:off x="533400" y="1524000"/>
              <a:ext cx="7141845" cy="48006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86" name="Rectangle 86"/>
            <p:cNvSpPr/>
            <p:nvPr/>
          </p:nvSpPr>
          <p:spPr>
            <a:xfrm>
              <a:off x="1943100" y="1524000"/>
              <a:ext cx="9525" cy="48006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7" name="Rectangle 87"/>
            <p:cNvSpPr/>
            <p:nvPr/>
          </p:nvSpPr>
          <p:spPr>
            <a:xfrm>
              <a:off x="2579370" y="1524000"/>
              <a:ext cx="9525" cy="48006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8" name="Rectangle 88"/>
            <p:cNvSpPr/>
            <p:nvPr/>
          </p:nvSpPr>
          <p:spPr>
            <a:xfrm>
              <a:off x="3215640" y="1524000"/>
              <a:ext cx="9525" cy="48006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9" name="Rectangle 89"/>
            <p:cNvSpPr/>
            <p:nvPr/>
          </p:nvSpPr>
          <p:spPr>
            <a:xfrm>
              <a:off x="3851910" y="1524000"/>
              <a:ext cx="9525" cy="48006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0" name="Rectangle 90"/>
            <p:cNvSpPr/>
            <p:nvPr/>
          </p:nvSpPr>
          <p:spPr>
            <a:xfrm>
              <a:off x="4488180" y="1524000"/>
              <a:ext cx="9525" cy="48006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1" name="Rectangle 91"/>
            <p:cNvSpPr/>
            <p:nvPr/>
          </p:nvSpPr>
          <p:spPr>
            <a:xfrm>
              <a:off x="5124450" y="1524000"/>
              <a:ext cx="9525" cy="48006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2" name="Rectangle 92"/>
            <p:cNvSpPr/>
            <p:nvPr/>
          </p:nvSpPr>
          <p:spPr>
            <a:xfrm>
              <a:off x="5760720" y="1524000"/>
              <a:ext cx="9525" cy="48006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3" name="Rectangle 93"/>
            <p:cNvSpPr/>
            <p:nvPr/>
          </p:nvSpPr>
          <p:spPr>
            <a:xfrm>
              <a:off x="6396990" y="1524000"/>
              <a:ext cx="9525" cy="48006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4" name="Rectangle 94"/>
            <p:cNvSpPr/>
            <p:nvPr/>
          </p:nvSpPr>
          <p:spPr>
            <a:xfrm>
              <a:off x="7033260" y="1524000"/>
              <a:ext cx="9525" cy="48006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107" name="c2-card-1"/>
          <p:cNvGrpSpPr/>
          <p:nvPr/>
        </p:nvGrpSpPr>
        <p:grpSpPr>
          <a:xfrm>
            <a:off x="7980045" y="1524000"/>
            <a:ext cx="3678555" cy="1828800"/>
            <a:chOff x="7980045" y="1524000"/>
            <a:chExt cx="3678555" cy="1828800"/>
          </a:xfrm>
        </p:grpSpPr>
        <p:sp>
          <p:nvSpPr>
            <p:cNvPr id="96" name="Rectangle 96"/>
            <p:cNvSpPr/>
            <p:nvPr/>
          </p:nvSpPr>
          <p:spPr>
            <a:xfrm>
              <a:off x="7980045" y="1524000"/>
              <a:ext cx="3678555" cy="1828800"/>
            </a:xfrm>
            <a:prstGeom prst="roundRect">
              <a:avLst>
                <a:gd name="adj" fmla="val 7292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7" name="Rectangle 97"/>
            <p:cNvSpPr/>
            <p:nvPr/>
          </p:nvSpPr>
          <p:spPr>
            <a:xfrm>
              <a:off x="8166735" y="1710690"/>
              <a:ext cx="1081088" cy="238125"/>
            </a:xfrm>
            <a:prstGeom prst="roundRect">
              <a:avLst>
                <a:gd name="adj" fmla="val 50000"/>
              </a:avLst>
            </a:prstGeom>
            <a:solidFill>
              <a:srgbClr val="243B53"/>
            </a:solidFill>
            <a:ln>
              <a:noFill/>
            </a:ln>
          </p:spPr>
        </p:sp>
        <p:sp>
          <p:nvSpPr>
            <p:cNvPr id="98" name="TextBox 98"/>
            <p:cNvSpPr txBox="1"/>
            <p:nvPr/>
          </p:nvSpPr>
          <p:spPr>
            <a:xfrm>
              <a:off x="8240103" y="1743551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八个单价的来历</a:t>
              </a:r>
            </a:p>
          </p:txBody>
        </p:sp>
        <p:sp>
          <p:nvSpPr>
            <p:cNvPr id="99" name="Ellipse 99"/>
            <p:cNvSpPr/>
            <p:nvPr/>
          </p:nvSpPr>
          <p:spPr>
            <a:xfrm>
              <a:off x="8175308" y="2110740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0" name="TextBox 100"/>
            <p:cNvSpPr txBox="1"/>
            <p:nvPr/>
          </p:nvSpPr>
          <p:spPr>
            <a:xfrm>
              <a:off x="8331327" y="2054542"/>
              <a:ext cx="27747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基准：国内头等舱正常 </a:t>
              </a:r>
              <a:r>
                <a:rPr lang="zh-CN" sz="135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4 元／公斤</a:t>
              </a:r>
            </a:p>
          </p:txBody>
        </p:sp>
        <p:sp>
          <p:nvSpPr>
            <p:cNvPr id="101" name="Ellipse 101"/>
            <p:cNvSpPr/>
            <p:nvPr/>
          </p:nvSpPr>
          <p:spPr>
            <a:xfrm>
              <a:off x="8175308" y="2411730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2" name="TextBox 102"/>
            <p:cNvSpPr txBox="1"/>
            <p:nvPr/>
          </p:nvSpPr>
          <p:spPr>
            <a:xfrm>
              <a:off x="8331327" y="2355532"/>
              <a:ext cx="25762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其他舱是头等舱的 1.5 倍：6 元</a:t>
              </a:r>
            </a:p>
          </p:txBody>
        </p:sp>
        <p:sp>
          <p:nvSpPr>
            <p:cNvPr id="103" name="Ellipse 103"/>
            <p:cNvSpPr/>
            <p:nvPr/>
          </p:nvSpPr>
          <p:spPr>
            <a:xfrm>
              <a:off x="8175308" y="2711768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4" name="TextBox 104"/>
            <p:cNvSpPr txBox="1"/>
            <p:nvPr/>
          </p:nvSpPr>
          <p:spPr>
            <a:xfrm>
              <a:off x="8331327" y="2655570"/>
              <a:ext cx="23944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国外是国内的 2 倍：8、12 元</a:t>
              </a:r>
            </a:p>
          </p:txBody>
        </p:sp>
        <p:sp>
          <p:nvSpPr>
            <p:cNvPr id="105" name="Ellipse 105"/>
            <p:cNvSpPr/>
            <p:nvPr/>
          </p:nvSpPr>
          <p:spPr>
            <a:xfrm>
              <a:off x="8175308" y="3011805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6" name="TextBox 106"/>
            <p:cNvSpPr txBox="1"/>
            <p:nvPr/>
          </p:nvSpPr>
          <p:spPr>
            <a:xfrm>
              <a:off x="8331327" y="2955608"/>
              <a:ext cx="21036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残疾减半：2、3、4、6 元</a:t>
              </a:r>
            </a:p>
          </p:txBody>
        </p:sp>
      </p:grpSp>
      <p:grpSp>
        <p:nvGrpSpPr>
          <p:cNvPr id="114" name="c2-callout-2"/>
          <p:cNvGrpSpPr/>
          <p:nvPr/>
        </p:nvGrpSpPr>
        <p:grpSpPr>
          <a:xfrm>
            <a:off x="7980045" y="3523298"/>
            <a:ext cx="3678555" cy="978218"/>
            <a:chOff x="7980045" y="3523298"/>
            <a:chExt cx="3678555" cy="978218"/>
          </a:xfrm>
        </p:grpSpPr>
        <p:sp>
          <p:nvSpPr>
            <p:cNvPr id="108" name="Rectangle 108"/>
            <p:cNvSpPr/>
            <p:nvPr/>
          </p:nvSpPr>
          <p:spPr>
            <a:xfrm>
              <a:off x="7980045" y="3523298"/>
              <a:ext cx="3678555" cy="978218"/>
            </a:xfrm>
            <a:prstGeom prst="roundRect">
              <a:avLst>
                <a:gd name="adj" fmla="val 11685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112" name="Group 112"/>
            <p:cNvGrpSpPr/>
            <p:nvPr/>
          </p:nvGrpSpPr>
          <p:grpSpPr>
            <a:xfrm>
              <a:off x="8184833" y="3911918"/>
              <a:ext cx="200026" cy="200026"/>
              <a:chOff x="8184833" y="3911918"/>
              <a:chExt cx="200026" cy="200026"/>
            </a:xfrm>
          </p:grpSpPr>
          <p:sp>
            <p:nvSpPr>
              <p:cNvPr id="109" name="Freeform 109"/>
              <p:cNvSpPr/>
              <p:nvPr/>
            </p:nvSpPr>
            <p:spPr>
              <a:xfrm>
                <a:off x="8184833" y="391191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10" name="Freeform 110"/>
              <p:cNvSpPr/>
              <p:nvPr/>
            </p:nvSpPr>
            <p:spPr>
              <a:xfrm>
                <a:off x="8284845" y="397859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11" name="Freeform 111"/>
              <p:cNvSpPr/>
              <p:nvPr/>
            </p:nvSpPr>
            <p:spPr>
              <a:xfrm>
                <a:off x="8273733" y="401193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113" name="TextBox 113"/>
            <p:cNvSpPr txBox="1"/>
            <p:nvPr/>
          </p:nvSpPr>
          <p:spPr>
            <a:xfrm>
              <a:off x="8487537" y="3669030"/>
              <a:ext cx="2808351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 列的三个条件无关：不超重就免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费。八片叶子与第 2 到 9 列已逐一核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对。</a:t>
              </a:r>
            </a:p>
          </p:txBody>
        </p:sp>
      </p:grpSp>
      <p:grpSp>
        <p:nvGrpSpPr>
          <p:cNvPr id="11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15" name="TextBox 115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第2章 可行性研究</a:t>
              </a:r>
            </a:p>
          </p:txBody>
        </p:sp>
        <p:sp>
          <p:nvSpPr>
            <p:cNvPr id="116" name="TextBox 11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488561" cy="909257"/>
            <a:chOff x="520446" y="342900"/>
            <a:chExt cx="44885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第2章 可行性研究 · 数据字典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4885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房产管理系统的数据字典片段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410200" cy="3319462"/>
            <a:chOff x="533400" y="1524000"/>
            <a:chExt cx="5410200" cy="331946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3319462"/>
            </a:xfrm>
            <a:prstGeom prst="roundRect">
              <a:avLst>
                <a:gd name="adj" fmla="val 2869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数据流条目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797" y="1935956"/>
              <a:ext cx="3818382" cy="28338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住户要求 ＝ 户主 ＋ [ 分房要求 ｜ 调房要求 ｜ 退房要求 ]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分房要求 ＝ 部门 ＋ 职称 ＋ 家庭人口 ＋ 住户分数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     ＋ 要求住房面积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调房要求 ＝ 部门 ＋ 职称 ＋ 家庭人口 ＋ 住房分数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     ＋ 原住房面积 ＋ 原房号 ＋ 要求调房面积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退房要求 ＝ 部门 ＋ 房号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住房情况 ＝ 户主 ＋ 部门 ＋ 职称 ＋ 家庭人口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     ＋ 住房分数 ＋ 住房面积 ＋ 房租 ＋ 房号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咨询要求 ＝ 户主 ＋ [ 住房情况咨询 ｜ 房租咨询 ｜ 统计要求 ]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统计表  ＝ { 住房面积 ＋ 已分住房数 ＋ 空房数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分房单  ＝ 户主 ＋ 部门 ＋ 职称 ＋ 住房分数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     ＋ 要求住房面积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调房单  ＝ 户主 ＋ 部门 ＋ 职称 ＋ 住房分数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     ＋ 原住房面积 ＋ 原房号 ＋ 要求调房面积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退房单  ＝ 户主 ＋ 房号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房号   ＝ 楼号 ＋ 房间号</a:t>
              </a:r>
            </a:p>
          </p:txBody>
        </p:sp>
      </p:grpSp>
      <p:grpSp>
        <p:nvGrpSpPr>
          <p:cNvPr id="16" name="c1-callout-2"/>
          <p:cNvGrpSpPr/>
          <p:nvPr/>
        </p:nvGrpSpPr>
        <p:grpSpPr>
          <a:xfrm>
            <a:off x="533400" y="5013008"/>
            <a:ext cx="5410200" cy="1258252"/>
            <a:chOff x="533400" y="5013008"/>
            <a:chExt cx="5410200" cy="1258252"/>
          </a:xfrm>
        </p:grpSpPr>
        <p:sp>
          <p:nvSpPr>
            <p:cNvPr id="11" name="Rectangle 11"/>
            <p:cNvSpPr/>
            <p:nvPr/>
          </p:nvSpPr>
          <p:spPr>
            <a:xfrm>
              <a:off x="533400" y="5013008"/>
              <a:ext cx="5410200" cy="1258252"/>
            </a:xfrm>
            <a:prstGeom prst="roundRect">
              <a:avLst>
                <a:gd name="adj" fmla="val 9084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738188" y="5542600"/>
              <a:ext cx="200023" cy="200023"/>
              <a:chOff x="738188" y="5542600"/>
              <a:chExt cx="200023" cy="200023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738188" y="554260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871538" y="560927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1040892" y="5424488"/>
              <a:ext cx="4445698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住户要求用 [ … ｜ … ] 三选一，统计表用 { … } 表示重复，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这两个符号在本例里各出现一次。</a:t>
              </a:r>
            </a:p>
          </p:txBody>
        </p:sp>
      </p:grpSp>
      <p:grpSp>
        <p:nvGrpSpPr>
          <p:cNvPr id="20" name="c2-code-1"/>
          <p:cNvGrpSpPr/>
          <p:nvPr/>
        </p:nvGrpSpPr>
        <p:grpSpPr>
          <a:xfrm>
            <a:off x="6248400" y="1524000"/>
            <a:ext cx="5410200" cy="2791778"/>
            <a:chOff x="6248400" y="1524000"/>
            <a:chExt cx="5410200" cy="2791778"/>
          </a:xfrm>
        </p:grpSpPr>
        <p:sp>
          <p:nvSpPr>
            <p:cNvPr id="17" name="Rectangle 17"/>
            <p:cNvSpPr/>
            <p:nvPr/>
          </p:nvSpPr>
          <p:spPr>
            <a:xfrm>
              <a:off x="6248400" y="1524000"/>
              <a:ext cx="5410200" cy="2791778"/>
            </a:xfrm>
            <a:prstGeom prst="roundRect">
              <a:avLst>
                <a:gd name="adj" fmla="val 341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376797" y="1675924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文件条目与小说明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376797" y="1935956"/>
              <a:ext cx="3432556" cy="2305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文件名：住房标准文件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组成：{ 住房面积 ＋ 最低住房分数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组织：按住房面积大小递增排列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文件名：房产文件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组成：{ 房号 ＋ 住房面积 ＋ 分配标志 ＋ 每平方米房租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组织：按房号递增排列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加工编号：2.2.1   加工名：核准住房条件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加工逻辑：根据分房要求的住房面积，从住房标准文件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    读出住房标准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    IF 住房分数 &gt;= 最低住房分数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    THEN 输出核准后的分房单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    ELSE 取消分房资格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有关信息：当有分房单输入时执行此加工</a:t>
              </a:r>
            </a:p>
          </p:txBody>
        </p:sp>
      </p:grpSp>
      <p:grpSp>
        <p:nvGrpSpPr>
          <p:cNvPr id="31" name="c2-card-2"/>
          <p:cNvGrpSpPr/>
          <p:nvPr/>
        </p:nvGrpSpPr>
        <p:grpSpPr>
          <a:xfrm>
            <a:off x="6248400" y="4486275"/>
            <a:ext cx="5410200" cy="1785938"/>
            <a:chOff x="6248400" y="4486275"/>
            <a:chExt cx="5410200" cy="1785938"/>
          </a:xfrm>
        </p:grpSpPr>
        <p:sp>
          <p:nvSpPr>
            <p:cNvPr id="21" name="Rectangle 21"/>
            <p:cNvSpPr/>
            <p:nvPr/>
          </p:nvSpPr>
          <p:spPr>
            <a:xfrm>
              <a:off x="6248400" y="4486275"/>
              <a:ext cx="5410200" cy="1785938"/>
            </a:xfrm>
            <a:prstGeom prst="roundRect">
              <a:avLst>
                <a:gd name="adj" fmla="val 746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6257925" y="4619625"/>
              <a:ext cx="47625" cy="151923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6473190" y="467296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565862" y="470582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6481762" y="5073015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637782" y="5016818"/>
              <a:ext cx="28124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“最地住房分数”应为 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最低住房分数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6481762" y="5373052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637782" y="5316855"/>
              <a:ext cx="459143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2.2.1 的 THEN 分支输出 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核准后的分房单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，原写作“审核后的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住房单”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6481762" y="5930265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637782" y="5874068"/>
              <a:ext cx="39483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2.2.2 拼成的记录应写入 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住房文件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、输出 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住房单</a:t>
              </a:r>
            </a:p>
          </p:txBody>
        </p:sp>
      </p:grpSp>
      <p:grpSp>
        <p:nvGrpSpPr>
          <p:cNvPr id="3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2" name="TextBox 32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第2章 可行性研究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334E6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7EDF3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3429000" cy="3351847"/>
            <a:chOff x="667512" y="1835468"/>
            <a:chExt cx="3429000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第六部分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42900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成本／效益分析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24601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把技术问题换算成一笔账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代码行技术与任务分解技术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成本与效益各包括什么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货币的时间价值与现值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回收期、纯收入与投资回收率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第2章 可行性研究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458718" cy="909257"/>
            <a:chOff x="520446" y="342900"/>
            <a:chExt cx="345871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第2章 可行性研究 · 成本／效益分析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45871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成本估计：代码行技术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5465826" cy="264033"/>
            <a:chOff x="526542" y="1545907"/>
            <a:chExt cx="5465826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54658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软件开发成本主要表现为人力消耗，乘以平均工资就得到开发费用。</a:t>
              </a:r>
            </a:p>
          </p:txBody>
        </p:sp>
      </p:grpSp>
      <p:grpSp>
        <p:nvGrpSpPr>
          <p:cNvPr id="19" name="c1-bullets-1"/>
          <p:cNvGrpSpPr/>
          <p:nvPr/>
        </p:nvGrpSpPr>
        <p:grpSpPr>
          <a:xfrm>
            <a:off x="526542" y="1950720"/>
            <a:ext cx="1474038" cy="1072992"/>
            <a:chOff x="526542" y="1950720"/>
            <a:chExt cx="1474038" cy="1072992"/>
          </a:xfrm>
        </p:grpSpPr>
        <p:sp>
          <p:nvSpPr>
            <p:cNvPr id="9" name="TextBox 9"/>
            <p:cNvSpPr txBox="1"/>
            <p:nvPr/>
          </p:nvSpPr>
          <p:spPr>
            <a:xfrm>
              <a:off x="526542" y="1950720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三种估计技术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254568"/>
              <a:ext cx="160020" cy="16002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79105" y="2286286"/>
              <a:ext cx="68610" cy="1504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6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82955" y="2264569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代码行技术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533400" y="2524125"/>
              <a:ext cx="160020" cy="16002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79105" y="2555843"/>
              <a:ext cx="68610" cy="1504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6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82955" y="253412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任务分解技术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2793682"/>
              <a:ext cx="160020" cy="16002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79105" y="2825401"/>
              <a:ext cx="68610" cy="1504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6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82955" y="2803684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自动估计成本技术</a:t>
              </a:r>
            </a:p>
          </p:txBody>
        </p:sp>
      </p:grpSp>
      <p:grpSp>
        <p:nvGrpSpPr>
          <p:cNvPr id="25" name="c1-card-2"/>
          <p:cNvGrpSpPr/>
          <p:nvPr/>
        </p:nvGrpSpPr>
        <p:grpSpPr>
          <a:xfrm>
            <a:off x="533400" y="3148965"/>
            <a:ext cx="2813685" cy="3005138"/>
            <a:chOff x="533400" y="3148965"/>
            <a:chExt cx="2813685" cy="3005138"/>
          </a:xfrm>
        </p:grpSpPr>
        <p:sp>
          <p:nvSpPr>
            <p:cNvPr id="20" name="Rectangle 20"/>
            <p:cNvSpPr/>
            <p:nvPr/>
          </p:nvSpPr>
          <p:spPr>
            <a:xfrm>
              <a:off x="533400" y="3148965"/>
              <a:ext cx="2813685" cy="3005138"/>
            </a:xfrm>
            <a:prstGeom prst="roundRect">
              <a:avLst>
                <a:gd name="adj" fmla="val 4739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720090" y="3335655"/>
              <a:ext cx="831532" cy="238125"/>
            </a:xfrm>
            <a:prstGeom prst="roundRect">
              <a:avLst>
                <a:gd name="adj" fmla="val 50000"/>
              </a:avLst>
            </a:prstGeom>
            <a:solidFill>
              <a:srgbClr val="243B5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01560" y="3368516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代码行技术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13232" y="3680460"/>
              <a:ext cx="224256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先估计每个功能的源代码行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数，再按每行成本和每人月产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出折算成钱与人月。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14375" y="4491514"/>
              <a:ext cx="2329942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加权平均 e ＝ (a ＋ 4m ＋ b) ／ 6，</a:t>
              </a:r>
              <a:br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 乐观、m 一般、b 悲观。</a:t>
              </a:r>
            </a:p>
          </p:txBody>
        </p:sp>
      </p:grpSp>
      <p:grpSp>
        <p:nvGrpSpPr>
          <p:cNvPr id="127" name="c2-table-1"/>
          <p:cNvGrpSpPr/>
          <p:nvPr/>
        </p:nvGrpSpPr>
        <p:grpSpPr>
          <a:xfrm>
            <a:off x="3646932" y="1928812"/>
            <a:ext cx="8011668" cy="4264057"/>
            <a:chOff x="3646932" y="1928812"/>
            <a:chExt cx="8011668" cy="4264057"/>
          </a:xfrm>
        </p:grpSpPr>
        <p:sp>
          <p:nvSpPr>
            <p:cNvPr id="26" name="Rectangle 26"/>
            <p:cNvSpPr/>
            <p:nvPr/>
          </p:nvSpPr>
          <p:spPr>
            <a:xfrm>
              <a:off x="3651885" y="1928812"/>
              <a:ext cx="8006715" cy="60007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084041" y="2150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功能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993640" y="2050256"/>
              <a:ext cx="29591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75"/>
                </a:lnSpc>
              </a:pPr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乐观</a:t>
              </a:r>
              <a:br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631815" y="2050256"/>
              <a:ext cx="29591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75"/>
                </a:lnSpc>
              </a:pPr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一般</a:t>
              </a:r>
              <a:br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269038" y="2050256"/>
              <a:ext cx="29591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75"/>
                </a:lnSpc>
              </a:pPr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悲观</a:t>
              </a:r>
              <a:br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977380" y="2050256"/>
              <a:ext cx="58039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75"/>
                </a:lnSpc>
              </a:pPr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加权平均</a:t>
              </a:r>
              <a:br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LOC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038148" y="2050256"/>
              <a:ext cx="43815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75"/>
                </a:lnSpc>
              </a:pPr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美元／</a:t>
              </a:r>
              <a:br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LOC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899487" y="2050256"/>
              <a:ext cx="429971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75"/>
                </a:lnSpc>
              </a:pPr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LOC／</a:t>
              </a:r>
              <a:br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PM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753918" y="2050256"/>
              <a:ext cx="58039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75"/>
                </a:lnSpc>
              </a:pPr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成本（美</a:t>
              </a:r>
              <a:br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元）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866831" y="2050256"/>
              <a:ext cx="490068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75"/>
                </a:lnSpc>
              </a:pPr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工作量</a:t>
              </a:r>
              <a:br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（PM）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749040" y="265033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用户界面控制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013726" y="2650331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1790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665236" y="2650331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2400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288171" y="2650331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2650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366401" y="2650331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2340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433318" y="265033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164780" y="2650331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315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042868" y="2650331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32760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301237" y="2650331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7.4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3651885" y="2924175"/>
              <a:ext cx="800671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3651885" y="2928938"/>
              <a:ext cx="800671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3749040" y="305038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二维几何分析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5013726" y="3050381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4080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5665236" y="3050381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5200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288171" y="3050381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7400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366401" y="3050381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5380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433318" y="305038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164780" y="3050381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220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959942" y="3050381"/>
              <a:ext cx="508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107600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218311" y="3050381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24.4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3651885" y="3324225"/>
              <a:ext cx="800671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3749040" y="345043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三维几何分析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5013726" y="3450431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4600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5665236" y="3450431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6900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288171" y="3450431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8600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366401" y="3450431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6800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433318" y="345043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164780" y="3450431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220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9959942" y="3450431"/>
              <a:ext cx="508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136000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218311" y="3450431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30.9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3651885" y="3724275"/>
              <a:ext cx="800671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3651885" y="3729038"/>
              <a:ext cx="800671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3749040" y="385048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数据库管理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5013726" y="3850481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2900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5665236" y="3850481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3400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6288171" y="3850481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3600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7366401" y="3850481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3350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8433318" y="385048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9164780" y="3850481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240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0042868" y="3850481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60300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1218311" y="3850481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13.9</a:t>
              </a:r>
            </a:p>
          </p:txBody>
        </p:sp>
        <p:sp>
          <p:nvSpPr>
            <p:cNvPr id="77" name="Rectangle 77"/>
            <p:cNvSpPr/>
            <p:nvPr/>
          </p:nvSpPr>
          <p:spPr>
            <a:xfrm>
              <a:off x="3651885" y="4124325"/>
              <a:ext cx="800671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3749040" y="4250531"/>
              <a:ext cx="86487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计算机图形显</a:t>
              </a:r>
              <a:br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示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5013726" y="4350544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3900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5665236" y="4350544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4900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6288171" y="4350544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6200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7366401" y="4350544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4950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8433318" y="4350544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9164780" y="4350544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200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9959942" y="4350544"/>
              <a:ext cx="508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108900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11218311" y="4350544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24.7</a:t>
              </a:r>
            </a:p>
          </p:txBody>
        </p:sp>
        <p:sp>
          <p:nvSpPr>
            <p:cNvPr id="87" name="Rectangle 87"/>
            <p:cNvSpPr/>
            <p:nvPr/>
          </p:nvSpPr>
          <p:spPr>
            <a:xfrm>
              <a:off x="3651885" y="4724400"/>
              <a:ext cx="800671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8" name="Rectangle 88"/>
            <p:cNvSpPr/>
            <p:nvPr/>
          </p:nvSpPr>
          <p:spPr>
            <a:xfrm>
              <a:off x="3651885" y="4729162"/>
              <a:ext cx="800671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3749040" y="485060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外设控制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5013726" y="485060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1990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5665236" y="485060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2100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6288171" y="485060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2450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7366401" y="485060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2140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8433318" y="485060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9164780" y="4850606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140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10042868" y="4850606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59920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11218311" y="485060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15.2</a:t>
              </a:r>
            </a:p>
          </p:txBody>
        </p:sp>
        <p:sp>
          <p:nvSpPr>
            <p:cNvPr id="98" name="Rectangle 98"/>
            <p:cNvSpPr/>
            <p:nvPr/>
          </p:nvSpPr>
          <p:spPr>
            <a:xfrm>
              <a:off x="3651885" y="5124450"/>
              <a:ext cx="800671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9" name="TextBox 99"/>
            <p:cNvSpPr txBox="1"/>
            <p:nvPr/>
          </p:nvSpPr>
          <p:spPr>
            <a:xfrm>
              <a:off x="3749040" y="525065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设计分析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5013726" y="525065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6600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5665236" y="525065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8500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6288171" y="525065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9800</a:t>
              </a:r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7366401" y="525065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8400</a:t>
              </a: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8433318" y="52506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9164780" y="5250656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300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9959942" y="5250656"/>
              <a:ext cx="508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151200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11218311" y="525065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28.0</a:t>
              </a:r>
            </a:p>
          </p:txBody>
        </p:sp>
        <p:sp>
          <p:nvSpPr>
            <p:cNvPr id="108" name="Rectangle 108"/>
            <p:cNvSpPr/>
            <p:nvPr/>
          </p:nvSpPr>
          <p:spPr>
            <a:xfrm>
              <a:off x="3651885" y="5524500"/>
              <a:ext cx="800671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9" name="Rectangle 109"/>
            <p:cNvSpPr/>
            <p:nvPr/>
          </p:nvSpPr>
          <p:spPr>
            <a:xfrm>
              <a:off x="3651885" y="5529262"/>
              <a:ext cx="800671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10" name="TextBox 110"/>
            <p:cNvSpPr txBox="1"/>
            <p:nvPr/>
          </p:nvSpPr>
          <p:spPr>
            <a:xfrm>
              <a:off x="3749040" y="565070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总计</a:t>
              </a:r>
            </a:p>
          </p:txBody>
        </p:sp>
        <p:sp>
          <p:nvSpPr>
            <p:cNvPr id="111" name="Rectangle 111"/>
            <p:cNvSpPr/>
            <p:nvPr/>
          </p:nvSpPr>
          <p:spPr>
            <a:xfrm>
              <a:off x="6737985" y="5538788"/>
              <a:ext cx="1059180" cy="38100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12" name="TextBox 112"/>
            <p:cNvSpPr txBox="1"/>
            <p:nvPr/>
          </p:nvSpPr>
          <p:spPr>
            <a:xfrm>
              <a:off x="7283475" y="5650706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33360</a:t>
              </a:r>
            </a:p>
          </p:txBody>
        </p:sp>
        <p:sp>
          <p:nvSpPr>
            <p:cNvPr id="113" name="Rectangle 113"/>
            <p:cNvSpPr/>
            <p:nvPr/>
          </p:nvSpPr>
          <p:spPr>
            <a:xfrm>
              <a:off x="9531668" y="5538788"/>
              <a:ext cx="1024890" cy="38100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14" name="TextBox 114"/>
            <p:cNvSpPr txBox="1"/>
            <p:nvPr/>
          </p:nvSpPr>
          <p:spPr>
            <a:xfrm>
              <a:off x="9959942" y="5650706"/>
              <a:ext cx="508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656680</a:t>
              </a:r>
            </a:p>
          </p:txBody>
        </p:sp>
        <p:sp>
          <p:nvSpPr>
            <p:cNvPr id="115" name="Rectangle 115"/>
            <p:cNvSpPr/>
            <p:nvPr/>
          </p:nvSpPr>
          <p:spPr>
            <a:xfrm>
              <a:off x="10575608" y="5538788"/>
              <a:ext cx="1073468" cy="38100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16" name="TextBox 116"/>
            <p:cNvSpPr txBox="1"/>
            <p:nvPr/>
          </p:nvSpPr>
          <p:spPr>
            <a:xfrm>
              <a:off x="11135385" y="5650706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144.5</a:t>
              </a:r>
            </a:p>
          </p:txBody>
        </p:sp>
        <p:sp>
          <p:nvSpPr>
            <p:cNvPr id="117" name="Rectangle 117"/>
            <p:cNvSpPr/>
            <p:nvPr/>
          </p:nvSpPr>
          <p:spPr>
            <a:xfrm>
              <a:off x="3651885" y="1928812"/>
              <a:ext cx="8006715" cy="40005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118" name="Rectangle 118"/>
            <p:cNvSpPr/>
            <p:nvPr/>
          </p:nvSpPr>
          <p:spPr>
            <a:xfrm>
              <a:off x="4825365" y="1928812"/>
              <a:ext cx="9525" cy="40005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9" name="Rectangle 119"/>
            <p:cNvSpPr/>
            <p:nvPr/>
          </p:nvSpPr>
          <p:spPr>
            <a:xfrm>
              <a:off x="5449252" y="1928812"/>
              <a:ext cx="9525" cy="40005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0" name="Rectangle 120"/>
            <p:cNvSpPr/>
            <p:nvPr/>
          </p:nvSpPr>
          <p:spPr>
            <a:xfrm>
              <a:off x="6100762" y="1928812"/>
              <a:ext cx="9525" cy="40005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1" name="Rectangle 121"/>
            <p:cNvSpPr/>
            <p:nvPr/>
          </p:nvSpPr>
          <p:spPr>
            <a:xfrm>
              <a:off x="6723698" y="1928812"/>
              <a:ext cx="9525" cy="40005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2" name="Rectangle 122"/>
            <p:cNvSpPr/>
            <p:nvPr/>
          </p:nvSpPr>
          <p:spPr>
            <a:xfrm>
              <a:off x="7801928" y="1928812"/>
              <a:ext cx="9525" cy="40005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3" name="Rectangle 123"/>
            <p:cNvSpPr/>
            <p:nvPr/>
          </p:nvSpPr>
          <p:spPr>
            <a:xfrm>
              <a:off x="8702992" y="1928812"/>
              <a:ext cx="9525" cy="40005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4" name="Rectangle 124"/>
            <p:cNvSpPr/>
            <p:nvPr/>
          </p:nvSpPr>
          <p:spPr>
            <a:xfrm>
              <a:off x="9517380" y="1928812"/>
              <a:ext cx="9525" cy="40005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5" name="Rectangle 125"/>
            <p:cNvSpPr/>
            <p:nvPr/>
          </p:nvSpPr>
          <p:spPr>
            <a:xfrm>
              <a:off x="10561320" y="1928812"/>
              <a:ext cx="9525" cy="40005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6" name="TextBox 126"/>
            <p:cNvSpPr txBox="1"/>
            <p:nvPr/>
          </p:nvSpPr>
          <p:spPr>
            <a:xfrm>
              <a:off x="3646932" y="6002179"/>
              <a:ext cx="69295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逐行复核过：加权平均、成本、合计都对得上；工作量一列是截断到一位小数的，例如 5380 ÷ 220 ＝ 24.45 写作 24.4</a:t>
              </a:r>
            </a:p>
          </p:txBody>
        </p:sp>
      </p:grpSp>
      <p:grpSp>
        <p:nvGrpSpPr>
          <p:cNvPr id="13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28" name="TextBox 128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第2章 可行性研究</a:t>
              </a:r>
            </a:p>
          </p:txBody>
        </p:sp>
        <p:sp>
          <p:nvSpPr>
            <p:cNvPr id="129" name="TextBox 12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801999" cy="909257"/>
            <a:chOff x="520446" y="342900"/>
            <a:chExt cx="380199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第2章 可行性研究 · 成本／效益分析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80199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成本估计：任务分解技术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96" name="c1-table-1"/>
          <p:cNvGrpSpPr/>
          <p:nvPr/>
        </p:nvGrpSpPr>
        <p:grpSpPr>
          <a:xfrm>
            <a:off x="528447" y="1524000"/>
            <a:ext cx="6713411" cy="4664106"/>
            <a:chOff x="528447" y="1524000"/>
            <a:chExt cx="6713411" cy="4664106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708458" cy="40005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257973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功能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513089" y="164544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需求分析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675418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设计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649826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编码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624233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测试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598641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总计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30555" y="2045494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用户界面控制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987817" y="2045494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1.0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962225" y="2045494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2.0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936632" y="2045494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910087" y="2045494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3.5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050347" y="20454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2319338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33400" y="2324100"/>
              <a:ext cx="6708458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30555" y="2445544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二维几何分析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987817" y="2445544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2.0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879299" y="2445544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10.0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936632" y="2445544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4.5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910087" y="2445544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9.5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967421" y="2445544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2719388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0555" y="2845594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三维几何分析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987817" y="2845594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2.5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879299" y="2845594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12.0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936632" y="2845594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6.0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827161" y="2845594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11.0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801569" y="2845594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31.5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3400" y="3119438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533400" y="3124200"/>
              <a:ext cx="6708458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30555" y="324564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数据库管理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2987817" y="3245644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2.0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962225" y="3245644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6.0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936632" y="3245644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3.0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910087" y="3245644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4.0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967421" y="3245644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33400" y="3519488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30555" y="3645694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计算机图形显示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2987817" y="3645694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1.5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3879299" y="3645694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11.0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4936632" y="3645694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4.0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5827161" y="3645694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10.5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967421" y="3645694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33400" y="3919538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533400" y="3924300"/>
              <a:ext cx="6708458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30555" y="404574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外设控制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2987817" y="4045744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1.5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3962225" y="4045744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6.0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4936632" y="4045744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3.5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5910087" y="4045744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5.0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967421" y="4045744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533400" y="4319588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30555" y="444579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设计分析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2987817" y="4445794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4.0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3879299" y="4445794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14.0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4936632" y="4445794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5.0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5910087" y="4445794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7.0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967421" y="4445794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533400" y="4719638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533400" y="4724400"/>
              <a:ext cx="6708458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30555" y="4845844"/>
              <a:ext cx="83198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总计（PM）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2904891" y="4845844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14.5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4045151" y="4845844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61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4853706" y="4845844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26.5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5827161" y="4845844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50.5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6276975" y="4733925"/>
              <a:ext cx="955358" cy="38100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6718643" y="4845844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152.5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533400" y="5119688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630555" y="5245894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每人月成本（美元）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2904891" y="5245894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5200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3879299" y="5245894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4800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4853706" y="5245894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4250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5827161" y="5245894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4500</a:t>
              </a:r>
            </a:p>
          </p:txBody>
        </p:sp>
        <p:sp>
          <p:nvSpPr>
            <p:cNvPr id="80" name="Rectangle 80"/>
            <p:cNvSpPr/>
            <p:nvPr/>
          </p:nvSpPr>
          <p:spPr>
            <a:xfrm>
              <a:off x="533400" y="5519738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1" name="Rectangle 81"/>
            <p:cNvSpPr/>
            <p:nvPr/>
          </p:nvSpPr>
          <p:spPr>
            <a:xfrm>
              <a:off x="533400" y="5524500"/>
              <a:ext cx="6708458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630555" y="5645944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成本（美元）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2821965" y="5645944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75400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3713447" y="5645944"/>
              <a:ext cx="508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292800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4687854" y="5645944"/>
              <a:ext cx="508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112625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5661309" y="5645944"/>
              <a:ext cx="508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227250</a:t>
              </a:r>
            </a:p>
          </p:txBody>
        </p:sp>
        <p:sp>
          <p:nvSpPr>
            <p:cNvPr id="87" name="Rectangle 87"/>
            <p:cNvSpPr/>
            <p:nvPr/>
          </p:nvSpPr>
          <p:spPr>
            <a:xfrm>
              <a:off x="6276975" y="5534025"/>
              <a:ext cx="955358" cy="38100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6635717" y="5645944"/>
              <a:ext cx="508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708075</a:t>
              </a:r>
            </a:p>
          </p:txBody>
        </p:sp>
        <p:sp>
          <p:nvSpPr>
            <p:cNvPr id="89" name="Rectangle 89"/>
            <p:cNvSpPr/>
            <p:nvPr/>
          </p:nvSpPr>
          <p:spPr>
            <a:xfrm>
              <a:off x="533400" y="1524000"/>
              <a:ext cx="6708458" cy="44005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90" name="Rectangle 90"/>
            <p:cNvSpPr/>
            <p:nvPr/>
          </p:nvSpPr>
          <p:spPr>
            <a:xfrm>
              <a:off x="2289810" y="1524000"/>
              <a:ext cx="9525" cy="44005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1" name="Rectangle 91"/>
            <p:cNvSpPr/>
            <p:nvPr/>
          </p:nvSpPr>
          <p:spPr>
            <a:xfrm>
              <a:off x="3340418" y="1524000"/>
              <a:ext cx="9525" cy="44005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2" name="Rectangle 92"/>
            <p:cNvSpPr/>
            <p:nvPr/>
          </p:nvSpPr>
          <p:spPr>
            <a:xfrm>
              <a:off x="4314825" y="1524000"/>
              <a:ext cx="9525" cy="44005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3" name="Rectangle 93"/>
            <p:cNvSpPr/>
            <p:nvPr/>
          </p:nvSpPr>
          <p:spPr>
            <a:xfrm>
              <a:off x="5289232" y="1524000"/>
              <a:ext cx="9525" cy="44005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4" name="Rectangle 94"/>
            <p:cNvSpPr/>
            <p:nvPr/>
          </p:nvSpPr>
          <p:spPr>
            <a:xfrm>
              <a:off x="6262688" y="1524000"/>
              <a:ext cx="9525" cy="44005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528447" y="5997416"/>
              <a:ext cx="44128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表中数字的单位是人月（PM），原课件把最后三行挤在一格里，这里拆开写</a:t>
              </a:r>
            </a:p>
          </p:txBody>
        </p:sp>
      </p:grpSp>
      <p:grpSp>
        <p:nvGrpSpPr>
          <p:cNvPr id="105" name="c2-card-1"/>
          <p:cNvGrpSpPr/>
          <p:nvPr/>
        </p:nvGrpSpPr>
        <p:grpSpPr>
          <a:xfrm>
            <a:off x="7546658" y="1524000"/>
            <a:ext cx="4111942" cy="1954530"/>
            <a:chOff x="7546658" y="1524000"/>
            <a:chExt cx="4111942" cy="1954530"/>
          </a:xfrm>
        </p:grpSpPr>
        <p:sp>
          <p:nvSpPr>
            <p:cNvPr id="97" name="Rectangle 97"/>
            <p:cNvSpPr/>
            <p:nvPr/>
          </p:nvSpPr>
          <p:spPr>
            <a:xfrm>
              <a:off x="7546658" y="1524000"/>
              <a:ext cx="4111942" cy="1954530"/>
            </a:xfrm>
            <a:prstGeom prst="roundRect">
              <a:avLst>
                <a:gd name="adj" fmla="val 6823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8" name="Rectangle 98"/>
            <p:cNvSpPr/>
            <p:nvPr/>
          </p:nvSpPr>
          <p:spPr>
            <a:xfrm>
              <a:off x="7733348" y="1710690"/>
              <a:ext cx="1204912" cy="238125"/>
            </a:xfrm>
            <a:prstGeom prst="roundRect">
              <a:avLst>
                <a:gd name="adj" fmla="val 50000"/>
              </a:avLst>
            </a:prstGeom>
            <a:solidFill>
              <a:srgbClr val="243B53"/>
            </a:solidFill>
            <a:ln>
              <a:noFill/>
            </a:ln>
          </p:spPr>
        </p:sp>
        <p:sp>
          <p:nvSpPr>
            <p:cNvPr id="99" name="TextBox 99"/>
            <p:cNvSpPr txBox="1"/>
            <p:nvPr/>
          </p:nvSpPr>
          <p:spPr>
            <a:xfrm>
              <a:off x="7803617" y="1743551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两种技术互相校核</a:t>
              </a:r>
            </a:p>
          </p:txBody>
        </p:sp>
        <p:sp>
          <p:nvSpPr>
            <p:cNvPr id="100" name="Ellipse 100"/>
            <p:cNvSpPr/>
            <p:nvPr/>
          </p:nvSpPr>
          <p:spPr>
            <a:xfrm>
              <a:off x="7741920" y="2110740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1" name="TextBox 101"/>
            <p:cNvSpPr txBox="1"/>
            <p:nvPr/>
          </p:nvSpPr>
          <p:spPr>
            <a:xfrm>
              <a:off x="7897939" y="2054542"/>
              <a:ext cx="299694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代码行技术：33 360 行，144.5 人月，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656 680 美元</a:t>
              </a:r>
            </a:p>
          </p:txBody>
        </p:sp>
        <p:sp>
          <p:nvSpPr>
            <p:cNvPr id="102" name="Ellipse 102"/>
            <p:cNvSpPr/>
            <p:nvPr/>
          </p:nvSpPr>
          <p:spPr>
            <a:xfrm>
              <a:off x="7741920" y="2668905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3" name="TextBox 103"/>
            <p:cNvSpPr txBox="1"/>
            <p:nvPr/>
          </p:nvSpPr>
          <p:spPr>
            <a:xfrm>
              <a:off x="7897939" y="2612708"/>
              <a:ext cx="345763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任务分解技术：152.5 人月，708 075 美元</a:t>
              </a: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7727632" y="2908459"/>
              <a:ext cx="3553206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两者相差 5%～8%，可以互相印证；差得太远就说明某个</a:t>
              </a:r>
              <a:br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功能估错了。</a:t>
              </a:r>
            </a:p>
          </p:txBody>
        </p:sp>
      </p:grpSp>
      <p:grpSp>
        <p:nvGrpSpPr>
          <p:cNvPr id="114" name="c2-card-2"/>
          <p:cNvGrpSpPr/>
          <p:nvPr/>
        </p:nvGrpSpPr>
        <p:grpSpPr>
          <a:xfrm>
            <a:off x="7546658" y="3648075"/>
            <a:ext cx="4111942" cy="2502218"/>
            <a:chOff x="7546658" y="3648075"/>
            <a:chExt cx="4111942" cy="2502218"/>
          </a:xfrm>
        </p:grpSpPr>
        <p:sp>
          <p:nvSpPr>
            <p:cNvPr id="106" name="Rectangle 106"/>
            <p:cNvSpPr/>
            <p:nvPr/>
          </p:nvSpPr>
          <p:spPr>
            <a:xfrm>
              <a:off x="7546658" y="3648075"/>
              <a:ext cx="4111942" cy="2502218"/>
            </a:xfrm>
            <a:prstGeom prst="roundRect">
              <a:avLst>
                <a:gd name="adj" fmla="val 532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7" name="Rectangle 107"/>
            <p:cNvSpPr/>
            <p:nvPr/>
          </p:nvSpPr>
          <p:spPr>
            <a:xfrm>
              <a:off x="7556182" y="3781425"/>
              <a:ext cx="47625" cy="223551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08" name="Rectangle 108"/>
            <p:cNvSpPr/>
            <p:nvPr/>
          </p:nvSpPr>
          <p:spPr>
            <a:xfrm>
              <a:off x="7771448" y="3834765"/>
              <a:ext cx="1081088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9" name="TextBox 109"/>
            <p:cNvSpPr txBox="1"/>
            <p:nvPr/>
          </p:nvSpPr>
          <p:spPr>
            <a:xfrm>
              <a:off x="7845768" y="3867626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读表的两个发现</a:t>
              </a:r>
            </a:p>
          </p:txBody>
        </p:sp>
        <p:sp>
          <p:nvSpPr>
            <p:cNvPr id="110" name="Ellipse 110"/>
            <p:cNvSpPr/>
            <p:nvPr/>
          </p:nvSpPr>
          <p:spPr>
            <a:xfrm>
              <a:off x="7780020" y="4235768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1" name="TextBox 111"/>
            <p:cNvSpPr txBox="1"/>
            <p:nvPr/>
          </p:nvSpPr>
          <p:spPr>
            <a:xfrm>
              <a:off x="7936039" y="4179570"/>
              <a:ext cx="335699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设计加测试共 111.5 人月，占总量的 73%，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编码只占 17%</a:t>
              </a:r>
            </a:p>
          </p:txBody>
        </p:sp>
        <p:sp>
          <p:nvSpPr>
            <p:cNvPr id="112" name="Ellipse 112"/>
            <p:cNvSpPr/>
            <p:nvPr/>
          </p:nvSpPr>
          <p:spPr>
            <a:xfrm>
              <a:off x="7780020" y="4792980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3" name="TextBox 113"/>
            <p:cNvSpPr txBox="1"/>
            <p:nvPr/>
          </p:nvSpPr>
          <p:spPr>
            <a:xfrm>
              <a:off x="7936039" y="4736782"/>
              <a:ext cx="32712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各阶段的每人月成本不同，所以不能只看人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月总数</a:t>
              </a:r>
            </a:p>
          </p:txBody>
        </p:sp>
      </p:grpSp>
      <p:grpSp>
        <p:nvGrpSpPr>
          <p:cNvPr id="11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15" name="TextBox 115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第2章 可行性研究</a:t>
              </a:r>
            </a:p>
          </p:txBody>
        </p:sp>
        <p:sp>
          <p:nvSpPr>
            <p:cNvPr id="116" name="TextBox 11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第2章 可行性研究 · 成本／效益分析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成本／效益分析的方法与货币的时间价值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9" name="c1-card-1"/>
          <p:cNvGrpSpPr/>
          <p:nvPr/>
        </p:nvGrpSpPr>
        <p:grpSpPr>
          <a:xfrm>
            <a:off x="533400" y="1524000"/>
            <a:ext cx="4977765" cy="2600325"/>
            <a:chOff x="533400" y="1524000"/>
            <a:chExt cx="4977765" cy="260032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2600325"/>
            </a:xfrm>
            <a:prstGeom prst="roundRect">
              <a:avLst>
                <a:gd name="adj" fmla="val 512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333625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8190" y="1710690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2759" y="1743551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分析步骤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66762" y="2110740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22782" y="2054542"/>
              <a:ext cx="41285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第一步是估计开发成本、运行费用和新系统将带来的经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济效益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66762" y="2668905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22782" y="2612708"/>
              <a:ext cx="41285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运行费用取决于系统的操作费用（操作员人数、工作时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间、消耗的物资等）和维护费用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66762" y="3226118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22782" y="3169920"/>
              <a:ext cx="41285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经济效益等于因使用新系统而增加的收入，加上可以节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省的运行费用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66762" y="3783330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22782" y="3727132"/>
              <a:ext cx="38651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进行成本／效益分析时一律假设生命周期为 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5 年</a:t>
              </a:r>
            </a:p>
          </p:txBody>
        </p:sp>
      </p:grpSp>
      <p:grpSp>
        <p:nvGrpSpPr>
          <p:cNvPr id="22" name="c1-image-2"/>
          <p:cNvGrpSpPr/>
          <p:nvPr/>
        </p:nvGrpSpPr>
        <p:grpSpPr>
          <a:xfrm>
            <a:off x="533400" y="4294822"/>
            <a:ext cx="4977765" cy="1917097"/>
            <a:chOff x="533400" y="4294822"/>
            <a:chExt cx="4977765" cy="1917097"/>
          </a:xfrm>
        </p:grpSpPr>
        <p:pic>
          <p:nvPicPr>
            <p:cNvPr id="20" name="Image 20"/>
            <p:cNvPicPr>
              <a:picLocks noChangeAspect="1"/>
            </p:cNvPicPr>
            <p:nvPr/>
          </p:nvPicPr>
          <p:blipFill>
            <a:blip r:embed="rId2"/>
            <a:srcRect l="0" t="28110" r="0" b="28109"/>
            <a:stretch>
              <a:fillRect/>
            </a:stretch>
          </p:blipFill>
          <p:spPr>
            <a:xfrm>
              <a:off x="533400" y="4294822"/>
              <a:ext cx="4977765" cy="1634490"/>
            </a:xfrm>
            <a:prstGeom prst="roundRect">
              <a:avLst>
                <a:gd name="adj" fmla="val 8158"/>
              </a:avLst>
            </a:prstGeom>
          </p:spPr>
        </p:pic>
        <p:sp>
          <p:nvSpPr>
            <p:cNvPr id="21" name="TextBox 21"/>
            <p:cNvSpPr txBox="1"/>
            <p:nvPr/>
          </p:nvSpPr>
          <p:spPr>
            <a:xfrm>
              <a:off x="1381427" y="6021229"/>
              <a:ext cx="32817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同样是 2500 元，拿到手的时间越晚，折算到今天就越少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formula10"/>
              <p:cNvSpPr txBox="1">
                <a:spLocks noGrp="1"/>
              </p:cNvSpPr>
              <p:nvPr/>
            </p:nvSpPr>
            <p:spPr>
              <a:xfrm>
                <a:off x="5815965" y="1524000"/>
                <a:ext cx="5842635" cy="5915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F</m:t>
                      </m:r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P</m:t>
                      </m:r>
                      <m:sSup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</m:e>
                          </m:d>
                        </m:e>
                        <m:sup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p>
                      </m:sSup>
                      <m: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P</m:t>
                      </m:r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F</m:t>
                          </m:r>
                        </m:num>
                        <m:den>
                          <m:sSup>
                            <m:e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+</m:t>
                                  </m:r>
                                  <m: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</m:e>
                              </m:d>
                            </m:e>
                            <m:sup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</a:p>
            </p:txBody>
          </p:sp>
        </mc:Choice>
      </mc:AlternateContent>
      <p:grpSp>
        <p:nvGrpSpPr>
          <p:cNvPr id="25" name="c2-text-2"/>
          <p:cNvGrpSpPr/>
          <p:nvPr/>
        </p:nvGrpSpPr>
        <p:grpSpPr>
          <a:xfrm>
            <a:off x="5810250" y="2303621"/>
            <a:ext cx="5046726" cy="220028"/>
            <a:chOff x="5810250" y="2303621"/>
            <a:chExt cx="5046726" cy="220028"/>
          </a:xfrm>
        </p:grpSpPr>
        <p:sp>
          <p:nvSpPr>
            <p:cNvPr id="24" name="TextBox 24"/>
            <p:cNvSpPr txBox="1"/>
            <p:nvPr/>
          </p:nvSpPr>
          <p:spPr>
            <a:xfrm>
              <a:off x="5810250" y="2303621"/>
              <a:ext cx="50467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 是年利率，P 是现在存入的钱数，n 是年数，F 是 n 年后可以获得的钱数。</a:t>
              </a:r>
            </a:p>
          </p:txBody>
        </p:sp>
      </p:grpSp>
      <p:grpSp>
        <p:nvGrpSpPr>
          <p:cNvPr id="69" name="c2-table-3"/>
          <p:cNvGrpSpPr/>
          <p:nvPr/>
        </p:nvGrpSpPr>
        <p:grpSpPr>
          <a:xfrm>
            <a:off x="5811012" y="2649855"/>
            <a:ext cx="5847588" cy="2897219"/>
            <a:chOff x="5811012" y="2649855"/>
            <a:chExt cx="5847588" cy="2897219"/>
          </a:xfrm>
        </p:grpSpPr>
        <p:sp>
          <p:nvSpPr>
            <p:cNvPr id="26" name="Rectangle 26"/>
            <p:cNvSpPr/>
            <p:nvPr/>
          </p:nvSpPr>
          <p:spPr>
            <a:xfrm>
              <a:off x="5815965" y="2649855"/>
              <a:ext cx="5842635" cy="439102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092571" y="2774632"/>
              <a:ext cx="1954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年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830949" y="2774632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将来值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921258" y="2774632"/>
              <a:ext cx="5957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(1+i)ⁿ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137904" y="2774632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现在值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303574" y="2774632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累计的现在值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130963" y="3213735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146646" y="3213735"/>
              <a:ext cx="4135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2500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272501" y="3213735"/>
              <a:ext cx="4135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1.12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243270" y="3213735"/>
              <a:ext cx="7134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2232.14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849185" y="3213735"/>
              <a:ext cx="7134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2232.14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815965" y="352234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5815965" y="3527108"/>
              <a:ext cx="5842635" cy="43910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130963" y="3652838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146646" y="3652838"/>
              <a:ext cx="4135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2500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272501" y="3652838"/>
              <a:ext cx="4135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1.25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243270" y="3652838"/>
              <a:ext cx="7134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1992.98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849185" y="3652838"/>
              <a:ext cx="7134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4225.12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815965" y="396144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130963" y="4091940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146646" y="4091940"/>
              <a:ext cx="4135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2500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272501" y="4091940"/>
              <a:ext cx="4135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1.40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243270" y="4091940"/>
              <a:ext cx="7134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1779.45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0849185" y="4091940"/>
              <a:ext cx="7134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6004.57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815965" y="440055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5815965" y="4405312"/>
              <a:ext cx="5842635" cy="43910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130963" y="4530090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146646" y="4530090"/>
              <a:ext cx="4135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2500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272501" y="4530090"/>
              <a:ext cx="4135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1.57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243270" y="4530090"/>
              <a:ext cx="7134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1588.80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0849185" y="4530090"/>
              <a:ext cx="7134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7593.37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5815965" y="483965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130963" y="4969192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146646" y="4969192"/>
              <a:ext cx="4135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2500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272501" y="4969192"/>
              <a:ext cx="4135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1.76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9243270" y="4969192"/>
              <a:ext cx="7134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1418.57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0849185" y="4969192"/>
              <a:ext cx="7134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9011.94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5815965" y="2649855"/>
              <a:ext cx="5842635" cy="263366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4" name="Rectangle 64"/>
            <p:cNvSpPr/>
            <p:nvPr/>
          </p:nvSpPr>
          <p:spPr>
            <a:xfrm>
              <a:off x="6559868" y="2649855"/>
              <a:ext cx="9525" cy="26336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7651432" y="2649855"/>
              <a:ext cx="9525" cy="26336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8777288" y="2649855"/>
              <a:ext cx="9525" cy="26336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10047922" y="2649855"/>
              <a:ext cx="9525" cy="26336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5811012" y="5356384"/>
              <a:ext cx="52408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每年节省 2500 元时的现值表；原课件未写明年利率，由 2500 ÷ 2232.14 反算得 i ＝ 12%</a:t>
              </a:r>
            </a:p>
          </p:txBody>
        </p:sp>
      </p:grpSp>
      <p:grpSp>
        <p:nvGrpSpPr>
          <p:cNvPr id="7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0" name="TextBox 70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第2章 可行性研究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831842" cy="909257"/>
            <a:chOff x="520446" y="342900"/>
            <a:chExt cx="48318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第2章 可行性研究 · 成本／效益分析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8318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四项评价指标，用一道题算一遍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4544378" cy="1185862"/>
            <a:chOff x="533400" y="1524000"/>
            <a:chExt cx="4544378" cy="118586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544378" cy="1185862"/>
            </a:xfrm>
            <a:prstGeom prst="roundRect">
              <a:avLst>
                <a:gd name="adj" fmla="val 1124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919162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8190" y="1710690"/>
              <a:ext cx="831532" cy="23812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9660" y="1743551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投资回收期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1332" y="2054542"/>
              <a:ext cx="39570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使累计的经济效益等于最初投资所需要的时间。回收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期越短，越快获得利润，工程越值得投资。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2879408"/>
            <a:ext cx="4544378" cy="1185862"/>
            <a:chOff x="533400" y="2879408"/>
            <a:chExt cx="4544378" cy="1185862"/>
          </a:xfrm>
        </p:grpSpPr>
        <p:sp>
          <p:nvSpPr>
            <p:cNvPr id="13" name="Rectangle 13"/>
            <p:cNvSpPr/>
            <p:nvPr/>
          </p:nvSpPr>
          <p:spPr>
            <a:xfrm>
              <a:off x="533400" y="2879408"/>
              <a:ext cx="4544378" cy="1185862"/>
            </a:xfrm>
            <a:prstGeom prst="roundRect">
              <a:avLst>
                <a:gd name="adj" fmla="val 1124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542925" y="3012758"/>
              <a:ext cx="47625" cy="919162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58190" y="3066098"/>
              <a:ext cx="582930" cy="23812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46811" y="3098959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纯收入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51332" y="3410902"/>
              <a:ext cx="39570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整个生存周期之内系统的累计经济效益（折合成现在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值）与投资之差。</a:t>
              </a:r>
            </a:p>
          </p:txBody>
        </p:sp>
      </p:grpSp>
      <p:grpSp>
        <p:nvGrpSpPr>
          <p:cNvPr id="25" name="c1-card-3"/>
          <p:cNvGrpSpPr/>
          <p:nvPr/>
        </p:nvGrpSpPr>
        <p:grpSpPr>
          <a:xfrm>
            <a:off x="533400" y="4234815"/>
            <a:ext cx="4544378" cy="2115502"/>
            <a:chOff x="533400" y="4234815"/>
            <a:chExt cx="4544378" cy="2115502"/>
          </a:xfrm>
        </p:grpSpPr>
        <p:sp>
          <p:nvSpPr>
            <p:cNvPr id="19" name="Rectangle 19"/>
            <p:cNvSpPr/>
            <p:nvPr/>
          </p:nvSpPr>
          <p:spPr>
            <a:xfrm>
              <a:off x="533400" y="4234815"/>
              <a:ext cx="4544378" cy="2115502"/>
            </a:xfrm>
            <a:prstGeom prst="roundRect">
              <a:avLst>
                <a:gd name="adj" fmla="val 630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542925" y="4368165"/>
              <a:ext cx="47625" cy="1848802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758190" y="4421505"/>
              <a:ext cx="831532" cy="23812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39660" y="4454366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投资回收率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51332" y="4766310"/>
              <a:ext cx="388848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使各年收入的现值之和恰好等于投资的年利率 j，用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来与银行年利率比较。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52475" y="5320189"/>
              <a:ext cx="3851910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回收率等于年利率时系统没有必要开发，只有大于年利率才考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虑开发。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formula14"/>
              <p:cNvSpPr txBox="1">
                <a:spLocks noGrp="1"/>
              </p:cNvSpPr>
              <p:nvPr/>
            </p:nvSpPr>
            <p:spPr>
              <a:xfrm>
                <a:off x="5382578" y="1524000"/>
                <a:ext cx="6276022" cy="5915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P</m:t>
                      </m:r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sSub>
                            <m:e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F</m:t>
                              </m:r>
                            </m:e>
                            <m:sub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j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f>
                        <m:fPr>
                          <m:type m:val="bar"/>
                          <m:ctrl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sSub>
                            <m:e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F</m:t>
                              </m:r>
                            </m:e>
                            <m:sub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p>
                            <m:e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+</m:t>
                                  </m:r>
                                  <m: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j</m:t>
                                  </m:r>
                                </m:e>
                              </m:d>
                            </m:e>
                            <m:sup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+⋯+</m:t>
                      </m:r>
                      <m:f>
                        <m:fPr>
                          <m:type m:val="bar"/>
                          <m:ctrl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sSub>
                            <m:e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F</m:t>
                              </m:r>
                            </m:e>
                            <m:sub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sub>
                          </m:sSub>
                        </m:num>
                        <m:den>
                          <m:sSup>
                            <m:e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+</m:t>
                                  </m:r>
                                  <m: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j</m:t>
                                  </m:r>
                                </m:e>
                              </m:d>
                            </m:e>
                            <m:sup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</a:p>
            </p:txBody>
          </p:sp>
        </mc:Choice>
      </mc:AlternateContent>
      <p:grpSp>
        <p:nvGrpSpPr>
          <p:cNvPr id="49" name="c2-card-2"/>
          <p:cNvGrpSpPr/>
          <p:nvPr/>
        </p:nvGrpSpPr>
        <p:grpSpPr>
          <a:xfrm>
            <a:off x="5382578" y="2285048"/>
            <a:ext cx="6276022" cy="3414712"/>
            <a:chOff x="5382578" y="2285048"/>
            <a:chExt cx="6276022" cy="3414712"/>
          </a:xfrm>
        </p:grpSpPr>
        <p:sp>
          <p:nvSpPr>
            <p:cNvPr id="27" name="Rectangle 27"/>
            <p:cNvSpPr/>
            <p:nvPr/>
          </p:nvSpPr>
          <p:spPr>
            <a:xfrm>
              <a:off x="5382578" y="2285048"/>
              <a:ext cx="6276022" cy="3414712"/>
            </a:xfrm>
            <a:prstGeom prst="roundRect">
              <a:avLst>
                <a:gd name="adj" fmla="val 390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5392102" y="2418398"/>
              <a:ext cx="47625" cy="314801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5607368" y="247173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700039" y="250459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例题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173914" y="2506980"/>
              <a:ext cx="41991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投资 6000 元，5 年每年节省 2500 元，年利率 12%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740718" y="2963228"/>
              <a:ext cx="19050" cy="19564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5607368" y="2820352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700991" y="289417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5607368" y="3403282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700991" y="34771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5607368" y="4193858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700991" y="426767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5607368" y="4776788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700991" y="48506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019610" y="2851785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累计现值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020752" y="3119914"/>
              <a:ext cx="27706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用上一页的现值表，5 年累计 9011.94 元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019610" y="3434715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投资回收期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020752" y="3702844"/>
              <a:ext cx="5060950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 2 年累计 4225.12 元，还差 1774.88 元；第 3 年现值 1779.45 元，1774.88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÷ 1779.45 ≈ 0.997，回收期约 3.0 年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019610" y="4225290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纯收入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020752" y="4492466"/>
              <a:ext cx="21825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9011.94 － 6000 ＝ 3011.94 元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019610" y="480822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投资回收率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020752" y="5075396"/>
              <a:ext cx="5117846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 Σ 1/(1+j)ᵏ ＝ 6000 ÷ 2500 ＝ 2.4；j ＝ 30% 得 2.436，j ＝ 32% 得 2.345，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插值得 j ≈ 30.8%</a:t>
              </a:r>
            </a:p>
          </p:txBody>
        </p:sp>
      </p:grpSp>
      <p:grpSp>
        <p:nvGrpSpPr>
          <p:cNvPr id="55" name="c2-callout-3"/>
          <p:cNvGrpSpPr/>
          <p:nvPr/>
        </p:nvGrpSpPr>
        <p:grpSpPr>
          <a:xfrm>
            <a:off x="5382578" y="5870258"/>
            <a:ext cx="6276022" cy="481012"/>
            <a:chOff x="5382578" y="5870258"/>
            <a:chExt cx="6276022" cy="481012"/>
          </a:xfrm>
        </p:grpSpPr>
        <p:sp>
          <p:nvSpPr>
            <p:cNvPr id="50" name="Rectangle 50"/>
            <p:cNvSpPr/>
            <p:nvPr/>
          </p:nvSpPr>
          <p:spPr>
            <a:xfrm>
              <a:off x="5382578" y="5870258"/>
              <a:ext cx="6276022" cy="481012"/>
            </a:xfrm>
            <a:prstGeom prst="roundRect">
              <a:avLst>
                <a:gd name="adj" fmla="val 23762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5587365" y="6010275"/>
              <a:ext cx="200026" cy="200026"/>
              <a:chOff x="5587365" y="6010275"/>
              <a:chExt cx="200026" cy="200026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5587365" y="601027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5654040" y="6088063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5890070" y="6015990"/>
              <a:ext cx="395740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30.8% 远高于 12% 的年利率，这笔投资值得做。</a:t>
              </a:r>
            </a:p>
          </p:txBody>
        </p:sp>
      </p:grpSp>
      <p:grpSp>
        <p:nvGrpSpPr>
          <p:cNvPr id="5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6" name="TextBox 56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第2章 可行性研究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085594" cy="909257"/>
            <a:chOff x="520446" y="342900"/>
            <a:chExt cx="20855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96297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9866" y="407194"/>
              <a:ext cx="7490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第2章 自测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自测题（一）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2739771" cy="264033"/>
            <a:chOff x="526542" y="1545907"/>
            <a:chExt cx="2739771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先盖住答案自己写一遍，再对照。</a:t>
              </a:r>
            </a:p>
          </p:txBody>
        </p:sp>
      </p:grpSp>
      <p:grpSp>
        <p:nvGrpSpPr>
          <p:cNvPr id="14" name="c1-card-1"/>
          <p:cNvGrpSpPr/>
          <p:nvPr/>
        </p:nvGrpSpPr>
        <p:grpSpPr>
          <a:xfrm>
            <a:off x="533400" y="1928812"/>
            <a:ext cx="5410200" cy="1485900"/>
            <a:chOff x="533400" y="1928812"/>
            <a:chExt cx="5410200" cy="1485900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410200" cy="1485900"/>
            </a:xfrm>
            <a:prstGeom prst="roundRect">
              <a:avLst>
                <a:gd name="adj" fmla="val 8974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720090" y="2115502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09547" y="2148364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13232" y="2459355"/>
              <a:ext cx="47388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可行性研究应着重考虑哪几个方面？最根本的任务是什么？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13232" y="2759392"/>
              <a:ext cx="48143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技术、经济、操作、法律四个方面，再加上开发方案的选择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性研究。最根本的任务是对以后的行动方针提出建议。</a:t>
              </a:r>
            </a:p>
          </p:txBody>
        </p:sp>
      </p:grpSp>
      <p:grpSp>
        <p:nvGrpSpPr>
          <p:cNvPr id="20" name="c1-card-2"/>
          <p:cNvGrpSpPr/>
          <p:nvPr/>
        </p:nvGrpSpPr>
        <p:grpSpPr>
          <a:xfrm>
            <a:off x="533400" y="3584258"/>
            <a:ext cx="5410200" cy="2000250"/>
            <a:chOff x="533400" y="3584258"/>
            <a:chExt cx="5410200" cy="2000250"/>
          </a:xfrm>
        </p:grpSpPr>
        <p:sp>
          <p:nvSpPr>
            <p:cNvPr id="15" name="Rectangle 15"/>
            <p:cNvSpPr/>
            <p:nvPr/>
          </p:nvSpPr>
          <p:spPr>
            <a:xfrm>
              <a:off x="533400" y="3584258"/>
              <a:ext cx="5410200" cy="2000250"/>
            </a:xfrm>
            <a:prstGeom prst="roundRect">
              <a:avLst>
                <a:gd name="adj" fmla="val 666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20090" y="377094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09547" y="380380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13232" y="4115752"/>
              <a:ext cx="44694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数据流图有哪四种成分？加工编号 3.3.2 说明了什么？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13232" y="4415790"/>
              <a:ext cx="482288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源点／终点、加工、数据存储、数据流。3.3.2 是图号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3.3 中的第 2 个加工，父加工是 3.3，再往上是 0 层的加工 3。</a:t>
              </a:r>
            </a:p>
          </p:txBody>
        </p:sp>
      </p:grpSp>
      <p:grpSp>
        <p:nvGrpSpPr>
          <p:cNvPr id="26" name="c2-card-1"/>
          <p:cNvGrpSpPr/>
          <p:nvPr/>
        </p:nvGrpSpPr>
        <p:grpSpPr>
          <a:xfrm>
            <a:off x="6248400" y="1928812"/>
            <a:ext cx="5410200" cy="1485900"/>
            <a:chOff x="6248400" y="1928812"/>
            <a:chExt cx="5410200" cy="1485900"/>
          </a:xfrm>
        </p:grpSpPr>
        <p:sp>
          <p:nvSpPr>
            <p:cNvPr id="21" name="Rectangle 21"/>
            <p:cNvSpPr/>
            <p:nvPr/>
          </p:nvSpPr>
          <p:spPr>
            <a:xfrm>
              <a:off x="6248400" y="1928812"/>
              <a:ext cx="5410200" cy="1485900"/>
            </a:xfrm>
            <a:prstGeom prst="roundRect">
              <a:avLst>
                <a:gd name="adj" fmla="val 8974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6435090" y="2115502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524547" y="2148364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28232" y="2459355"/>
              <a:ext cx="38301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系统流程图和程序流程图的箭头分别表示什么？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28232" y="2759392"/>
              <a:ext cx="48143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系统流程图的箭头表示数据流动方向，程序流程图的箭头表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示控制转移方向。</a:t>
              </a:r>
            </a:p>
          </p:txBody>
        </p:sp>
      </p:grpSp>
      <p:grpSp>
        <p:nvGrpSpPr>
          <p:cNvPr id="32" name="c2-card-2"/>
          <p:cNvGrpSpPr/>
          <p:nvPr/>
        </p:nvGrpSpPr>
        <p:grpSpPr>
          <a:xfrm>
            <a:off x="6248400" y="3584258"/>
            <a:ext cx="5410200" cy="2000250"/>
            <a:chOff x="6248400" y="3584258"/>
            <a:chExt cx="5410200" cy="2000250"/>
          </a:xfrm>
        </p:grpSpPr>
        <p:sp>
          <p:nvSpPr>
            <p:cNvPr id="27" name="Rectangle 27"/>
            <p:cNvSpPr/>
            <p:nvPr/>
          </p:nvSpPr>
          <p:spPr>
            <a:xfrm>
              <a:off x="6248400" y="3584258"/>
              <a:ext cx="5410200" cy="2000250"/>
            </a:xfrm>
            <a:prstGeom prst="roundRect">
              <a:avLst>
                <a:gd name="adj" fmla="val 666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35090" y="377094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524547" y="380380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428232" y="4115752"/>
              <a:ext cx="46428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什么叫父图和子图的平衡？父图的一条数据流在子图里分成几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股，还算平衡吗？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428232" y="4672965"/>
              <a:ext cx="481431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子图的输入输出数据流必须与父图中对应加工的输入输出数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据流一致。父图的一条数据流在子图中细分成若干子数据流时仍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然算平衡。</a:t>
              </a:r>
            </a:p>
          </p:txBody>
        </p:sp>
      </p:grpSp>
      <p:grpSp>
        <p:nvGrpSpPr>
          <p:cNvPr id="39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33" name="Rectangle 33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738188" y="6022658"/>
              <a:ext cx="200026" cy="200025"/>
              <a:chOff x="738188" y="6022658"/>
              <a:chExt cx="200026" cy="200025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738188" y="602265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777926" y="606710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812642" y="617823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1040892" y="6028373"/>
              <a:ext cx="49478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 3 题常考：给一个编号要能说出它在第几层、父加工是谁。</a:t>
              </a:r>
            </a:p>
          </p:txBody>
        </p:sp>
      </p:grpSp>
      <p:grpSp>
        <p:nvGrpSpPr>
          <p:cNvPr id="4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0" name="TextBox 40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第2章 可行性研究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085594" cy="909257"/>
            <a:chOff x="520446" y="342900"/>
            <a:chExt cx="20855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96297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9866" y="407194"/>
              <a:ext cx="7490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第2章 自测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自测题（二）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1840230"/>
            <a:chOff x="533400" y="1524000"/>
            <a:chExt cx="5410200" cy="184023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840230"/>
            </a:xfrm>
            <a:prstGeom prst="roundRect">
              <a:avLst>
                <a:gd name="adj" fmla="val 7246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31520" y="172212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20468" y="175641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24281" y="2082641"/>
              <a:ext cx="4487361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解释 x ＝ 3{a}8、x ＝ (a)、x ＝ “001”..“999” 的含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义。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24281" y="2672239"/>
              <a:ext cx="4766437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由 3 到 8 个 a 组成；a 在 x 中可有可无（重复零次或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一次）；x 是取值为 001 到 999 中任一值的基本数据元素。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3544252"/>
            <a:ext cx="5410200" cy="2111692"/>
            <a:chOff x="533400" y="3544252"/>
            <a:chExt cx="5410200" cy="2111692"/>
          </a:xfrm>
        </p:grpSpPr>
        <p:sp>
          <p:nvSpPr>
            <p:cNvPr id="13" name="Rectangle 13"/>
            <p:cNvSpPr/>
            <p:nvPr/>
          </p:nvSpPr>
          <p:spPr>
            <a:xfrm>
              <a:off x="533400" y="3544252"/>
              <a:ext cx="5410200" cy="2111692"/>
            </a:xfrm>
            <a:prstGeom prst="roundRect">
              <a:avLst>
                <a:gd name="adj" fmla="val 631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31520" y="3742372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20468" y="3776662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24281" y="4102894"/>
              <a:ext cx="4664545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一位国外头等舱的残疾乘客托运 50 公斤行李，应收多少行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李费？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24281" y="4692491"/>
              <a:ext cx="4676267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超重 20 公斤。国外头等舱正常乘客每公斤 8 元，残疾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减半为 4 元，(50－30)×4 ＝ 80 元。</a:t>
              </a:r>
            </a:p>
          </p:txBody>
        </p:sp>
      </p:grpSp>
      <p:grpSp>
        <p:nvGrpSpPr>
          <p:cNvPr id="24" name="c2-card-1"/>
          <p:cNvGrpSpPr/>
          <p:nvPr/>
        </p:nvGrpSpPr>
        <p:grpSpPr>
          <a:xfrm>
            <a:off x="6248400" y="1524000"/>
            <a:ext cx="5410200" cy="1840230"/>
            <a:chOff x="6248400" y="1524000"/>
            <a:chExt cx="5410200" cy="1840230"/>
          </a:xfrm>
        </p:grpSpPr>
        <p:sp>
          <p:nvSpPr>
            <p:cNvPr id="19" name="Rectangle 19"/>
            <p:cNvSpPr/>
            <p:nvPr/>
          </p:nvSpPr>
          <p:spPr>
            <a:xfrm>
              <a:off x="6248400" y="1524000"/>
              <a:ext cx="5410200" cy="1840230"/>
            </a:xfrm>
            <a:prstGeom prst="roundRect">
              <a:avLst>
                <a:gd name="adj" fmla="val 7246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6446520" y="172212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535468" y="175641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39281" y="2082641"/>
              <a:ext cx="47299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检查发货单：某张发货单金额 400 美元、欠款 70 天，应该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怎么处理？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39281" y="2672239"/>
              <a:ext cx="461314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金额 ≤ $500 且欠款超过 60 天，对应判定表第 3 列：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发出批准书、发货单及赊欠报告。</a:t>
              </a:r>
            </a:p>
          </p:txBody>
        </p:sp>
      </p:grpSp>
      <p:grpSp>
        <p:nvGrpSpPr>
          <p:cNvPr id="30" name="c2-card-2"/>
          <p:cNvGrpSpPr/>
          <p:nvPr/>
        </p:nvGrpSpPr>
        <p:grpSpPr>
          <a:xfrm>
            <a:off x="6248400" y="3544252"/>
            <a:ext cx="5410200" cy="2111692"/>
            <a:chOff x="6248400" y="3544252"/>
            <a:chExt cx="5410200" cy="2111692"/>
          </a:xfrm>
        </p:grpSpPr>
        <p:sp>
          <p:nvSpPr>
            <p:cNvPr id="25" name="Rectangle 25"/>
            <p:cNvSpPr/>
            <p:nvPr/>
          </p:nvSpPr>
          <p:spPr>
            <a:xfrm>
              <a:off x="6248400" y="3544252"/>
              <a:ext cx="5410200" cy="2111692"/>
            </a:xfrm>
            <a:prstGeom prst="roundRect">
              <a:avLst>
                <a:gd name="adj" fmla="val 631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446520" y="3742372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35468" y="3776662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39281" y="4102894"/>
              <a:ext cx="471909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某系统投资 6000 元，今后 5 年每年可节省 2500 元，年利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率 12%。纯收入和投资回收期各是多少？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39281" y="4692491"/>
              <a:ext cx="4829556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 年累计现值 9011.94 元，纯收入 ＝ 9011.94 －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6000 ＝ 3011.94 元；前 2 年累计 4225.12 元，第 3 年现值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1779.45 元，回收期约 3.0 年。</a:t>
              </a:r>
            </a:p>
          </p:txBody>
        </p:sp>
      </p:grpSp>
      <p:grpSp>
        <p:nvGrpSpPr>
          <p:cNvPr id="36" name="takeaway"/>
          <p:cNvGrpSpPr/>
          <p:nvPr/>
        </p:nvGrpSpPr>
        <p:grpSpPr>
          <a:xfrm>
            <a:off x="533400" y="5858828"/>
            <a:ext cx="11125200" cy="503872"/>
            <a:chOff x="533400" y="5858828"/>
            <a:chExt cx="11125200" cy="503872"/>
          </a:xfrm>
        </p:grpSpPr>
        <p:sp>
          <p:nvSpPr>
            <p:cNvPr id="31" name="Rectangle 31"/>
            <p:cNvSpPr/>
            <p:nvPr/>
          </p:nvSpPr>
          <p:spPr>
            <a:xfrm>
              <a:off x="533400" y="5858828"/>
              <a:ext cx="11125200" cy="503872"/>
            </a:xfrm>
            <a:prstGeom prst="roundRect">
              <a:avLst>
                <a:gd name="adj" fmla="val 22684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738188" y="6011230"/>
              <a:ext cx="200023" cy="200023"/>
              <a:chOff x="738188" y="6011230"/>
              <a:chExt cx="200023" cy="200023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738188" y="601123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871538" y="607790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1040511" y="6011704"/>
              <a:ext cx="594045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计算题写出每一步：先折现值，再累计，最后才回答回收期或纯收入。</a:t>
              </a:r>
            </a:p>
          </p:txBody>
        </p:sp>
      </p:grpSp>
      <p:grpSp>
        <p:nvGrpSpPr>
          <p:cNvPr id="3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7" name="TextBox 37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第2章 可行性研究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402652" cy="909257"/>
            <a:chOff x="520446" y="342900"/>
            <a:chExt cx="140265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38969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7064" y="407194"/>
              <a:ext cx="12014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第2章 可行性研究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本章小结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0" name="c1-table-1"/>
          <p:cNvGrpSpPr/>
          <p:nvPr/>
        </p:nvGrpSpPr>
        <p:grpSpPr>
          <a:xfrm>
            <a:off x="533400" y="1524000"/>
            <a:ext cx="5842635" cy="2800350"/>
            <a:chOff x="533400" y="1524000"/>
            <a:chExt cx="5842635" cy="280035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40005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44715" y="1645444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节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153996" y="164544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核心内容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633074" y="1645444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必须会做的事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0555" y="2045494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214438" y="2045494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任务：目的、实质、四类可行性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902392" y="2045494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说出四个方面和最根本的任务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31933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324100"/>
              <a:ext cx="584263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0555" y="2445544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214438" y="2445544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过程：八个步骤、四次模型转换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902392" y="2445544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解释抽象化与实例化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71938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0555" y="2845594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214438" y="2845594"/>
              <a:ext cx="22730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系统流程图：符号、黑盒子、分层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902392" y="2845594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按题意画出系统流程图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11943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124200"/>
              <a:ext cx="584263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0555" y="3245644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2.4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214438" y="3245644"/>
              <a:ext cx="22730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数据流图：四种成分、分层、命名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902392" y="3245644"/>
              <a:ext cx="15760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画分层 DFD 并检查平衡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351948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0555" y="3645694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2.5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214438" y="3645694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数据字典：四类条目、定义符号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902392" y="3645694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写定义式，画判定表和判定树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391953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33400" y="3924300"/>
              <a:ext cx="584263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30555" y="4045744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2.6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214438" y="4045744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成本／效益：成本估计、现值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902392" y="4045744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算回收期、纯收入、回收率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1524000"/>
              <a:ext cx="5842635" cy="28003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1112520" y="1524000"/>
              <a:ext cx="9525" cy="28003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3800475" y="1524000"/>
              <a:ext cx="9525" cy="28003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1" name="c1-card-2"/>
          <p:cNvGrpSpPr/>
          <p:nvPr/>
        </p:nvGrpSpPr>
        <p:grpSpPr>
          <a:xfrm>
            <a:off x="533400" y="4493895"/>
            <a:ext cx="5842635" cy="1790700"/>
            <a:chOff x="533400" y="4493895"/>
            <a:chExt cx="5842635" cy="1790700"/>
          </a:xfrm>
        </p:grpSpPr>
        <p:sp>
          <p:nvSpPr>
            <p:cNvPr id="41" name="Rectangle 41"/>
            <p:cNvSpPr/>
            <p:nvPr/>
          </p:nvSpPr>
          <p:spPr>
            <a:xfrm>
              <a:off x="533400" y="4493895"/>
              <a:ext cx="5842635" cy="1790700"/>
            </a:xfrm>
            <a:prstGeom prst="roundRect">
              <a:avLst>
                <a:gd name="adj" fmla="val 744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542925" y="4627245"/>
              <a:ext cx="47625" cy="152400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758190" y="4680585"/>
              <a:ext cx="1454468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820357" y="4713446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本讲义对原课件的更正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766762" y="5081588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922782" y="5025390"/>
              <a:ext cx="48024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2.2.1 输出“核准后的分房单”，“最地”应为“最低住房分数”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766762" y="5381625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922782" y="5325428"/>
              <a:ext cx="32940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2.2.2 的记录写入住房文件、输出住房单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766762" y="5681662"/>
              <a:ext cx="59055" cy="5905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922782" y="5625465"/>
              <a:ext cx="34485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小说明里 3.1、3.4 的加工名应与图上一致</a:t>
              </a:r>
            </a:p>
          </p:txBody>
        </p:sp>
      </p:grpSp>
      <p:grpSp>
        <p:nvGrpSpPr>
          <p:cNvPr id="70" name="c2-bullets-1"/>
          <p:cNvGrpSpPr/>
          <p:nvPr/>
        </p:nvGrpSpPr>
        <p:grpSpPr>
          <a:xfrm>
            <a:off x="6680835" y="1534478"/>
            <a:ext cx="5019675" cy="3104388"/>
            <a:chOff x="6680835" y="1534478"/>
            <a:chExt cx="5019675" cy="3104388"/>
          </a:xfrm>
        </p:grpSpPr>
        <p:sp>
          <p:nvSpPr>
            <p:cNvPr id="52" name="Ellipse 52"/>
            <p:cNvSpPr/>
            <p:nvPr/>
          </p:nvSpPr>
          <p:spPr>
            <a:xfrm>
              <a:off x="6680835" y="1534478"/>
              <a:ext cx="192405" cy="19240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736513" y="157286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961632" y="1545907"/>
              <a:ext cx="44714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可行性研究是压缩、简化的分析与设计，成本约占预期总成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本的 5％～10％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6680835" y="2100262"/>
              <a:ext cx="192405" cy="19240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736513" y="2138648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961632" y="2111692"/>
              <a:ext cx="44714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从当前系统的物理模型抽象出逻辑模型，再实例化成目标系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统的物理模型</a:t>
              </a:r>
            </a:p>
          </p:txBody>
        </p:sp>
        <p:sp>
          <p:nvSpPr>
            <p:cNvPr id="58" name="Ellipse 58"/>
            <p:cNvSpPr/>
            <p:nvPr/>
          </p:nvSpPr>
          <p:spPr>
            <a:xfrm>
              <a:off x="6680835" y="2666048"/>
              <a:ext cx="192405" cy="19240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736513" y="270443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961632" y="2677477"/>
              <a:ext cx="44714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系统流程图描绘物理系统，数据流图描绘逻辑模型，两者的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箭头都是数据</a:t>
              </a:r>
            </a:p>
          </p:txBody>
        </p:sp>
        <p:sp>
          <p:nvSpPr>
            <p:cNvPr id="61" name="Ellipse 61"/>
            <p:cNvSpPr/>
            <p:nvPr/>
          </p:nvSpPr>
          <p:spPr>
            <a:xfrm>
              <a:off x="6680835" y="3231832"/>
              <a:ext cx="192405" cy="19240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736513" y="3270218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961632" y="3243262"/>
              <a:ext cx="47388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分层数据流图靠编号定位，父图与子图的输入输出必须平衡</a:t>
              </a:r>
            </a:p>
          </p:txBody>
        </p:sp>
        <p:sp>
          <p:nvSpPr>
            <p:cNvPr id="64" name="Ellipse 64"/>
            <p:cNvSpPr/>
            <p:nvPr/>
          </p:nvSpPr>
          <p:spPr>
            <a:xfrm>
              <a:off x="6680835" y="3540442"/>
              <a:ext cx="192405" cy="19240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736513" y="3578828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961632" y="3551872"/>
              <a:ext cx="42999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数据字典给图上每个名字一个定义，加工逻辑用结构化英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语、判定表、判定树描述</a:t>
              </a:r>
            </a:p>
          </p:txBody>
        </p:sp>
        <p:sp>
          <p:nvSpPr>
            <p:cNvPr id="67" name="Ellipse 67"/>
            <p:cNvSpPr/>
            <p:nvPr/>
          </p:nvSpPr>
          <p:spPr>
            <a:xfrm>
              <a:off x="6680835" y="4106227"/>
              <a:ext cx="192405" cy="19240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6736513" y="414461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961632" y="4117658"/>
              <a:ext cx="44714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成本／效益分析把将来的收益折成现值，再看回收期、纯收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入和投资回收率</a:t>
              </a:r>
            </a:p>
          </p:txBody>
        </p:sp>
      </p:grpSp>
      <p:grpSp>
        <p:nvGrpSpPr>
          <p:cNvPr id="80" name="c2-card-2"/>
          <p:cNvGrpSpPr/>
          <p:nvPr/>
        </p:nvGrpSpPr>
        <p:grpSpPr>
          <a:xfrm>
            <a:off x="6680835" y="4755832"/>
            <a:ext cx="4977765" cy="1528762"/>
            <a:chOff x="6680835" y="4755832"/>
            <a:chExt cx="4977765" cy="1528762"/>
          </a:xfrm>
        </p:grpSpPr>
        <p:sp>
          <p:nvSpPr>
            <p:cNvPr id="71" name="Rectangle 71"/>
            <p:cNvSpPr/>
            <p:nvPr/>
          </p:nvSpPr>
          <p:spPr>
            <a:xfrm>
              <a:off x="6680835" y="4755832"/>
              <a:ext cx="4977765" cy="1528762"/>
            </a:xfrm>
            <a:prstGeom prst="roundRect">
              <a:avLst>
                <a:gd name="adj" fmla="val 8723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72" name="Rectangle 72"/>
            <p:cNvSpPr/>
            <p:nvPr/>
          </p:nvSpPr>
          <p:spPr>
            <a:xfrm>
              <a:off x="6867525" y="4942522"/>
              <a:ext cx="1204912" cy="238125"/>
            </a:xfrm>
            <a:prstGeom prst="roundRect">
              <a:avLst>
                <a:gd name="adj" fmla="val 50000"/>
              </a:avLst>
            </a:prstGeom>
            <a:solidFill>
              <a:srgbClr val="243B53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6937794" y="4975384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复习时动手练三样</a:t>
              </a:r>
            </a:p>
          </p:txBody>
        </p:sp>
        <p:sp>
          <p:nvSpPr>
            <p:cNvPr id="74" name="Ellipse 74"/>
            <p:cNvSpPr/>
            <p:nvPr/>
          </p:nvSpPr>
          <p:spPr>
            <a:xfrm>
              <a:off x="6876098" y="5343525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7032117" y="5287328"/>
              <a:ext cx="41936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按题意画一张分层数据流图，检查父图子图是否平衡</a:t>
              </a:r>
            </a:p>
          </p:txBody>
        </p:sp>
        <p:sp>
          <p:nvSpPr>
            <p:cNvPr id="76" name="Ellipse 76"/>
            <p:cNvSpPr/>
            <p:nvPr/>
          </p:nvSpPr>
          <p:spPr>
            <a:xfrm>
              <a:off x="6876098" y="5643562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7032117" y="5587365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写一组数据流定义式，符号要用对</a:t>
              </a:r>
            </a:p>
          </p:txBody>
        </p:sp>
        <p:sp>
          <p:nvSpPr>
            <p:cNvPr id="78" name="Ellipse 78"/>
            <p:cNvSpPr/>
            <p:nvPr/>
          </p:nvSpPr>
          <p:spPr>
            <a:xfrm>
              <a:off x="6876098" y="5943600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7032117" y="5887402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算一遍现值、投资回收期和纯收入</a:t>
              </a:r>
            </a:p>
          </p:txBody>
        </p:sp>
      </p:grpSp>
      <p:grpSp>
        <p:nvGrpSpPr>
          <p:cNvPr id="8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1" name="TextBox 81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软件工程 · 第2章 可行性研究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se_ch02">
  <a:themeElements>
    <a:clrScheme name="se_ch0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e_ch02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e_ch0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53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2026-09-19T03:23:41Z</dcterms:created>
  <dcterms:modified xsi:type="dcterms:W3CDTF">2026-09-19T03:23:41Z</dcterms:modified>
  <cp:category/>
  <cp:contentStatus/>
</cp:coreProperties>
</file>