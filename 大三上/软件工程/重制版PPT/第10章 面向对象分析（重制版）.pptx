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e_ch10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e_ch10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9daa2c456ed15d2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7b1b90460fd714f8.png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74cf9b18da44ef3a.png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4874514" cy="3437763"/>
            <a:chOff x="666750" y="1619250"/>
            <a:chExt cx="4874514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593532" cy="3429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14010" y="1718310"/>
              <a:ext cx="13380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软件工程 · 第十章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3430524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面向对象分析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48646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从用例和场景，走到可以交给设计的分析模型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用例与场景怎么写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包含扩展泛化三种关系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边界控制实体三类分析类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9860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顺序图与参与类图 VOPC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131050" cy="205359"/>
            <a:chOff x="680466" y="6192202"/>
            <a:chExt cx="4131050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1310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自学复习版｜据吉林大学《软件工程》第十章课件整理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61353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0536" y="407194"/>
              <a:ext cx="14392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用例与场景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42830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用例的定义、Actor、六个描述字段，场景与用例的分工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用例间的关系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42153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包含、扩展、泛化的画法，以及怎么问出 Actor 和用例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从需求提取到分析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七步提取活动、参与对象、三类分析类的划分与标识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转述用例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用顺序图把用例的行为分配到各分析对象上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整理分析类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4338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职责、关联关系、属性，汇成参与类图 VOPC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完整实例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39680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事故管理系统"报告紧急情况"从用例一路做到 VOPC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能按六个字段写出一份用例描述，并说清场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景和用例的区别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能判断两个用例之间该用包含还是扩展，并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画出对应的箭头方向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能把一个用例拆成实体、边界、控制三类分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析对象，并说明各自的判定依据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能由用例的事件流画出顺序图，再由顺序图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读出每个类的职责和关联关系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59486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能解释为什么分析模型要反复循环，以及什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么时候可以转入系统设计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4" name="section-title"/>
          <p:cNvGrpSpPr/>
          <p:nvPr/>
        </p:nvGrpSpPr>
        <p:grpSpPr>
          <a:xfrm>
            <a:off x="667512" y="1835468"/>
            <a:ext cx="4269219" cy="2643187"/>
            <a:chOff x="667512" y="1835468"/>
            <a:chExt cx="4269219" cy="264318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用例与场景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593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把"用户想干什么"写成可以逐条检查的文字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用例是一次完整的典型交互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场景是用例的一个真实实例</a:t>
              </a:r>
            </a:p>
          </p:txBody>
        </p:sp>
      </p:grpSp>
      <p:grpSp>
        <p:nvGrpSpPr>
          <p:cNvPr id="1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" name="TextBox 15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用例与场景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用例：用户与系统之间为达成某个目的的一次典型交互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663666" cy="293370"/>
            <a:chOff x="525780" y="1548765"/>
            <a:chExt cx="10663666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6636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早期做需求靠「分析典型用例」，各人写得深浅不一。Jacobson 把它固定成一套写法，面向对象技术由此进入第二代。</a:t>
              </a:r>
            </a:p>
          </p:txBody>
        </p:sp>
      </p:grpSp>
      <p:grpSp>
        <p:nvGrpSpPr>
          <p:cNvPr id="20" name="c1-card-1"/>
          <p:cNvGrpSpPr/>
          <p:nvPr/>
        </p:nvGrpSpPr>
        <p:grpSpPr>
          <a:xfrm>
            <a:off x="533400" y="1954530"/>
            <a:ext cx="5842635" cy="2222182"/>
            <a:chOff x="533400" y="1954530"/>
            <a:chExt cx="5842635" cy="2222182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842635" cy="2222182"/>
            </a:xfrm>
            <a:prstGeom prst="roundRect">
              <a:avLst>
                <a:gd name="adj" fmla="val 600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195548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9620" y="215265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1060" y="218694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52931" y="2187416"/>
              <a:ext cx="162557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用例（Use Case）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381" y="2531269"/>
              <a:ext cx="50639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本质上，一个用例是用户与计算机之间为达到某个目的的一次典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型交互作用。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381" y="3120866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作为结果，一个用例代表系统的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一个完整功能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77240" y="349853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3831" y="3438049"/>
              <a:ext cx="20002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用例总是由 Actor 启动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77240" y="381571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3831" y="3756184"/>
              <a:ext cx="28980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 与用例之间是多对多的关系</a:t>
              </a:r>
            </a:p>
          </p:txBody>
        </p:sp>
      </p:grpSp>
      <p:grpSp>
        <p:nvGrpSpPr>
          <p:cNvPr id="29" name="c1-kv-2"/>
          <p:cNvGrpSpPr/>
          <p:nvPr/>
        </p:nvGrpSpPr>
        <p:grpSpPr>
          <a:xfrm>
            <a:off x="526161" y="4380071"/>
            <a:ext cx="5849874" cy="1111187"/>
            <a:chOff x="526161" y="4380071"/>
            <a:chExt cx="5849874" cy="1111187"/>
          </a:xfrm>
        </p:grpSpPr>
        <p:sp>
          <p:nvSpPr>
            <p:cNvPr id="21" name="TextBox 21"/>
            <p:cNvSpPr txBox="1"/>
            <p:nvPr/>
          </p:nvSpPr>
          <p:spPr>
            <a:xfrm>
              <a:off x="526161" y="438007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表达形式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900619" y="4380071"/>
              <a:ext cx="427194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自然语言、活动图；UML 的用例图画的是用例模型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68344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26161" y="4796314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系统交互功能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900619" y="4796314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用户在系统中为达某种目的所要做的事情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509968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6161" y="521255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用户目标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00619" y="5212556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用户真正想达到的目标</a:t>
              </a:r>
            </a:p>
          </p:txBody>
        </p:sp>
      </p:grpSp>
      <p:grpSp>
        <p:nvGrpSpPr>
          <p:cNvPr id="37" name="c2-card-1"/>
          <p:cNvGrpSpPr/>
          <p:nvPr/>
        </p:nvGrpSpPr>
        <p:grpSpPr>
          <a:xfrm>
            <a:off x="6680835" y="1954530"/>
            <a:ext cx="4977765" cy="1815465"/>
            <a:chOff x="6680835" y="1954530"/>
            <a:chExt cx="4977765" cy="1815465"/>
          </a:xfrm>
        </p:grpSpPr>
        <p:sp>
          <p:nvSpPr>
            <p:cNvPr id="30" name="Rectangle 30"/>
            <p:cNvSpPr/>
            <p:nvPr/>
          </p:nvSpPr>
          <p:spPr>
            <a:xfrm>
              <a:off x="6680835" y="1954530"/>
              <a:ext cx="4977765" cy="1815465"/>
            </a:xfrm>
            <a:prstGeom prst="roundRect">
              <a:avLst>
                <a:gd name="adj" fmla="val 7345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878955" y="215265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958394" y="218694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目的与手段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862316" y="2187416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先写目标，再写手段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871716" y="2531269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用户目标是「目的」，系统交互功能是「手段」。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871716" y="2849404"/>
              <a:ext cx="46023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应先定义满足目的的用例，再定义支撑它的手段用例。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872859" y="3163252"/>
              <a:ext cx="42793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例：目的是让调度员尽快知道火情，手段才是填一张紧急情况报</a:t>
              </a:r>
              <a:br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告表单</a:t>
              </a:r>
            </a:p>
          </p:txBody>
        </p:sp>
      </p:grpSp>
      <p:grpSp>
        <p:nvGrpSpPr>
          <p:cNvPr id="43" name="c2-bullets-2"/>
          <p:cNvGrpSpPr/>
          <p:nvPr/>
        </p:nvGrpSpPr>
        <p:grpSpPr>
          <a:xfrm>
            <a:off x="6673596" y="3973354"/>
            <a:ext cx="5035423" cy="940689"/>
            <a:chOff x="6673596" y="3973354"/>
            <a:chExt cx="5035423" cy="940689"/>
          </a:xfrm>
        </p:grpSpPr>
        <p:sp>
          <p:nvSpPr>
            <p:cNvPr id="38" name="TextBox 38"/>
            <p:cNvSpPr txBox="1"/>
            <p:nvPr/>
          </p:nvSpPr>
          <p:spPr>
            <a:xfrm>
              <a:off x="6673596" y="3973354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不算用例的写法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680835" y="4343400"/>
              <a:ext cx="108585" cy="108585"/>
            </a:xfrm>
            <a:custGeom>
              <a:avLst/>
              <a:gdLst/>
              <a:ahLst/>
              <a:cxnLst/>
              <a:rect l="l" t="t" r="r" b="b"/>
              <a:pathLst>
                <a:path w="108585" h="108585">
                  <a:moveTo>
                    <a:pt x="0" y="0"/>
                  </a:moveTo>
                  <a:lnTo>
                    <a:pt x="108585" y="108585"/>
                  </a:lnTo>
                  <a:moveTo>
                    <a:pt x="108585" y="0"/>
                  </a:moveTo>
                  <a:lnTo>
                    <a:pt x="0" y="10858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915531" y="4308634"/>
              <a:ext cx="47934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「点击提交按钮」：只是一次界面动作，不构成完整功能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6680835" y="4670108"/>
              <a:ext cx="108585" cy="108585"/>
            </a:xfrm>
            <a:custGeom>
              <a:avLst/>
              <a:gdLst/>
              <a:ahLst/>
              <a:cxnLst/>
              <a:rect l="l" t="t" r="r" b="b"/>
              <a:pathLst>
                <a:path w="108585" h="108585">
                  <a:moveTo>
                    <a:pt x="0" y="0"/>
                  </a:moveTo>
                  <a:lnTo>
                    <a:pt x="108585" y="108585"/>
                  </a:lnTo>
                  <a:moveTo>
                    <a:pt x="108585" y="0"/>
                  </a:moveTo>
                  <a:lnTo>
                    <a:pt x="0" y="10858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915531" y="4635341"/>
              <a:ext cx="47934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「管理用户」：太大，看不出一次交互从哪开始到哪结束</a:t>
              </a: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44" name="Rectangle 44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8188" y="6011228"/>
              <a:ext cx="200026" cy="200025"/>
              <a:chOff x="738188" y="6011228"/>
              <a:chExt cx="200026" cy="200025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60112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777926" y="60556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12642" y="61668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511" y="6011704"/>
              <a:ext cx="65139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判断标准：这段文字能不能从一个明确的入口条件走到一个明确的出口条件。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16769" cy="909257"/>
            <a:chOff x="520446" y="342900"/>
            <a:chExt cx="731676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用例与场景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1676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 是与系统交互的角色，不是具体的某个人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410200" cy="2291715"/>
            <a:chOff x="533400" y="1524000"/>
            <a:chExt cx="5410200" cy="22917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291715"/>
            </a:xfrm>
            <a:prstGeom prst="roundRect">
              <a:avLst>
                <a:gd name="adj" fmla="val 58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2501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6049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30612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 是与系统交互的外部实体。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2465070"/>
              <a:ext cx="43395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 是具有构造型 "&lt;&lt;Actor&gt;&gt;" 的类，所以谈论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 时考虑的是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角色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，而不是角色的实例。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3086100"/>
              <a:ext cx="46634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用例总是由 Actor 启动，Actor 与用例之间是多对多的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关系。</a:t>
              </a:r>
            </a:p>
          </p:txBody>
        </p:sp>
      </p:grpSp>
      <p:grpSp>
        <p:nvGrpSpPr>
          <p:cNvPr id="22" name="c1-callout-2"/>
          <p:cNvGrpSpPr/>
          <p:nvPr/>
        </p:nvGrpSpPr>
        <p:grpSpPr>
          <a:xfrm>
            <a:off x="533400" y="4006215"/>
            <a:ext cx="5410200" cy="948690"/>
            <a:chOff x="533400" y="4006215"/>
            <a:chExt cx="5410200" cy="948690"/>
          </a:xfrm>
        </p:grpSpPr>
        <p:sp>
          <p:nvSpPr>
            <p:cNvPr id="16" name="Rectangle 16"/>
            <p:cNvSpPr/>
            <p:nvPr/>
          </p:nvSpPr>
          <p:spPr>
            <a:xfrm>
              <a:off x="533400" y="4006215"/>
              <a:ext cx="5410200" cy="948690"/>
            </a:xfrm>
            <a:prstGeom prst="roundRect">
              <a:avLst>
                <a:gd name="adj" fmla="val 12048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38188" y="4380548"/>
              <a:ext cx="200026" cy="200025"/>
              <a:chOff x="738188" y="4380548"/>
              <a:chExt cx="200026" cy="20002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738188" y="438054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777926" y="442499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12642" y="453612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1040130" y="4237672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同一个人可以同时是「现场工作人员」和「调度员」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两个 Actor，系统看到的是角色。</a:t>
              </a:r>
            </a:p>
          </p:txBody>
        </p:sp>
      </p:grpSp>
      <p:grpSp>
        <p:nvGrpSpPr>
          <p:cNvPr id="30" name="c2-bullets-1"/>
          <p:cNvGrpSpPr/>
          <p:nvPr/>
        </p:nvGrpSpPr>
        <p:grpSpPr>
          <a:xfrm>
            <a:off x="6240780" y="1548765"/>
            <a:ext cx="5015865" cy="1623060"/>
            <a:chOff x="6240780" y="1548765"/>
            <a:chExt cx="5015865" cy="1623060"/>
          </a:xfrm>
        </p:grpSpPr>
        <p:sp>
          <p:nvSpPr>
            <p:cNvPr id="23" name="TextBox 23"/>
            <p:cNvSpPr txBox="1"/>
            <p:nvPr/>
          </p:nvSpPr>
          <p:spPr>
            <a:xfrm>
              <a:off x="6240780" y="1548765"/>
              <a:ext cx="27528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怎么处理 Actor 与用例的关系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6254115" y="196596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0" y="1903095"/>
              <a:ext cx="29205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一般不必过分关注 Actor 的细节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254115" y="231076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12230" y="2247900"/>
              <a:ext cx="43341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若要对系统做分析优化，才去了解 Actor 的细节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254115" y="265557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0" y="2592705"/>
              <a:ext cx="4844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为每个用户提供一张 Actor 列表，写明他可以扮演哪些角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色、能执行哪些用例</a:t>
              </a:r>
            </a:p>
          </p:txBody>
        </p:sp>
      </p:grpSp>
      <p:grpSp>
        <p:nvGrpSpPr>
          <p:cNvPr id="37" name="c2-card-2"/>
          <p:cNvGrpSpPr/>
          <p:nvPr/>
        </p:nvGrpSpPr>
        <p:grpSpPr>
          <a:xfrm>
            <a:off x="6248400" y="3303270"/>
            <a:ext cx="5410200" cy="1651635"/>
            <a:chOff x="6248400" y="3303270"/>
            <a:chExt cx="5410200" cy="1651635"/>
          </a:xfrm>
        </p:grpSpPr>
        <p:sp>
          <p:nvSpPr>
            <p:cNvPr id="31" name="Rectangle 31"/>
            <p:cNvSpPr/>
            <p:nvPr/>
          </p:nvSpPr>
          <p:spPr>
            <a:xfrm>
              <a:off x="6248400" y="3303270"/>
              <a:ext cx="5410200" cy="1651635"/>
            </a:xfrm>
            <a:prstGeom prst="roundRect">
              <a:avLst>
                <a:gd name="adj" fmla="val 8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57925" y="3436620"/>
              <a:ext cx="47625" cy="138493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496050" y="3512820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60655" y="354853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这张列表有什么用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88430" y="3890010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需求冲突时，可以看出是哪两个角色的诉求撞上了。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88430" y="422529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制定安全策略时，角色到用例的对应关系就是权限清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单。</a:t>
              </a:r>
            </a:p>
          </p:txBody>
        </p:sp>
      </p:grpSp>
      <p:grpSp>
        <p:nvGrpSpPr>
          <p:cNvPr id="43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8" name="Rectangle 38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0130" y="5991225"/>
              <a:ext cx="61072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Actor 有助于获取用例：先找出各个 Actor，再通过他们得到用例。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用例与场景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用例描述的六个字段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863682" cy="308039"/>
            <a:chOff x="525399" y="1550194"/>
            <a:chExt cx="10863682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86368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六个字段缺一不可。缺入口出口条件，用例的边界就不清楚；缺特殊需求，非功能性要求会被漏到编码阶段才发现。</a:t>
              </a:r>
            </a:p>
          </p:txBody>
        </p:sp>
      </p:grpSp>
      <p:grpSp>
        <p:nvGrpSpPr>
          <p:cNvPr id="43" name="c1-table-1"/>
          <p:cNvGrpSpPr/>
          <p:nvPr/>
        </p:nvGrpSpPr>
        <p:grpSpPr>
          <a:xfrm>
            <a:off x="533400" y="1967865"/>
            <a:ext cx="11125200" cy="3141345"/>
            <a:chOff x="533400" y="1967865"/>
            <a:chExt cx="11125200" cy="314134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244244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39388" y="21026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写什么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923098" y="210264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「报告紧急情况」的填法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1223" y="255127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用例名称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421446" y="255127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唯一标识这个用例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03823" y="255127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报告紧急情况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860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8651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1223" y="3000851"/>
              <a:ext cx="10150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参与 Actors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421446" y="3000851"/>
              <a:ext cx="22675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列出参与者并标出主动 Actor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03823" y="3000851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由现场工作人员启动，与调度员交流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30898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1223" y="344947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入口条件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421446" y="3449479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用例启动前需要满足的条件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03823" y="3449479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现场工作人员激活她终端上的报告紧急情况功能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7576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376237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1223" y="389810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事件流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421446" y="389810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用例的动作序列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03823" y="3898106"/>
              <a:ext cx="17877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到第 4 步，见下页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2071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1223" y="434673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出口条件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421446" y="434673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用例完成后应满足的条件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03823" y="434673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现场工作人员收到答复并选择响应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65582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660582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1223" y="479536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特殊需求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421446" y="479536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非功能性需求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105525" y="4670108"/>
              <a:ext cx="5543550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203823" y="4795361"/>
              <a:ext cx="44069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报告在 30s 内得到答复；选择的响应在发送后 30s 内到达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1967865"/>
              <a:ext cx="11125200" cy="3141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2308860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091238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4" name="Rectangle 4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130" y="5991225"/>
              <a:ext cx="57399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特殊需求里的 30s 是可验证的数字。写成"响应要快"就没法测。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用例与场景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例：事故管理系统的用例图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262575" cy="308039"/>
            <a:chOff x="525399" y="1550194"/>
            <a:chExt cx="9262575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26257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方框是系统边界，框内的圆角节点是用例，框外的是 Actor。连线表示这个 Actor 参与这个用例。</a:t>
              </a:r>
            </a:p>
          </p:txBody>
        </p:sp>
      </p:grpSp>
      <p:grpSp>
        <p:nvGrpSpPr>
          <p:cNvPr id="23" name="c1-flow-1"/>
          <p:cNvGrpSpPr/>
          <p:nvPr/>
        </p:nvGrpSpPr>
        <p:grpSpPr>
          <a:xfrm>
            <a:off x="684848" y="2320290"/>
            <a:ext cx="6189345" cy="2724150"/>
            <a:chOff x="684848" y="2320290"/>
            <a:chExt cx="6189345" cy="2724150"/>
          </a:xfrm>
        </p:grpSpPr>
        <p:sp>
          <p:nvSpPr>
            <p:cNvPr id="9" name="Freeform 9"/>
            <p:cNvSpPr/>
            <p:nvPr/>
          </p:nvSpPr>
          <p:spPr>
            <a:xfrm>
              <a:off x="1615440" y="2758440"/>
              <a:ext cx="2164080" cy="704850"/>
            </a:xfrm>
            <a:custGeom>
              <a:avLst/>
              <a:gdLst/>
              <a:ahLst/>
              <a:cxnLst/>
              <a:rect l="l" t="t" r="r" b="b"/>
              <a:pathLst>
                <a:path w="2164080" h="704850">
                  <a:moveTo>
                    <a:pt x="0" y="704850"/>
                  </a:moveTo>
                  <a:lnTo>
                    <a:pt x="0" y="352425"/>
                  </a:lnTo>
                  <a:lnTo>
                    <a:pt x="2164080" y="352425"/>
                  </a:lnTo>
                  <a:lnTo>
                    <a:pt x="216408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779520" y="2758440"/>
              <a:ext cx="2164080" cy="704850"/>
            </a:xfrm>
            <a:custGeom>
              <a:avLst/>
              <a:gdLst/>
              <a:ahLst/>
              <a:cxnLst/>
              <a:rect l="l" t="t" r="r" b="b"/>
              <a:pathLst>
                <a:path w="2164080" h="704850">
                  <a:moveTo>
                    <a:pt x="2164080" y="704850"/>
                  </a:moveTo>
                  <a:lnTo>
                    <a:pt x="2164080" y="352425"/>
                  </a:lnTo>
                  <a:lnTo>
                    <a:pt x="0" y="352425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4710112" y="3682365"/>
              <a:ext cx="302895" cy="9525"/>
            </a:xfrm>
            <a:custGeom>
              <a:avLst/>
              <a:gdLst/>
              <a:ahLst/>
              <a:cxnLst/>
              <a:rect l="l" t="t" r="r" b="b"/>
              <a:pathLst>
                <a:path w="302895" h="9525">
                  <a:moveTo>
                    <a:pt x="30289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779520" y="3901440"/>
              <a:ext cx="2164080" cy="704850"/>
            </a:xfrm>
            <a:custGeom>
              <a:avLst/>
              <a:gdLst/>
              <a:ahLst/>
              <a:cxnLst/>
              <a:rect l="l" t="t" r="r" b="b"/>
              <a:pathLst>
                <a:path w="2164080" h="704850">
                  <a:moveTo>
                    <a:pt x="2164080" y="0"/>
                  </a:moveTo>
                  <a:lnTo>
                    <a:pt x="2164080" y="352425"/>
                  </a:lnTo>
                  <a:lnTo>
                    <a:pt x="0" y="352425"/>
                  </a:lnTo>
                  <a:lnTo>
                    <a:pt x="0" y="7048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684848" y="3463290"/>
              <a:ext cx="1861185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2848928" y="2320290"/>
              <a:ext cx="1861185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2848928" y="3463290"/>
              <a:ext cx="1861185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2848928" y="4606290"/>
              <a:ext cx="1861185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013008" y="3463290"/>
              <a:ext cx="1861185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92022" y="359330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现场工作人员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256102" y="245030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报告紧急情况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428416" y="35933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打开事件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428416" y="47363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分配资源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678653" y="359330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调度员</a:t>
              </a:r>
            </a:p>
          </p:txBody>
        </p:sp>
      </p:grpSp>
      <p:grpSp>
        <p:nvGrpSpPr>
          <p:cNvPr id="33" name="c2-card-1"/>
          <p:cNvGrpSpPr/>
          <p:nvPr/>
        </p:nvGrpSpPr>
        <p:grpSpPr>
          <a:xfrm>
            <a:off x="7330440" y="1967865"/>
            <a:ext cx="4328160" cy="2577465"/>
            <a:chOff x="7330440" y="1967865"/>
            <a:chExt cx="4328160" cy="2577465"/>
          </a:xfrm>
        </p:grpSpPr>
        <p:sp>
          <p:nvSpPr>
            <p:cNvPr id="24" name="Rectangle 24"/>
            <p:cNvSpPr/>
            <p:nvPr/>
          </p:nvSpPr>
          <p:spPr>
            <a:xfrm>
              <a:off x="7330440" y="1967865"/>
              <a:ext cx="4328160" cy="2577465"/>
            </a:xfrm>
            <a:prstGeom prst="roundRect">
              <a:avLst>
                <a:gd name="adj" fmla="val 51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7339965" y="2101215"/>
              <a:ext cx="47625" cy="231076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57809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66829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读图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179118" y="2212658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这张图告诉我们什么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570470" y="2573655"/>
              <a:ext cx="36537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系统叫"事故管理系统"，边界之外只有两个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角色。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70470" y="3194685"/>
              <a:ext cx="36537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现场工作人员只参与"报告紧急情况"，调度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员参与全部三个。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583805" y="387858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741920" y="3815715"/>
              <a:ext cx="35109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主动 Actor 是现场工作人员，因为这个用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例由她启动</a:t>
              </a:r>
            </a:p>
          </p:txBody>
        </p:sp>
      </p:grpSp>
      <p:grpSp>
        <p:nvGrpSpPr>
          <p:cNvPr id="40" name="c2-callout-2"/>
          <p:cNvGrpSpPr/>
          <p:nvPr/>
        </p:nvGrpSpPr>
        <p:grpSpPr>
          <a:xfrm>
            <a:off x="7330440" y="4735830"/>
            <a:ext cx="4328160" cy="782955"/>
            <a:chOff x="7330440" y="4735830"/>
            <a:chExt cx="4328160" cy="782955"/>
          </a:xfrm>
        </p:grpSpPr>
        <p:sp>
          <p:nvSpPr>
            <p:cNvPr id="34" name="Rectangle 34"/>
            <p:cNvSpPr/>
            <p:nvPr/>
          </p:nvSpPr>
          <p:spPr>
            <a:xfrm>
              <a:off x="7330440" y="4735830"/>
              <a:ext cx="432816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535228" y="5027295"/>
              <a:ext cx="200026" cy="200026"/>
              <a:chOff x="7535228" y="5027295"/>
              <a:chExt cx="200026" cy="200026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7535228" y="50272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7635240" y="50939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7624128" y="51273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7837170" y="4884420"/>
              <a:ext cx="34632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用例图只说"谁参与了什么"，不说先后顺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序。顺序要靠事件流和顺序图。</a:t>
              </a:r>
            </a:p>
          </p:txBody>
        </p:sp>
      </p:grpSp>
      <p:grpSp>
        <p:nvGrpSpPr>
          <p:cNvPr id="4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1" name="Rectangle 4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040130" y="5991225"/>
              <a:ext cx="7284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本章后面所有例子都围绕「报告紧急情况」这一个用例展开，可以一路对照着看。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71613" cy="909257"/>
            <a:chOff x="520446" y="342900"/>
            <a:chExt cx="55716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用例与场景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716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例题：写完整的"报告紧急情况"用例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595332" cy="308039"/>
            <a:chOff x="525399" y="1550194"/>
            <a:chExt cx="7595332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59533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用例名称：报告紧急情况｜参与 Actors：由现场工作人员启动，与调度员交流。</a:t>
              </a:r>
            </a:p>
          </p:txBody>
        </p:sp>
      </p:grpSp>
      <p:grpSp>
        <p:nvGrpSpPr>
          <p:cNvPr id="30" name="c1-steps-1"/>
          <p:cNvGrpSpPr/>
          <p:nvPr/>
        </p:nvGrpSpPr>
        <p:grpSpPr>
          <a:xfrm>
            <a:off x="533400" y="1977390"/>
            <a:ext cx="6440297" cy="3649313"/>
            <a:chOff x="533400" y="1977390"/>
            <a:chExt cx="6440297" cy="3649313"/>
          </a:xfrm>
        </p:grpSpPr>
        <p:sp>
          <p:nvSpPr>
            <p:cNvPr id="9" name="Rectangle 9"/>
            <p:cNvSpPr/>
            <p:nvPr/>
          </p:nvSpPr>
          <p:spPr>
            <a:xfrm>
              <a:off x="666750" y="2120265"/>
              <a:ext cx="19050" cy="30727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7739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51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627948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7017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27850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3523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16433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23814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504920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7024" y="51230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2011680"/>
              <a:ext cx="10031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入口条件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2304574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现场工作人员激活她终端上的报告紧急情况功能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2662238"/>
              <a:ext cx="10031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系统响应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295513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提交一份表格给现场工作人员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4880" y="3312795"/>
              <a:ext cx="12051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填写并提交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023" y="3606641"/>
              <a:ext cx="602767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现场工作人员填好表格，选择紧急等级、类型、位置和简单情况描述，并描述紧急事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件的可能后果。填完提交后，系统通知调度员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4880" y="4198620"/>
              <a:ext cx="12051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调度员处理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023" y="4491514"/>
              <a:ext cx="602767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调度员查看提交的表格，通过调用「打开事件」用例在数据库建立一个事件，然后选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择一个响应并回复收到的紧急情况报告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4880" y="5083492"/>
              <a:ext cx="10031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出口条件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6023" y="5377339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现场工作人员收到答复并选择响应</a:t>
              </a:r>
            </a:p>
          </p:txBody>
        </p:sp>
      </p:grpSp>
      <p:grpSp>
        <p:nvGrpSpPr>
          <p:cNvPr id="36" name="c2-card-1"/>
          <p:cNvGrpSpPr/>
          <p:nvPr/>
        </p:nvGrpSpPr>
        <p:grpSpPr>
          <a:xfrm>
            <a:off x="7546658" y="1967865"/>
            <a:ext cx="4111942" cy="1365885"/>
            <a:chOff x="7546658" y="1967865"/>
            <a:chExt cx="4111942" cy="1365885"/>
          </a:xfrm>
        </p:grpSpPr>
        <p:sp>
          <p:nvSpPr>
            <p:cNvPr id="31" name="Rectangle 31"/>
            <p:cNvSpPr/>
            <p:nvPr/>
          </p:nvSpPr>
          <p:spPr>
            <a:xfrm>
              <a:off x="7546658" y="1967865"/>
              <a:ext cx="4111942" cy="1365885"/>
            </a:xfrm>
            <a:prstGeom prst="roundRect">
              <a:avLst>
                <a:gd name="adj" fmla="val 9763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7756208" y="217741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838516" y="221313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特殊需求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748588" y="2554605"/>
              <a:ext cx="37171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现场工作人员的报告在 </a:t>
              </a:r>
              <a:r>
                <a:rPr lang="en-US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30s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内得到答复。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748588" y="2889885"/>
              <a:ext cx="32966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选择的响应在发送之后 30s 内到达。</a:t>
              </a:r>
            </a:p>
          </p:txBody>
        </p:sp>
      </p:grpSp>
      <p:grpSp>
        <p:nvGrpSpPr>
          <p:cNvPr id="44" name="c2-card-2"/>
          <p:cNvGrpSpPr/>
          <p:nvPr/>
        </p:nvGrpSpPr>
        <p:grpSpPr>
          <a:xfrm>
            <a:off x="7546658" y="3524250"/>
            <a:ext cx="4111942" cy="2090738"/>
            <a:chOff x="7546658" y="3524250"/>
            <a:chExt cx="4111942" cy="2090738"/>
          </a:xfrm>
        </p:grpSpPr>
        <p:sp>
          <p:nvSpPr>
            <p:cNvPr id="37" name="Rectangle 37"/>
            <p:cNvSpPr/>
            <p:nvPr/>
          </p:nvSpPr>
          <p:spPr>
            <a:xfrm>
              <a:off x="7546658" y="3524250"/>
              <a:ext cx="4111942" cy="2090738"/>
            </a:xfrm>
            <a:prstGeom prst="roundRect">
              <a:avLst>
                <a:gd name="adj" fmla="val 63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7556182" y="3657600"/>
              <a:ext cx="47625" cy="182403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7794308" y="373380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885468" y="376951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注意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95335" y="3769042"/>
              <a:ext cx="16725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4 步埋了一个坑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786688" y="4130040"/>
              <a:ext cx="3253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这里只写了「回复收到的紧急情况报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告」，没写这条回复里装了什么信息。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786688" y="4751070"/>
              <a:ext cx="3444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画顺序图时会因此发现一个被漏掉的实体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对象，用例到那时才补全。</a:t>
              </a:r>
            </a:p>
          </p:txBody>
        </p:sp>
      </p:grpSp>
      <p:grpSp>
        <p:nvGrpSpPr>
          <p:cNvPr id="51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5" name="Rectangle 4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040130" y="5991225"/>
              <a:ext cx="61034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第 4 步还调用了「打开事件」用例，这就是下一节要讲的包含关系。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用例与场景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场景是用例的一个真实实例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626418" cy="2005965"/>
            <a:chOff x="533400" y="1524000"/>
            <a:chExt cx="5626418" cy="20059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005965"/>
            </a:xfrm>
            <a:prstGeom prst="roundRect">
              <a:avLst>
                <a:gd name="adj" fmla="val 664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3926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7090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场景（Scenario）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场景是用例的真实例子。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246507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具体执行一次用例，就得到一个场景。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80035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场景通过举例说明情况，帮助理解问题域，进而归纳出用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例。</a:t>
              </a:r>
            </a:p>
          </p:txBody>
        </p:sp>
      </p:grpSp>
      <p:grpSp>
        <p:nvGrpSpPr>
          <p:cNvPr id="21" name="c1-callout-2"/>
          <p:cNvGrpSpPr/>
          <p:nvPr/>
        </p:nvGrpSpPr>
        <p:grpSpPr>
          <a:xfrm>
            <a:off x="533400" y="3720465"/>
            <a:ext cx="5626418" cy="782955"/>
            <a:chOff x="533400" y="3720465"/>
            <a:chExt cx="5626418" cy="782955"/>
          </a:xfrm>
        </p:grpSpPr>
        <p:sp>
          <p:nvSpPr>
            <p:cNvPr id="16" name="Rectangle 16"/>
            <p:cNvSpPr/>
            <p:nvPr/>
          </p:nvSpPr>
          <p:spPr>
            <a:xfrm>
              <a:off x="533400" y="3720465"/>
              <a:ext cx="5626418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38188" y="4011932"/>
              <a:ext cx="200023" cy="200023"/>
              <a:chOff x="738188" y="4011932"/>
              <a:chExt cx="200023" cy="200023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738188" y="401193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71538" y="407860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130" y="3869055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场景是用例的实例，所以它的名字带下划线，写法与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UML 里的对象名一致。</a:t>
              </a:r>
            </a:p>
          </p:txBody>
        </p:sp>
      </p:grpSp>
      <p:grpSp>
        <p:nvGrpSpPr>
          <p:cNvPr id="41" name="c2-compare-1"/>
          <p:cNvGrpSpPr/>
          <p:nvPr/>
        </p:nvGrpSpPr>
        <p:grpSpPr>
          <a:xfrm>
            <a:off x="6464618" y="1524000"/>
            <a:ext cx="5193982" cy="2979420"/>
            <a:chOff x="6464618" y="1524000"/>
            <a:chExt cx="5193982" cy="2979420"/>
          </a:xfrm>
        </p:grpSpPr>
        <p:sp>
          <p:nvSpPr>
            <p:cNvPr id="22" name="Rectangle 22"/>
            <p:cNvSpPr/>
            <p:nvPr/>
          </p:nvSpPr>
          <p:spPr>
            <a:xfrm>
              <a:off x="6464618" y="1524000"/>
              <a:ext cx="2425065" cy="2979420"/>
            </a:xfrm>
            <a:prstGeom prst="roundRect">
              <a:avLst>
                <a:gd name="adj" fmla="val 549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474142" y="1657350"/>
              <a:ext cx="47625" cy="27127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704648" y="17583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场景重在可理解性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717983" y="217551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876098" y="2112645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写具体的人、具体的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时间地点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717983" y="279654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76098" y="2733675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只覆盖一条路径，不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管异常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717983" y="341757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76098" y="335470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用来跟客户对答案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233535" y="1524000"/>
              <a:ext cx="2425065" cy="2979420"/>
            </a:xfrm>
            <a:prstGeom prst="roundRect">
              <a:avLst>
                <a:gd name="adj" fmla="val 5499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435465" y="17583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用例重在完整性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9448800" y="217551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606915" y="2112645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写角色，不写具体的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人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9448800" y="279654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606915" y="2733675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要覆盖正常流、异常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流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9448800" y="341757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606915" y="3354705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用来作为需求说明的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正文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8900160" y="2851785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915400" y="294798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分工</a:t>
              </a:r>
            </a:p>
          </p:txBody>
        </p:sp>
      </p:grpSp>
      <p:grpSp>
        <p:nvGrpSpPr>
          <p:cNvPr id="48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2" name="Rectangle 4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0130" y="5991225"/>
              <a:ext cx="6678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先收集几个场景，再从它们里面归纳用例，比对着空白模板硬写容易得多。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用例与场景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场景示例：仓库失火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7431710" cy="293370"/>
            <a:chOff x="525780" y="1548765"/>
            <a:chExt cx="743171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74317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场景名：仓库失火｜参与 Actors：Alice、Bob 是现场工作人员，Cindy 是调度员。</a:t>
              </a:r>
            </a:p>
          </p:txBody>
        </p:sp>
      </p:grpSp>
      <p:grpSp>
        <p:nvGrpSpPr>
          <p:cNvPr id="26" name="c1-steps-1"/>
          <p:cNvGrpSpPr/>
          <p:nvPr/>
        </p:nvGrpSpPr>
        <p:grpSpPr>
          <a:xfrm>
            <a:off x="533400" y="1964055"/>
            <a:ext cx="6216396" cy="3503676"/>
            <a:chOff x="533400" y="1964055"/>
            <a:chExt cx="6216396" cy="3503676"/>
          </a:xfrm>
        </p:grpSpPr>
        <p:sp>
          <p:nvSpPr>
            <p:cNvPr id="9" name="Rectangle 9"/>
            <p:cNvSpPr/>
            <p:nvPr/>
          </p:nvSpPr>
          <p:spPr>
            <a:xfrm>
              <a:off x="666750" y="2106930"/>
              <a:ext cx="19050" cy="29556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6405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378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0225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8760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86048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9343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91966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9934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1996916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2277428"/>
              <a:ext cx="57729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Bob 驾驶巡逻车沿主要街道巡逻，发现一个仓库有浓烟冒出。他的同事 Alice 用她的手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持设备激活了报告紧急情况功能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2835116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3115627"/>
              <a:ext cx="5734812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Alice 输入仓库地址、起火位置的简短描述（如西北角）以及紧急等级。考虑该地区相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对繁忙，Alice 除了请求消防单位外，还请求了现场的几个医疗单位。她确认了自己的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输入并等待答复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3893344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404" y="4173855"/>
              <a:ext cx="5803392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调度员 Cindy 由工作站的蜂鸣声注意到紧急情况。她查看了 Alice 提交的信息，然后答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复了这个报告。她分配了一个消防单位和两个医疗单位到事件现场，并发送他们的预计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到达时间给 Alice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261" y="4952524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404" y="5233035"/>
              <a:ext cx="22057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Alice 收到答复和预计到达时间</a:t>
              </a:r>
            </a:p>
          </p:txBody>
        </p:sp>
      </p:grpSp>
      <p:grpSp>
        <p:nvGrpSpPr>
          <p:cNvPr id="38" name="c2-kv-1"/>
          <p:cNvGrpSpPr/>
          <p:nvPr/>
        </p:nvGrpSpPr>
        <p:grpSpPr>
          <a:xfrm>
            <a:off x="7323201" y="1977866"/>
            <a:ext cx="4378842" cy="1527430"/>
            <a:chOff x="7323201" y="1977866"/>
            <a:chExt cx="4378842" cy="1527430"/>
          </a:xfrm>
        </p:grpSpPr>
        <p:sp>
          <p:nvSpPr>
            <p:cNvPr id="27" name="TextBox 27"/>
            <p:cNvSpPr txBox="1"/>
            <p:nvPr/>
          </p:nvSpPr>
          <p:spPr>
            <a:xfrm>
              <a:off x="7323201" y="1977866"/>
              <a:ext cx="6276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 1 步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470011" y="1977866"/>
              <a:ext cx="24190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Alice 激活报告紧急情况功能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330440" y="2281238"/>
              <a:ext cx="43281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323201" y="2394109"/>
              <a:ext cx="92918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 2、3 步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70011" y="2394109"/>
              <a:ext cx="28013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系统给出表格，Alice 填好并确认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330440" y="2697480"/>
              <a:ext cx="43281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323201" y="2810351"/>
              <a:ext cx="6276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 4 步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470011" y="2810351"/>
              <a:ext cx="32320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Cindy 查看、分配单位、回复到达时间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330440" y="3113722"/>
              <a:ext cx="43281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323201" y="3226594"/>
              <a:ext cx="6276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 5 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470011" y="3226594"/>
              <a:ext cx="127209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Alice 收到答复</a:t>
              </a:r>
            </a:p>
          </p:txBody>
        </p:sp>
      </p:grpSp>
      <p:grpSp>
        <p:nvGrpSpPr>
          <p:cNvPr id="45" name="c2-card-2"/>
          <p:cNvGrpSpPr/>
          <p:nvPr/>
        </p:nvGrpSpPr>
        <p:grpSpPr>
          <a:xfrm>
            <a:off x="7330440" y="3629978"/>
            <a:ext cx="4328160" cy="1840230"/>
            <a:chOff x="7330440" y="3629978"/>
            <a:chExt cx="4328160" cy="1840230"/>
          </a:xfrm>
        </p:grpSpPr>
        <p:sp>
          <p:nvSpPr>
            <p:cNvPr id="39" name="Rectangle 39"/>
            <p:cNvSpPr/>
            <p:nvPr/>
          </p:nvSpPr>
          <p:spPr>
            <a:xfrm>
              <a:off x="7330440" y="3629978"/>
              <a:ext cx="4328160" cy="1840230"/>
            </a:xfrm>
            <a:prstGeom prst="roundRect">
              <a:avLst>
                <a:gd name="adj" fmla="val 724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339965" y="3763328"/>
              <a:ext cx="47625" cy="15735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7566660" y="3828098"/>
              <a:ext cx="14097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630097" y="3862388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场景比用例多了什么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559421" y="4188619"/>
              <a:ext cx="372046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具体的人名、具体的地点、具体的数量，还有"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该地区相对繁忙"这种临场判断。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559421" y="4777264"/>
              <a:ext cx="36212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这些细节帮人理解问题域，但不能写进用例，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否则用例就只覆盖这一种情况了。</a:t>
              </a:r>
            </a:p>
          </p:txBody>
        </p:sp>
      </p:grpSp>
      <p:grpSp>
        <p:nvGrpSpPr>
          <p:cNvPr id="52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46" name="Rectangle 46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38188" y="6011228"/>
              <a:ext cx="200026" cy="200026"/>
              <a:chOff x="738188" y="6011228"/>
              <a:chExt cx="200026" cy="200026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738188" y="60112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38200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27088" y="61112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0511" y="6011704"/>
              <a:ext cx="771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对照上一页的用例：这里的 Bob 只是发现者，没有和系统交互，所以用例里没有他的位置。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4" name="section-title"/>
          <p:cNvGrpSpPr/>
          <p:nvPr/>
        </p:nvGrpSpPr>
        <p:grpSpPr>
          <a:xfrm>
            <a:off x="667512" y="1835468"/>
            <a:ext cx="5367528" cy="2643187"/>
            <a:chOff x="667512" y="1835468"/>
            <a:chExt cx="5367528" cy="264318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36752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用例间的关系与获取方法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三种关系降低复杂度，两组提问把需求问出来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包含、扩展、泛化各自的箭头方向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直接总结不出用例时用场景兜底</a:t>
              </a:r>
            </a:p>
          </p:txBody>
        </p:sp>
      </p:grpSp>
      <p:grpSp>
        <p:nvGrpSpPr>
          <p:cNvPr id="1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" name="TextBox 15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362896" cy="909257"/>
            <a:chOff x="520446" y="342900"/>
            <a:chExt cx="336289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用例间的关系与获取方法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用例之间的三种关系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438282" cy="308039"/>
            <a:chOff x="525399" y="1550194"/>
            <a:chExt cx="10438282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43828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确定用例之间的关系是为了减少复杂性：把重复的动作抽出去，把罕见的动作挪出去，把同类的动作归纳起来。</a:t>
              </a:r>
            </a:p>
          </p:txBody>
        </p:sp>
      </p:grpSp>
      <p:grpSp>
        <p:nvGrpSpPr>
          <p:cNvPr id="36" name="c1-table-1"/>
          <p:cNvGrpSpPr/>
          <p:nvPr/>
        </p:nvGrpSpPr>
        <p:grpSpPr>
          <a:xfrm>
            <a:off x="533400" y="1967865"/>
            <a:ext cx="11125200" cy="2248852"/>
            <a:chOff x="533400" y="1967865"/>
            <a:chExt cx="11125200" cy="2248852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33754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471314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192821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箭头方向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04018" y="21026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构造型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41223" y="266461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包含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198560" y="2551271"/>
              <a:ext cx="45646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两个用例，如果其中一个在其事件流中包含了另一个，它们之间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就有包含关系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218045" y="2426018"/>
              <a:ext cx="2650808" cy="656272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16343" y="2664619"/>
              <a:ext cx="17619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基本用例 → 被包含用例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986200" y="2551271"/>
              <a:ext cx="93954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&lt;&lt;uses&gt;&gt; 或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&lt;&lt;include&gt;&gt;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0870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091815"/>
              <a:ext cx="11125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1223" y="334089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198560" y="3227546"/>
              <a:ext cx="45646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把常规动作放在一个基本用例中，把非常规动作放在它的扩展用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例中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218045" y="3101340"/>
              <a:ext cx="2650808" cy="656272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16343" y="3340894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扩展用例 → 基本用例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986200" y="3340894"/>
              <a:ext cx="10554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&lt;&lt;extends&gt;&gt;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376237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1223" y="390286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198560" y="3902869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对一般性用例做特殊化、细化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218045" y="3776662"/>
              <a:ext cx="2650808" cy="42957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316343" y="3902869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特殊用例 → 一般用例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986200" y="390286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空心三角箭头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1967865"/>
              <a:ext cx="11125200" cy="22488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2085975" y="1967865"/>
              <a:ext cx="9525" cy="2248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7203758" y="1967865"/>
              <a:ext cx="9525" cy="2248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9873615" y="1967865"/>
              <a:ext cx="9525" cy="2248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3" name="c1-callout-2"/>
          <p:cNvGrpSpPr/>
          <p:nvPr/>
        </p:nvGrpSpPr>
        <p:grpSpPr>
          <a:xfrm>
            <a:off x="533400" y="4406265"/>
            <a:ext cx="11125200" cy="533400"/>
            <a:chOff x="533400" y="4406265"/>
            <a:chExt cx="11125200" cy="533400"/>
          </a:xfrm>
        </p:grpSpPr>
        <p:sp>
          <p:nvSpPr>
            <p:cNvPr id="37" name="Rectangle 37"/>
            <p:cNvSpPr/>
            <p:nvPr/>
          </p:nvSpPr>
          <p:spPr>
            <a:xfrm>
              <a:off x="533400" y="4406265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26129" y="4569261"/>
              <a:ext cx="224134" cy="192560"/>
              <a:chOff x="726129" y="4569261"/>
              <a:chExt cx="224134" cy="19256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838200" y="463962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726129" y="456926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38200" y="471741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0130" y="4568190"/>
              <a:ext cx="56692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包含和扩展的箭头方向相反，这是考试和画图最容易错的一处。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4" name="Rectangle 4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130" y="5991225"/>
              <a:ext cx="89304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「报告紧急情况」的第 4 步调用「打开事件」，是包含；「连接中断」打断「打开事件」，是扩展。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362896" cy="909257"/>
            <a:chOff x="520446" y="342900"/>
            <a:chExt cx="336289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用例间的关系与获取方法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4288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三种关系的画法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1874520" y="1548765"/>
            <a:ext cx="822960" cy="293370"/>
            <a:chOff x="1874520" y="1548765"/>
            <a:chExt cx="82296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1874520" y="15487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包含关系</a:t>
              </a:r>
            </a:p>
          </p:txBody>
        </p:sp>
      </p:grpSp>
      <p:grpSp>
        <p:nvGrpSpPr>
          <p:cNvPr id="23" name="c1-flow-2"/>
          <p:cNvGrpSpPr/>
          <p:nvPr/>
        </p:nvGrpSpPr>
        <p:grpSpPr>
          <a:xfrm>
            <a:off x="666750" y="2278380"/>
            <a:ext cx="3238500" cy="2533650"/>
            <a:chOff x="666750" y="2278380"/>
            <a:chExt cx="3238500" cy="2533650"/>
          </a:xfrm>
        </p:grpSpPr>
        <p:sp>
          <p:nvSpPr>
            <p:cNvPr id="9" name="Freeform 9"/>
            <p:cNvSpPr/>
            <p:nvPr/>
          </p:nvSpPr>
          <p:spPr>
            <a:xfrm>
              <a:off x="1409700" y="2716530"/>
              <a:ext cx="1752600" cy="504825"/>
            </a:xfrm>
            <a:custGeom>
              <a:avLst/>
              <a:gdLst/>
              <a:ahLst/>
              <a:cxnLst/>
              <a:rect l="l" t="t" r="r" b="b"/>
              <a:pathLst>
                <a:path w="1752600" h="504825">
                  <a:moveTo>
                    <a:pt x="0" y="0"/>
                  </a:moveTo>
                  <a:lnTo>
                    <a:pt x="0" y="304800"/>
                  </a:lnTo>
                  <a:lnTo>
                    <a:pt x="1752600" y="304800"/>
                  </a:lnTo>
                  <a:lnTo>
                    <a:pt x="1752600" y="5048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109912" y="322135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409700" y="3869055"/>
              <a:ext cx="1752600" cy="504825"/>
            </a:xfrm>
            <a:custGeom>
              <a:avLst/>
              <a:gdLst/>
              <a:ahLst/>
              <a:cxnLst/>
              <a:rect l="l" t="t" r="r" b="b"/>
              <a:pathLst>
                <a:path w="1752600" h="504825">
                  <a:moveTo>
                    <a:pt x="0" y="504825"/>
                  </a:moveTo>
                  <a:lnTo>
                    <a:pt x="0" y="200025"/>
                  </a:lnTo>
                  <a:lnTo>
                    <a:pt x="1752600" y="200025"/>
                  </a:lnTo>
                  <a:lnTo>
                    <a:pt x="175260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109912" y="37642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66750" y="2278380"/>
              <a:ext cx="1485900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666750" y="4373880"/>
              <a:ext cx="1485900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2419350" y="3326130"/>
              <a:ext cx="1485900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72439" y="240839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销售统计表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72439" y="450389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客户统计表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811196" y="345614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打印报表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1867852" y="2805112"/>
              <a:ext cx="835342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888417" y="2831782"/>
              <a:ext cx="79516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&lt;&lt;include&gt;&gt;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867852" y="3852862"/>
              <a:ext cx="835342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888417" y="3879532"/>
              <a:ext cx="79516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&lt;&lt;include&gt;&gt;</a:t>
              </a:r>
            </a:p>
          </p:txBody>
        </p:sp>
      </p:grpSp>
      <p:grpSp>
        <p:nvGrpSpPr>
          <p:cNvPr id="25" name="c1-text-3"/>
          <p:cNvGrpSpPr/>
          <p:nvPr/>
        </p:nvGrpSpPr>
        <p:grpSpPr>
          <a:xfrm>
            <a:off x="526923" y="5328761"/>
            <a:ext cx="3264154" cy="500824"/>
            <a:chOff x="526923" y="5328761"/>
            <a:chExt cx="3264154" cy="500824"/>
          </a:xfrm>
        </p:grpSpPr>
        <p:sp>
          <p:nvSpPr>
            <p:cNvPr id="24" name="TextBox 24"/>
            <p:cNvSpPr txBox="1"/>
            <p:nvPr/>
          </p:nvSpPr>
          <p:spPr>
            <a:xfrm>
              <a:off x="526923" y="5328761"/>
              <a:ext cx="3264154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两张统计表都要打印，打印动作抽成一个被包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含的用例。</a:t>
              </a:r>
            </a:p>
          </p:txBody>
        </p:sp>
      </p:grpSp>
      <p:grpSp>
        <p:nvGrpSpPr>
          <p:cNvPr id="27" name="c2-text-1"/>
          <p:cNvGrpSpPr/>
          <p:nvPr/>
        </p:nvGrpSpPr>
        <p:grpSpPr>
          <a:xfrm>
            <a:off x="5684520" y="1548765"/>
            <a:ext cx="822960" cy="293370"/>
            <a:chOff x="5684520" y="1548765"/>
            <a:chExt cx="822960" cy="293370"/>
          </a:xfrm>
        </p:grpSpPr>
        <p:sp>
          <p:nvSpPr>
            <p:cNvPr id="26" name="TextBox 26"/>
            <p:cNvSpPr txBox="1"/>
            <p:nvPr/>
          </p:nvSpPr>
          <p:spPr>
            <a:xfrm>
              <a:off x="5684520" y="15487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扩展关系</a:t>
              </a:r>
            </a:p>
          </p:txBody>
        </p:sp>
      </p:grpSp>
      <p:grpSp>
        <p:nvGrpSpPr>
          <p:cNvPr id="42" name="c2-flow-2"/>
          <p:cNvGrpSpPr/>
          <p:nvPr/>
        </p:nvGrpSpPr>
        <p:grpSpPr>
          <a:xfrm>
            <a:off x="4476750" y="2278380"/>
            <a:ext cx="3238500" cy="2533650"/>
            <a:chOff x="4476750" y="2278380"/>
            <a:chExt cx="3238500" cy="2533650"/>
          </a:xfrm>
        </p:grpSpPr>
        <p:sp>
          <p:nvSpPr>
            <p:cNvPr id="28" name="Freeform 28"/>
            <p:cNvSpPr/>
            <p:nvPr/>
          </p:nvSpPr>
          <p:spPr>
            <a:xfrm>
              <a:off x="5219700" y="2821305"/>
              <a:ext cx="1752600" cy="504825"/>
            </a:xfrm>
            <a:custGeom>
              <a:avLst/>
              <a:gdLst/>
              <a:ahLst/>
              <a:cxnLst/>
              <a:rect l="l" t="t" r="r" b="b"/>
              <a:pathLst>
                <a:path w="1752600" h="504825">
                  <a:moveTo>
                    <a:pt x="1752600" y="504825"/>
                  </a:moveTo>
                  <a:lnTo>
                    <a:pt x="1752600" y="200025"/>
                  </a:lnTo>
                  <a:lnTo>
                    <a:pt x="0" y="200025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5167312" y="271653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5219700" y="3764280"/>
              <a:ext cx="1752600" cy="504825"/>
            </a:xfrm>
            <a:custGeom>
              <a:avLst/>
              <a:gdLst/>
              <a:ahLst/>
              <a:cxnLst/>
              <a:rect l="l" t="t" r="r" b="b"/>
              <a:pathLst>
                <a:path w="1752600" h="504825">
                  <a:moveTo>
                    <a:pt x="1752600" y="0"/>
                  </a:moveTo>
                  <a:lnTo>
                    <a:pt x="1752600" y="304800"/>
                  </a:lnTo>
                  <a:lnTo>
                    <a:pt x="0" y="304800"/>
                  </a:lnTo>
                  <a:lnTo>
                    <a:pt x="0" y="5048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5167312" y="426910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476750" y="2278380"/>
              <a:ext cx="1485900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4476750" y="4373880"/>
              <a:ext cx="1485900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229350" y="3326130"/>
              <a:ext cx="1485900" cy="438150"/>
            </a:xfrm>
            <a:prstGeom prst="roundRect">
              <a:avLst>
                <a:gd name="adj" fmla="val 21739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868596" y="240839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打开事件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868596" y="450389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分配资源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21196" y="345614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连接中断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644515" y="2805112"/>
              <a:ext cx="902018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663079" y="2831782"/>
              <a:ext cx="8658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&lt;&lt;extends&gt;&gt;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644515" y="3852862"/>
              <a:ext cx="902018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663079" y="3879532"/>
              <a:ext cx="8658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&lt;&lt;extends&gt;&gt;</a:t>
              </a:r>
            </a:p>
          </p:txBody>
        </p:sp>
      </p:grpSp>
      <p:grpSp>
        <p:nvGrpSpPr>
          <p:cNvPr id="44" name="c2-text-3"/>
          <p:cNvGrpSpPr/>
          <p:nvPr/>
        </p:nvGrpSpPr>
        <p:grpSpPr>
          <a:xfrm>
            <a:off x="4336923" y="5328761"/>
            <a:ext cx="3264154" cy="500824"/>
            <a:chOff x="4336923" y="5328761"/>
            <a:chExt cx="3264154" cy="500824"/>
          </a:xfrm>
        </p:grpSpPr>
        <p:sp>
          <p:nvSpPr>
            <p:cNvPr id="43" name="TextBox 43"/>
            <p:cNvSpPr txBox="1"/>
            <p:nvPr/>
          </p:nvSpPr>
          <p:spPr>
            <a:xfrm>
              <a:off x="4336923" y="5328761"/>
              <a:ext cx="3264154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连接中断是非常规情况，从它指向被它打断的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两个基本用例。</a:t>
              </a:r>
            </a:p>
          </p:txBody>
        </p:sp>
      </p:grpSp>
      <p:grpSp>
        <p:nvGrpSpPr>
          <p:cNvPr id="46" name="c3-text-1"/>
          <p:cNvGrpSpPr/>
          <p:nvPr/>
        </p:nvGrpSpPr>
        <p:grpSpPr>
          <a:xfrm>
            <a:off x="9494520" y="1548765"/>
            <a:ext cx="822960" cy="293370"/>
            <a:chOff x="9494520" y="1548765"/>
            <a:chExt cx="822960" cy="293370"/>
          </a:xfrm>
        </p:grpSpPr>
        <p:sp>
          <p:nvSpPr>
            <p:cNvPr id="45" name="TextBox 45"/>
            <p:cNvSpPr txBox="1"/>
            <p:nvPr/>
          </p:nvSpPr>
          <p:spPr>
            <a:xfrm>
              <a:off x="9494520" y="15487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泛化关系</a:t>
              </a:r>
            </a:p>
          </p:txBody>
        </p:sp>
      </p:grpSp>
      <p:grpSp>
        <p:nvGrpSpPr>
          <p:cNvPr id="57" name="c3-flow-2"/>
          <p:cNvGrpSpPr/>
          <p:nvPr/>
        </p:nvGrpSpPr>
        <p:grpSpPr>
          <a:xfrm>
            <a:off x="8286750" y="2278380"/>
            <a:ext cx="3238500" cy="2629852"/>
            <a:chOff x="8286750" y="2278380"/>
            <a:chExt cx="3238500" cy="2629852"/>
          </a:xfrm>
        </p:grpSpPr>
        <p:sp>
          <p:nvSpPr>
            <p:cNvPr id="47" name="Freeform 47"/>
            <p:cNvSpPr/>
            <p:nvPr/>
          </p:nvSpPr>
          <p:spPr>
            <a:xfrm>
              <a:off x="9029700" y="2716530"/>
              <a:ext cx="1752600" cy="504825"/>
            </a:xfrm>
            <a:custGeom>
              <a:avLst/>
              <a:gdLst/>
              <a:ahLst/>
              <a:cxnLst/>
              <a:rect l="l" t="t" r="r" b="b"/>
              <a:pathLst>
                <a:path w="1752600" h="504825">
                  <a:moveTo>
                    <a:pt x="0" y="0"/>
                  </a:moveTo>
                  <a:lnTo>
                    <a:pt x="0" y="304800"/>
                  </a:lnTo>
                  <a:lnTo>
                    <a:pt x="1752600" y="304800"/>
                  </a:lnTo>
                  <a:lnTo>
                    <a:pt x="1752600" y="5048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10729912" y="322135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9" name="Freeform 49"/>
            <p:cNvSpPr/>
            <p:nvPr/>
          </p:nvSpPr>
          <p:spPr>
            <a:xfrm>
              <a:off x="9029700" y="3869055"/>
              <a:ext cx="1752600" cy="409575"/>
            </a:xfrm>
            <a:custGeom>
              <a:avLst/>
              <a:gdLst/>
              <a:ahLst/>
              <a:cxnLst/>
              <a:rect l="l" t="t" r="r" b="b"/>
              <a:pathLst>
                <a:path w="1752600" h="409575">
                  <a:moveTo>
                    <a:pt x="0" y="409575"/>
                  </a:moveTo>
                  <a:lnTo>
                    <a:pt x="0" y="152400"/>
                  </a:lnTo>
                  <a:lnTo>
                    <a:pt x="1752600" y="152400"/>
                  </a:lnTo>
                  <a:lnTo>
                    <a:pt x="175260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10729912" y="37642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8286750" y="2278380"/>
              <a:ext cx="1485900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8286750" y="4278630"/>
              <a:ext cx="1485900" cy="629602"/>
            </a:xfrm>
            <a:prstGeom prst="roundRect">
              <a:avLst>
                <a:gd name="adj" fmla="val 49924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10039350" y="3326130"/>
              <a:ext cx="1485900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506282" y="240839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密码身份验证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535949" y="4394359"/>
              <a:ext cx="987501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SIM 卡身份验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证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431196" y="345614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身份验证</a:t>
              </a:r>
            </a:p>
          </p:txBody>
        </p:sp>
      </p:grpSp>
      <p:grpSp>
        <p:nvGrpSpPr>
          <p:cNvPr id="59" name="c3-text-3"/>
          <p:cNvGrpSpPr/>
          <p:nvPr/>
        </p:nvGrpSpPr>
        <p:grpSpPr>
          <a:xfrm>
            <a:off x="8146923" y="5328761"/>
            <a:ext cx="3264154" cy="500824"/>
            <a:chOff x="8146923" y="5328761"/>
            <a:chExt cx="3264154" cy="500824"/>
          </a:xfrm>
        </p:grpSpPr>
        <p:sp>
          <p:nvSpPr>
            <p:cNvPr id="58" name="TextBox 58"/>
            <p:cNvSpPr txBox="1"/>
            <p:nvPr/>
          </p:nvSpPr>
          <p:spPr>
            <a:xfrm>
              <a:off x="8146923" y="5328761"/>
              <a:ext cx="3264154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两种验证方式都是身份验证的特殊化，箭头从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特殊指向一般。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362896" cy="909257"/>
            <a:chOff x="520446" y="342900"/>
            <a:chExt cx="336289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用例间的关系与获取方法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包含与扩展的区别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5" name="c1-table-1"/>
          <p:cNvGrpSpPr/>
          <p:nvPr/>
        </p:nvGrpSpPr>
        <p:grpSpPr>
          <a:xfrm>
            <a:off x="533400" y="1524000"/>
            <a:ext cx="6276022" cy="2919412"/>
            <a:chOff x="533400" y="1524000"/>
            <a:chExt cx="6276022" cy="291941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73303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12733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包含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56002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扩展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被抽出的动作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050923" y="210835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常规动作，每次都做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776026" y="210835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非常规动作，偶尔才做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1649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21255"/>
              <a:ext cx="627602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556986"/>
              <a:ext cx="9883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基本用例是否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完整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050923" y="2556986"/>
              <a:ext cx="22887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不完整，缺了被包含的部分就走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不下去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776026" y="2556986"/>
              <a:ext cx="18011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完整，没有扩展也能独立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09276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23230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谁依赖谁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050923" y="3232309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基本用例依赖被包含用例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76026" y="323230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扩展用例依赖基本用例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54139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546158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368093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箭头起点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050923" y="368093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基本用例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776026" y="368093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扩展用例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99002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413051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抽取动机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050923" y="413051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消除重复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776026" y="413051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隔离例外和可选分支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1524000"/>
              <a:ext cx="6276022" cy="291941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938338" y="1524000"/>
              <a:ext cx="9525" cy="29194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4663440" y="1524000"/>
              <a:ext cx="9525" cy="29194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3" name="c2-card-1"/>
          <p:cNvGrpSpPr/>
          <p:nvPr/>
        </p:nvGrpSpPr>
        <p:grpSpPr>
          <a:xfrm>
            <a:off x="7114222" y="1524000"/>
            <a:ext cx="4544378" cy="1956435"/>
            <a:chOff x="7114222" y="1524000"/>
            <a:chExt cx="4544378" cy="1956435"/>
          </a:xfrm>
        </p:grpSpPr>
        <p:sp>
          <p:nvSpPr>
            <p:cNvPr id="36" name="Rectangle 36"/>
            <p:cNvSpPr/>
            <p:nvPr/>
          </p:nvSpPr>
          <p:spPr>
            <a:xfrm>
              <a:off x="7114222" y="1524000"/>
              <a:ext cx="4544378" cy="1956435"/>
            </a:xfrm>
            <a:prstGeom prst="roundRect">
              <a:avLst>
                <a:gd name="adj" fmla="val 68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7123748" y="1657350"/>
              <a:ext cx="47625" cy="168973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7361872" y="173355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456030" y="176926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820025" y="176879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同一个系统里的两种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354252" y="2129790"/>
              <a:ext cx="38538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包含：报告紧急情况 → 打开事件。每次答复都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要建事件，缺了它用例不完整。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354252" y="2750820"/>
              <a:ext cx="3663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扩展：连接中断 → 打开事件。网络断了才发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生，平时根本不出现。</a:t>
              </a:r>
            </a:p>
          </p:txBody>
        </p:sp>
      </p:grpSp>
      <p:grpSp>
        <p:nvGrpSpPr>
          <p:cNvPr id="50" name="c2-callout-2"/>
          <p:cNvGrpSpPr/>
          <p:nvPr/>
        </p:nvGrpSpPr>
        <p:grpSpPr>
          <a:xfrm>
            <a:off x="7114222" y="3670935"/>
            <a:ext cx="4544378" cy="782955"/>
            <a:chOff x="7114222" y="3670935"/>
            <a:chExt cx="4544378" cy="782955"/>
          </a:xfrm>
        </p:grpSpPr>
        <p:sp>
          <p:nvSpPr>
            <p:cNvPr id="44" name="Rectangle 44"/>
            <p:cNvSpPr/>
            <p:nvPr/>
          </p:nvSpPr>
          <p:spPr>
            <a:xfrm>
              <a:off x="7114222" y="3670935"/>
              <a:ext cx="4544378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19010" y="3962400"/>
              <a:ext cx="200026" cy="200025"/>
              <a:chOff x="7319010" y="3962400"/>
              <a:chExt cx="200026" cy="200025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19010" y="396240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7358749" y="400685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7393464" y="411797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7620952" y="3819525"/>
              <a:ext cx="3634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问自己一句「没有它，基本用例还能正常走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完吗」。能走完就是扩展，不能就是包含。</a:t>
              </a:r>
            </a:p>
          </p:txBody>
        </p:sp>
      </p:grpSp>
      <p:grpSp>
        <p:nvGrpSpPr>
          <p:cNvPr id="5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1" name="Rectangle 5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38188" y="5995988"/>
              <a:ext cx="200026" cy="200026"/>
              <a:chOff x="738188" y="5995988"/>
              <a:chExt cx="200026" cy="200026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38188" y="59959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38200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27088" y="60960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1040130" y="5991225"/>
              <a:ext cx="87026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包含关系在老资料里写作 "&lt;&lt;uses&gt;&gt;"，UML 后来统一成 "&lt;&lt;include&gt;&gt;"，两种写法指同一件事。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679879" cy="909257"/>
            <a:chOff x="520446" y="342900"/>
            <a:chExt cx="467987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用例间的关系与获取方法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67987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用提问把 Actor 和用例问出来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072081" cy="308039"/>
            <a:chOff x="525399" y="1550194"/>
            <a:chExt cx="6072081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07208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获取用例分两步：先问客户找出 Actor，再问 Actor 找出用例。</a:t>
              </a:r>
            </a:p>
          </p:txBody>
        </p:sp>
      </p:grpSp>
      <p:grpSp>
        <p:nvGrpSpPr>
          <p:cNvPr id="26" name="c1-card-1"/>
          <p:cNvGrpSpPr/>
          <p:nvPr/>
        </p:nvGrpSpPr>
        <p:grpSpPr>
          <a:xfrm>
            <a:off x="533400" y="1967865"/>
            <a:ext cx="5410200" cy="3600450"/>
            <a:chOff x="533400" y="1967865"/>
            <a:chExt cx="5410200" cy="360045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410200" cy="3600450"/>
            </a:xfrm>
            <a:prstGeom prst="roundRect">
              <a:avLst>
                <a:gd name="adj" fmla="val 37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333375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17741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7308" y="221313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第一步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24000" y="2212658"/>
              <a:ext cx="26885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对用户／客户提问，找 Actor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263652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2573655"/>
              <a:ext cx="38346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谁使用系统的主要功能（Primary Actor）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6765" y="297180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44880" y="290893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谁需要系统支持他们的日常工作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6765" y="330708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4880" y="3244215"/>
              <a:ext cx="38649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谁来维护、管理系统（Secondary Actor）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6765" y="364236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44880" y="357949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系统需要控制哪些硬件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86765" y="397764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44880" y="39147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系统需要与其他哪些系统交互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86765" y="431292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44880" y="425005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对系统产生的结果感兴趣的是哪些人或事物</a:t>
              </a:r>
            </a:p>
          </p:txBody>
        </p:sp>
      </p:grpSp>
      <p:grpSp>
        <p:nvGrpSpPr>
          <p:cNvPr id="40" name="c2-card-1"/>
          <p:cNvGrpSpPr/>
          <p:nvPr/>
        </p:nvGrpSpPr>
        <p:grpSpPr>
          <a:xfrm>
            <a:off x="6248400" y="1967865"/>
            <a:ext cx="5410200" cy="2626995"/>
            <a:chOff x="6248400" y="1967865"/>
            <a:chExt cx="5410200" cy="2626995"/>
          </a:xfrm>
        </p:grpSpPr>
        <p:sp>
          <p:nvSpPr>
            <p:cNvPr id="27" name="Rectangle 27"/>
            <p:cNvSpPr/>
            <p:nvPr/>
          </p:nvSpPr>
          <p:spPr>
            <a:xfrm>
              <a:off x="6248400" y="1967865"/>
              <a:ext cx="5410200" cy="2626995"/>
            </a:xfrm>
            <a:prstGeom prst="roundRect">
              <a:avLst>
                <a:gd name="adj" fmla="val 50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57925" y="2101215"/>
              <a:ext cx="47625" cy="236029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496050" y="217741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82308" y="221313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第二步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239000" y="2212658"/>
              <a:ext cx="21470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 Actor 提问，找用例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501765" y="263652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659880" y="2573655"/>
              <a:ext cx="40709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 要做的是什么，要求系统提供哪些功能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501765" y="297180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659880" y="2908935"/>
              <a:ext cx="45967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 需要读、产生、删除、修改或存储的信息有哪些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类型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501765" y="359283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59880" y="3529965"/>
              <a:ext cx="31225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必须提醒 Actor 的系统事件有哪些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501765" y="392811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59880" y="3865245"/>
              <a:ext cx="45967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 必须提醒系统的事件有哪些，怎样把这些事件表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示成用例中的功能</a:t>
              </a:r>
            </a:p>
          </p:txBody>
        </p:sp>
      </p:grpSp>
      <p:grpSp>
        <p:nvGrpSpPr>
          <p:cNvPr id="47" name="c2-callout-2"/>
          <p:cNvGrpSpPr/>
          <p:nvPr/>
        </p:nvGrpSpPr>
        <p:grpSpPr>
          <a:xfrm>
            <a:off x="6248400" y="4785360"/>
            <a:ext cx="5410200" cy="782955"/>
            <a:chOff x="6248400" y="4785360"/>
            <a:chExt cx="5410200" cy="782955"/>
          </a:xfrm>
        </p:grpSpPr>
        <p:sp>
          <p:nvSpPr>
            <p:cNvPr id="41" name="Rectangle 41"/>
            <p:cNvSpPr/>
            <p:nvPr/>
          </p:nvSpPr>
          <p:spPr>
            <a:xfrm>
              <a:off x="6248400" y="478536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6453188" y="5076825"/>
              <a:ext cx="200026" cy="200026"/>
              <a:chOff x="6453188" y="5076825"/>
              <a:chExt cx="200026" cy="200026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6453188" y="507682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553200" y="51435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6542088" y="517683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6755130" y="4933950"/>
              <a:ext cx="44634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括号里的主要／次要 Actor 之分，决定了后面顺序图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第一列放谁。</a:t>
              </a:r>
            </a:p>
          </p:txBody>
        </p:sp>
      </p:grpSp>
      <p:grpSp>
        <p:nvGrpSpPr>
          <p:cNvPr id="53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8" name="Rectangle 48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040130" y="5991225"/>
              <a:ext cx="750371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硬件和外部系统也是 Actor。只盯着「人」找，会漏掉打印机、计费网关这类角色。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用例间的关系与获取方法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直接总结不出用例时，用场景兜底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bullets-1"/>
          <p:cNvGrpSpPr/>
          <p:nvPr/>
        </p:nvGrpSpPr>
        <p:grpSpPr>
          <a:xfrm>
            <a:off x="525780" y="1548765"/>
            <a:ext cx="4766310" cy="992505"/>
            <a:chOff x="525780" y="1548765"/>
            <a:chExt cx="4766310" cy="99250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还可以追问两个问题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533400" y="188976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95249" y="19320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4390" y="1903095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系统需要何种输入输出，它们从哪里来、往哪里去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33400" y="223456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95249" y="22768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34390" y="2247900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现存的系统究竟有什么主要问题，以至于要换掉它</a:t>
              </a:r>
            </a:p>
          </p:txBody>
        </p:sp>
      </p:grpSp>
      <p:grpSp>
        <p:nvGrpSpPr>
          <p:cNvPr id="21" name="c1-card-2"/>
          <p:cNvGrpSpPr/>
          <p:nvPr/>
        </p:nvGrpSpPr>
        <p:grpSpPr>
          <a:xfrm>
            <a:off x="533400" y="2672715"/>
            <a:ext cx="4977765" cy="1708785"/>
            <a:chOff x="533400" y="2672715"/>
            <a:chExt cx="4977765" cy="1708785"/>
          </a:xfrm>
        </p:grpSpPr>
        <p:sp>
          <p:nvSpPr>
            <p:cNvPr id="15" name="Rectangle 15"/>
            <p:cNvSpPr/>
            <p:nvPr/>
          </p:nvSpPr>
          <p:spPr>
            <a:xfrm>
              <a:off x="533400" y="2672715"/>
              <a:ext cx="4977765" cy="1708785"/>
            </a:xfrm>
            <a:prstGeom prst="roundRect">
              <a:avLst>
                <a:gd name="adj" fmla="val 78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2806065"/>
              <a:ext cx="47625" cy="144208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81050" y="2882265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50557" y="291798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为什么问第二个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73430" y="3259455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客户说不出「要什么」的时候，往往说得出「现在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哪里难受」。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73430" y="388048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把难受的地方翻译成场景，用例就有了着落。</a:t>
              </a:r>
            </a:p>
          </p:txBody>
        </p:sp>
      </p:grpSp>
      <p:grpSp>
        <p:nvGrpSpPr>
          <p:cNvPr id="40" name="c2-flow-1"/>
          <p:cNvGrpSpPr/>
          <p:nvPr/>
        </p:nvGrpSpPr>
        <p:grpSpPr>
          <a:xfrm>
            <a:off x="6224588" y="1590675"/>
            <a:ext cx="5025390" cy="2724150"/>
            <a:chOff x="6224588" y="1590675"/>
            <a:chExt cx="5025390" cy="2724150"/>
          </a:xfrm>
        </p:grpSpPr>
        <p:sp>
          <p:nvSpPr>
            <p:cNvPr id="22" name="Freeform 22"/>
            <p:cNvSpPr/>
            <p:nvPr/>
          </p:nvSpPr>
          <p:spPr>
            <a:xfrm>
              <a:off x="8737282" y="2028825"/>
              <a:ext cx="9525" cy="28575"/>
            </a:xfrm>
            <a:custGeom>
              <a:avLst/>
              <a:gdLst/>
              <a:ahLst/>
              <a:cxnLst/>
              <a:rect l="l" t="t" r="r" b="b"/>
              <a:pathLst>
                <a:path w="9525" h="28575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8684895" y="20574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8737282" y="2600325"/>
              <a:ext cx="9525" cy="28575"/>
            </a:xfrm>
            <a:custGeom>
              <a:avLst/>
              <a:gdLst/>
              <a:ahLst/>
              <a:cxnLst/>
              <a:rect l="l" t="t" r="r" b="b"/>
              <a:pathLst>
                <a:path w="9525" h="28575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8684895" y="26289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8737282" y="3171825"/>
              <a:ext cx="9525" cy="28575"/>
            </a:xfrm>
            <a:custGeom>
              <a:avLst/>
              <a:gdLst/>
              <a:ahLst/>
              <a:cxnLst/>
              <a:rect l="l" t="t" r="r" b="b"/>
              <a:pathLst>
                <a:path w="9525" h="28575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8684895" y="32004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8737282" y="3743325"/>
              <a:ext cx="9525" cy="28575"/>
            </a:xfrm>
            <a:custGeom>
              <a:avLst/>
              <a:gdLst/>
              <a:ahLst/>
              <a:cxnLst/>
              <a:rect l="l" t="t" r="r" b="b"/>
              <a:pathLst>
                <a:path w="9525" h="28575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8684895" y="37719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24588" y="1590675"/>
              <a:ext cx="5025390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24588" y="2162175"/>
              <a:ext cx="502539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24588" y="2733675"/>
              <a:ext cx="502539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224588" y="3305175"/>
              <a:ext cx="502539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224588" y="3876675"/>
              <a:ext cx="5025390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386178" y="172069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现实场景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386178" y="229219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想象场景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127708" y="286369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快速、小型原型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386178" y="343519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系统描述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55394" y="400669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用例形式的需求定义</a:t>
              </a:r>
            </a:p>
          </p:txBody>
        </p:sp>
      </p:grpSp>
      <p:grpSp>
        <p:nvGrpSpPr>
          <p:cNvPr id="4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1" name="Rectangle 4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040130" y="5991225"/>
              <a:ext cx="74866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原型在这里只是提问的工具，做得越小越好，能让客户指着说「不是这样」就够了。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4" name="section-title"/>
          <p:cNvGrpSpPr/>
          <p:nvPr/>
        </p:nvGrpSpPr>
        <p:grpSpPr>
          <a:xfrm>
            <a:off x="667512" y="1835468"/>
            <a:ext cx="4882896" cy="2643187"/>
            <a:chOff x="667512" y="1835468"/>
            <a:chExt cx="4882896" cy="264318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从需求提取到分析模型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参与对象、分析类，以及三类对象的标识办法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分析模型要准确、完整、一致、可检验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实体、边界、控制各自隔离一类变化</a:t>
              </a:r>
            </a:p>
          </p:txBody>
        </p:sp>
      </p:grpSp>
      <p:grpSp>
        <p:nvGrpSpPr>
          <p:cNvPr id="1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" name="TextBox 15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0802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2876" y="407194"/>
              <a:ext cx="31290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从需求提取到分析模型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基于用例的需求提取活动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523986" cy="308039"/>
            <a:chOff x="525399" y="1550194"/>
            <a:chExt cx="8523986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52398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这七步不是一条直线，后面的步骤经常把前面的结论推翻重来。括号里的一步可做可不做。</a:t>
              </a:r>
            </a:p>
          </p:txBody>
        </p:sp>
      </p:grpSp>
      <p:grpSp>
        <p:nvGrpSpPr>
          <p:cNvPr id="35" name="c1-flow-1"/>
          <p:cNvGrpSpPr/>
          <p:nvPr/>
        </p:nvGrpSpPr>
        <p:grpSpPr>
          <a:xfrm>
            <a:off x="882015" y="2020252"/>
            <a:ext cx="4280535" cy="3704273"/>
            <a:chOff x="882015" y="2020252"/>
            <a:chExt cx="4280535" cy="3704273"/>
          </a:xfrm>
        </p:grpSpPr>
        <p:sp>
          <p:nvSpPr>
            <p:cNvPr id="9" name="Freeform 9"/>
            <p:cNvSpPr/>
            <p:nvPr/>
          </p:nvSpPr>
          <p:spPr>
            <a:xfrm>
              <a:off x="3022282" y="245840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190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969895" y="246030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022282" y="300323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95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969895" y="300418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022282" y="3547110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190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969895" y="35490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3022282" y="4091940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95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969895" y="409289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3022282" y="4635818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95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2969895" y="463677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3022282" y="5179695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190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2969895" y="51816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882015" y="2020252"/>
              <a:ext cx="4280535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882015" y="2565082"/>
              <a:ext cx="4280535" cy="438150"/>
            </a:xfrm>
            <a:prstGeom prst="roundRect">
              <a:avLst>
                <a:gd name="adj" fmla="val 2173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882015" y="3108960"/>
              <a:ext cx="428053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82015" y="3653790"/>
              <a:ext cx="428053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882015" y="4197668"/>
              <a:ext cx="428053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882015" y="4741545"/>
              <a:ext cx="4280535" cy="438150"/>
            </a:xfrm>
            <a:prstGeom prst="roundRect">
              <a:avLst>
                <a:gd name="adj" fmla="val 21739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882015" y="5286375"/>
              <a:ext cx="4280535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564451" y="2150269"/>
              <a:ext cx="9156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确定 Actor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498865" y="269509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（确定场景）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671178" y="323897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确定用例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671178" y="37838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改进用例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326551" y="432768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确定用例间的关系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498865" y="487156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确定参与对象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326551" y="541639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确定非功能性需求</a:t>
              </a:r>
            </a:p>
          </p:txBody>
        </p:sp>
      </p:grpSp>
      <p:grpSp>
        <p:nvGrpSpPr>
          <p:cNvPr id="56" name="c2-kv-1"/>
          <p:cNvGrpSpPr/>
          <p:nvPr/>
        </p:nvGrpSpPr>
        <p:grpSpPr>
          <a:xfrm>
            <a:off x="5808345" y="1992630"/>
            <a:ext cx="5850255" cy="2933700"/>
            <a:chOff x="5808345" y="1992630"/>
            <a:chExt cx="5850255" cy="2933700"/>
          </a:xfrm>
        </p:grpSpPr>
        <p:sp>
          <p:nvSpPr>
            <p:cNvPr id="36" name="TextBox 36"/>
            <p:cNvSpPr txBox="1"/>
            <p:nvPr/>
          </p:nvSpPr>
          <p:spPr>
            <a:xfrm>
              <a:off x="5808345" y="1992630"/>
              <a:ext cx="10731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确定 Actor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246620" y="199263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先问客户，硬件和外部系统也算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815965" y="231267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808345" y="243268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确定场景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246620" y="243268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直接归纳用例有困难时才用，用具体例子铺路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815965" y="275272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808345" y="287274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确定用例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246620" y="2872740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把场景归纳成角色级别的完整功能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815965" y="319278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808345" y="331279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改进用例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246620" y="3312795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补上错误分支和异常分支，从能用走到全面完整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815965" y="363283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808345" y="37528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确定关系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246620" y="375285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用包含、扩展、泛化减少复杂性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815965" y="407289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808345" y="419290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确定参与对象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246620" y="419290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从用例迈向对象，这一步产生最初的分析模型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815965" y="451294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808345" y="463296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非功能性需求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246620" y="463296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性能、可靠性、安全等，写进用例的特殊需求</a:t>
              </a:r>
            </a:p>
          </p:txBody>
        </p:sp>
      </p:grpSp>
      <p:grpSp>
        <p:nvGrpSpPr>
          <p:cNvPr id="62" name="c2-callout-2"/>
          <p:cNvGrpSpPr/>
          <p:nvPr/>
        </p:nvGrpSpPr>
        <p:grpSpPr>
          <a:xfrm>
            <a:off x="5815965" y="5057775"/>
            <a:ext cx="5842635" cy="782955"/>
            <a:chOff x="5815965" y="5057775"/>
            <a:chExt cx="5842635" cy="782955"/>
          </a:xfrm>
        </p:grpSpPr>
        <p:sp>
          <p:nvSpPr>
            <p:cNvPr id="57" name="Rectangle 57"/>
            <p:cNvSpPr/>
            <p:nvPr/>
          </p:nvSpPr>
          <p:spPr>
            <a:xfrm>
              <a:off x="5815965" y="5057775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6020753" y="5349242"/>
              <a:ext cx="200023" cy="200023"/>
              <a:chOff x="6020753" y="5349242"/>
              <a:chExt cx="200023" cy="200023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6020753" y="534924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6154103" y="541591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6322695" y="5206365"/>
              <a:ext cx="48158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前五步还在谈"功能"，第六步开始谈"对象"，这是需求提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取转向分析的分水岭。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0802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2876" y="407194"/>
              <a:ext cx="31290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从需求提取到分析模型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确定参与对象：从用例迈向对象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card-1"/>
          <p:cNvGrpSpPr/>
          <p:nvPr/>
        </p:nvGrpSpPr>
        <p:grpSpPr>
          <a:xfrm>
            <a:off x="533400" y="1524000"/>
            <a:ext cx="5626418" cy="2493645"/>
            <a:chOff x="533400" y="1524000"/>
            <a:chExt cx="5626418" cy="249364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493645"/>
            </a:xfrm>
            <a:prstGeom prst="roundRect">
              <a:avLst>
                <a:gd name="adj" fmla="val 534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22694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7059" y="175641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做什么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86281" y="1756886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确定每个用例的参与对象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381" y="2100739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参与对象对应问题空间里的主要概念，把它们列出来就形成了</a:t>
              </a:r>
              <a:br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术语表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381" y="2690336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参与对象的确定产生了最初的分析模型。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7240" y="306800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3831" y="3007519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对象的描述和属性可以交给用户评审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77240" y="338518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3831" y="3325654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这是整个分析模型与用户衔接的部分，通常不会拿完整的分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析模型去烦用户</a:t>
              </a:r>
            </a:p>
          </p:txBody>
        </p:sp>
      </p:grpSp>
      <p:grpSp>
        <p:nvGrpSpPr>
          <p:cNvPr id="25" name="c1-callout-2"/>
          <p:cNvGrpSpPr/>
          <p:nvPr/>
        </p:nvGrpSpPr>
        <p:grpSpPr>
          <a:xfrm>
            <a:off x="533400" y="4197668"/>
            <a:ext cx="5626418" cy="1393508"/>
            <a:chOff x="533400" y="4197668"/>
            <a:chExt cx="5626418" cy="1393508"/>
          </a:xfrm>
        </p:grpSpPr>
        <p:sp>
          <p:nvSpPr>
            <p:cNvPr id="19" name="Rectangle 19"/>
            <p:cNvSpPr/>
            <p:nvPr/>
          </p:nvSpPr>
          <p:spPr>
            <a:xfrm>
              <a:off x="533400" y="4197668"/>
              <a:ext cx="5626418" cy="1393508"/>
            </a:xfrm>
            <a:prstGeom prst="roundRect">
              <a:avLst>
                <a:gd name="adj" fmla="val 820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38188" y="4794885"/>
              <a:ext cx="200026" cy="200025"/>
              <a:chOff x="738188" y="4794885"/>
              <a:chExt cx="200026" cy="20002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479488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777926" y="483933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12642" y="495046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511" y="4663916"/>
              <a:ext cx="452297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术语表的真正作用是让开发方和客户对同一个词的理解一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致，避免后面返工。</a:t>
              </a:r>
            </a:p>
          </p:txBody>
        </p:sp>
      </p:grpSp>
      <p:grpSp>
        <p:nvGrpSpPr>
          <p:cNvPr id="43" name="c2-bullets-1"/>
          <p:cNvGrpSpPr/>
          <p:nvPr/>
        </p:nvGrpSpPr>
        <p:grpSpPr>
          <a:xfrm>
            <a:off x="6457379" y="1547336"/>
            <a:ext cx="5236107" cy="2901887"/>
            <a:chOff x="6457379" y="1547336"/>
            <a:chExt cx="5236107" cy="2901887"/>
          </a:xfrm>
        </p:grpSpPr>
        <p:sp>
          <p:nvSpPr>
            <p:cNvPr id="26" name="TextBox 26"/>
            <p:cNvSpPr txBox="1"/>
            <p:nvPr/>
          </p:nvSpPr>
          <p:spPr>
            <a:xfrm>
              <a:off x="6457379" y="1547336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确定参与对象的试探法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6464618" y="1913572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2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708838" y="1883569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开发人员或用户为理解用例所必须阐明的术语</a:t>
              </a:r>
            </a:p>
          </p:txBody>
        </p:sp>
        <p:sp>
          <p:nvSpPr>
            <p:cNvPr id="29" name="Freeform 29"/>
            <p:cNvSpPr/>
            <p:nvPr/>
          </p:nvSpPr>
          <p:spPr>
            <a:xfrm>
              <a:off x="6464618" y="2240280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708838" y="2210276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用例中的常用名词（如，事件）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6464618" y="2566988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708838" y="2536984"/>
              <a:ext cx="49846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系统需要跟踪的现实世界实体（如，现场工作人员、资源）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6464618" y="2893695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2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708838" y="2863691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系统需要跟踪的现实世界过程（如，紧急操作计划）</a:t>
              </a:r>
            </a:p>
          </p:txBody>
        </p:sp>
        <p:sp>
          <p:nvSpPr>
            <p:cNvPr id="35" name="Freeform 35"/>
            <p:cNvSpPr/>
            <p:nvPr/>
          </p:nvSpPr>
          <p:spPr>
            <a:xfrm>
              <a:off x="6464618" y="3220402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2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708838" y="3190399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用例本身（如，报告紧急情况）</a:t>
              </a:r>
            </a:p>
          </p:txBody>
        </p:sp>
        <p:sp>
          <p:nvSpPr>
            <p:cNvPr id="37" name="Freeform 37"/>
            <p:cNvSpPr/>
            <p:nvPr/>
          </p:nvSpPr>
          <p:spPr>
            <a:xfrm>
              <a:off x="6464618" y="3547110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708838" y="3517106"/>
              <a:ext cx="32642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数据来源或数据接受器（如，打印机）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464618" y="3873818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708838" y="3843814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接口产品（如，工作站）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6464618" y="4200525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708838" y="4170521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总要使用的应用域的术语</a:t>
              </a:r>
            </a:p>
          </p:txBody>
        </p:sp>
      </p:grpSp>
      <p:grpSp>
        <p:nvGrpSpPr>
          <p:cNvPr id="50" name="c2-callout-2"/>
          <p:cNvGrpSpPr/>
          <p:nvPr/>
        </p:nvGrpSpPr>
        <p:grpSpPr>
          <a:xfrm>
            <a:off x="6464618" y="4572952"/>
            <a:ext cx="5193982" cy="1018222"/>
            <a:chOff x="6464618" y="4572952"/>
            <a:chExt cx="5193982" cy="1018222"/>
          </a:xfrm>
        </p:grpSpPr>
        <p:sp>
          <p:nvSpPr>
            <p:cNvPr id="44" name="Rectangle 44"/>
            <p:cNvSpPr/>
            <p:nvPr/>
          </p:nvSpPr>
          <p:spPr>
            <a:xfrm>
              <a:off x="6464618" y="4572952"/>
              <a:ext cx="5193982" cy="1018222"/>
            </a:xfrm>
            <a:prstGeom prst="roundRect">
              <a:avLst>
                <a:gd name="adj" fmla="val 1122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6669405" y="4982528"/>
              <a:ext cx="200026" cy="200026"/>
              <a:chOff x="6669405" y="4982528"/>
              <a:chExt cx="200026" cy="200026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6669405" y="49825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769418" y="50492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758305" y="50825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6971729" y="4720114"/>
              <a:ext cx="4180332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对"报告紧急情况"用例照这几条筛一遍，最初得到调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度员、紧急情况报告、现场工作人员、事件四个参与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对象。</a:t>
              </a:r>
            </a:p>
          </p:txBody>
        </p:sp>
      </p:grpSp>
      <p:grpSp>
        <p:nvGrpSpPr>
          <p:cNvPr id="57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51" name="Rectangle 51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26129" y="6007536"/>
              <a:ext cx="224134" cy="192560"/>
              <a:chOff x="726129" y="6007536"/>
              <a:chExt cx="224134" cy="19256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838200" y="60779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726129" y="60075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38200" y="61556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1040511" y="6011704"/>
              <a:ext cx="73168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名词法只是起点。像"信息""数据"这种没有具体含义的名词要先问清楚再决定留不留。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0802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2876" y="407194"/>
              <a:ext cx="31290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从需求提取到分析模型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从需求提取到分析：分析模型是什么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flow-1"/>
          <p:cNvGrpSpPr/>
          <p:nvPr/>
        </p:nvGrpSpPr>
        <p:grpSpPr>
          <a:xfrm>
            <a:off x="912495" y="1602105"/>
            <a:ext cx="4652962" cy="2225040"/>
            <a:chOff x="912495" y="1602105"/>
            <a:chExt cx="4652962" cy="2225040"/>
          </a:xfrm>
        </p:grpSpPr>
        <p:sp>
          <p:nvSpPr>
            <p:cNvPr id="7" name="Freeform 7"/>
            <p:cNvSpPr/>
            <p:nvPr/>
          </p:nvSpPr>
          <p:spPr>
            <a:xfrm>
              <a:off x="3238500" y="2040255"/>
              <a:ext cx="9525" cy="53340"/>
            </a:xfrm>
            <a:custGeom>
              <a:avLst/>
              <a:gdLst/>
              <a:ahLst/>
              <a:cxnLst/>
              <a:rect l="l" t="t" r="r" b="b"/>
              <a:pathLst>
                <a:path w="9525" h="53340">
                  <a:moveTo>
                    <a:pt x="0" y="0"/>
                  </a:moveTo>
                  <a:lnTo>
                    <a:pt x="0" y="5334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186112" y="20935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3238500" y="2636520"/>
              <a:ext cx="9525" cy="51435"/>
            </a:xfrm>
            <a:custGeom>
              <a:avLst/>
              <a:gdLst/>
              <a:ahLst/>
              <a:cxnLst/>
              <a:rect l="l" t="t" r="r" b="b"/>
              <a:pathLst>
                <a:path w="9525" h="51435">
                  <a:moveTo>
                    <a:pt x="0" y="0"/>
                  </a:moveTo>
                  <a:lnTo>
                    <a:pt x="0" y="5143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186112" y="268795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238500" y="3230880"/>
              <a:ext cx="9525" cy="53340"/>
            </a:xfrm>
            <a:custGeom>
              <a:avLst/>
              <a:gdLst/>
              <a:ahLst/>
              <a:cxnLst/>
              <a:rect l="l" t="t" r="r" b="b"/>
              <a:pathLst>
                <a:path w="9525" h="53340">
                  <a:moveTo>
                    <a:pt x="0" y="0"/>
                  </a:moveTo>
                  <a:lnTo>
                    <a:pt x="0" y="5334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186112" y="328422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912495" y="1602105"/>
              <a:ext cx="4652962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912495" y="2198370"/>
              <a:ext cx="465296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912495" y="2792730"/>
              <a:ext cx="465296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912495" y="3388995"/>
              <a:ext cx="4652962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887396" y="173212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需求提取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198141" y="2328386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用例和场景形式的需求说明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284298" y="2923699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细化描述、规范和形式化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887396" y="351901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分析模型</a:t>
              </a:r>
            </a:p>
          </p:txBody>
        </p:sp>
      </p:grpSp>
      <p:grpSp>
        <p:nvGrpSpPr>
          <p:cNvPr id="26" name="c1-card-2"/>
          <p:cNvGrpSpPr/>
          <p:nvPr/>
        </p:nvGrpSpPr>
        <p:grpSpPr>
          <a:xfrm>
            <a:off x="533400" y="4095750"/>
            <a:ext cx="5410200" cy="1786890"/>
            <a:chOff x="533400" y="4095750"/>
            <a:chExt cx="5410200" cy="1786890"/>
          </a:xfrm>
        </p:grpSpPr>
        <p:sp>
          <p:nvSpPr>
            <p:cNvPr id="22" name="Rectangle 22"/>
            <p:cNvSpPr/>
            <p:nvPr/>
          </p:nvSpPr>
          <p:spPr>
            <a:xfrm>
              <a:off x="533400" y="4095750"/>
              <a:ext cx="5410200" cy="1786890"/>
            </a:xfrm>
            <a:prstGeom prst="roundRect">
              <a:avLst>
                <a:gd name="adj" fmla="val 7463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42950" y="430530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33158" y="434101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定位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35330" y="468249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分析模型对应传统开发里的需求规约文档，同时还包含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系</a:t>
              </a:r>
              <a:br/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统高层设计的起始部分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44" name="c2-card-1"/>
          <p:cNvGrpSpPr/>
          <p:nvPr/>
        </p:nvGrpSpPr>
        <p:grpSpPr>
          <a:xfrm>
            <a:off x="6248400" y="1524000"/>
            <a:ext cx="5410200" cy="2055495"/>
            <a:chOff x="6248400" y="1524000"/>
            <a:chExt cx="5410200" cy="2055495"/>
          </a:xfrm>
        </p:grpSpPr>
        <p:sp>
          <p:nvSpPr>
            <p:cNvPr id="27" name="Rectangle 27"/>
            <p:cNvSpPr/>
            <p:nvPr/>
          </p:nvSpPr>
          <p:spPr>
            <a:xfrm>
              <a:off x="6248400" y="1524000"/>
              <a:ext cx="5410200" cy="2055495"/>
            </a:xfrm>
            <a:prstGeom prst="roundRect">
              <a:avLst>
                <a:gd name="adj" fmla="val 648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57925" y="1657350"/>
              <a:ext cx="47625" cy="178879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496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86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要求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097078" y="176879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分析模型的四个性质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496050" y="211645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57899" y="215874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97040" y="212979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准确：说的就是客户要的那件事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496050" y="245173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57899" y="24940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97040" y="246507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完整：该有的功能、异常、约束都在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496050" y="278701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57899" y="28293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797040" y="280035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一致：前后不打架，术语只有一种含义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496050" y="312229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57899" y="31645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797040" y="313563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可检验：每条都能设计出办法验证它做到没有</a:t>
              </a:r>
            </a:p>
          </p:txBody>
        </p:sp>
      </p:grpSp>
      <p:grpSp>
        <p:nvGrpSpPr>
          <p:cNvPr id="53" name="c2-kv-2"/>
          <p:cNvGrpSpPr/>
          <p:nvPr/>
        </p:nvGrpSpPr>
        <p:grpSpPr>
          <a:xfrm>
            <a:off x="6240780" y="3794760"/>
            <a:ext cx="5417820" cy="1173480"/>
            <a:chOff x="6240780" y="3794760"/>
            <a:chExt cx="5417820" cy="1173480"/>
          </a:xfrm>
        </p:grpSpPr>
        <p:sp>
          <p:nvSpPr>
            <p:cNvPr id="45" name="TextBox 45"/>
            <p:cNvSpPr txBox="1"/>
            <p:nvPr/>
          </p:nvSpPr>
          <p:spPr>
            <a:xfrm>
              <a:off x="6240780" y="379476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功能模型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281862" y="379476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用例图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248400" y="411480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240780" y="4234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对象模型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281862" y="42348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类图、对象图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248400" y="455485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240780" y="467487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动态模型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281862" y="467487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顺序图、状态图</a:t>
              </a:r>
            </a:p>
          </p:txBody>
        </p:sp>
      </p:grpSp>
      <p:grpSp>
        <p:nvGrpSpPr>
          <p:cNvPr id="60" name="c2-callout-3"/>
          <p:cNvGrpSpPr/>
          <p:nvPr/>
        </p:nvGrpSpPr>
        <p:grpSpPr>
          <a:xfrm>
            <a:off x="6248400" y="5099685"/>
            <a:ext cx="5410200" cy="782955"/>
            <a:chOff x="6248400" y="5099685"/>
            <a:chExt cx="5410200" cy="782955"/>
          </a:xfrm>
        </p:grpSpPr>
        <p:sp>
          <p:nvSpPr>
            <p:cNvPr id="54" name="Rectangle 54"/>
            <p:cNvSpPr/>
            <p:nvPr/>
          </p:nvSpPr>
          <p:spPr>
            <a:xfrm>
              <a:off x="6248400" y="509968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6453188" y="5391150"/>
              <a:ext cx="200026" cy="200025"/>
              <a:chOff x="6453188" y="5391150"/>
              <a:chExt cx="200026" cy="20002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453188" y="539115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492926" y="543560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6527642" y="554672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6755130" y="5248275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分析的三个活动：提取分析类、转述用例或场景、整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理分析类。本章后三节正好对应这三件事。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0802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2876" y="407194"/>
              <a:ext cx="31290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从需求提取到分析模型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分析类是概念层的东西，粗糙才是对的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410200" cy="1670685"/>
            <a:chOff x="533400" y="1524000"/>
            <a:chExt cx="5410200" cy="16706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670685"/>
            </a:xfrm>
            <a:prstGeom prst="roundRect">
              <a:avLst>
                <a:gd name="adj" fmla="val 79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40398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分析类（也叫分析对象）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分析类是概念层的内容，从它们可以捕获系统对象模型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的雏形。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275082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分析类相当粗略，不要往其中添加技术细节。</a:t>
              </a:r>
            </a:p>
          </p:txBody>
        </p:sp>
      </p:grpSp>
      <p:grpSp>
        <p:nvGrpSpPr>
          <p:cNvPr id="21" name="c1-card-2"/>
          <p:cNvGrpSpPr/>
          <p:nvPr/>
        </p:nvGrpSpPr>
        <p:grpSpPr>
          <a:xfrm>
            <a:off x="533400" y="3385185"/>
            <a:ext cx="5410200" cy="1937385"/>
            <a:chOff x="533400" y="3385185"/>
            <a:chExt cx="5410200" cy="1937385"/>
          </a:xfrm>
        </p:grpSpPr>
        <p:sp>
          <p:nvSpPr>
            <p:cNvPr id="15" name="Rectangle 15"/>
            <p:cNvSpPr/>
            <p:nvPr/>
          </p:nvSpPr>
          <p:spPr>
            <a:xfrm>
              <a:off x="533400" y="338518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3518535"/>
              <a:ext cx="47625" cy="167068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81050" y="3594735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54507" y="363045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常见做法错误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73430" y="3971925"/>
              <a:ext cx="46729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在分析类里写数据库字段类型、写 getter/setter、写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框架注解。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73430" y="459295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这些属于设计和实现阶段，写早了会在需求变动时全部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重做。</a:t>
              </a:r>
            </a:p>
          </p:txBody>
        </p:sp>
      </p:grpSp>
      <p:grpSp>
        <p:nvGrpSpPr>
          <p:cNvPr id="27" name="c2-card-1"/>
          <p:cNvGrpSpPr/>
          <p:nvPr/>
        </p:nvGrpSpPr>
        <p:grpSpPr>
          <a:xfrm>
            <a:off x="6248400" y="1524000"/>
            <a:ext cx="5410200" cy="1335405"/>
            <a:chOff x="6248400" y="1524000"/>
            <a:chExt cx="5410200" cy="1335405"/>
          </a:xfrm>
        </p:grpSpPr>
        <p:sp>
          <p:nvSpPr>
            <p:cNvPr id="22" name="Rectangle 22"/>
            <p:cNvSpPr/>
            <p:nvPr/>
          </p:nvSpPr>
          <p:spPr>
            <a:xfrm>
              <a:off x="6248400" y="1524000"/>
              <a:ext cx="5410200" cy="1335405"/>
            </a:xfrm>
            <a:prstGeom prst="roundRect">
              <a:avLst>
                <a:gd name="adj" fmla="val 9986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45795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4025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划分原则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342823" y="1768792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尽量减小需求变化的影响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50330" y="212979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手段是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高内聚、低耦合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：把会一起变的东西放在一起，把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变化速度不同的东西分开。</a:t>
              </a:r>
            </a:p>
          </p:txBody>
        </p:sp>
      </p:grpSp>
      <p:grpSp>
        <p:nvGrpSpPr>
          <p:cNvPr id="36" name="c2-kv-2"/>
          <p:cNvGrpSpPr/>
          <p:nvPr/>
        </p:nvGrpSpPr>
        <p:grpSpPr>
          <a:xfrm>
            <a:off x="6240780" y="3074670"/>
            <a:ext cx="5417820" cy="1173480"/>
            <a:chOff x="6240780" y="3074670"/>
            <a:chExt cx="5417820" cy="1173480"/>
          </a:xfrm>
        </p:grpSpPr>
        <p:sp>
          <p:nvSpPr>
            <p:cNvPr id="28" name="TextBox 28"/>
            <p:cNvSpPr txBox="1"/>
            <p:nvPr/>
          </p:nvSpPr>
          <p:spPr>
            <a:xfrm>
              <a:off x="6240780" y="307467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实体类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083742" y="3074670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系统要记录和维护的信息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48400" y="339471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240780" y="351472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边界类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083742" y="351472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系统和外部要素之间交互的边界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48400" y="383476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240780" y="395478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控制类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083742" y="395478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用例中行为的协调</a:t>
              </a:r>
            </a:p>
          </p:txBody>
        </p:sp>
      </p:grpSp>
      <p:grpSp>
        <p:nvGrpSpPr>
          <p:cNvPr id="43" name="c2-callout-3"/>
          <p:cNvGrpSpPr/>
          <p:nvPr/>
        </p:nvGrpSpPr>
        <p:grpSpPr>
          <a:xfrm>
            <a:off x="6248400" y="4379595"/>
            <a:ext cx="5410200" cy="942975"/>
            <a:chOff x="6248400" y="4379595"/>
            <a:chExt cx="5410200" cy="942975"/>
          </a:xfrm>
        </p:grpSpPr>
        <p:sp>
          <p:nvSpPr>
            <p:cNvPr id="37" name="Rectangle 37"/>
            <p:cNvSpPr/>
            <p:nvPr/>
          </p:nvSpPr>
          <p:spPr>
            <a:xfrm>
              <a:off x="6248400" y="4379595"/>
              <a:ext cx="5410200" cy="942975"/>
            </a:xfrm>
            <a:prstGeom prst="roundRect">
              <a:avLst>
                <a:gd name="adj" fmla="val 1212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6453188" y="4751070"/>
              <a:ext cx="200026" cy="200026"/>
              <a:chOff x="6453188" y="4751070"/>
              <a:chExt cx="200026" cy="200026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453188" y="475107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553200" y="481774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542088" y="485108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6755130" y="4608195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界面换一套、业务流程改一版、数据结构调一次，这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三种变化的频率完全不同，所以要分成三类。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0802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2876" y="407194"/>
              <a:ext cx="31290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从需求提取到分析模型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三类分析类各自隔离一类变化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table-1"/>
          <p:cNvGrpSpPr/>
          <p:nvPr/>
        </p:nvGrpSpPr>
        <p:grpSpPr>
          <a:xfrm>
            <a:off x="533400" y="1524000"/>
            <a:ext cx="6276022" cy="2764155"/>
            <a:chOff x="533400" y="1524000"/>
            <a:chExt cx="6276022" cy="27641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2481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41997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类别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50174" y="1652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描述什么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203002" y="165258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隔离了什么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933313" y="165258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构造型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5889" y="228981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实体类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9317" y="2183130"/>
              <a:ext cx="1993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必须存储的信息，以及与这些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信息直接相关的操作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773424" y="2076450"/>
              <a:ext cx="1536192" cy="6614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与外部环境、与特定用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例的控制逻辑都是弱耦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656516" y="2289810"/>
              <a:ext cx="8602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&lt;&lt;entity&gt;&gt;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79463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799398"/>
              <a:ext cx="6276022" cy="85153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5889" y="314134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边界类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89317" y="2927985"/>
              <a:ext cx="1993392" cy="6614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系统外部环境与内部运作之间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的交互，负责内容翻译、形式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转换并表达结果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73424" y="3034665"/>
              <a:ext cx="15361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把实体类、控制类与外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部环境隔离开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656516" y="3034665"/>
              <a:ext cx="93421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&lt;&lt;boundary&gt;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&gt;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64617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5889" y="388620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389317" y="3779520"/>
              <a:ext cx="1993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一个用例特有的事件流中的控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制行为，起协调人作用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73424" y="3779520"/>
              <a:ext cx="15361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把用例特有的行为与实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体类、边界类隔离开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656516" y="3886200"/>
              <a:ext cx="9491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&lt;&lt;control&gt;&gt;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1524000"/>
              <a:ext cx="6276022" cy="27641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1282065" y="1524000"/>
              <a:ext cx="9525" cy="27641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3666172" y="1524000"/>
              <a:ext cx="9525" cy="27641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549265" y="1524000"/>
              <a:ext cx="9525" cy="27641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4" name="c1-kv-2"/>
          <p:cNvGrpSpPr/>
          <p:nvPr/>
        </p:nvGrpSpPr>
        <p:grpSpPr>
          <a:xfrm>
            <a:off x="526161" y="4492466"/>
            <a:ext cx="6063171" cy="546354"/>
            <a:chOff x="526161" y="4492466"/>
            <a:chExt cx="6063171" cy="546354"/>
          </a:xfrm>
        </p:grpSpPr>
        <p:sp>
          <p:nvSpPr>
            <p:cNvPr id="32" name="TextBox 32"/>
            <p:cNvSpPr txBox="1"/>
            <p:nvPr/>
          </p:nvSpPr>
          <p:spPr>
            <a:xfrm>
              <a:off x="526161" y="449246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图示画法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525334" y="4492466"/>
              <a:ext cx="506399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实体类是底部带一条横线的圆，边界类是左侧带一条竖线的圆，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控制类是带回转箭头的圆</a:t>
              </a:r>
            </a:p>
          </p:txBody>
        </p:sp>
      </p:grpSp>
      <p:grpSp>
        <p:nvGrpSpPr>
          <p:cNvPr id="40" name="c1-callout-3"/>
          <p:cNvGrpSpPr/>
          <p:nvPr/>
        </p:nvGrpSpPr>
        <p:grpSpPr>
          <a:xfrm>
            <a:off x="533400" y="5162550"/>
            <a:ext cx="6276022" cy="756285"/>
            <a:chOff x="533400" y="5162550"/>
            <a:chExt cx="6276022" cy="756285"/>
          </a:xfrm>
        </p:grpSpPr>
        <p:sp>
          <p:nvSpPr>
            <p:cNvPr id="35" name="Rectangle 35"/>
            <p:cNvSpPr/>
            <p:nvPr/>
          </p:nvSpPr>
          <p:spPr>
            <a:xfrm>
              <a:off x="533400" y="5162550"/>
              <a:ext cx="6276022" cy="756285"/>
            </a:xfrm>
            <a:prstGeom prst="roundRect">
              <a:avLst>
                <a:gd name="adj" fmla="val 15113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38188" y="5440682"/>
              <a:ext cx="200023" cy="200023"/>
              <a:chOff x="738188" y="5440682"/>
              <a:chExt cx="200023" cy="200023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738188" y="544068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71538" y="55073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511" y="5310664"/>
              <a:ext cx="524433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因为控制类把用例特有的行为收走了，实体类和边界类才有可能跨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越多个用例复用。</a:t>
              </a:r>
            </a:p>
          </p:txBody>
        </p:sp>
      </p:grpSp>
      <p:grpSp>
        <p:nvGrpSpPr>
          <p:cNvPr id="43" name="c2-image-1"/>
          <p:cNvGrpSpPr/>
          <p:nvPr/>
        </p:nvGrpSpPr>
        <p:grpSpPr>
          <a:xfrm>
            <a:off x="7114222" y="1524000"/>
            <a:ext cx="4544378" cy="2984754"/>
            <a:chOff x="7114222" y="1524000"/>
            <a:chExt cx="4544378" cy="2984754"/>
          </a:xfrm>
        </p:grpSpPr>
        <p:pic>
          <p:nvPicPr>
            <p:cNvPr id="41" name="Image 41"/>
            <p:cNvPicPr>
              <a:picLocks noChangeAspect="1"/>
            </p:cNvPicPr>
            <p:nvPr/>
          </p:nvPicPr>
          <p:blipFill>
            <a:blip r:embed="rId2"/>
            <a:srcRect l="0" t="10596" r="0" b="10595"/>
            <a:stretch>
              <a:fillRect/>
            </a:stretch>
          </p:blipFill>
          <p:spPr>
            <a:xfrm>
              <a:off x="7114222" y="1524000"/>
              <a:ext cx="4544378" cy="2686050"/>
            </a:xfrm>
            <a:prstGeom prst="roundRect">
              <a:avLst>
                <a:gd name="adj" fmla="val 4964"/>
              </a:avLst>
            </a:prstGeom>
          </p:spPr>
        </p:pic>
        <p:sp>
          <p:nvSpPr>
            <p:cNvPr id="42" name="TextBox 42"/>
            <p:cNvSpPr txBox="1"/>
            <p:nvPr/>
          </p:nvSpPr>
          <p:spPr>
            <a:xfrm>
              <a:off x="7189661" y="4303395"/>
              <a:ext cx="43925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边界类像接待的服务员，控制类像调度的主厨，实体类像储藏室的货架</a:t>
              </a:r>
            </a:p>
          </p:txBody>
        </p:sp>
      </p:grpSp>
      <p:grpSp>
        <p:nvGrpSpPr>
          <p:cNvPr id="50" name="c2-callout-2"/>
          <p:cNvGrpSpPr/>
          <p:nvPr/>
        </p:nvGrpSpPr>
        <p:grpSpPr>
          <a:xfrm>
            <a:off x="7114222" y="4667250"/>
            <a:ext cx="4544378" cy="1252538"/>
            <a:chOff x="7114222" y="4667250"/>
            <a:chExt cx="4544378" cy="1252538"/>
          </a:xfrm>
        </p:grpSpPr>
        <p:sp>
          <p:nvSpPr>
            <p:cNvPr id="44" name="Rectangle 44"/>
            <p:cNvSpPr/>
            <p:nvPr/>
          </p:nvSpPr>
          <p:spPr>
            <a:xfrm>
              <a:off x="7114222" y="4667250"/>
              <a:ext cx="4544378" cy="1252538"/>
            </a:xfrm>
            <a:prstGeom prst="roundRect">
              <a:avLst>
                <a:gd name="adj" fmla="val 9125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06952" y="5189338"/>
              <a:ext cx="224134" cy="192560"/>
              <a:chOff x="7306952" y="5189338"/>
              <a:chExt cx="224134" cy="19256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419023" y="525970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7306952" y="518933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7419023" y="533749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7621334" y="5062061"/>
              <a:ext cx="362127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边界类是概念层的东西，不是要在这一步把界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面画出来。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0802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2876" y="407194"/>
              <a:ext cx="31290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从需求提取到分析模型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三类分析类分别从哪里来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kv-1"/>
          <p:cNvGrpSpPr/>
          <p:nvPr/>
        </p:nvGrpSpPr>
        <p:grpSpPr>
          <a:xfrm>
            <a:off x="525780" y="1548765"/>
            <a:ext cx="5201602" cy="1455420"/>
            <a:chOff x="525780" y="1548765"/>
            <a:chExt cx="5201602" cy="145542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实体类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368742" y="154876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从参与对象中选取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186880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5780" y="198882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边界类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68742" y="1988820"/>
              <a:ext cx="408241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通常一个 Actor 与用例之间的通信关联对应一个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边界类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59080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5780" y="271081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控制类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68742" y="271081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通常一个用例对应一个控制类</a:t>
              </a:r>
            </a:p>
          </p:txBody>
        </p:sp>
      </p:grpSp>
      <p:grpSp>
        <p:nvGrpSpPr>
          <p:cNvPr id="24" name="c1-card-2"/>
          <p:cNvGrpSpPr/>
          <p:nvPr/>
        </p:nvGrpSpPr>
        <p:grpSpPr>
          <a:xfrm>
            <a:off x="533400" y="3135630"/>
            <a:ext cx="5193982" cy="2186940"/>
            <a:chOff x="533400" y="3135630"/>
            <a:chExt cx="5193982" cy="2186940"/>
          </a:xfrm>
        </p:grpSpPr>
        <p:sp>
          <p:nvSpPr>
            <p:cNvPr id="16" name="Rectangle 16"/>
            <p:cNvSpPr/>
            <p:nvPr/>
          </p:nvSpPr>
          <p:spPr>
            <a:xfrm>
              <a:off x="533400" y="3135630"/>
              <a:ext cx="5193982" cy="2186940"/>
            </a:xfrm>
            <a:prstGeom prst="roundRect">
              <a:avLst>
                <a:gd name="adj" fmla="val 609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3268980"/>
              <a:ext cx="47625" cy="192024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81050" y="334518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76160" y="338089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239202" y="338042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简单手表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3430" y="3741420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时、分、秒是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实体类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，它们是手表要记录的信息。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73430" y="4076700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按钮和液晶屏是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边界类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，人通过它们和手表打交道。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3430" y="441198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改变日期是控制类，代表通过组合按钮改变时间的这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一段活动。</a:t>
              </a:r>
            </a:p>
          </p:txBody>
        </p:sp>
      </p:grpSp>
      <p:grpSp>
        <p:nvGrpSpPr>
          <p:cNvPr id="31" name="c2-card-1"/>
          <p:cNvGrpSpPr/>
          <p:nvPr/>
        </p:nvGrpSpPr>
        <p:grpSpPr>
          <a:xfrm>
            <a:off x="6032182" y="1524000"/>
            <a:ext cx="5626418" cy="1937385"/>
            <a:chOff x="6032182" y="1524000"/>
            <a:chExt cx="5626418" cy="1937385"/>
          </a:xfrm>
        </p:grpSpPr>
        <p:sp>
          <p:nvSpPr>
            <p:cNvPr id="25" name="Rectangle 25"/>
            <p:cNvSpPr/>
            <p:nvPr/>
          </p:nvSpPr>
          <p:spPr>
            <a:xfrm>
              <a:off x="6032182" y="1524000"/>
              <a:ext cx="5626418" cy="1937385"/>
            </a:xfrm>
            <a:prstGeom prst="roundRect">
              <a:avLst>
                <a:gd name="adj" fmla="val 68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041708" y="1657350"/>
              <a:ext cx="47625" cy="167068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79832" y="1733550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35586" y="176926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为什么数量大致对得上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2212" y="2110740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一个用例一个控制类，是因为控制类的生命周期就等于这个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用例的范围。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72212" y="2731770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一个通信关联一个边界类，是因为每条与外界的通道都要有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人负责翻译格式。</a:t>
              </a:r>
            </a:p>
          </p:txBody>
        </p:sp>
      </p:grpSp>
      <p:grpSp>
        <p:nvGrpSpPr>
          <p:cNvPr id="39" name="c2-card-2"/>
          <p:cNvGrpSpPr/>
          <p:nvPr/>
        </p:nvGrpSpPr>
        <p:grpSpPr>
          <a:xfrm>
            <a:off x="6032182" y="3651885"/>
            <a:ext cx="5626418" cy="1670685"/>
            <a:chOff x="6032182" y="3651885"/>
            <a:chExt cx="5626418" cy="1670685"/>
          </a:xfrm>
        </p:grpSpPr>
        <p:sp>
          <p:nvSpPr>
            <p:cNvPr id="32" name="Rectangle 32"/>
            <p:cNvSpPr/>
            <p:nvPr/>
          </p:nvSpPr>
          <p:spPr>
            <a:xfrm>
              <a:off x="6032182" y="3651885"/>
              <a:ext cx="5626418" cy="1670685"/>
            </a:xfrm>
            <a:prstGeom prst="roundRect">
              <a:avLst>
                <a:gd name="adj" fmla="val 79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041708" y="3785235"/>
              <a:ext cx="47625" cy="140398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279832" y="3861435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57239" y="389715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对照上一节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306628" y="3896678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参与对象与实体类的关系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72212" y="42576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参与对象是在需求提取阶段列出来的名词表。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272212" y="4592955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进入分析阶段后，其中需要系统长期保存的那些，才成为实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体类。</a:t>
              </a:r>
            </a:p>
          </p:txBody>
        </p:sp>
      </p:grpSp>
      <p:grpSp>
        <p:nvGrpSpPr>
          <p:cNvPr id="45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0" name="Rectangle 40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040130" y="5991225"/>
              <a:ext cx="78905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三类分析类的数量比例失衡时要警惕：控制类比用例多很多，往往说明用例拆得不干净。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0802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2876" y="407194"/>
              <a:ext cx="31290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从需求提取到分析模型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标识实体对象的试探法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bullets-1"/>
          <p:cNvGrpSpPr/>
          <p:nvPr/>
        </p:nvGrpSpPr>
        <p:grpSpPr>
          <a:xfrm>
            <a:off x="526161" y="1547336"/>
            <a:ext cx="5809590" cy="2575180"/>
            <a:chOff x="526161" y="1547336"/>
            <a:chExt cx="5809590" cy="2575180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从哪里找实体对象</a:t>
              </a:r>
            </a:p>
          </p:txBody>
        </p:sp>
        <p:sp>
          <p:nvSpPr>
            <p:cNvPr id="8" name="Freeform 8"/>
            <p:cNvSpPr/>
            <p:nvPr/>
          </p:nvSpPr>
          <p:spPr>
            <a:xfrm>
              <a:off x="533400" y="1913572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2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77621" y="1883569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为理解用例，开发人员或用户需要阐明的术语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533400" y="2240280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77621" y="2210276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用例中反复出现的名词（如，事件）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533400" y="2566988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77621" y="2536984"/>
              <a:ext cx="555813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系统需要一直跟踪的现实世界的实体（如，现场工作人员、资源）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533400" y="2893695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2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77621" y="2863691"/>
              <a:ext cx="49846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系统需要一直跟踪的现实世界的活动（如，紧急操作计划）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533400" y="3220402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2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77621" y="3190399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用例本身（如，报告紧急情况）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533400" y="3547110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77621" y="3517106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数据源点或终点（如，打印机）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533400" y="3873818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77621" y="3843814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总是使用的用户术语</a:t>
              </a:r>
            </a:p>
          </p:txBody>
        </p:sp>
      </p:grpSp>
      <p:grpSp>
        <p:nvGrpSpPr>
          <p:cNvPr id="39" name="c1-compare-2"/>
          <p:cNvGrpSpPr/>
          <p:nvPr/>
        </p:nvGrpSpPr>
        <p:grpSpPr>
          <a:xfrm>
            <a:off x="533400" y="4246245"/>
            <a:ext cx="5842636" cy="2109788"/>
            <a:chOff x="533400" y="4246245"/>
            <a:chExt cx="5842636" cy="2109788"/>
          </a:xfrm>
        </p:grpSpPr>
        <p:sp>
          <p:nvSpPr>
            <p:cNvPr id="23" name="Rectangle 23"/>
            <p:cNvSpPr/>
            <p:nvPr/>
          </p:nvSpPr>
          <p:spPr>
            <a:xfrm>
              <a:off x="533400" y="4246245"/>
              <a:ext cx="2749868" cy="2109788"/>
            </a:xfrm>
            <a:prstGeom prst="roundRect">
              <a:avLst>
                <a:gd name="adj" fmla="val 63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2925" y="4379595"/>
              <a:ext cx="47625" cy="184308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62381" y="446770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留下来的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77240" y="486346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33831" y="4803934"/>
              <a:ext cx="19982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紧急情况报告：关机后还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要留着，能被调度员反复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77240" y="572452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33831" y="5664041"/>
              <a:ext cx="19982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事件：有状态，会从打开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走到关闭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3626168" y="4246245"/>
              <a:ext cx="2749868" cy="2109788"/>
            </a:xfrm>
            <a:prstGeom prst="roundRect">
              <a:avLst>
                <a:gd name="adj" fmla="val 63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3635692" y="4379595"/>
              <a:ext cx="47625" cy="184308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855148" y="446770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没留下的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3870008" y="486346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026598" y="4803934"/>
              <a:ext cx="19982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紧急情况报告表单：提交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完就销毁，属于边界对象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3870008" y="545306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4026598" y="5392579"/>
              <a:ext cx="19982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蜂鸣声：只是一次提示，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没有需要保存的信息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3292792" y="513969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2813304" y="523589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拿本章的例子试一遍</a:t>
              </a:r>
            </a:p>
          </p:txBody>
        </p:sp>
      </p:grpSp>
      <p:grpSp>
        <p:nvGrpSpPr>
          <p:cNvPr id="48" name="c2-card-1"/>
          <p:cNvGrpSpPr/>
          <p:nvPr/>
        </p:nvGrpSpPr>
        <p:grpSpPr>
          <a:xfrm>
            <a:off x="6680835" y="1524000"/>
            <a:ext cx="4977765" cy="2446972"/>
            <a:chOff x="6680835" y="1524000"/>
            <a:chExt cx="4977765" cy="2446972"/>
          </a:xfrm>
        </p:grpSpPr>
        <p:sp>
          <p:nvSpPr>
            <p:cNvPr id="40" name="Rectangle 40"/>
            <p:cNvSpPr/>
            <p:nvPr/>
          </p:nvSpPr>
          <p:spPr>
            <a:xfrm>
              <a:off x="6680835" y="1524000"/>
              <a:ext cx="4977765" cy="2446972"/>
            </a:xfrm>
            <a:prstGeom prst="roundRect">
              <a:avLst>
                <a:gd name="adj" fmla="val 54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690360" y="1657350"/>
              <a:ext cx="47625" cy="218027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917055" y="172212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000494" y="17564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注意事项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767066" y="1756886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别在细节上耗时间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909816" y="2100739"/>
              <a:ext cx="43426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标识实体对象时，分析模型处于不断变化中，不必花太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多时间处理对象或属性的细节。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909816" y="2690336"/>
              <a:ext cx="43426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显而易见的就记录下来，否则对每个对象做试验性的命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名和简短描述即可。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909816" y="3278981"/>
              <a:ext cx="43426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一旦分析模型稳定下来，每个对象的描述就应该尽可能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详细。</a:t>
              </a:r>
            </a:p>
          </p:txBody>
        </p:sp>
      </p:grpSp>
      <p:grpSp>
        <p:nvGrpSpPr>
          <p:cNvPr id="55" name="c2-callout-2"/>
          <p:cNvGrpSpPr/>
          <p:nvPr/>
        </p:nvGrpSpPr>
        <p:grpSpPr>
          <a:xfrm>
            <a:off x="6680835" y="4151948"/>
            <a:ext cx="4977765" cy="756285"/>
            <a:chOff x="6680835" y="4151948"/>
            <a:chExt cx="4977765" cy="756285"/>
          </a:xfrm>
        </p:grpSpPr>
        <p:sp>
          <p:nvSpPr>
            <p:cNvPr id="49" name="Rectangle 49"/>
            <p:cNvSpPr/>
            <p:nvPr/>
          </p:nvSpPr>
          <p:spPr>
            <a:xfrm>
              <a:off x="6680835" y="4151948"/>
              <a:ext cx="4977765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6885623" y="4430078"/>
              <a:ext cx="200026" cy="200025"/>
              <a:chOff x="6885623" y="4430078"/>
              <a:chExt cx="200026" cy="200025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6885623" y="443007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925361" y="447452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960077" y="458565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7187946" y="4299109"/>
              <a:ext cx="398195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「一直跟踪」是关键词：用完就扔的数据不是实体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对象，系统关机后还要留着的才是。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20802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2876" y="407194"/>
              <a:ext cx="31290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从需求提取到分析模型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标识边界对象和控制对象的试探法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ard-1"/>
          <p:cNvGrpSpPr/>
          <p:nvPr/>
        </p:nvGrpSpPr>
        <p:grpSpPr>
          <a:xfrm>
            <a:off x="533400" y="1524000"/>
            <a:ext cx="5410200" cy="2343150"/>
            <a:chOff x="533400" y="1524000"/>
            <a:chExt cx="5410200" cy="23431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343150"/>
            </a:xfrm>
            <a:prstGeom prst="roundRect">
              <a:avLst>
                <a:gd name="adj" fmla="val 569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7645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2759" y="174355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边界对象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66762" y="211074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22782" y="2054542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确定用户需要将数据输入系统的窗口或表格（如，紧急情况报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告表单、报告紧急情况按钮）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6762" y="266890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2782" y="2612708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确定系统对用户的响应或消息（如，确认通知）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6762" y="296894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2782" y="2912745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不要用边界对象对界面的可视方面建模，用户模型更适于做这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件事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66762" y="352615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22782" y="346995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总是用用户的术语而不是实现技术的术语来描述界面</a:t>
              </a:r>
            </a:p>
          </p:txBody>
        </p:sp>
      </p:grpSp>
      <p:grpSp>
        <p:nvGrpSpPr>
          <p:cNvPr id="25" name="c1-card-2"/>
          <p:cNvGrpSpPr/>
          <p:nvPr/>
        </p:nvGrpSpPr>
        <p:grpSpPr>
          <a:xfrm>
            <a:off x="533400" y="4037648"/>
            <a:ext cx="5410200" cy="1443038"/>
            <a:chOff x="533400" y="4037648"/>
            <a:chExt cx="5410200" cy="1443038"/>
          </a:xfrm>
        </p:grpSpPr>
        <p:sp>
          <p:nvSpPr>
            <p:cNvPr id="20" name="Rectangle 20"/>
            <p:cNvSpPr/>
            <p:nvPr/>
          </p:nvSpPr>
          <p:spPr>
            <a:xfrm>
              <a:off x="533400" y="4037648"/>
              <a:ext cx="5410200" cy="1443038"/>
            </a:xfrm>
            <a:prstGeom prst="roundRect">
              <a:avLst>
                <a:gd name="adj" fmla="val 92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42925" y="4170998"/>
              <a:ext cx="47625" cy="117633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58190" y="422433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42759" y="425719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注意事项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51332" y="4568190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界面设计会不断演化，甚至在功能性说明稳定之后仍会变。分析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模型和界面可视部分互相牵动，会耗掉很多协调时间。</a:t>
              </a:r>
            </a:p>
          </p:txBody>
        </p:sp>
      </p:grpSp>
      <p:grpSp>
        <p:nvGrpSpPr>
          <p:cNvPr id="36" name="c2-card-1"/>
          <p:cNvGrpSpPr/>
          <p:nvPr/>
        </p:nvGrpSpPr>
        <p:grpSpPr>
          <a:xfrm>
            <a:off x="6248400" y="1524000"/>
            <a:ext cx="5410200" cy="2043112"/>
            <a:chOff x="6248400" y="1524000"/>
            <a:chExt cx="5410200" cy="2043112"/>
          </a:xfrm>
        </p:grpSpPr>
        <p:sp>
          <p:nvSpPr>
            <p:cNvPr id="26" name="Rectangle 26"/>
            <p:cNvSpPr/>
            <p:nvPr/>
          </p:nvSpPr>
          <p:spPr>
            <a:xfrm>
              <a:off x="6248400" y="1524000"/>
              <a:ext cx="5410200" cy="2043112"/>
            </a:xfrm>
            <a:prstGeom prst="roundRect">
              <a:avLst>
                <a:gd name="adj" fmla="val 652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57925" y="1657350"/>
              <a:ext cx="47625" cy="177641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3190" y="1710690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57759" y="174355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控制对象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481762" y="211074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637782" y="2054542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为每个用例标识一个控制对象；如果用例比较复杂并且能分解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成更短的事件流，就为它标识多个控制对象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481762" y="266890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637782" y="2612708"/>
              <a:ext cx="33554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为用例中的每个 Actor 标识一个控制对象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481762" y="296894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637782" y="2912745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一个控制对象的生命周期应该是对应用例的范围，或者一个用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户界面的范围</a:t>
              </a:r>
            </a:p>
          </p:txBody>
        </p:sp>
      </p:grpSp>
      <p:grpSp>
        <p:nvGrpSpPr>
          <p:cNvPr id="43" name="c2-card-2"/>
          <p:cNvGrpSpPr/>
          <p:nvPr/>
        </p:nvGrpSpPr>
        <p:grpSpPr>
          <a:xfrm>
            <a:off x="6248400" y="3737610"/>
            <a:ext cx="5410200" cy="1743075"/>
            <a:chOff x="6248400" y="3737610"/>
            <a:chExt cx="5410200" cy="1743075"/>
          </a:xfrm>
        </p:grpSpPr>
        <p:sp>
          <p:nvSpPr>
            <p:cNvPr id="37" name="Rectangle 37"/>
            <p:cNvSpPr/>
            <p:nvPr/>
          </p:nvSpPr>
          <p:spPr>
            <a:xfrm>
              <a:off x="6248400" y="3737610"/>
              <a:ext cx="5410200" cy="1743075"/>
            </a:xfrm>
            <a:prstGeom prst="roundRect">
              <a:avLst>
                <a:gd name="adj" fmla="val 76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257925" y="3870960"/>
              <a:ext cx="47625" cy="147637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473190" y="3924300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557759" y="395716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注意事项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66332" y="4268152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控制对象通常在现实世界没有具体的对应部分，它在用例开始时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创建，用例终止时消失。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66332" y="4825365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若很难确定一个控制对象活动的开始和结束，说明对应的用例可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能没有定义明确的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入口和出口条件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44" name="Rectangle 44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892" y="6028373"/>
              <a:ext cx="60110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控制对象找不到边界，问题多半出在用例上，回去改用例比硬拆类更省事。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4" name="section-title"/>
          <p:cNvGrpSpPr/>
          <p:nvPr/>
        </p:nvGrpSpPr>
        <p:grpSpPr>
          <a:xfrm>
            <a:off x="667512" y="1835468"/>
            <a:ext cx="4398264" cy="2643187"/>
            <a:chOff x="667512" y="1835468"/>
            <a:chExt cx="4398264" cy="264318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39826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转述用例：画顺序图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把用例的一段文字，摊到各个分析对象身上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顺序图明确了对象的职责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实体对象从不主动访问控制和边界对象</a:t>
              </a:r>
            </a:p>
          </p:txBody>
        </p:sp>
      </p:grpSp>
      <p:grpSp>
        <p:nvGrpSpPr>
          <p:cNvPr id="1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" name="TextBox 15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6609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826" y="407194"/>
              <a:ext cx="2978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转述用例：画顺序图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用交互图把用例的文字描述转述一遍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410200" cy="1803082"/>
            <a:chOff x="533400" y="1524000"/>
            <a:chExt cx="5410200" cy="18030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803082"/>
            </a:xfrm>
            <a:prstGeom prst="roundRect">
              <a:avLst>
                <a:gd name="adj" fmla="val 739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3638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6811" y="1743551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做什么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48562" y="1745932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转述用例或场景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1332" y="2071688"/>
              <a:ext cx="33919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把文字描述的用例表述为 UML 的交互图。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6762" y="242792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2782" y="2371725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顺序图：联系用例与分析对象，表示用例的行为如何在各分析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对象间分布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6762" y="298513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2782" y="292893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协作图：表达分析对象之间的连接关系</a:t>
              </a:r>
            </a:p>
          </p:txBody>
        </p:sp>
      </p:grpSp>
      <p:grpSp>
        <p:nvGrpSpPr>
          <p:cNvPr id="23" name="c1-callout-2"/>
          <p:cNvGrpSpPr/>
          <p:nvPr/>
        </p:nvGrpSpPr>
        <p:grpSpPr>
          <a:xfrm>
            <a:off x="533400" y="3496628"/>
            <a:ext cx="5410200" cy="729615"/>
            <a:chOff x="533400" y="3496628"/>
            <a:chExt cx="5410200" cy="729615"/>
          </a:xfrm>
        </p:grpSpPr>
        <p:sp>
          <p:nvSpPr>
            <p:cNvPr id="18" name="Rectangle 18"/>
            <p:cNvSpPr/>
            <p:nvPr/>
          </p:nvSpPr>
          <p:spPr>
            <a:xfrm>
              <a:off x="533400" y="3496628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738188" y="3761425"/>
              <a:ext cx="200023" cy="200023"/>
              <a:chOff x="738188" y="3761425"/>
              <a:chExt cx="200023" cy="200023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738188" y="376142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71538" y="38280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040892" y="3643312"/>
              <a:ext cx="44714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顺序图强调「什么时候发生」，协作图强调「谁连着谁」，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两者信息等价，用途不同。</a:t>
              </a:r>
            </a:p>
          </p:txBody>
        </p:sp>
      </p:grpSp>
      <p:grpSp>
        <p:nvGrpSpPr>
          <p:cNvPr id="35" name="c1-kv-3"/>
          <p:cNvGrpSpPr/>
          <p:nvPr/>
        </p:nvGrpSpPr>
        <p:grpSpPr>
          <a:xfrm>
            <a:off x="526542" y="4418648"/>
            <a:ext cx="5417058" cy="1694687"/>
            <a:chOff x="526542" y="4418648"/>
            <a:chExt cx="5417058" cy="1694687"/>
          </a:xfrm>
        </p:grpSpPr>
        <p:sp>
          <p:nvSpPr>
            <p:cNvPr id="24" name="TextBox 24"/>
            <p:cNvSpPr txBox="1"/>
            <p:nvPr/>
          </p:nvSpPr>
          <p:spPr>
            <a:xfrm>
              <a:off x="526542" y="441864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顺序图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309497" y="4418648"/>
              <a:ext cx="42999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竖线是对象的生命线，横箭头是消息，从上往下读就是时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95871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6542" y="506444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激活条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309497" y="5064442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生命线上加粗的那一段，表示对象这时候正在执行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535114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26542" y="5456873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叉号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309497" y="5456873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生命线末端的叉，表示对象在这里被销毁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574357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26542" y="584930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协作图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309497" y="5849302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只画对象和连线，消息编号写在连线上</a:t>
              </a:r>
            </a:p>
          </p:txBody>
        </p:sp>
      </p:grpSp>
      <p:grpSp>
        <p:nvGrpSpPr>
          <p:cNvPr id="52" name="c2-bullets-1"/>
          <p:cNvGrpSpPr/>
          <p:nvPr/>
        </p:nvGrpSpPr>
        <p:grpSpPr>
          <a:xfrm>
            <a:off x="6241542" y="1545907"/>
            <a:ext cx="5101971" cy="2072831"/>
            <a:chOff x="6241542" y="1545907"/>
            <a:chExt cx="5101971" cy="2072831"/>
          </a:xfrm>
        </p:grpSpPr>
        <p:sp>
          <p:nvSpPr>
            <p:cNvPr id="36" name="TextBox 36"/>
            <p:cNvSpPr txBox="1"/>
            <p:nvPr/>
          </p:nvSpPr>
          <p:spPr>
            <a:xfrm>
              <a:off x="6241542" y="1545907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顺序图的试探画法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248400" y="185070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04078" y="189004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29197" y="1863090"/>
              <a:ext cx="23916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第一列对应用例的主动 Actor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248400" y="215931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304078" y="219865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529197" y="2171700"/>
              <a:ext cx="29920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第二列是主动 Actor 对应的边界对象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248400" y="2467927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04078" y="250726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529197" y="248031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第三列是管理用例剩余部分的控制对象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248400" y="277653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04078" y="281587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529197" y="278892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由初始化用例的边界对象来创建控制对象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6248400" y="308514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304078" y="312448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529197" y="3097530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实体对象被控制对象和边界对象访问，但它从不去访问控制对象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和边界对象</a:t>
              </a:r>
            </a:p>
          </p:txBody>
        </p:sp>
      </p:grpSp>
      <p:grpSp>
        <p:nvGrpSpPr>
          <p:cNvPr id="59" name="c2-callout-2"/>
          <p:cNvGrpSpPr/>
          <p:nvPr/>
        </p:nvGrpSpPr>
        <p:grpSpPr>
          <a:xfrm>
            <a:off x="6248400" y="3735705"/>
            <a:ext cx="5410200" cy="729615"/>
            <a:chOff x="6248400" y="3735705"/>
            <a:chExt cx="5410200" cy="729615"/>
          </a:xfrm>
        </p:grpSpPr>
        <p:sp>
          <p:nvSpPr>
            <p:cNvPr id="53" name="Rectangle 53"/>
            <p:cNvSpPr/>
            <p:nvPr/>
          </p:nvSpPr>
          <p:spPr>
            <a:xfrm>
              <a:off x="6248400" y="3735705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6441129" y="3996808"/>
              <a:ext cx="224134" cy="192560"/>
              <a:chOff x="6441129" y="3996808"/>
              <a:chExt cx="224134" cy="19256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553200" y="406717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441129" y="399680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553200" y="41449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6755892" y="3881438"/>
              <a:ext cx="449713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第 5 条是硬规则。实体对象一旦去调边界或控制，它就被某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个用例绑死了，换用例就要改它。</a:t>
              </a:r>
            </a:p>
          </p:txBody>
        </p:sp>
      </p:grpSp>
      <p:grpSp>
        <p:nvGrpSpPr>
          <p:cNvPr id="66" name="c2-card-3"/>
          <p:cNvGrpSpPr/>
          <p:nvPr/>
        </p:nvGrpSpPr>
        <p:grpSpPr>
          <a:xfrm>
            <a:off x="6248400" y="4634865"/>
            <a:ext cx="5410200" cy="1485900"/>
            <a:chOff x="6248400" y="4634865"/>
            <a:chExt cx="5410200" cy="1485900"/>
          </a:xfrm>
        </p:grpSpPr>
        <p:sp>
          <p:nvSpPr>
            <p:cNvPr id="60" name="Rectangle 60"/>
            <p:cNvSpPr/>
            <p:nvPr/>
          </p:nvSpPr>
          <p:spPr>
            <a:xfrm>
              <a:off x="6248400" y="4634865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6257925" y="4768215"/>
              <a:ext cx="47625" cy="12192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473190" y="4821555"/>
              <a:ext cx="120491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543459" y="4854416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对照第一张顺序图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466332" y="5166360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前三列依次是现场工作人员、报告紧急情况按钮、报告紧急情况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控制，正好按第 1 到 3 条排。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466332" y="5723573"/>
              <a:ext cx="29487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控制对象由按钮创建，对应第 4 条。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6609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826" y="407194"/>
              <a:ext cx="2978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转述用例：画顺序图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典型的顺序图对象布局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464933" cy="264033"/>
            <a:chOff x="526542" y="1545907"/>
            <a:chExt cx="746493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4649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从左到右：人、界面、逻辑、数据、对外通道、外部系统。列的顺序固定下来，图就容易读。</a:t>
              </a:r>
            </a:p>
          </p:txBody>
        </p:sp>
      </p:grpSp>
      <p:grpSp>
        <p:nvGrpSpPr>
          <p:cNvPr id="23" name="c1-flow-1"/>
          <p:cNvGrpSpPr/>
          <p:nvPr/>
        </p:nvGrpSpPr>
        <p:grpSpPr>
          <a:xfrm>
            <a:off x="666750" y="2531745"/>
            <a:ext cx="10858500" cy="385762"/>
            <a:chOff x="666750" y="2531745"/>
            <a:chExt cx="10858500" cy="385762"/>
          </a:xfrm>
        </p:grpSpPr>
        <p:sp>
          <p:nvSpPr>
            <p:cNvPr id="9" name="Rectangle 9"/>
            <p:cNvSpPr/>
            <p:nvPr/>
          </p:nvSpPr>
          <p:spPr>
            <a:xfrm>
              <a:off x="666750" y="2531745"/>
              <a:ext cx="1323022" cy="385762"/>
            </a:xfrm>
            <a:prstGeom prst="roundRect">
              <a:avLst>
                <a:gd name="adj" fmla="val 19753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2256472" y="2531745"/>
              <a:ext cx="132302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3845242" y="2531745"/>
              <a:ext cx="1323022" cy="385762"/>
            </a:xfrm>
            <a:prstGeom prst="roundRect">
              <a:avLst>
                <a:gd name="adj" fmla="val 24691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5434965" y="2531745"/>
              <a:ext cx="132302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7023735" y="2531745"/>
              <a:ext cx="132302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8613458" y="2531745"/>
              <a:ext cx="132302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10202228" y="2531745"/>
              <a:ext cx="1323022" cy="385762"/>
            </a:xfrm>
            <a:prstGeom prst="roundRect">
              <a:avLst>
                <a:gd name="adj" fmla="val 19753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71296" y="264652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610244" y="264652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用户界面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199014" y="264652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控制逻辑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721030" y="2646521"/>
              <a:ext cx="7499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实体信息 A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310752" y="2646521"/>
              <a:ext cx="7499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实体信息 B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816454" y="264652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外部系统接口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556951" y="264652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外部系统</a:t>
              </a:r>
            </a:p>
          </p:txBody>
        </p:sp>
      </p:grpSp>
      <p:grpSp>
        <p:nvGrpSpPr>
          <p:cNvPr id="49" name="c1-table-2"/>
          <p:cNvGrpSpPr/>
          <p:nvPr/>
        </p:nvGrpSpPr>
        <p:grpSpPr>
          <a:xfrm>
            <a:off x="533400" y="3690938"/>
            <a:ext cx="11125200" cy="2000250"/>
            <a:chOff x="533400" y="3690938"/>
            <a:chExt cx="11125200" cy="2000250"/>
          </a:xfrm>
        </p:grpSpPr>
        <p:sp>
          <p:nvSpPr>
            <p:cNvPr id="24" name="Rectangle 24"/>
            <p:cNvSpPr/>
            <p:nvPr/>
          </p:nvSpPr>
          <p:spPr>
            <a:xfrm>
              <a:off x="533400" y="3690938"/>
              <a:ext cx="11125200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787703" y="381238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列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047846" y="381238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类别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748283" y="381238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这一列在图上做什么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0555" y="421243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用户、外部系统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300412" y="4212431"/>
              <a:ext cx="4307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Actor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303520" y="4212431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图的两端，消息的最初发起者和最终接收者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48627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3400" y="4491038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0555" y="4612481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用户界面、外部系统接口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300412" y="461248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边界对象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303520" y="4612481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收集输入、翻译格式、把结果表达出去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488632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30555" y="50125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控制逻辑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300412" y="50125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控制对象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303520" y="5012531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决定这一步之后该做什么，向两侧转发消息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528637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33400" y="5291138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0555" y="5412581"/>
              <a:ext cx="999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实体信息 A、B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300412" y="541258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实体对象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215890" y="5300662"/>
              <a:ext cx="643318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303520" y="5412581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只被调用，自己不发起调用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3690938"/>
              <a:ext cx="11125200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3198495" y="3690938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201602" y="3690938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6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0" name="Rectangle 50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738188" y="6022658"/>
              <a:ext cx="200026" cy="200025"/>
              <a:chOff x="738188" y="6022658"/>
              <a:chExt cx="200026" cy="200025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738188" y="60226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777926" y="60671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12642" y="61782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1040892" y="6028373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顺序图明确了对象的职责，也就是它应该响应哪些消息。画完图，职责清单就有了。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6609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6826" y="407194"/>
              <a:ext cx="2978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转述用例：画顺序图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顺序图和类图的映射：传入的消息就是这个类的操作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919722" cy="264033"/>
            <a:chOff x="526542" y="1545907"/>
            <a:chExt cx="6919722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9197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某个对象上进来的每一条消息，都对应该类的一个操作。自己调自己的消息同样算数。</a:t>
              </a:r>
            </a:p>
          </p:txBody>
        </p:sp>
      </p:grpSp>
      <p:grpSp>
        <p:nvGrpSpPr>
          <p:cNvPr id="46" name="c1-table-1"/>
          <p:cNvGrpSpPr/>
          <p:nvPr/>
        </p:nvGrpSpPr>
        <p:grpSpPr>
          <a:xfrm>
            <a:off x="533400" y="1928812"/>
            <a:ext cx="5410200" cy="3200401"/>
            <a:chOff x="533400" y="1928812"/>
            <a:chExt cx="5410200" cy="3200401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410200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36307" y="205025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顺序图上的消息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277133" y="205025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发给谁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619739" y="20502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落成谁的操作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0555" y="2450306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提交查询条件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903220" y="2450306"/>
              <a:ext cx="797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检索零件 UI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221480" y="2338388"/>
              <a:ext cx="1712595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309110" y="2450306"/>
              <a:ext cx="797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检索零件 UI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272415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33400" y="2728912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0555" y="2850356"/>
              <a:ext cx="923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检索零件()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903220" y="28503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检索零件控制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309110" y="28503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检索零件控制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12420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0555" y="3350419"/>
              <a:ext cx="12247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显示零件列表()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903220" y="3250406"/>
              <a:ext cx="102844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检索零件 UI（自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调用）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221480" y="3138488"/>
              <a:ext cx="1712595" cy="58102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309110" y="3350419"/>
              <a:ext cx="797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检索零件 UI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72427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729038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0555" y="3850481"/>
              <a:ext cx="923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选中零件()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903220" y="3850481"/>
              <a:ext cx="797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检索零件 UI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221480" y="3738562"/>
              <a:ext cx="1712595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309110" y="3850481"/>
              <a:ext cx="797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检索零件 UI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412432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0555" y="4250531"/>
              <a:ext cx="10740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 取零件信息()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903220" y="425053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检索零件控制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309110" y="425053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检索零件控制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52437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3400" y="4529138"/>
              <a:ext cx="5410200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0555" y="4750594"/>
              <a:ext cx="1526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 显示零件详细信息()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903220" y="4650581"/>
              <a:ext cx="102844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检索零件 UI（自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调用）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221480" y="4538662"/>
              <a:ext cx="1712595" cy="58102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309110" y="4750594"/>
              <a:ext cx="797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检索零件 UI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1928812"/>
              <a:ext cx="5410200" cy="32004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2801302" y="1928812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4207192" y="1928812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2" name="c1-callout-2"/>
          <p:cNvGrpSpPr/>
          <p:nvPr/>
        </p:nvGrpSpPr>
        <p:grpSpPr>
          <a:xfrm>
            <a:off x="533400" y="5298758"/>
            <a:ext cx="5410200" cy="819150"/>
            <a:chOff x="533400" y="5298758"/>
            <a:chExt cx="5410200" cy="819150"/>
          </a:xfrm>
        </p:grpSpPr>
        <p:sp>
          <p:nvSpPr>
            <p:cNvPr id="47" name="Rectangle 47"/>
            <p:cNvSpPr/>
            <p:nvPr/>
          </p:nvSpPr>
          <p:spPr>
            <a:xfrm>
              <a:off x="533400" y="5298758"/>
              <a:ext cx="5410200" cy="819150"/>
            </a:xfrm>
            <a:prstGeom prst="roundRect">
              <a:avLst>
                <a:gd name="adj" fmla="val 13953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38188" y="5608322"/>
              <a:ext cx="200023" cy="200023"/>
              <a:chOff x="738188" y="5608322"/>
              <a:chExt cx="200023" cy="20002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38188" y="560832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71538" y="567499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0892" y="5614035"/>
              <a:ext cx="4611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编号 3 和 7 是返回消息，不产生新操作，所以表里没有。</a:t>
              </a:r>
            </a:p>
          </p:txBody>
        </p:sp>
      </p:grpSp>
      <p:grpSp>
        <p:nvGrpSpPr>
          <p:cNvPr id="60" name="c2-uml-1"/>
          <p:cNvGrpSpPr/>
          <p:nvPr/>
        </p:nvGrpSpPr>
        <p:grpSpPr>
          <a:xfrm>
            <a:off x="8308658" y="2140268"/>
            <a:ext cx="1289685" cy="1212532"/>
            <a:chOff x="8308658" y="2140268"/>
            <a:chExt cx="1289685" cy="1212532"/>
          </a:xfrm>
        </p:grpSpPr>
        <p:sp>
          <p:nvSpPr>
            <p:cNvPr id="53" name="Rectangle 53"/>
            <p:cNvSpPr/>
            <p:nvPr/>
          </p:nvSpPr>
          <p:spPr>
            <a:xfrm>
              <a:off x="8308658" y="2140268"/>
              <a:ext cx="1289685" cy="121253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8315325" y="2146935"/>
              <a:ext cx="1275398" cy="36480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8308658" y="2506980"/>
              <a:ext cx="1289685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8308658" y="2602230"/>
              <a:ext cx="1289685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645169" y="2193131"/>
              <a:ext cx="61666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«boundary»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600532" y="2333149"/>
              <a:ext cx="70593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检索零件 UI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80095" y="2672715"/>
              <a:ext cx="1146810" cy="661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zh-CN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提交查询条件()</a:t>
              </a:r>
              <a:br/>
              <a:r>
                <a:rPr lang="zh-CN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显示零件列表()</a:t>
              </a:r>
              <a:br/>
              <a:r>
                <a:rPr lang="zh-CN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选中零件()</a:t>
              </a:r>
              <a:br/>
              <a:r>
                <a:rPr lang="zh-CN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显示零件详细信息()</a:t>
              </a:r>
            </a:p>
          </p:txBody>
        </p:sp>
      </p:grpSp>
      <p:grpSp>
        <p:nvGrpSpPr>
          <p:cNvPr id="67" name="c2-callout-2"/>
          <p:cNvGrpSpPr/>
          <p:nvPr/>
        </p:nvGrpSpPr>
        <p:grpSpPr>
          <a:xfrm>
            <a:off x="6248400" y="3732848"/>
            <a:ext cx="5410200" cy="729615"/>
            <a:chOff x="6248400" y="3732848"/>
            <a:chExt cx="5410200" cy="729615"/>
          </a:xfrm>
        </p:grpSpPr>
        <p:sp>
          <p:nvSpPr>
            <p:cNvPr id="61" name="Rectangle 61"/>
            <p:cNvSpPr/>
            <p:nvPr/>
          </p:nvSpPr>
          <p:spPr>
            <a:xfrm>
              <a:off x="6248400" y="3732848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6453188" y="3997643"/>
              <a:ext cx="200026" cy="200026"/>
              <a:chOff x="6453188" y="3997643"/>
              <a:chExt cx="200026" cy="200026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453188" y="399764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6553200" y="406431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6542088" y="409765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6755892" y="3879532"/>
              <a:ext cx="44714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把发给同一个对象的四条消息收拢，就是左边这个边界类的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四个操作，一条不多一条不少。</a:t>
              </a:r>
            </a:p>
          </p:txBody>
        </p:sp>
      </p:grpSp>
      <p:grpSp>
        <p:nvGrpSpPr>
          <p:cNvPr id="74" name="c2-card-3"/>
          <p:cNvGrpSpPr/>
          <p:nvPr/>
        </p:nvGrpSpPr>
        <p:grpSpPr>
          <a:xfrm>
            <a:off x="6248400" y="4632008"/>
            <a:ext cx="5410200" cy="1485900"/>
            <a:chOff x="6248400" y="4632008"/>
            <a:chExt cx="5410200" cy="1485900"/>
          </a:xfrm>
        </p:grpSpPr>
        <p:sp>
          <p:nvSpPr>
            <p:cNvPr id="68" name="Rectangle 68"/>
            <p:cNvSpPr/>
            <p:nvPr/>
          </p:nvSpPr>
          <p:spPr>
            <a:xfrm>
              <a:off x="6248400" y="4632008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6257925" y="4765358"/>
              <a:ext cx="47625" cy="121920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6473190" y="4818698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561811" y="485155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数一数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466332" y="5163502"/>
              <a:ext cx="451427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落到 UI 上的是 1、4、5、8 四条，落到检索零件控制上的是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2、6 两条。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466332" y="572071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一个类上没有任何传入消息，说明它在这个用例里没有职责。</a:t>
              </a:r>
            </a:p>
          </p:txBody>
        </p:sp>
      </p:grpSp>
      <p:grpSp>
        <p:nvGrpSpPr>
          <p:cNvPr id="7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5" name="TextBox 75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4" name="section-title"/>
          <p:cNvGrpSpPr/>
          <p:nvPr/>
        </p:nvGrpSpPr>
        <p:grpSpPr>
          <a:xfrm>
            <a:off x="667512" y="1835468"/>
            <a:ext cx="3802761" cy="2643187"/>
            <a:chOff x="667512" y="1835468"/>
            <a:chExt cx="3802761" cy="264318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整理分析类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7928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职责、关联关系、属性，汇成参与类图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动态图收集素材，静态图是它们的结晶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关联关系要能在事件流里找到根据</a:t>
              </a:r>
            </a:p>
          </p:txBody>
        </p:sp>
      </p:grpSp>
      <p:grpSp>
        <p:nvGrpSpPr>
          <p:cNvPr id="1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" name="TextBox 15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72156" cy="909257"/>
            <a:chOff x="520446" y="342900"/>
            <a:chExt cx="27721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整理分析类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从动态图到静态图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626418" cy="1670685"/>
            <a:chOff x="533400" y="1524000"/>
            <a:chExt cx="5626418" cy="16706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670685"/>
            </a:xfrm>
            <a:prstGeom prst="roundRect">
              <a:avLst>
                <a:gd name="adj" fmla="val 79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40398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7308" y="17692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做什么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24000" y="1768792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整理分析类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根据前面得到的一系列交互图，总结出各分析类之间的关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系，最后得出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参与类图 VOPC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2750820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这个过程主要是确定分析类的职责和关联关系。</a:t>
              </a:r>
            </a:p>
          </p:txBody>
        </p:sp>
      </p:grpSp>
      <p:grpSp>
        <p:nvGrpSpPr>
          <p:cNvPr id="21" name="c1-card-2"/>
          <p:cNvGrpSpPr/>
          <p:nvPr/>
        </p:nvGrpSpPr>
        <p:grpSpPr>
          <a:xfrm>
            <a:off x="533400" y="3385185"/>
            <a:ext cx="5626418" cy="2141220"/>
            <a:chOff x="533400" y="3385185"/>
            <a:chExt cx="5626418" cy="2141220"/>
          </a:xfrm>
        </p:grpSpPr>
        <p:sp>
          <p:nvSpPr>
            <p:cNvPr id="15" name="Rectangle 15"/>
            <p:cNvSpPr/>
            <p:nvPr/>
          </p:nvSpPr>
          <p:spPr>
            <a:xfrm>
              <a:off x="533400" y="3385185"/>
              <a:ext cx="5626418" cy="2141220"/>
            </a:xfrm>
            <a:prstGeom prst="roundRect">
              <a:avLst>
                <a:gd name="adj" fmla="val 6228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42950" y="3594735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16407" y="363045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两条对应关系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5330" y="397192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消息本身映射成分析类的职责。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5330" y="4307205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消息的传递路径初步映射为分析类之间的关联关系。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36473" y="4639151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这就是分析到设计在微观层面的映射</a:t>
              </a:r>
            </a:p>
          </p:txBody>
        </p:sp>
      </p:grpSp>
      <p:grpSp>
        <p:nvGrpSpPr>
          <p:cNvPr id="29" name="c2-bullets-1"/>
          <p:cNvGrpSpPr/>
          <p:nvPr/>
        </p:nvGrpSpPr>
        <p:grpSpPr>
          <a:xfrm>
            <a:off x="6456998" y="1548765"/>
            <a:ext cx="4949190" cy="1623060"/>
            <a:chOff x="6456998" y="1548765"/>
            <a:chExt cx="4949190" cy="1623060"/>
          </a:xfrm>
        </p:grpSpPr>
        <p:sp>
          <p:nvSpPr>
            <p:cNvPr id="22" name="TextBox 22"/>
            <p:cNvSpPr txBox="1"/>
            <p:nvPr/>
          </p:nvSpPr>
          <p:spPr>
            <a:xfrm>
              <a:off x="6456998" y="1548765"/>
              <a:ext cx="146004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为什么是"初步"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470333" y="196596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28448" y="190309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一条职责有可能响应多条消息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470333" y="231076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628448" y="224790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一条关联关系有可能为多条消息提供传递路径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470333" y="265557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628448" y="2592705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动态图一点一滴地为静态图收集素材，静态图则是动态图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的综合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464618" y="3303270"/>
            <a:ext cx="5193982" cy="2223135"/>
            <a:chOff x="6464618" y="3303270"/>
            <a:chExt cx="5193982" cy="2223135"/>
          </a:xfrm>
        </p:grpSpPr>
        <p:sp>
          <p:nvSpPr>
            <p:cNvPr id="30" name="Rectangle 30"/>
            <p:cNvSpPr/>
            <p:nvPr/>
          </p:nvSpPr>
          <p:spPr>
            <a:xfrm>
              <a:off x="6464618" y="3303270"/>
              <a:ext cx="5193982" cy="2223135"/>
            </a:xfrm>
            <a:prstGeom prst="roundRect">
              <a:avLst>
                <a:gd name="adj" fmla="val 599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474142" y="3436620"/>
              <a:ext cx="47625" cy="195643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712268" y="351282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794576" y="354853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工程现实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04648" y="3890010"/>
              <a:ext cx="4396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消息作为单元，把用例描述的需求场景分解成细小的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颗粒；分析类各自的职责和它们之间的关联关系，构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成高层设计方案的雏形。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704648" y="479679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这个过程一般需要选择某种辅助建模工具软件来支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撑，否则不易实用。</a:t>
              </a:r>
            </a:p>
          </p:txBody>
        </p:sp>
      </p:grpSp>
      <p:grpSp>
        <p:nvGrpSpPr>
          <p:cNvPr id="43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7" name="Rectangle 37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0130" y="5991225"/>
              <a:ext cx="76885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职责是响应消息的能力。消息由要求者提出，职责由响应者承担，两边不要混为一谈。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509456" cy="909257"/>
            <a:chOff x="520446" y="342900"/>
            <a:chExt cx="25094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整理分析类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42732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参与类图 VOPC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410200" cy="1956435"/>
            <a:chOff x="533400" y="1524000"/>
            <a:chExt cx="5410200" cy="19564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956435"/>
            </a:xfrm>
            <a:prstGeom prst="roundRect">
              <a:avLst>
                <a:gd name="adj" fmla="val 68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8973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30350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View of Participating Classes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参与类图中包含一组类和它们之间的关系，这组类参与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特定用例的动态交互内容，也就是该用例的交互图组所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反映的内容。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3036570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主要目的是从用例中挖掘出参与类之间的关系。</a:t>
              </a:r>
            </a:p>
          </p:txBody>
        </p:sp>
      </p:grpSp>
      <p:grpSp>
        <p:nvGrpSpPr>
          <p:cNvPr id="20" name="c1-callout-2"/>
          <p:cNvGrpSpPr/>
          <p:nvPr/>
        </p:nvGrpSpPr>
        <p:grpSpPr>
          <a:xfrm>
            <a:off x="533400" y="3670935"/>
            <a:ext cx="5410200" cy="1406842"/>
            <a:chOff x="533400" y="3670935"/>
            <a:chExt cx="5410200" cy="1406842"/>
          </a:xfrm>
        </p:grpSpPr>
        <p:sp>
          <p:nvSpPr>
            <p:cNvPr id="15" name="Rectangle 15"/>
            <p:cNvSpPr/>
            <p:nvPr/>
          </p:nvSpPr>
          <p:spPr>
            <a:xfrm>
              <a:off x="533400" y="3670935"/>
              <a:ext cx="5410200" cy="1406842"/>
            </a:xfrm>
            <a:prstGeom prst="roundRect">
              <a:avLst>
                <a:gd name="adj" fmla="val 8125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738188" y="4274822"/>
              <a:ext cx="200023" cy="200023"/>
              <a:chOff x="738188" y="4274822"/>
              <a:chExt cx="200023" cy="200023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427482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71538" y="434149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040130" y="4131945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职责和属性属于某一个分析类，关联关系不属于任何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单个类，所以需要 VOPC 这张图来放它们。</a:t>
              </a:r>
            </a:p>
          </p:txBody>
        </p:sp>
      </p:grpSp>
      <p:grpSp>
        <p:nvGrpSpPr>
          <p:cNvPr id="34" name="c2-steps-1"/>
          <p:cNvGrpSpPr/>
          <p:nvPr/>
        </p:nvGrpSpPr>
        <p:grpSpPr>
          <a:xfrm>
            <a:off x="6248400" y="1533525"/>
            <a:ext cx="5139817" cy="2582514"/>
            <a:chOff x="6248400" y="1533525"/>
            <a:chExt cx="5139817" cy="2582514"/>
          </a:xfrm>
        </p:grpSpPr>
        <p:sp>
          <p:nvSpPr>
            <p:cNvPr id="21" name="Rectangle 21"/>
            <p:cNvSpPr/>
            <p:nvPr/>
          </p:nvSpPr>
          <p:spPr>
            <a:xfrm>
              <a:off x="6381750" y="1676400"/>
              <a:ext cx="19050" cy="17706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6248400" y="153352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42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6248400" y="241935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42024" y="24931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248400" y="330422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42024" y="33780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659880" y="1567815"/>
              <a:ext cx="14914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第一步 建 VOPC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61023" y="1861661"/>
              <a:ext cx="472719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把所有参与该用例的分析类添加到类图中。一般根据基本事件流的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交互图，已可获得大部分甚至全部参与类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59880" y="2453640"/>
              <a:ext cx="12904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第二步 定关联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61023" y="2746534"/>
              <a:ext cx="472719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协作图中对象之间的连接，就是 VOPC 中相应分析类之间关联关系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的动态表现形式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659880" y="3338512"/>
              <a:ext cx="14923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第三步 补充验证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661023" y="3632359"/>
              <a:ext cx="472719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从基本事件流的协作图入手，再用其他事件流的顺序图加以验证和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</p:grpSp>
      <p:grpSp>
        <p:nvGrpSpPr>
          <p:cNvPr id="41" name="c2-callout-2"/>
          <p:cNvGrpSpPr/>
          <p:nvPr/>
        </p:nvGrpSpPr>
        <p:grpSpPr>
          <a:xfrm>
            <a:off x="6248400" y="4294822"/>
            <a:ext cx="5410200" cy="782955"/>
            <a:chOff x="6248400" y="4294822"/>
            <a:chExt cx="5410200" cy="782955"/>
          </a:xfrm>
        </p:grpSpPr>
        <p:sp>
          <p:nvSpPr>
            <p:cNvPr id="35" name="Rectangle 35"/>
            <p:cNvSpPr/>
            <p:nvPr/>
          </p:nvSpPr>
          <p:spPr>
            <a:xfrm>
              <a:off x="6248400" y="4294822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6453188" y="4586288"/>
              <a:ext cx="200026" cy="200026"/>
              <a:chOff x="6453188" y="4586288"/>
              <a:chExt cx="200026" cy="200026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6453188" y="45862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553200" y="46529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542088" y="46863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6755130" y="4443412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如果基本事件流的协作图涵盖了所有参与类的实例，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VOPC 在外观上会与该协作图相似。</a:t>
              </a:r>
            </a:p>
          </p:txBody>
        </p:sp>
      </p:grpSp>
      <p:grpSp>
        <p:nvGrpSpPr>
          <p:cNvPr id="48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2" name="Rectangle 4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0130" y="5991225"/>
              <a:ext cx="96781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VOPC 里的每条关联都要能在事件流里找到根据，不能来自主观臆断；明确的聚合或组合关系可以直接画上。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72156" cy="909257"/>
            <a:chOff x="520446" y="342900"/>
            <a:chExt cx="27721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整理分析类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确定分析类的职责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650982" cy="597598"/>
            <a:chOff x="525399" y="1550194"/>
            <a:chExt cx="10650982" cy="597598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650982" cy="597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80"/>
                </a:lnSpc>
              </a:pPr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职责是分析类实例响应消息并完成特定任务的能力，包括为其他对象提供必要的服务和维护自身的信息。它在后续设计中</a:t>
              </a:r>
              <a:br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演化为设计类的一个或多个操作。</a:t>
              </a:r>
            </a:p>
          </p:txBody>
        </p:sp>
      </p:grpSp>
      <p:grpSp>
        <p:nvGrpSpPr>
          <p:cNvPr id="19" name="c1-card-1"/>
          <p:cNvGrpSpPr/>
          <p:nvPr/>
        </p:nvGrpSpPr>
        <p:grpSpPr>
          <a:xfrm>
            <a:off x="533400" y="2257425"/>
            <a:ext cx="5410200" cy="2929890"/>
            <a:chOff x="533400" y="2257425"/>
            <a:chExt cx="5410200" cy="2929890"/>
          </a:xfrm>
        </p:grpSpPr>
        <p:sp>
          <p:nvSpPr>
            <p:cNvPr id="9" name="Rectangle 9"/>
            <p:cNvSpPr/>
            <p:nvPr/>
          </p:nvSpPr>
          <p:spPr>
            <a:xfrm>
              <a:off x="533400" y="2257425"/>
              <a:ext cx="5410200" cy="2929890"/>
            </a:xfrm>
            <a:prstGeom prst="roundRect">
              <a:avLst>
                <a:gd name="adj" fmla="val 455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390775"/>
              <a:ext cx="47625" cy="266319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46697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7308" y="250269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第一步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24000" y="250221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找出职责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863215"/>
              <a:ext cx="46062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职责和消息有简明的对应关系，所以"转述用例或场景"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的过程既是用消息分解需求的过程，也是找出职责的过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83286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76999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消息和职责并不是一回事，找出职责是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根据消息的要求</a:t>
              </a:r>
              <a:br/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定义职责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6765" y="445389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44880" y="439102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不需要针对每一条消息定义一个新职责，很多时候利用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已有的职责即可满足</a:t>
              </a:r>
            </a:p>
          </p:txBody>
        </p:sp>
      </p:grpSp>
      <p:grpSp>
        <p:nvGrpSpPr>
          <p:cNvPr id="27" name="c2-card-1"/>
          <p:cNvGrpSpPr/>
          <p:nvPr/>
        </p:nvGrpSpPr>
        <p:grpSpPr>
          <a:xfrm>
            <a:off x="6248400" y="2257425"/>
            <a:ext cx="5410200" cy="1956435"/>
            <a:chOff x="6248400" y="2257425"/>
            <a:chExt cx="5410200" cy="1956435"/>
          </a:xfrm>
        </p:grpSpPr>
        <p:sp>
          <p:nvSpPr>
            <p:cNvPr id="20" name="Rectangle 20"/>
            <p:cNvSpPr/>
            <p:nvPr/>
          </p:nvSpPr>
          <p:spPr>
            <a:xfrm>
              <a:off x="6248400" y="2257425"/>
              <a:ext cx="5410200" cy="1956435"/>
            </a:xfrm>
            <a:prstGeom prst="roundRect">
              <a:avLst>
                <a:gd name="adj" fmla="val 68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57925" y="2390775"/>
              <a:ext cx="47625" cy="168973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96050" y="246697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82308" y="250269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第二步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39000" y="2502218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简要描述职责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88430" y="286321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为了获得简明的图示，职责的名称通常比较简短，职责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的实例将取代消息出现在顺序图或协作图中。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88430" y="348424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建议给职责附加简要的文字说明，描述它可能对应的操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作逻辑，以及被调用之后返回何种结果。</a:t>
              </a:r>
            </a:p>
          </p:txBody>
        </p:sp>
      </p:grpSp>
      <p:grpSp>
        <p:nvGrpSpPr>
          <p:cNvPr id="34" name="c2-callout-2"/>
          <p:cNvGrpSpPr/>
          <p:nvPr/>
        </p:nvGrpSpPr>
        <p:grpSpPr>
          <a:xfrm>
            <a:off x="6248400" y="4404360"/>
            <a:ext cx="5410200" cy="782955"/>
            <a:chOff x="6248400" y="4404360"/>
            <a:chExt cx="5410200" cy="782955"/>
          </a:xfrm>
        </p:grpSpPr>
        <p:sp>
          <p:nvSpPr>
            <p:cNvPr id="28" name="Rectangle 28"/>
            <p:cNvSpPr/>
            <p:nvPr/>
          </p:nvSpPr>
          <p:spPr>
            <a:xfrm>
              <a:off x="6248400" y="440436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6453188" y="4695825"/>
              <a:ext cx="200026" cy="200026"/>
              <a:chOff x="6453188" y="4695825"/>
              <a:chExt cx="200026" cy="20002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6453188" y="469582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6553200" y="47625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6542088" y="479583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6755130" y="4552950"/>
              <a:ext cx="4015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分析阶段的职责还不是类的操作，本章例子里用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"//" 作前缀把它和真正的操作区分开。</a:t>
              </a:r>
            </a:p>
          </p:txBody>
        </p:sp>
      </p:grpSp>
      <p:grpSp>
        <p:nvGrpSpPr>
          <p:cNvPr id="4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5" name="Rectangle 3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130" y="5991225"/>
              <a:ext cx="80924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多条消息合并成一条职责，是分析阶段最常见的简化动作，也是判断学生是否真懂的地方。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72156" cy="909257"/>
            <a:chOff x="520446" y="342900"/>
            <a:chExt cx="27721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整理分析类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确定分析类的属性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8737092" cy="264033"/>
            <a:chOff x="526542" y="1545907"/>
            <a:chExt cx="8737092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87370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属性的取值使分析类的实例具有必要的知识，从而履行它承担的职责。确定属性的工作主要围绕实体类展开。</a:t>
              </a:r>
            </a:p>
          </p:txBody>
        </p:sp>
      </p:grpSp>
      <p:grpSp>
        <p:nvGrpSpPr>
          <p:cNvPr id="18" name="c1-steps-1"/>
          <p:cNvGrpSpPr/>
          <p:nvPr/>
        </p:nvGrpSpPr>
        <p:grpSpPr>
          <a:xfrm>
            <a:off x="533400" y="1938338"/>
            <a:ext cx="5403215" cy="1516855"/>
            <a:chOff x="533400" y="1938338"/>
            <a:chExt cx="5403215" cy="1516855"/>
          </a:xfrm>
        </p:grpSpPr>
        <p:sp>
          <p:nvSpPr>
            <p:cNvPr id="9" name="Rectangle 9"/>
            <p:cNvSpPr/>
            <p:nvPr/>
          </p:nvSpPr>
          <p:spPr>
            <a:xfrm>
              <a:off x="666750" y="2081212"/>
              <a:ext cx="19050" cy="78962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38338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121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2796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80177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5642" y="1969770"/>
              <a:ext cx="13431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第一步 找出属性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785" y="2237899"/>
              <a:ext cx="498983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属性的基本来源是用例的事件流描述，并通过分析类的职责间接获取。职责的简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要描述越明确，属性越容易找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642" y="2760345"/>
              <a:ext cx="13431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第二步 简要描述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785" y="3027521"/>
              <a:ext cx="498983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属性名称应当是一个简短的名词，说明它保存的信息。含义相对复杂的属性要附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加必要的上下文说明</a:t>
              </a:r>
            </a:p>
          </p:txBody>
        </p:sp>
      </p:grpSp>
      <p:grpSp>
        <p:nvGrpSpPr>
          <p:cNvPr id="25" name="c1-callout-2"/>
          <p:cNvGrpSpPr/>
          <p:nvPr/>
        </p:nvGrpSpPr>
        <p:grpSpPr>
          <a:xfrm>
            <a:off x="533400" y="3618548"/>
            <a:ext cx="5626418" cy="729615"/>
            <a:chOff x="533400" y="3618548"/>
            <a:chExt cx="5626418" cy="729615"/>
          </a:xfrm>
        </p:grpSpPr>
        <p:sp>
          <p:nvSpPr>
            <p:cNvPr id="19" name="Rectangle 19"/>
            <p:cNvSpPr/>
            <p:nvPr/>
          </p:nvSpPr>
          <p:spPr>
            <a:xfrm>
              <a:off x="533400" y="3618548"/>
              <a:ext cx="5626418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38188" y="3883343"/>
              <a:ext cx="200026" cy="200025"/>
              <a:chOff x="738188" y="3883343"/>
              <a:chExt cx="200026" cy="20002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388334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777926" y="392779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12642" y="403891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892" y="3764280"/>
              <a:ext cx="46428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分析阶段的属性是粗线条的，通常没必要在数据类型和相关细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节上耗费过多精力。</a:t>
              </a:r>
            </a:p>
          </p:txBody>
        </p:sp>
      </p:grpSp>
      <p:grpSp>
        <p:nvGrpSpPr>
          <p:cNvPr id="33" name="c1-card-3"/>
          <p:cNvGrpSpPr/>
          <p:nvPr/>
        </p:nvGrpSpPr>
        <p:grpSpPr>
          <a:xfrm>
            <a:off x="533400" y="4517708"/>
            <a:ext cx="5626418" cy="1503045"/>
            <a:chOff x="533400" y="4517708"/>
            <a:chExt cx="5626418" cy="1503045"/>
          </a:xfrm>
        </p:grpSpPr>
        <p:sp>
          <p:nvSpPr>
            <p:cNvPr id="26" name="Rectangle 26"/>
            <p:cNvSpPr/>
            <p:nvPr/>
          </p:nvSpPr>
          <p:spPr>
            <a:xfrm>
              <a:off x="533400" y="4517708"/>
              <a:ext cx="5626418" cy="1503045"/>
            </a:xfrm>
            <a:prstGeom prst="roundRect">
              <a:avLst>
                <a:gd name="adj" fmla="val 887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542925" y="4651058"/>
              <a:ext cx="47625" cy="123634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58190" y="4704398"/>
              <a:ext cx="33432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53961" y="4737259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99960" y="473964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从职责倒推属性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1332" y="5065395"/>
              <a:ext cx="51205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实体类紧急情况报告的职责只有"创建自己"一条，看不出属性。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51332" y="5365433"/>
              <a:ext cx="501148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回到用例事件流第 3 步，填表时要选紧急等级、类型、位置、写描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述，这几项就是它的属性。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6464618" y="1928812"/>
            <a:ext cx="5193982" cy="1764030"/>
            <a:chOff x="6464618" y="1928812"/>
            <a:chExt cx="5193982" cy="1764030"/>
          </a:xfrm>
        </p:grpSpPr>
        <p:sp>
          <p:nvSpPr>
            <p:cNvPr id="34" name="Rectangle 34"/>
            <p:cNvSpPr/>
            <p:nvPr/>
          </p:nvSpPr>
          <p:spPr>
            <a:xfrm>
              <a:off x="6464618" y="1928812"/>
              <a:ext cx="5193982" cy="1764030"/>
            </a:xfrm>
            <a:prstGeom prst="roundRect">
              <a:avLst>
                <a:gd name="adj" fmla="val 7559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651308" y="2115502"/>
              <a:ext cx="1081088" cy="23812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725628" y="2148364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能力的两个来源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839837" y="215074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承担职责需要两方面的知识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644449" y="247650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一方面是分析类本身具有的信息，这就是</a:t>
              </a:r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属性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644449" y="2776538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另一方面是分析类能够找到的其他分析类，这是指向其他分析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类的</a:t>
              </a:r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关联关系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645592" y="3330416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广义上，关联关系也可以算作分析类的属性</a:t>
              </a:r>
            </a:p>
          </p:txBody>
        </p:sp>
      </p:grpSp>
      <p:grpSp>
        <p:nvGrpSpPr>
          <p:cNvPr id="48" name="c2-card-2"/>
          <p:cNvGrpSpPr/>
          <p:nvPr/>
        </p:nvGrpSpPr>
        <p:grpSpPr>
          <a:xfrm>
            <a:off x="6464618" y="3862388"/>
            <a:ext cx="5193982" cy="2158365"/>
            <a:chOff x="6464618" y="3862388"/>
            <a:chExt cx="5193982" cy="2158365"/>
          </a:xfrm>
        </p:grpSpPr>
        <p:sp>
          <p:nvSpPr>
            <p:cNvPr id="42" name="Rectangle 42"/>
            <p:cNvSpPr/>
            <p:nvPr/>
          </p:nvSpPr>
          <p:spPr>
            <a:xfrm>
              <a:off x="6464618" y="3862388"/>
              <a:ext cx="5193982" cy="2158365"/>
            </a:xfrm>
            <a:prstGeom prst="roundRect">
              <a:avLst>
                <a:gd name="adj" fmla="val 61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474142" y="3995738"/>
              <a:ext cx="47625" cy="18916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689408" y="404907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774929" y="408193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范围界定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682549" y="4393882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这里讨论的是狭义的属性，即分析类自身具有的简单信息，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类型是字符串、整型、布尔型这样的简单数据类型。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682549" y="495109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目的只是在逻辑上支撑分析类所承担的职责。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整理分析类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同一个信息，做成属性还是做成独立的实体类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5971591" cy="308039"/>
            <a:chOff x="525399" y="1550194"/>
            <a:chExt cx="5971591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597159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两者的界限并不十分清晰，但可以按行为和标识这两条来判断。</a:t>
              </a:r>
            </a:p>
          </p:txBody>
        </p:sp>
      </p:grpSp>
      <p:grpSp>
        <p:nvGrpSpPr>
          <p:cNvPr id="24" name="c1-compare-1"/>
          <p:cNvGrpSpPr/>
          <p:nvPr/>
        </p:nvGrpSpPr>
        <p:grpSpPr>
          <a:xfrm>
            <a:off x="533400" y="1967865"/>
            <a:ext cx="11125200" cy="1653540"/>
            <a:chOff x="533400" y="1967865"/>
            <a:chExt cx="11125200" cy="165354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391150" cy="1653540"/>
            </a:xfrm>
            <a:prstGeom prst="roundRect">
              <a:avLst>
                <a:gd name="adj" fmla="val 8065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35330" y="220218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建模为独立的实体类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48665" y="261937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06780" y="2556510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客体具有比较复杂的自身行为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48665" y="295465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06780" y="2891790"/>
              <a:ext cx="45300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客体具有独立标识（Identification），有可能被多类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对象共享或传递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67450" y="1967865"/>
              <a:ext cx="5391150" cy="1653540"/>
            </a:xfrm>
            <a:prstGeom prst="roundRect">
              <a:avLst>
                <a:gd name="adj" fmla="val 806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276975" y="2101215"/>
              <a:ext cx="47625" cy="138684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507480" y="220218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建模为类的属性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6520815" y="261937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678930" y="2556510"/>
              <a:ext cx="45110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客体除了非常简单的取／赋值操作（set、get 等），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不具备更多其他行为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6520815" y="324040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678930" y="3177540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客体不需要独立标识，仅供一类对象使用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934075" y="263271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949315" y="272891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</a:t>
              </a:r>
            </a:p>
          </p:txBody>
        </p:sp>
      </p:grpSp>
      <p:grpSp>
        <p:nvGrpSpPr>
          <p:cNvPr id="31" name="c1-card-2"/>
          <p:cNvGrpSpPr/>
          <p:nvPr/>
        </p:nvGrpSpPr>
        <p:grpSpPr>
          <a:xfrm>
            <a:off x="533400" y="3811905"/>
            <a:ext cx="11125200" cy="1365885"/>
            <a:chOff x="533400" y="3811905"/>
            <a:chExt cx="11125200" cy="1365885"/>
          </a:xfrm>
        </p:grpSpPr>
        <p:sp>
          <p:nvSpPr>
            <p:cNvPr id="25" name="Rectangle 25"/>
            <p:cNvSpPr/>
            <p:nvPr/>
          </p:nvSpPr>
          <p:spPr>
            <a:xfrm>
              <a:off x="533400" y="3811905"/>
              <a:ext cx="11125200" cy="1365885"/>
            </a:xfrm>
            <a:prstGeom prst="roundRect">
              <a:avLst>
                <a:gd name="adj" fmla="val 97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542925" y="3945255"/>
              <a:ext cx="47625" cy="109918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81050" y="4021455"/>
              <a:ext cx="148971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41705" y="405717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演进中可以互相转化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73430" y="4398645"/>
              <a:ext cx="100532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如果发现之前定义的实体类 A 几乎没有行为，并且仅仅被另外一个类 B 使用，可以把 A 转换成 B 的一项属性 a。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73430" y="4733925"/>
              <a:ext cx="955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反过来，如果类 X 的某个属性 y 越来越显现出复杂的行为特征，可以考虑把它建模为一个独立的实体类 Y。</a:t>
              </a:r>
            </a:p>
          </p:txBody>
        </p:sp>
      </p:grpSp>
      <p:grpSp>
        <p:nvGrpSpPr>
          <p:cNvPr id="38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2" name="Rectangle 3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0130" y="5991225"/>
              <a:ext cx="6477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建模形式不容易一步到位，分析和设计的演进过程中来回调整是正常的。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72156" cy="909257"/>
            <a:chOff x="520446" y="342900"/>
            <a:chExt cx="27721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9650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30" y="407194"/>
              <a:ext cx="2375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整理分析类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泛化不等同于继承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bullets-1"/>
          <p:cNvGrpSpPr/>
          <p:nvPr/>
        </p:nvGrpSpPr>
        <p:grpSpPr>
          <a:xfrm>
            <a:off x="525780" y="1548765"/>
            <a:ext cx="5372100" cy="1278255"/>
            <a:chOff x="525780" y="1548765"/>
            <a:chExt cx="5372100" cy="127825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模型清晰后要检查类之间的关系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533400" y="188976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95249" y="19320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4390" y="1903095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把一对多、多对多的复杂关系尽量变为受限的一对一关系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33400" y="223456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95249" y="22768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34390" y="224790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把分析类体现的概念组成层次，即从特殊到一般的归纳，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也就是泛化</a:t>
              </a:r>
            </a:p>
          </p:txBody>
        </p:sp>
      </p:grpSp>
      <p:grpSp>
        <p:nvGrpSpPr>
          <p:cNvPr id="21" name="c1-callout-2"/>
          <p:cNvGrpSpPr/>
          <p:nvPr/>
        </p:nvGrpSpPr>
        <p:grpSpPr>
          <a:xfrm>
            <a:off x="533400" y="2958465"/>
            <a:ext cx="5410200" cy="782955"/>
            <a:chOff x="533400" y="2958465"/>
            <a:chExt cx="5410200" cy="782955"/>
          </a:xfrm>
        </p:grpSpPr>
        <p:sp>
          <p:nvSpPr>
            <p:cNvPr id="15" name="Rectangle 15"/>
            <p:cNvSpPr/>
            <p:nvPr/>
          </p:nvSpPr>
          <p:spPr>
            <a:xfrm>
              <a:off x="533400" y="295846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38188" y="3249930"/>
              <a:ext cx="200026" cy="200026"/>
              <a:chOff x="738188" y="3249930"/>
              <a:chExt cx="200026" cy="200026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324993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38200" y="331660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27088" y="334994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130" y="3107055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这两条都是为了减少关系的数量、降低复杂性，但泛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化有一条边界不能越过。</a:t>
              </a:r>
            </a:p>
          </p:txBody>
        </p:sp>
      </p:grpSp>
      <p:grpSp>
        <p:nvGrpSpPr>
          <p:cNvPr id="37" name="c2-compare-1"/>
          <p:cNvGrpSpPr/>
          <p:nvPr/>
        </p:nvGrpSpPr>
        <p:grpSpPr>
          <a:xfrm>
            <a:off x="6248400" y="1524000"/>
            <a:ext cx="5410200" cy="2510790"/>
            <a:chOff x="6248400" y="1524000"/>
            <a:chExt cx="5410200" cy="2510790"/>
          </a:xfrm>
        </p:grpSpPr>
        <p:sp>
          <p:nvSpPr>
            <p:cNvPr id="22" name="Rectangle 22"/>
            <p:cNvSpPr/>
            <p:nvPr/>
          </p:nvSpPr>
          <p:spPr>
            <a:xfrm>
              <a:off x="6248400" y="1524000"/>
              <a:ext cx="2533650" cy="2510790"/>
            </a:xfrm>
            <a:prstGeom prst="roundRect">
              <a:avLst>
                <a:gd name="adj" fmla="val 5311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50330" y="1758315"/>
              <a:ext cx="1786414" cy="5505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泛化</a:t>
              </a:r>
              <a:br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（generalization）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6463665" y="243268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621780" y="2369820"/>
              <a:ext cx="1729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概念层面的归纳，子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概念确实是父概念的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一种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463665" y="333946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621780" y="327660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分析阶段只关注这一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124950" y="1524000"/>
              <a:ext cx="2533650" cy="2510790"/>
            </a:xfrm>
            <a:prstGeom prst="roundRect">
              <a:avLst>
                <a:gd name="adj" fmla="val 53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9134475" y="1657350"/>
              <a:ext cx="47625" cy="224409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364980" y="17583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9378315" y="217551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536430" y="2112645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一种复用属性和行为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的机制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9378315" y="279654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536430" y="2733675"/>
              <a:ext cx="172974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即使两个类之间不存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在归纳关系也能继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承，比如把散列表类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改进成集合类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8791575" y="261747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806815" y="271367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区别</a:t>
              </a:r>
            </a:p>
          </p:txBody>
        </p:sp>
      </p:grpSp>
      <p:grpSp>
        <p:nvGrpSpPr>
          <p:cNvPr id="44" name="c2-callout-2"/>
          <p:cNvGrpSpPr/>
          <p:nvPr/>
        </p:nvGrpSpPr>
        <p:grpSpPr>
          <a:xfrm>
            <a:off x="6248400" y="4225290"/>
            <a:ext cx="5410200" cy="1059180"/>
            <a:chOff x="6248400" y="4225290"/>
            <a:chExt cx="5410200" cy="1059180"/>
          </a:xfrm>
        </p:grpSpPr>
        <p:sp>
          <p:nvSpPr>
            <p:cNvPr id="38" name="Rectangle 38"/>
            <p:cNvSpPr/>
            <p:nvPr/>
          </p:nvSpPr>
          <p:spPr>
            <a:xfrm>
              <a:off x="6248400" y="4225290"/>
              <a:ext cx="5410200" cy="1059180"/>
            </a:xfrm>
            <a:prstGeom prst="roundRect">
              <a:avLst>
                <a:gd name="adj" fmla="val 1079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6441129" y="4651176"/>
              <a:ext cx="224134" cy="192560"/>
              <a:chOff x="6441129" y="4651176"/>
              <a:chExt cx="224134" cy="19256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6553200" y="472154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441129" y="465117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553200" y="479933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6755130" y="4373880"/>
              <a:ext cx="4396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分析中不能用复用的形式来解释泛化。继承层次结构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将在对象设计中重新构建，虽然它最初从归纳关系衍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生而来。</a:t>
              </a: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5" name="Rectangle 4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130" y="5991225"/>
              <a:ext cx="859497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一句可用的检验：能说出"每个 A 都是一个 B"才是泛化，只说得出"A 想用 B 的代码"就是继承。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4" name="section-title"/>
          <p:cNvGrpSpPr/>
          <p:nvPr/>
        </p:nvGrpSpPr>
        <p:grpSpPr>
          <a:xfrm>
            <a:off x="667512" y="1835468"/>
            <a:ext cx="5367528" cy="2643187"/>
            <a:chOff x="667512" y="1835468"/>
            <a:chExt cx="5367528" cy="264318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36752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完整实例：报告紧急情况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496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从对象清单到三张顺序图，再到 VOPC 和属性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每一步都能对回用例的原文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画到一半发现用例本身不完整</a:t>
              </a:r>
            </a:p>
          </p:txBody>
        </p:sp>
      </p:grpSp>
      <p:grpSp>
        <p:nvGrpSpPr>
          <p:cNvPr id="1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" name="TextBox 15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完整实例：报告紧急情况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第一遍：标识出四个实体对象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664844" cy="264033"/>
            <a:chOff x="526542" y="1545907"/>
            <a:chExt cx="7664844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6648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用领域知识和与用户的交流，对"报告紧急情况"用例做第一次检查，标识出下面四个实体对象。</a:t>
              </a:r>
            </a:p>
          </p:txBody>
        </p:sp>
      </p:grpSp>
      <p:grpSp>
        <p:nvGrpSpPr>
          <p:cNvPr id="27" name="c1-table-1"/>
          <p:cNvGrpSpPr/>
          <p:nvPr/>
        </p:nvGrpSpPr>
        <p:grpSpPr>
          <a:xfrm>
            <a:off x="533400" y="1928812"/>
            <a:ext cx="11125200" cy="2400301"/>
            <a:chOff x="533400" y="1928812"/>
            <a:chExt cx="11125200" cy="2400301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11125200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227214" y="20502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实体对象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940588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描述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0555" y="245030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调度员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632710" y="2450306"/>
              <a:ext cx="87563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管理事件的警官。调度员创建、记录并关闭事件，从而对紧急情况报告和其他与现场工作人员的交流做出响应。调度员由证件号标识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7241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728912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0555" y="28503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现场工作人员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632710" y="2850356"/>
              <a:ext cx="6645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执勤的警官或消防员。一名现场工作人员一次最多只能分配给一个事件，现场工作人员由证件号标识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12420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0555" y="335041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紧急情况报告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632710" y="3250406"/>
              <a:ext cx="85458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关于一个事件的最初报告，从一个现场工作人员提交给一个调度员。紧急情况报告通常引发调度员对一个事件的创建。一个紧急情况报告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由紧急等级、类型（火灾、道路事故或其他）、发生位置以及描述组成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72427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3729038"/>
              <a:ext cx="11125200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0555" y="39504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632710" y="3850481"/>
              <a:ext cx="85458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要求现场工作人员注意的情况。一个事件可能由系统内的现场工作人员报告，也可能由系统外的任何人报告。一个事件由描述、响应、状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态（打开、关闭、记录）、位置、现场工作人员的数量组成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1928812"/>
              <a:ext cx="11125200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2530792" y="1928812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4" name="c1-card-2"/>
          <p:cNvGrpSpPr/>
          <p:nvPr/>
        </p:nvGrpSpPr>
        <p:grpSpPr>
          <a:xfrm>
            <a:off x="533400" y="4498658"/>
            <a:ext cx="11125200" cy="1743075"/>
            <a:chOff x="533400" y="4498658"/>
            <a:chExt cx="11125200" cy="1743075"/>
          </a:xfrm>
        </p:grpSpPr>
        <p:sp>
          <p:nvSpPr>
            <p:cNvPr id="28" name="Rectangle 28"/>
            <p:cNvSpPr/>
            <p:nvPr/>
          </p:nvSpPr>
          <p:spPr>
            <a:xfrm>
              <a:off x="533400" y="4498658"/>
              <a:ext cx="11125200" cy="1743075"/>
            </a:xfrm>
            <a:prstGeom prst="roundRect">
              <a:avLst>
                <a:gd name="adj" fmla="val 76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42925" y="4632008"/>
              <a:ext cx="47625" cy="147637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58190" y="468534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42759" y="471820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两条注记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51332" y="5030152"/>
              <a:ext cx="1032643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命名：紧急情况报告这个名字并没有在用例中直接提到，用例第 3 步出现的是「现场工作人员提交的信息」。与客户讨论后发现它指的就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是紧急情况报告，于是这样命名。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51332" y="5587365"/>
              <a:ext cx="101292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更正：原课件前后两张表里，事件的状态一处写作「创建、关闭、记录」，一处写作「打开、关闭、记录」。用例里调用的是「打开事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件」，故本讲义统一取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打开、关闭、记录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5" name="TextBox 35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69408" cy="909257"/>
            <a:chOff x="520446" y="342900"/>
            <a:chExt cx="776940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完整实例：报告紧急情况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6940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边界对象：每个 Actor 至少和一个边界对象打交道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559415" cy="569595"/>
            <a:chOff x="525780" y="1548765"/>
            <a:chExt cx="10559415" cy="56959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5594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边界对象从 Actor 收集信息，并把这些信息存入一张与接口无关的表格，该表格可被实体对象或控制对象使用。系统对用户的</a:t>
              </a:r>
              <a:br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响应或消息也是一类边界对象。</a:t>
              </a:r>
            </a:p>
          </p:txBody>
        </p:sp>
      </p:grpSp>
      <p:grpSp>
        <p:nvGrpSpPr>
          <p:cNvPr id="34" name="c1-table-1"/>
          <p:cNvGrpSpPr/>
          <p:nvPr/>
        </p:nvGrpSpPr>
        <p:grpSpPr>
          <a:xfrm>
            <a:off x="533400" y="2230755"/>
            <a:ext cx="11125200" cy="3398520"/>
            <a:chOff x="533400" y="2230755"/>
            <a:chExt cx="11125200" cy="3398520"/>
          </a:xfrm>
        </p:grpSpPr>
        <p:sp>
          <p:nvSpPr>
            <p:cNvPr id="9" name="Rectangle 9"/>
            <p:cNvSpPr/>
            <p:nvPr/>
          </p:nvSpPr>
          <p:spPr>
            <a:xfrm>
              <a:off x="533400" y="2230755"/>
              <a:ext cx="11125200" cy="42481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316736" y="235934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边界对象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040880" y="235934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描述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5889" y="2783205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报告紧急情况按钮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860929" y="2783205"/>
              <a:ext cx="34046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现场工作人员用来启动报告紧急情况用例的按钮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307467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3079432"/>
              <a:ext cx="1112520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5889" y="331470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紧急情况报告表单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860929" y="3208020"/>
              <a:ext cx="82417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用来输入报告紧急情况的表格。当选择报告紧急情况功能时，这份表格在现场工作站上提交给现场工作人员。表单包含指明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一个紧急情况报告的各种属性，以及填完表格后的提交按钮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71284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5889" y="384619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确认通知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860929" y="3846195"/>
              <a:ext cx="30815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用来显示调度员给现场工作人员答复的通知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413670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4141470"/>
              <a:ext cx="1112520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5889" y="437673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事件表单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860929" y="4270058"/>
              <a:ext cx="82417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用来创建事件的表格。当收到紧急情况报告时，在调度站上提交该表格给调度员。调度员用这份表格来配置资源并答复现场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工作人员的报告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77488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5889" y="490823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现场工作站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860929" y="4908232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现场工作人员用的移动设备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51996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33400" y="5204460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5889" y="533209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调度站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860929" y="5332095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调度员用的计算机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2230755"/>
              <a:ext cx="11125200" cy="339756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2753678" y="2230755"/>
              <a:ext cx="9525" cy="339756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0" name="c1-callout-2"/>
          <p:cNvGrpSpPr/>
          <p:nvPr/>
        </p:nvGrpSpPr>
        <p:grpSpPr>
          <a:xfrm>
            <a:off x="533400" y="5808345"/>
            <a:ext cx="11125200" cy="503872"/>
            <a:chOff x="533400" y="5808345"/>
            <a:chExt cx="11125200" cy="503872"/>
          </a:xfrm>
        </p:grpSpPr>
        <p:sp>
          <p:nvSpPr>
            <p:cNvPr id="35" name="Rectangle 35"/>
            <p:cNvSpPr/>
            <p:nvPr/>
          </p:nvSpPr>
          <p:spPr>
            <a:xfrm>
              <a:off x="533400" y="5808345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38188" y="5960747"/>
              <a:ext cx="200023" cy="200023"/>
              <a:chOff x="738188" y="5960747"/>
              <a:chExt cx="200023" cy="200023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738188" y="596074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71538" y="60274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511" y="5961221"/>
              <a:ext cx="103371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事件表单并没有在用例里明显提及，但可以观察到调度员需要一个接口来浏览提交的报告并返回答复，因此把它标识出来。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366441" cy="909257"/>
            <a:chOff x="520446" y="342900"/>
            <a:chExt cx="536644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完整实例：报告紧急情况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36644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控制对象：给每个 Actor 各设一个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721213" cy="597598"/>
            <a:chOff x="525399" y="1550194"/>
            <a:chExt cx="10721213" cy="597598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721213" cy="597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80"/>
                </a:lnSpc>
              </a:pPr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有了实体对象和边界对象，还需要描述 Actor 和系统交互时的顺序是如何被控制的。这个用例对现场工作人员和调度员分</a:t>
              </a:r>
              <a:br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别设立一个控制对象。</a:t>
              </a:r>
            </a:p>
          </p:txBody>
        </p:sp>
      </p:grpSp>
      <p:grpSp>
        <p:nvGrpSpPr>
          <p:cNvPr id="20" name="c1-table-1"/>
          <p:cNvGrpSpPr/>
          <p:nvPr/>
        </p:nvGrpSpPr>
        <p:grpSpPr>
          <a:xfrm>
            <a:off x="533400" y="2257425"/>
            <a:ext cx="11125200" cy="2026920"/>
            <a:chOff x="533400" y="2257425"/>
            <a:chExt cx="11125200" cy="2026920"/>
          </a:xfrm>
        </p:grpSpPr>
        <p:sp>
          <p:nvSpPr>
            <p:cNvPr id="9" name="Rectangle 9"/>
            <p:cNvSpPr/>
            <p:nvPr/>
          </p:nvSpPr>
          <p:spPr>
            <a:xfrm>
              <a:off x="533400" y="2257425"/>
              <a:ext cx="11125200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294816" y="239315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控制对象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029729" y="239315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描述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1223" y="3068479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报告紧急情况控制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866263" y="2841784"/>
              <a:ext cx="8303514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管理现场工作站的报告紧急情况功能。当现场工作人员选择报告紧急情况按钮时该对象被创建；然后它创建报告紧急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情况表单并提交给现场工作人员；在表单提交后，该对象收集表单信息，创建一个紧急情况报告并转寄给调度员；然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后等待一个来自调度站的答复；收到答复后创建一个确认通知并显示给现场工作人员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360426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3609022"/>
              <a:ext cx="11125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3857149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管理紧急情况控制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866263" y="3743801"/>
              <a:ext cx="83035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管理调度站的报告紧急情况功能。当收到一个紧急情况报告时该对象被创建；然后它创建一个事件表单并显示给调度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员；一旦调度员创建了事件、配置了资源并提交了答复，管理紧急情况控制就把这个答复转发给现场工作站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257425"/>
              <a:ext cx="11125200" cy="20269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2753678" y="2257425"/>
              <a:ext cx="9525" cy="20269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27" name="c1-callout-2"/>
          <p:cNvGrpSpPr/>
          <p:nvPr/>
        </p:nvGrpSpPr>
        <p:grpSpPr>
          <a:xfrm>
            <a:off x="533400" y="4474845"/>
            <a:ext cx="11125200" cy="533400"/>
            <a:chOff x="533400" y="4474845"/>
            <a:chExt cx="11125200" cy="533400"/>
          </a:xfrm>
        </p:grpSpPr>
        <p:sp>
          <p:nvSpPr>
            <p:cNvPr id="21" name="Rectangle 21"/>
            <p:cNvSpPr/>
            <p:nvPr/>
          </p:nvSpPr>
          <p:spPr>
            <a:xfrm>
              <a:off x="533400" y="4474845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38188" y="4641533"/>
              <a:ext cx="200026" cy="200026"/>
              <a:chOff x="738188" y="4641533"/>
              <a:chExt cx="200026" cy="200026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8188" y="464153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38200" y="470820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27088" y="474154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0130" y="4636770"/>
              <a:ext cx="99098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一个用例两个控制对象，因为这个用例跨越两台机器，两端各有一段独立的事件流，各自有明确的开始和结束。</a:t>
              </a:r>
            </a:p>
          </p:txBody>
        </p:sp>
      </p:grpSp>
      <p:grpSp>
        <p:nvGrpSpPr>
          <p:cNvPr id="34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28" name="Rectangle 28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130" y="5991225"/>
              <a:ext cx="95059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到这里，用同一个用例分别从事件流角度和结构角度描述了一遍，描述的详细程度上去了，术语也统一了。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5" name="TextBox 35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完整实例：报告紧急情况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顺序图一：从现场工作站启动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3" name="seq1"/>
          <p:cNvGrpSpPr/>
          <p:nvPr/>
        </p:nvGrpSpPr>
        <p:grpSpPr>
          <a:xfrm>
            <a:off x="619125" y="1676400"/>
            <a:ext cx="10953751" cy="4067175"/>
            <a:chOff x="619125" y="1676400"/>
            <a:chExt cx="10953751" cy="4067175"/>
          </a:xfrm>
        </p:grpSpPr>
        <p:sp>
          <p:nvSpPr>
            <p:cNvPr id="7" name="Rectangle 7"/>
            <p:cNvSpPr/>
            <p:nvPr/>
          </p:nvSpPr>
          <p:spPr>
            <a:xfrm>
              <a:off x="619125" y="1676400"/>
              <a:ext cx="1683068" cy="514350"/>
            </a:xfrm>
            <a:prstGeom prst="roundRect">
              <a:avLst>
                <a:gd name="adj" fmla="val 14815"/>
              </a:avLst>
            </a:prstGeom>
            <a:solidFill>
              <a:srgbClr val="E7EDF3"/>
            </a:solidFill>
            <a:ln w="14288">
              <a:solidFill>
                <a:srgbClr val="334E68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32557" y="1774746"/>
              <a:ext cx="455252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«actor»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30796" y="19631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现场工作人员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473642" y="1676400"/>
              <a:ext cx="1683068" cy="514350"/>
            </a:xfrm>
            <a:prstGeom prst="roundRect">
              <a:avLst>
                <a:gd name="adj" fmla="val 14815"/>
              </a:avLst>
            </a:prstGeom>
            <a:solidFill>
              <a:srgbClr val="E3F5F1"/>
            </a:solidFill>
            <a:ln w="14288">
              <a:solidFill>
                <a:srgbClr val="0F7A68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991561" y="1774746"/>
              <a:ext cx="646278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«boundary»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743962" y="19631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报告紧急情况按钮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27208" y="1676400"/>
              <a:ext cx="1683068" cy="514350"/>
            </a:xfrm>
            <a:prstGeom prst="roundRect">
              <a:avLst>
                <a:gd name="adj" fmla="val 14815"/>
              </a:avLst>
            </a:prstGeom>
            <a:solidFill>
              <a:srgbClr val="FDEEE7"/>
            </a:solidFill>
            <a:ln w="14288">
              <a:solidFill>
                <a:srgbClr val="C2410C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892388" y="1774746"/>
              <a:ext cx="553659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«control»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98480" y="19631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报告紧急情况控制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1676400"/>
              <a:ext cx="1683068" cy="514350"/>
            </a:xfrm>
            <a:prstGeom prst="roundRect">
              <a:avLst>
                <a:gd name="adj" fmla="val 14815"/>
              </a:avLst>
            </a:prstGeom>
            <a:solidFill>
              <a:srgbClr val="E3F5F1"/>
            </a:solidFill>
            <a:ln w="14288">
              <a:solidFill>
                <a:srgbClr val="0F7A6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699644" y="1774746"/>
              <a:ext cx="646278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«boundary»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52044" y="19631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紧急情况报告表单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36242" y="1676400"/>
              <a:ext cx="1683068" cy="514350"/>
            </a:xfrm>
            <a:prstGeom prst="roundRect">
              <a:avLst>
                <a:gd name="adj" fmla="val 14815"/>
              </a:avLst>
            </a:prstGeom>
            <a:solidFill>
              <a:srgbClr val="F4F6FB"/>
            </a:solidFill>
            <a:ln w="14288">
              <a:solidFill>
                <a:srgbClr val="243B53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632308" y="1774746"/>
              <a:ext cx="48998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447913" y="19631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紧急情况报告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889808" y="1676400"/>
              <a:ext cx="1683068" cy="514350"/>
            </a:xfrm>
            <a:prstGeom prst="roundRect">
              <a:avLst>
                <a:gd name="adj" fmla="val 14815"/>
              </a:avLst>
            </a:prstGeom>
            <a:solidFill>
              <a:srgbClr val="FDEEE7"/>
            </a:solidFill>
            <a:ln w="14288">
              <a:solidFill>
                <a:srgbClr val="C2410C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454988" y="1774746"/>
              <a:ext cx="553659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«control»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161080" y="19631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管理紧急情况控制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1460182" y="2190750"/>
              <a:ext cx="9525" cy="3524250"/>
            </a:xfrm>
            <a:custGeom>
              <a:avLst/>
              <a:gdLst/>
              <a:ahLst/>
              <a:cxnLst/>
              <a:rect l="l" t="t" r="r" b="b"/>
              <a:pathLst>
                <a:path w="9525" h="3524250">
                  <a:moveTo>
                    <a:pt x="0" y="0"/>
                  </a:moveTo>
                  <a:lnTo>
                    <a:pt x="0" y="352425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26" name="Line 26"/>
            <p:cNvSpPr/>
            <p:nvPr/>
          </p:nvSpPr>
          <p:spPr>
            <a:xfrm>
              <a:off x="3314700" y="2190750"/>
              <a:ext cx="9525" cy="3524250"/>
            </a:xfrm>
            <a:custGeom>
              <a:avLst/>
              <a:gdLst/>
              <a:ahLst/>
              <a:cxnLst/>
              <a:rect l="l" t="t" r="r" b="b"/>
              <a:pathLst>
                <a:path w="9525" h="3524250">
                  <a:moveTo>
                    <a:pt x="0" y="0"/>
                  </a:moveTo>
                  <a:lnTo>
                    <a:pt x="0" y="352425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27" name="Line 27"/>
            <p:cNvSpPr/>
            <p:nvPr/>
          </p:nvSpPr>
          <p:spPr>
            <a:xfrm>
              <a:off x="5169218" y="2190750"/>
              <a:ext cx="9525" cy="3524250"/>
            </a:xfrm>
            <a:custGeom>
              <a:avLst/>
              <a:gdLst/>
              <a:ahLst/>
              <a:cxnLst/>
              <a:rect l="l" t="t" r="r" b="b"/>
              <a:pathLst>
                <a:path w="9525" h="3524250">
                  <a:moveTo>
                    <a:pt x="0" y="0"/>
                  </a:moveTo>
                  <a:lnTo>
                    <a:pt x="0" y="352425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28" name="Line 28"/>
            <p:cNvSpPr/>
            <p:nvPr/>
          </p:nvSpPr>
          <p:spPr>
            <a:xfrm>
              <a:off x="7022782" y="2190750"/>
              <a:ext cx="9525" cy="3524250"/>
            </a:xfrm>
            <a:custGeom>
              <a:avLst/>
              <a:gdLst/>
              <a:ahLst/>
              <a:cxnLst/>
              <a:rect l="l" t="t" r="r" b="b"/>
              <a:pathLst>
                <a:path w="9525" h="3524250">
                  <a:moveTo>
                    <a:pt x="0" y="0"/>
                  </a:moveTo>
                  <a:lnTo>
                    <a:pt x="0" y="352425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29" name="Line 29"/>
            <p:cNvSpPr/>
            <p:nvPr/>
          </p:nvSpPr>
          <p:spPr>
            <a:xfrm>
              <a:off x="8877300" y="2190750"/>
              <a:ext cx="9525" cy="3524250"/>
            </a:xfrm>
            <a:custGeom>
              <a:avLst/>
              <a:gdLst/>
              <a:ahLst/>
              <a:cxnLst/>
              <a:rect l="l" t="t" r="r" b="b"/>
              <a:pathLst>
                <a:path w="9525" h="3524250">
                  <a:moveTo>
                    <a:pt x="0" y="0"/>
                  </a:moveTo>
                  <a:lnTo>
                    <a:pt x="0" y="352425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30" name="Line 30"/>
            <p:cNvSpPr/>
            <p:nvPr/>
          </p:nvSpPr>
          <p:spPr>
            <a:xfrm>
              <a:off x="10731818" y="2190750"/>
              <a:ext cx="9525" cy="3524250"/>
            </a:xfrm>
            <a:custGeom>
              <a:avLst/>
              <a:gdLst/>
              <a:ahLst/>
              <a:cxnLst/>
              <a:rect l="l" t="t" r="r" b="b"/>
              <a:pathLst>
                <a:path w="9525" h="3524250">
                  <a:moveTo>
                    <a:pt x="0" y="0"/>
                  </a:moveTo>
                  <a:lnTo>
                    <a:pt x="0" y="352425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31" name="Rectangle 31"/>
            <p:cNvSpPr/>
            <p:nvPr/>
          </p:nvSpPr>
          <p:spPr>
            <a:xfrm>
              <a:off x="1403032" y="2409825"/>
              <a:ext cx="114300" cy="182594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3257550" y="2409825"/>
              <a:ext cx="114300" cy="58483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0F7A68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5112068" y="2823210"/>
              <a:ext cx="114300" cy="26536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C2410C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965632" y="3237548"/>
              <a:ext cx="114300" cy="228695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0F7A68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8820150" y="4892040"/>
              <a:ext cx="114300" cy="1714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243B53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10674668" y="5305425"/>
              <a:ext cx="114300" cy="1714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C2410C"/>
              </a:solidFill>
            </a:ln>
          </p:spPr>
        </p:sp>
        <p:sp>
          <p:nvSpPr>
            <p:cNvPr id="37" name="Line 37"/>
            <p:cNvSpPr/>
            <p:nvPr/>
          </p:nvSpPr>
          <p:spPr>
            <a:xfrm>
              <a:off x="1517332" y="2495550"/>
              <a:ext cx="1740218" cy="9525"/>
            </a:xfrm>
            <a:custGeom>
              <a:avLst/>
              <a:gdLst/>
              <a:ahLst/>
              <a:cxnLst/>
              <a:rect l="l" t="t" r="r" b="b"/>
              <a:pathLst>
                <a:path w="1740218" h="9525">
                  <a:moveTo>
                    <a:pt x="0" y="0"/>
                  </a:moveTo>
                  <a:lnTo>
                    <a:pt x="1740218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38" name="Polygon 38"/>
            <p:cNvSpPr/>
            <p:nvPr/>
          </p:nvSpPr>
          <p:spPr>
            <a:xfrm>
              <a:off x="3168015" y="2443162"/>
              <a:ext cx="89535" cy="104775"/>
            </a:xfrm>
            <a:custGeom>
              <a:avLst/>
              <a:gdLst/>
              <a:ahLst/>
              <a:cxnLst/>
              <a:rect l="l" t="t" r="r" b="b"/>
              <a:pathLst>
                <a:path w="89535" h="104775">
                  <a:moveTo>
                    <a:pt x="0" y="0"/>
                  </a:moveTo>
                  <a:lnTo>
                    <a:pt x="0" y="104775"/>
                  </a:lnTo>
                  <a:lnTo>
                    <a:pt x="89535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2139560" y="2327672"/>
              <a:ext cx="496715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press()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3371850" y="2908935"/>
              <a:ext cx="1740218" cy="9525"/>
            </a:xfrm>
            <a:custGeom>
              <a:avLst/>
              <a:gdLst/>
              <a:ahLst/>
              <a:cxnLst/>
              <a:rect l="l" t="t" r="r" b="b"/>
              <a:pathLst>
                <a:path w="1740218" h="9525">
                  <a:moveTo>
                    <a:pt x="0" y="0"/>
                  </a:moveTo>
                  <a:lnTo>
                    <a:pt x="1740218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41" name="Polygon 41"/>
            <p:cNvSpPr/>
            <p:nvPr/>
          </p:nvSpPr>
          <p:spPr>
            <a:xfrm>
              <a:off x="5022532" y="2856548"/>
              <a:ext cx="89535" cy="104775"/>
            </a:xfrm>
            <a:custGeom>
              <a:avLst/>
              <a:gdLst/>
              <a:ahLst/>
              <a:cxnLst/>
              <a:rect l="l" t="t" r="r" b="b"/>
              <a:pathLst>
                <a:path w="89535" h="104775">
                  <a:moveTo>
                    <a:pt x="0" y="0"/>
                  </a:moveTo>
                  <a:lnTo>
                    <a:pt x="0" y="104775"/>
                  </a:lnTo>
                  <a:lnTo>
                    <a:pt x="89535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3958326" y="2741057"/>
              <a:ext cx="566313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create()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5226368" y="3323272"/>
              <a:ext cx="1739265" cy="9525"/>
            </a:xfrm>
            <a:custGeom>
              <a:avLst/>
              <a:gdLst/>
              <a:ahLst/>
              <a:cxnLst/>
              <a:rect l="l" t="t" r="r" b="b"/>
              <a:pathLst>
                <a:path w="1739265" h="9525">
                  <a:moveTo>
                    <a:pt x="0" y="0"/>
                  </a:moveTo>
                  <a:lnTo>
                    <a:pt x="1739265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44" name="Polygon 44"/>
            <p:cNvSpPr/>
            <p:nvPr/>
          </p:nvSpPr>
          <p:spPr>
            <a:xfrm>
              <a:off x="6877050" y="3270885"/>
              <a:ext cx="88582" cy="104775"/>
            </a:xfrm>
            <a:custGeom>
              <a:avLst/>
              <a:gdLst/>
              <a:ahLst/>
              <a:cxnLst/>
              <a:rect l="l" t="t" r="r" b="b"/>
              <a:pathLst>
                <a:path w="88582" h="104775">
                  <a:moveTo>
                    <a:pt x="0" y="0"/>
                  </a:moveTo>
                  <a:lnTo>
                    <a:pt x="0" y="104775"/>
                  </a:lnTo>
                  <a:lnTo>
                    <a:pt x="88582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812843" y="3155394"/>
              <a:ext cx="566313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create()</a:t>
              </a:r>
            </a:p>
          </p:txBody>
        </p:sp>
        <p:sp>
          <p:nvSpPr>
            <p:cNvPr id="46" name="Line 46"/>
            <p:cNvSpPr/>
            <p:nvPr/>
          </p:nvSpPr>
          <p:spPr>
            <a:xfrm>
              <a:off x="1517332" y="3736658"/>
              <a:ext cx="5448300" cy="9525"/>
            </a:xfrm>
            <a:custGeom>
              <a:avLst/>
              <a:gdLst/>
              <a:ahLst/>
              <a:cxnLst/>
              <a:rect l="l" t="t" r="r" b="b"/>
              <a:pathLst>
                <a:path w="5448300" h="9525">
                  <a:moveTo>
                    <a:pt x="0" y="0"/>
                  </a:moveTo>
                  <a:lnTo>
                    <a:pt x="5448300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47" name="Polygon 47"/>
            <p:cNvSpPr/>
            <p:nvPr/>
          </p:nvSpPr>
          <p:spPr>
            <a:xfrm>
              <a:off x="6877050" y="3684270"/>
              <a:ext cx="88582" cy="104775"/>
            </a:xfrm>
            <a:custGeom>
              <a:avLst/>
              <a:gdLst/>
              <a:ahLst/>
              <a:cxnLst/>
              <a:rect l="l" t="t" r="r" b="b"/>
              <a:pathLst>
                <a:path w="88582" h="104775">
                  <a:moveTo>
                    <a:pt x="0" y="0"/>
                  </a:moveTo>
                  <a:lnTo>
                    <a:pt x="0" y="104775"/>
                  </a:lnTo>
                  <a:lnTo>
                    <a:pt x="88582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3747232" y="3568779"/>
              <a:ext cx="988501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fillContents()</a:t>
              </a:r>
            </a:p>
          </p:txBody>
        </p:sp>
        <p:sp>
          <p:nvSpPr>
            <p:cNvPr id="49" name="Line 49"/>
            <p:cNvSpPr/>
            <p:nvPr/>
          </p:nvSpPr>
          <p:spPr>
            <a:xfrm>
              <a:off x="1517332" y="4150042"/>
              <a:ext cx="5448300" cy="9525"/>
            </a:xfrm>
            <a:custGeom>
              <a:avLst/>
              <a:gdLst/>
              <a:ahLst/>
              <a:cxnLst/>
              <a:rect l="l" t="t" r="r" b="b"/>
              <a:pathLst>
                <a:path w="5448300" h="9525">
                  <a:moveTo>
                    <a:pt x="0" y="0"/>
                  </a:moveTo>
                  <a:lnTo>
                    <a:pt x="5448300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50" name="Polygon 50"/>
            <p:cNvSpPr/>
            <p:nvPr/>
          </p:nvSpPr>
          <p:spPr>
            <a:xfrm>
              <a:off x="6877050" y="4097655"/>
              <a:ext cx="88582" cy="104775"/>
            </a:xfrm>
            <a:custGeom>
              <a:avLst/>
              <a:gdLst/>
              <a:ahLst/>
              <a:cxnLst/>
              <a:rect l="l" t="t" r="r" b="b"/>
              <a:pathLst>
                <a:path w="88582" h="104775">
                  <a:moveTo>
                    <a:pt x="0" y="0"/>
                  </a:moveTo>
                  <a:lnTo>
                    <a:pt x="0" y="104775"/>
                  </a:lnTo>
                  <a:lnTo>
                    <a:pt x="88582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3958326" y="3982164"/>
              <a:ext cx="566313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submit()</a:t>
              </a:r>
            </a:p>
          </p:txBody>
        </p:sp>
        <p:sp>
          <p:nvSpPr>
            <p:cNvPr id="52" name="Line 52"/>
            <p:cNvSpPr/>
            <p:nvPr/>
          </p:nvSpPr>
          <p:spPr>
            <a:xfrm>
              <a:off x="5226368" y="4563428"/>
              <a:ext cx="1739265" cy="9525"/>
            </a:xfrm>
            <a:custGeom>
              <a:avLst/>
              <a:gdLst/>
              <a:ahLst/>
              <a:cxnLst/>
              <a:rect l="l" t="t" r="r" b="b"/>
              <a:pathLst>
                <a:path w="1739265" h="9525">
                  <a:moveTo>
                    <a:pt x="1739265" y="0"/>
                  </a:moveTo>
                  <a:lnTo>
                    <a:pt x="0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53" name="Polygon 53"/>
            <p:cNvSpPr/>
            <p:nvPr/>
          </p:nvSpPr>
          <p:spPr>
            <a:xfrm>
              <a:off x="5226368" y="4511040"/>
              <a:ext cx="88582" cy="104775"/>
            </a:xfrm>
            <a:custGeom>
              <a:avLst/>
              <a:gdLst/>
              <a:ahLst/>
              <a:cxnLst/>
              <a:rect l="l" t="t" r="r" b="b"/>
              <a:pathLst>
                <a:path w="88582" h="104775">
                  <a:moveTo>
                    <a:pt x="88582" y="0"/>
                  </a:moveTo>
                  <a:lnTo>
                    <a:pt x="88582" y="104775"/>
                  </a:lnTo>
                  <a:lnTo>
                    <a:pt x="0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601750" y="4395549"/>
              <a:ext cx="988501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submitReport()</a:t>
              </a:r>
            </a:p>
          </p:txBody>
        </p:sp>
        <p:sp>
          <p:nvSpPr>
            <p:cNvPr id="55" name="Line 55"/>
            <p:cNvSpPr/>
            <p:nvPr/>
          </p:nvSpPr>
          <p:spPr>
            <a:xfrm>
              <a:off x="5226368" y="4977765"/>
              <a:ext cx="3593782" cy="9525"/>
            </a:xfrm>
            <a:custGeom>
              <a:avLst/>
              <a:gdLst/>
              <a:ahLst/>
              <a:cxnLst/>
              <a:rect l="l" t="t" r="r" b="b"/>
              <a:pathLst>
                <a:path w="3593782" h="9525">
                  <a:moveTo>
                    <a:pt x="0" y="0"/>
                  </a:moveTo>
                  <a:lnTo>
                    <a:pt x="3593782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56" name="Polygon 56"/>
            <p:cNvSpPr/>
            <p:nvPr/>
          </p:nvSpPr>
          <p:spPr>
            <a:xfrm>
              <a:off x="8730615" y="4925378"/>
              <a:ext cx="89535" cy="104775"/>
            </a:xfrm>
            <a:custGeom>
              <a:avLst/>
              <a:gdLst/>
              <a:ahLst/>
              <a:cxnLst/>
              <a:rect l="l" t="t" r="r" b="b"/>
              <a:pathLst>
                <a:path w="89535" h="104775">
                  <a:moveTo>
                    <a:pt x="0" y="0"/>
                  </a:moveTo>
                  <a:lnTo>
                    <a:pt x="0" y="104775"/>
                  </a:lnTo>
                  <a:lnTo>
                    <a:pt x="89535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739626" y="4809887"/>
              <a:ext cx="566313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create()</a:t>
              </a:r>
            </a:p>
          </p:txBody>
        </p:sp>
        <p:sp>
          <p:nvSpPr>
            <p:cNvPr id="58" name="Line 58"/>
            <p:cNvSpPr/>
            <p:nvPr/>
          </p:nvSpPr>
          <p:spPr>
            <a:xfrm>
              <a:off x="5226368" y="5391150"/>
              <a:ext cx="5448300" cy="9525"/>
            </a:xfrm>
            <a:custGeom>
              <a:avLst/>
              <a:gdLst/>
              <a:ahLst/>
              <a:cxnLst/>
              <a:rect l="l" t="t" r="r" b="b"/>
              <a:pathLst>
                <a:path w="5448300" h="9525">
                  <a:moveTo>
                    <a:pt x="0" y="0"/>
                  </a:moveTo>
                  <a:lnTo>
                    <a:pt x="5448300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59" name="Polygon 59"/>
            <p:cNvSpPr/>
            <p:nvPr/>
          </p:nvSpPr>
          <p:spPr>
            <a:xfrm>
              <a:off x="10585132" y="5338762"/>
              <a:ext cx="89535" cy="104775"/>
            </a:xfrm>
            <a:custGeom>
              <a:avLst/>
              <a:gdLst/>
              <a:ahLst/>
              <a:cxnLst/>
              <a:rect l="l" t="t" r="r" b="b"/>
              <a:pathLst>
                <a:path w="89535" h="104775">
                  <a:moveTo>
                    <a:pt x="0" y="0"/>
                  </a:moveTo>
                  <a:lnTo>
                    <a:pt x="0" y="104775"/>
                  </a:lnTo>
                  <a:lnTo>
                    <a:pt x="89535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034572" y="5223272"/>
              <a:ext cx="1831891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submitReportToDispatcher()</a:t>
              </a:r>
            </a:p>
          </p:txBody>
        </p:sp>
        <p:sp>
          <p:nvSpPr>
            <p:cNvPr id="61" name="Line 61"/>
            <p:cNvSpPr/>
            <p:nvPr/>
          </p:nvSpPr>
          <p:spPr>
            <a:xfrm>
              <a:off x="6918008" y="5534025"/>
              <a:ext cx="209550" cy="209550"/>
            </a:xfrm>
            <a:custGeom>
              <a:avLst/>
              <a:gdLst/>
              <a:ahLst/>
              <a:cxnLst/>
              <a:rect l="l" t="t" r="r" b="b"/>
              <a:pathLst>
                <a:path w="209550" h="209550">
                  <a:moveTo>
                    <a:pt x="0" y="0"/>
                  </a:moveTo>
                  <a:lnTo>
                    <a:pt x="209550" y="209550"/>
                  </a:lnTo>
                </a:path>
              </a:pathLst>
            </a:custGeom>
            <a:noFill/>
            <a:ln w="22860">
              <a:solidFill>
                <a:srgbClr val="5B6475"/>
              </a:solidFill>
            </a:ln>
          </p:spPr>
        </p:sp>
        <p:sp>
          <p:nvSpPr>
            <p:cNvPr id="62" name="Line 62"/>
            <p:cNvSpPr/>
            <p:nvPr/>
          </p:nvSpPr>
          <p:spPr>
            <a:xfrm>
              <a:off x="6918008" y="5534025"/>
              <a:ext cx="209550" cy="209550"/>
            </a:xfrm>
            <a:custGeom>
              <a:avLst/>
              <a:gdLst/>
              <a:ahLst/>
              <a:cxnLst/>
              <a:rect l="l" t="t" r="r" b="b"/>
              <a:pathLst>
                <a:path w="209550" h="209550">
                  <a:moveTo>
                    <a:pt x="209550" y="0"/>
                  </a:moveTo>
                  <a:lnTo>
                    <a:pt x="0" y="209550"/>
                  </a:lnTo>
                </a:path>
              </a:pathLst>
            </a:custGeom>
            <a:noFill/>
            <a:ln w="22860">
              <a:solidFill>
                <a:srgbClr val="5B6475"/>
              </a:solidFill>
            </a:ln>
          </p:spPr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362896" cy="909257"/>
            <a:chOff x="520446" y="342900"/>
            <a:chExt cx="336289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完整实例：报告紧急情况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4288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读第一张顺序图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2" name="c1-steps-1"/>
          <p:cNvGrpSpPr/>
          <p:nvPr/>
        </p:nvGrpSpPr>
        <p:grpSpPr>
          <a:xfrm>
            <a:off x="533400" y="1533525"/>
            <a:ext cx="5767299" cy="4065555"/>
            <a:chOff x="533400" y="1533525"/>
            <a:chExt cx="5767299" cy="4065555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34880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069908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72046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7942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37102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4448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502158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7024" y="50953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1567815"/>
              <a:ext cx="8315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press()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1861661"/>
              <a:ext cx="46654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现场工作人员按下报告紧急情况按钮，这是整个用例的触发点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2218372"/>
              <a:ext cx="9481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create()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2512219"/>
              <a:ext cx="514172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按钮这个边界对象创建报告紧急情况控制，符合"由初始化用例的边界对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象创建控制对象"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4880" y="3104198"/>
              <a:ext cx="9481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create()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023" y="3397091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控制对象创建紧急情况报告表单，交给现场工作人员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4880" y="3754755"/>
              <a:ext cx="26632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fillContents() / submit()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023" y="4048601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现场工作人员直接对表单操作，填写并提交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4880" y="4405312"/>
              <a:ext cx="16448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submitReport()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6023" y="4699159"/>
              <a:ext cx="53546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表单把收集到的内容交回控制对象，随后表单被销毁，图上用叉号标出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4880" y="5055870"/>
              <a:ext cx="418382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create() / submitReportToDispatcher()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6023" y="5349716"/>
              <a:ext cx="5010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控制对象创建紧急情况报告实体，并把它转交给管理紧急情况控制</a:t>
              </a:r>
            </a:p>
          </p:txBody>
        </p:sp>
      </p:grpSp>
      <p:grpSp>
        <p:nvGrpSpPr>
          <p:cNvPr id="38" name="c2-card-1"/>
          <p:cNvGrpSpPr/>
          <p:nvPr/>
        </p:nvGrpSpPr>
        <p:grpSpPr>
          <a:xfrm>
            <a:off x="6680835" y="1524000"/>
            <a:ext cx="4977765" cy="1937385"/>
            <a:chOff x="6680835" y="1524000"/>
            <a:chExt cx="4977765" cy="1937385"/>
          </a:xfrm>
        </p:grpSpPr>
        <p:sp>
          <p:nvSpPr>
            <p:cNvPr id="33" name="Rectangle 33"/>
            <p:cNvSpPr/>
            <p:nvPr/>
          </p:nvSpPr>
          <p:spPr>
            <a:xfrm>
              <a:off x="6680835" y="1524000"/>
              <a:ext cx="4977765" cy="1937385"/>
            </a:xfrm>
            <a:prstGeom prst="roundRect">
              <a:avLst>
                <a:gd name="adj" fmla="val 6883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890385" y="173355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963842" y="176926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对照画法规则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882765" y="2110740"/>
              <a:ext cx="42729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第一列是主动 Actor 现场工作人员，第二列是按钮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这个边界对象，第三列是报告紧急情况控制。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882765" y="2731770"/>
              <a:ext cx="405765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紧急情况报告是实体对象，它只被 </a:t>
              </a:r>
              <a:r>
                <a:rPr lang="en-US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create()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调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用，自己不发出任何消息。</a:t>
              </a:r>
            </a:p>
          </p:txBody>
        </p:sp>
      </p:grpSp>
      <p:grpSp>
        <p:nvGrpSpPr>
          <p:cNvPr id="45" name="c2-callout-2"/>
          <p:cNvGrpSpPr/>
          <p:nvPr/>
        </p:nvGrpSpPr>
        <p:grpSpPr>
          <a:xfrm>
            <a:off x="6680835" y="3651885"/>
            <a:ext cx="4977765" cy="782955"/>
            <a:chOff x="6680835" y="3651885"/>
            <a:chExt cx="4977765" cy="782955"/>
          </a:xfrm>
        </p:grpSpPr>
        <p:sp>
          <p:nvSpPr>
            <p:cNvPr id="39" name="Rectangle 39"/>
            <p:cNvSpPr/>
            <p:nvPr/>
          </p:nvSpPr>
          <p:spPr>
            <a:xfrm>
              <a:off x="6680835" y="3651885"/>
              <a:ext cx="4977765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6873564" y="3939658"/>
              <a:ext cx="224134" cy="192560"/>
              <a:chOff x="6873564" y="3939658"/>
              <a:chExt cx="224134" cy="19256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985635" y="401002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873564" y="393965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985635" y="40878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7187565" y="3800475"/>
              <a:ext cx="4015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表单在提交后就销毁了，而控制对象要一直活到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收到答复为止，两者的生命周期长度不同。</a:t>
              </a:r>
            </a:p>
          </p:txBody>
        </p:sp>
      </p:grpSp>
      <p:grpSp>
        <p:nvGrpSpPr>
          <p:cNvPr id="52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6" name="Rectangle 46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38188" y="5995988"/>
              <a:ext cx="200026" cy="200026"/>
              <a:chOff x="738188" y="5995988"/>
              <a:chExt cx="200026" cy="200026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738188" y="59959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38200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27088" y="60960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0130" y="5991225"/>
              <a:ext cx="90967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表单的 fillContents() 由 Actor 直接调用，说明边界对象可以跨列接收消息，不必只和相邻列交互。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完整实例：报告紧急情况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顺序图二：调度站一侧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0" name="seq2"/>
          <p:cNvGrpSpPr/>
          <p:nvPr/>
        </p:nvGrpSpPr>
        <p:grpSpPr>
          <a:xfrm>
            <a:off x="619125" y="1676400"/>
            <a:ext cx="10953751" cy="4067175"/>
            <a:chOff x="619125" y="1676400"/>
            <a:chExt cx="10953751" cy="4067175"/>
          </a:xfrm>
        </p:grpSpPr>
        <p:sp>
          <p:nvSpPr>
            <p:cNvPr id="7" name="Rectangle 7"/>
            <p:cNvSpPr/>
            <p:nvPr/>
          </p:nvSpPr>
          <p:spPr>
            <a:xfrm>
              <a:off x="619125" y="1676400"/>
              <a:ext cx="1683068" cy="514350"/>
            </a:xfrm>
            <a:prstGeom prst="roundRect">
              <a:avLst>
                <a:gd name="adj" fmla="val 14815"/>
              </a:avLst>
            </a:prstGeom>
            <a:solidFill>
              <a:srgbClr val="EFF2F7"/>
            </a:solidFill>
            <a:ln w="14288">
              <a:solidFill>
                <a:srgbClr val="5B6475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83353" y="1774746"/>
              <a:ext cx="553659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«control»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89445" y="19631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报告紧急情况控制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473642" y="1676400"/>
              <a:ext cx="1683068" cy="514350"/>
            </a:xfrm>
            <a:prstGeom prst="roundRect">
              <a:avLst>
                <a:gd name="adj" fmla="val 14815"/>
              </a:avLst>
            </a:prstGeom>
            <a:solidFill>
              <a:srgbClr val="FDEEE7"/>
            </a:solidFill>
            <a:ln w="14288">
              <a:solidFill>
                <a:srgbClr val="C2410C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3037870" y="1774746"/>
              <a:ext cx="553659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«control»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743962" y="19631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管理紧急情况控制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27208" y="1676400"/>
              <a:ext cx="1683068" cy="514350"/>
            </a:xfrm>
            <a:prstGeom prst="roundRect">
              <a:avLst>
                <a:gd name="adj" fmla="val 14815"/>
              </a:avLst>
            </a:prstGeom>
            <a:solidFill>
              <a:srgbClr val="E3F5F1"/>
            </a:solidFill>
            <a:ln w="14288">
              <a:solidFill>
                <a:srgbClr val="0F7A68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846079" y="1774746"/>
              <a:ext cx="646278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«boundary»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881182" y="19631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事件表单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1676400"/>
              <a:ext cx="1683068" cy="514350"/>
            </a:xfrm>
            <a:prstGeom prst="roundRect">
              <a:avLst>
                <a:gd name="adj" fmla="val 14815"/>
              </a:avLst>
            </a:prstGeom>
            <a:solidFill>
              <a:srgbClr val="F4F6FB"/>
            </a:solidFill>
            <a:ln w="14288">
              <a:solidFill>
                <a:srgbClr val="243B53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777791" y="1774746"/>
              <a:ext cx="48998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876098" y="19631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36242" y="1676400"/>
              <a:ext cx="1683068" cy="514350"/>
            </a:xfrm>
            <a:prstGeom prst="roundRect">
              <a:avLst>
                <a:gd name="adj" fmla="val 14815"/>
              </a:avLst>
            </a:prstGeom>
            <a:solidFill>
              <a:srgbClr val="F4F6FB"/>
            </a:solidFill>
            <a:ln w="14288">
              <a:solidFill>
                <a:srgbClr val="243B53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632308" y="1774746"/>
              <a:ext cx="48998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730615" y="19631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确认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889808" y="1676400"/>
              <a:ext cx="1683068" cy="514350"/>
            </a:xfrm>
            <a:prstGeom prst="roundRect">
              <a:avLst>
                <a:gd name="adj" fmla="val 14815"/>
              </a:avLst>
            </a:prstGeom>
            <a:solidFill>
              <a:srgbClr val="E7EDF3"/>
            </a:solidFill>
            <a:ln w="14288">
              <a:solidFill>
                <a:srgbClr val="334E68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504192" y="1774746"/>
              <a:ext cx="455252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«actor»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514457" y="196310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调度员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1460182" y="2190750"/>
              <a:ext cx="9525" cy="3524250"/>
            </a:xfrm>
            <a:custGeom>
              <a:avLst/>
              <a:gdLst/>
              <a:ahLst/>
              <a:cxnLst/>
              <a:rect l="l" t="t" r="r" b="b"/>
              <a:pathLst>
                <a:path w="9525" h="3524250">
                  <a:moveTo>
                    <a:pt x="0" y="0"/>
                  </a:moveTo>
                  <a:lnTo>
                    <a:pt x="0" y="352425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26" name="Line 26"/>
            <p:cNvSpPr/>
            <p:nvPr/>
          </p:nvSpPr>
          <p:spPr>
            <a:xfrm>
              <a:off x="3314700" y="2190750"/>
              <a:ext cx="9525" cy="3524250"/>
            </a:xfrm>
            <a:custGeom>
              <a:avLst/>
              <a:gdLst/>
              <a:ahLst/>
              <a:cxnLst/>
              <a:rect l="l" t="t" r="r" b="b"/>
              <a:pathLst>
                <a:path w="9525" h="3524250">
                  <a:moveTo>
                    <a:pt x="0" y="0"/>
                  </a:moveTo>
                  <a:lnTo>
                    <a:pt x="0" y="352425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27" name="Line 27"/>
            <p:cNvSpPr/>
            <p:nvPr/>
          </p:nvSpPr>
          <p:spPr>
            <a:xfrm>
              <a:off x="5169218" y="2190750"/>
              <a:ext cx="9525" cy="3524250"/>
            </a:xfrm>
            <a:custGeom>
              <a:avLst/>
              <a:gdLst/>
              <a:ahLst/>
              <a:cxnLst/>
              <a:rect l="l" t="t" r="r" b="b"/>
              <a:pathLst>
                <a:path w="9525" h="3524250">
                  <a:moveTo>
                    <a:pt x="0" y="0"/>
                  </a:moveTo>
                  <a:lnTo>
                    <a:pt x="0" y="352425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28" name="Line 28"/>
            <p:cNvSpPr/>
            <p:nvPr/>
          </p:nvSpPr>
          <p:spPr>
            <a:xfrm>
              <a:off x="7022782" y="2190750"/>
              <a:ext cx="9525" cy="3524250"/>
            </a:xfrm>
            <a:custGeom>
              <a:avLst/>
              <a:gdLst/>
              <a:ahLst/>
              <a:cxnLst/>
              <a:rect l="l" t="t" r="r" b="b"/>
              <a:pathLst>
                <a:path w="9525" h="3524250">
                  <a:moveTo>
                    <a:pt x="0" y="0"/>
                  </a:moveTo>
                  <a:lnTo>
                    <a:pt x="0" y="352425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29" name="Line 29"/>
            <p:cNvSpPr/>
            <p:nvPr/>
          </p:nvSpPr>
          <p:spPr>
            <a:xfrm>
              <a:off x="8877300" y="2190750"/>
              <a:ext cx="9525" cy="3524250"/>
            </a:xfrm>
            <a:custGeom>
              <a:avLst/>
              <a:gdLst/>
              <a:ahLst/>
              <a:cxnLst/>
              <a:rect l="l" t="t" r="r" b="b"/>
              <a:pathLst>
                <a:path w="9525" h="3524250">
                  <a:moveTo>
                    <a:pt x="0" y="0"/>
                  </a:moveTo>
                  <a:lnTo>
                    <a:pt x="0" y="352425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30" name="Line 30"/>
            <p:cNvSpPr/>
            <p:nvPr/>
          </p:nvSpPr>
          <p:spPr>
            <a:xfrm>
              <a:off x="10731818" y="2190750"/>
              <a:ext cx="9525" cy="3524250"/>
            </a:xfrm>
            <a:custGeom>
              <a:avLst/>
              <a:gdLst/>
              <a:ahLst/>
              <a:cxnLst/>
              <a:rect l="l" t="t" r="r" b="b"/>
              <a:pathLst>
                <a:path w="9525" h="3524250">
                  <a:moveTo>
                    <a:pt x="0" y="0"/>
                  </a:moveTo>
                  <a:lnTo>
                    <a:pt x="0" y="352425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31" name="Rectangle 31"/>
            <p:cNvSpPr/>
            <p:nvPr/>
          </p:nvSpPr>
          <p:spPr>
            <a:xfrm>
              <a:off x="1403032" y="2409825"/>
              <a:ext cx="114300" cy="1714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6475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3257550" y="2409825"/>
              <a:ext cx="114300" cy="6543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C2410C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5112068" y="2892742"/>
              <a:ext cx="114300" cy="263175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0F7A68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965632" y="4340542"/>
              <a:ext cx="114300" cy="1714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243B53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8820150" y="5305425"/>
              <a:ext cx="114300" cy="1714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243B53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10674668" y="3374708"/>
              <a:ext cx="114300" cy="16192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37" name="Line 37"/>
            <p:cNvSpPr/>
            <p:nvPr/>
          </p:nvSpPr>
          <p:spPr>
            <a:xfrm>
              <a:off x="1517332" y="2495550"/>
              <a:ext cx="1740218" cy="9525"/>
            </a:xfrm>
            <a:custGeom>
              <a:avLst/>
              <a:gdLst/>
              <a:ahLst/>
              <a:cxnLst/>
              <a:rect l="l" t="t" r="r" b="b"/>
              <a:pathLst>
                <a:path w="1740218" h="9525">
                  <a:moveTo>
                    <a:pt x="0" y="0"/>
                  </a:moveTo>
                  <a:lnTo>
                    <a:pt x="1740218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38" name="Polygon 38"/>
            <p:cNvSpPr/>
            <p:nvPr/>
          </p:nvSpPr>
          <p:spPr>
            <a:xfrm>
              <a:off x="3168015" y="2443162"/>
              <a:ext cx="89535" cy="104775"/>
            </a:xfrm>
            <a:custGeom>
              <a:avLst/>
              <a:gdLst/>
              <a:ahLst/>
              <a:cxnLst/>
              <a:rect l="l" t="t" r="r" b="b"/>
              <a:pathLst>
                <a:path w="89535" h="104775">
                  <a:moveTo>
                    <a:pt x="0" y="0"/>
                  </a:moveTo>
                  <a:lnTo>
                    <a:pt x="0" y="104775"/>
                  </a:lnTo>
                  <a:lnTo>
                    <a:pt x="89535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471972" y="2327672"/>
              <a:ext cx="1831891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submitReportToDispatcher()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3371850" y="2978468"/>
              <a:ext cx="1740218" cy="9525"/>
            </a:xfrm>
            <a:custGeom>
              <a:avLst/>
              <a:gdLst/>
              <a:ahLst/>
              <a:cxnLst/>
              <a:rect l="l" t="t" r="r" b="b"/>
              <a:pathLst>
                <a:path w="1740218" h="9525">
                  <a:moveTo>
                    <a:pt x="0" y="0"/>
                  </a:moveTo>
                  <a:lnTo>
                    <a:pt x="1740218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41" name="Polygon 41"/>
            <p:cNvSpPr/>
            <p:nvPr/>
          </p:nvSpPr>
          <p:spPr>
            <a:xfrm>
              <a:off x="5022532" y="2926080"/>
              <a:ext cx="89535" cy="104775"/>
            </a:xfrm>
            <a:custGeom>
              <a:avLst/>
              <a:gdLst/>
              <a:ahLst/>
              <a:cxnLst/>
              <a:rect l="l" t="t" r="r" b="b"/>
              <a:pathLst>
                <a:path w="89535" h="104775">
                  <a:moveTo>
                    <a:pt x="0" y="0"/>
                  </a:moveTo>
                  <a:lnTo>
                    <a:pt x="0" y="104775"/>
                  </a:lnTo>
                  <a:lnTo>
                    <a:pt x="89535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3958326" y="2810589"/>
              <a:ext cx="566313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create()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5226368" y="3460432"/>
              <a:ext cx="5448300" cy="9525"/>
            </a:xfrm>
            <a:custGeom>
              <a:avLst/>
              <a:gdLst/>
              <a:ahLst/>
              <a:cxnLst/>
              <a:rect l="l" t="t" r="r" b="b"/>
              <a:pathLst>
                <a:path w="5448300" h="9525">
                  <a:moveTo>
                    <a:pt x="0" y="0"/>
                  </a:moveTo>
                  <a:lnTo>
                    <a:pt x="5448300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44" name="Polygon 44"/>
            <p:cNvSpPr/>
            <p:nvPr/>
          </p:nvSpPr>
          <p:spPr>
            <a:xfrm>
              <a:off x="10585132" y="3408045"/>
              <a:ext cx="89535" cy="104775"/>
            </a:xfrm>
            <a:custGeom>
              <a:avLst/>
              <a:gdLst/>
              <a:ahLst/>
              <a:cxnLst/>
              <a:rect l="l" t="t" r="r" b="b"/>
              <a:pathLst>
                <a:path w="89535" h="104775">
                  <a:moveTo>
                    <a:pt x="0" y="0"/>
                  </a:moveTo>
                  <a:lnTo>
                    <a:pt x="0" y="104775"/>
                  </a:lnTo>
                  <a:lnTo>
                    <a:pt x="89535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736959" y="3292554"/>
              <a:ext cx="427116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view()</a:t>
              </a:r>
            </a:p>
          </p:txBody>
        </p:sp>
        <p:sp>
          <p:nvSpPr>
            <p:cNvPr id="46" name="Line 46"/>
            <p:cNvSpPr/>
            <p:nvPr/>
          </p:nvSpPr>
          <p:spPr>
            <a:xfrm>
              <a:off x="5226368" y="3943350"/>
              <a:ext cx="5448300" cy="9525"/>
            </a:xfrm>
            <a:custGeom>
              <a:avLst/>
              <a:gdLst/>
              <a:ahLst/>
              <a:cxnLst/>
              <a:rect l="l" t="t" r="r" b="b"/>
              <a:pathLst>
                <a:path w="5448300" h="9525">
                  <a:moveTo>
                    <a:pt x="5448300" y="0"/>
                  </a:moveTo>
                  <a:lnTo>
                    <a:pt x="0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47" name="Polygon 47"/>
            <p:cNvSpPr/>
            <p:nvPr/>
          </p:nvSpPr>
          <p:spPr>
            <a:xfrm>
              <a:off x="5226368" y="3890962"/>
              <a:ext cx="88582" cy="104775"/>
            </a:xfrm>
            <a:custGeom>
              <a:avLst/>
              <a:gdLst/>
              <a:ahLst/>
              <a:cxnLst/>
              <a:rect l="l" t="t" r="r" b="b"/>
              <a:pathLst>
                <a:path w="88582" h="104775">
                  <a:moveTo>
                    <a:pt x="88582" y="0"/>
                  </a:moveTo>
                  <a:lnTo>
                    <a:pt x="88582" y="104775"/>
                  </a:lnTo>
                  <a:lnTo>
                    <a:pt x="0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386716" y="3775472"/>
              <a:ext cx="1127604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createIncident()</a:t>
              </a:r>
            </a:p>
          </p:txBody>
        </p:sp>
        <p:sp>
          <p:nvSpPr>
            <p:cNvPr id="49" name="Line 49"/>
            <p:cNvSpPr/>
            <p:nvPr/>
          </p:nvSpPr>
          <p:spPr>
            <a:xfrm>
              <a:off x="5226368" y="4426268"/>
              <a:ext cx="1739265" cy="9525"/>
            </a:xfrm>
            <a:custGeom>
              <a:avLst/>
              <a:gdLst/>
              <a:ahLst/>
              <a:cxnLst/>
              <a:rect l="l" t="t" r="r" b="b"/>
              <a:pathLst>
                <a:path w="1739265" h="9525">
                  <a:moveTo>
                    <a:pt x="0" y="0"/>
                  </a:moveTo>
                  <a:lnTo>
                    <a:pt x="1739265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50" name="Polygon 50"/>
            <p:cNvSpPr/>
            <p:nvPr/>
          </p:nvSpPr>
          <p:spPr>
            <a:xfrm>
              <a:off x="6877050" y="4373880"/>
              <a:ext cx="88582" cy="104775"/>
            </a:xfrm>
            <a:custGeom>
              <a:avLst/>
              <a:gdLst/>
              <a:ahLst/>
              <a:cxnLst/>
              <a:rect l="l" t="t" r="r" b="b"/>
              <a:pathLst>
                <a:path w="88582" h="104775">
                  <a:moveTo>
                    <a:pt x="0" y="0"/>
                  </a:moveTo>
                  <a:lnTo>
                    <a:pt x="0" y="104775"/>
                  </a:lnTo>
                  <a:lnTo>
                    <a:pt x="88582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812843" y="4258389"/>
              <a:ext cx="566313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create()</a:t>
              </a:r>
            </a:p>
          </p:txBody>
        </p:sp>
        <p:sp>
          <p:nvSpPr>
            <p:cNvPr id="52" name="Line 52"/>
            <p:cNvSpPr/>
            <p:nvPr/>
          </p:nvSpPr>
          <p:spPr>
            <a:xfrm>
              <a:off x="5226368" y="4908232"/>
              <a:ext cx="5448300" cy="9525"/>
            </a:xfrm>
            <a:custGeom>
              <a:avLst/>
              <a:gdLst/>
              <a:ahLst/>
              <a:cxnLst/>
              <a:rect l="l" t="t" r="r" b="b"/>
              <a:pathLst>
                <a:path w="5448300" h="9525">
                  <a:moveTo>
                    <a:pt x="5448300" y="0"/>
                  </a:moveTo>
                  <a:lnTo>
                    <a:pt x="0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53" name="Polygon 53"/>
            <p:cNvSpPr/>
            <p:nvPr/>
          </p:nvSpPr>
          <p:spPr>
            <a:xfrm>
              <a:off x="5226368" y="4855845"/>
              <a:ext cx="88582" cy="104775"/>
            </a:xfrm>
            <a:custGeom>
              <a:avLst/>
              <a:gdLst/>
              <a:ahLst/>
              <a:cxnLst/>
              <a:rect l="l" t="t" r="r" b="b"/>
              <a:pathLst>
                <a:path w="88582" h="104775">
                  <a:moveTo>
                    <a:pt x="88582" y="0"/>
                  </a:moveTo>
                  <a:lnTo>
                    <a:pt x="88582" y="104775"/>
                  </a:lnTo>
                  <a:lnTo>
                    <a:pt x="0" y="52387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667361" y="4740354"/>
              <a:ext cx="566313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submit()</a:t>
              </a:r>
            </a:p>
          </p:txBody>
        </p:sp>
        <p:sp>
          <p:nvSpPr>
            <p:cNvPr id="55" name="Line 55"/>
            <p:cNvSpPr/>
            <p:nvPr/>
          </p:nvSpPr>
          <p:spPr>
            <a:xfrm>
              <a:off x="5226368" y="5391150"/>
              <a:ext cx="3593782" cy="9525"/>
            </a:xfrm>
            <a:custGeom>
              <a:avLst/>
              <a:gdLst/>
              <a:ahLst/>
              <a:cxnLst/>
              <a:rect l="l" t="t" r="r" b="b"/>
              <a:pathLst>
                <a:path w="3593782" h="9525">
                  <a:moveTo>
                    <a:pt x="0" y="0"/>
                  </a:moveTo>
                  <a:lnTo>
                    <a:pt x="3593782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56" name="Polygon 56"/>
            <p:cNvSpPr/>
            <p:nvPr/>
          </p:nvSpPr>
          <p:spPr>
            <a:xfrm>
              <a:off x="8730615" y="5338762"/>
              <a:ext cx="89535" cy="104775"/>
            </a:xfrm>
            <a:custGeom>
              <a:avLst/>
              <a:gdLst/>
              <a:ahLst/>
              <a:cxnLst/>
              <a:rect l="l" t="t" r="r" b="b"/>
              <a:pathLst>
                <a:path w="89535" h="104775">
                  <a:moveTo>
                    <a:pt x="0" y="0"/>
                  </a:moveTo>
                  <a:lnTo>
                    <a:pt x="0" y="104775"/>
                  </a:lnTo>
                  <a:lnTo>
                    <a:pt x="89535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739626" y="5223272"/>
              <a:ext cx="566313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create()</a:t>
              </a:r>
            </a:p>
          </p:txBody>
        </p:sp>
        <p:sp>
          <p:nvSpPr>
            <p:cNvPr id="58" name="Line 58"/>
            <p:cNvSpPr/>
            <p:nvPr/>
          </p:nvSpPr>
          <p:spPr>
            <a:xfrm>
              <a:off x="5064442" y="5534025"/>
              <a:ext cx="209550" cy="209550"/>
            </a:xfrm>
            <a:custGeom>
              <a:avLst/>
              <a:gdLst/>
              <a:ahLst/>
              <a:cxnLst/>
              <a:rect l="l" t="t" r="r" b="b"/>
              <a:pathLst>
                <a:path w="209550" h="209550">
                  <a:moveTo>
                    <a:pt x="0" y="0"/>
                  </a:moveTo>
                  <a:lnTo>
                    <a:pt x="209550" y="209550"/>
                  </a:lnTo>
                </a:path>
              </a:pathLst>
            </a:custGeom>
            <a:noFill/>
            <a:ln w="22860">
              <a:solidFill>
                <a:srgbClr val="5B6475"/>
              </a:solidFill>
            </a:ln>
          </p:spPr>
        </p:sp>
        <p:sp>
          <p:nvSpPr>
            <p:cNvPr id="59" name="Line 59"/>
            <p:cNvSpPr/>
            <p:nvPr/>
          </p:nvSpPr>
          <p:spPr>
            <a:xfrm>
              <a:off x="5064442" y="5534025"/>
              <a:ext cx="209550" cy="209550"/>
            </a:xfrm>
            <a:custGeom>
              <a:avLst/>
              <a:gdLst/>
              <a:ahLst/>
              <a:cxnLst/>
              <a:rect l="l" t="t" r="r" b="b"/>
              <a:pathLst>
                <a:path w="209550" h="209550">
                  <a:moveTo>
                    <a:pt x="209550" y="0"/>
                  </a:moveTo>
                  <a:lnTo>
                    <a:pt x="0" y="209550"/>
                  </a:lnTo>
                </a:path>
              </a:pathLst>
            </a:custGeom>
            <a:noFill/>
            <a:ln w="22860">
              <a:solidFill>
                <a:srgbClr val="5B6475"/>
              </a:solidFill>
            </a:ln>
          </p:spPr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完整实例：报告紧急情况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顺序图三：答复回到现场工作站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0" name="seq3"/>
          <p:cNvGrpSpPr/>
          <p:nvPr/>
        </p:nvGrpSpPr>
        <p:grpSpPr>
          <a:xfrm>
            <a:off x="923925" y="1638300"/>
            <a:ext cx="10344150" cy="2828925"/>
            <a:chOff x="923925" y="1638300"/>
            <a:chExt cx="10344150" cy="2828925"/>
          </a:xfrm>
        </p:grpSpPr>
        <p:sp>
          <p:nvSpPr>
            <p:cNvPr id="7" name="Rectangle 7"/>
            <p:cNvSpPr/>
            <p:nvPr/>
          </p:nvSpPr>
          <p:spPr>
            <a:xfrm>
              <a:off x="923925" y="1638300"/>
              <a:ext cx="2000250" cy="514350"/>
            </a:xfrm>
            <a:prstGeom prst="roundRect">
              <a:avLst>
                <a:gd name="adj" fmla="val 14815"/>
              </a:avLst>
            </a:prstGeom>
            <a:solidFill>
              <a:srgbClr val="E7EDF3"/>
            </a:solidFill>
            <a:ln w="14288">
              <a:solidFill>
                <a:srgbClr val="334E68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696424" y="1736646"/>
              <a:ext cx="455252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«actor»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494663" y="19250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现场工作人员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3705225" y="1638300"/>
              <a:ext cx="2000250" cy="514350"/>
            </a:xfrm>
            <a:prstGeom prst="roundRect">
              <a:avLst>
                <a:gd name="adj" fmla="val 14815"/>
              </a:avLst>
            </a:prstGeom>
            <a:solidFill>
              <a:srgbClr val="FDEEE7"/>
            </a:solidFill>
            <a:ln w="14288">
              <a:solidFill>
                <a:srgbClr val="C2410C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428520" y="1736646"/>
              <a:ext cx="553659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«control»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134612" y="19250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管理紧急情况控制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486525" y="1638300"/>
              <a:ext cx="2000250" cy="514350"/>
            </a:xfrm>
            <a:prstGeom prst="roundRect">
              <a:avLst>
                <a:gd name="adj" fmla="val 14815"/>
              </a:avLst>
            </a:prstGeom>
            <a:solidFill>
              <a:srgbClr val="FDEEE7"/>
            </a:solidFill>
            <a:ln w="14288">
              <a:solidFill>
                <a:srgbClr val="C2410C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209820" y="1736646"/>
              <a:ext cx="553659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«control»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915912" y="192500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报告紧急情况控制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267825" y="1638300"/>
              <a:ext cx="2000250" cy="514350"/>
            </a:xfrm>
            <a:prstGeom prst="roundRect">
              <a:avLst>
                <a:gd name="adj" fmla="val 14815"/>
              </a:avLst>
            </a:prstGeom>
            <a:solidFill>
              <a:srgbClr val="E3F5F1"/>
            </a:solidFill>
            <a:ln w="14288">
              <a:solidFill>
                <a:srgbClr val="0F7A6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944811" y="1736646"/>
              <a:ext cx="646278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«boundary»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979914" y="19250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确认通知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1924050" y="2152650"/>
              <a:ext cx="9525" cy="2286000"/>
            </a:xfrm>
            <a:custGeom>
              <a:avLst/>
              <a:gdLst/>
              <a:ahLst/>
              <a:cxnLst/>
              <a:rect l="l" t="t" r="r" b="b"/>
              <a:pathLst>
                <a:path w="9525" h="2286000">
                  <a:moveTo>
                    <a:pt x="0" y="0"/>
                  </a:moveTo>
                  <a:lnTo>
                    <a:pt x="0" y="228600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20" name="Line 20"/>
            <p:cNvSpPr/>
            <p:nvPr/>
          </p:nvSpPr>
          <p:spPr>
            <a:xfrm>
              <a:off x="4705350" y="2152650"/>
              <a:ext cx="9525" cy="2286000"/>
            </a:xfrm>
            <a:custGeom>
              <a:avLst/>
              <a:gdLst/>
              <a:ahLst/>
              <a:cxnLst/>
              <a:rect l="l" t="t" r="r" b="b"/>
              <a:pathLst>
                <a:path w="9525" h="2286000">
                  <a:moveTo>
                    <a:pt x="0" y="0"/>
                  </a:moveTo>
                  <a:lnTo>
                    <a:pt x="0" y="228600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21" name="Line 21"/>
            <p:cNvSpPr/>
            <p:nvPr/>
          </p:nvSpPr>
          <p:spPr>
            <a:xfrm>
              <a:off x="7486650" y="2152650"/>
              <a:ext cx="9525" cy="2286000"/>
            </a:xfrm>
            <a:custGeom>
              <a:avLst/>
              <a:gdLst/>
              <a:ahLst/>
              <a:cxnLst/>
              <a:rect l="l" t="t" r="r" b="b"/>
              <a:pathLst>
                <a:path w="9525" h="2286000">
                  <a:moveTo>
                    <a:pt x="0" y="0"/>
                  </a:moveTo>
                  <a:lnTo>
                    <a:pt x="0" y="228600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22" name="Line 22"/>
            <p:cNvSpPr/>
            <p:nvPr/>
          </p:nvSpPr>
          <p:spPr>
            <a:xfrm>
              <a:off x="10267950" y="2152650"/>
              <a:ext cx="9525" cy="2286000"/>
            </a:xfrm>
            <a:custGeom>
              <a:avLst/>
              <a:gdLst/>
              <a:ahLst/>
              <a:cxnLst/>
              <a:rect l="l" t="t" r="r" b="b"/>
              <a:pathLst>
                <a:path w="9525" h="2286000">
                  <a:moveTo>
                    <a:pt x="0" y="0"/>
                  </a:moveTo>
                  <a:lnTo>
                    <a:pt x="0" y="228600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357143" sp="428571"/>
              </a:custDash>
            </a:ln>
          </p:spPr>
        </p:sp>
        <p:sp>
          <p:nvSpPr>
            <p:cNvPr id="23" name="Rectangle 23"/>
            <p:cNvSpPr/>
            <p:nvPr/>
          </p:nvSpPr>
          <p:spPr>
            <a:xfrm>
              <a:off x="1866900" y="4029075"/>
              <a:ext cx="114300" cy="1714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4648200" y="2371725"/>
              <a:ext cx="114300" cy="1714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C2410C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7429500" y="2371725"/>
              <a:ext cx="114300" cy="187642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C2410C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10210800" y="3200400"/>
              <a:ext cx="114300" cy="10477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0F7A68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4762500" y="2457450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28" name="Polygon 28"/>
            <p:cNvSpPr/>
            <p:nvPr/>
          </p:nvSpPr>
          <p:spPr>
            <a:xfrm>
              <a:off x="7339965" y="2405062"/>
              <a:ext cx="89535" cy="104775"/>
            </a:xfrm>
            <a:custGeom>
              <a:avLst/>
              <a:gdLst/>
              <a:ahLst/>
              <a:cxnLst/>
              <a:rect l="l" t="t" r="r" b="b"/>
              <a:pathLst>
                <a:path w="89535" h="104775">
                  <a:moveTo>
                    <a:pt x="0" y="0"/>
                  </a:moveTo>
                  <a:lnTo>
                    <a:pt x="0" y="104775"/>
                  </a:lnTo>
                  <a:lnTo>
                    <a:pt x="89535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378068" y="2281476"/>
              <a:ext cx="1435865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1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acknowledgeReport()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7543800" y="3286125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31" name="Polygon 31"/>
            <p:cNvSpPr/>
            <p:nvPr/>
          </p:nvSpPr>
          <p:spPr>
            <a:xfrm>
              <a:off x="10122218" y="3233738"/>
              <a:ext cx="88582" cy="104775"/>
            </a:xfrm>
            <a:custGeom>
              <a:avLst/>
              <a:gdLst/>
              <a:ahLst/>
              <a:cxnLst/>
              <a:rect l="l" t="t" r="r" b="b"/>
              <a:pathLst>
                <a:path w="88582" h="104775">
                  <a:moveTo>
                    <a:pt x="0" y="0"/>
                  </a:moveTo>
                  <a:lnTo>
                    <a:pt x="0" y="104775"/>
                  </a:lnTo>
                  <a:lnTo>
                    <a:pt x="88582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573031" y="3110151"/>
              <a:ext cx="608538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1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create()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1981200" y="4114800"/>
              <a:ext cx="8229600" cy="9525"/>
            </a:xfrm>
            <a:custGeom>
              <a:avLst/>
              <a:gdLst/>
              <a:ahLst/>
              <a:cxnLst/>
              <a:rect l="l" t="t" r="r" b="b"/>
              <a:pathLst>
                <a:path w="8229600" h="9525">
                  <a:moveTo>
                    <a:pt x="8229600" y="0"/>
                  </a:moveTo>
                  <a:lnTo>
                    <a:pt x="0" y="0"/>
                  </a:lnTo>
                </a:path>
              </a:pathLst>
            </a:custGeom>
            <a:noFill/>
            <a:ln w="16192">
              <a:solidFill>
                <a:srgbClr val="334E68"/>
              </a:solidFill>
            </a:ln>
          </p:spPr>
        </p:sp>
        <p:sp>
          <p:nvSpPr>
            <p:cNvPr id="34" name="Polygon 34"/>
            <p:cNvSpPr/>
            <p:nvPr/>
          </p:nvSpPr>
          <p:spPr>
            <a:xfrm>
              <a:off x="1981200" y="4062412"/>
              <a:ext cx="88583" cy="104775"/>
            </a:xfrm>
            <a:custGeom>
              <a:avLst/>
              <a:gdLst/>
              <a:ahLst/>
              <a:cxnLst/>
              <a:rect l="l" t="t" r="r" b="b"/>
              <a:pathLst>
                <a:path w="88583" h="104775">
                  <a:moveTo>
                    <a:pt x="88583" y="0"/>
                  </a:moveTo>
                  <a:lnTo>
                    <a:pt x="88583" y="104775"/>
                  </a:lnTo>
                  <a:lnTo>
                    <a:pt x="0" y="52388"/>
                  </a:lnTo>
                  <a:close/>
                </a:path>
              </a:pathLst>
            </a:custGeom>
            <a:solidFill>
              <a:srgbClr val="334E68"/>
            </a:solidFill>
            <a:ln w="9525">
              <a:solidFill>
                <a:srgbClr val="334E6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866512" y="3938826"/>
              <a:ext cx="458975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1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view()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7381875" y="4257675"/>
              <a:ext cx="209550" cy="209550"/>
            </a:xfrm>
            <a:custGeom>
              <a:avLst/>
              <a:gdLst/>
              <a:ahLst/>
              <a:cxnLst/>
              <a:rect l="l" t="t" r="r" b="b"/>
              <a:pathLst>
                <a:path w="209550" h="209550">
                  <a:moveTo>
                    <a:pt x="0" y="0"/>
                  </a:moveTo>
                  <a:lnTo>
                    <a:pt x="209550" y="209550"/>
                  </a:lnTo>
                </a:path>
              </a:pathLst>
            </a:custGeom>
            <a:noFill/>
            <a:ln w="22860">
              <a:solidFill>
                <a:srgbClr val="5B6475"/>
              </a:solidFill>
            </a:ln>
          </p:spPr>
        </p:sp>
        <p:sp>
          <p:nvSpPr>
            <p:cNvPr id="37" name="Line 37"/>
            <p:cNvSpPr/>
            <p:nvPr/>
          </p:nvSpPr>
          <p:spPr>
            <a:xfrm>
              <a:off x="7381875" y="4257675"/>
              <a:ext cx="209550" cy="209550"/>
            </a:xfrm>
            <a:custGeom>
              <a:avLst/>
              <a:gdLst/>
              <a:ahLst/>
              <a:cxnLst/>
              <a:rect l="l" t="t" r="r" b="b"/>
              <a:pathLst>
                <a:path w="209550" h="209550">
                  <a:moveTo>
                    <a:pt x="209550" y="0"/>
                  </a:moveTo>
                  <a:lnTo>
                    <a:pt x="0" y="209550"/>
                  </a:lnTo>
                </a:path>
              </a:pathLst>
            </a:custGeom>
            <a:noFill/>
            <a:ln w="22860">
              <a:solidFill>
                <a:srgbClr val="5B6475"/>
              </a:solidFill>
            </a:ln>
          </p:spPr>
        </p:sp>
        <p:sp>
          <p:nvSpPr>
            <p:cNvPr id="38" name="Line 38"/>
            <p:cNvSpPr/>
            <p:nvPr/>
          </p:nvSpPr>
          <p:spPr>
            <a:xfrm>
              <a:off x="10163175" y="4257675"/>
              <a:ext cx="209550" cy="209550"/>
            </a:xfrm>
            <a:custGeom>
              <a:avLst/>
              <a:gdLst/>
              <a:ahLst/>
              <a:cxnLst/>
              <a:rect l="l" t="t" r="r" b="b"/>
              <a:pathLst>
                <a:path w="209550" h="209550">
                  <a:moveTo>
                    <a:pt x="0" y="0"/>
                  </a:moveTo>
                  <a:lnTo>
                    <a:pt x="209550" y="209550"/>
                  </a:lnTo>
                </a:path>
              </a:pathLst>
            </a:custGeom>
            <a:noFill/>
            <a:ln w="22860">
              <a:solidFill>
                <a:srgbClr val="5B6475"/>
              </a:solidFill>
            </a:ln>
          </p:spPr>
        </p:sp>
        <p:sp>
          <p:nvSpPr>
            <p:cNvPr id="39" name="Line 39"/>
            <p:cNvSpPr/>
            <p:nvPr/>
          </p:nvSpPr>
          <p:spPr>
            <a:xfrm>
              <a:off x="10163175" y="4257675"/>
              <a:ext cx="209550" cy="209550"/>
            </a:xfrm>
            <a:custGeom>
              <a:avLst/>
              <a:gdLst/>
              <a:ahLst/>
              <a:cxnLst/>
              <a:rect l="l" t="t" r="r" b="b"/>
              <a:pathLst>
                <a:path w="209550" h="209550">
                  <a:moveTo>
                    <a:pt x="209550" y="0"/>
                  </a:moveTo>
                  <a:lnTo>
                    <a:pt x="0" y="209550"/>
                  </a:lnTo>
                </a:path>
              </a:pathLst>
            </a:custGeom>
            <a:noFill/>
            <a:ln w="22860">
              <a:solidFill>
                <a:srgbClr val="5B6475"/>
              </a:solidFill>
            </a:ln>
          </p:spPr>
        </p:sp>
      </p:grpSp>
      <p:grpSp>
        <p:nvGrpSpPr>
          <p:cNvPr id="46" name="seq3note"/>
          <p:cNvGrpSpPr/>
          <p:nvPr/>
        </p:nvGrpSpPr>
        <p:grpSpPr>
          <a:xfrm>
            <a:off x="533400" y="4762500"/>
            <a:ext cx="11125200" cy="1543050"/>
            <a:chOff x="533400" y="4762500"/>
            <a:chExt cx="11125200" cy="1543050"/>
          </a:xfrm>
        </p:grpSpPr>
        <p:sp>
          <p:nvSpPr>
            <p:cNvPr id="41" name="Rectangle 41"/>
            <p:cNvSpPr/>
            <p:nvPr/>
          </p:nvSpPr>
          <p:spPr>
            <a:xfrm>
              <a:off x="533400" y="4762500"/>
              <a:ext cx="11125200" cy="1543050"/>
            </a:xfrm>
            <a:prstGeom prst="roundRect">
              <a:avLst>
                <a:gd name="adj" fmla="val 6173"/>
              </a:avLst>
            </a:prstGeom>
            <a:solidFill>
              <a:srgbClr val="F4F6FB"/>
            </a:solidFill>
            <a:ln w="11430">
              <a:solidFill>
                <a:srgbClr val="D9DFEA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36854" y="4899660"/>
              <a:ext cx="3914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画到这里才发现：实体对象“确认”在第一遍里被漏掉了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37235" y="5174456"/>
              <a:ext cx="8786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调度站那张图里，事件表单先创建了一个“确认”对象，它保存分配的资源和估计到达时间，再由报告紧急情况控制创建“确认通知”。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37235" y="5412581"/>
              <a:ext cx="78667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第一遍标识实体对象时没人提到它，因为原始用例只写了“调度员选择一个响应并回复”，没有写这个回复里装了什么。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37235" y="5650706"/>
              <a:ext cx="8040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开发人员回头向客户问清楚，把“确认”补进分析模型，同时把用例第 4 步写完整。分析模型就是这样一圈一圈长出来的。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85051" cy="909257"/>
            <a:chOff x="520446" y="342900"/>
            <a:chExt cx="488505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完整实例：报告紧急情况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850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补上"确认"，用例也跟着被改写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4977765" cy="1858328"/>
            <a:chOff x="533400" y="1524000"/>
            <a:chExt cx="4977765" cy="185832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858328"/>
            </a:xfrm>
            <a:prstGeom prst="roundRect">
              <a:avLst>
                <a:gd name="adj" fmla="val 71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9162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12763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7057" y="1756410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新发现的实体对象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153031" y="175688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确认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381" y="2100739"/>
              <a:ext cx="434263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调度员对现场工作人员的紧急情况报告的响应。通过发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送一个确认，调度员与现场工作人员交流，告知她已收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到紧急情况报告、创建了一个事件并给它分配了资源。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381" y="2961799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该确认包含了分配的资源以及它们的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估计到达时间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20" name="c1-callout-2"/>
          <p:cNvGrpSpPr/>
          <p:nvPr/>
        </p:nvGrpSpPr>
        <p:grpSpPr>
          <a:xfrm>
            <a:off x="533400" y="3562350"/>
            <a:ext cx="4977765" cy="1018222"/>
            <a:chOff x="533400" y="3562350"/>
            <a:chExt cx="4977765" cy="1018222"/>
          </a:xfrm>
        </p:grpSpPr>
        <p:sp>
          <p:nvSpPr>
            <p:cNvPr id="15" name="Rectangle 15"/>
            <p:cNvSpPr/>
            <p:nvPr/>
          </p:nvSpPr>
          <p:spPr>
            <a:xfrm>
              <a:off x="533400" y="3562350"/>
              <a:ext cx="4977765" cy="1018222"/>
            </a:xfrm>
            <a:prstGeom prst="roundRect">
              <a:avLst>
                <a:gd name="adj" fmla="val 11225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738188" y="3971927"/>
              <a:ext cx="200023" cy="200023"/>
              <a:chOff x="738188" y="3971927"/>
              <a:chExt cx="200023" cy="200023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397192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71538" y="4038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040511" y="3709511"/>
              <a:ext cx="3981958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确认对象与确认通知边界对象不是一回事。确认保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存信息，确认通知负责显示，并且确认在确认通知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之前创建。</a:t>
              </a:r>
            </a:p>
          </p:txBody>
        </p:sp>
      </p:grpSp>
      <p:grpSp>
        <p:nvGrpSpPr>
          <p:cNvPr id="35" name="c2-card-1"/>
          <p:cNvGrpSpPr/>
          <p:nvPr/>
        </p:nvGrpSpPr>
        <p:grpSpPr>
          <a:xfrm>
            <a:off x="5815965" y="1524000"/>
            <a:ext cx="5842635" cy="3804285"/>
            <a:chOff x="5815965" y="1524000"/>
            <a:chExt cx="5842635" cy="3804285"/>
          </a:xfrm>
        </p:grpSpPr>
        <p:sp>
          <p:nvSpPr>
            <p:cNvPr id="21" name="Rectangle 21"/>
            <p:cNvSpPr/>
            <p:nvPr/>
          </p:nvSpPr>
          <p:spPr>
            <a:xfrm>
              <a:off x="5815965" y="1524000"/>
              <a:ext cx="5842635" cy="3804285"/>
            </a:xfrm>
            <a:prstGeom prst="roundRect">
              <a:avLst>
                <a:gd name="adj" fmla="val 350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825490" y="1657350"/>
              <a:ext cx="47625" cy="353758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052185" y="1722120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123622" y="1756410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改进后的事件流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302246" y="1756886"/>
              <a:ext cx="21965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步和第 4 步都变长了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052185" y="2088832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110530" y="212821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42126" y="2100739"/>
              <a:ext cx="488365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系统做出响应：提交一份表格给现场工作人员。该表格包括一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个紧急情况类型菜单（普通类型、火灾、交通）、事件发生的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位置、事件描述、救援要求、危险原料所处场所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052185" y="2948940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110530" y="298927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42126" y="2961799"/>
              <a:ext cx="488365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现场工作人员填写表格，至少填写紧急情况类型和描述，也可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以描述可能响应和特殊救援要求。填完后按下发送报告按钮提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交，系统通知调度员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052185" y="3810000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110530" y="384938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342126" y="3821906"/>
              <a:ext cx="4883658" cy="13645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调度员通过弹出的对话框注意到新的事件报告，查看提交的信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息，通过调用打开事件用例在数据库创建一个事件，事件里自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动包括表格里的所有信息。调度员选择响应，用分配资源用例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分配救援资源，再通过发送短信息确认收到报告。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该确认包括</a:t>
              </a:r>
              <a:br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资源（例如一辆消防车）以及它们的估计到达时间</a:t>
              </a:r>
            </a:p>
          </p:txBody>
        </p:sp>
      </p:grpSp>
      <p:grpSp>
        <p:nvGrpSpPr>
          <p:cNvPr id="42" name="c2-callout-2"/>
          <p:cNvGrpSpPr/>
          <p:nvPr/>
        </p:nvGrpSpPr>
        <p:grpSpPr>
          <a:xfrm>
            <a:off x="5815965" y="5509260"/>
            <a:ext cx="5842635" cy="756285"/>
            <a:chOff x="5815965" y="5509260"/>
            <a:chExt cx="5842635" cy="756285"/>
          </a:xfrm>
        </p:grpSpPr>
        <p:sp>
          <p:nvSpPr>
            <p:cNvPr id="36" name="Rectangle 36"/>
            <p:cNvSpPr/>
            <p:nvPr/>
          </p:nvSpPr>
          <p:spPr>
            <a:xfrm>
              <a:off x="5815965" y="5509260"/>
              <a:ext cx="5842635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6020753" y="5787390"/>
              <a:ext cx="200026" cy="200026"/>
              <a:chOff x="6020753" y="5787390"/>
              <a:chExt cx="200026" cy="20002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6020753" y="578739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120765" y="585406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109653" y="588740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6323076" y="5656421"/>
              <a:ext cx="488365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入口条件和出口条件没变，变的是事件流里的信息粒度。这说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明改动是局部的，用例的边界当初划对了。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完整实例：报告紧急情况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把顺序图上的消息映射成职责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10437876" cy="512636"/>
            <a:chOff x="526542" y="1545907"/>
            <a:chExt cx="10437876" cy="512636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043787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职责的名称基本沿用消息的名称，因为用例和顺序图还处在很简略的阶段，两者没出现什么差异。职责还不是类的操作，所以用 "//" 作前</a:t>
              </a:r>
              <a:br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缀。</a:t>
              </a:r>
            </a:p>
          </p:txBody>
        </p:sp>
      </p:grpSp>
      <p:grpSp>
        <p:nvGrpSpPr>
          <p:cNvPr id="23" name="c1-uml-1"/>
          <p:cNvGrpSpPr/>
          <p:nvPr/>
        </p:nvGrpSpPr>
        <p:grpSpPr>
          <a:xfrm>
            <a:off x="1368742" y="2553652"/>
            <a:ext cx="4464368" cy="1049655"/>
            <a:chOff x="1368742" y="2553652"/>
            <a:chExt cx="4464368" cy="1049655"/>
          </a:xfrm>
        </p:grpSpPr>
        <p:sp>
          <p:nvSpPr>
            <p:cNvPr id="9" name="Rectangle 9"/>
            <p:cNvSpPr/>
            <p:nvPr/>
          </p:nvSpPr>
          <p:spPr>
            <a:xfrm>
              <a:off x="1368742" y="2553652"/>
              <a:ext cx="1466850" cy="104965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376362" y="2560320"/>
              <a:ext cx="1452562" cy="36480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1368742" y="2921318"/>
              <a:ext cx="146685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1368742" y="3016568"/>
              <a:ext cx="146685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4647248" y="2553652"/>
              <a:ext cx="1185862" cy="104965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653915" y="2560320"/>
              <a:ext cx="1171575" cy="364808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4647248" y="2921318"/>
              <a:ext cx="1185862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4647248" y="3016568"/>
              <a:ext cx="1185862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837992" y="2606516"/>
              <a:ext cx="52835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«control»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569504" y="2746534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报告紧急情况控制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440180" y="3086100"/>
              <a:ext cx="1323975" cy="5000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//create()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//submitReport()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//acknowledgeReport()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932324" y="2606516"/>
              <a:ext cx="61666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«boundary»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707992" y="2746534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紧急情况报告表单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18685" y="3086100"/>
              <a:ext cx="929640" cy="5000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//create()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//fillContents()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//submit()</a:t>
              </a:r>
            </a:p>
          </p:txBody>
        </p:sp>
      </p:grpSp>
      <p:grpSp>
        <p:nvGrpSpPr>
          <p:cNvPr id="35" name="c1-kv-2"/>
          <p:cNvGrpSpPr/>
          <p:nvPr/>
        </p:nvGrpSpPr>
        <p:grpSpPr>
          <a:xfrm>
            <a:off x="526542" y="4171950"/>
            <a:ext cx="6282880" cy="1441323"/>
            <a:chOff x="526542" y="4171950"/>
            <a:chExt cx="6282880" cy="1441323"/>
          </a:xfrm>
        </p:grpSpPr>
        <p:sp>
          <p:nvSpPr>
            <p:cNvPr id="24" name="TextBox 24"/>
            <p:cNvSpPr txBox="1"/>
            <p:nvPr/>
          </p:nvSpPr>
          <p:spPr>
            <a:xfrm>
              <a:off x="526542" y="41719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报告紧急情况按钮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202942" y="4171950"/>
              <a:ext cx="9133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//press()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45770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6542" y="456438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管理紧急情况控制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202942" y="4564380"/>
              <a:ext cx="27773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//submitReportToDispatcher()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485013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26542" y="495681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事件表单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202942" y="4956810"/>
              <a:ext cx="40824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//create()、//createIncident()、//submit()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524256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26542" y="534924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其余三个实体类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202942" y="5349240"/>
              <a:ext cx="10132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//create()</a:t>
              </a:r>
            </a:p>
          </p:txBody>
        </p:sp>
      </p:grpSp>
      <p:grpSp>
        <p:nvGrpSpPr>
          <p:cNvPr id="42" name="c2-card-1"/>
          <p:cNvGrpSpPr/>
          <p:nvPr/>
        </p:nvGrpSpPr>
        <p:grpSpPr>
          <a:xfrm>
            <a:off x="7114222" y="2177415"/>
            <a:ext cx="4544378" cy="1743075"/>
            <a:chOff x="7114222" y="2177415"/>
            <a:chExt cx="4544378" cy="1743075"/>
          </a:xfrm>
        </p:grpSpPr>
        <p:sp>
          <p:nvSpPr>
            <p:cNvPr id="36" name="Rectangle 36"/>
            <p:cNvSpPr/>
            <p:nvPr/>
          </p:nvSpPr>
          <p:spPr>
            <a:xfrm>
              <a:off x="7114222" y="2177415"/>
              <a:ext cx="4544378" cy="1743075"/>
            </a:xfrm>
            <a:prstGeom prst="roundRect">
              <a:avLst>
                <a:gd name="adj" fmla="val 76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7123748" y="2310765"/>
              <a:ext cx="47625" cy="147637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7339012" y="2364105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419530" y="2396966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怎么得来的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332154" y="2707958"/>
              <a:ext cx="397421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把三张顺序图上所有指向"报告紧急情况控制"的箭头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收拢，就得到左边三条职责。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332154" y="3265170"/>
              <a:ext cx="360559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create() 和 submitReport() 来自第一张图，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acknowledgeReport() 来自第三张图。</a:t>
              </a:r>
            </a:p>
          </p:txBody>
        </p:sp>
      </p:grpSp>
      <p:grpSp>
        <p:nvGrpSpPr>
          <p:cNvPr id="49" name="c2-callout-2"/>
          <p:cNvGrpSpPr/>
          <p:nvPr/>
        </p:nvGrpSpPr>
        <p:grpSpPr>
          <a:xfrm>
            <a:off x="7114222" y="4090035"/>
            <a:ext cx="4544378" cy="1469708"/>
            <a:chOff x="7114222" y="4090035"/>
            <a:chExt cx="4544378" cy="1469708"/>
          </a:xfrm>
        </p:grpSpPr>
        <p:sp>
          <p:nvSpPr>
            <p:cNvPr id="43" name="Rectangle 43"/>
            <p:cNvSpPr/>
            <p:nvPr/>
          </p:nvSpPr>
          <p:spPr>
            <a:xfrm>
              <a:off x="7114222" y="4090035"/>
              <a:ext cx="4544378" cy="1469708"/>
            </a:xfrm>
            <a:prstGeom prst="roundRect">
              <a:avLst>
                <a:gd name="adj" fmla="val 7777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06952" y="4721661"/>
              <a:ext cx="224134" cy="192560"/>
              <a:chOff x="7306952" y="4721661"/>
              <a:chExt cx="224134" cy="19256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419023" y="479202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306952" y="472166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7419023" y="486981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7621714" y="4606290"/>
              <a:ext cx="36141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收拢时要跨全部事件流看，只看基本流会漏掉只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在异常流里出现的职责。</a:t>
              </a:r>
            </a:p>
          </p:txBody>
        </p:sp>
      </p:grpSp>
      <p:grpSp>
        <p:nvGrpSpPr>
          <p:cNvPr id="55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0" name="Rectangle 50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0892" y="6028373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一条职责可以响应多条消息，所以职责的条数通常少于消息的条数。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3726" cy="909257"/>
            <a:chOff x="520446" y="342900"/>
            <a:chExt cx="414372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完整实例：报告紧急情况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372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报告紧急情况用例的 VOPC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275070" cy="293370"/>
            <a:chOff x="525780" y="1548765"/>
            <a:chExt cx="627507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2750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把所有参与类摆进一张类图，箭头方向取自顺序图里消息的传递方向。</a:t>
              </a:r>
            </a:p>
          </p:txBody>
        </p:sp>
      </p:grpSp>
      <p:grpSp>
        <p:nvGrpSpPr>
          <p:cNvPr id="42" name="c1-graph-1"/>
          <p:cNvGrpSpPr/>
          <p:nvPr/>
        </p:nvGrpSpPr>
        <p:grpSpPr>
          <a:xfrm>
            <a:off x="823912" y="2133600"/>
            <a:ext cx="6109335" cy="3223260"/>
            <a:chOff x="823912" y="2133600"/>
            <a:chExt cx="6109335" cy="3223260"/>
          </a:xfrm>
        </p:grpSpPr>
        <p:sp>
          <p:nvSpPr>
            <p:cNvPr id="9" name="Freeform 9"/>
            <p:cNvSpPr/>
            <p:nvPr/>
          </p:nvSpPr>
          <p:spPr>
            <a:xfrm>
              <a:off x="1547812" y="2491740"/>
              <a:ext cx="796290" cy="1000125"/>
            </a:xfrm>
            <a:custGeom>
              <a:avLst/>
              <a:gdLst/>
              <a:ahLst/>
              <a:cxnLst/>
              <a:rect l="l" t="t" r="r" b="b"/>
              <a:pathLst>
                <a:path w="796290" h="1000125">
                  <a:moveTo>
                    <a:pt x="0" y="0"/>
                  </a:moveTo>
                  <a:lnTo>
                    <a:pt x="796290" y="100012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306955" y="3462338"/>
              <a:ext cx="96203" cy="103822"/>
            </a:xfrm>
            <a:custGeom>
              <a:avLst/>
              <a:gdLst/>
              <a:ahLst/>
              <a:cxnLst/>
              <a:rect l="l" t="t" r="r" b="b"/>
              <a:pathLst>
                <a:path w="96203" h="103822">
                  <a:moveTo>
                    <a:pt x="96203" y="103822"/>
                  </a:moveTo>
                  <a:lnTo>
                    <a:pt x="0" y="59055"/>
                  </a:lnTo>
                  <a:lnTo>
                    <a:pt x="7429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669858" y="2491740"/>
              <a:ext cx="462915" cy="987742"/>
            </a:xfrm>
            <a:custGeom>
              <a:avLst/>
              <a:gdLst/>
              <a:ahLst/>
              <a:cxnLst/>
              <a:rect l="l" t="t" r="r" b="b"/>
              <a:pathLst>
                <a:path w="462915" h="987742">
                  <a:moveTo>
                    <a:pt x="462915" y="0"/>
                  </a:moveTo>
                  <a:lnTo>
                    <a:pt x="0" y="98774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626995" y="3459480"/>
              <a:ext cx="86677" cy="106680"/>
            </a:xfrm>
            <a:custGeom>
              <a:avLst/>
              <a:gdLst/>
              <a:ahLst/>
              <a:cxnLst/>
              <a:rect l="l" t="t" r="r" b="b"/>
              <a:pathLst>
                <a:path w="86677" h="106680">
                  <a:moveTo>
                    <a:pt x="2858" y="106680"/>
                  </a:moveTo>
                  <a:lnTo>
                    <a:pt x="0" y="0"/>
                  </a:lnTo>
                  <a:lnTo>
                    <a:pt x="86677" y="4095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839402" y="2541270"/>
              <a:ext cx="1680210" cy="1024890"/>
            </a:xfrm>
            <a:custGeom>
              <a:avLst/>
              <a:gdLst/>
              <a:ahLst/>
              <a:cxnLst/>
              <a:rect l="l" t="t" r="r" b="b"/>
              <a:pathLst>
                <a:path w="1680210" h="1024890">
                  <a:moveTo>
                    <a:pt x="0" y="1024890"/>
                  </a:moveTo>
                  <a:lnTo>
                    <a:pt x="168021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494848" y="2491740"/>
              <a:ext cx="105728" cy="90488"/>
            </a:xfrm>
            <a:custGeom>
              <a:avLst/>
              <a:gdLst/>
              <a:ahLst/>
              <a:cxnLst/>
              <a:rect l="l" t="t" r="r" b="b"/>
              <a:pathLst>
                <a:path w="105728" h="90488">
                  <a:moveTo>
                    <a:pt x="105728" y="0"/>
                  </a:moveTo>
                  <a:lnTo>
                    <a:pt x="49530" y="90488"/>
                  </a:lnTo>
                  <a:lnTo>
                    <a:pt x="0" y="857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1607820" y="3924300"/>
              <a:ext cx="795338" cy="1000125"/>
            </a:xfrm>
            <a:custGeom>
              <a:avLst/>
              <a:gdLst/>
              <a:ahLst/>
              <a:cxnLst/>
              <a:rect l="l" t="t" r="r" b="b"/>
              <a:pathLst>
                <a:path w="795338" h="1000125">
                  <a:moveTo>
                    <a:pt x="795338" y="0"/>
                  </a:moveTo>
                  <a:lnTo>
                    <a:pt x="0" y="100012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1547812" y="4894898"/>
              <a:ext cx="97155" cy="103822"/>
            </a:xfrm>
            <a:custGeom>
              <a:avLst/>
              <a:gdLst/>
              <a:ahLst/>
              <a:cxnLst/>
              <a:rect l="l" t="t" r="r" b="b"/>
              <a:pathLst>
                <a:path w="97155" h="103822">
                  <a:moveTo>
                    <a:pt x="0" y="103822"/>
                  </a:moveTo>
                  <a:lnTo>
                    <a:pt x="21908" y="0"/>
                  </a:lnTo>
                  <a:lnTo>
                    <a:pt x="97155" y="5905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3128010" y="3745230"/>
              <a:ext cx="982980" cy="9525"/>
            </a:xfrm>
            <a:custGeom>
              <a:avLst/>
              <a:gdLst/>
              <a:ahLst/>
              <a:cxnLst/>
              <a:rect l="l" t="t" r="r" b="b"/>
              <a:pathLst>
                <a:path w="982980" h="9525">
                  <a:moveTo>
                    <a:pt x="0" y="0"/>
                  </a:moveTo>
                  <a:lnTo>
                    <a:pt x="98298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918710" y="2550795"/>
              <a:ext cx="1283970" cy="1015365"/>
            </a:xfrm>
            <a:custGeom>
              <a:avLst/>
              <a:gdLst/>
              <a:ahLst/>
              <a:cxnLst/>
              <a:rect l="l" t="t" r="r" b="b"/>
              <a:pathLst>
                <a:path w="1283970" h="1015365">
                  <a:moveTo>
                    <a:pt x="0" y="1015365"/>
                  </a:moveTo>
                  <a:lnTo>
                    <a:pt x="128397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6173152" y="2491740"/>
              <a:ext cx="104775" cy="96202"/>
            </a:xfrm>
            <a:custGeom>
              <a:avLst/>
              <a:gdLst/>
              <a:ahLst/>
              <a:cxnLst/>
              <a:rect l="l" t="t" r="r" b="b"/>
              <a:pathLst>
                <a:path w="104775" h="96202">
                  <a:moveTo>
                    <a:pt x="104775" y="0"/>
                  </a:moveTo>
                  <a:lnTo>
                    <a:pt x="59055" y="96202"/>
                  </a:lnTo>
                  <a:lnTo>
                    <a:pt x="0" y="21907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5102542" y="2491740"/>
              <a:ext cx="1304925" cy="2423160"/>
            </a:xfrm>
            <a:custGeom>
              <a:avLst/>
              <a:gdLst/>
              <a:ahLst/>
              <a:cxnLst/>
              <a:rect l="l" t="t" r="r" b="b"/>
              <a:pathLst>
                <a:path w="1304925" h="2423160">
                  <a:moveTo>
                    <a:pt x="1304925" y="0"/>
                  </a:moveTo>
                  <a:lnTo>
                    <a:pt x="0" y="242316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5057775" y="4892040"/>
              <a:ext cx="86678" cy="106680"/>
            </a:xfrm>
            <a:custGeom>
              <a:avLst/>
              <a:gdLst/>
              <a:ahLst/>
              <a:cxnLst/>
              <a:rect l="l" t="t" r="r" b="b"/>
              <a:pathLst>
                <a:path w="86678" h="106680">
                  <a:moveTo>
                    <a:pt x="0" y="106680"/>
                  </a:moveTo>
                  <a:lnTo>
                    <a:pt x="2857" y="0"/>
                  </a:lnTo>
                  <a:lnTo>
                    <a:pt x="86678" y="4572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6508432" y="2491740"/>
              <a:ext cx="56198" cy="2411730"/>
            </a:xfrm>
            <a:custGeom>
              <a:avLst/>
              <a:gdLst/>
              <a:ahLst/>
              <a:cxnLst/>
              <a:rect l="l" t="t" r="r" b="b"/>
              <a:pathLst>
                <a:path w="56198" h="2411730">
                  <a:moveTo>
                    <a:pt x="0" y="0"/>
                  </a:moveTo>
                  <a:lnTo>
                    <a:pt x="56198" y="241173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6517005" y="4902518"/>
              <a:ext cx="95250" cy="96202"/>
            </a:xfrm>
            <a:custGeom>
              <a:avLst/>
              <a:gdLst/>
              <a:ahLst/>
              <a:cxnLst/>
              <a:rect l="l" t="t" r="r" b="b"/>
              <a:pathLst>
                <a:path w="95250" h="96202">
                  <a:moveTo>
                    <a:pt x="49530" y="96202"/>
                  </a:moveTo>
                  <a:lnTo>
                    <a:pt x="0" y="1905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823912" y="2133600"/>
              <a:ext cx="1163955" cy="358140"/>
            </a:xfrm>
            <a:prstGeom prst="roundRect">
              <a:avLst>
                <a:gd name="adj" fmla="val 26596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2634615" y="2133600"/>
              <a:ext cx="1163955" cy="358140"/>
            </a:xfrm>
            <a:prstGeom prst="roundRect">
              <a:avLst>
                <a:gd name="adj" fmla="val 26596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4464368" y="2133600"/>
              <a:ext cx="859155" cy="358140"/>
            </a:xfrm>
            <a:prstGeom prst="roundRect">
              <a:avLst>
                <a:gd name="adj" fmla="val 26596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074092" y="2133600"/>
              <a:ext cx="859155" cy="358140"/>
            </a:xfrm>
            <a:prstGeom prst="roundRect">
              <a:avLst>
                <a:gd name="adj" fmla="val 26596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1964055" y="3566160"/>
              <a:ext cx="1163955" cy="358140"/>
            </a:xfrm>
            <a:prstGeom prst="roundRect">
              <a:avLst>
                <a:gd name="adj" fmla="val 26596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4110990" y="3566160"/>
              <a:ext cx="1163955" cy="358140"/>
            </a:xfrm>
            <a:prstGeom prst="roundRect">
              <a:avLst>
                <a:gd name="adj" fmla="val 26596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885825" y="4998720"/>
              <a:ext cx="1038225" cy="358140"/>
            </a:xfrm>
            <a:prstGeom prst="roundRect">
              <a:avLst>
                <a:gd name="adj" fmla="val 26596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4612005" y="4998720"/>
              <a:ext cx="698182" cy="358140"/>
            </a:xfrm>
            <a:prstGeom prst="roundRect">
              <a:avLst>
                <a:gd name="adj" fmla="val 26596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21730" y="4998720"/>
              <a:ext cx="698182" cy="358140"/>
            </a:xfrm>
            <a:prstGeom prst="roundRect">
              <a:avLst>
                <a:gd name="adj" fmla="val 26596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16496" y="2256472"/>
              <a:ext cx="9787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报告紧急情况按钮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727198" y="2256472"/>
              <a:ext cx="9787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紧急情况报告表单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646866" y="2256472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确认通知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56591" y="2256472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事件表单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056638" y="3689032"/>
              <a:ext cx="9787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报告紧急情况控制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203573" y="3689032"/>
              <a:ext cx="9787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管理紧急情况控制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37654" y="5121592"/>
              <a:ext cx="7364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紧急情况报告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835652" y="5121592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确认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45377" y="5121592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</a:t>
              </a:r>
            </a:p>
          </p:txBody>
        </p:sp>
      </p:grpSp>
      <p:grpSp>
        <p:nvGrpSpPr>
          <p:cNvPr id="51" name="c2-kv-1"/>
          <p:cNvGrpSpPr/>
          <p:nvPr/>
        </p:nvGrpSpPr>
        <p:grpSpPr>
          <a:xfrm>
            <a:off x="7539418" y="1977866"/>
            <a:ext cx="4119182" cy="1111187"/>
            <a:chOff x="7539418" y="1977866"/>
            <a:chExt cx="4119182" cy="1111187"/>
          </a:xfrm>
        </p:grpSpPr>
        <p:sp>
          <p:nvSpPr>
            <p:cNvPr id="43" name="TextBox 43"/>
            <p:cNvSpPr txBox="1"/>
            <p:nvPr/>
          </p:nvSpPr>
          <p:spPr>
            <a:xfrm>
              <a:off x="7539418" y="197786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上排四个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538591" y="1977866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边界类，面向现场工作人员和调度员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546658" y="2281238"/>
              <a:ext cx="411194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539418" y="239410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中间两个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538591" y="2394109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控制类，两台机器各管一段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7546658" y="2697480"/>
              <a:ext cx="411194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539418" y="281035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下排三个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538591" y="2810351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实体类，只被指向，不指向别人</a:t>
              </a:r>
            </a:p>
          </p:txBody>
        </p:sp>
      </p:grpSp>
      <p:grpSp>
        <p:nvGrpSpPr>
          <p:cNvPr id="58" name="c2-card-2"/>
          <p:cNvGrpSpPr/>
          <p:nvPr/>
        </p:nvGrpSpPr>
        <p:grpSpPr>
          <a:xfrm>
            <a:off x="7546658" y="3213735"/>
            <a:ext cx="4111942" cy="1840230"/>
            <a:chOff x="7546658" y="3213735"/>
            <a:chExt cx="4111942" cy="1840230"/>
          </a:xfrm>
        </p:grpSpPr>
        <p:sp>
          <p:nvSpPr>
            <p:cNvPr id="52" name="Rectangle 52"/>
            <p:cNvSpPr/>
            <p:nvPr/>
          </p:nvSpPr>
          <p:spPr>
            <a:xfrm>
              <a:off x="7546658" y="3213735"/>
              <a:ext cx="4111942" cy="1840230"/>
            </a:xfrm>
            <a:prstGeom prst="roundRect">
              <a:avLst>
                <a:gd name="adj" fmla="val 724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7556182" y="3347085"/>
              <a:ext cx="47625" cy="15735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7782878" y="3411855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862316" y="344614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读出的结论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775638" y="3772376"/>
              <a:ext cx="34409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两个控制类之间是一条不带箭头的关联，对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应两台机器之间的双向转发。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775638" y="4361021"/>
              <a:ext cx="34409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事件表单同时创建确认和事件，所以它有两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条向下的箭头。</a:t>
              </a:r>
            </a:p>
          </p:txBody>
        </p:sp>
      </p:grpSp>
      <p:grpSp>
        <p:nvGrpSpPr>
          <p:cNvPr id="65" name="c2-callout-3"/>
          <p:cNvGrpSpPr/>
          <p:nvPr/>
        </p:nvGrpSpPr>
        <p:grpSpPr>
          <a:xfrm>
            <a:off x="7546658" y="5233988"/>
            <a:ext cx="4111942" cy="756285"/>
            <a:chOff x="7546658" y="5233988"/>
            <a:chExt cx="4111942" cy="756285"/>
          </a:xfrm>
        </p:grpSpPr>
        <p:sp>
          <p:nvSpPr>
            <p:cNvPr id="59" name="Rectangle 59"/>
            <p:cNvSpPr/>
            <p:nvPr/>
          </p:nvSpPr>
          <p:spPr>
            <a:xfrm>
              <a:off x="7546658" y="5233988"/>
              <a:ext cx="4111942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7751445" y="5512118"/>
              <a:ext cx="200026" cy="200025"/>
              <a:chOff x="7751445" y="5512118"/>
              <a:chExt cx="200026" cy="200025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751445" y="551211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7791184" y="555656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7825899" y="566769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8053768" y="5381149"/>
              <a:ext cx="326059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图上没有一条箭头从实体类出发，这正是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画法规则第 5 条的结果。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362896" cy="909257"/>
            <a:chOff x="520446" y="342900"/>
            <a:chExt cx="336289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完整实例：报告紧急情况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给分析类补上属性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9526143" cy="293370"/>
            <a:chOff x="525780" y="1548765"/>
            <a:chExt cx="9526143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95261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确定属性主要依据各分析类自行承担的职责。以实体类紧急情况报告为例，它的职责只有"创建自己"一条。</a:t>
              </a:r>
            </a:p>
          </p:txBody>
        </p:sp>
      </p:grpSp>
      <p:grpSp>
        <p:nvGrpSpPr>
          <p:cNvPr id="17" name="c1-uml-1"/>
          <p:cNvGrpSpPr/>
          <p:nvPr/>
        </p:nvGrpSpPr>
        <p:grpSpPr>
          <a:xfrm>
            <a:off x="2086928" y="2381250"/>
            <a:ext cx="1869758" cy="1295400"/>
            <a:chOff x="2086928" y="2381250"/>
            <a:chExt cx="1869758" cy="1295400"/>
          </a:xfrm>
        </p:grpSpPr>
        <p:sp>
          <p:nvSpPr>
            <p:cNvPr id="9" name="Rectangle 9"/>
            <p:cNvSpPr/>
            <p:nvPr/>
          </p:nvSpPr>
          <p:spPr>
            <a:xfrm>
              <a:off x="2086928" y="2381250"/>
              <a:ext cx="1869758" cy="129540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2094548" y="2387918"/>
              <a:ext cx="1855470" cy="39433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2086928" y="2778442"/>
              <a:ext cx="1869758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086928" y="3401378"/>
              <a:ext cx="1869758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766117" y="2438400"/>
              <a:ext cx="5123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«entity»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592896" y="258984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紧急情况报告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158174" y="2849404"/>
              <a:ext cx="1727454" cy="5431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紧急类型：{火灾, 交通, 其他}</a:t>
              </a:r>
              <a:br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位置：字符串</a:t>
              </a:r>
              <a:br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描述：字符串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158174" y="3472339"/>
              <a:ext cx="7355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//create()</a:t>
              </a:r>
            </a:p>
          </p:txBody>
        </p:sp>
      </p:grpSp>
      <p:grpSp>
        <p:nvGrpSpPr>
          <p:cNvPr id="24" name="c1-card-2"/>
          <p:cNvGrpSpPr/>
          <p:nvPr/>
        </p:nvGrpSpPr>
        <p:grpSpPr>
          <a:xfrm>
            <a:off x="533400" y="4283392"/>
            <a:ext cx="4977765" cy="1268730"/>
            <a:chOff x="533400" y="4283392"/>
            <a:chExt cx="4977765" cy="1268730"/>
          </a:xfrm>
        </p:grpSpPr>
        <p:sp>
          <p:nvSpPr>
            <p:cNvPr id="18" name="Rectangle 18"/>
            <p:cNvSpPr/>
            <p:nvPr/>
          </p:nvSpPr>
          <p:spPr>
            <a:xfrm>
              <a:off x="533400" y="4283392"/>
              <a:ext cx="4977765" cy="1268730"/>
            </a:xfrm>
            <a:prstGeom prst="roundRect">
              <a:avLst>
                <a:gd name="adj" fmla="val 105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4416742"/>
              <a:ext cx="47625" cy="100203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9620" y="448151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1060" y="45158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对照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52931" y="4517231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事件的候选属性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62381" y="4860131"/>
              <a:ext cx="43426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描述、响应、状态、位置、现场工作人员的数量，取自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它自己的那段描述。</a:t>
              </a:r>
            </a:p>
          </p:txBody>
        </p:sp>
      </p:grpSp>
      <p:grpSp>
        <p:nvGrpSpPr>
          <p:cNvPr id="31" name="c2-card-1"/>
          <p:cNvGrpSpPr/>
          <p:nvPr/>
        </p:nvGrpSpPr>
        <p:grpSpPr>
          <a:xfrm>
            <a:off x="5815965" y="1954530"/>
            <a:ext cx="5842635" cy="1840230"/>
            <a:chOff x="5815965" y="1954530"/>
            <a:chExt cx="5842635" cy="1840230"/>
          </a:xfrm>
        </p:grpSpPr>
        <p:sp>
          <p:nvSpPr>
            <p:cNvPr id="25" name="Rectangle 25"/>
            <p:cNvSpPr/>
            <p:nvPr/>
          </p:nvSpPr>
          <p:spPr>
            <a:xfrm>
              <a:off x="5815965" y="1954530"/>
              <a:ext cx="5842635" cy="1840230"/>
            </a:xfrm>
            <a:prstGeom prst="roundRect">
              <a:avLst>
                <a:gd name="adj" fmla="val 724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5825490" y="2087880"/>
              <a:ext cx="47625" cy="157353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052185" y="2152650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127623" y="218694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属性从哪里来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044946" y="2513171"/>
              <a:ext cx="492874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职责只说"创建自己"，但用例事件流第 3 步写了填表时要选什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么、写什么。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044946" y="3102769"/>
              <a:ext cx="50639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创建这个对象时需要它包括这些基本信息，于是这些信息就成了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属性。</a:t>
              </a:r>
            </a:p>
          </p:txBody>
        </p:sp>
      </p:grpSp>
      <p:grpSp>
        <p:nvGrpSpPr>
          <p:cNvPr id="38" name="c2-card-2"/>
          <p:cNvGrpSpPr/>
          <p:nvPr/>
        </p:nvGrpSpPr>
        <p:grpSpPr>
          <a:xfrm>
            <a:off x="5815965" y="3974782"/>
            <a:ext cx="5842635" cy="1577340"/>
            <a:chOff x="5815965" y="3974782"/>
            <a:chExt cx="5842635" cy="1577340"/>
          </a:xfrm>
        </p:grpSpPr>
        <p:sp>
          <p:nvSpPr>
            <p:cNvPr id="32" name="Rectangle 32"/>
            <p:cNvSpPr/>
            <p:nvPr/>
          </p:nvSpPr>
          <p:spPr>
            <a:xfrm>
              <a:off x="5815965" y="3974782"/>
              <a:ext cx="5842635" cy="1577340"/>
            </a:xfrm>
            <a:prstGeom prst="roundRect">
              <a:avLst>
                <a:gd name="adj" fmla="val 845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5825490" y="4108132"/>
              <a:ext cx="47625" cy="131064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052185" y="4172902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127623" y="420719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粗糙是有意的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044946" y="4533424"/>
              <a:ext cx="508203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紧急类型是一个取值集合，位置和描述都只写"字符串"，没有长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度、没有编码、没有校验规则。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044946" y="5123021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分析阶段的属性只要在逻辑上支撑得住职责就够了。</a:t>
              </a:r>
            </a:p>
          </p:txBody>
        </p:sp>
      </p:grpSp>
      <p:grpSp>
        <p:nvGrpSpPr>
          <p:cNvPr id="45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39" name="Rectangle 39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26129" y="6007536"/>
              <a:ext cx="224134" cy="192560"/>
              <a:chOff x="726129" y="6007536"/>
              <a:chExt cx="224134" cy="19256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838200" y="60779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26129" y="60075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38200" y="61556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040511" y="6011704"/>
              <a:ext cx="78807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用例第 3 步还提到了救援要求和危险原料所处场所，改进用例之后，这个类的属性还要再补。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362896" cy="909257"/>
            <a:chOff x="520446" y="342900"/>
            <a:chExt cx="336289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完整实例：报告紧急情况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检查分析模型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bullets-1"/>
          <p:cNvGrpSpPr/>
          <p:nvPr/>
        </p:nvGrpSpPr>
        <p:grpSpPr>
          <a:xfrm>
            <a:off x="526542" y="1545907"/>
            <a:ext cx="5328666" cy="1969961"/>
            <a:chOff x="526542" y="1545907"/>
            <a:chExt cx="5328666" cy="1969961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为什么必须反复检查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541972" y="191928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97992" y="1863090"/>
              <a:ext cx="5157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分析模型用渐进循环方式构建，第一次构建时很少是正确的，甚至是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不完整的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41972" y="248507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97992" y="2428875"/>
              <a:ext cx="5157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在模型能被用来进行后面的设计和实现之前，与客户和用户之间的多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次循环是必要的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41972" y="3050857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97992" y="2994660"/>
              <a:ext cx="5157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一旦模型变得稳定，先由开发人员检查，然后是开发方与客户的联合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</a:t>
              </a:r>
            </a:p>
          </p:txBody>
        </p:sp>
      </p:grpSp>
      <p:grpSp>
        <p:nvGrpSpPr>
          <p:cNvPr id="20" name="c1-callout-2"/>
          <p:cNvGrpSpPr/>
          <p:nvPr/>
        </p:nvGrpSpPr>
        <p:grpSpPr>
          <a:xfrm>
            <a:off x="533400" y="3632835"/>
            <a:ext cx="5626418" cy="729615"/>
            <a:chOff x="533400" y="3632835"/>
            <a:chExt cx="5626418" cy="729615"/>
          </a:xfrm>
        </p:grpSpPr>
        <p:sp>
          <p:nvSpPr>
            <p:cNvPr id="15" name="Rectangle 15"/>
            <p:cNvSpPr/>
            <p:nvPr/>
          </p:nvSpPr>
          <p:spPr>
            <a:xfrm>
              <a:off x="533400" y="3632835"/>
              <a:ext cx="5626418" cy="729615"/>
            </a:xfrm>
            <a:prstGeom prst="roundRect">
              <a:avLst>
                <a:gd name="adj" fmla="val 15666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738188" y="3897632"/>
              <a:ext cx="200023" cy="200023"/>
              <a:chOff x="738188" y="3897632"/>
              <a:chExt cx="200023" cy="200023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389763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71538" y="396430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040892" y="3778568"/>
              <a:ext cx="44714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本章的例子就是现成的证据：画到第二张顺序图才发现漏了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「确认」，连用例都得回去改。</a:t>
              </a:r>
            </a:p>
          </p:txBody>
        </p:sp>
      </p:grpSp>
      <p:grpSp>
        <p:nvGrpSpPr>
          <p:cNvPr id="27" name="c1-card-3"/>
          <p:cNvGrpSpPr/>
          <p:nvPr/>
        </p:nvGrpSpPr>
        <p:grpSpPr>
          <a:xfrm>
            <a:off x="533400" y="4531995"/>
            <a:ext cx="5626418" cy="1743075"/>
            <a:chOff x="533400" y="4531995"/>
            <a:chExt cx="5626418" cy="1743075"/>
          </a:xfrm>
        </p:grpSpPr>
        <p:sp>
          <p:nvSpPr>
            <p:cNvPr id="21" name="Rectangle 21"/>
            <p:cNvSpPr/>
            <p:nvPr/>
          </p:nvSpPr>
          <p:spPr>
            <a:xfrm>
              <a:off x="533400" y="4531995"/>
              <a:ext cx="5626418" cy="1743075"/>
            </a:xfrm>
            <a:prstGeom prst="roundRect">
              <a:avLst>
                <a:gd name="adj" fmla="val 76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4665345"/>
              <a:ext cx="47625" cy="147637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58190" y="4718685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39660" y="4751546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检查分两轮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1332" y="5063490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第一轮由开发人员自己做，重点是模型内部有没有自相矛盾、有没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有画法上的硬伤。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1332" y="5620702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第二轮是开发方与客户的联合检查，重点是模型说的那件事是不是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客户真正要的。</a:t>
              </a:r>
            </a:p>
          </p:txBody>
        </p:sp>
      </p:grpSp>
      <p:grpSp>
        <p:nvGrpSpPr>
          <p:cNvPr id="42" name="c2-kv-1"/>
          <p:cNvGrpSpPr/>
          <p:nvPr/>
        </p:nvGrpSpPr>
        <p:grpSpPr>
          <a:xfrm>
            <a:off x="6457760" y="1545907"/>
            <a:ext cx="5200840" cy="1833753"/>
            <a:chOff x="6457760" y="1545907"/>
            <a:chExt cx="5200840" cy="1833753"/>
          </a:xfrm>
        </p:grpSpPr>
        <p:sp>
          <p:nvSpPr>
            <p:cNvPr id="28" name="TextBox 28"/>
            <p:cNvSpPr txBox="1"/>
            <p:nvPr/>
          </p:nvSpPr>
          <p:spPr>
            <a:xfrm>
              <a:off x="6457760" y="1545907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正确性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419784" y="1545907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说的就是客户要的那件事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64618" y="183261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57760" y="193833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完整性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419784" y="193833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功能、异常、约束都没漏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64618" y="222504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57760" y="233076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一致性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419784" y="233076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前后不打架，术语只有一种含义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464618" y="261747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457760" y="272319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可测试性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419784" y="272319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每一条都能设计出验证办法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464618" y="300990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57760" y="3115627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现实性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419784" y="3115627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用现有技术和预算做得出来</a:t>
              </a:r>
            </a:p>
          </p:txBody>
        </p:sp>
      </p:grpSp>
      <p:grpSp>
        <p:nvGrpSpPr>
          <p:cNvPr id="50" name="c2-card-2"/>
          <p:cNvGrpSpPr/>
          <p:nvPr/>
        </p:nvGrpSpPr>
        <p:grpSpPr>
          <a:xfrm>
            <a:off x="6464618" y="3496628"/>
            <a:ext cx="5193982" cy="2778442"/>
            <a:chOff x="6464618" y="3496628"/>
            <a:chExt cx="5193982" cy="2778442"/>
          </a:xfrm>
        </p:grpSpPr>
        <p:sp>
          <p:nvSpPr>
            <p:cNvPr id="43" name="Rectangle 43"/>
            <p:cNvSpPr/>
            <p:nvPr/>
          </p:nvSpPr>
          <p:spPr>
            <a:xfrm>
              <a:off x="6464618" y="3496628"/>
              <a:ext cx="5193982" cy="2778442"/>
            </a:xfrm>
            <a:prstGeom prst="roundRect">
              <a:avLst>
                <a:gd name="adj" fmla="val 479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474142" y="3629978"/>
              <a:ext cx="47625" cy="251174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689408" y="3683318"/>
              <a:ext cx="120491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759677" y="3716179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需求活动高度循环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682549" y="4028122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从功能模型走向动态模型时，既可能发现遗漏的对象，又可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能因此充实和扩充用例。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682549" y="4585335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从动态模型走向静态模型时，也可能发现需要修改用例的地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方。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82549" y="5142548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检查模型的阶段同样可能改用例，何况客户方随时可能变更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完整实例：报告紧急情况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面向对象分析阶段的活动总结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587484" cy="308039"/>
            <a:chOff x="525399" y="1550194"/>
            <a:chExt cx="9587484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58748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实线是正常推进，虚线是发现问题后退回去改用例。图里每一条回边，在本章的例子里都真实发生过。</a:t>
              </a:r>
            </a:p>
          </p:txBody>
        </p:sp>
      </p:grpSp>
      <p:grpSp>
        <p:nvGrpSpPr>
          <p:cNvPr id="75" name="c1-flow-1"/>
          <p:cNvGrpSpPr/>
          <p:nvPr/>
        </p:nvGrpSpPr>
        <p:grpSpPr>
          <a:xfrm>
            <a:off x="583882" y="2041208"/>
            <a:ext cx="10814686" cy="3948112"/>
            <a:chOff x="583882" y="2041208"/>
            <a:chExt cx="10814686" cy="3948112"/>
          </a:xfrm>
        </p:grpSpPr>
        <p:sp>
          <p:nvSpPr>
            <p:cNvPr id="9" name="Freeform 9"/>
            <p:cNvSpPr/>
            <p:nvPr/>
          </p:nvSpPr>
          <p:spPr>
            <a:xfrm>
              <a:off x="6096000" y="2479358"/>
              <a:ext cx="9525" cy="41910"/>
            </a:xfrm>
            <a:custGeom>
              <a:avLst/>
              <a:gdLst/>
              <a:ahLst/>
              <a:cxnLst/>
              <a:rect l="l" t="t" r="r" b="b"/>
              <a:pathLst>
                <a:path w="9525" h="41910">
                  <a:moveTo>
                    <a:pt x="0" y="0"/>
                  </a:moveTo>
                  <a:lnTo>
                    <a:pt x="0" y="419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6043612" y="252126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387918" y="3064192"/>
              <a:ext cx="3708082" cy="73342"/>
            </a:xfrm>
            <a:custGeom>
              <a:avLst/>
              <a:gdLst/>
              <a:ahLst/>
              <a:cxnLst/>
              <a:rect l="l" t="t" r="r" b="b"/>
              <a:pathLst>
                <a:path w="3708082" h="73342">
                  <a:moveTo>
                    <a:pt x="3708082" y="0"/>
                  </a:moveTo>
                  <a:lnTo>
                    <a:pt x="3708082" y="73342"/>
                  </a:lnTo>
                  <a:lnTo>
                    <a:pt x="0" y="73342"/>
                  </a:lnTo>
                  <a:lnTo>
                    <a:pt x="0" y="419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335530" y="31061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6096000" y="3064192"/>
              <a:ext cx="9525" cy="41910"/>
            </a:xfrm>
            <a:custGeom>
              <a:avLst/>
              <a:gdLst/>
              <a:ahLst/>
              <a:cxnLst/>
              <a:rect l="l" t="t" r="r" b="b"/>
              <a:pathLst>
                <a:path w="9525" h="41910">
                  <a:moveTo>
                    <a:pt x="0" y="0"/>
                  </a:moveTo>
                  <a:lnTo>
                    <a:pt x="0" y="419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6043612" y="31061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6096000" y="3064192"/>
              <a:ext cx="3708082" cy="73342"/>
            </a:xfrm>
            <a:custGeom>
              <a:avLst/>
              <a:gdLst/>
              <a:ahLst/>
              <a:cxnLst/>
              <a:rect l="l" t="t" r="r" b="b"/>
              <a:pathLst>
                <a:path w="3708082" h="73342">
                  <a:moveTo>
                    <a:pt x="0" y="0"/>
                  </a:moveTo>
                  <a:lnTo>
                    <a:pt x="0" y="73342"/>
                  </a:lnTo>
                  <a:lnTo>
                    <a:pt x="3708082" y="73342"/>
                  </a:lnTo>
                  <a:lnTo>
                    <a:pt x="3708082" y="419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9751695" y="31061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3982402" y="3429952"/>
              <a:ext cx="414338" cy="9525"/>
            </a:xfrm>
            <a:custGeom>
              <a:avLst/>
              <a:gdLst/>
              <a:ahLst/>
              <a:cxnLst/>
              <a:rect l="l" t="t" r="r" b="b"/>
              <a:pathLst>
                <a:path w="414338" h="9525">
                  <a:moveTo>
                    <a:pt x="0" y="0"/>
                  </a:moveTo>
                  <a:lnTo>
                    <a:pt x="41433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396740" y="337756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7690485" y="3429952"/>
              <a:ext cx="414338" cy="9525"/>
            </a:xfrm>
            <a:custGeom>
              <a:avLst/>
              <a:gdLst/>
              <a:ahLst/>
              <a:cxnLst/>
              <a:rect l="l" t="t" r="r" b="b"/>
              <a:pathLst>
                <a:path w="414338" h="9525">
                  <a:moveTo>
                    <a:pt x="0" y="0"/>
                  </a:moveTo>
                  <a:lnTo>
                    <a:pt x="41433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8104822" y="337756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2387918" y="3649028"/>
              <a:ext cx="3708082" cy="73342"/>
            </a:xfrm>
            <a:custGeom>
              <a:avLst/>
              <a:gdLst/>
              <a:ahLst/>
              <a:cxnLst/>
              <a:rect l="l" t="t" r="r" b="b"/>
              <a:pathLst>
                <a:path w="3708082" h="73342">
                  <a:moveTo>
                    <a:pt x="0" y="0"/>
                  </a:moveTo>
                  <a:lnTo>
                    <a:pt x="0" y="73342"/>
                  </a:lnTo>
                  <a:lnTo>
                    <a:pt x="3708082" y="73342"/>
                  </a:lnTo>
                  <a:lnTo>
                    <a:pt x="3708082" y="42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6043612" y="369189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6096000" y="3649028"/>
              <a:ext cx="9525" cy="42862"/>
            </a:xfrm>
            <a:custGeom>
              <a:avLst/>
              <a:gdLst/>
              <a:ahLst/>
              <a:cxnLst/>
              <a:rect l="l" t="t" r="r" b="b"/>
              <a:pathLst>
                <a:path w="9525" h="42862">
                  <a:moveTo>
                    <a:pt x="0" y="0"/>
                  </a:moveTo>
                  <a:lnTo>
                    <a:pt x="0" y="42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6043612" y="369189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6096000" y="3649028"/>
              <a:ext cx="3708082" cy="73342"/>
            </a:xfrm>
            <a:custGeom>
              <a:avLst/>
              <a:gdLst/>
              <a:ahLst/>
              <a:cxnLst/>
              <a:rect l="l" t="t" r="r" b="b"/>
              <a:pathLst>
                <a:path w="3708082" h="73342">
                  <a:moveTo>
                    <a:pt x="3708082" y="0"/>
                  </a:moveTo>
                  <a:lnTo>
                    <a:pt x="3708082" y="73342"/>
                  </a:lnTo>
                  <a:lnTo>
                    <a:pt x="0" y="73342"/>
                  </a:lnTo>
                  <a:lnTo>
                    <a:pt x="0" y="42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6043612" y="369189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2387918" y="4234815"/>
              <a:ext cx="3708082" cy="73342"/>
            </a:xfrm>
            <a:custGeom>
              <a:avLst/>
              <a:gdLst/>
              <a:ahLst/>
              <a:cxnLst/>
              <a:rect l="l" t="t" r="r" b="b"/>
              <a:pathLst>
                <a:path w="3708082" h="73342">
                  <a:moveTo>
                    <a:pt x="3708082" y="0"/>
                  </a:moveTo>
                  <a:lnTo>
                    <a:pt x="3708082" y="73342"/>
                  </a:lnTo>
                  <a:lnTo>
                    <a:pt x="0" y="73342"/>
                  </a:lnTo>
                  <a:lnTo>
                    <a:pt x="0" y="419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2335530" y="427672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6096000" y="4234815"/>
              <a:ext cx="9525" cy="41910"/>
            </a:xfrm>
            <a:custGeom>
              <a:avLst/>
              <a:gdLst/>
              <a:ahLst/>
              <a:cxnLst/>
              <a:rect l="l" t="t" r="r" b="b"/>
              <a:pathLst>
                <a:path w="9525" h="41910">
                  <a:moveTo>
                    <a:pt x="0" y="0"/>
                  </a:moveTo>
                  <a:lnTo>
                    <a:pt x="0" y="419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6043612" y="427672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6096000" y="4234815"/>
              <a:ext cx="3708082" cy="73342"/>
            </a:xfrm>
            <a:custGeom>
              <a:avLst/>
              <a:gdLst/>
              <a:ahLst/>
              <a:cxnLst/>
              <a:rect l="l" t="t" r="r" b="b"/>
              <a:pathLst>
                <a:path w="3708082" h="73342">
                  <a:moveTo>
                    <a:pt x="0" y="0"/>
                  </a:moveTo>
                  <a:lnTo>
                    <a:pt x="0" y="73342"/>
                  </a:lnTo>
                  <a:lnTo>
                    <a:pt x="3708082" y="73342"/>
                  </a:lnTo>
                  <a:lnTo>
                    <a:pt x="3708082" y="419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9751695" y="427672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3982402" y="4600575"/>
              <a:ext cx="414338" cy="9525"/>
            </a:xfrm>
            <a:custGeom>
              <a:avLst/>
              <a:gdLst/>
              <a:ahLst/>
              <a:cxnLst/>
              <a:rect l="l" t="t" r="r" b="b"/>
              <a:pathLst>
                <a:path w="414338" h="9525">
                  <a:moveTo>
                    <a:pt x="0" y="0"/>
                  </a:moveTo>
                  <a:lnTo>
                    <a:pt x="41433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4396740" y="45481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7795260" y="4600575"/>
              <a:ext cx="414338" cy="9525"/>
            </a:xfrm>
            <a:custGeom>
              <a:avLst/>
              <a:gdLst/>
              <a:ahLst/>
              <a:cxnLst/>
              <a:rect l="l" t="t" r="r" b="b"/>
              <a:pathLst>
                <a:path w="414338" h="9525">
                  <a:moveTo>
                    <a:pt x="414338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7690485" y="45481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2387918" y="4819650"/>
              <a:ext cx="3708082" cy="73343"/>
            </a:xfrm>
            <a:custGeom>
              <a:avLst/>
              <a:gdLst/>
              <a:ahLst/>
              <a:cxnLst/>
              <a:rect l="l" t="t" r="r" b="b"/>
              <a:pathLst>
                <a:path w="3708082" h="73343">
                  <a:moveTo>
                    <a:pt x="0" y="0"/>
                  </a:moveTo>
                  <a:lnTo>
                    <a:pt x="0" y="73343"/>
                  </a:lnTo>
                  <a:lnTo>
                    <a:pt x="3708082" y="73343"/>
                  </a:lnTo>
                  <a:lnTo>
                    <a:pt x="3708082" y="419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6043612" y="486156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6096000" y="4819650"/>
              <a:ext cx="9525" cy="41910"/>
            </a:xfrm>
            <a:custGeom>
              <a:avLst/>
              <a:gdLst/>
              <a:ahLst/>
              <a:cxnLst/>
              <a:rect l="l" t="t" r="r" b="b"/>
              <a:pathLst>
                <a:path w="9525" h="41910">
                  <a:moveTo>
                    <a:pt x="0" y="0"/>
                  </a:moveTo>
                  <a:lnTo>
                    <a:pt x="0" y="419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6043612" y="486156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6096000" y="4819650"/>
              <a:ext cx="3708082" cy="73343"/>
            </a:xfrm>
            <a:custGeom>
              <a:avLst/>
              <a:gdLst/>
              <a:ahLst/>
              <a:cxnLst/>
              <a:rect l="l" t="t" r="r" b="b"/>
              <a:pathLst>
                <a:path w="3708082" h="73343">
                  <a:moveTo>
                    <a:pt x="3708082" y="0"/>
                  </a:moveTo>
                  <a:lnTo>
                    <a:pt x="3708082" y="73343"/>
                  </a:lnTo>
                  <a:lnTo>
                    <a:pt x="0" y="73343"/>
                  </a:lnTo>
                  <a:lnTo>
                    <a:pt x="0" y="419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6043612" y="486156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6096000" y="5404485"/>
              <a:ext cx="9525" cy="41910"/>
            </a:xfrm>
            <a:custGeom>
              <a:avLst/>
              <a:gdLst/>
              <a:ahLst/>
              <a:cxnLst/>
              <a:rect l="l" t="t" r="r" b="b"/>
              <a:pathLst>
                <a:path w="9525" h="41910">
                  <a:moveTo>
                    <a:pt x="0" y="0"/>
                  </a:moveTo>
                  <a:lnTo>
                    <a:pt x="0" y="419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6043612" y="54463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583882" y="2260282"/>
              <a:ext cx="3812858" cy="2340292"/>
            </a:xfrm>
            <a:custGeom>
              <a:avLst/>
              <a:gdLst/>
              <a:ahLst/>
              <a:cxnLst/>
              <a:rect l="l" t="t" r="r" b="b"/>
              <a:pathLst>
                <a:path w="3812858" h="2340292">
                  <a:moveTo>
                    <a:pt x="209550" y="2340292"/>
                  </a:moveTo>
                  <a:lnTo>
                    <a:pt x="0" y="2340292"/>
                  </a:lnTo>
                  <a:lnTo>
                    <a:pt x="282892" y="2340292"/>
                  </a:lnTo>
                  <a:lnTo>
                    <a:pt x="282892" y="1755458"/>
                  </a:lnTo>
                  <a:lnTo>
                    <a:pt x="282892" y="0"/>
                  </a:lnTo>
                  <a:lnTo>
                    <a:pt x="3708082" y="0"/>
                  </a:lnTo>
                  <a:lnTo>
                    <a:pt x="381285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  <a:custDash>
                <a:ds d="375000" sp="250000"/>
              </a:custDash>
            </a:ln>
          </p:spPr>
        </p:sp>
        <p:sp>
          <p:nvSpPr>
            <p:cNvPr id="46" name="Freeform 46"/>
            <p:cNvSpPr/>
            <p:nvPr/>
          </p:nvSpPr>
          <p:spPr>
            <a:xfrm>
              <a:off x="4396740" y="22078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7690485" y="2260282"/>
              <a:ext cx="3634740" cy="3509962"/>
            </a:xfrm>
            <a:custGeom>
              <a:avLst/>
              <a:gdLst/>
              <a:ahLst/>
              <a:cxnLst/>
              <a:rect l="l" t="t" r="r" b="b"/>
              <a:pathLst>
                <a:path w="3634740" h="3509962">
                  <a:moveTo>
                    <a:pt x="0" y="3509962"/>
                  </a:moveTo>
                  <a:lnTo>
                    <a:pt x="209550" y="3509962"/>
                  </a:lnTo>
                  <a:lnTo>
                    <a:pt x="3634740" y="3509962"/>
                  </a:lnTo>
                  <a:lnTo>
                    <a:pt x="3634740" y="1755458"/>
                  </a:lnTo>
                  <a:lnTo>
                    <a:pt x="3634740" y="0"/>
                  </a:lnTo>
                  <a:lnTo>
                    <a:pt x="209550" y="0"/>
                  </a:lnTo>
                  <a:lnTo>
                    <a:pt x="10477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  <a:custDash>
                <a:ds d="375000" sp="250000"/>
              </a:custDash>
            </a:ln>
          </p:spPr>
        </p:sp>
        <p:sp>
          <p:nvSpPr>
            <p:cNvPr id="48" name="Freeform 48"/>
            <p:cNvSpPr/>
            <p:nvPr/>
          </p:nvSpPr>
          <p:spPr>
            <a:xfrm>
              <a:off x="7690485" y="22078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4501515" y="2041208"/>
              <a:ext cx="3188970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4501515" y="2626042"/>
              <a:ext cx="318897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793432" y="3210878"/>
              <a:ext cx="318897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4501515" y="3210878"/>
              <a:ext cx="318897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8209598" y="3210878"/>
              <a:ext cx="318897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4501515" y="3796665"/>
              <a:ext cx="3188970" cy="438150"/>
            </a:xfrm>
            <a:prstGeom prst="roundRect">
              <a:avLst>
                <a:gd name="adj" fmla="val 21739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93432" y="4381500"/>
              <a:ext cx="318897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4501515" y="4381500"/>
              <a:ext cx="318897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8209598" y="4381500"/>
              <a:ext cx="318897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4501515" y="4966335"/>
              <a:ext cx="318897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4501515" y="5551170"/>
              <a:ext cx="3188970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744896" y="217122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定义用例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5572582" y="275605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定义参与对象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864500" y="334089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定义实体对象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5572582" y="334089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定义边界对象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280665" y="334089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定义控制对象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5744896" y="392668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定义交互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817113" y="4511516"/>
              <a:ext cx="11416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定义职责/行为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572582" y="451151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定义关联关系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452978" y="451151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定义属性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5744896" y="509635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固定模型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5744896" y="568118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检查模型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2131695" y="2044065"/>
              <a:ext cx="8953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2149983" y="2070735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发现遗漏对象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9164955" y="5554028"/>
              <a:ext cx="8953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9183243" y="558069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需要修改用例</a:t>
              </a:r>
            </a:p>
          </p:txBody>
        </p:sp>
      </p:grpSp>
      <p:grpSp>
        <p:nvGrpSpPr>
          <p:cNvPr id="7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6" name="TextBox 76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499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8926" y="407194"/>
              <a:ext cx="3279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 · 完整实例：报告紧急情况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什么时候可以离开分析，进入系统设计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626418" cy="1858328"/>
            <a:chOff x="533400" y="1524000"/>
            <a:chExt cx="5626418" cy="185832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858328"/>
            </a:xfrm>
            <a:prstGeom prst="roundRect">
              <a:avLst>
                <a:gd name="adj" fmla="val 7176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4959" y="17564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判断标准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81531" y="1756886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模型进入稳定期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100739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一旦模型到达大多数修改都是修饰性的程度，就应该考虑进行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系统设计了。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24281" y="2690336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若没有更多的信息使你能发现模型存在问题或需要改动，就可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以往下走。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562350"/>
            <a:ext cx="5626418" cy="1297305"/>
            <a:chOff x="533400" y="3562350"/>
            <a:chExt cx="5626418" cy="1297305"/>
          </a:xfrm>
        </p:grpSpPr>
        <p:sp>
          <p:nvSpPr>
            <p:cNvPr id="14" name="Rectangle 14"/>
            <p:cNvSpPr/>
            <p:nvPr/>
          </p:nvSpPr>
          <p:spPr>
            <a:xfrm>
              <a:off x="533400" y="3562350"/>
              <a:ext cx="5626418" cy="1297305"/>
            </a:xfrm>
            <a:prstGeom prst="roundRect">
              <a:avLst>
                <a:gd name="adj" fmla="val 1027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695700"/>
              <a:ext cx="47625" cy="103060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9620" y="376047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53059" y="379476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度的把握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381" y="4120991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让每个细节都正确，代价会很高。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2381" y="4439126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经过下一次变更，其中的一些细节会变得无关紧要。</a:t>
              </a:r>
            </a:p>
          </p:txBody>
        </p:sp>
      </p:grpSp>
      <p:grpSp>
        <p:nvGrpSpPr>
          <p:cNvPr id="27" name="c1-callout-3"/>
          <p:cNvGrpSpPr/>
          <p:nvPr/>
        </p:nvGrpSpPr>
        <p:grpSpPr>
          <a:xfrm>
            <a:off x="533400" y="5039678"/>
            <a:ext cx="5626418" cy="1278255"/>
            <a:chOff x="533400" y="5039678"/>
            <a:chExt cx="5626418" cy="1278255"/>
          </a:xfrm>
        </p:grpSpPr>
        <p:sp>
          <p:nvSpPr>
            <p:cNvPr id="21" name="Rectangle 21"/>
            <p:cNvSpPr/>
            <p:nvPr/>
          </p:nvSpPr>
          <p:spPr>
            <a:xfrm>
              <a:off x="533400" y="5039678"/>
              <a:ext cx="5626418" cy="1278255"/>
            </a:xfrm>
            <a:prstGeom prst="roundRect">
              <a:avLst>
                <a:gd name="adj" fmla="val 894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38188" y="5578793"/>
              <a:ext cx="200026" cy="200025"/>
              <a:chOff x="738188" y="5578793"/>
              <a:chExt cx="200026" cy="200025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8188" y="557879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777926" y="562324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12642" y="573436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0511" y="5448776"/>
              <a:ext cx="470331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判断依据是修改的性质，不是修改的次数：还在增删对象就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继续分析，只在改名字改描述就可以往下走。</a:t>
              </a:r>
            </a:p>
          </p:txBody>
        </p:sp>
      </p:grpSp>
      <p:grpSp>
        <p:nvGrpSpPr>
          <p:cNvPr id="30" name="c2-image-1"/>
          <p:cNvGrpSpPr/>
          <p:nvPr/>
        </p:nvGrpSpPr>
        <p:grpSpPr>
          <a:xfrm>
            <a:off x="6464618" y="1524000"/>
            <a:ext cx="5193982" cy="3880104"/>
            <a:chOff x="6464618" y="1524000"/>
            <a:chExt cx="5193982" cy="3880104"/>
          </a:xfrm>
        </p:grpSpPr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2"/>
            <a:srcRect l="0" t="4032" r="0" b="4031"/>
            <a:stretch>
              <a:fillRect/>
            </a:stretch>
          </p:blipFill>
          <p:spPr>
            <a:xfrm>
              <a:off x="6464618" y="1524000"/>
              <a:ext cx="5193982" cy="3581400"/>
            </a:xfrm>
            <a:prstGeom prst="roundRect">
              <a:avLst>
                <a:gd name="adj" fmla="val 3723"/>
              </a:avLst>
            </a:prstGeom>
          </p:spPr>
        </p:pic>
        <p:sp>
          <p:nvSpPr>
            <p:cNvPr id="29" name="TextBox 29"/>
            <p:cNvSpPr txBox="1"/>
            <p:nvPr/>
          </p:nvSpPr>
          <p:spPr>
            <a:xfrm>
              <a:off x="7431215" y="5198745"/>
              <a:ext cx="326174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分析模型像逐轮修整的泥塑，越往后每一轮改动越小</a:t>
              </a:r>
            </a:p>
          </p:txBody>
        </p:sp>
      </p:grpSp>
      <p:grpSp>
        <p:nvGrpSpPr>
          <p:cNvPr id="37" name="c2-callout-2"/>
          <p:cNvGrpSpPr/>
          <p:nvPr/>
        </p:nvGrpSpPr>
        <p:grpSpPr>
          <a:xfrm>
            <a:off x="6464618" y="5562600"/>
            <a:ext cx="5193982" cy="756285"/>
            <a:chOff x="6464618" y="5562600"/>
            <a:chExt cx="5193982" cy="756285"/>
          </a:xfrm>
        </p:grpSpPr>
        <p:sp>
          <p:nvSpPr>
            <p:cNvPr id="31" name="Rectangle 31"/>
            <p:cNvSpPr/>
            <p:nvPr/>
          </p:nvSpPr>
          <p:spPr>
            <a:xfrm>
              <a:off x="6464618" y="5562600"/>
              <a:ext cx="5193982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6669405" y="5840730"/>
              <a:ext cx="200026" cy="200026"/>
              <a:chOff x="6669405" y="5840730"/>
              <a:chExt cx="200026" cy="200026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6669405" y="584073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6769418" y="590740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6758305" y="594074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6971729" y="5709761"/>
              <a:ext cx="416229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转入设计不等于分析结束，客户随时可能再提变更，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模型还会回来改。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4489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7287" y="407194"/>
              <a:ext cx="8361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自测题（上）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3044190" cy="293370"/>
            <a:chOff x="525780" y="1548765"/>
            <a:chExt cx="304419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先自己写出答案，再看下面一行。</a:t>
              </a:r>
            </a:p>
          </p:txBody>
        </p:sp>
      </p:grpSp>
      <p:grpSp>
        <p:nvGrpSpPr>
          <p:cNvPr id="14" name="c1-card-1"/>
          <p:cNvGrpSpPr/>
          <p:nvPr/>
        </p:nvGrpSpPr>
        <p:grpSpPr>
          <a:xfrm>
            <a:off x="533400" y="1954530"/>
            <a:ext cx="5410200" cy="1840230"/>
            <a:chOff x="533400" y="1954530"/>
            <a:chExt cx="5410200" cy="1840230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410200" cy="1840230"/>
            </a:xfrm>
            <a:prstGeom prst="roundRect">
              <a:avLst>
                <a:gd name="adj" fmla="val 724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31520" y="215265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20468" y="218694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24281" y="2513171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包含关系和扩展关系的箭头，分别从哪个用例指向哪个用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24281" y="3102769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包含是基本用例指向被包含用例；扩展是扩展用例指向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基本用例。方向相反。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974782"/>
            <a:ext cx="5410200" cy="1568768"/>
            <a:chOff x="533400" y="3974782"/>
            <a:chExt cx="5410200" cy="1568768"/>
          </a:xfrm>
        </p:grpSpPr>
        <p:sp>
          <p:nvSpPr>
            <p:cNvPr id="15" name="Rectangle 15"/>
            <p:cNvSpPr/>
            <p:nvPr/>
          </p:nvSpPr>
          <p:spPr>
            <a:xfrm>
              <a:off x="533400" y="3974782"/>
              <a:ext cx="5410200" cy="1568768"/>
            </a:xfrm>
            <a:prstGeom prst="roundRect">
              <a:avLst>
                <a:gd name="adj" fmla="val 85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31520" y="4172902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20468" y="4207192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4281" y="4533424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实体对象可以调用控制对象或边界对象吗？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24281" y="4851559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不可以。实体对象只被访问，从不主动访问它们，否则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就被某个用例绑死，无法跨用例复用。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6248400" y="1954530"/>
            <a:ext cx="5410200" cy="1568768"/>
            <a:chOff x="6248400" y="1954530"/>
            <a:chExt cx="5410200" cy="1568768"/>
          </a:xfrm>
        </p:grpSpPr>
        <p:sp>
          <p:nvSpPr>
            <p:cNvPr id="21" name="Rectangle 21"/>
            <p:cNvSpPr/>
            <p:nvPr/>
          </p:nvSpPr>
          <p:spPr>
            <a:xfrm>
              <a:off x="6248400" y="1954530"/>
              <a:ext cx="5410200" cy="1568768"/>
            </a:xfrm>
            <a:prstGeom prst="roundRect">
              <a:avLst>
                <a:gd name="adj" fmla="val 85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46520" y="215265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35468" y="218694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39281" y="2513171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顺序图的前三列按试探画法分别放什么？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39281" y="2831306"/>
              <a:ext cx="471233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第一列是用例的主动 Actor，第二列是它对应的边界对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象，第三列是管理用例剩余部分的控制对象。</a:t>
              </a:r>
            </a:p>
          </p:txBody>
        </p:sp>
      </p:grpSp>
      <p:grpSp>
        <p:nvGrpSpPr>
          <p:cNvPr id="32" name="c2-card-2"/>
          <p:cNvGrpSpPr/>
          <p:nvPr/>
        </p:nvGrpSpPr>
        <p:grpSpPr>
          <a:xfrm>
            <a:off x="6248400" y="3703320"/>
            <a:ext cx="5410200" cy="1840230"/>
            <a:chOff x="6248400" y="3703320"/>
            <a:chExt cx="5410200" cy="1840230"/>
          </a:xfrm>
        </p:grpSpPr>
        <p:sp>
          <p:nvSpPr>
            <p:cNvPr id="27" name="Rectangle 27"/>
            <p:cNvSpPr/>
            <p:nvPr/>
          </p:nvSpPr>
          <p:spPr>
            <a:xfrm>
              <a:off x="6248400" y="3703320"/>
              <a:ext cx="5410200" cy="1840230"/>
            </a:xfrm>
            <a:prstGeom prst="roundRect">
              <a:avLst>
                <a:gd name="adj" fmla="val 724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46520" y="390144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35468" y="393573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39281" y="4261961"/>
              <a:ext cx="46023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一个用例通常对应几个控制类？什么时候会多于一个？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39281" y="4580096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通常一个。用例复杂且能分解成更短的事件流时，或要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给用例中的每个 Actor 各设一个时，会多于一个。</a:t>
              </a:r>
            </a:p>
          </p:txBody>
        </p:sp>
      </p:grpSp>
      <p:grpSp>
        <p:nvGrpSpPr>
          <p:cNvPr id="39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33" name="Rectangle 33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38188" y="6011228"/>
              <a:ext cx="200026" cy="200025"/>
              <a:chOff x="738188" y="6011228"/>
              <a:chExt cx="200026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738188" y="60112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777926" y="60556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12642" y="61668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511" y="6011704"/>
              <a:ext cx="632277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前两题考画法规则，后两题考三类分析对象的判定，都是本章的高频考点。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4489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7287" y="407194"/>
              <a:ext cx="8361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自测题（下）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937385"/>
            <a:chOff x="533400" y="1524000"/>
            <a:chExt cx="5410200" cy="19373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在「报告紧急情况」里，事件表单为什么是边界对象而不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是实体对象？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73177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它只负责把信息呈现给调度员并收回答复，不保存需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要系统长期跟踪的信息，用完即销毁。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651885"/>
            <a:ext cx="5410200" cy="1937385"/>
            <a:chOff x="533400" y="3651885"/>
            <a:chExt cx="5410200" cy="1937385"/>
          </a:xfrm>
        </p:grpSpPr>
        <p:sp>
          <p:nvSpPr>
            <p:cNvPr id="13" name="Rectangle 13"/>
            <p:cNvSpPr/>
            <p:nvPr/>
          </p:nvSpPr>
          <p:spPr>
            <a:xfrm>
              <a:off x="533400" y="365188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38614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0437" y="38971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330" y="4238625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一个信息什么时候做成独立实体类，什么时候做成属性？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330" y="4573905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有较复杂的自身行为、或有独立标识可被多类对象共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享传递时做成实体类；只有简单取赋值、不需独立标识、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只供一类对象使用时做成属性。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1937385"/>
            <a:chOff x="6248400" y="1524000"/>
            <a:chExt cx="5410200" cy="1937385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57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45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50330" y="2110740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实体对象「确认」是怎么被发现的？发现之后做了什么？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50330" y="2446020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画调度站那张顺序图时发现的。开发人员回头向客户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问清确认里该有什么信息，再把它加入分析模型，并补全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用例第 4 步。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651885"/>
            <a:ext cx="5410200" cy="1937385"/>
            <a:chOff x="6248400" y="3651885"/>
            <a:chExt cx="5410200" cy="1937385"/>
          </a:xfrm>
        </p:grpSpPr>
        <p:sp>
          <p:nvSpPr>
            <p:cNvPr id="25" name="Rectangle 25"/>
            <p:cNvSpPr/>
            <p:nvPr/>
          </p:nvSpPr>
          <p:spPr>
            <a:xfrm>
              <a:off x="6248400" y="365188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57950" y="38614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45437" y="38971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0330" y="423862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泛化和继承的区别是什么？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0330" y="4573905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泛化是概念上从特殊到一般的归纳，继承是复用属性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和行为的机制。两个类没有归纳关系也可以继承，分析阶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段只谈泛化。</a:t>
              </a:r>
            </a:p>
          </p:txBody>
        </p:sp>
      </p:grpSp>
      <p:grpSp>
        <p:nvGrpSpPr>
          <p:cNvPr id="36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1" name="Rectangle 3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040130" y="5991225"/>
              <a:ext cx="52654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第二题的答案本身就是分析模型必须循环迭代的直接证据。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626489" cy="909257"/>
            <a:chOff x="520446" y="342900"/>
            <a:chExt cx="162648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61353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0536" y="407194"/>
              <a:ext cx="14392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第10章 面向对象分析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5" name="c1-bullets-1"/>
          <p:cNvGrpSpPr/>
          <p:nvPr/>
        </p:nvGrpSpPr>
        <p:grpSpPr>
          <a:xfrm>
            <a:off x="533400" y="1535430"/>
            <a:ext cx="5078730" cy="3745230"/>
            <a:chOff x="533400" y="1535430"/>
            <a:chExt cx="5078730" cy="3745230"/>
          </a:xfrm>
        </p:grpSpPr>
        <p:sp>
          <p:nvSpPr>
            <p:cNvPr id="7" name="Ellipse 7"/>
            <p:cNvSpPr/>
            <p:nvPr/>
          </p:nvSpPr>
          <p:spPr>
            <a:xfrm>
              <a:off x="533400" y="153543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95249" y="15777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4390" y="1548765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用例是用户与系统为达成某个目的的一次典型交互，按六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个字段写；场景是它的一个真实实例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6598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95249" y="22082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4390" y="217932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用例之间用包含、扩展、泛化降低复杂度，包含与扩展的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箭头方向相反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79654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95249" y="283883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4390" y="280987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分析模型由功能模型、对象模型、动态模型组成，要准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确、完整、一致、可检验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42709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95249" y="34693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4390" y="344043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分析类分实体、边界、控制三种，分别隔离数据、界面和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用例逻辑三类变化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405765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95249" y="409994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4390" y="4070985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顺序图把用例的行为摊到各对象上，消息变职责，消息路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径变关联关系，汇成 VOPC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3400" y="468820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95249" y="473049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4390" y="470154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分析模型渐进循环地长出来，修改只剩修饰性内容时才转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入系统设计</a:t>
              </a:r>
            </a:p>
          </p:txBody>
        </p:sp>
      </p:grpSp>
      <p:grpSp>
        <p:nvGrpSpPr>
          <p:cNvPr id="31" name="c2-card-1"/>
          <p:cNvGrpSpPr/>
          <p:nvPr/>
        </p:nvGrpSpPr>
        <p:grpSpPr>
          <a:xfrm>
            <a:off x="6248400" y="1524000"/>
            <a:ext cx="5410200" cy="1651635"/>
            <a:chOff x="6248400" y="1524000"/>
            <a:chExt cx="5410200" cy="1651635"/>
          </a:xfrm>
        </p:grpSpPr>
        <p:sp>
          <p:nvSpPr>
            <p:cNvPr id="26" name="Rectangle 26"/>
            <p:cNvSpPr/>
            <p:nvPr/>
          </p:nvSpPr>
          <p:spPr>
            <a:xfrm>
              <a:off x="6248400" y="1524000"/>
              <a:ext cx="5410200" cy="1651635"/>
            </a:xfrm>
            <a:prstGeom prst="roundRect">
              <a:avLst>
                <a:gd name="adj" fmla="val 8074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45795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4025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一条主线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0330" y="2110740"/>
              <a:ext cx="45110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用例 → 参与对象 → 三类分析对象 → 顺序图 → 职责与关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联 → VOPC → 属性 → 检查。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50330" y="273177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每往前一步，都可能把前面某一步推翻重做。</a:t>
              </a:r>
            </a:p>
          </p:txBody>
        </p:sp>
      </p:grpSp>
      <p:grpSp>
        <p:nvGrpSpPr>
          <p:cNvPr id="37" name="c2-card-2"/>
          <p:cNvGrpSpPr/>
          <p:nvPr/>
        </p:nvGrpSpPr>
        <p:grpSpPr>
          <a:xfrm>
            <a:off x="6248400" y="3366135"/>
            <a:ext cx="5410200" cy="1855470"/>
            <a:chOff x="6248400" y="3366135"/>
            <a:chExt cx="5410200" cy="1855470"/>
          </a:xfrm>
        </p:grpSpPr>
        <p:sp>
          <p:nvSpPr>
            <p:cNvPr id="32" name="Rectangle 32"/>
            <p:cNvSpPr/>
            <p:nvPr/>
          </p:nvSpPr>
          <p:spPr>
            <a:xfrm>
              <a:off x="6248400" y="3366135"/>
              <a:ext cx="5410200" cy="1855470"/>
            </a:xfrm>
            <a:prstGeom prst="roundRect">
              <a:avLst>
                <a:gd name="adj" fmla="val 718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257925" y="3499485"/>
              <a:ext cx="47625" cy="158877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496050" y="357568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78359" y="361140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关于章号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88430" y="3952875"/>
              <a:ext cx="46634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更正：原课件首页写「第十章 面向对象分析」，而第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 页标题和全部页脚写作「第十一章」。本讲义按首页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统一为第 10 章。</a:t>
              </a:r>
            </a:p>
          </p:txBody>
        </p:sp>
      </p:grpSp>
      <p:grpSp>
        <p:nvGrpSpPr>
          <p:cNvPr id="44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8" name="Rectangle 38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1040130" y="5991225"/>
              <a:ext cx="64971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复习时拿"报告紧急情况"这一个例子从头走一遍，比背各节的定义有效。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第10章 面向对象分析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e_ch10">
  <a:themeElements>
    <a:clrScheme name="se_ch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e_ch10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e_ch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2026-09-19T04:06:29Z</dcterms:created>
  <dcterms:modified xsi:type="dcterms:W3CDTF">2026-09-19T04:06:29Z</dcterms:modified>
  <cp:category/>
  <cp:contentStatus/>
</cp:coreProperties>
</file>