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9daa2c456ed15d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b1b90460fd714f8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4cf9b18da44ef3a.png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第十章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面向对象分析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从用例和场景，走到可以交给设计的分析模型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用例与场景怎么写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包含扩展泛化三种关系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边界控制实体三类分析类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986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顺序图与参与类图 VOPC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自学复习版｜据吉林大学《软件工程》第十章课件整理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1353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536" y="407194"/>
              <a:ext cx="1439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用例与场景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283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用例的定义、Actor、六个描述字段，场景与用例的分工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用例间的关系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215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包含、扩展、泛化的画法，以及怎么问出 Actor 和用例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从需求提取到分析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七步提取活动、参与对象、三类分析类的划分与标识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转述用例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用顺序图把用例的行为分配到各分析对象上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整理分析类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33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职责、关联关系、属性，汇成参与类图 VOPC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9680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事故管理系统"报告紧急情况"从用例一路做到 VOPC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能按六个字段写出一份用例描述，并说清场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景和用例的区别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能判断两个用例之间该用包含还是扩展，并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画出对应的箭头方向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能把一个用例拆成实体、边界、控制三类分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析对象，并说明各自的判定依据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能由用例的事件流画出顺序图，再由顺序图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读出每个类的职责和关联关系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能解释为什么分析模型要反复循环，以及什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么时候可以转入系统设计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269219" cy="2643187"/>
            <a:chOff x="667512" y="1835468"/>
            <a:chExt cx="4269219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用例与场景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59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把"用户想干什么"写成可以逐条检查的文字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用例是一次完整的典型交互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场景是用例的一个真实实例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用例：用户与系统之间为达成某个目的的一次典型交互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63666" cy="293370"/>
            <a:chOff x="525780" y="1548765"/>
            <a:chExt cx="1066366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63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早期做需求靠「分析典型用例」，各人写得深浅不一。Jacobson 把它固定成一套写法，面向对象技术由此进入第二代。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54530"/>
            <a:ext cx="5842635" cy="2253615"/>
            <a:chOff x="533400" y="1954530"/>
            <a:chExt cx="5842635" cy="22536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253615"/>
            </a:xfrm>
            <a:prstGeom prst="roundRect">
              <a:avLst>
                <a:gd name="adj" fmla="val 5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869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1625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用例（Use Case）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本质上，一个用例是用户与计算机之间为达到某个目的的一次典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型交互作用。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314182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作为结果，一个用例代表系统的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一个完整功能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5213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461861"/>
              <a:ext cx="2000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用例总是由 Actor 启动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8414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781901"/>
              <a:ext cx="28980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与用例之间是多对多的关系</a:t>
              </a:r>
            </a:p>
          </p:txBody>
        </p:sp>
      </p:grpSp>
      <p:grpSp>
        <p:nvGrpSpPr>
          <p:cNvPr id="29" name="c1-kv-2"/>
          <p:cNvGrpSpPr/>
          <p:nvPr/>
        </p:nvGrpSpPr>
        <p:grpSpPr>
          <a:xfrm>
            <a:off x="526161" y="4417219"/>
            <a:ext cx="5849874" cy="1121664"/>
            <a:chOff x="526161" y="4417219"/>
            <a:chExt cx="5849874" cy="1121664"/>
          </a:xfrm>
        </p:grpSpPr>
        <p:sp>
          <p:nvSpPr>
            <p:cNvPr id="21" name="TextBox 21"/>
            <p:cNvSpPr txBox="1"/>
            <p:nvPr/>
          </p:nvSpPr>
          <p:spPr>
            <a:xfrm>
              <a:off x="526161" y="44172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表达形式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0619" y="4417219"/>
              <a:ext cx="4271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自然语言、活动图；UML 的用例图画的是用例模型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7224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48382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系统交互功能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619" y="483822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用户在系统中为达某种目的所要做的事情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144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161" y="52601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用户目标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0619" y="526018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用户真正想达到的目标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680835" y="1954530"/>
            <a:ext cx="4977765" cy="1844040"/>
            <a:chOff x="6680835" y="1954530"/>
            <a:chExt cx="4977765" cy="1844040"/>
          </a:xfrm>
        </p:grpSpPr>
        <p:sp>
          <p:nvSpPr>
            <p:cNvPr id="30" name="Rectangle 30"/>
            <p:cNvSpPr/>
            <p:nvPr/>
          </p:nvSpPr>
          <p:spPr>
            <a:xfrm>
              <a:off x="6680835" y="1954530"/>
              <a:ext cx="4977765" cy="1844040"/>
            </a:xfrm>
            <a:prstGeom prst="roundRect">
              <a:avLst>
                <a:gd name="adj" fmla="val 723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84670" y="215836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63029" y="21940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目的与手段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12798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先写目标，再写手段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431" y="255031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用户目标是「目的」，系统交互功能是「手段」。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7431" y="287035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应先定义满足目的的用例，再定义支撑它的手段用例。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8574" y="3186112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例：目的是让调度员尽快知道火情，手段才是填一张紧急情况报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告表单</a:t>
              </a:r>
            </a:p>
          </p:txBody>
        </p:sp>
      </p:grpSp>
      <p:grpSp>
        <p:nvGrpSpPr>
          <p:cNvPr id="43" name="c2-bullets-2"/>
          <p:cNvGrpSpPr/>
          <p:nvPr/>
        </p:nvGrpSpPr>
        <p:grpSpPr>
          <a:xfrm>
            <a:off x="6673596" y="4007644"/>
            <a:ext cx="5035423" cy="946404"/>
            <a:chOff x="6673596" y="4007644"/>
            <a:chExt cx="5035423" cy="946404"/>
          </a:xfrm>
        </p:grpSpPr>
        <p:sp>
          <p:nvSpPr>
            <p:cNvPr id="38" name="TextBox 38"/>
            <p:cNvSpPr txBox="1"/>
            <p:nvPr/>
          </p:nvSpPr>
          <p:spPr>
            <a:xfrm>
              <a:off x="6673596" y="400764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不算用例的写法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80835" y="438054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15531" y="434578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「点击提交按钮」：只是一次界面动作，不构成完整功能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680835" y="471011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15531" y="467534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「管理用户」：太大，看不出一次交互从哪开始到哪结束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判断标准：这段文字能不能从一个明确的入口条件走到一个明确的出口条件。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6769" cy="909257"/>
            <a:chOff x="520446" y="342900"/>
            <a:chExt cx="73167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67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是与系统交互的角色，不是具体的某个人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291715"/>
            <a:chOff x="533400" y="1524000"/>
            <a:chExt cx="541020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06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是与系统交互的外部实体。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46507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是具有构造型 "&lt;&lt;Actor&gt;&gt;" 的类，所以谈论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时考虑的是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角色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，而不是角色的实例。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086100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用例总是由 Actor 启动，Actor 与用例之间是多对多的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006215"/>
            <a:ext cx="5410200" cy="948690"/>
            <a:chOff x="533400" y="4006215"/>
            <a:chExt cx="5410200" cy="948690"/>
          </a:xfrm>
        </p:grpSpPr>
        <p:sp>
          <p:nvSpPr>
            <p:cNvPr id="16" name="Rectangle 16"/>
            <p:cNvSpPr/>
            <p:nvPr/>
          </p:nvSpPr>
          <p:spPr>
            <a:xfrm>
              <a:off x="533400" y="4006215"/>
              <a:ext cx="5410200" cy="948690"/>
            </a:xfrm>
            <a:prstGeom prst="roundRect">
              <a:avLst>
                <a:gd name="adj" fmla="val 1204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380548"/>
              <a:ext cx="200026" cy="200025"/>
              <a:chOff x="738188" y="4380548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3805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44249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45361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23767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同一个人可以同时是「现场工作人员」和「调度员」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 Actor，系统看到的是角色。</a:t>
              </a:r>
            </a:p>
          </p:txBody>
        </p:sp>
      </p:grpSp>
      <p:grpSp>
        <p:nvGrpSpPr>
          <p:cNvPr id="30" name="c2-bullets-1"/>
          <p:cNvGrpSpPr/>
          <p:nvPr/>
        </p:nvGrpSpPr>
        <p:grpSpPr>
          <a:xfrm>
            <a:off x="6240780" y="1548765"/>
            <a:ext cx="5015865" cy="1623060"/>
            <a:chOff x="6240780" y="1548765"/>
            <a:chExt cx="5015865" cy="1623060"/>
          </a:xfrm>
        </p:grpSpPr>
        <p:sp>
          <p:nvSpPr>
            <p:cNvPr id="23" name="TextBox 23"/>
            <p:cNvSpPr txBox="1"/>
            <p:nvPr/>
          </p:nvSpPr>
          <p:spPr>
            <a:xfrm>
              <a:off x="6240780" y="1548765"/>
              <a:ext cx="27528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怎么处理 Actor 与用例的关系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54115" y="19659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0" y="1903095"/>
              <a:ext cx="2920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一般不必过分关注 Actor 的细节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54115" y="23107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0" y="2247900"/>
              <a:ext cx="4334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若要对系统做分析优化，才去了解 Actor 的细节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54115" y="2655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0" y="2592705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为每个用户提供一张 Actor 列表，写明他可以扮演哪些角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色、能执行哪些用例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303270"/>
            <a:ext cx="5410200" cy="1651635"/>
            <a:chOff x="6248400" y="3303270"/>
            <a:chExt cx="5410200" cy="1651635"/>
          </a:xfrm>
        </p:grpSpPr>
        <p:sp>
          <p:nvSpPr>
            <p:cNvPr id="31" name="Rectangle 31"/>
            <p:cNvSpPr/>
            <p:nvPr/>
          </p:nvSpPr>
          <p:spPr>
            <a:xfrm>
              <a:off x="6248400" y="330327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43662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351282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0655" y="354853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这张列表有什么用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389001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需求冲突时，可以看出是哪两个角色的诉求撞上了。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42252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制定安全策略时，角色到用例的对应关系就是权限清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610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Actor 有助于获取用例：先找出各个 Actor，再通过他们得到用例。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用例描述的六个字段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63682" cy="308039"/>
            <a:chOff x="525399" y="1550194"/>
            <a:chExt cx="108636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636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六个字段缺一不可。缺入口出口条件，用例的边界就不清楚；缺特殊需求，非功能性要求会被漏到编码阶段才发现。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424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3938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3098" y="210264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「报告紧急情况」的填法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用例名称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1446" y="255127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唯一标识这个用例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03823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101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 Actors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1446" y="3000851"/>
              <a:ext cx="2267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列出参与者并标出主动 Actor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3823" y="30008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由现场工作人员启动，与调度员交流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21446" y="34494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用例启动前需要满足的条件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3823" y="344947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现场工作人员激活她终端上的报告紧急情况功能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8981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21446" y="38981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用例的动作序列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03823" y="3898106"/>
              <a:ext cx="1787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到第 4 步，见下页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346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出口条件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1446" y="43467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用例完成后应满足的条件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03823" y="434673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现场工作人员收到答复并选择响应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7953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特殊需求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21446" y="47953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非功能性需求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05525" y="4670108"/>
              <a:ext cx="55435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03823" y="4795361"/>
              <a:ext cx="4406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报告在 30s 内得到答复；选择的响应在发送后 30s 内到达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30886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123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573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特殊需求里的 30s 是可验证的数字。写成"响应要快"就没法测。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例：事故管理系统的用例图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262575" cy="308039"/>
            <a:chOff x="525399" y="1550194"/>
            <a:chExt cx="926257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2625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方框是系统边界，框内的圆角节点是用例，框外的是 Actor。连线表示这个 Actor 参与这个用例。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684848" y="2340292"/>
            <a:ext cx="6189345" cy="2805113"/>
            <a:chOff x="684848" y="2340292"/>
            <a:chExt cx="6189345" cy="2805113"/>
          </a:xfrm>
        </p:grpSpPr>
        <p:sp>
          <p:nvSpPr>
            <p:cNvPr id="9" name="Freeform 9"/>
            <p:cNvSpPr/>
            <p:nvPr/>
          </p:nvSpPr>
          <p:spPr>
            <a:xfrm>
              <a:off x="1615440" y="2778442"/>
              <a:ext cx="2164080" cy="745808"/>
            </a:xfrm>
            <a:custGeom>
              <a:avLst/>
              <a:gdLst/>
              <a:ahLst/>
              <a:cxnLst/>
              <a:rect l="l" t="t" r="r" b="b"/>
              <a:pathLst>
                <a:path w="2164080" h="745808">
                  <a:moveTo>
                    <a:pt x="0" y="745808"/>
                  </a:moveTo>
                  <a:lnTo>
                    <a:pt x="0" y="372428"/>
                  </a:lnTo>
                  <a:lnTo>
                    <a:pt x="2164080" y="372428"/>
                  </a:lnTo>
                  <a:lnTo>
                    <a:pt x="216408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79520" y="2778442"/>
              <a:ext cx="2164080" cy="745808"/>
            </a:xfrm>
            <a:custGeom>
              <a:avLst/>
              <a:gdLst/>
              <a:ahLst/>
              <a:cxnLst/>
              <a:rect l="l" t="t" r="r" b="b"/>
              <a:pathLst>
                <a:path w="2164080" h="745808">
                  <a:moveTo>
                    <a:pt x="2164080" y="745808"/>
                  </a:moveTo>
                  <a:lnTo>
                    <a:pt x="2164080" y="372428"/>
                  </a:lnTo>
                  <a:lnTo>
                    <a:pt x="0" y="37242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10112" y="3743325"/>
              <a:ext cx="302895" cy="9525"/>
            </a:xfrm>
            <a:custGeom>
              <a:avLst/>
              <a:gdLst/>
              <a:ahLst/>
              <a:cxnLst/>
              <a:rect l="l" t="t" r="r" b="b"/>
              <a:pathLst>
                <a:path w="302895" h="9525">
                  <a:moveTo>
                    <a:pt x="30289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79520" y="3962400"/>
              <a:ext cx="2164080" cy="744855"/>
            </a:xfrm>
            <a:custGeom>
              <a:avLst/>
              <a:gdLst/>
              <a:ahLst/>
              <a:cxnLst/>
              <a:rect l="l" t="t" r="r" b="b"/>
              <a:pathLst>
                <a:path w="2164080" h="744855">
                  <a:moveTo>
                    <a:pt x="2164080" y="0"/>
                  </a:moveTo>
                  <a:lnTo>
                    <a:pt x="2164080" y="372428"/>
                  </a:lnTo>
                  <a:lnTo>
                    <a:pt x="0" y="372428"/>
                  </a:lnTo>
                  <a:lnTo>
                    <a:pt x="0" y="7448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4848" y="3524250"/>
              <a:ext cx="1861185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48928" y="2340292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48928" y="3524250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48928" y="4707255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013008" y="3524250"/>
              <a:ext cx="1861185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2022" y="36542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56102" y="2470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报告紧急情况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8416" y="36542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打开事件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8416" y="4837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分配资源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78653" y="36542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7330440" y="1967865"/>
            <a:ext cx="4328160" cy="2577465"/>
            <a:chOff x="7330440" y="1967865"/>
            <a:chExt cx="4328160" cy="2577465"/>
          </a:xfrm>
        </p:grpSpPr>
        <p:sp>
          <p:nvSpPr>
            <p:cNvPr id="24" name="Rectangle 24"/>
            <p:cNvSpPr/>
            <p:nvPr/>
          </p:nvSpPr>
          <p:spPr>
            <a:xfrm>
              <a:off x="7330440" y="1967865"/>
              <a:ext cx="432816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39965" y="2101215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7809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6829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9118" y="22126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这张图告诉我们什么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0" y="2573655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系统叫"事故管理系统"，边界之外只有两个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0" y="3194685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现场工作人员只参与"报告紧急情况"，调度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员参与全部三个。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3805" y="38785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41920" y="3815715"/>
              <a:ext cx="3510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主动 Actor 是现场工作人员，因为这个用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例由她启动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7330440" y="4735830"/>
            <a:ext cx="4328160" cy="782955"/>
            <a:chOff x="7330440" y="4735830"/>
            <a:chExt cx="4328160" cy="782955"/>
          </a:xfrm>
        </p:grpSpPr>
        <p:sp>
          <p:nvSpPr>
            <p:cNvPr id="34" name="Rectangle 34"/>
            <p:cNvSpPr/>
            <p:nvPr/>
          </p:nvSpPr>
          <p:spPr>
            <a:xfrm>
              <a:off x="7330440" y="4735830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535228" y="5027295"/>
              <a:ext cx="200026" cy="200026"/>
              <a:chOff x="7535228" y="502729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535228" y="50272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635240" y="50939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624128" y="51273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837170" y="4884420"/>
              <a:ext cx="3463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用例图只说"谁参与了什么"，不说先后顺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序。顺序要靠事件流和顺序图。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本章后面所有例子都围绕「报告紧急情况」这一个用例展开，可以一路对照着看。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例题：写完整的"报告紧急情况"用例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595332" cy="308039"/>
            <a:chOff x="525399" y="1550194"/>
            <a:chExt cx="759533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5953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用例名称：报告紧急情况｜参与 Actors：由现场工作人员启动，与调度员交流。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77390"/>
            <a:ext cx="6440297" cy="3649313"/>
            <a:chOff x="533400" y="1977390"/>
            <a:chExt cx="6440297" cy="364931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04920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1230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01168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入口条件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30457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现场工作人员激活她终端上的报告紧急情况功能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662238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系统响应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9551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提交一份表格给现场工作人员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31279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填写并提交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606641"/>
              <a:ext cx="6027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现场工作人员填好表格，选择紧急等级、类型、位置和简单情况描述，并描述紧急事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件的可能后果。填完提交后，系统通知调度员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98620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调度员处理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91514"/>
              <a:ext cx="6027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调度员查看提交的表格，通过调用「打开事件」用例在数据库建立一个事件，然后选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择一个响应并回复收到的紧急情况报告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5083492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出口条件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3773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现场工作人员收到答复并选择响应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7546658" y="1967865"/>
            <a:ext cx="4111942" cy="1365885"/>
            <a:chOff x="7546658" y="1967865"/>
            <a:chExt cx="4111942" cy="1365885"/>
          </a:xfrm>
        </p:grpSpPr>
        <p:sp>
          <p:nvSpPr>
            <p:cNvPr id="31" name="Rectangle 31"/>
            <p:cNvSpPr/>
            <p:nvPr/>
          </p:nvSpPr>
          <p:spPr>
            <a:xfrm>
              <a:off x="7546658" y="1967865"/>
              <a:ext cx="4111942" cy="1365885"/>
            </a:xfrm>
            <a:prstGeom prst="roundRect">
              <a:avLst>
                <a:gd name="adj" fmla="val 976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56208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38516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特殊需求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8588" y="2554605"/>
              <a:ext cx="37171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现场工作人员的报告在 </a:t>
              </a:r>
              <a:r>
                <a:rPr lang="en-US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30s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内得到答复。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8588" y="2889885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选择的响应在发送之后 30s 内到达。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7546658" y="3524250"/>
            <a:ext cx="4111942" cy="2090738"/>
            <a:chOff x="7546658" y="3524250"/>
            <a:chExt cx="4111942" cy="2090738"/>
          </a:xfrm>
        </p:grpSpPr>
        <p:sp>
          <p:nvSpPr>
            <p:cNvPr id="37" name="Rectangle 37"/>
            <p:cNvSpPr/>
            <p:nvPr/>
          </p:nvSpPr>
          <p:spPr>
            <a:xfrm>
              <a:off x="7546658" y="3524250"/>
              <a:ext cx="4111942" cy="2090738"/>
            </a:xfrm>
            <a:prstGeom prst="roundRect">
              <a:avLst>
                <a:gd name="adj" fmla="val 6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56182" y="3657600"/>
              <a:ext cx="47625" cy="18240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94308" y="37338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85468" y="37695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95335" y="3769042"/>
              <a:ext cx="167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步埋了一个坑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86688" y="413004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这里只写了「回复收到的紧急情况报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告」，没写这条回复里装了什么信息。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6688" y="47510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画顺序图时会因此发现一个被漏掉的实体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对象，用例到那时才补全。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6103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4 步还调用了「打开事件」用例，这就是下一节要讲的包含关系。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场景是用例的一个真实实例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545908"/>
            <a:chOff x="533400" y="1524000"/>
            <a:chExt cx="5626418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538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场景（Scenario）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场景是用例的真实例子。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3717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具体执行一次用例，就得到一个场景。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67176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场景通过举例说明情况，帮助理解问题域，进而归纳出用例。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6542" y="3262312"/>
            <a:ext cx="5633276" cy="1555623"/>
            <a:chOff x="526542" y="3262312"/>
            <a:chExt cx="5633276" cy="1555623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32623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场景名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17217" y="3262312"/>
              <a:ext cx="374275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带下划线，写法与 UML 里的对象名一致，例如 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库失火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023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3908108"/>
              <a:ext cx="1387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参与 Actor 实例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7217" y="3908108"/>
              <a:ext cx="3537013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写具体的人，例如现场工作人员 Alice、调度员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Cindy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481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542" y="455390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事件流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17217" y="455390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这一次执行里真实发生的步骤，不写分支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934902"/>
            <a:ext cx="5626418" cy="729615"/>
            <a:chOff x="533400" y="4934902"/>
            <a:chExt cx="5626418" cy="729615"/>
          </a:xfrm>
        </p:grpSpPr>
        <p:sp>
          <p:nvSpPr>
            <p:cNvPr id="25" name="Rectangle 25"/>
            <p:cNvSpPr/>
            <p:nvPr/>
          </p:nvSpPr>
          <p:spPr>
            <a:xfrm>
              <a:off x="533400" y="4934902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199700"/>
              <a:ext cx="200023" cy="200023"/>
              <a:chOff x="738188" y="519970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1997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2663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508158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一个用例对应很多场景，正常路径一个，每条异常分支各一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个。写到问题域摸清楚了就可以停。</a:t>
              </a:r>
            </a:p>
          </p:txBody>
        </p:sp>
      </p:grpSp>
      <p:grpSp>
        <p:nvGrpSpPr>
          <p:cNvPr id="50" name="c2-compare-1"/>
          <p:cNvGrpSpPr/>
          <p:nvPr/>
        </p:nvGrpSpPr>
        <p:grpSpPr>
          <a:xfrm>
            <a:off x="6464618" y="1524000"/>
            <a:ext cx="5193982" cy="4140518"/>
            <a:chOff x="6464618" y="1524000"/>
            <a:chExt cx="5193982" cy="4140518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2367915" cy="4140518"/>
            </a:xfrm>
            <a:prstGeom prst="roundRect">
              <a:avLst>
                <a:gd name="adj" fmla="val 56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1657350"/>
              <a:ext cx="47625" cy="38738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82549" y="173259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场景重在可理解性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97980" y="210597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53999" y="204978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写具体的人、具体的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时间地点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97980" y="26631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53999" y="260699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只覆盖一条路径，不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管异常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97980" y="322135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53999" y="316515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用来跟客户对答案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290685" y="1524000"/>
              <a:ext cx="2367915" cy="4140518"/>
            </a:xfrm>
            <a:prstGeom prst="roundRect">
              <a:avLst>
                <a:gd name="adj" fmla="val 563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70517" y="173259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用例重在完整性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85948" y="210597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41967" y="20497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写角色，不写具体的人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85948" y="24060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41967" y="2349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要覆盖正常流、异常流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85948" y="27070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41967" y="265080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用来作为需求说明的正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881110" y="3413760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36164" y="353853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1" name="Rectangle 5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8373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先收集几个场景，再从它们里面归纳用例，比对着空白模板硬写容易得多。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用例与场景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场景示例：仓库失火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35403" cy="278702"/>
            <a:chOff x="526161" y="1547336"/>
            <a:chExt cx="70354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35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场景名：仓库失火｜参与 Actors：Alice、Bob 是现场工作人员，Cindy 是调度员。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50720"/>
            <a:ext cx="6249543" cy="3316129"/>
            <a:chOff x="533400" y="1950720"/>
            <a:chExt cx="6249543" cy="3316129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27965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451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461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8200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7482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822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8310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50281"/>
              <a:ext cx="58148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Bob 驾驶巡逻车沿主要街道巡逻，发现一个仓库有浓烟冒出。他的同事 Alice 用她的手持设备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激活了报告紧急情况功能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7749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44666"/>
              <a:ext cx="5779262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Alice 输入仓库地址、起火位置的简短描述（如西北角）以及紧急等级。考虑该地区相对繁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忙，Alice 除了请求消防单位外，还请求了现场的几个医疗单位。她确认了自己的输入并等待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7785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045744"/>
              <a:ext cx="5836158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 Cindy 由工作站的蜂鸣声注意到紧急情况。她查看了 Alice 提交的信息，然后答复了这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个报告。她分配了一个消防单位和两个医疗单位到事件现场，并发送他们的预计到达时间给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Alice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77964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5046821"/>
              <a:ext cx="2058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Alice 收到答复和预计到达时间</a:t>
              </a:r>
            </a:p>
          </p:txBody>
        </p:sp>
      </p:grpSp>
      <p:grpSp>
        <p:nvGrpSpPr>
          <p:cNvPr id="38" name="c2-kv-1"/>
          <p:cNvGrpSpPr/>
          <p:nvPr/>
        </p:nvGrpSpPr>
        <p:grpSpPr>
          <a:xfrm>
            <a:off x="7323582" y="1964055"/>
            <a:ext cx="4335018" cy="1457516"/>
            <a:chOff x="7323582" y="1964055"/>
            <a:chExt cx="4335018" cy="1457516"/>
          </a:xfrm>
        </p:grpSpPr>
        <p:sp>
          <p:nvSpPr>
            <p:cNvPr id="27" name="TextBox 27"/>
            <p:cNvSpPr txBox="1"/>
            <p:nvPr/>
          </p:nvSpPr>
          <p:spPr>
            <a:xfrm>
              <a:off x="7323582" y="1964055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5624" y="1964055"/>
              <a:ext cx="2299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Alice 激活报告紧急情况功能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30440" y="22526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23582" y="2361248"/>
              <a:ext cx="88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2、3 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25624" y="2361248"/>
              <a:ext cx="2663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系统给出表格，Alice 填好并确认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30440" y="265080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23582" y="2759392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4 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5624" y="2759392"/>
              <a:ext cx="3072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Cindy 查看、分配单位、回复到达时间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30440" y="304895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23582" y="315753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5 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5624" y="3157538"/>
              <a:ext cx="1209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Alice 收到答复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7330440" y="3543300"/>
            <a:ext cx="4328160" cy="1768792"/>
            <a:chOff x="7330440" y="3543300"/>
            <a:chExt cx="4328160" cy="1768792"/>
          </a:xfrm>
        </p:grpSpPr>
        <p:sp>
          <p:nvSpPr>
            <p:cNvPr id="39" name="Rectangle 39"/>
            <p:cNvSpPr/>
            <p:nvPr/>
          </p:nvSpPr>
          <p:spPr>
            <a:xfrm>
              <a:off x="7330440" y="3543300"/>
              <a:ext cx="432816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39965" y="36766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60945" y="37357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4382" y="37699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场景比用例多了什么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4087" y="4092892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具体的人名、具体的地点、具体的数量，还有"该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地区相对繁忙"这种临场判断。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4087" y="4652010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这些细节帮人理解问题域，但不能写进用例，否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则用例就只覆盖这一种情况了。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6" name="Rectangle 4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7336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对照上一页的用例：这里的 Bob 只是发现者，没有和系统交互，所以用例里没有他的位置。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367528" cy="2643187"/>
            <a:chOff x="667512" y="1835468"/>
            <a:chExt cx="536752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用例间的关系与获取方法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三种关系降低复杂度，两组提问把需求问出来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包含、扩展、泛化各自的箭头方向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直接总结不出用例时用场景兜底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2896" cy="909257"/>
            <a:chOff x="520446" y="342900"/>
            <a:chExt cx="3362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用例间的关系与获取方法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用例之间的三种关系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38282" cy="308039"/>
            <a:chOff x="525399" y="1550194"/>
            <a:chExt cx="104382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382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确定用例之间的关系是为了减少复杂性：把重复的动作抽出去，把罕见的动作挪出去，把同类的动作归纳起来。</a:t>
              </a:r>
            </a:p>
          </p:txBody>
        </p:sp>
      </p:grpSp>
      <p:grpSp>
        <p:nvGrpSpPr>
          <p:cNvPr id="36" name="c1-table-1"/>
          <p:cNvGrpSpPr/>
          <p:nvPr/>
        </p:nvGrpSpPr>
        <p:grpSpPr>
          <a:xfrm>
            <a:off x="533400" y="1967865"/>
            <a:ext cx="11125200" cy="2248852"/>
            <a:chOff x="533400" y="1967865"/>
            <a:chExt cx="11125200" cy="22488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375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7131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9282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箭头方向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0401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6646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98560" y="2551271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两个用例，如果其中一个在其事件流中包含了另一个，它们之间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就有包含关系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18045" y="2426018"/>
              <a:ext cx="2650808" cy="65627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16343" y="2664619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基本用例 → 被包含用例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86200" y="266461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&lt;&lt;include&gt;&gt;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870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9181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3408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98560" y="3227546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把常规动作放在一个基本用例中，把非常规动作放在它的扩展用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18045" y="3101340"/>
              <a:ext cx="2650808" cy="65627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16343" y="334089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扩展用例 → 基本用例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86200" y="334089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&lt;&lt;extend&gt;&gt;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9028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98560" y="390286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对一般性用例做特殊化、细化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18045" y="3776662"/>
              <a:ext cx="265080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16343" y="390286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特殊用例 → 一般用例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86200" y="39028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空心三角箭头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67865"/>
              <a:ext cx="11125200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85975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03758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873615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2"/>
          <p:cNvGrpSpPr/>
          <p:nvPr/>
        </p:nvGrpSpPr>
        <p:grpSpPr>
          <a:xfrm>
            <a:off x="533400" y="4406265"/>
            <a:ext cx="11125200" cy="1251585"/>
            <a:chOff x="533400" y="4406265"/>
            <a:chExt cx="11125200" cy="1251585"/>
          </a:xfrm>
        </p:grpSpPr>
        <p:sp>
          <p:nvSpPr>
            <p:cNvPr id="37" name="Rectangle 37"/>
            <p:cNvSpPr/>
            <p:nvPr/>
          </p:nvSpPr>
          <p:spPr>
            <a:xfrm>
              <a:off x="533400" y="4406265"/>
              <a:ext cx="11125200" cy="1251585"/>
            </a:xfrm>
            <a:prstGeom prst="roundRect">
              <a:avLst>
                <a:gd name="adj" fmla="val 913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4928353"/>
              <a:ext cx="224134" cy="192560"/>
              <a:chOff x="726129" y="4928353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49987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49283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076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4927282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包含和扩展的箭头方向相反，这是考试和画图最容易错的一处。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930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「报告紧急情况」的第 4 步调用「打开事件」，是包含；「连接中断」打断「打开事件」，是扩展。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2896" cy="909257"/>
            <a:chOff x="520446" y="342900"/>
            <a:chExt cx="3362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用例间的关系与获取方法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三种关系的画法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1874520" y="1548765"/>
            <a:ext cx="822960" cy="293370"/>
            <a:chOff x="1874520" y="1548765"/>
            <a:chExt cx="8229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187452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包含关系</a:t>
              </a:r>
            </a:p>
          </p:txBody>
        </p:sp>
      </p:grpSp>
      <p:grpSp>
        <p:nvGrpSpPr>
          <p:cNvPr id="23" name="c1-flow-2"/>
          <p:cNvGrpSpPr/>
          <p:nvPr/>
        </p:nvGrpSpPr>
        <p:grpSpPr>
          <a:xfrm>
            <a:off x="666750" y="2278380"/>
            <a:ext cx="3238500" cy="2533650"/>
            <a:chOff x="666750" y="2278380"/>
            <a:chExt cx="3238500" cy="2533650"/>
          </a:xfrm>
        </p:grpSpPr>
        <p:sp>
          <p:nvSpPr>
            <p:cNvPr id="9" name="Freeform 9"/>
            <p:cNvSpPr/>
            <p:nvPr/>
          </p:nvSpPr>
          <p:spPr>
            <a:xfrm>
              <a:off x="1409700" y="2716530"/>
              <a:ext cx="1752600" cy="504825"/>
            </a:xfrm>
            <a:custGeom>
              <a:avLst/>
              <a:gdLst/>
              <a:ahLst/>
              <a:cxnLst/>
              <a:rect l="l" t="t" r="r" b="b"/>
              <a:pathLst>
                <a:path w="1752600" h="504825">
                  <a:moveTo>
                    <a:pt x="0" y="0"/>
                  </a:moveTo>
                  <a:lnTo>
                    <a:pt x="0" y="304800"/>
                  </a:lnTo>
                  <a:lnTo>
                    <a:pt x="1752600" y="304800"/>
                  </a:lnTo>
                  <a:lnTo>
                    <a:pt x="1752600" y="5048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09912" y="3221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09700" y="3869055"/>
              <a:ext cx="1752600" cy="504825"/>
            </a:xfrm>
            <a:custGeom>
              <a:avLst/>
              <a:gdLst/>
              <a:ahLst/>
              <a:cxnLst/>
              <a:rect l="l" t="t" r="r" b="b"/>
              <a:pathLst>
                <a:path w="1752600" h="504825">
                  <a:moveTo>
                    <a:pt x="0" y="504825"/>
                  </a:moveTo>
                  <a:lnTo>
                    <a:pt x="0" y="200025"/>
                  </a:lnTo>
                  <a:lnTo>
                    <a:pt x="1752600" y="200025"/>
                  </a:lnTo>
                  <a:lnTo>
                    <a:pt x="1752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09912" y="37642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227838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" y="437388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19350" y="332613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2439" y="24083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销售统计表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2439" y="45038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客户统计表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11196" y="3456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打印报表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867852" y="2805112"/>
              <a:ext cx="83534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88417" y="283178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&lt;&lt;include&gt;&gt;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867852" y="3852862"/>
              <a:ext cx="83534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88417" y="387953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&lt;&lt;include&gt;&gt;</a:t>
              </a:r>
            </a:p>
          </p:txBody>
        </p:sp>
      </p:grpSp>
      <p:grpSp>
        <p:nvGrpSpPr>
          <p:cNvPr id="25" name="c1-text-3"/>
          <p:cNvGrpSpPr/>
          <p:nvPr/>
        </p:nvGrpSpPr>
        <p:grpSpPr>
          <a:xfrm>
            <a:off x="526923" y="5328761"/>
            <a:ext cx="3264154" cy="500824"/>
            <a:chOff x="526923" y="5328761"/>
            <a:chExt cx="3264154" cy="500824"/>
          </a:xfrm>
        </p:grpSpPr>
        <p:sp>
          <p:nvSpPr>
            <p:cNvPr id="24" name="TextBox 24"/>
            <p:cNvSpPr txBox="1"/>
            <p:nvPr/>
          </p:nvSpPr>
          <p:spPr>
            <a:xfrm>
              <a:off x="526923" y="5328761"/>
              <a:ext cx="326415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两张统计表都要打印，打印动作抽成一个被包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含的用例。</a:t>
              </a:r>
            </a:p>
          </p:txBody>
        </p:sp>
      </p:grpSp>
      <p:grpSp>
        <p:nvGrpSpPr>
          <p:cNvPr id="27" name="c2-text-1"/>
          <p:cNvGrpSpPr/>
          <p:nvPr/>
        </p:nvGrpSpPr>
        <p:grpSpPr>
          <a:xfrm>
            <a:off x="5684520" y="1548765"/>
            <a:ext cx="822960" cy="293370"/>
            <a:chOff x="5684520" y="1548765"/>
            <a:chExt cx="822960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568452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扩展关系</a:t>
              </a:r>
            </a:p>
          </p:txBody>
        </p:sp>
      </p:grpSp>
      <p:grpSp>
        <p:nvGrpSpPr>
          <p:cNvPr id="42" name="c2-flow-2"/>
          <p:cNvGrpSpPr/>
          <p:nvPr/>
        </p:nvGrpSpPr>
        <p:grpSpPr>
          <a:xfrm>
            <a:off x="4476750" y="2278380"/>
            <a:ext cx="3238500" cy="2533650"/>
            <a:chOff x="4476750" y="2278380"/>
            <a:chExt cx="3238500" cy="2533650"/>
          </a:xfrm>
        </p:grpSpPr>
        <p:sp>
          <p:nvSpPr>
            <p:cNvPr id="28" name="Freeform 28"/>
            <p:cNvSpPr/>
            <p:nvPr/>
          </p:nvSpPr>
          <p:spPr>
            <a:xfrm>
              <a:off x="5219700" y="2821305"/>
              <a:ext cx="1752600" cy="504825"/>
            </a:xfrm>
            <a:custGeom>
              <a:avLst/>
              <a:gdLst/>
              <a:ahLst/>
              <a:cxnLst/>
              <a:rect l="l" t="t" r="r" b="b"/>
              <a:pathLst>
                <a:path w="1752600" h="504825">
                  <a:moveTo>
                    <a:pt x="1752600" y="504825"/>
                  </a:moveTo>
                  <a:lnTo>
                    <a:pt x="1752600" y="200025"/>
                  </a:lnTo>
                  <a:lnTo>
                    <a:pt x="0" y="20002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167312" y="2716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219700" y="3764280"/>
              <a:ext cx="1752600" cy="504825"/>
            </a:xfrm>
            <a:custGeom>
              <a:avLst/>
              <a:gdLst/>
              <a:ahLst/>
              <a:cxnLst/>
              <a:rect l="l" t="t" r="r" b="b"/>
              <a:pathLst>
                <a:path w="1752600" h="504825">
                  <a:moveTo>
                    <a:pt x="1752600" y="0"/>
                  </a:moveTo>
                  <a:lnTo>
                    <a:pt x="1752600" y="304800"/>
                  </a:lnTo>
                  <a:lnTo>
                    <a:pt x="0" y="304800"/>
                  </a:lnTo>
                  <a:lnTo>
                    <a:pt x="0" y="5048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167312" y="42691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76750" y="227838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76750" y="437388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29350" y="3326130"/>
              <a:ext cx="1485900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8596" y="24083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打开事件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68596" y="45038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分配资源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21196" y="3456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连接中断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681662" y="2805112"/>
              <a:ext cx="82867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01951" y="283178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&lt;&lt;extend&gt;&gt;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81662" y="3852862"/>
              <a:ext cx="82867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1951" y="387953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&lt;&lt;extend&gt;&gt;</a:t>
              </a:r>
            </a:p>
          </p:txBody>
        </p:sp>
      </p:grpSp>
      <p:grpSp>
        <p:nvGrpSpPr>
          <p:cNvPr id="44" name="c2-text-3"/>
          <p:cNvGrpSpPr/>
          <p:nvPr/>
        </p:nvGrpSpPr>
        <p:grpSpPr>
          <a:xfrm>
            <a:off x="4336923" y="5328761"/>
            <a:ext cx="3264154" cy="500824"/>
            <a:chOff x="4336923" y="5328761"/>
            <a:chExt cx="3264154" cy="500824"/>
          </a:xfrm>
        </p:grpSpPr>
        <p:sp>
          <p:nvSpPr>
            <p:cNvPr id="43" name="TextBox 43"/>
            <p:cNvSpPr txBox="1"/>
            <p:nvPr/>
          </p:nvSpPr>
          <p:spPr>
            <a:xfrm>
              <a:off x="4336923" y="5328761"/>
              <a:ext cx="326415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连接中断是非常规情况，从它指向被它打断的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两个基本用例。</a:t>
              </a:r>
            </a:p>
          </p:txBody>
        </p:sp>
      </p:grpSp>
      <p:grpSp>
        <p:nvGrpSpPr>
          <p:cNvPr id="46" name="c3-text-1"/>
          <p:cNvGrpSpPr/>
          <p:nvPr/>
        </p:nvGrpSpPr>
        <p:grpSpPr>
          <a:xfrm>
            <a:off x="9494520" y="1548765"/>
            <a:ext cx="822960" cy="293370"/>
            <a:chOff x="9494520" y="1548765"/>
            <a:chExt cx="822960" cy="293370"/>
          </a:xfrm>
        </p:grpSpPr>
        <p:sp>
          <p:nvSpPr>
            <p:cNvPr id="45" name="TextBox 45"/>
            <p:cNvSpPr txBox="1"/>
            <p:nvPr/>
          </p:nvSpPr>
          <p:spPr>
            <a:xfrm>
              <a:off x="949452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泛化关系</a:t>
              </a:r>
            </a:p>
          </p:txBody>
        </p:sp>
      </p:grpSp>
      <p:grpSp>
        <p:nvGrpSpPr>
          <p:cNvPr id="57" name="c3-flow-2"/>
          <p:cNvGrpSpPr/>
          <p:nvPr/>
        </p:nvGrpSpPr>
        <p:grpSpPr>
          <a:xfrm>
            <a:off x="8286750" y="2278380"/>
            <a:ext cx="3238500" cy="2629852"/>
            <a:chOff x="8286750" y="2278380"/>
            <a:chExt cx="3238500" cy="2629852"/>
          </a:xfrm>
        </p:grpSpPr>
        <p:sp>
          <p:nvSpPr>
            <p:cNvPr id="47" name="Freeform 47"/>
            <p:cNvSpPr/>
            <p:nvPr/>
          </p:nvSpPr>
          <p:spPr>
            <a:xfrm>
              <a:off x="9029700" y="2716530"/>
              <a:ext cx="1752600" cy="504825"/>
            </a:xfrm>
            <a:custGeom>
              <a:avLst/>
              <a:gdLst/>
              <a:ahLst/>
              <a:cxnLst/>
              <a:rect l="l" t="t" r="r" b="b"/>
              <a:pathLst>
                <a:path w="1752600" h="504825">
                  <a:moveTo>
                    <a:pt x="0" y="0"/>
                  </a:moveTo>
                  <a:lnTo>
                    <a:pt x="0" y="304800"/>
                  </a:lnTo>
                  <a:lnTo>
                    <a:pt x="1752600" y="304800"/>
                  </a:lnTo>
                  <a:lnTo>
                    <a:pt x="1752600" y="5048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729912" y="3221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029700" y="3869055"/>
              <a:ext cx="1752600" cy="409575"/>
            </a:xfrm>
            <a:custGeom>
              <a:avLst/>
              <a:gdLst/>
              <a:ahLst/>
              <a:cxnLst/>
              <a:rect l="l" t="t" r="r" b="b"/>
              <a:pathLst>
                <a:path w="1752600" h="409575">
                  <a:moveTo>
                    <a:pt x="0" y="409575"/>
                  </a:moveTo>
                  <a:lnTo>
                    <a:pt x="0" y="152400"/>
                  </a:lnTo>
                  <a:lnTo>
                    <a:pt x="1752600" y="152400"/>
                  </a:lnTo>
                  <a:lnTo>
                    <a:pt x="1752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729912" y="37642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86750" y="227838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6750" y="4278630"/>
              <a:ext cx="1485900" cy="629602"/>
            </a:xfrm>
            <a:prstGeom prst="roundRect">
              <a:avLst>
                <a:gd name="adj" fmla="val 4992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39350" y="3326130"/>
              <a:ext cx="148590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06282" y="240839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密码身份验证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35949" y="4394359"/>
              <a:ext cx="987501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 卡身份验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31196" y="3456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身份验证</a:t>
              </a:r>
            </a:p>
          </p:txBody>
        </p:sp>
      </p:grpSp>
      <p:grpSp>
        <p:nvGrpSpPr>
          <p:cNvPr id="59" name="c3-text-3"/>
          <p:cNvGrpSpPr/>
          <p:nvPr/>
        </p:nvGrpSpPr>
        <p:grpSpPr>
          <a:xfrm>
            <a:off x="8146923" y="5328761"/>
            <a:ext cx="3264154" cy="500824"/>
            <a:chOff x="8146923" y="5328761"/>
            <a:chExt cx="3264154" cy="500824"/>
          </a:xfrm>
        </p:grpSpPr>
        <p:sp>
          <p:nvSpPr>
            <p:cNvPr id="58" name="TextBox 58"/>
            <p:cNvSpPr txBox="1"/>
            <p:nvPr/>
          </p:nvSpPr>
          <p:spPr>
            <a:xfrm>
              <a:off x="8146923" y="5328761"/>
              <a:ext cx="326415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两种验证方式都是身份验证的特殊化，箭头从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特殊指向一般。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2896" cy="909257"/>
            <a:chOff x="520446" y="342900"/>
            <a:chExt cx="3362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用例间的关系与获取方法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包含与扩展的区别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2634615"/>
            <a:chOff x="533400" y="1524000"/>
            <a:chExt cx="6276022" cy="2634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589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5916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832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被抽出的动作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61210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常规动作，每次都做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70120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非常规动作，偶尔才做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5598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基本用例是否完整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1210" y="2459831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不完整，缺了被包含的部分就走不下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0120" y="245983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完整，没有扩展也能独立执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65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谁依赖谁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1210" y="30656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基本用例依赖被包含用例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70120" y="306562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扩展用例依赖基本用例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423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4708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471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箭头起点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61210" y="3471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基本用例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0120" y="3471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扩展用例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480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8771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抽取动机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61210" y="38771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消除重复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70120" y="387715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隔离例外和可选分支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56435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65345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flow-2"/>
          <p:cNvGrpSpPr/>
          <p:nvPr/>
        </p:nvGrpSpPr>
        <p:grpSpPr>
          <a:xfrm>
            <a:off x="666750" y="4521518"/>
            <a:ext cx="6009323" cy="578168"/>
            <a:chOff x="666750" y="4521518"/>
            <a:chExt cx="6009323" cy="578168"/>
          </a:xfrm>
        </p:grpSpPr>
        <p:sp>
          <p:nvSpPr>
            <p:cNvPr id="36" name="Freeform 36"/>
            <p:cNvSpPr/>
            <p:nvPr/>
          </p:nvSpPr>
          <p:spPr>
            <a:xfrm>
              <a:off x="1655445" y="4810125"/>
              <a:ext cx="1417320" cy="9525"/>
            </a:xfrm>
            <a:custGeom>
              <a:avLst/>
              <a:gdLst/>
              <a:ahLst/>
              <a:cxnLst/>
              <a:rect l="l" t="t" r="r" b="b"/>
              <a:pathLst>
                <a:path w="1417320" h="9525">
                  <a:moveTo>
                    <a:pt x="0" y="0"/>
                  </a:moveTo>
                  <a:lnTo>
                    <a:pt x="1417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072765" y="4757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270058" y="4810125"/>
              <a:ext cx="1417320" cy="9525"/>
            </a:xfrm>
            <a:custGeom>
              <a:avLst/>
              <a:gdLst/>
              <a:ahLst/>
              <a:cxnLst/>
              <a:rect l="l" t="t" r="r" b="b"/>
              <a:pathLst>
                <a:path w="1417320" h="9525">
                  <a:moveTo>
                    <a:pt x="1417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165282" y="4757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6750" y="4521518"/>
              <a:ext cx="988695" cy="578168"/>
            </a:xfrm>
            <a:prstGeom prst="roundRect">
              <a:avLst>
                <a:gd name="adj" fmla="val 4991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77540" y="4611052"/>
              <a:ext cx="988695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87378" y="4611052"/>
              <a:ext cx="98869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0902" y="4635341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报告紧急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63671" y="4731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打开事件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74461" y="4731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连接中断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023110" y="4604385"/>
              <a:ext cx="78581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045440" y="4628674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&lt;&lt;include&gt;&gt;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536758" y="4604385"/>
              <a:ext cx="78009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58576" y="4628674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&lt;&lt;extend&gt;&gt;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7114222" y="1524000"/>
            <a:ext cx="4544378" cy="2464118"/>
            <a:chOff x="7114222" y="1524000"/>
            <a:chExt cx="4544378" cy="2464118"/>
          </a:xfrm>
        </p:grpSpPr>
        <p:sp>
          <p:nvSpPr>
            <p:cNvPr id="51" name="Rectangle 51"/>
            <p:cNvSpPr/>
            <p:nvPr/>
          </p:nvSpPr>
          <p:spPr>
            <a:xfrm>
              <a:off x="7114222" y="1524000"/>
              <a:ext cx="4544378" cy="2464118"/>
            </a:xfrm>
            <a:prstGeom prst="roundRect">
              <a:avLst>
                <a:gd name="adj" fmla="val 54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23748" y="1657350"/>
              <a:ext cx="47625" cy="21974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44728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0168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95070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同一个系统里的两种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37870" y="2090738"/>
              <a:ext cx="38113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包含：报告紧急情况 → 打开事件。每次答复都要建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事件，缺了它用例不完整。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37870" y="2649855"/>
              <a:ext cx="38113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扩展：连接中断 → 打开事件。网络断了才发生，平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时根本不出现。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39012" y="3205639"/>
              <a:ext cx="3851910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画扩展关系时还可以在打开事件上标出扩展点，写明连接中断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从哪一步插进来；包含关系用不上扩展点，被包含的用例位置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是固定的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7114222" y="4163378"/>
            <a:ext cx="4544378" cy="1123950"/>
            <a:chOff x="7114222" y="4163378"/>
            <a:chExt cx="4544378" cy="1123950"/>
          </a:xfrm>
        </p:grpSpPr>
        <p:sp>
          <p:nvSpPr>
            <p:cNvPr id="60" name="Rectangle 60"/>
            <p:cNvSpPr/>
            <p:nvPr/>
          </p:nvSpPr>
          <p:spPr>
            <a:xfrm>
              <a:off x="7114222" y="4163378"/>
              <a:ext cx="4544378" cy="1123950"/>
            </a:xfrm>
            <a:prstGeom prst="roundRect">
              <a:avLst>
                <a:gd name="adj" fmla="val 1016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19010" y="4625340"/>
              <a:ext cx="200026" cy="200025"/>
              <a:chOff x="7319010" y="462534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19010" y="46253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358749" y="46697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393464" y="47809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621714" y="4507230"/>
              <a:ext cx="34427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问自己一句「没有它，基本用例还能正常走完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吗」。能走完就是扩展，不能就是包含。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779770"/>
              <a:ext cx="100435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老资料里包含关系写作 "&lt;&lt;uses&gt;&gt;"，扩展关系写作 "&lt;&lt;extends&gt;&gt;"。UML 1.3 之后改成 "&lt;&lt;include&gt;&gt;" 和 "&lt;&lt;extend&gt;&gt;"，说的是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同一件事。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79879" cy="909257"/>
            <a:chOff x="520446" y="342900"/>
            <a:chExt cx="46798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用例间的关系与获取方法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798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用提问把 Actor 和用例问出来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072081" cy="308039"/>
            <a:chOff x="525399" y="1550194"/>
            <a:chExt cx="607208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0720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获取用例分两步：先问客户找出 Actor，再问 Actor 找出用例。</a:t>
              </a:r>
            </a:p>
          </p:txBody>
        </p:sp>
      </p:grpSp>
      <p:grpSp>
        <p:nvGrpSpPr>
          <p:cNvPr id="26" name="c1-card-1"/>
          <p:cNvGrpSpPr/>
          <p:nvPr/>
        </p:nvGrpSpPr>
        <p:grpSpPr>
          <a:xfrm>
            <a:off x="533400" y="1967865"/>
            <a:ext cx="5410200" cy="3600450"/>
            <a:chOff x="533400" y="1967865"/>
            <a:chExt cx="5410200" cy="360045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36004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3337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000" y="2212658"/>
              <a:ext cx="2688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对用户／客户提问，找 Actor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6365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573655"/>
              <a:ext cx="3834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谁使用系统的主要功能（Primary Actor）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90893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谁需要系统支持他们的日常工作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244215"/>
              <a:ext cx="3864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谁来维护、管理系统（Secondary Actor）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6423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5794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系统需要控制哪些硬件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39776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3914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系统需要与其他哪些系统交互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3129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2500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对系统产生的结果感兴趣的是哪些人或事物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967865"/>
            <a:ext cx="5410200" cy="2626995"/>
            <a:chOff x="6248400" y="1967865"/>
            <a:chExt cx="5410200" cy="2626995"/>
          </a:xfrm>
        </p:grpSpPr>
        <p:sp>
          <p:nvSpPr>
            <p:cNvPr id="27" name="Rectangle 27"/>
            <p:cNvSpPr/>
            <p:nvPr/>
          </p:nvSpPr>
          <p:spPr>
            <a:xfrm>
              <a:off x="6248400" y="1967865"/>
              <a:ext cx="5410200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2101215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2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9000" y="2212658"/>
              <a:ext cx="214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Actor 提问，找用例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26365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2573655"/>
              <a:ext cx="407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要做的是什么，要求系统提供哪些功能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29718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290893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需要读、产生、删除、修改或存储的信息有哪些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35928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3529965"/>
              <a:ext cx="3122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必须提醒 Actor 的系统事件有哪些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39281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386524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必须提醒系统的事件有哪些，怎样把这些事件表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示成用例中的功能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4785360"/>
            <a:ext cx="5410200" cy="782955"/>
            <a:chOff x="6248400" y="4785360"/>
            <a:chExt cx="5410200" cy="782955"/>
          </a:xfrm>
        </p:grpSpPr>
        <p:sp>
          <p:nvSpPr>
            <p:cNvPr id="41" name="Rectangle 41"/>
            <p:cNvSpPr/>
            <p:nvPr/>
          </p:nvSpPr>
          <p:spPr>
            <a:xfrm>
              <a:off x="6248400" y="478536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5076825"/>
              <a:ext cx="200026" cy="200026"/>
              <a:chOff x="6453188" y="5076825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076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53200" y="5143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42088" y="51768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130" y="4933950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括号里的主要／次要 Actor 之分，决定了后面顺序图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第一列放谁。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5037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硬件和外部系统也是 Actor。只盯着「人」找，会漏掉打印机、计费网关这类角色。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用例间的关系与获取方法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直接总结不出用例时，用场景兜底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6542" y="1545907"/>
            <a:ext cx="4299585" cy="889826"/>
            <a:chOff x="526542" y="1545907"/>
            <a:chExt cx="4299585" cy="88982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还可以追问两个问题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070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00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309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系统需要何种输入输出，它们从哪里来、往哪里去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15931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9078" y="21986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197" y="21717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现存的系统究竟有什么主要问题，以至于要换掉它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552700"/>
            <a:ext cx="4977765" cy="3066098"/>
            <a:chOff x="533400" y="2552700"/>
            <a:chExt cx="4977765" cy="3066098"/>
          </a:xfrm>
        </p:grpSpPr>
        <p:sp>
          <p:nvSpPr>
            <p:cNvPr id="15" name="Rectangle 15"/>
            <p:cNvSpPr/>
            <p:nvPr/>
          </p:nvSpPr>
          <p:spPr>
            <a:xfrm>
              <a:off x="533400" y="2552700"/>
              <a:ext cx="4977765" cy="3066098"/>
            </a:xfrm>
            <a:prstGeom prst="roundRect">
              <a:avLst>
                <a:gd name="adj" fmla="val 4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686050"/>
              <a:ext cx="47625" cy="27993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27393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558" y="27722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为什么问第二个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308324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客户说不出「要什么」的时候，往往说得出「现在哪里难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受」。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364140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把难受的地方翻译成场景，用例就有了着落。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394144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他抱怨的现状写下来就是现实场景，他希望的改法写下来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就是想象场景，右边那条链子从这里开始走。</a:t>
              </a:r>
            </a:p>
          </p:txBody>
        </p:sp>
      </p:grpSp>
      <p:grpSp>
        <p:nvGrpSpPr>
          <p:cNvPr id="41" name="c2-flow-1"/>
          <p:cNvGrpSpPr/>
          <p:nvPr/>
        </p:nvGrpSpPr>
        <p:grpSpPr>
          <a:xfrm>
            <a:off x="6224588" y="1583055"/>
            <a:ext cx="5025390" cy="2397442"/>
            <a:chOff x="6224588" y="1583055"/>
            <a:chExt cx="5025390" cy="2397442"/>
          </a:xfrm>
        </p:grpSpPr>
        <p:sp>
          <p:nvSpPr>
            <p:cNvPr id="23" name="Freeform 23"/>
            <p:cNvSpPr/>
            <p:nvPr/>
          </p:nvSpPr>
          <p:spPr>
            <a:xfrm>
              <a:off x="8737282" y="1967865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0"/>
                  </a:moveTo>
                  <a:lnTo>
                    <a:pt x="0" y="133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684895" y="19812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737282" y="2470785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0"/>
                  </a:moveTo>
                  <a:lnTo>
                    <a:pt x="0" y="133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684895" y="24841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737282" y="2973705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0"/>
                  </a:moveTo>
                  <a:lnTo>
                    <a:pt x="0" y="133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684895" y="29870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737282" y="3476625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0"/>
                  </a:moveTo>
                  <a:lnTo>
                    <a:pt x="0" y="133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684895" y="34899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24588" y="1583055"/>
              <a:ext cx="5025390" cy="385762"/>
            </a:xfrm>
            <a:prstGeom prst="roundRect">
              <a:avLst>
                <a:gd name="adj" fmla="val 498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24588" y="2085975"/>
              <a:ext cx="502539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24588" y="2588895"/>
              <a:ext cx="502539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24588" y="3091815"/>
              <a:ext cx="502539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24588" y="3594735"/>
              <a:ext cx="5025390" cy="385762"/>
            </a:xfrm>
            <a:prstGeom prst="roundRect">
              <a:avLst>
                <a:gd name="adj" fmla="val 498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30019" y="16968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现实场景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30019" y="21997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想象场景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03857" y="27027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快速、小型原型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30019" y="32056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系统描述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53083" y="370855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用例形式的需求定义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5809107" y="4231005"/>
            <a:ext cx="5849493" cy="1441323"/>
            <a:chOff x="5809107" y="4231005"/>
            <a:chExt cx="5849493" cy="1441323"/>
          </a:xfrm>
        </p:grpSpPr>
        <p:sp>
          <p:nvSpPr>
            <p:cNvPr id="42" name="TextBox 42"/>
            <p:cNvSpPr txBox="1"/>
            <p:nvPr/>
          </p:nvSpPr>
          <p:spPr>
            <a:xfrm>
              <a:off x="5809107" y="42310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现实场景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71132" y="423100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现在这件事是怎么办的，靠观察和访谈得来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45167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9107" y="46234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想象场景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1132" y="46234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换上新系统以后这件事会怎么办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49091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9107" y="50158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小型原型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71132" y="501586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把想象场景做成能点两下的东西，请客户当场挑毛病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53016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09107" y="540829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系统描述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71132" y="540829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把客户认可的做法写成文字，再归纳成用例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原型在这里只是提问的工具，做得越小越好，能让客户指着说「不是这样」就够了。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882896" cy="2643187"/>
            <a:chOff x="667512" y="1835468"/>
            <a:chExt cx="4882896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从需求提取到分析模型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参与对象、分析类，以及三类对象的标识办法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分析模型要准确、完整、一致、可检验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实体、边界、控制各自隔离一类变化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基于用例的需求提取活动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23986" cy="308039"/>
            <a:chOff x="525399" y="1550194"/>
            <a:chExt cx="85239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239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这七步不是一条直线，后面的步骤经常把前面的结论推翻重来。括号里的一步可做可不做。</a:t>
              </a:r>
            </a:p>
          </p:txBody>
        </p:sp>
      </p:grpSp>
      <p:grpSp>
        <p:nvGrpSpPr>
          <p:cNvPr id="35" name="c1-flow-1"/>
          <p:cNvGrpSpPr/>
          <p:nvPr/>
        </p:nvGrpSpPr>
        <p:grpSpPr>
          <a:xfrm>
            <a:off x="882015" y="2025015"/>
            <a:ext cx="4280535" cy="3757613"/>
            <a:chOff x="882015" y="2025015"/>
            <a:chExt cx="4280535" cy="3757613"/>
          </a:xfrm>
        </p:grpSpPr>
        <p:sp>
          <p:nvSpPr>
            <p:cNvPr id="9" name="Freeform 9"/>
            <p:cNvSpPr/>
            <p:nvPr/>
          </p:nvSpPr>
          <p:spPr>
            <a:xfrm>
              <a:off x="3022282" y="2463165"/>
              <a:ext cx="9525" cy="10477"/>
            </a:xfrm>
            <a:custGeom>
              <a:avLst/>
              <a:gdLst/>
              <a:ahLst/>
              <a:cxnLst/>
              <a:rect l="l" t="t" r="r" b="b"/>
              <a:pathLst>
                <a:path w="9525" h="10477">
                  <a:moveTo>
                    <a:pt x="0" y="0"/>
                  </a:moveTo>
                  <a:lnTo>
                    <a:pt x="0" y="104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2473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3016568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0"/>
                  </a:moveTo>
                  <a:lnTo>
                    <a:pt x="0" y="104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9895" y="3027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3569970"/>
              <a:ext cx="9525" cy="10477"/>
            </a:xfrm>
            <a:custGeom>
              <a:avLst/>
              <a:gdLst/>
              <a:ahLst/>
              <a:cxnLst/>
              <a:rect l="l" t="t" r="r" b="b"/>
              <a:pathLst>
                <a:path w="9525" h="10477">
                  <a:moveTo>
                    <a:pt x="0" y="0"/>
                  </a:moveTo>
                  <a:lnTo>
                    <a:pt x="0" y="104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9895" y="35804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2282" y="412337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95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9895" y="41328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22282" y="4675822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0"/>
                  </a:moveTo>
                  <a:lnTo>
                    <a:pt x="0" y="104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69895" y="4686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022282" y="5229225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0"/>
                  </a:moveTo>
                  <a:lnTo>
                    <a:pt x="0" y="104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69895" y="5239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82015" y="2025015"/>
              <a:ext cx="428053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82015" y="2578418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82015" y="3131820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2015" y="3685222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82015" y="4237672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82015" y="4791075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82015" y="5344478"/>
              <a:ext cx="428053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64451" y="2155031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 Actor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98865" y="27084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（确定场景）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71178" y="32618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确定用例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71178" y="38152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改进用例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26551" y="43676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确定用例间的关系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98865" y="49210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确定参与对象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26551" y="54744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确定非功能性需求</a:t>
              </a:r>
            </a:p>
          </p:txBody>
        </p:sp>
      </p:grpSp>
      <p:grpSp>
        <p:nvGrpSpPr>
          <p:cNvPr id="56" name="c2-kv-1"/>
          <p:cNvGrpSpPr/>
          <p:nvPr/>
        </p:nvGrpSpPr>
        <p:grpSpPr>
          <a:xfrm>
            <a:off x="5808345" y="1992630"/>
            <a:ext cx="5850255" cy="2933700"/>
            <a:chOff x="5808345" y="1992630"/>
            <a:chExt cx="5850255" cy="2933700"/>
          </a:xfrm>
        </p:grpSpPr>
        <p:sp>
          <p:nvSpPr>
            <p:cNvPr id="36" name="TextBox 36"/>
            <p:cNvSpPr txBox="1"/>
            <p:nvPr/>
          </p:nvSpPr>
          <p:spPr>
            <a:xfrm>
              <a:off x="5808345" y="1992630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确定 Actor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46620" y="19926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先问客户，硬件和外部系统也算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3126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08345" y="24326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确定场景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46620" y="24326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直接归纳用例有困难时才用，用具体例子铺路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7527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08345" y="28727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确定用例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46620" y="287274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把场景归纳成角色级别的完整功能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31927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8345" y="33127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改进用例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6620" y="331279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补上错误分支和异常分支，从能用走到全面完整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36328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8345" y="37528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确定关系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46620" y="37528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用包含、扩展、泛化减少复杂性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0728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08345" y="41929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确定参与对象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46620" y="419290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从用例迈向对象，这一步产生最初的分析模型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45129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08345" y="463296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非功能性需求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46620" y="463296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性能、可靠性、安全等，写进用例的特殊需求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5815965" y="5057775"/>
            <a:ext cx="5842635" cy="782955"/>
            <a:chOff x="5815965" y="5057775"/>
            <a:chExt cx="5842635" cy="782955"/>
          </a:xfrm>
        </p:grpSpPr>
        <p:sp>
          <p:nvSpPr>
            <p:cNvPr id="57" name="Rectangle 57"/>
            <p:cNvSpPr/>
            <p:nvPr/>
          </p:nvSpPr>
          <p:spPr>
            <a:xfrm>
              <a:off x="5815965" y="505777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020753" y="5349242"/>
              <a:ext cx="200023" cy="200023"/>
              <a:chOff x="6020753" y="5349242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20753" y="53492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54103" y="54159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322695" y="5206365"/>
              <a:ext cx="4815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前五步还在谈"功能"，第六步开始谈"对象"，这是需求提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取转向分析的分水岭。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确定参与对象：从用例迈向对象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2525078"/>
            <a:chOff x="533400" y="1524000"/>
            <a:chExt cx="5626418" cy="25250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25078"/>
            </a:xfrm>
            <a:prstGeom prst="roundRect">
              <a:avLst>
                <a:gd name="adj" fmla="val 5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5837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8666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确定每个用例的参与对象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参与对象对应问题空间里的主要概念，把它们列出来就形成了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术语表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参与对象的确定产生了最初的分析模型。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3133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对象的描述和属性可以交给用户评审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4109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35137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这是整个分析模型与用户衔接的部分，通常不会拿完整的分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析模型去烦用户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233862"/>
            <a:ext cx="5626418" cy="1383030"/>
            <a:chOff x="533400" y="4233862"/>
            <a:chExt cx="5626418" cy="1383030"/>
          </a:xfrm>
        </p:grpSpPr>
        <p:sp>
          <p:nvSpPr>
            <p:cNvPr id="19" name="Rectangle 19"/>
            <p:cNvSpPr/>
            <p:nvPr/>
          </p:nvSpPr>
          <p:spPr>
            <a:xfrm>
              <a:off x="533400" y="4233862"/>
              <a:ext cx="5626418" cy="1383030"/>
            </a:xfrm>
            <a:prstGeom prst="roundRect">
              <a:avLst>
                <a:gd name="adj" fmla="val 82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826318"/>
              <a:ext cx="200026" cy="200025"/>
              <a:chOff x="738188" y="4826318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8263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8707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9818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69534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术语表的真正作用是让开发方和客户对同一个词的理解一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致，避免后面返工。</a:t>
              </a:r>
            </a:p>
          </p:txBody>
        </p:sp>
      </p:grpSp>
      <p:grpSp>
        <p:nvGrpSpPr>
          <p:cNvPr id="43" name="c2-bullets-1"/>
          <p:cNvGrpSpPr/>
          <p:nvPr/>
        </p:nvGrpSpPr>
        <p:grpSpPr>
          <a:xfrm>
            <a:off x="6457379" y="1547336"/>
            <a:ext cx="5236107" cy="2922842"/>
            <a:chOff x="6457379" y="1547336"/>
            <a:chExt cx="5236107" cy="2922842"/>
          </a:xfrm>
        </p:grpSpPr>
        <p:sp>
          <p:nvSpPr>
            <p:cNvPr id="26" name="TextBox 26"/>
            <p:cNvSpPr txBox="1"/>
            <p:nvPr/>
          </p:nvSpPr>
          <p:spPr>
            <a:xfrm>
              <a:off x="6457379" y="154733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确定参与对象的试探法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464618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08838" y="188642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开发人员或用户为理解用例所必须阐明的术语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464618" y="2245042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08838" y="221503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用例中的常用名词（如，事件）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464618" y="257460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8838" y="2544604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系统需要跟踪的现实世界实体（如，现场工作人员、资源）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464618" y="290417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8838" y="287416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系统需要跟踪的现实世界过程（如，紧急操作计划）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464618" y="3232785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08838" y="320278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用例本身（如，报告紧急情况）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64618" y="356235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8838" y="353234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数据来源或数据接受器（如，打印机）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464618" y="389191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08838" y="386191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接口产品（如，工作站）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464618" y="422148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08838" y="419147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总要使用的应用域的术语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464618" y="4598670"/>
            <a:ext cx="5193982" cy="1018222"/>
            <a:chOff x="6464618" y="4598670"/>
            <a:chExt cx="5193982" cy="1018222"/>
          </a:xfrm>
        </p:grpSpPr>
        <p:sp>
          <p:nvSpPr>
            <p:cNvPr id="44" name="Rectangle 44"/>
            <p:cNvSpPr/>
            <p:nvPr/>
          </p:nvSpPr>
          <p:spPr>
            <a:xfrm>
              <a:off x="6464618" y="459867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5008245"/>
              <a:ext cx="200026" cy="200026"/>
              <a:chOff x="6669405" y="500824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50082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69418" y="50749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58305" y="51082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729" y="4746784"/>
              <a:ext cx="41803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对"报告紧急情况"用例照这几条筛一遍，最初得到调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度员、紧急情况报告、现场工作人员、事件四个参与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73168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名词法只是起点。像"信息""数据"这种没有具体含义的名词要先问清楚再决定留不留。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从需求提取到分析：分析模型是什么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912495" y="1602105"/>
            <a:ext cx="4652962" cy="2225040"/>
            <a:chOff x="912495" y="1602105"/>
            <a:chExt cx="4652962" cy="2225040"/>
          </a:xfrm>
        </p:grpSpPr>
        <p:sp>
          <p:nvSpPr>
            <p:cNvPr id="7" name="Freeform 7"/>
            <p:cNvSpPr/>
            <p:nvPr/>
          </p:nvSpPr>
          <p:spPr>
            <a:xfrm>
              <a:off x="3238500" y="2040255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20935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636520"/>
              <a:ext cx="9525" cy="51435"/>
            </a:xfrm>
            <a:custGeom>
              <a:avLst/>
              <a:gdLst/>
              <a:ahLst/>
              <a:cxnLst/>
              <a:rect l="l" t="t" r="r" b="b"/>
              <a:pathLst>
                <a:path w="9525" h="51435">
                  <a:moveTo>
                    <a:pt x="0" y="0"/>
                  </a:moveTo>
                  <a:lnTo>
                    <a:pt x="0" y="514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687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230880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0"/>
                  </a:moveTo>
                  <a:lnTo>
                    <a:pt x="0" y="53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6112" y="32842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1602105"/>
              <a:ext cx="4652962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12495" y="2198370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2495" y="2792730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2495" y="3388995"/>
              <a:ext cx="4652962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87396" y="17321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需求提取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8141" y="23283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用例和场景形式的需求说明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84298" y="292369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细化描述、规范和形式化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87396" y="35190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分析模型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095750"/>
            <a:ext cx="5410200" cy="1786890"/>
            <a:chOff x="533400" y="4095750"/>
            <a:chExt cx="5410200" cy="1786890"/>
          </a:xfrm>
        </p:grpSpPr>
        <p:sp>
          <p:nvSpPr>
            <p:cNvPr id="22" name="Rectangle 22"/>
            <p:cNvSpPr/>
            <p:nvPr/>
          </p:nvSpPr>
          <p:spPr>
            <a:xfrm>
              <a:off x="533400" y="4095750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42950" y="4305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3158" y="4341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330" y="46824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分析模型对应传统开发里的需求规约文档，同时还包含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系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统高层设计的起始部分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2055495"/>
            <a:chOff x="6248400" y="1524000"/>
            <a:chExt cx="5410200" cy="205549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205549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7887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7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分析模型的四个性质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12979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准确：说的就是客户要的那件事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9704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完整：该有的功能、异常、约束都在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7040" y="28003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一致：前后不打架，术语只有一种含义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6050" y="31222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7899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97040" y="313563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可检验：每条都能设计出办法验证它做到没有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6240780" y="3794760"/>
            <a:ext cx="5417820" cy="1173480"/>
            <a:chOff x="6240780" y="3794760"/>
            <a:chExt cx="5417820" cy="1173480"/>
          </a:xfrm>
        </p:grpSpPr>
        <p:sp>
          <p:nvSpPr>
            <p:cNvPr id="45" name="TextBox 45"/>
            <p:cNvSpPr txBox="1"/>
            <p:nvPr/>
          </p:nvSpPr>
          <p:spPr>
            <a:xfrm>
              <a:off x="6240780" y="3794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功能模型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1862" y="37947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4114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0780" y="4234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对象模型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81862" y="4234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类图、对象图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554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0780" y="46748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动态模型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81862" y="46748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顺序图、状态图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248400" y="5099685"/>
            <a:ext cx="5410200" cy="782955"/>
            <a:chOff x="6248400" y="5099685"/>
            <a:chExt cx="5410200" cy="782955"/>
          </a:xfrm>
        </p:grpSpPr>
        <p:sp>
          <p:nvSpPr>
            <p:cNvPr id="54" name="Rectangle 54"/>
            <p:cNvSpPr/>
            <p:nvPr/>
          </p:nvSpPr>
          <p:spPr>
            <a:xfrm>
              <a:off x="6248400" y="509968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5391150"/>
              <a:ext cx="200026" cy="200025"/>
              <a:chOff x="6453188" y="539115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3911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92926" y="54356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7642" y="55467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130" y="524827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分析的三个活动：提取分析类、转述用例或场景、整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理分析类。本章后三节正好对应这三件事。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分析类是概念层的东西，粗糙才是对的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70685"/>
            <a:chOff x="533400" y="1524000"/>
            <a:chExt cx="5410200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分析类（也叫分析对象）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分析类是概念层的内容，从它们可以捕获系统对象模型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的雏形。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分析类相当粗略，不要往其中添加技术细节。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85185"/>
            <a:ext cx="5410200" cy="1937385"/>
            <a:chOff x="533400" y="3385185"/>
            <a:chExt cx="5410200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33851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1853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5947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4507" y="36304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常见做法错误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71925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在分析类里写数据库字段类型、写 getter/setter、写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框架注解。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5929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这些属于设计和实现阶段，写早了会在需求变动时全部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重做。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335405"/>
            <a:chOff x="6248400" y="1524000"/>
            <a:chExt cx="5410200" cy="133540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57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0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划分原则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42823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尽量减小需求变化的影响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0330" y="21297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手段是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高内聚、低耦合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：把会一起变的东西放在一起，把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变化速度不同的东西分开。</a:t>
              </a:r>
            </a:p>
          </p:txBody>
        </p:sp>
      </p:grpSp>
      <p:grpSp>
        <p:nvGrpSpPr>
          <p:cNvPr id="36" name="c2-kv-2"/>
          <p:cNvGrpSpPr/>
          <p:nvPr/>
        </p:nvGrpSpPr>
        <p:grpSpPr>
          <a:xfrm>
            <a:off x="6240780" y="3074670"/>
            <a:ext cx="5417820" cy="1173480"/>
            <a:chOff x="6240780" y="3074670"/>
            <a:chExt cx="5417820" cy="1173480"/>
          </a:xfrm>
        </p:grpSpPr>
        <p:sp>
          <p:nvSpPr>
            <p:cNvPr id="28" name="TextBox 28"/>
            <p:cNvSpPr txBox="1"/>
            <p:nvPr/>
          </p:nvSpPr>
          <p:spPr>
            <a:xfrm>
              <a:off x="6240780" y="30746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实体类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3742" y="30746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系统要记录和维护的信息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33947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0780" y="35147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边界类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3742" y="35147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系统和外部要素之间交互的边界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834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0780" y="39547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控制类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3742" y="395478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用例中行为的协调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248400" y="4379595"/>
            <a:ext cx="5410200" cy="942975"/>
            <a:chOff x="6248400" y="4379595"/>
            <a:chExt cx="5410200" cy="942975"/>
          </a:xfrm>
        </p:grpSpPr>
        <p:sp>
          <p:nvSpPr>
            <p:cNvPr id="37" name="Rectangle 37"/>
            <p:cNvSpPr/>
            <p:nvPr/>
          </p:nvSpPr>
          <p:spPr>
            <a:xfrm>
              <a:off x="6248400" y="4379595"/>
              <a:ext cx="5410200" cy="942975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4751070"/>
              <a:ext cx="200026" cy="200026"/>
              <a:chOff x="6453188" y="475107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47510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53200" y="48177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42088" y="48510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130" y="460819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界面换一套、业务流程改一版、数据结构调一次，这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三种变化的频率完全不同，所以要分成三类。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三类分析类各自隔离一类变化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2787015"/>
            <a:chOff x="533400" y="1524000"/>
            <a:chExt cx="6276022" cy="27870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199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017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0300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隔离了什么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3331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2983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92174" y="219170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必须存储的信息，以及与这些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信息直接相关的操作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76282" y="2085022"/>
              <a:ext cx="15361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与外部环境、与特定用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例的控制逻辑都是弱耦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9374" y="229838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&lt;&lt;entity&gt;&gt;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606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0828"/>
              <a:ext cx="6276022" cy="8572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31556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2174" y="2942272"/>
              <a:ext cx="19933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系统外部环境与内部运作之间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的交互，负责内容翻译、形式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转换并表达结果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76282" y="304895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把实体类、控制类与外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部环境隔离开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9374" y="3048952"/>
              <a:ext cx="9342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&lt;&lt;boundary&gt;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6633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9062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2174" y="379952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一个用例特有的事件流中的控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制行为，起协调人作用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76282" y="379952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把用例特有的行为与实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体类、边界类隔离开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9374" y="3906202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&lt;&lt;control&gt;&gt;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276022" cy="27870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282065" y="1524000"/>
              <a:ext cx="9525" cy="27870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666172" y="1524000"/>
              <a:ext cx="9525" cy="27870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49265" y="1524000"/>
              <a:ext cx="9525" cy="27870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kv-2"/>
          <p:cNvGrpSpPr/>
          <p:nvPr/>
        </p:nvGrpSpPr>
        <p:grpSpPr>
          <a:xfrm>
            <a:off x="526161" y="4520089"/>
            <a:ext cx="5702491" cy="546354"/>
            <a:chOff x="526161" y="4520089"/>
            <a:chExt cx="5702491" cy="546354"/>
          </a:xfrm>
        </p:grpSpPr>
        <p:sp>
          <p:nvSpPr>
            <p:cNvPr id="32" name="TextBox 32"/>
            <p:cNvSpPr txBox="1"/>
            <p:nvPr/>
          </p:nvSpPr>
          <p:spPr>
            <a:xfrm>
              <a:off x="526161" y="45200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图示画法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25334" y="4520089"/>
              <a:ext cx="47033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实体类是底部带一条横线的圆，边界类是左侧带一条竖线的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圆，控制类是带回转箭头的圆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5195888"/>
            <a:ext cx="6276022" cy="756285"/>
            <a:chOff x="533400" y="5195888"/>
            <a:chExt cx="6276022" cy="756285"/>
          </a:xfrm>
        </p:grpSpPr>
        <p:sp>
          <p:nvSpPr>
            <p:cNvPr id="35" name="Rectangle 35"/>
            <p:cNvSpPr/>
            <p:nvPr/>
          </p:nvSpPr>
          <p:spPr>
            <a:xfrm>
              <a:off x="533400" y="5195888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474020"/>
              <a:ext cx="200023" cy="200023"/>
              <a:chOff x="738188" y="547402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4740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5540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343049"/>
              <a:ext cx="52443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因为控制类把用例特有的行为收走了，实体类和边界类才有可能跨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越多个用例复用。</a:t>
              </a:r>
            </a:p>
          </p:txBody>
        </p:sp>
      </p:grpSp>
      <p:grpSp>
        <p:nvGrpSpPr>
          <p:cNvPr id="43" name="c2-image-1"/>
          <p:cNvGrpSpPr/>
          <p:nvPr/>
        </p:nvGrpSpPr>
        <p:grpSpPr>
          <a:xfrm>
            <a:off x="7114222" y="1524000"/>
            <a:ext cx="4544378" cy="3278982"/>
            <a:chOff x="7114222" y="1524000"/>
            <a:chExt cx="4544378" cy="3278982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rcRect l="0" t="9338" r="0" b="9337"/>
            <a:stretch>
              <a:fillRect/>
            </a:stretch>
          </p:blipFill>
          <p:spPr>
            <a:xfrm>
              <a:off x="7114222" y="1524000"/>
              <a:ext cx="4544378" cy="2771775"/>
            </a:xfrm>
            <a:prstGeom prst="roundRect">
              <a:avLst>
                <a:gd name="adj" fmla="val 4810"/>
              </a:avLst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7246620" y="4390549"/>
              <a:ext cx="4278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边界类像接待的服务员，控制类像调度的主厨，实体类像储藏室的货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架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7114222" y="4963478"/>
            <a:ext cx="4544378" cy="988695"/>
            <a:chOff x="7114222" y="4963478"/>
            <a:chExt cx="4544378" cy="988695"/>
          </a:xfrm>
        </p:grpSpPr>
        <p:sp>
          <p:nvSpPr>
            <p:cNvPr id="44" name="Rectangle 44"/>
            <p:cNvSpPr/>
            <p:nvPr/>
          </p:nvSpPr>
          <p:spPr>
            <a:xfrm>
              <a:off x="7114222" y="4963478"/>
              <a:ext cx="4544378" cy="988695"/>
            </a:xfrm>
            <a:prstGeom prst="roundRect">
              <a:avLst>
                <a:gd name="adj" fmla="val 1156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06952" y="5354121"/>
              <a:ext cx="224134" cy="192560"/>
              <a:chOff x="7306952" y="5354121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419023" y="54244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306952" y="53541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9023" y="55022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621334" y="5226844"/>
              <a:ext cx="36212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边界类是概念层的东西，不是要在这一步把界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面画出来。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三类分析类分别从哪里来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201602" cy="1455420"/>
            <a:chOff x="525780" y="1548765"/>
            <a:chExt cx="5201602" cy="14554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实体类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8742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从参与对象中选取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边界类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742" y="1988820"/>
              <a:ext cx="4082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通常一个 Actor 与用例之间的通信关联对应一个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控制类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8742" y="27108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通常一个用例对应一个控制类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35630"/>
            <a:ext cx="5193982" cy="2186940"/>
            <a:chOff x="533400" y="3135630"/>
            <a:chExt cx="5193982" cy="2186940"/>
          </a:xfrm>
        </p:grpSpPr>
        <p:sp>
          <p:nvSpPr>
            <p:cNvPr id="16" name="Rectangle 16"/>
            <p:cNvSpPr/>
            <p:nvPr/>
          </p:nvSpPr>
          <p:spPr>
            <a:xfrm>
              <a:off x="533400" y="3135630"/>
              <a:ext cx="5193982" cy="218694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68980"/>
              <a:ext cx="47625" cy="19202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34518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6160" y="338089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9202" y="33804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简单手表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374142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时、分、秒是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实体类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，它们是手表要记录的信息。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0767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按钮和液晶屏是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边界类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，人通过它们和手表打交道。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4119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改变日期是控制类，代表通过组合按钮改变时间的这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一段活动。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524000"/>
            <a:ext cx="5626418" cy="1937385"/>
            <a:chOff x="6032182" y="1524000"/>
            <a:chExt cx="5626418" cy="1937385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79832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558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为什么数量大致对得上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2212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一个用例一个控制类，是因为控制类的生命周期就等于这个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用例的范围。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72212" y="27317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一个通信关联一个边界类，是因为每条与外界的通道都要有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人负责翻译格式。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032182" y="3651885"/>
            <a:ext cx="5626418" cy="1670685"/>
            <a:chOff x="6032182" y="3651885"/>
            <a:chExt cx="5626418" cy="1670685"/>
          </a:xfrm>
        </p:grpSpPr>
        <p:sp>
          <p:nvSpPr>
            <p:cNvPr id="32" name="Rectangle 32"/>
            <p:cNvSpPr/>
            <p:nvPr/>
          </p:nvSpPr>
          <p:spPr>
            <a:xfrm>
              <a:off x="6032182" y="3651885"/>
              <a:ext cx="5626418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378523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79832" y="38614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7239" y="38971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对照上一节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6628" y="389667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参与对象与实体类的关系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2212" y="42576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参与对象是在需求提取阶段列出来的名词表。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2212" y="45929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进入分析阶段后，其中需要系统长期保存的那些，才成为实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体类。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三类分析类的数量比例失衡时要警惕：控制类比用例多很多，往往说明用例拆得不干净。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标识实体对象的试探法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26542" y="1545907"/>
            <a:ext cx="5527929" cy="2432876"/>
            <a:chOff x="526542" y="1545907"/>
            <a:chExt cx="5527929" cy="243287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从哪里找实体对象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9166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0382" y="186309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为理解用例，开发人员或用户需要阐明的术语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0027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0382" y="21717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用例中反复出现的名词（如，事件）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0888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0382" y="24803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系统需要一直跟踪的现实世界的实体（如，现场工作人员、资源）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81749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0382" y="278892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系统需要一直跟踪的现实世界的活动（如，紧急操作计划）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12610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0382" y="309753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用例本身（如，报告紧急情况）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343471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0382" y="34061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数据源点或终点（如，打印机）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374332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0382" y="37147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总是使用的用户术语</a:t>
              </a:r>
            </a:p>
          </p:txBody>
        </p:sp>
      </p:grpSp>
      <p:grpSp>
        <p:nvGrpSpPr>
          <p:cNvPr id="39" name="c1-compare-2"/>
          <p:cNvGrpSpPr/>
          <p:nvPr/>
        </p:nvGrpSpPr>
        <p:grpSpPr>
          <a:xfrm>
            <a:off x="533400" y="4095750"/>
            <a:ext cx="5842636" cy="2252662"/>
            <a:chOff x="533400" y="4095750"/>
            <a:chExt cx="5842636" cy="2252662"/>
          </a:xfrm>
        </p:grpSpPr>
        <p:sp>
          <p:nvSpPr>
            <p:cNvPr id="23" name="Rectangle 23"/>
            <p:cNvSpPr/>
            <p:nvPr/>
          </p:nvSpPr>
          <p:spPr>
            <a:xfrm>
              <a:off x="533400" y="4095750"/>
              <a:ext cx="2292668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22910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332" y="43043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留下来的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467772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4621530"/>
              <a:ext cx="1556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紧急情况报告：关机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后还要留着，能被调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度员反复查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54921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543591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事件：有状态，会从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打开走到关闭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83368" y="4095750"/>
              <a:ext cx="2292668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092892" y="422910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01300" y="43043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没留下的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316730" y="467772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72750" y="4621530"/>
              <a:ext cx="1556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紧急情况报告表单：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提交完就销毁，属于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边界对象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316730" y="54921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72750" y="5435918"/>
              <a:ext cx="1556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蜂鸣声：只是一次提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示，没有需要保存的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2873692" y="4640580"/>
              <a:ext cx="1162050" cy="1162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04744" y="516636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拿本章的例子试一遍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524000"/>
            <a:ext cx="4977765" cy="2317432"/>
            <a:chOff x="6680835" y="1524000"/>
            <a:chExt cx="4977765" cy="2317432"/>
          </a:xfrm>
        </p:grpSpPr>
        <p:sp>
          <p:nvSpPr>
            <p:cNvPr id="40" name="Rectangle 40"/>
            <p:cNvSpPr/>
            <p:nvPr/>
          </p:nvSpPr>
          <p:spPr>
            <a:xfrm>
              <a:off x="6680835" y="1524000"/>
              <a:ext cx="4977765" cy="2317432"/>
            </a:xfrm>
            <a:prstGeom prst="roundRect">
              <a:avLst>
                <a:gd name="adj" fmla="val 57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0360" y="1657350"/>
              <a:ext cx="47625" cy="20507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05625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1147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注意事项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0774" y="17459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别在细节上耗时间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98767" y="207168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标识实体对象时，分析模型处于不断变化中，不必花太多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时间处理对象或属性的细节。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8767" y="262890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显而易见的就记录下来，否则对每个对象做试验性的命名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和简短描述即可。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8767" y="318611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一旦分析模型稳定下来，每个对象的描述就应该尽可能详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680835" y="4010978"/>
            <a:ext cx="4977765" cy="729615"/>
            <a:chOff x="6680835" y="4010978"/>
            <a:chExt cx="4977765" cy="729615"/>
          </a:xfrm>
        </p:grpSpPr>
        <p:sp>
          <p:nvSpPr>
            <p:cNvPr id="49" name="Rectangle 49"/>
            <p:cNvSpPr/>
            <p:nvPr/>
          </p:nvSpPr>
          <p:spPr>
            <a:xfrm>
              <a:off x="6680835" y="401097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85623" y="4275773"/>
              <a:ext cx="200026" cy="200025"/>
              <a:chOff x="6885623" y="42757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85623" y="42757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25361" y="43202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60077" y="44313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8327" y="4157662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「一直跟踪」是关键词：用完就扔的数据不是实体对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象，系统关机后还要留着的才是。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从需求提取到分析模型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标识边界对象和控制对象的试探法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374582"/>
            <a:chOff x="533400" y="1524000"/>
            <a:chExt cx="5410200" cy="2374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74582"/>
            </a:xfrm>
            <a:prstGeom prst="roundRect">
              <a:avLst>
                <a:gd name="adj" fmla="val 5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078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边界对象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确定用户需要将数据输入系统的窗口或表格（如，紧急情况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报告表单、报告紧急情况按钮）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确定系统对用户的响应或消息（如，确认通知）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9918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3560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不要用边界对象对界面的可视方面建模，用户模型更适于做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这件事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5509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49472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总是用用户的术语而不是实现技术的术语来描述界面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72890"/>
            <a:ext cx="5410200" cy="1466850"/>
            <a:chOff x="533400" y="4072890"/>
            <a:chExt cx="5410200" cy="1466850"/>
          </a:xfrm>
        </p:grpSpPr>
        <p:sp>
          <p:nvSpPr>
            <p:cNvPr id="20" name="Rectangle 20"/>
            <p:cNvSpPr/>
            <p:nvPr/>
          </p:nvSpPr>
          <p:spPr>
            <a:xfrm>
              <a:off x="533400" y="407289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20624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42652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7344" y="42995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047" y="462248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界面设计会不断演化，甚至在功能性说明稳定之后仍会变。分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析模型和界面可视部分互相牵动，会耗掉很多协调时间。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071688"/>
            <a:chOff x="6248400" y="1524000"/>
            <a:chExt cx="5410200" cy="2071688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控制对象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43497" y="207264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为每个用例标识一个控制对象；如果用例比较复杂并且能分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解成更短的事件流，就为它标识多个控制对象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87478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3497" y="2632710"/>
              <a:ext cx="3355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为用例中的每个 Actor 标识一个控制对象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29918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293560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一个控制对象的生命周期应该是对应用例的范围，或者一个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用户界面的范围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3770948"/>
            <a:ext cx="5410200" cy="1768792"/>
            <a:chOff x="6248400" y="3770948"/>
            <a:chExt cx="5410200" cy="1768792"/>
          </a:xfrm>
        </p:grpSpPr>
        <p:sp>
          <p:nvSpPr>
            <p:cNvPr id="37" name="Rectangle 37"/>
            <p:cNvSpPr/>
            <p:nvPr/>
          </p:nvSpPr>
          <p:spPr>
            <a:xfrm>
              <a:off x="6248400" y="3770948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904298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8905" y="396335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2344" y="39976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注意事项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2047" y="431958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控制对象通常在现实世界没有具体的对应部分，它在用例开始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时创建，用例终止时消失。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2047" y="487965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若很难确定一个控制对象活动的开始和结束，说明对应的用例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可能没有定义明确的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入口和出口条件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控制对象找不到边界，问题多半出在用例上，回去改用例比硬拆类更省事。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398264" cy="2643187"/>
            <a:chOff x="667512" y="1835468"/>
            <a:chExt cx="4398264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转述用例：画顺序图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把用例的一段文字，摊到各个分析对象身上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顺序图明确了对象的职责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实体对象从不主动访问控制和边界对象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转述用例：画顺序图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用交互图把用例的文字描述转述一遍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31658"/>
            <a:chOff x="533400" y="1524000"/>
            <a:chExt cx="5410200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转述用例或场景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3391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把文字描述的用例表述为 UML 的交互图。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9268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顺序图：联系用例与分析对象，表示用例的行为如何在各分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析对象间分布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协作图：表达分析对象之间的连接关系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530918"/>
            <a:ext cx="5410200" cy="729615"/>
            <a:chOff x="533400" y="3530918"/>
            <a:chExt cx="5410200" cy="729615"/>
          </a:xfrm>
        </p:grpSpPr>
        <p:sp>
          <p:nvSpPr>
            <p:cNvPr id="18" name="Rectangle 18"/>
            <p:cNvSpPr/>
            <p:nvPr/>
          </p:nvSpPr>
          <p:spPr>
            <a:xfrm>
              <a:off x="533400" y="353091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3795715"/>
              <a:ext cx="200023" cy="200023"/>
              <a:chOff x="738188" y="3795715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37957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3862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367665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顺序图强调「什么时候发生」，协作图强调「谁连着谁」，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两者信息等价，用途不同。</a:t>
              </a:r>
            </a:p>
          </p:txBody>
        </p:sp>
      </p:grpSp>
      <p:grpSp>
        <p:nvGrpSpPr>
          <p:cNvPr id="35" name="c1-kv-3"/>
          <p:cNvGrpSpPr/>
          <p:nvPr/>
        </p:nvGrpSpPr>
        <p:grpSpPr>
          <a:xfrm>
            <a:off x="526542" y="4457700"/>
            <a:ext cx="5417058" cy="1710881"/>
            <a:chOff x="526542" y="4457700"/>
            <a:chExt cx="5417058" cy="1710881"/>
          </a:xfrm>
        </p:grpSpPr>
        <p:sp>
          <p:nvSpPr>
            <p:cNvPr id="24" name="TextBox 24"/>
            <p:cNvSpPr txBox="1"/>
            <p:nvPr/>
          </p:nvSpPr>
          <p:spPr>
            <a:xfrm>
              <a:off x="526542" y="44577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09497" y="4457700"/>
              <a:ext cx="42999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竖线是对象的生命线，横箭头是消息，从上往下读就是时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0006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542" y="51092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激活条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9497" y="510921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生命线上加粗的那一段，表示对象这时候正在执行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3978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542" y="55073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叉号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09497" y="550735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生命线末端的叉，表示对象在这里被销毁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795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59045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协作图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09497" y="590454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只画对象和连线，消息编号写在连线上</a:t>
              </a:r>
            </a:p>
          </p:txBody>
        </p:sp>
      </p:grpSp>
      <p:grpSp>
        <p:nvGrpSpPr>
          <p:cNvPr id="52" name="c2-bullets-1"/>
          <p:cNvGrpSpPr/>
          <p:nvPr/>
        </p:nvGrpSpPr>
        <p:grpSpPr>
          <a:xfrm>
            <a:off x="6241542" y="1545907"/>
            <a:ext cx="5101971" cy="2086166"/>
            <a:chOff x="6241542" y="1545907"/>
            <a:chExt cx="5101971" cy="2086166"/>
          </a:xfrm>
        </p:grpSpPr>
        <p:sp>
          <p:nvSpPr>
            <p:cNvPr id="36" name="TextBox 36"/>
            <p:cNvSpPr txBox="1"/>
            <p:nvPr/>
          </p:nvSpPr>
          <p:spPr>
            <a:xfrm>
              <a:off x="6241542" y="154590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顺序图的试探画法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48400" y="185356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4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9197" y="1865947"/>
              <a:ext cx="2391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第一列对应用例的主动 Actor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21650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4078" y="22034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9197" y="2177415"/>
              <a:ext cx="2992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第二列是主动 Actor 对应的边界对象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247650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4078" y="25148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29197" y="248888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第三列是管理用例剩余部分的控制对象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48400" y="278701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4078" y="28263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9197" y="279939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由初始化用例的边界对象来创建控制对象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48400" y="309848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04078" y="31368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29197" y="311086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实体对象被控制对象和边界对象访问，但它从不去访问控制对象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和边界对象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3753802"/>
            <a:ext cx="5410200" cy="729615"/>
            <a:chOff x="6248400" y="3753802"/>
            <a:chExt cx="5410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6248400" y="375380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41129" y="4014906"/>
              <a:ext cx="224134" cy="192560"/>
              <a:chOff x="6441129" y="401490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53200" y="40852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41129" y="40149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53200" y="41630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892" y="3900488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5 条是硬规则。实体对象一旦去调边界或控制，它就被某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个用例绑死了，换用例就要改它。</a:t>
              </a:r>
            </a:p>
          </p:txBody>
        </p:sp>
      </p:grpSp>
      <p:grpSp>
        <p:nvGrpSpPr>
          <p:cNvPr id="66" name="c2-card-3"/>
          <p:cNvGrpSpPr/>
          <p:nvPr/>
        </p:nvGrpSpPr>
        <p:grpSpPr>
          <a:xfrm>
            <a:off x="6248400" y="4658678"/>
            <a:ext cx="5410200" cy="1511618"/>
            <a:chOff x="6248400" y="4658678"/>
            <a:chExt cx="5410200" cy="1511618"/>
          </a:xfrm>
        </p:grpSpPr>
        <p:sp>
          <p:nvSpPr>
            <p:cNvPr id="60" name="Rectangle 60"/>
            <p:cNvSpPr/>
            <p:nvPr/>
          </p:nvSpPr>
          <p:spPr>
            <a:xfrm>
              <a:off x="6248400" y="4658678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4792028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8905" y="485108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6342" y="488537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对照第一张顺序图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2047" y="520731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前三列依次是现场工作人员、报告紧急情况按钮、报告紧急情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况控制，正好按第 1 到 3 条排。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72047" y="576738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控制对象由按钮创建，对应第 4 条。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转述用例：画顺序图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典型的顺序图对象布局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从左到右：人、界面、逻辑、数据、对外通道、外部系统。列的顺序固定下来，图就容易读。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666750" y="2531745"/>
            <a:ext cx="10858500" cy="385762"/>
            <a:chOff x="666750" y="2531745"/>
            <a:chExt cx="10858500" cy="385762"/>
          </a:xfrm>
        </p:grpSpPr>
        <p:sp>
          <p:nvSpPr>
            <p:cNvPr id="9" name="Rectangle 9"/>
            <p:cNvSpPr/>
            <p:nvPr/>
          </p:nvSpPr>
          <p:spPr>
            <a:xfrm>
              <a:off x="666750" y="2531745"/>
              <a:ext cx="1323022" cy="385762"/>
            </a:xfrm>
            <a:prstGeom prst="roundRect">
              <a:avLst>
                <a:gd name="adj" fmla="val 1975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56472" y="253174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45242" y="253174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34965" y="253174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23735" y="253174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613458" y="2531745"/>
              <a:ext cx="132302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202228" y="2531745"/>
              <a:ext cx="1323022" cy="385762"/>
            </a:xfrm>
            <a:prstGeom prst="roundRect">
              <a:avLst>
                <a:gd name="adj" fmla="val 1975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1296" y="26465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10244" y="26465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99014" y="26465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控制逻辑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21030" y="2646521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实体信息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0752" y="2646521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实体信息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16454" y="26465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外部系统接口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56951" y="26465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外部系统</a:t>
              </a:r>
            </a:p>
          </p:txBody>
        </p:sp>
      </p:grpSp>
      <p:grpSp>
        <p:nvGrpSpPr>
          <p:cNvPr id="49" name="c1-table-2"/>
          <p:cNvGrpSpPr/>
          <p:nvPr/>
        </p:nvGrpSpPr>
        <p:grpSpPr>
          <a:xfrm>
            <a:off x="533400" y="3690938"/>
            <a:ext cx="11125200" cy="2000250"/>
            <a:chOff x="533400" y="3690938"/>
            <a:chExt cx="111252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533400" y="3690938"/>
              <a:ext cx="11125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87703" y="38123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47846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8283" y="38123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这一列在图上做什么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555" y="42124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用户、外部系统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00412" y="4212431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03520" y="421243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图的两端，消息的最初发起者和最终接收者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486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49103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46124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用户界面、外部系统接口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00412" y="46124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边界对象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03520" y="461248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收集输入、翻译格式、把结果表达出去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8863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5012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控制逻辑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00412" y="5012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03520" y="501253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决定这一步之后该做什么，向两侧转发消息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286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291138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5412581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实体信息 A、B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00412" y="5412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实体对象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15890" y="5300662"/>
              <a:ext cx="643318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03520" y="54125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只被调用，自己不发起调用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690938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98495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201602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0" name="Rectangle 5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8373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顺序图明确了对象的职责，也就是它应该响应哪些消息。画完图，职责清单就有了。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转述用例：画顺序图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顺序图和类图的映射：传入的消息就是这个类的操作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78573" cy="278702"/>
            <a:chOff x="526161" y="1547336"/>
            <a:chExt cx="72785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某个对象上进来的每一条消息，都对应该类的一个操作。自己调自己的消息同样算数。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41195"/>
            <a:ext cx="5410200" cy="3240405"/>
            <a:chOff x="533400" y="1941195"/>
            <a:chExt cx="5410200" cy="324040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6307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顺序图上的消息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77133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发给谁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19739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落成谁的操作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提交查询条件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06077" y="2471261"/>
              <a:ext cx="797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21480" y="2356485"/>
              <a:ext cx="171259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11968" y="2471261"/>
              <a:ext cx="797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287702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检索零件()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6077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检索零件控制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11968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检索零件控制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382804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显示零件列表()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06077" y="3282791"/>
              <a:ext cx="10284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UI（自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21480" y="3168015"/>
              <a:ext cx="1712595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11968" y="3382804"/>
              <a:ext cx="797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95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428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888581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选中零件()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6077" y="3888581"/>
              <a:ext cx="797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21480" y="3773805"/>
              <a:ext cx="171259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11968" y="3888581"/>
              <a:ext cx="797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65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294346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取零件信息()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6077" y="42943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检索零件控制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11968" y="42943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检索零件控制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710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57581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4800124"/>
              <a:ext cx="1526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显示零件详细信息()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06077" y="4700111"/>
              <a:ext cx="10284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UI（自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221480" y="4585335"/>
              <a:ext cx="1712595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311968" y="4800124"/>
              <a:ext cx="797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41195"/>
              <a:ext cx="5410200" cy="32404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801302" y="1941195"/>
              <a:ext cx="9525" cy="3240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207192" y="1941195"/>
              <a:ext cx="9525" cy="3240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allout-2"/>
          <p:cNvGrpSpPr/>
          <p:nvPr/>
        </p:nvGrpSpPr>
        <p:grpSpPr>
          <a:xfrm>
            <a:off x="533400" y="5356860"/>
            <a:ext cx="5410200" cy="865822"/>
            <a:chOff x="533400" y="5356860"/>
            <a:chExt cx="5410200" cy="865822"/>
          </a:xfrm>
        </p:grpSpPr>
        <p:sp>
          <p:nvSpPr>
            <p:cNvPr id="47" name="Rectangle 47"/>
            <p:cNvSpPr/>
            <p:nvPr/>
          </p:nvSpPr>
          <p:spPr>
            <a:xfrm>
              <a:off x="533400" y="5356860"/>
              <a:ext cx="5410200" cy="865822"/>
            </a:xfrm>
            <a:prstGeom prst="roundRect">
              <a:avLst>
                <a:gd name="adj" fmla="val 1320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690237"/>
              <a:ext cx="200023" cy="200023"/>
              <a:chOff x="738188" y="569023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6902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5756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5695950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 3 和 7 是返回消息，不产生新操作，所以表里没有。</a:t>
              </a:r>
            </a:p>
          </p:txBody>
        </p:sp>
      </p:grpSp>
      <p:grpSp>
        <p:nvGrpSpPr>
          <p:cNvPr id="60" name="c2-uml-1"/>
          <p:cNvGrpSpPr/>
          <p:nvPr/>
        </p:nvGrpSpPr>
        <p:grpSpPr>
          <a:xfrm>
            <a:off x="8258175" y="2138362"/>
            <a:ext cx="1390650" cy="1295400"/>
            <a:chOff x="8258175" y="2138362"/>
            <a:chExt cx="1390650" cy="1295400"/>
          </a:xfrm>
        </p:grpSpPr>
        <p:sp>
          <p:nvSpPr>
            <p:cNvPr id="53" name="Rectangle 53"/>
            <p:cNvSpPr/>
            <p:nvPr/>
          </p:nvSpPr>
          <p:spPr>
            <a:xfrm>
              <a:off x="8258175" y="2138362"/>
              <a:ext cx="1390650" cy="1295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64842" y="2145982"/>
              <a:ext cx="137636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58175" y="2535555"/>
              <a:ext cx="139065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258175" y="2630805"/>
              <a:ext cx="139065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15553" y="2195512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75293" y="2346960"/>
              <a:ext cx="756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检索零件 UI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9422" y="2701766"/>
              <a:ext cx="1248283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提交查询条件()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显示零件列表()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选中零件()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显示零件详细信息()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248400" y="3807142"/>
            <a:ext cx="5410200" cy="729615"/>
            <a:chOff x="6248400" y="3807142"/>
            <a:chExt cx="5410200" cy="729615"/>
          </a:xfrm>
        </p:grpSpPr>
        <p:sp>
          <p:nvSpPr>
            <p:cNvPr id="61" name="Rectangle 61"/>
            <p:cNvSpPr/>
            <p:nvPr/>
          </p:nvSpPr>
          <p:spPr>
            <a:xfrm>
              <a:off x="6248400" y="380714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53188" y="4071938"/>
              <a:ext cx="200026" cy="200026"/>
              <a:chOff x="6453188" y="407193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453188" y="4071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53200" y="4138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42088" y="41719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5892" y="395287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把发给同一个对象的四条消息收拢，就是左边这个边界类的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四个操作，一条不多一条不少。</a:t>
              </a:r>
            </a:p>
          </p:txBody>
        </p:sp>
      </p:grpSp>
      <p:grpSp>
        <p:nvGrpSpPr>
          <p:cNvPr id="74" name="c2-card-3"/>
          <p:cNvGrpSpPr/>
          <p:nvPr/>
        </p:nvGrpSpPr>
        <p:grpSpPr>
          <a:xfrm>
            <a:off x="6248400" y="4711065"/>
            <a:ext cx="5410200" cy="1511618"/>
            <a:chOff x="6248400" y="4711065"/>
            <a:chExt cx="5410200" cy="1511618"/>
          </a:xfrm>
        </p:grpSpPr>
        <p:sp>
          <p:nvSpPr>
            <p:cNvPr id="68" name="Rectangle 68"/>
            <p:cNvSpPr/>
            <p:nvPr/>
          </p:nvSpPr>
          <p:spPr>
            <a:xfrm>
              <a:off x="6248400" y="471106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57925" y="4844415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78905" y="490347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66345" y="493776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数一数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72047" y="5260658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落到 UI 上的是 1、4、5、8 四条，落到检索零件控制上的是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2、6 两条。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72047" y="581977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一个类上没有任何传入消息，说明它在这个用例里没有职责。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3802761" cy="2643187"/>
            <a:chOff x="667512" y="1835468"/>
            <a:chExt cx="3802761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整理分析类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职责、关联关系、属性，汇成参与类图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动态图收集素材，静态图是它们的结晶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关联关系要能在事件流里找到根据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整理分析类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从动态图到静态图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70685"/>
            <a:chOff x="533400" y="1524000"/>
            <a:chExt cx="5626418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整理分析类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根据前面得到的一系列交互图，总结出各分析类之间的关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系，最后得出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参与类图 VOPC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这个过程主要是确定分析类的职责和关联关系。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85185"/>
            <a:ext cx="5626418" cy="2141220"/>
            <a:chOff x="533400" y="3385185"/>
            <a:chExt cx="5626418" cy="2141220"/>
          </a:xfrm>
        </p:grpSpPr>
        <p:sp>
          <p:nvSpPr>
            <p:cNvPr id="15" name="Rectangle 15"/>
            <p:cNvSpPr/>
            <p:nvPr/>
          </p:nvSpPr>
          <p:spPr>
            <a:xfrm>
              <a:off x="533400" y="3385185"/>
              <a:ext cx="5626418" cy="2141220"/>
            </a:xfrm>
            <a:prstGeom prst="roundRect">
              <a:avLst>
                <a:gd name="adj" fmla="val 622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35947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6407" y="36304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两条对应关系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39719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消息本身映射成分析类的职责。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30720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消息的传递路径初步映射为分析类之间的关联关系。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6473" y="46391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这就是分析到设计在微观层面的映射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6456998" y="1548765"/>
            <a:ext cx="4949190" cy="1623060"/>
            <a:chOff x="6456998" y="1548765"/>
            <a:chExt cx="4949190" cy="1623060"/>
          </a:xfrm>
        </p:grpSpPr>
        <p:sp>
          <p:nvSpPr>
            <p:cNvPr id="22" name="TextBox 22"/>
            <p:cNvSpPr txBox="1"/>
            <p:nvPr/>
          </p:nvSpPr>
          <p:spPr>
            <a:xfrm>
              <a:off x="6456998" y="1548765"/>
              <a:ext cx="1460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为什么是"初步"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70333" y="19659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28448" y="190309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一条职责有可能响应多条消息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70333" y="23107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8448" y="22479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一条关联关系有可能为多条消息提供传递路径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70333" y="2655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8448" y="259270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动态图一点一滴地为静态图收集素材，静态图则是动态图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的综合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464618" y="3303270"/>
            <a:ext cx="5193982" cy="2223135"/>
            <a:chOff x="6464618" y="3303270"/>
            <a:chExt cx="5193982" cy="2223135"/>
          </a:xfrm>
        </p:grpSpPr>
        <p:sp>
          <p:nvSpPr>
            <p:cNvPr id="30" name="Rectangle 30"/>
            <p:cNvSpPr/>
            <p:nvPr/>
          </p:nvSpPr>
          <p:spPr>
            <a:xfrm>
              <a:off x="6464618" y="3303270"/>
              <a:ext cx="5193982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343662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12268" y="35128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4576" y="35485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工程现实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389001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消息作为单元，把用例描述的需求场景分解成细小的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颗粒；分析类各自的职责和它们之间的关联关系，构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成高层设计方案的雏形。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4648" y="4796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这个过程一般需要选择某种辅助建模工具软件来支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撑，否则不易实用。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职责是响应消息的能力。消息由要求者提出，职责由响应者承担，两边不要混为一谈。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09456" cy="909257"/>
            <a:chOff x="520446" y="342900"/>
            <a:chExt cx="2509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整理分析类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73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参与类图 VOPC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56435"/>
            <a:chOff x="533400" y="1524000"/>
            <a:chExt cx="5410200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35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View of Participating Classes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参与类图中包含一组类和它们之间的关系，这组类参与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特定用例的动态交互内容，也就是该用例的交互图组所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反映的内容。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0365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主要目的是从用例中挖掘出参与类之间的关系。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3670935"/>
            <a:ext cx="5410200" cy="1406842"/>
            <a:chOff x="533400" y="3670935"/>
            <a:chExt cx="5410200" cy="1406842"/>
          </a:xfrm>
        </p:grpSpPr>
        <p:sp>
          <p:nvSpPr>
            <p:cNvPr id="15" name="Rectangle 15"/>
            <p:cNvSpPr/>
            <p:nvPr/>
          </p:nvSpPr>
          <p:spPr>
            <a:xfrm>
              <a:off x="533400" y="3670935"/>
              <a:ext cx="5410200" cy="1406842"/>
            </a:xfrm>
            <a:prstGeom prst="roundRect">
              <a:avLst>
                <a:gd name="adj" fmla="val 81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274822"/>
              <a:ext cx="200023" cy="200023"/>
              <a:chOff x="738188" y="4274822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2748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3414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13194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职责和属性属于某一个分析类，关联关系不属于任何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单个类，所以需要 VOPC 这张图来放它们。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6248400" y="1533525"/>
            <a:ext cx="5139817" cy="2582514"/>
            <a:chOff x="6248400" y="1533525"/>
            <a:chExt cx="5139817" cy="2582514"/>
          </a:xfrm>
        </p:grpSpPr>
        <p:sp>
          <p:nvSpPr>
            <p:cNvPr id="21" name="Rectangle 21"/>
            <p:cNvSpPr/>
            <p:nvPr/>
          </p:nvSpPr>
          <p:spPr>
            <a:xfrm>
              <a:off x="6381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48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33042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1567815"/>
              <a:ext cx="1491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建 VOPC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1023" y="186166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把所有参与该用例的分析类添加到类图中。一般根据基本事件流的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交互图，已可获得大部分甚至全部参与类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9880" y="2453640"/>
              <a:ext cx="1290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定关联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23" y="274653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协作图中对象之间的连接，就是 VOPC 中相应分析类之间关联关系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的动态表现形式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9880" y="3338512"/>
              <a:ext cx="1492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 补充验证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023" y="363235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从基本事件流的协作图入手，再用其他事件流的顺序图加以验证和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4294822"/>
            <a:ext cx="5410200" cy="782955"/>
            <a:chOff x="6248400" y="4294822"/>
            <a:chExt cx="5410200" cy="782955"/>
          </a:xfrm>
        </p:grpSpPr>
        <p:sp>
          <p:nvSpPr>
            <p:cNvPr id="35" name="Rectangle 35"/>
            <p:cNvSpPr/>
            <p:nvPr/>
          </p:nvSpPr>
          <p:spPr>
            <a:xfrm>
              <a:off x="6248400" y="429482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4586288"/>
              <a:ext cx="200026" cy="200026"/>
              <a:chOff x="6453188" y="458628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45862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53200" y="46529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42088" y="46863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130" y="444341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如果基本事件流的协作图涵盖了所有参与类的实例，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VOPC 在外观上会与该协作图相似。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9678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VOPC 里的每条关联都要能在事件流里找到根据，不能来自主观臆断；明确的聚合或组合关系可以直接画上。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整理分析类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确定分析类的职责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职责是分析类实例响应消息并完成特定任务的能力，包括为其他对象提供必要的服务和维护自身的信息。它在后续设计中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演化为设计类的一个或多个操作。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2257425"/>
            <a:ext cx="5410200" cy="2929890"/>
            <a:chOff x="533400" y="2257425"/>
            <a:chExt cx="5410200" cy="292989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410200" cy="2929890"/>
            </a:xfrm>
            <a:prstGeom prst="roundRect">
              <a:avLst>
                <a:gd name="adj" fmla="val 4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26631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308" y="2502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000" y="250221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找出职责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863215"/>
              <a:ext cx="4606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职责和消息有简明的对应关系，所以"转述用例或场景"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的过程既是用消息分解需求的过程，也是找出职责的过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8328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76999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消息和职责并不是一回事，找出职责是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根据消息的要求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定义职责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4538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39102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不需要针对每一条消息定义一个新职责，很多时候利用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已有的职责即可满足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2257425"/>
            <a:ext cx="5410200" cy="1956435"/>
            <a:chOff x="6248400" y="2257425"/>
            <a:chExt cx="5410200" cy="1956435"/>
          </a:xfrm>
        </p:grpSpPr>
        <p:sp>
          <p:nvSpPr>
            <p:cNvPr id="20" name="Rectangle 20"/>
            <p:cNvSpPr/>
            <p:nvPr/>
          </p:nvSpPr>
          <p:spPr>
            <a:xfrm>
              <a:off x="6248400" y="2257425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239077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246697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2308" y="2502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9000" y="250221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简要描述职责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86321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为了获得简明的图示，职责的名称通常比较简短，职责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的实例将取代消息出现在顺序图或协作图中。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430" y="348424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建议给职责附加简要的文字说明，描述它可能对应的操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作逻辑，以及被调用之后返回何种结果。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404360"/>
            <a:ext cx="5410200" cy="782955"/>
            <a:chOff x="6248400" y="4404360"/>
            <a:chExt cx="5410200" cy="782955"/>
          </a:xfrm>
        </p:grpSpPr>
        <p:sp>
          <p:nvSpPr>
            <p:cNvPr id="28" name="Rectangle 28"/>
            <p:cNvSpPr/>
            <p:nvPr/>
          </p:nvSpPr>
          <p:spPr>
            <a:xfrm>
              <a:off x="6248400" y="440436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4695825"/>
              <a:ext cx="200026" cy="200026"/>
              <a:chOff x="6453188" y="4695825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4695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53200" y="4762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42088" y="47958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455295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分析阶段的职责还不是类的操作，本章例子里用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"//" 作前缀把它和真正的操作区分开。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多条消息合并成一条职责，是分析阶段最常见的简化动作，也是判断学生是否真懂的地方。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整理分析类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确定分析类的属性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190177" cy="278702"/>
            <a:chOff x="526161" y="1547336"/>
            <a:chExt cx="919017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190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属性的取值使分析类的实例具有必要的知识，从而履行它承担的职责。确定属性的工作主要围绕实体类展开。</a:t>
              </a:r>
            </a:p>
          </p:txBody>
        </p:sp>
      </p:grpSp>
      <p:grpSp>
        <p:nvGrpSpPr>
          <p:cNvPr id="18" name="c1-steps-1"/>
          <p:cNvGrpSpPr/>
          <p:nvPr/>
        </p:nvGrpSpPr>
        <p:grpSpPr>
          <a:xfrm>
            <a:off x="533400" y="1950720"/>
            <a:ext cx="5403215" cy="1521618"/>
            <a:chOff x="533400" y="1950720"/>
            <a:chExt cx="5403215" cy="1521618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7943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451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983105"/>
              <a:ext cx="1343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找出属性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2250281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属性的基本来源是用例的事件流描述，并通过分析类的职责间接获取。职责的简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要描述越明确，属性越容易找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777490"/>
              <a:ext cx="1343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简要描述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3044666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属性名称应当是一个简短的名词，说明它保存的信息。含义相对复杂的属性要附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加必要的上下文说明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640455"/>
            <a:ext cx="5626418" cy="729615"/>
            <a:chOff x="533400" y="3640455"/>
            <a:chExt cx="5626418" cy="729615"/>
          </a:xfrm>
        </p:grpSpPr>
        <p:sp>
          <p:nvSpPr>
            <p:cNvPr id="19" name="Rectangle 19"/>
            <p:cNvSpPr/>
            <p:nvPr/>
          </p:nvSpPr>
          <p:spPr>
            <a:xfrm>
              <a:off x="533400" y="364045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905250"/>
              <a:ext cx="200026" cy="200025"/>
              <a:chOff x="738188" y="390525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39052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39497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0608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3787140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分析阶段的属性是粗线条的，通常没必要在数据类型和相关细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节上耗费过多精力。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545330"/>
            <a:ext cx="5626418" cy="1529715"/>
            <a:chOff x="533400" y="4545330"/>
            <a:chExt cx="5626418" cy="1529715"/>
          </a:xfrm>
        </p:grpSpPr>
        <p:sp>
          <p:nvSpPr>
            <p:cNvPr id="26" name="Rectangle 26"/>
            <p:cNvSpPr/>
            <p:nvPr/>
          </p:nvSpPr>
          <p:spPr>
            <a:xfrm>
              <a:off x="533400" y="4545330"/>
              <a:ext cx="5626418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67868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473773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9346" y="47720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14247" y="477774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从职责倒推属性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5111115"/>
              <a:ext cx="5120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实体类紧急情况报告的职责只有"创建自己"一条，看不出属性。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5414010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回到用例事件流第 3 步，填表时要选紧急等级、类型、位置、写描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述，这几项就是它的属性。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941195"/>
            <a:ext cx="5193982" cy="1792605"/>
            <a:chOff x="6464618" y="1941195"/>
            <a:chExt cx="5193982" cy="1792605"/>
          </a:xfrm>
        </p:grpSpPr>
        <p:sp>
          <p:nvSpPr>
            <p:cNvPr id="34" name="Rectangle 34"/>
            <p:cNvSpPr/>
            <p:nvPr/>
          </p:nvSpPr>
          <p:spPr>
            <a:xfrm>
              <a:off x="6464618" y="1941195"/>
              <a:ext cx="5193982" cy="1792605"/>
            </a:xfrm>
            <a:prstGeom prst="roundRect">
              <a:avLst>
                <a:gd name="adj" fmla="val 74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57022" y="21336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28460" y="21678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能力的两个来源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07464" y="217360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承担职责需要两方面的知识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0164" y="250793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一方面是分析类本身具有的信息，这就是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属性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0164" y="2810827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另一方面是分析类能够找到的其他分析类，这是指向其他分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析类的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关联关系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1308" y="336661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广义上，关联关系也可以算作分析类的属性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910012"/>
            <a:ext cx="5193982" cy="2165032"/>
            <a:chOff x="6464618" y="3910012"/>
            <a:chExt cx="5193982" cy="2165032"/>
          </a:xfrm>
        </p:grpSpPr>
        <p:sp>
          <p:nvSpPr>
            <p:cNvPr id="42" name="Rectangle 42"/>
            <p:cNvSpPr/>
            <p:nvPr/>
          </p:nvSpPr>
          <p:spPr>
            <a:xfrm>
              <a:off x="6464618" y="3910012"/>
              <a:ext cx="5193982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4043362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5122" y="410241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8562" y="41367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范围界定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88264" y="445865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这里讨论的是狭义的属性，即分析类自身具有的简单信息，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类型是字符串、整型、布尔型这样的简单数据类型。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8264" y="5018723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目的只是在逻辑上支撑分析类所承担的职责。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整理分析类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同一个信息，做成属性还是做成独立的实体类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两者的界限并不十分清晰，但可以按行为和标识这两条来判断。</a:t>
              </a:r>
            </a:p>
          </p:txBody>
        </p:sp>
      </p:grpSp>
      <p:grpSp>
        <p:nvGrpSpPr>
          <p:cNvPr id="24" name="c1-compare-1"/>
          <p:cNvGrpSpPr/>
          <p:nvPr/>
        </p:nvGrpSpPr>
        <p:grpSpPr>
          <a:xfrm>
            <a:off x="533400" y="1967865"/>
            <a:ext cx="11125200" cy="1653540"/>
            <a:chOff x="533400" y="1967865"/>
            <a:chExt cx="11125200" cy="165354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314950" cy="1653540"/>
            </a:xfrm>
            <a:prstGeom prst="roundRect">
              <a:avLst>
                <a:gd name="adj" fmla="val 806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2202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建模为独立的实体类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61937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55651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客体具有比较复杂的自身行为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2954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289179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客体具有独立标识（Identification），有可能被多类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对象共享或传递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43650" y="1967865"/>
              <a:ext cx="531495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353175" y="2101215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83680" y="220218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建模为类的属性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597015" y="2619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5130" y="2556510"/>
              <a:ext cx="4511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客体除了非常简单的取／赋值操作（set、get 等），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不具备更多其他行为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597015" y="32404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55130" y="31775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客体不需要独立标识，仅供一类对象使用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95975" y="259461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49315" y="27289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811905"/>
            <a:ext cx="11125200" cy="1845945"/>
            <a:chOff x="533400" y="3811905"/>
            <a:chExt cx="11125200" cy="1845945"/>
          </a:xfrm>
        </p:grpSpPr>
        <p:sp>
          <p:nvSpPr>
            <p:cNvPr id="25" name="Rectangle 25"/>
            <p:cNvSpPr/>
            <p:nvPr/>
          </p:nvSpPr>
          <p:spPr>
            <a:xfrm>
              <a:off x="533400" y="3811905"/>
              <a:ext cx="11125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945255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402145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705" y="405717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演进中可以互相转化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398645"/>
              <a:ext cx="1005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如果发现之前定义的实体类 A 几乎没有行为，并且仅仅被另外一个类 B 使用，可以把 A 转换成 B 的一项属性 a。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4733925"/>
              <a:ext cx="955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反过来，如果类 X 的某个属性 y 越来越显现出复杂的行为特征，可以考虑把它建模为一个独立的实体类 Y。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建模形式不容易一步到位，分析和设计的演进过程中来回调整是正常的。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整理分析类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泛化不等同于继承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6542" y="1545907"/>
            <a:ext cx="5101971" cy="1147001"/>
            <a:chOff x="526542" y="1545907"/>
            <a:chExt cx="5101971" cy="114700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模型清晰后要检查类之间的关系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070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00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309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把一对多、多对多的复杂关系尽量变为受限的一对一关系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15931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9078" y="21986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197" y="217170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把分析类体现的概念组成层次，即从特殊到一般的归纳，也就是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2809875"/>
            <a:ext cx="5410200" cy="729615"/>
            <a:chOff x="533400" y="2809875"/>
            <a:chExt cx="541020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280987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074670"/>
              <a:ext cx="200026" cy="200026"/>
              <a:chOff x="738188" y="3074670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30746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31413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31746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295560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这两条都是为了减少关系的数量、降低复杂性，但泛化有一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条边界不能越过。</a:t>
              </a:r>
            </a:p>
          </p:txBody>
        </p:sp>
      </p:grpSp>
      <p:grpSp>
        <p:nvGrpSpPr>
          <p:cNvPr id="23" name="c1-text-3"/>
          <p:cNvGrpSpPr/>
          <p:nvPr/>
        </p:nvGrpSpPr>
        <p:grpSpPr>
          <a:xfrm>
            <a:off x="527685" y="3727609"/>
            <a:ext cx="5132070" cy="441008"/>
            <a:chOff x="527685" y="3727609"/>
            <a:chExt cx="5132070" cy="441008"/>
          </a:xfrm>
        </p:grpSpPr>
        <p:sp>
          <p:nvSpPr>
            <p:cNvPr id="22" name="TextBox 22"/>
            <p:cNvSpPr txBox="1"/>
            <p:nvPr/>
          </p:nvSpPr>
          <p:spPr>
            <a:xfrm>
              <a:off x="527685" y="3727609"/>
              <a:ext cx="513207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事故管理系统里的一处泛化：消防单位和医疗单位都是资源的一种，空心三角箭头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从子类指向父类。</a:t>
              </a:r>
            </a:p>
          </p:txBody>
        </p:sp>
      </p:grpSp>
      <p:grpSp>
        <p:nvGrpSpPr>
          <p:cNvPr id="46" name="c1-uml-4"/>
          <p:cNvGrpSpPr/>
          <p:nvPr/>
        </p:nvGrpSpPr>
        <p:grpSpPr>
          <a:xfrm>
            <a:off x="1314450" y="4380548"/>
            <a:ext cx="3848100" cy="1237297"/>
            <a:chOff x="1314450" y="4380548"/>
            <a:chExt cx="3848100" cy="1237297"/>
          </a:xfrm>
        </p:grpSpPr>
        <p:sp>
          <p:nvSpPr>
            <p:cNvPr id="24" name="Freeform 24"/>
            <p:cNvSpPr/>
            <p:nvPr/>
          </p:nvSpPr>
          <p:spPr>
            <a:xfrm>
              <a:off x="1885950" y="4998720"/>
              <a:ext cx="1257300" cy="85725"/>
            </a:xfrm>
            <a:custGeom>
              <a:avLst/>
              <a:gdLst/>
              <a:ahLst/>
              <a:cxnLst/>
              <a:rect l="l" t="t" r="r" b="b"/>
              <a:pathLst>
                <a:path w="1257300" h="85725">
                  <a:moveTo>
                    <a:pt x="0" y="85725"/>
                  </a:moveTo>
                  <a:lnTo>
                    <a:pt x="0" y="0"/>
                  </a:lnTo>
                  <a:lnTo>
                    <a:pt x="1257300" y="0"/>
                  </a:lnTo>
                  <a:lnTo>
                    <a:pt x="1257300" y="4095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069908" y="49139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333750" y="4998720"/>
              <a:ext cx="1257300" cy="85725"/>
            </a:xfrm>
            <a:custGeom>
              <a:avLst/>
              <a:gdLst/>
              <a:ahLst/>
              <a:cxnLst/>
              <a:rect l="l" t="t" r="r" b="b"/>
              <a:pathLst>
                <a:path w="1257300" h="85725">
                  <a:moveTo>
                    <a:pt x="1257300" y="85725"/>
                  </a:moveTo>
                  <a:lnTo>
                    <a:pt x="1257300" y="0"/>
                  </a:lnTo>
                  <a:lnTo>
                    <a:pt x="0" y="0"/>
                  </a:lnTo>
                  <a:lnTo>
                    <a:pt x="0" y="4095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260408" y="49139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67000" y="4380548"/>
              <a:ext cx="1143000" cy="533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74620" y="4387215"/>
              <a:ext cx="1128712" cy="335280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667000" y="4718685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67000" y="4813935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314450" y="5084445"/>
              <a:ext cx="1143000" cy="533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322070" y="5091112"/>
              <a:ext cx="1128712" cy="335280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314450" y="542258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314450" y="551783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19550" y="5084445"/>
              <a:ext cx="1143000" cy="533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27170" y="5091112"/>
              <a:ext cx="1128712" cy="335280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019550" y="542258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019550" y="551783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024235" y="4429125"/>
              <a:ext cx="4285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12579" y="45577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71685" y="5133022"/>
              <a:ext cx="4285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38872" y="526161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消防单位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76785" y="5133022"/>
              <a:ext cx="4285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43972" y="526161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医疗单位</a:t>
              </a:r>
            </a:p>
          </p:txBody>
        </p:sp>
      </p:grpSp>
      <p:grpSp>
        <p:nvGrpSpPr>
          <p:cNvPr id="62" name="c2-compare-1"/>
          <p:cNvGrpSpPr/>
          <p:nvPr/>
        </p:nvGrpSpPr>
        <p:grpSpPr>
          <a:xfrm>
            <a:off x="6248400" y="1524000"/>
            <a:ext cx="5410200" cy="2252662"/>
            <a:chOff x="6248400" y="1524000"/>
            <a:chExt cx="5410200" cy="2252662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2476500" cy="2252662"/>
            </a:xfrm>
            <a:prstGeom prst="roundRect">
              <a:avLst>
                <a:gd name="adj" fmla="val 592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28232" y="1732597"/>
              <a:ext cx="2066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泛化（generalization）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43662" y="210597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9682" y="204978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概念层面的归纳，子概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念确实是父概念的一种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43662" y="26631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99682" y="26069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分析阶段只关注这一层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182100" y="1524000"/>
              <a:ext cx="2476500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191625" y="16573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00032" y="173259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415462" y="210597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71482" y="204978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一种复用属性和行为的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415462" y="26631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71482" y="2606992"/>
              <a:ext cx="17282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即使两个类之间不存在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归纳关系也能继承，比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如把散列表类改进成集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合类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772525" y="2468880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27580" y="259461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6248400" y="3946208"/>
            <a:ext cx="5410200" cy="1756410"/>
            <a:chOff x="6248400" y="3946208"/>
            <a:chExt cx="5410200" cy="1756410"/>
          </a:xfrm>
        </p:grpSpPr>
        <p:sp>
          <p:nvSpPr>
            <p:cNvPr id="63" name="Rectangle 63"/>
            <p:cNvSpPr/>
            <p:nvPr/>
          </p:nvSpPr>
          <p:spPr>
            <a:xfrm>
              <a:off x="6248400" y="3946208"/>
              <a:ext cx="5410200" cy="1756410"/>
            </a:xfrm>
            <a:prstGeom prst="roundRect">
              <a:avLst>
                <a:gd name="adj" fmla="val 650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441129" y="4720708"/>
              <a:ext cx="224134" cy="192560"/>
              <a:chOff x="6441129" y="4720708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553200" y="47910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441129" y="47207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53200" y="4868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755892" y="460629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分析中不能用复用的形式来解释泛化。继承层次结构将在对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象设计中重新构建，虽然它最初从归纳关系衍生而来。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0" name="Rectangle 7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7735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一句可用的检验：能说出"每个 A 都是一个 B"才是泛化，只说得出"A 想用 B 的代码"就是继承。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367528" cy="2643187"/>
            <a:chOff x="667512" y="1835468"/>
            <a:chExt cx="536752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完整实例：报告紧急情况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96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从对象清单到三张顺序图，再到 VOPC 和属性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每一步都能对回用例的原文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画到一半发现用例本身不完整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第一遍：标识出四个实体对象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062331" cy="278702"/>
            <a:chOff x="526161" y="1547336"/>
            <a:chExt cx="806233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062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用领域知识和与用户的交流，对"报告紧急情况"用例做第一次检查，标识出下面四个实体对象。</a:t>
              </a:r>
            </a:p>
          </p:txBody>
        </p:sp>
      </p:grpSp>
      <p:grpSp>
        <p:nvGrpSpPr>
          <p:cNvPr id="27" name="c1-table-1"/>
          <p:cNvGrpSpPr/>
          <p:nvPr/>
        </p:nvGrpSpPr>
        <p:grpSpPr>
          <a:xfrm>
            <a:off x="533400" y="1941195"/>
            <a:ext cx="11125200" cy="2428875"/>
            <a:chOff x="533400" y="1941195"/>
            <a:chExt cx="11125200" cy="242887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721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实体对象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4058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5568" y="2471261"/>
              <a:ext cx="8756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管理事件的警官。调度员创建、记录并关闭事件，从而对紧急情况报告和其他与现场工作人员的交流做出响应。调度员由证件号标识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5568" y="2877026"/>
              <a:ext cx="6645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执勤的警官或消防员。一名现场工作人员一次最多只能分配给一个事件，现场工作人员由证件号标识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33828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35568" y="3282791"/>
              <a:ext cx="8545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关于一个事件的最初报告，从一个现场工作人员提交给一个调度员。紧急情况报告通常引发调度员对一个事件的创建。一个紧急情况报告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由紧急等级、类型（火灾、道路事故或其他）、发生位置以及描述组成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595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64280"/>
              <a:ext cx="11125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988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5568" y="3888581"/>
              <a:ext cx="8545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要求现场工作人员注意的情况。一个事件可能由系统内的现场工作人员报告，也可能由系统外的任何人报告。一个事件由描述、响应、状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态（打开、关闭、记录）、位置、现场工作人员的数量组成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41195"/>
              <a:ext cx="11125200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30792" y="1941195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545330"/>
            <a:ext cx="11125200" cy="1817370"/>
            <a:chOff x="533400" y="4545330"/>
            <a:chExt cx="11125200" cy="1817370"/>
          </a:xfrm>
        </p:grpSpPr>
        <p:sp>
          <p:nvSpPr>
            <p:cNvPr id="28" name="Rectangle 28"/>
            <p:cNvSpPr/>
            <p:nvPr/>
          </p:nvSpPr>
          <p:spPr>
            <a:xfrm>
              <a:off x="533400" y="4545330"/>
              <a:ext cx="11125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67868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3905" y="473773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7344" y="47720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两条注记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5094923"/>
              <a:ext cx="101549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命名：紧急情况报告这个名字并没有在用例中直接提到，用例第 3 步出现的是「现场工作人员提交的信息」。与客户讨论后发现它指的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就是紧急情况报告，于是这样命名。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047" y="5654040"/>
              <a:ext cx="10129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更正：原课件前后两张表里，事件的状态一处写作「创建、关闭、记录」，一处写作「打开、关闭、记录」。用例里调用的是「打开事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件」，故本讲义统一取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打开、关闭、记录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9408" cy="909257"/>
            <a:chOff x="520446" y="342900"/>
            <a:chExt cx="77694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9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边界对象：每个 Actor 至少和一个边界对象打交道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59415" cy="569595"/>
            <a:chOff x="525780" y="1548765"/>
            <a:chExt cx="105594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59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边界对象从 Actor 收集信息，并把这些信息存入一张与接口无关的表格，该表格可被实体对象或控制对象使用。系统对用户的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响应或消息也是一类边界对象。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2230755"/>
            <a:ext cx="11125200" cy="3398520"/>
            <a:chOff x="533400" y="2230755"/>
            <a:chExt cx="11125200" cy="3398520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11125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6736" y="23593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40880" y="23593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78320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报告紧急情况按钮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60929" y="278320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现场工作人员用来启动报告紧急情况用例的按钮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79432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3314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紧急情况报告表单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0929" y="3208020"/>
              <a:ext cx="824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用来输入报告紧急情况的表格。当选择报告紧急情况功能时，这份表格在现场工作站上提交给现场工作人员。表单包含指明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一个紧急情况报告的各种属性，以及填完表格后的提交按钮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128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889" y="38461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确认通知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60929" y="384619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用来显示调度员给现场工作人员答复的通知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367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141470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43767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事件表单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60929" y="4270058"/>
              <a:ext cx="824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用来创建事件的表格。当收到紧急情况报告时，在调度站上提交该表格给调度员。调度员用这份表格来配置资源并答复现场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工作人员的报告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748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490823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0929" y="490823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现场工作人员用的移动设备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1996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204460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53320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60929" y="533209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调度员用的计算机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230755"/>
              <a:ext cx="11125200" cy="33975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53678" y="2230755"/>
              <a:ext cx="9525" cy="3397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2"/>
          <p:cNvGrpSpPr/>
          <p:nvPr/>
        </p:nvGrpSpPr>
        <p:grpSpPr>
          <a:xfrm>
            <a:off x="533400" y="5808345"/>
            <a:ext cx="11125200" cy="554355"/>
            <a:chOff x="533400" y="5808345"/>
            <a:chExt cx="11125200" cy="554355"/>
          </a:xfrm>
        </p:grpSpPr>
        <p:sp>
          <p:nvSpPr>
            <p:cNvPr id="35" name="Rectangle 35"/>
            <p:cNvSpPr/>
            <p:nvPr/>
          </p:nvSpPr>
          <p:spPr>
            <a:xfrm>
              <a:off x="533400" y="5808345"/>
              <a:ext cx="11125200" cy="554355"/>
            </a:xfrm>
            <a:prstGeom prst="roundRect">
              <a:avLst>
                <a:gd name="adj" fmla="val 2061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85512"/>
              <a:ext cx="200023" cy="200023"/>
              <a:chOff x="738188" y="5985512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855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521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985986"/>
              <a:ext cx="103371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事件表单并没有在用例里明显提及，但可以观察到调度员需要一个接口来浏览提交的报告并返回答复，因此把它标识出来。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66441" cy="909257"/>
            <a:chOff x="520446" y="342900"/>
            <a:chExt cx="53664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66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控制对象：给每个 Actor 各设一个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21213" cy="597598"/>
            <a:chOff x="525399" y="1550194"/>
            <a:chExt cx="10721213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21213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有了实体对象和边界对象，还需要描述 Actor 和系统交互时的顺序是如何被控制的。这个用例对现场工作人员和调度员分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别设立一个控制对象。</a:t>
              </a:r>
            </a:p>
          </p:txBody>
        </p:sp>
      </p:grpSp>
      <p:grpSp>
        <p:nvGrpSpPr>
          <p:cNvPr id="20" name="c1-table-1"/>
          <p:cNvGrpSpPr/>
          <p:nvPr/>
        </p:nvGrpSpPr>
        <p:grpSpPr>
          <a:xfrm>
            <a:off x="533400" y="2257425"/>
            <a:ext cx="11125200" cy="2026920"/>
            <a:chOff x="533400" y="2257425"/>
            <a:chExt cx="11125200" cy="202692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4816" y="23931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29729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30684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报告紧急情况控制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66263" y="2841784"/>
              <a:ext cx="83035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管理现场工作站的报告紧急情况功能。当现场工作人员选择报告紧急情况按钮时该对象被创建；然后它创建报告紧急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情况表单并提交给现场工作人员；在表单提交后，该对象收集表单信息，创建一个紧急情况报告并转寄给调度员；然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后等待一个来自调度站的答复；收到答复后创建一个确认通知并显示给现场工作人员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6042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60902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85714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管理紧急情况控制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6263" y="3743801"/>
              <a:ext cx="8303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管理调度站的报告紧急情况功能。当收到一个紧急情况报告时该对象被创建；然后它创建一个事件表单并显示给调度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员；一旦调度员创建了事件、配置了资源并提交了答复，管理紧急情况控制就把这个答复转发给现场工作站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57425"/>
              <a:ext cx="11125200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53678" y="2257425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callout-2"/>
          <p:cNvGrpSpPr/>
          <p:nvPr/>
        </p:nvGrpSpPr>
        <p:grpSpPr>
          <a:xfrm>
            <a:off x="533400" y="4474845"/>
            <a:ext cx="11125200" cy="1183005"/>
            <a:chOff x="533400" y="4474845"/>
            <a:chExt cx="11125200" cy="1183005"/>
          </a:xfrm>
        </p:grpSpPr>
        <p:sp>
          <p:nvSpPr>
            <p:cNvPr id="21" name="Rectangle 21"/>
            <p:cNvSpPr/>
            <p:nvPr/>
          </p:nvSpPr>
          <p:spPr>
            <a:xfrm>
              <a:off x="533400" y="4474845"/>
              <a:ext cx="11125200" cy="1183005"/>
            </a:xfrm>
            <a:prstGeom prst="roundRect">
              <a:avLst>
                <a:gd name="adj" fmla="val 96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966335"/>
              <a:ext cx="200026" cy="200026"/>
              <a:chOff x="738188" y="496633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9663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033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0663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961572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一个用例两个控制对象，因为这个用例跨越两台机器，两端各有一段独立的事件流，各自有明确的开始和结束。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99122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到这里，用同一个用例分别从事件流角度和结构角度描述了一遍，描述的详细程度上去了，术语也统一了。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顺序图一：从现场工作站启动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seq1"/>
          <p:cNvGrpSpPr/>
          <p:nvPr/>
        </p:nvGrpSpPr>
        <p:grpSpPr>
          <a:xfrm>
            <a:off x="619125" y="1676400"/>
            <a:ext cx="10953751" cy="4067175"/>
            <a:chOff x="619125" y="1676400"/>
            <a:chExt cx="10953751" cy="4067175"/>
          </a:xfrm>
        </p:grpSpPr>
        <p:sp>
          <p:nvSpPr>
            <p:cNvPr id="7" name="Rectangle 7"/>
            <p:cNvSpPr/>
            <p:nvPr/>
          </p:nvSpPr>
          <p:spPr>
            <a:xfrm>
              <a:off x="619125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2557" y="1774746"/>
              <a:ext cx="45525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«actor»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0796" y="1963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73642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E3F5F1"/>
            </a:solidFill>
            <a:ln w="14288">
              <a:solidFill>
                <a:srgbClr val="0F7A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991561" y="177474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3962" y="1963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报告紧急情况按钮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27208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 w="14288">
              <a:solidFill>
                <a:srgbClr val="C2410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92388" y="177474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98480" y="1963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报告紧急情况控制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81725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E3F5F1"/>
            </a:solidFill>
            <a:ln w="14288">
              <a:solidFill>
                <a:srgbClr val="0F7A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99644" y="177474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52044" y="1963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紧急情况报告表单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36242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F4F6FB"/>
            </a:solidFill>
            <a:ln w="14288">
              <a:solidFill>
                <a:srgbClr val="243B5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2308" y="17747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7913" y="1963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89808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 w="14288">
              <a:solidFill>
                <a:srgbClr val="C2410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54988" y="177474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61080" y="1963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管理紧急情况控制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460182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3314700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5169218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8" name="Line 28"/>
            <p:cNvSpPr/>
            <p:nvPr/>
          </p:nvSpPr>
          <p:spPr>
            <a:xfrm>
              <a:off x="7022782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8877300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10731818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31" name="Rectangle 31"/>
            <p:cNvSpPr/>
            <p:nvPr/>
          </p:nvSpPr>
          <p:spPr>
            <a:xfrm>
              <a:off x="1403032" y="2409825"/>
              <a:ext cx="114300" cy="182594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257550" y="2409825"/>
              <a:ext cx="114300" cy="58483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12068" y="2823210"/>
              <a:ext cx="114300" cy="26536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65632" y="3237548"/>
              <a:ext cx="114300" cy="22869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820150" y="4892040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674668" y="5305425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517332" y="2495550"/>
              <a:ext cx="1740218" cy="9525"/>
            </a:xfrm>
            <a:custGeom>
              <a:avLst/>
              <a:gdLst/>
              <a:ahLst/>
              <a:cxnLst/>
              <a:rect l="l" t="t" r="r" b="b"/>
              <a:pathLst>
                <a:path w="1740218" h="9525">
                  <a:moveTo>
                    <a:pt x="0" y="0"/>
                  </a:moveTo>
                  <a:lnTo>
                    <a:pt x="1740218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3168015" y="24431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39560" y="2327672"/>
              <a:ext cx="49671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press()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371850" y="2908935"/>
              <a:ext cx="1740218" cy="9525"/>
            </a:xfrm>
            <a:custGeom>
              <a:avLst/>
              <a:gdLst/>
              <a:ahLst/>
              <a:cxnLst/>
              <a:rect l="l" t="t" r="r" b="b"/>
              <a:pathLst>
                <a:path w="1740218" h="9525">
                  <a:moveTo>
                    <a:pt x="0" y="0"/>
                  </a:moveTo>
                  <a:lnTo>
                    <a:pt x="1740218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5022532" y="2856548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58326" y="2741057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226368" y="3323272"/>
              <a:ext cx="1739265" cy="9525"/>
            </a:xfrm>
            <a:custGeom>
              <a:avLst/>
              <a:gdLst/>
              <a:ahLst/>
              <a:cxnLst/>
              <a:rect l="l" t="t" r="r" b="b"/>
              <a:pathLst>
                <a:path w="1739265" h="9525">
                  <a:moveTo>
                    <a:pt x="0" y="0"/>
                  </a:moveTo>
                  <a:lnTo>
                    <a:pt x="1739265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6877050" y="3270885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0" y="0"/>
                  </a:moveTo>
                  <a:lnTo>
                    <a:pt x="0" y="104775"/>
                  </a:lnTo>
                  <a:lnTo>
                    <a:pt x="88582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12843" y="3155394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517332" y="3736658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6877050" y="3684270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0" y="0"/>
                  </a:moveTo>
                  <a:lnTo>
                    <a:pt x="0" y="104775"/>
                  </a:lnTo>
                  <a:lnTo>
                    <a:pt x="88582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47232" y="3568779"/>
              <a:ext cx="9885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fillContents()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1517332" y="4150042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6877050" y="4097655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0" y="0"/>
                  </a:moveTo>
                  <a:lnTo>
                    <a:pt x="0" y="104775"/>
                  </a:lnTo>
                  <a:lnTo>
                    <a:pt x="88582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958326" y="3982164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submit()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226368" y="4563428"/>
              <a:ext cx="1739265" cy="9525"/>
            </a:xfrm>
            <a:custGeom>
              <a:avLst/>
              <a:gdLst/>
              <a:ahLst/>
              <a:cxnLst/>
              <a:rect l="l" t="t" r="r" b="b"/>
              <a:pathLst>
                <a:path w="1739265" h="9525">
                  <a:moveTo>
                    <a:pt x="1739265" y="0"/>
                  </a:move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5226368" y="4511040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88582" y="0"/>
                  </a:moveTo>
                  <a:lnTo>
                    <a:pt x="88582" y="104775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01750" y="4395549"/>
              <a:ext cx="9885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submitReport()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5226368" y="4977765"/>
              <a:ext cx="3593782" cy="9525"/>
            </a:xfrm>
            <a:custGeom>
              <a:avLst/>
              <a:gdLst/>
              <a:ahLst/>
              <a:cxnLst/>
              <a:rect l="l" t="t" r="r" b="b"/>
              <a:pathLst>
                <a:path w="3593782" h="9525">
                  <a:moveTo>
                    <a:pt x="0" y="0"/>
                  </a:moveTo>
                  <a:lnTo>
                    <a:pt x="3593782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730615" y="4925378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9626" y="4809887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5226368" y="53911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10585132" y="53387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34572" y="5223272"/>
              <a:ext cx="183189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submitReportToDispatcher()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918008" y="55340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918008" y="55340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0"/>
                  </a:moveTo>
                  <a:lnTo>
                    <a:pt x="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2896" cy="909257"/>
            <a:chOff x="520446" y="342900"/>
            <a:chExt cx="3362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读第一张顺序图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5538216" cy="3853243"/>
            <a:chOff x="533400" y="1533525"/>
            <a:chExt cx="5538216" cy="385324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305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879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052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2148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95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83870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912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1566386"/>
              <a:ext cx="787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press()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184689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现场工作人员按下报告紧急情况按钮，这是整个用例的触发点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183606"/>
              <a:ext cx="8976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464118"/>
              <a:ext cx="5125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按钮这个边界对象创建报告紧急情况控制，符合"由初始化用例的边界对象创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建控制对象"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020854"/>
              <a:ext cx="8976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30136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控制对象创建紧急情况报告表单，交给现场工作人员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638074"/>
              <a:ext cx="25212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fillContents() / submit()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9185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现场工作人员直接对表单操作，填写并提交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255294"/>
              <a:ext cx="1557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submitReport()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535805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表单把收集到的内容交回控制对象，随后表单被销毁，图上用叉号标出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871561"/>
              <a:ext cx="39607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create() / submitReportToDispatcher()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5152072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控制对象创建紧急情况报告实体，并把它转交给管理紧急情况控制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524000"/>
            <a:ext cx="4977765" cy="3200400"/>
            <a:chOff x="6680835" y="1524000"/>
            <a:chExt cx="4977765" cy="3200400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3200400"/>
            </a:xfrm>
            <a:prstGeom prst="roundRect">
              <a:avLst>
                <a:gd name="adj" fmla="val 416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78955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54393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对照画法规则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1716" y="2082641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第一列是主动 Actor 现场工作人员，第二列是按钮这个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边界对象，第三列是报告紧急情况控制。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1716" y="2672239"/>
              <a:ext cx="43823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紧急情况报告是实体对象，它只被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create()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调用，自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己不发出任何消息。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1716" y="3260884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按这两条可以查出两种常见的画错：把 create() 画成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现场工作人员直接发给控制对象，按钮这个边界对象就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被漏掉了。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2859" y="4118610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另一种是让紧急情况报告反过来去调用控制对象，实体对象一旦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这样画就被这个用例绑死了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680835" y="4905375"/>
            <a:ext cx="4977765" cy="756285"/>
            <a:chOff x="6680835" y="4905375"/>
            <a:chExt cx="4977765" cy="756285"/>
          </a:xfrm>
        </p:grpSpPr>
        <p:sp>
          <p:nvSpPr>
            <p:cNvPr id="41" name="Rectangle 41"/>
            <p:cNvSpPr/>
            <p:nvPr/>
          </p:nvSpPr>
          <p:spPr>
            <a:xfrm>
              <a:off x="6680835" y="490537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873564" y="5179813"/>
              <a:ext cx="224134" cy="192560"/>
              <a:chOff x="6873564" y="517981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985635" y="52501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73564" y="51798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5635" y="5327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87946" y="505253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表单在提交后就销毁了，而控制对象要一直活到收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到答复为止，两者的生命周期长度不同。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8" name="Rectangle 4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11704"/>
              <a:ext cx="86116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表单的 fillContents() 由 Actor 直接调用，说明边界对象可以跨列接收消息，不必只和相邻列交互。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顺序图二：调度站一侧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seq2"/>
          <p:cNvGrpSpPr/>
          <p:nvPr/>
        </p:nvGrpSpPr>
        <p:grpSpPr>
          <a:xfrm>
            <a:off x="619125" y="1676400"/>
            <a:ext cx="10953751" cy="4067175"/>
            <a:chOff x="619125" y="1676400"/>
            <a:chExt cx="10953751" cy="4067175"/>
          </a:xfrm>
        </p:grpSpPr>
        <p:sp>
          <p:nvSpPr>
            <p:cNvPr id="7" name="Rectangle 7"/>
            <p:cNvSpPr/>
            <p:nvPr/>
          </p:nvSpPr>
          <p:spPr>
            <a:xfrm>
              <a:off x="619125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EFF2F7"/>
            </a:solidFill>
            <a:ln w="14288">
              <a:solidFill>
                <a:srgbClr val="5B647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3353" y="177474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9445" y="1963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报告紧急情况控制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73642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 w="14288">
              <a:solidFill>
                <a:srgbClr val="C2410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37870" y="177474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3962" y="1963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管理紧急情况控制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27208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E3F5F1"/>
            </a:solidFill>
            <a:ln w="14288">
              <a:solidFill>
                <a:srgbClr val="0F7A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46079" y="177474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81182" y="1963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事件表单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81725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F4F6FB"/>
            </a:solidFill>
            <a:ln w="14288">
              <a:solidFill>
                <a:srgbClr val="243B5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7791" y="17747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6098" y="1963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36242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F4F6FB"/>
            </a:solidFill>
            <a:ln w="14288">
              <a:solidFill>
                <a:srgbClr val="243B5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2308" y="17747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30615" y="1963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89808" y="1676400"/>
              <a:ext cx="1683068" cy="514350"/>
            </a:xfrm>
            <a:prstGeom prst="roundRect">
              <a:avLst>
                <a:gd name="adj" fmla="val 14815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04192" y="1774746"/>
              <a:ext cx="45525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«actor»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14457" y="19631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460182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3314700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5169218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8" name="Line 28"/>
            <p:cNvSpPr/>
            <p:nvPr/>
          </p:nvSpPr>
          <p:spPr>
            <a:xfrm>
              <a:off x="7022782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8877300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10731818" y="219075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31" name="Rectangle 31"/>
            <p:cNvSpPr/>
            <p:nvPr/>
          </p:nvSpPr>
          <p:spPr>
            <a:xfrm>
              <a:off x="1403032" y="2409825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6475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257550" y="2409825"/>
              <a:ext cx="114300" cy="6543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12068" y="2892742"/>
              <a:ext cx="114300" cy="26317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65632" y="4340542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820150" y="5305425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674668" y="3374708"/>
              <a:ext cx="114300" cy="1619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517332" y="2495550"/>
              <a:ext cx="1740218" cy="9525"/>
            </a:xfrm>
            <a:custGeom>
              <a:avLst/>
              <a:gdLst/>
              <a:ahLst/>
              <a:cxnLst/>
              <a:rect l="l" t="t" r="r" b="b"/>
              <a:pathLst>
                <a:path w="1740218" h="9525">
                  <a:moveTo>
                    <a:pt x="0" y="0"/>
                  </a:moveTo>
                  <a:lnTo>
                    <a:pt x="1740218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3168015" y="24431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71972" y="2327672"/>
              <a:ext cx="183189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submitReportToDispatcher()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371850" y="2978468"/>
              <a:ext cx="1740218" cy="9525"/>
            </a:xfrm>
            <a:custGeom>
              <a:avLst/>
              <a:gdLst/>
              <a:ahLst/>
              <a:cxnLst/>
              <a:rect l="l" t="t" r="r" b="b"/>
              <a:pathLst>
                <a:path w="1740218" h="9525">
                  <a:moveTo>
                    <a:pt x="0" y="0"/>
                  </a:moveTo>
                  <a:lnTo>
                    <a:pt x="1740218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5022532" y="2926080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58326" y="2810589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226368" y="3460432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10585132" y="3408045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36959" y="3292554"/>
              <a:ext cx="4271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view()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226368" y="39433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5448300" y="0"/>
                  </a:move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5226368" y="3890962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88582" y="0"/>
                  </a:moveTo>
                  <a:lnTo>
                    <a:pt x="88582" y="104775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86716" y="3775472"/>
              <a:ext cx="112760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createIncident()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5226368" y="4426268"/>
              <a:ext cx="1739265" cy="9525"/>
            </a:xfrm>
            <a:custGeom>
              <a:avLst/>
              <a:gdLst/>
              <a:ahLst/>
              <a:cxnLst/>
              <a:rect l="l" t="t" r="r" b="b"/>
              <a:pathLst>
                <a:path w="1739265" h="9525">
                  <a:moveTo>
                    <a:pt x="0" y="0"/>
                  </a:moveTo>
                  <a:lnTo>
                    <a:pt x="1739265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6877050" y="4373880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0" y="0"/>
                  </a:moveTo>
                  <a:lnTo>
                    <a:pt x="0" y="104775"/>
                  </a:lnTo>
                  <a:lnTo>
                    <a:pt x="88582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12843" y="4258389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226368" y="4908232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5448300" y="0"/>
                  </a:move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5226368" y="4855845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88582" y="0"/>
                  </a:moveTo>
                  <a:lnTo>
                    <a:pt x="88582" y="104775"/>
                  </a:lnTo>
                  <a:lnTo>
                    <a:pt x="0" y="52387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67361" y="4740354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submit()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5226368" y="5391150"/>
              <a:ext cx="3593782" cy="9525"/>
            </a:xfrm>
            <a:custGeom>
              <a:avLst/>
              <a:gdLst/>
              <a:ahLst/>
              <a:cxnLst/>
              <a:rect l="l" t="t" r="r" b="b"/>
              <a:pathLst>
                <a:path w="3593782" h="9525">
                  <a:moveTo>
                    <a:pt x="0" y="0"/>
                  </a:moveTo>
                  <a:lnTo>
                    <a:pt x="3593782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730615" y="53387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9626" y="5223272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5064442" y="55340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064442" y="55340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0"/>
                  </a:moveTo>
                  <a:lnTo>
                    <a:pt x="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顺序图三：答复回到现场工作站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seq3"/>
          <p:cNvGrpSpPr/>
          <p:nvPr/>
        </p:nvGrpSpPr>
        <p:grpSpPr>
          <a:xfrm>
            <a:off x="923925" y="1638300"/>
            <a:ext cx="10344150" cy="2828925"/>
            <a:chOff x="923925" y="1638300"/>
            <a:chExt cx="10344150" cy="2828925"/>
          </a:xfrm>
        </p:grpSpPr>
        <p:sp>
          <p:nvSpPr>
            <p:cNvPr id="7" name="Rectangle 7"/>
            <p:cNvSpPr/>
            <p:nvPr/>
          </p:nvSpPr>
          <p:spPr>
            <a:xfrm>
              <a:off x="923925" y="1638300"/>
              <a:ext cx="2000250" cy="514350"/>
            </a:xfrm>
            <a:prstGeom prst="roundRect">
              <a:avLst>
                <a:gd name="adj" fmla="val 14815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96424" y="1736646"/>
              <a:ext cx="45525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«actor»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4663" y="19250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705225" y="1638300"/>
              <a:ext cx="2000250" cy="5143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 w="14288">
              <a:solidFill>
                <a:srgbClr val="C2410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28520" y="173664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34612" y="19250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管理紧急情况控制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86525" y="1638300"/>
              <a:ext cx="2000250" cy="5143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 w="14288">
              <a:solidFill>
                <a:srgbClr val="C2410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09820" y="173664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5912" y="19250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报告紧急情况控制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267825" y="1638300"/>
              <a:ext cx="2000250" cy="514350"/>
            </a:xfrm>
            <a:prstGeom prst="roundRect">
              <a:avLst>
                <a:gd name="adj" fmla="val 14815"/>
              </a:avLst>
            </a:prstGeom>
            <a:solidFill>
              <a:srgbClr val="E3F5F1"/>
            </a:solidFill>
            <a:ln w="14288">
              <a:solidFill>
                <a:srgbClr val="0F7A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44811" y="173664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79914" y="1925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确认通知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924050" y="21526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4705350" y="21526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7486650" y="21526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10267950" y="21526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66900" y="4029075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48200" y="2371725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29500" y="2371725"/>
              <a:ext cx="114300" cy="18764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210800" y="3200400"/>
              <a:ext cx="114300" cy="10477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762500" y="24574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7339965" y="24050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78068" y="2281476"/>
              <a:ext cx="14358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acknowledgeReport()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543800" y="3286125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10122218" y="3233738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0" y="0"/>
                  </a:moveTo>
                  <a:lnTo>
                    <a:pt x="0" y="104775"/>
                  </a:lnTo>
                  <a:lnTo>
                    <a:pt x="88582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73031" y="3110151"/>
              <a:ext cx="60853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create()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981200" y="411480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8229600" y="0"/>
                  </a:move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1981200" y="4062412"/>
              <a:ext cx="88583" cy="104775"/>
            </a:xfrm>
            <a:custGeom>
              <a:avLst/>
              <a:gdLst/>
              <a:ahLst/>
              <a:cxnLst/>
              <a:rect l="l" t="t" r="r" b="b"/>
              <a:pathLst>
                <a:path w="88583" h="104775">
                  <a:moveTo>
                    <a:pt x="88583" y="0"/>
                  </a:moveTo>
                  <a:lnTo>
                    <a:pt x="88583" y="104775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66512" y="39388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view()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381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7381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0"/>
                  </a:moveTo>
                  <a:lnTo>
                    <a:pt x="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1631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1631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0"/>
                  </a:moveTo>
                  <a:lnTo>
                    <a:pt x="0" y="20955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</p:grpSp>
      <p:grpSp>
        <p:nvGrpSpPr>
          <p:cNvPr id="46" name="seq3note"/>
          <p:cNvGrpSpPr/>
          <p:nvPr/>
        </p:nvGrpSpPr>
        <p:grpSpPr>
          <a:xfrm>
            <a:off x="533400" y="4762500"/>
            <a:ext cx="11125200" cy="1543050"/>
            <a:chOff x="533400" y="4762500"/>
            <a:chExt cx="11125200" cy="1543050"/>
          </a:xfrm>
        </p:grpSpPr>
        <p:sp>
          <p:nvSpPr>
            <p:cNvPr id="41" name="Rectangle 41"/>
            <p:cNvSpPr/>
            <p:nvPr/>
          </p:nvSpPr>
          <p:spPr>
            <a:xfrm>
              <a:off x="533400" y="4762500"/>
              <a:ext cx="11125200" cy="1543050"/>
            </a:xfrm>
            <a:prstGeom prst="roundRect">
              <a:avLst>
                <a:gd name="adj" fmla="val 6173"/>
              </a:avLst>
            </a:prstGeom>
            <a:solidFill>
              <a:srgbClr val="F4F6FB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6854" y="4899660"/>
              <a:ext cx="3914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画到这里才发现：实体对象“确认”在第一遍里被漏掉了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7235" y="5174456"/>
              <a:ext cx="8786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调度站那张图里，事件表单先创建了一个“确认”对象，它保存分配的资源和估计到达时间，再由报告紧急情况控制创建“确认通知”。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7235" y="5412581"/>
              <a:ext cx="7866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第一遍标识实体对象时没人提到它，因为原始用例只写了“调度员选择一个响应并回复”，没有写这个回复里装了什么。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7235" y="5650706"/>
              <a:ext cx="8040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开发人员回头向客户问清楚，把“确认”补进分析模型，同时把用例第 4 步写完整。分析模型就是这样一圈一圈长出来的。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补上"确认"，用例也跟着被改写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884998"/>
            <a:chOff x="533400" y="1524000"/>
            <a:chExt cx="4977765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940" y="17635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新发现的实体对象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30184" y="176736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调度员对现场工作人员的紧急情况报告的响应。通过发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送一个确认，调度员与现场工作人员交流，告知她已收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到紧急情况报告、创建了一个事件并给它分配了资源。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98275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该确认包含了分配的资源以及它们的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估计到达时间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3593782"/>
            <a:ext cx="4977765" cy="1018222"/>
            <a:chOff x="533400" y="3593782"/>
            <a:chExt cx="4977765" cy="1018222"/>
          </a:xfrm>
        </p:grpSpPr>
        <p:sp>
          <p:nvSpPr>
            <p:cNvPr id="15" name="Rectangle 15"/>
            <p:cNvSpPr/>
            <p:nvPr/>
          </p:nvSpPr>
          <p:spPr>
            <a:xfrm>
              <a:off x="533400" y="3593782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003360"/>
              <a:ext cx="200023" cy="200023"/>
              <a:chOff x="738188" y="4003360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0033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070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3741896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确认对象与确认通知边界对象不是一回事。确认保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存信息，确认通知负责显示，并且确认在确认通知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之前创建。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5815965" y="1524000"/>
            <a:ext cx="5842635" cy="3833812"/>
            <a:chOff x="5815965" y="1524000"/>
            <a:chExt cx="5842635" cy="3833812"/>
          </a:xfrm>
        </p:grpSpPr>
        <p:sp>
          <p:nvSpPr>
            <p:cNvPr id="21" name="Rectangle 21"/>
            <p:cNvSpPr/>
            <p:nvPr/>
          </p:nvSpPr>
          <p:spPr>
            <a:xfrm>
              <a:off x="5815965" y="1524000"/>
              <a:ext cx="5842635" cy="3833812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25490" y="1657350"/>
              <a:ext cx="47625" cy="3567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57900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6455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改进后的事件流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9874" y="1767364"/>
              <a:ext cx="21965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步和第 4 步都变长了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057900" y="210693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16245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7841" y="211978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系统做出响应：提交一份表格给现场工作人员。该表格包括一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个紧急情况类型菜单（普通类型、火灾、交通）、事件发生的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位置、事件描述、救援要求、危险原料所处场所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57900" y="296989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16245" y="30102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7841" y="2982754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现场工作人员填写表格，至少填写紧急情况类型和描述，也可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以描述可能响应和特殊救援要求。填完后按下发送报告按钮提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交，系统通知调度员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57900" y="383286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16245" y="38731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7841" y="3845719"/>
              <a:ext cx="488365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调度员通过弹出的对话框注意到新的事件报告，查看提交的信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息，通过调用打开事件用例在数据库创建一个事件，事件里自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动包括表格里的所有信息。调度员选择响应，用分配资源用例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分配救援资源，再通过发送短信息确认收到报告。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该确认包括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资源（例如一辆消防车）以及它们的估计到达时间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5815965" y="5542598"/>
            <a:ext cx="5842635" cy="756285"/>
            <a:chOff x="5815965" y="5542598"/>
            <a:chExt cx="5842635" cy="756285"/>
          </a:xfrm>
        </p:grpSpPr>
        <p:sp>
          <p:nvSpPr>
            <p:cNvPr id="36" name="Rectangle 36"/>
            <p:cNvSpPr/>
            <p:nvPr/>
          </p:nvSpPr>
          <p:spPr>
            <a:xfrm>
              <a:off x="5815965" y="5542598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020753" y="5820728"/>
              <a:ext cx="200026" cy="200026"/>
              <a:chOff x="6020753" y="582072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020753" y="5820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120765" y="5887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109653" y="59207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323076" y="5690711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入口条件和出口条件没变，变的是事件流里的信息粒度。这说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明改动是局部的，用例的边界当初划对了。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把顺序图上的消息映射成职责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64368" cy="541592"/>
            <a:chOff x="526161" y="1547336"/>
            <a:chExt cx="1056436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643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职责的名称基本沿用消息的名称，因为用例和顺序图还处在很简略的阶段，两者没出现什么差异。职责还不是类的操作，所以用 "//"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作前缀。</a:t>
              </a:r>
            </a:p>
          </p:txBody>
        </p:sp>
      </p:grpSp>
      <p:grpSp>
        <p:nvGrpSpPr>
          <p:cNvPr id="23" name="c1-uml-1"/>
          <p:cNvGrpSpPr/>
          <p:nvPr/>
        </p:nvGrpSpPr>
        <p:grpSpPr>
          <a:xfrm>
            <a:off x="1310640" y="2575560"/>
            <a:ext cx="4558665" cy="1120140"/>
            <a:chOff x="1310640" y="2575560"/>
            <a:chExt cx="4558665" cy="1120140"/>
          </a:xfrm>
        </p:grpSpPr>
        <p:sp>
          <p:nvSpPr>
            <p:cNvPr id="9" name="Rectangle 9"/>
            <p:cNvSpPr/>
            <p:nvPr/>
          </p:nvSpPr>
          <p:spPr>
            <a:xfrm>
              <a:off x="1310640" y="2575560"/>
              <a:ext cx="1584008" cy="112014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17308" y="2583180"/>
              <a:ext cx="1569720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310640" y="2972752"/>
              <a:ext cx="158400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310640" y="3068002"/>
              <a:ext cx="158400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12005" y="2575560"/>
              <a:ext cx="1257300" cy="112014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618672" y="2583180"/>
              <a:ext cx="124301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12005" y="2972752"/>
              <a:ext cx="12573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12005" y="3068002"/>
              <a:ext cx="12573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12684" y="263271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1429" y="278415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报告紧急情况控制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1887" y="3138964"/>
              <a:ext cx="1441196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//create()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//submitReport()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//acknowledgeReport()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2708" y="2632710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9917" y="278415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紧急情况报告表单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83252" y="3138964"/>
              <a:ext cx="1011809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//create()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//fillContents()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//submit()</a:t>
              </a:r>
            </a:p>
          </p:txBody>
        </p:sp>
      </p:grpSp>
      <p:grpSp>
        <p:nvGrpSpPr>
          <p:cNvPr id="35" name="c1-kv-2"/>
          <p:cNvGrpSpPr/>
          <p:nvPr/>
        </p:nvGrpSpPr>
        <p:grpSpPr>
          <a:xfrm>
            <a:off x="526542" y="4265295"/>
            <a:ext cx="6282880" cy="1457516"/>
            <a:chOff x="526542" y="4265295"/>
            <a:chExt cx="6282880" cy="1457516"/>
          </a:xfrm>
        </p:grpSpPr>
        <p:sp>
          <p:nvSpPr>
            <p:cNvPr id="24" name="TextBox 24"/>
            <p:cNvSpPr txBox="1"/>
            <p:nvPr/>
          </p:nvSpPr>
          <p:spPr>
            <a:xfrm>
              <a:off x="526542" y="426529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报告紧急情况按钮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02942" y="4265295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//press()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539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542" y="466248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管理紧急情况控制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02942" y="4662488"/>
              <a:ext cx="2777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//submitReportToDispatcher()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9520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542" y="506063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事件表单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02942" y="5060633"/>
              <a:ext cx="4082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//create()、//createIncident()、//submit()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34924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545877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其余三个实体类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02942" y="545877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//create()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7114222" y="2204085"/>
            <a:ext cx="4544378" cy="1768792"/>
            <a:chOff x="7114222" y="2204085"/>
            <a:chExt cx="4544378" cy="1768792"/>
          </a:xfrm>
        </p:grpSpPr>
        <p:sp>
          <p:nvSpPr>
            <p:cNvPr id="36" name="Rectangle 36"/>
            <p:cNvSpPr/>
            <p:nvPr/>
          </p:nvSpPr>
          <p:spPr>
            <a:xfrm>
              <a:off x="7114222" y="2204085"/>
              <a:ext cx="4544378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233743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44728" y="239649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24166" y="24307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怎么得来的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37870" y="2752725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把三张顺序图上所有指向"报告紧急情况控制"的箭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头收拢，就得到左边三条职责。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37870" y="3312795"/>
              <a:ext cx="36055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create() 和 submitReport() 来自第一张图，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acknowledgeReport() 来自第三张图。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7114222" y="4148138"/>
            <a:ext cx="4544378" cy="1521142"/>
            <a:chOff x="7114222" y="4148138"/>
            <a:chExt cx="4544378" cy="1521142"/>
          </a:xfrm>
        </p:grpSpPr>
        <p:sp>
          <p:nvSpPr>
            <p:cNvPr id="43" name="Rectangle 43"/>
            <p:cNvSpPr/>
            <p:nvPr/>
          </p:nvSpPr>
          <p:spPr>
            <a:xfrm>
              <a:off x="7114222" y="4148138"/>
              <a:ext cx="4544378" cy="1521142"/>
            </a:xfrm>
            <a:prstGeom prst="roundRect">
              <a:avLst>
                <a:gd name="adj" fmla="val 751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06952" y="4805481"/>
              <a:ext cx="224134" cy="192560"/>
              <a:chOff x="7306952" y="4805481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419023" y="48758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306952" y="48054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19023" y="49536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21714" y="4690110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收拢时要跨全部事件流看，只看基本流会漏掉只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在异常流里出现的职责。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一条职责可以响应多条消息，所以职责的条数通常少于消息的条数。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3726" cy="909257"/>
            <a:chOff x="520446" y="342900"/>
            <a:chExt cx="41437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37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报告紧急情况用例的 VOPC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275070" cy="293370"/>
            <a:chOff x="525780" y="1548765"/>
            <a:chExt cx="62750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把所有参与类摆进一张类图，箭头方向取自顺序图里消息的传递方向。</a:t>
              </a:r>
            </a:p>
          </p:txBody>
        </p:sp>
      </p:grpSp>
      <p:grpSp>
        <p:nvGrpSpPr>
          <p:cNvPr id="42" name="c1-graph-1"/>
          <p:cNvGrpSpPr/>
          <p:nvPr/>
        </p:nvGrpSpPr>
        <p:grpSpPr>
          <a:xfrm>
            <a:off x="804862" y="2178368"/>
            <a:ext cx="6142674" cy="3635692"/>
            <a:chOff x="804862" y="2178368"/>
            <a:chExt cx="6142674" cy="3635692"/>
          </a:xfrm>
        </p:grpSpPr>
        <p:sp>
          <p:nvSpPr>
            <p:cNvPr id="9" name="Freeform 9"/>
            <p:cNvSpPr/>
            <p:nvPr/>
          </p:nvSpPr>
          <p:spPr>
            <a:xfrm>
              <a:off x="1534478" y="2547938"/>
              <a:ext cx="827722" cy="1184910"/>
            </a:xfrm>
            <a:custGeom>
              <a:avLst/>
              <a:gdLst/>
              <a:ahLst/>
              <a:cxnLst/>
              <a:rect l="l" t="t" r="r" b="b"/>
              <a:pathLst>
                <a:path w="827722" h="1184910">
                  <a:moveTo>
                    <a:pt x="0" y="0"/>
                  </a:moveTo>
                  <a:lnTo>
                    <a:pt x="827722" y="11849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23148" y="3706178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104775"/>
                  </a:moveTo>
                  <a:lnTo>
                    <a:pt x="0" y="54292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58428" y="2547938"/>
              <a:ext cx="482917" cy="1175385"/>
            </a:xfrm>
            <a:custGeom>
              <a:avLst/>
              <a:gdLst/>
              <a:ahLst/>
              <a:cxnLst/>
              <a:rect l="l" t="t" r="r" b="b"/>
              <a:pathLst>
                <a:path w="482917" h="1175385">
                  <a:moveTo>
                    <a:pt x="482917" y="0"/>
                  </a:moveTo>
                  <a:lnTo>
                    <a:pt x="0" y="11753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13660" y="3705225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573" y="105728"/>
                  </a:moveTo>
                  <a:lnTo>
                    <a:pt x="0" y="0"/>
                  </a:lnTo>
                  <a:lnTo>
                    <a:pt x="88583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11780" y="2602230"/>
              <a:ext cx="1738312" cy="1208723"/>
            </a:xfrm>
            <a:custGeom>
              <a:avLst/>
              <a:gdLst/>
              <a:ahLst/>
              <a:cxnLst/>
              <a:rect l="l" t="t" r="r" b="b"/>
              <a:pathLst>
                <a:path w="1738312" h="1208723">
                  <a:moveTo>
                    <a:pt x="0" y="1208723"/>
                  </a:moveTo>
                  <a:lnTo>
                    <a:pt x="17383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23422" y="2547938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4293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588770" y="4180522"/>
              <a:ext cx="827722" cy="1185862"/>
            </a:xfrm>
            <a:custGeom>
              <a:avLst/>
              <a:gdLst/>
              <a:ahLst/>
              <a:cxnLst/>
              <a:rect l="l" t="t" r="r" b="b"/>
              <a:pathLst>
                <a:path w="827722" h="1185862">
                  <a:moveTo>
                    <a:pt x="827722" y="0"/>
                  </a:moveTo>
                  <a:lnTo>
                    <a:pt x="0" y="11858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34478" y="5338762"/>
              <a:ext cx="93345" cy="105728"/>
            </a:xfrm>
            <a:custGeom>
              <a:avLst/>
              <a:gdLst/>
              <a:ahLst/>
              <a:cxnLst/>
              <a:rect l="l" t="t" r="r" b="b"/>
              <a:pathLst>
                <a:path w="93345" h="105728">
                  <a:moveTo>
                    <a:pt x="0" y="105728"/>
                  </a:moveTo>
                  <a:lnTo>
                    <a:pt x="15240" y="0"/>
                  </a:lnTo>
                  <a:lnTo>
                    <a:pt x="93345" y="5429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146108" y="3995738"/>
              <a:ext cx="945833" cy="9525"/>
            </a:xfrm>
            <a:custGeom>
              <a:avLst/>
              <a:gdLst/>
              <a:ahLst/>
              <a:cxnLst/>
              <a:rect l="l" t="t" r="r" b="b"/>
              <a:pathLst>
                <a:path w="945833" h="9525">
                  <a:moveTo>
                    <a:pt x="0" y="0"/>
                  </a:moveTo>
                  <a:lnTo>
                    <a:pt x="9458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97755" y="2611755"/>
              <a:ext cx="1330642" cy="1199198"/>
            </a:xfrm>
            <a:custGeom>
              <a:avLst/>
              <a:gdLst/>
              <a:ahLst/>
              <a:cxnLst/>
              <a:rect l="l" t="t" r="r" b="b"/>
              <a:pathLst>
                <a:path w="1330642" h="1199198">
                  <a:moveTo>
                    <a:pt x="0" y="1199198"/>
                  </a:moveTo>
                  <a:lnTo>
                    <a:pt x="13306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196965" y="2547938"/>
              <a:ext cx="101917" cy="99060"/>
            </a:xfrm>
            <a:custGeom>
              <a:avLst/>
              <a:gdLst/>
              <a:ahLst/>
              <a:cxnLst/>
              <a:rect l="l" t="t" r="r" b="b"/>
              <a:pathLst>
                <a:path w="101917" h="99060">
                  <a:moveTo>
                    <a:pt x="101917" y="0"/>
                  </a:moveTo>
                  <a:lnTo>
                    <a:pt x="62865" y="99060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089208" y="2547938"/>
              <a:ext cx="1327785" cy="2809875"/>
            </a:xfrm>
            <a:custGeom>
              <a:avLst/>
              <a:gdLst/>
              <a:ahLst/>
              <a:cxnLst/>
              <a:rect l="l" t="t" r="r" b="b"/>
              <a:pathLst>
                <a:path w="1327785" h="2809875">
                  <a:moveTo>
                    <a:pt x="1327785" y="0"/>
                  </a:moveTo>
                  <a:lnTo>
                    <a:pt x="0" y="2809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046345" y="533781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1905" y="106680"/>
                  </a:moveTo>
                  <a:lnTo>
                    <a:pt x="0" y="0"/>
                  </a:lnTo>
                  <a:lnTo>
                    <a:pt x="85725" y="409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507480" y="2547938"/>
              <a:ext cx="58102" cy="2801302"/>
            </a:xfrm>
            <a:custGeom>
              <a:avLst/>
              <a:gdLst/>
              <a:ahLst/>
              <a:cxnLst/>
              <a:rect l="l" t="t" r="r" b="b"/>
              <a:pathLst>
                <a:path w="58102" h="2801302">
                  <a:moveTo>
                    <a:pt x="0" y="0"/>
                  </a:moveTo>
                  <a:lnTo>
                    <a:pt x="58102" y="28013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517958" y="5348288"/>
              <a:ext cx="95250" cy="96203"/>
            </a:xfrm>
            <a:custGeom>
              <a:avLst/>
              <a:gdLst/>
              <a:ahLst/>
              <a:cxnLst/>
              <a:rect l="l" t="t" r="r" b="b"/>
              <a:pathLst>
                <a:path w="95250" h="96203">
                  <a:moveTo>
                    <a:pt x="49530" y="96203"/>
                  </a:moveTo>
                  <a:lnTo>
                    <a:pt x="0" y="1905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4862" y="2178368"/>
              <a:ext cx="120110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16518" y="2178368"/>
              <a:ext cx="120110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50080" y="2178368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60758" y="2178368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45005" y="3810952"/>
              <a:ext cx="1201102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91940" y="3810952"/>
              <a:ext cx="1201102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69632" y="5444490"/>
              <a:ext cx="107156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00575" y="5444490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11252" y="5444490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3227" y="230171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报告紧急情况按钮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83929" y="230171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25137" y="23017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确认通知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4862" y="23017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事件表单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13369" y="393525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报告紧急情况控制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60304" y="393525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管理紧急情况控制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5154" y="556783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紧急情况报告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24692" y="55678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4417" y="55678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</p:grpSp>
      <p:grpSp>
        <p:nvGrpSpPr>
          <p:cNvPr id="51" name="c2-kv-1"/>
          <p:cNvGrpSpPr/>
          <p:nvPr/>
        </p:nvGrpSpPr>
        <p:grpSpPr>
          <a:xfrm>
            <a:off x="7539418" y="1977866"/>
            <a:ext cx="4119182" cy="1122617"/>
            <a:chOff x="7539418" y="1977866"/>
            <a:chExt cx="4119182" cy="1122617"/>
          </a:xfrm>
        </p:grpSpPr>
        <p:sp>
          <p:nvSpPr>
            <p:cNvPr id="43" name="TextBox 43"/>
            <p:cNvSpPr txBox="1"/>
            <p:nvPr/>
          </p:nvSpPr>
          <p:spPr>
            <a:xfrm>
              <a:off x="7539418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上排四个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38591" y="197786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边界类，面向现场工作人员和调度员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546658" y="2284095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39418" y="23998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中间两个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8591" y="239982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控制类，两台机器各管一段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546658" y="270510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39418" y="28217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下排三个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38591" y="282178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实体类，只被指向，不指向别人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7546658" y="3228975"/>
            <a:ext cx="4111942" cy="1865948"/>
            <a:chOff x="7546658" y="3228975"/>
            <a:chExt cx="4111942" cy="1865948"/>
          </a:xfrm>
        </p:grpSpPr>
        <p:sp>
          <p:nvSpPr>
            <p:cNvPr id="52" name="Rectangle 52"/>
            <p:cNvSpPr/>
            <p:nvPr/>
          </p:nvSpPr>
          <p:spPr>
            <a:xfrm>
              <a:off x="7546658" y="3228975"/>
              <a:ext cx="4111942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56182" y="3362325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88592" y="343281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66952" y="346852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读出的结论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81354" y="3806666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两个控制类之间是一条不带箭头的关联，对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应两台机器之间的双向转发。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81354" y="4398169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事件表单同时创建确认和事件，所以它有两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条向下的箭头。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7546658" y="5280660"/>
            <a:ext cx="4111942" cy="756285"/>
            <a:chOff x="7546658" y="5280660"/>
            <a:chExt cx="4111942" cy="756285"/>
          </a:xfrm>
        </p:grpSpPr>
        <p:sp>
          <p:nvSpPr>
            <p:cNvPr id="59" name="Rectangle 59"/>
            <p:cNvSpPr/>
            <p:nvPr/>
          </p:nvSpPr>
          <p:spPr>
            <a:xfrm>
              <a:off x="7546658" y="5280660"/>
              <a:ext cx="411194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751445" y="5558790"/>
              <a:ext cx="200026" cy="200025"/>
              <a:chOff x="7751445" y="555879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751445" y="55587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91184" y="56032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825899" y="57143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053768" y="5428774"/>
              <a:ext cx="32605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图上没有一条箭头从实体类出发，这正是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画法规则第 5 条的结果。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2896" cy="909257"/>
            <a:chOff x="520446" y="342900"/>
            <a:chExt cx="3362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给分析类补上属性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526143" cy="293370"/>
            <a:chOff x="525780" y="1548765"/>
            <a:chExt cx="952614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526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确定属性主要依据各分析类自行承担的职责。以实体类紧急情况报告为例，它的职责只有"创建自己"一条。</a:t>
              </a:r>
            </a:p>
          </p:txBody>
        </p:sp>
      </p:grpSp>
      <p:grpSp>
        <p:nvGrpSpPr>
          <p:cNvPr id="17" name="c1-uml-1"/>
          <p:cNvGrpSpPr/>
          <p:nvPr/>
        </p:nvGrpSpPr>
        <p:grpSpPr>
          <a:xfrm>
            <a:off x="2025968" y="2373630"/>
            <a:ext cx="1992630" cy="1379220"/>
            <a:chOff x="2025968" y="2373630"/>
            <a:chExt cx="1992630" cy="1379220"/>
          </a:xfrm>
        </p:grpSpPr>
        <p:sp>
          <p:nvSpPr>
            <p:cNvPr id="9" name="Rectangle 9"/>
            <p:cNvSpPr/>
            <p:nvPr/>
          </p:nvSpPr>
          <p:spPr>
            <a:xfrm>
              <a:off x="2025968" y="2373630"/>
              <a:ext cx="1992630" cy="137922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32635" y="2380298"/>
              <a:ext cx="1978342" cy="42386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025968" y="2800350"/>
              <a:ext cx="199263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25968" y="3463290"/>
              <a:ext cx="199263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43580" y="2435066"/>
              <a:ext cx="557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4244" y="25979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紧急情况报告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96833" y="2872740"/>
              <a:ext cx="185089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紧急类型：{火灾, 交通, 其他}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位置：字符串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描述：字符串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96833" y="353568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//create()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357688"/>
            <a:ext cx="4977765" cy="1293495"/>
            <a:chOff x="533400" y="4357688"/>
            <a:chExt cx="4977765" cy="1293495"/>
          </a:xfrm>
        </p:grpSpPr>
        <p:sp>
          <p:nvSpPr>
            <p:cNvPr id="18" name="Rectangle 18"/>
            <p:cNvSpPr/>
            <p:nvPr/>
          </p:nvSpPr>
          <p:spPr>
            <a:xfrm>
              <a:off x="533400" y="4357688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491038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45615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543" y="45972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76744" y="460105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事件的候选属性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95252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描述、响应、状态、位置、现场工作人员的数量，取自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它自己的那段描述。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5815965" y="1954530"/>
            <a:ext cx="5842635" cy="1865948"/>
            <a:chOff x="5815965" y="1954530"/>
            <a:chExt cx="5842635" cy="1865948"/>
          </a:xfrm>
        </p:grpSpPr>
        <p:sp>
          <p:nvSpPr>
            <p:cNvPr id="25" name="Rectangle 25"/>
            <p:cNvSpPr/>
            <p:nvPr/>
          </p:nvSpPr>
          <p:spPr>
            <a:xfrm>
              <a:off x="5815965" y="1954530"/>
              <a:ext cx="584263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25490" y="208788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57900" y="21583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31357" y="21940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属性从哪里来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50661" y="2531269"/>
              <a:ext cx="49287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职责只说"创建自己"，但用例事件流第 3 步写了填表时要选什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么、写什么。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50661" y="3122771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创建这个对象时需要它包括这些基本信息，于是这些信息就成了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5815965" y="4006215"/>
            <a:ext cx="5842635" cy="1644015"/>
            <a:chOff x="5815965" y="4006215"/>
            <a:chExt cx="5842635" cy="1644015"/>
          </a:xfrm>
        </p:grpSpPr>
        <p:sp>
          <p:nvSpPr>
            <p:cNvPr id="32" name="Rectangle 32"/>
            <p:cNvSpPr/>
            <p:nvPr/>
          </p:nvSpPr>
          <p:spPr>
            <a:xfrm>
              <a:off x="5815965" y="4006215"/>
              <a:ext cx="5842635" cy="1644015"/>
            </a:xfrm>
            <a:prstGeom prst="roundRect">
              <a:avLst>
                <a:gd name="adj" fmla="val 8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25490" y="4139565"/>
              <a:ext cx="47625" cy="13773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57900" y="42100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31357" y="42457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粗糙是有意的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0661" y="4582954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紧急类型是一个取值集合，位置和描述都只写"字符串"，没有长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度、没有编码、没有校验规则。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0661" y="517445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分析阶段的属性只要在逻辑上支撑得住职责就够了。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78807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用例第 3 步还提到了救援要求和危险原料所处场所，改进用例之后，这个类的属性还要再补。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2896" cy="909257"/>
            <a:chOff x="520446" y="342900"/>
            <a:chExt cx="3362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检查分析模型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6542" y="1545907"/>
            <a:ext cx="5328666" cy="1978533"/>
            <a:chOff x="526542" y="1545907"/>
            <a:chExt cx="5328666" cy="19785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为什么必须反复检查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41972" y="19221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992" y="1865947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分析模型用渐进循环方式构建，第一次构建时很少是正确的，甚至是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不完整的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972" y="249078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992" y="243459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在模型能被用来进行后面的设计和实现之前，与客户和用户之间的多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次循环是必要的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972" y="30594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992" y="300323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一旦模型变得稳定，先由开发人员检查，然后是开发方与客户的联合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3646170"/>
            <a:ext cx="5626418" cy="729615"/>
            <a:chOff x="533400" y="3646170"/>
            <a:chExt cx="5626418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64617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3910967"/>
              <a:ext cx="200023" cy="200023"/>
              <a:chOff x="738188" y="3910967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39109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39776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379190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本章的例子就是现成的证据：画到第二张顺序图才发现漏了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「确认」，连用例都得回去改。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550092"/>
            <a:ext cx="5626418" cy="1768792"/>
            <a:chOff x="533400" y="4550092"/>
            <a:chExt cx="5626418" cy="1768792"/>
          </a:xfrm>
        </p:grpSpPr>
        <p:sp>
          <p:nvSpPr>
            <p:cNvPr id="21" name="Rectangle 21"/>
            <p:cNvSpPr/>
            <p:nvPr/>
          </p:nvSpPr>
          <p:spPr>
            <a:xfrm>
              <a:off x="533400" y="4550092"/>
              <a:ext cx="5626418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683442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474249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3343" y="477678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检查分两轮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509968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第一轮由开发人员自己做，重点是模型内部有没有自相矛盾、有没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有画法上的硬伤。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565880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第二轮是开发方与客户的联合检查，重点是模型说的那件事是不是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客户真正要的。</a:t>
              </a:r>
            </a:p>
          </p:txBody>
        </p:sp>
      </p:grpSp>
      <p:grpSp>
        <p:nvGrpSpPr>
          <p:cNvPr id="42" name="c2-kv-1"/>
          <p:cNvGrpSpPr/>
          <p:nvPr/>
        </p:nvGrpSpPr>
        <p:grpSpPr>
          <a:xfrm>
            <a:off x="6457760" y="1545907"/>
            <a:ext cx="5200840" cy="1855661"/>
            <a:chOff x="6457760" y="1545907"/>
            <a:chExt cx="5200840" cy="1855661"/>
          </a:xfrm>
        </p:grpSpPr>
        <p:sp>
          <p:nvSpPr>
            <p:cNvPr id="28" name="TextBox 28"/>
            <p:cNvSpPr txBox="1"/>
            <p:nvPr/>
          </p:nvSpPr>
          <p:spPr>
            <a:xfrm>
              <a:off x="6457760" y="154590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9784" y="154590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说的就是客户要的那件事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18354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57760" y="19440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完整性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19784" y="194405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功能、异常、约束都没漏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2326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7760" y="23421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9784" y="23421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前后不打架，术语只有一种含义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630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57760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可测试性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9784" y="273939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每一条都能设计出验证办法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0289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7760" y="31375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现实性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19784" y="313753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用现有技术和预算做得出来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3523298"/>
            <a:ext cx="5193982" cy="2795588"/>
            <a:chOff x="6464618" y="3523298"/>
            <a:chExt cx="5193982" cy="2795588"/>
          </a:xfrm>
        </p:grpSpPr>
        <p:sp>
          <p:nvSpPr>
            <p:cNvPr id="43" name="Rectangle 43"/>
            <p:cNvSpPr/>
            <p:nvPr/>
          </p:nvSpPr>
          <p:spPr>
            <a:xfrm>
              <a:off x="6464618" y="3523298"/>
              <a:ext cx="5193982" cy="2795588"/>
            </a:xfrm>
            <a:prstGeom prst="roundRect">
              <a:avLst>
                <a:gd name="adj" fmla="val 4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3656648"/>
              <a:ext cx="47625" cy="25288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5122" y="371570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2560" y="374999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需求活动高度循环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8264" y="407289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从功能模型走向动态模型时，既可能发现遗漏的对象，又可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能因此充实和扩充用例。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8264" y="463200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从动态模型走向静态模型时，也可能发现需要修改用例的地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88264" y="519207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检查模型的阶段同样可能改用例，何况客户方随时可能变更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面向对象分析阶段的活动总结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87484" cy="308039"/>
            <a:chOff x="525399" y="1550194"/>
            <a:chExt cx="95874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874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实线是正常推进，虚线是发现问题后退回去改用例。图里每一条回边，在本章的例子里都真实发生过。</a:t>
              </a:r>
            </a:p>
          </p:txBody>
        </p:sp>
      </p:grpSp>
      <p:grpSp>
        <p:nvGrpSpPr>
          <p:cNvPr id="75" name="c1-flow-1"/>
          <p:cNvGrpSpPr/>
          <p:nvPr/>
        </p:nvGrpSpPr>
        <p:grpSpPr>
          <a:xfrm>
            <a:off x="583882" y="2062162"/>
            <a:ext cx="10814686" cy="4205288"/>
            <a:chOff x="583882" y="2062162"/>
            <a:chExt cx="10814686" cy="4205288"/>
          </a:xfrm>
        </p:grpSpPr>
        <p:sp>
          <p:nvSpPr>
            <p:cNvPr id="9" name="Freeform 9"/>
            <p:cNvSpPr/>
            <p:nvPr/>
          </p:nvSpPr>
          <p:spPr>
            <a:xfrm>
              <a:off x="6096000" y="2500312"/>
              <a:ext cx="9525" cy="84772"/>
            </a:xfrm>
            <a:custGeom>
              <a:avLst/>
              <a:gdLst/>
              <a:ahLst/>
              <a:cxnLst/>
              <a:rect l="l" t="t" r="r" b="b"/>
              <a:pathLst>
                <a:path w="9525" h="84772">
                  <a:moveTo>
                    <a:pt x="0" y="0"/>
                  </a:move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043612" y="25850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87918" y="3128010"/>
              <a:ext cx="3708082" cy="95250"/>
            </a:xfrm>
            <a:custGeom>
              <a:avLst/>
              <a:gdLst/>
              <a:ahLst/>
              <a:cxnLst/>
              <a:rect l="l" t="t" r="r" b="b"/>
              <a:pathLst>
                <a:path w="3708082" h="95250">
                  <a:moveTo>
                    <a:pt x="3708082" y="0"/>
                  </a:moveTo>
                  <a:lnTo>
                    <a:pt x="3708082" y="95250"/>
                  </a:lnTo>
                  <a:lnTo>
                    <a:pt x="0" y="95250"/>
                  </a:lnTo>
                  <a:lnTo>
                    <a:pt x="0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35530" y="32137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312801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43612" y="32137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3128010"/>
              <a:ext cx="3708082" cy="95250"/>
            </a:xfrm>
            <a:custGeom>
              <a:avLst/>
              <a:gdLst/>
              <a:ahLst/>
              <a:cxnLst/>
              <a:rect l="l" t="t" r="r" b="b"/>
              <a:pathLst>
                <a:path w="3708082" h="95250">
                  <a:moveTo>
                    <a:pt x="0" y="0"/>
                  </a:moveTo>
                  <a:lnTo>
                    <a:pt x="0" y="95250"/>
                  </a:lnTo>
                  <a:lnTo>
                    <a:pt x="3708082" y="95250"/>
                  </a:lnTo>
                  <a:lnTo>
                    <a:pt x="3708082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751695" y="32137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982402" y="353758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96740" y="34851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690485" y="3537585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04822" y="34851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387918" y="3756660"/>
              <a:ext cx="3708082" cy="94298"/>
            </a:xfrm>
            <a:custGeom>
              <a:avLst/>
              <a:gdLst/>
              <a:ahLst/>
              <a:cxnLst/>
              <a:rect l="l" t="t" r="r" b="b"/>
              <a:pathLst>
                <a:path w="3708082" h="94298">
                  <a:moveTo>
                    <a:pt x="0" y="0"/>
                  </a:moveTo>
                  <a:lnTo>
                    <a:pt x="0" y="94298"/>
                  </a:lnTo>
                  <a:lnTo>
                    <a:pt x="3708082" y="94298"/>
                  </a:lnTo>
                  <a:lnTo>
                    <a:pt x="3708082" y="847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43612" y="38414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096000" y="3756660"/>
              <a:ext cx="9525" cy="84773"/>
            </a:xfrm>
            <a:custGeom>
              <a:avLst/>
              <a:gdLst/>
              <a:ahLst/>
              <a:cxnLst/>
              <a:rect l="l" t="t" r="r" b="b"/>
              <a:pathLst>
                <a:path w="9525" h="84773">
                  <a:moveTo>
                    <a:pt x="0" y="0"/>
                  </a:moveTo>
                  <a:lnTo>
                    <a:pt x="0" y="847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043612" y="38414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096000" y="3756660"/>
              <a:ext cx="3708082" cy="94298"/>
            </a:xfrm>
            <a:custGeom>
              <a:avLst/>
              <a:gdLst/>
              <a:ahLst/>
              <a:cxnLst/>
              <a:rect l="l" t="t" r="r" b="b"/>
              <a:pathLst>
                <a:path w="3708082" h="94298">
                  <a:moveTo>
                    <a:pt x="3708082" y="0"/>
                  </a:moveTo>
                  <a:lnTo>
                    <a:pt x="3708082" y="94298"/>
                  </a:lnTo>
                  <a:lnTo>
                    <a:pt x="0" y="94298"/>
                  </a:lnTo>
                  <a:lnTo>
                    <a:pt x="0" y="847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043612" y="38414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387918" y="4384358"/>
              <a:ext cx="3708082" cy="94297"/>
            </a:xfrm>
            <a:custGeom>
              <a:avLst/>
              <a:gdLst/>
              <a:ahLst/>
              <a:cxnLst/>
              <a:rect l="l" t="t" r="r" b="b"/>
              <a:pathLst>
                <a:path w="3708082" h="94297">
                  <a:moveTo>
                    <a:pt x="3708082" y="0"/>
                  </a:moveTo>
                  <a:lnTo>
                    <a:pt x="3708082" y="94297"/>
                  </a:lnTo>
                  <a:lnTo>
                    <a:pt x="0" y="94297"/>
                  </a:ln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335530" y="4469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096000" y="4384358"/>
              <a:ext cx="9525" cy="84772"/>
            </a:xfrm>
            <a:custGeom>
              <a:avLst/>
              <a:gdLst/>
              <a:ahLst/>
              <a:cxnLst/>
              <a:rect l="l" t="t" r="r" b="b"/>
              <a:pathLst>
                <a:path w="9525" h="84772">
                  <a:moveTo>
                    <a:pt x="0" y="0"/>
                  </a:move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043612" y="4469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096000" y="4384358"/>
              <a:ext cx="3708082" cy="94297"/>
            </a:xfrm>
            <a:custGeom>
              <a:avLst/>
              <a:gdLst/>
              <a:ahLst/>
              <a:cxnLst/>
              <a:rect l="l" t="t" r="r" b="b"/>
              <a:pathLst>
                <a:path w="3708082" h="94297">
                  <a:moveTo>
                    <a:pt x="0" y="0"/>
                  </a:moveTo>
                  <a:lnTo>
                    <a:pt x="0" y="94297"/>
                  </a:lnTo>
                  <a:lnTo>
                    <a:pt x="3708082" y="94297"/>
                  </a:lnTo>
                  <a:lnTo>
                    <a:pt x="3708082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51695" y="4469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982402" y="4792980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0" y="0"/>
                  </a:moveTo>
                  <a:lnTo>
                    <a:pt x="4143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396740" y="47405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795260" y="4792980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690485" y="47405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387918" y="5012055"/>
              <a:ext cx="3708082" cy="95250"/>
            </a:xfrm>
            <a:custGeom>
              <a:avLst/>
              <a:gdLst/>
              <a:ahLst/>
              <a:cxnLst/>
              <a:rect l="l" t="t" r="r" b="b"/>
              <a:pathLst>
                <a:path w="3708082" h="95250">
                  <a:moveTo>
                    <a:pt x="0" y="0"/>
                  </a:moveTo>
                  <a:lnTo>
                    <a:pt x="0" y="95250"/>
                  </a:lnTo>
                  <a:lnTo>
                    <a:pt x="3708082" y="95250"/>
                  </a:lnTo>
                  <a:lnTo>
                    <a:pt x="3708082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043612" y="5096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096000" y="5012055"/>
              <a:ext cx="9525" cy="84772"/>
            </a:xfrm>
            <a:custGeom>
              <a:avLst/>
              <a:gdLst/>
              <a:ahLst/>
              <a:cxnLst/>
              <a:rect l="l" t="t" r="r" b="b"/>
              <a:pathLst>
                <a:path w="9525" h="84772">
                  <a:moveTo>
                    <a:pt x="0" y="0"/>
                  </a:move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043612" y="5096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096000" y="5012055"/>
              <a:ext cx="3708082" cy="95250"/>
            </a:xfrm>
            <a:custGeom>
              <a:avLst/>
              <a:gdLst/>
              <a:ahLst/>
              <a:cxnLst/>
              <a:rect l="l" t="t" r="r" b="b"/>
              <a:pathLst>
                <a:path w="3708082" h="95250">
                  <a:moveTo>
                    <a:pt x="3708082" y="0"/>
                  </a:moveTo>
                  <a:lnTo>
                    <a:pt x="3708082" y="95250"/>
                  </a:lnTo>
                  <a:lnTo>
                    <a:pt x="0" y="95250"/>
                  </a:ln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043612" y="5096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096000" y="5639752"/>
              <a:ext cx="9525" cy="84772"/>
            </a:xfrm>
            <a:custGeom>
              <a:avLst/>
              <a:gdLst/>
              <a:ahLst/>
              <a:cxnLst/>
              <a:rect l="l" t="t" r="r" b="b"/>
              <a:pathLst>
                <a:path w="9525" h="84772">
                  <a:moveTo>
                    <a:pt x="0" y="0"/>
                  </a:move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043612" y="5724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583882" y="2281238"/>
              <a:ext cx="3812858" cy="2511742"/>
            </a:xfrm>
            <a:custGeom>
              <a:avLst/>
              <a:gdLst/>
              <a:ahLst/>
              <a:cxnLst/>
              <a:rect l="l" t="t" r="r" b="b"/>
              <a:pathLst>
                <a:path w="3812858" h="2511742">
                  <a:moveTo>
                    <a:pt x="209550" y="2511742"/>
                  </a:moveTo>
                  <a:lnTo>
                    <a:pt x="0" y="2511742"/>
                  </a:lnTo>
                  <a:lnTo>
                    <a:pt x="282892" y="2511742"/>
                  </a:lnTo>
                  <a:lnTo>
                    <a:pt x="282892" y="1884045"/>
                  </a:lnTo>
                  <a:lnTo>
                    <a:pt x="282892" y="0"/>
                  </a:lnTo>
                  <a:lnTo>
                    <a:pt x="3708082" y="0"/>
                  </a:lnTo>
                  <a:lnTo>
                    <a:pt x="381285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4396740" y="2228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690485" y="2281238"/>
              <a:ext cx="3634740" cy="3767138"/>
            </a:xfrm>
            <a:custGeom>
              <a:avLst/>
              <a:gdLst/>
              <a:ahLst/>
              <a:cxnLst/>
              <a:rect l="l" t="t" r="r" b="b"/>
              <a:pathLst>
                <a:path w="3634740" h="3767138">
                  <a:moveTo>
                    <a:pt x="0" y="3767138"/>
                  </a:moveTo>
                  <a:lnTo>
                    <a:pt x="209550" y="3767138"/>
                  </a:lnTo>
                  <a:lnTo>
                    <a:pt x="3634740" y="3767138"/>
                  </a:lnTo>
                  <a:lnTo>
                    <a:pt x="3634740" y="1884045"/>
                  </a:lnTo>
                  <a:lnTo>
                    <a:pt x="3634740" y="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7690485" y="2228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501515" y="2062162"/>
              <a:ext cx="318897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501515" y="2689860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3432" y="3318510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501515" y="3318510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209598" y="3318510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501515" y="3946208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3432" y="4573905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4501515" y="4573905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209598" y="4573905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501515" y="5201602"/>
              <a:ext cx="318897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501515" y="5829300"/>
              <a:ext cx="3188970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44896" y="21921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定义用例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72582" y="28198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定义参与对象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64500" y="344852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定义实体对象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572582" y="344852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定义边界对象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80665" y="344852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定义控制对象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44896" y="40762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定义交互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817113" y="4703921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定义职责/行为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72582" y="47039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定义关联关系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52978" y="47039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定义属性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44896" y="5331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固定模型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44896" y="5959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检查模型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131695" y="2065020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149983" y="20916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发现遗漏对象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164955" y="5832158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83243" y="5858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需要修改用例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 · 完整实例：报告紧急情况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什么时候可以离开分析，进入系统设计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858328"/>
            <a:chOff x="533400" y="1524000"/>
            <a:chExt cx="5626418" cy="1858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58328"/>
            </a:xfrm>
            <a:prstGeom prst="roundRect">
              <a:avLst>
                <a:gd name="adj" fmla="val 717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9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1531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模型进入稳定期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一旦模型到达大多数修改都是修饰性的程度，就应该考虑进行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系统设计了。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281" y="269033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若没有更多的信息使你能发现模型存在问题或需要改动，就可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以往下走。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62350"/>
            <a:ext cx="5626418" cy="1297305"/>
            <a:chOff x="533400" y="3562350"/>
            <a:chExt cx="5626418" cy="1297305"/>
          </a:xfrm>
        </p:grpSpPr>
        <p:sp>
          <p:nvSpPr>
            <p:cNvPr id="14" name="Rectangle 14"/>
            <p:cNvSpPr/>
            <p:nvPr/>
          </p:nvSpPr>
          <p:spPr>
            <a:xfrm>
              <a:off x="533400" y="3562350"/>
              <a:ext cx="5626418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95700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76047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3059" y="37947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度的把握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412099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让每个细节都正确，代价会很高。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43912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经过下一次变更，其中的一些细节会变得无关紧要。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5039678"/>
            <a:ext cx="5626418" cy="1278255"/>
            <a:chOff x="533400" y="5039678"/>
            <a:chExt cx="5626418" cy="1278255"/>
          </a:xfrm>
        </p:grpSpPr>
        <p:sp>
          <p:nvSpPr>
            <p:cNvPr id="21" name="Rectangle 21"/>
            <p:cNvSpPr/>
            <p:nvPr/>
          </p:nvSpPr>
          <p:spPr>
            <a:xfrm>
              <a:off x="533400" y="5039678"/>
              <a:ext cx="5626418" cy="1278255"/>
            </a:xfrm>
            <a:prstGeom prst="roundRect">
              <a:avLst>
                <a:gd name="adj" fmla="val 89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78793"/>
              <a:ext cx="200026" cy="200025"/>
              <a:chOff x="738188" y="5578793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5787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56232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57343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544877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判断依据是修改的性质，不是修改的次数：还在增删对象就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继续分析，只在改名字改描述就可以往下走。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464618" y="1524000"/>
            <a:ext cx="5193982" cy="3880104"/>
            <a:chOff x="6464618" y="1524000"/>
            <a:chExt cx="5193982" cy="3880104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4032" r="0" b="4031"/>
            <a:stretch>
              <a:fillRect/>
            </a:stretch>
          </p:blipFill>
          <p:spPr>
            <a:xfrm>
              <a:off x="6464618" y="1524000"/>
              <a:ext cx="5193982" cy="3581400"/>
            </a:xfrm>
            <a:prstGeom prst="roundRect">
              <a:avLst>
                <a:gd name="adj" fmla="val 3723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431215" y="5198745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分析模型像逐轮修整的泥塑，越往后每一轮改动越小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464618" y="5562600"/>
            <a:ext cx="5193982" cy="756285"/>
            <a:chOff x="6464618" y="5562600"/>
            <a:chExt cx="5193982" cy="756285"/>
          </a:xfrm>
        </p:grpSpPr>
        <p:sp>
          <p:nvSpPr>
            <p:cNvPr id="31" name="Rectangle 31"/>
            <p:cNvSpPr/>
            <p:nvPr/>
          </p:nvSpPr>
          <p:spPr>
            <a:xfrm>
              <a:off x="6464618" y="556260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669405" y="5840730"/>
              <a:ext cx="200026" cy="200026"/>
              <a:chOff x="6669405" y="584073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69405" y="58407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69418" y="59074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58305" y="59407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971729" y="5709761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转入设计不等于分析结束，客户随时可能再提变更，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模型还会回来改。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3044190" cy="293370"/>
            <a:chOff x="525780" y="1548765"/>
            <a:chExt cx="30441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先自己写出答案，再看下面一行。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54530"/>
            <a:ext cx="5410200" cy="1865948"/>
            <a:chOff x="533400" y="1954530"/>
            <a:chExt cx="5410200" cy="186594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4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53126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包含关系和扩展关系的箭头，分别从哪个用例指向哪个用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312277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包含是基本用例指向被包含用例；扩展是扩展用例指向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基本用例。方向相反。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6215"/>
            <a:ext cx="5410200" cy="1594485"/>
            <a:chOff x="533400" y="4006215"/>
            <a:chExt cx="5410200" cy="1594485"/>
          </a:xfrm>
        </p:grpSpPr>
        <p:sp>
          <p:nvSpPr>
            <p:cNvPr id="15" name="Rectangle 15"/>
            <p:cNvSpPr/>
            <p:nvPr/>
          </p:nvSpPr>
          <p:spPr>
            <a:xfrm>
              <a:off x="533400" y="4006215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42100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4722" y="42457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458295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实体对象可以调用控制对象或边界对象吗？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49029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不可以。实体对象只被访问，从不主动访问它们，否则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就被某个用例绑死，无法跨用例复用。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54530"/>
            <a:ext cx="5410200" cy="1594485"/>
            <a:chOff x="6248400" y="1954530"/>
            <a:chExt cx="5410200" cy="159448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5453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2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9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4996" y="253126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顺序图的前三列按试探画法分别放什么？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4996" y="285130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第一列是用例的主动 Actor，第二列是它对应的边界对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象，第三列是管理用例剩余部分的控制对象。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34752"/>
            <a:ext cx="5410200" cy="1865948"/>
            <a:chOff x="6248400" y="3734752"/>
            <a:chExt cx="5410200" cy="1865948"/>
          </a:xfrm>
        </p:grpSpPr>
        <p:sp>
          <p:nvSpPr>
            <p:cNvPr id="27" name="Rectangle 27"/>
            <p:cNvSpPr/>
            <p:nvPr/>
          </p:nvSpPr>
          <p:spPr>
            <a:xfrm>
              <a:off x="6248400" y="3734752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2235" y="393858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39722" y="397430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4996" y="431149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一个用例通常对应几个控制类？什么时候会多于一个？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4996" y="463153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通常一个。用例复杂且能分解成更短的事件流时，或要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给用例中的每个 Actor 各设一个时，会多于一个。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3" name="Rectangle 3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04084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前两题考画法规则，后两题考三类分析对象的判定，都是本章的高频考点。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在「报告紧急情况」里，事件表单为什么是边界对象而不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是实体对象？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它只负责把信息呈现给调度员并收回答复，不保存需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要系统长期跟踪的信息，用完即销毁。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一个信息什么时候做成独立实体类，什么时候做成属性？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有较复杂的自身行为、或有独立标识可被多类对象共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享传递时做成实体类；只有简单取赋值、不需独立标识、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只供一类对象使用时做成属性。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实体对象「确认」是怎么被发现的？发现之后做了什么？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画调度站那张顺序图时发现的。开发人员回头向客户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问清确认里该有什么信息，再把它加入分析模型，并补全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用例第 4 步。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泛化和继承的区别是什么？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泛化是概念上从特殊到一般的归纳，继承是复用属性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和行为的机制。两个类没有归纳关系也可以继承，分析阶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段只谈泛化。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第二题的答案本身就是分析模型必须循环迭代的直接证据。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626489" cy="909257"/>
            <a:chOff x="520446" y="342900"/>
            <a:chExt cx="16264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1353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536" y="407194"/>
              <a:ext cx="1439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第10章 面向对象分析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5430"/>
            <a:ext cx="5078730" cy="3745230"/>
            <a:chOff x="533400" y="1535430"/>
            <a:chExt cx="5078730" cy="374523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用例是用户与系统为达成某个目的的一次典型交互，按六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个字段写；场景是它的一个真实实例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用例之间用包含、扩展、泛化降低复杂度，包含与扩展的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箭头方向相反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分析模型由功能模型、对象模型、动态模型组成，要准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确、完整、一致、可检验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分析类分实体、边界、控制三种，分别隔离数据、界面和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用例逻辑三类变化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5765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4099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407098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顺序图把用例的行为摊到各对象上，消息变职责，消息路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径变关联关系，汇成 VOPC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6882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7304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7015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分析模型渐进循环地长出来，修改只剩修饰性内容时才转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入系统设计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57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0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一条主线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2110740"/>
              <a:ext cx="4511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 → 参与对象 → 三类分析对象 → 顺序图 → 职责与关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 → VOPC → 属性 → 检查。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0330" y="273177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每往前一步，都可能把前面某一步推翻重做。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366135"/>
            <a:ext cx="5410200" cy="1855470"/>
            <a:chOff x="6248400" y="3366135"/>
            <a:chExt cx="5410200" cy="1855470"/>
          </a:xfrm>
        </p:grpSpPr>
        <p:sp>
          <p:nvSpPr>
            <p:cNvPr id="32" name="Rectangle 32"/>
            <p:cNvSpPr/>
            <p:nvPr/>
          </p:nvSpPr>
          <p:spPr>
            <a:xfrm>
              <a:off x="6248400" y="3366135"/>
              <a:ext cx="541020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499485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35756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8359" y="36114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关于章号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3952875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更正：原课件首页写「第十章 面向对象分析」，而第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页标题和全部页脚写作「第十一章」。本讲义按首页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统一为第 10 章。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复习时拿"报告紧急情况"这一个例子从头走一遍，比背各节的定义有效。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第10章 面向对象分析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10">
  <a:themeElements>
    <a:clrScheme name="se_ch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1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2026-09-22T13:39:59Z</dcterms:created>
  <dcterms:modified xsi:type="dcterms:W3CDTF">2026-09-22T13:39:59Z</dcterms:modified>
  <cp:category/>
  <cp:contentStatus/>
</cp:coreProperties>
</file>