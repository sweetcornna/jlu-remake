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e_ch01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e_ch01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269a0ab6434ca99.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8cdaee3b25f0137.png"/>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c7cb1e25e14933a.png"/>
</Relationships>
</file>

<file path=ppt/slides/_rels/slide5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cover-hero"/>
          <p:cNvPicPr>
            <a:picLocks noChangeAspect="1"/>
          </p:cNvPicPr>
          <p:nvPr/>
        </p:nvPicPr>
        <p:blipFill>
          <a:blip r:embed="rId2"/>
          <a:stretch>
            <a:fillRect/>
          </a:stretch>
        </p:blipFill>
        <p:spPr>
          <a:xfrm>
            <a:off x="0" y="0"/>
            <a:ext cx="12192000" cy="6858000"/>
          </a:xfrm>
          <a:prstGeom prst="rect">
            <a:avLst/>
          </a:prstGeom>
        </p:spPr>
      </p:pic>
      <p:sp>
        <p:nvSpPr>
          <p:cNvPr id="3" name="cover-scrim"/>
          <p:cNvSpPr/>
          <p:nvPr/>
        </p:nvSpPr>
        <p:spPr>
          <a:xfrm>
            <a:off x="0" y="0"/>
            <a:ext cx="7620000" cy="6858000"/>
          </a:xfrm>
          <a:prstGeom prst="rect">
            <a:avLst/>
          </a:prstGeom>
          <a:gradFill>
            <a:gsLst>
              <a:gs pos="0">
                <a:srgbClr val="FFFFFF">
                  <a:alpha val="97000"/>
                </a:srgbClr>
              </a:gs>
              <a:gs pos="58000">
                <a:srgbClr val="FFFFFF">
                  <a:alpha val="85000"/>
                </a:srgbClr>
              </a:gs>
              <a:gs pos="100000">
                <a:srgbClr val="FFFFFF">
                  <a:alpha val="0"/>
                </a:srgbClr>
              </a:gs>
            </a:gsLst>
            <a:lin ang="0" scaled="1"/>
          </a:gradFill>
          <a:ln>
            <a:noFill/>
          </a:ln>
        </p:spPr>
      </p:sp>
      <p:grpSp>
        <p:nvGrpSpPr>
          <p:cNvPr id="17" name="cover-title"/>
          <p:cNvGrpSpPr/>
          <p:nvPr/>
        </p:nvGrpSpPr>
        <p:grpSpPr>
          <a:xfrm>
            <a:off x="666750" y="1619250"/>
            <a:ext cx="3995928" cy="3437763"/>
            <a:chOff x="666750" y="1619250"/>
            <a:chExt cx="3995928" cy="3437763"/>
          </a:xfrm>
        </p:grpSpPr>
        <p:sp>
          <p:nvSpPr>
            <p:cNvPr id="4" name="Rectangle 4"/>
            <p:cNvSpPr/>
            <p:nvPr/>
          </p:nvSpPr>
          <p:spPr>
            <a:xfrm>
              <a:off x="685800" y="1619250"/>
              <a:ext cx="1593532" cy="342900"/>
            </a:xfrm>
            <a:prstGeom prst="roundRect">
              <a:avLst>
                <a:gd name="adj" fmla="val 50000"/>
              </a:avLst>
            </a:prstGeom>
            <a:solidFill>
              <a:srgbClr val="E7EDF3"/>
            </a:solidFill>
            <a:ln>
              <a:noFill/>
            </a:ln>
          </p:spPr>
        </p:sp>
        <p:sp>
          <p:nvSpPr>
            <p:cNvPr id="5" name="TextBox 5"/>
            <p:cNvSpPr txBox="1"/>
            <p:nvPr/>
          </p:nvSpPr>
          <p:spPr>
            <a:xfrm>
              <a:off x="814010" y="1718310"/>
              <a:ext cx="1338064" cy="234696"/>
            </a:xfrm>
            <a:prstGeom prst="rect">
              <a:avLst/>
            </a:prstGeom>
            <a:noFill/>
            <a:ln>
              <a:noFill/>
            </a:ln>
          </p:spPr>
          <p:txBody>
            <a:bodyPr wrap="none" lIns="0" tIns="0" rIns="0" bIns="0" anchor="t" anchorCtr="0">
              <a:spAutoFit/>
            </a:bodyPr>
            <a:lstStyle/>
            <a:p>
              <a:pPr algn="ctr"/>
              <a:r>
                <a:rPr lang="zh-CN" sz="1200" b="1" dirty="0">
                  <a:solidFill>
                    <a:srgbClr val="334E68"/>
                  </a:solidFill>
                  <a:latin typeface="+mn-lt"/>
                  <a:ea typeface="+mn-ea"/>
                  <a:cs typeface="+mn-cs"/>
                </a:rPr>
                <a:t>软件工程 · 第一章</a:t>
              </a:r>
            </a:p>
          </p:txBody>
        </p:sp>
        <p:sp>
          <p:nvSpPr>
            <p:cNvPr id="6" name="TextBox 6"/>
            <p:cNvSpPr txBox="1"/>
            <p:nvPr/>
          </p:nvSpPr>
          <p:spPr>
            <a:xfrm>
              <a:off x="666750" y="2407920"/>
              <a:ext cx="3995928" cy="819150"/>
            </a:xfrm>
            <a:prstGeom prst="rect">
              <a:avLst/>
            </a:prstGeom>
            <a:noFill/>
            <a:ln>
              <a:noFill/>
            </a:ln>
          </p:spPr>
          <p:txBody>
            <a:bodyPr wrap="none" lIns="0" tIns="0" rIns="0" bIns="0" anchor="t" anchorCtr="0">
              <a:spAutoFit/>
            </a:bodyPr>
            <a:lstStyle/>
            <a:p>
              <a:pPr algn="l"/>
              <a:r>
                <a:rPr lang="zh-CN" sz="4200" b="1" dirty="0">
                  <a:solidFill>
                    <a:srgbClr val="1F2937"/>
                  </a:solidFill>
                  <a:latin typeface="+mn-lt"/>
                  <a:ea typeface="+mn-ea"/>
                  <a:cs typeface="+mn-cs"/>
                </a:rPr>
                <a:t>软件工程学概述</a:t>
              </a:r>
            </a:p>
          </p:txBody>
        </p:sp>
        <p:sp>
          <p:nvSpPr>
            <p:cNvPr id="7" name="Rectangle 7"/>
            <p:cNvSpPr/>
            <p:nvPr/>
          </p:nvSpPr>
          <p:spPr>
            <a:xfrm>
              <a:off x="685800" y="3147060"/>
              <a:ext cx="990600" cy="57150"/>
            </a:xfrm>
            <a:prstGeom prst="roundRect">
              <a:avLst>
                <a:gd name="adj" fmla="val 50000"/>
              </a:avLst>
            </a:prstGeom>
            <a:gradFill>
              <a:gsLst>
                <a:gs pos="0">
                  <a:srgbClr val="334E68"/>
                </a:gs>
                <a:gs pos="100000">
                  <a:srgbClr val="F26B3A"/>
                </a:gs>
              </a:gsLst>
              <a:lin ang="0" scaled="1"/>
            </a:gradFill>
            <a:ln>
              <a:noFill/>
            </a:ln>
          </p:spPr>
        </p:sp>
        <p:sp>
          <p:nvSpPr>
            <p:cNvPr id="8" name="TextBox 8"/>
            <p:cNvSpPr txBox="1"/>
            <p:nvPr/>
          </p:nvSpPr>
          <p:spPr>
            <a:xfrm>
              <a:off x="676656" y="3467100"/>
              <a:ext cx="2926080" cy="352044"/>
            </a:xfrm>
            <a:prstGeom prst="rect">
              <a:avLst/>
            </a:prstGeom>
            <a:noFill/>
            <a:ln>
              <a:noFill/>
            </a:ln>
          </p:spPr>
          <p:txBody>
            <a:bodyPr wrap="none" lIns="0" tIns="0" rIns="0" bIns="0" anchor="t" anchorCtr="0">
              <a:spAutoFit/>
            </a:bodyPr>
            <a:lstStyle/>
            <a:p>
              <a:pPr algn="l"/>
              <a:r>
                <a:rPr lang="zh-CN" sz="1800" dirty="0">
                  <a:solidFill>
                    <a:srgbClr val="1F2937"/>
                  </a:solidFill>
                  <a:latin typeface="+mn-lt"/>
                  <a:ea typeface="+mn-ea"/>
                  <a:cs typeface="+mn-cs"/>
                </a:rPr>
                <a:t>从软件危机到软件过程模型</a:t>
              </a:r>
            </a:p>
          </p:txBody>
        </p:sp>
        <p:sp>
          <p:nvSpPr>
            <p:cNvPr id="9" name="Ellipse 9"/>
            <p:cNvSpPr/>
            <p:nvPr/>
          </p:nvSpPr>
          <p:spPr>
            <a:xfrm>
              <a:off x="709612" y="3976688"/>
              <a:ext cx="66675" cy="66675"/>
            </a:xfrm>
            <a:prstGeom prst="ellipse">
              <a:avLst/>
            </a:prstGeom>
            <a:solidFill>
              <a:srgbClr val="F26B3A"/>
            </a:solidFill>
            <a:ln>
              <a:noFill/>
            </a:ln>
          </p:spPr>
        </p:sp>
        <p:sp>
          <p:nvSpPr>
            <p:cNvPr id="10" name="TextBox 10"/>
            <p:cNvSpPr txBox="1"/>
            <p:nvPr/>
          </p:nvSpPr>
          <p:spPr>
            <a:xfrm>
              <a:off x="869442" y="3921442"/>
              <a:ext cx="2194560"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软件、软件危机与消除途径</a:t>
              </a:r>
            </a:p>
          </p:txBody>
        </p:sp>
        <p:sp>
          <p:nvSpPr>
            <p:cNvPr id="11" name="Ellipse 11"/>
            <p:cNvSpPr/>
            <p:nvPr/>
          </p:nvSpPr>
          <p:spPr>
            <a:xfrm>
              <a:off x="709612" y="4267200"/>
              <a:ext cx="66675" cy="66675"/>
            </a:xfrm>
            <a:prstGeom prst="ellipse">
              <a:avLst/>
            </a:prstGeom>
            <a:solidFill>
              <a:srgbClr val="F26B3A"/>
            </a:solidFill>
            <a:ln>
              <a:noFill/>
            </a:ln>
          </p:spPr>
        </p:sp>
        <p:sp>
          <p:nvSpPr>
            <p:cNvPr id="12" name="TextBox 12"/>
            <p:cNvSpPr txBox="1"/>
            <p:nvPr/>
          </p:nvSpPr>
          <p:spPr>
            <a:xfrm>
              <a:off x="869442" y="4211955"/>
              <a:ext cx="1831086"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软件工程定义与方法学</a:t>
              </a:r>
            </a:p>
          </p:txBody>
        </p:sp>
        <p:sp>
          <p:nvSpPr>
            <p:cNvPr id="13" name="Ellipse 13"/>
            <p:cNvSpPr/>
            <p:nvPr/>
          </p:nvSpPr>
          <p:spPr>
            <a:xfrm>
              <a:off x="709612" y="4557712"/>
              <a:ext cx="66675" cy="66675"/>
            </a:xfrm>
            <a:prstGeom prst="ellipse">
              <a:avLst/>
            </a:prstGeom>
            <a:solidFill>
              <a:srgbClr val="F26B3A"/>
            </a:solidFill>
            <a:ln>
              <a:noFill/>
            </a:ln>
          </p:spPr>
        </p:sp>
        <p:sp>
          <p:nvSpPr>
            <p:cNvPr id="14" name="TextBox 14"/>
            <p:cNvSpPr txBox="1"/>
            <p:nvPr/>
          </p:nvSpPr>
          <p:spPr>
            <a:xfrm>
              <a:off x="869442" y="4502468"/>
              <a:ext cx="2012823"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软件生命周期与团队角色</a:t>
              </a:r>
            </a:p>
          </p:txBody>
        </p:sp>
        <p:sp>
          <p:nvSpPr>
            <p:cNvPr id="15" name="Ellipse 15"/>
            <p:cNvSpPr/>
            <p:nvPr/>
          </p:nvSpPr>
          <p:spPr>
            <a:xfrm>
              <a:off x="709612" y="4848225"/>
              <a:ext cx="66675" cy="66675"/>
            </a:xfrm>
            <a:prstGeom prst="ellipse">
              <a:avLst/>
            </a:prstGeom>
            <a:solidFill>
              <a:srgbClr val="F26B3A"/>
            </a:solidFill>
            <a:ln>
              <a:noFill/>
            </a:ln>
          </p:spPr>
        </p:sp>
        <p:sp>
          <p:nvSpPr>
            <p:cNvPr id="16" name="TextBox 16"/>
            <p:cNvSpPr txBox="1"/>
            <p:nvPr/>
          </p:nvSpPr>
          <p:spPr>
            <a:xfrm>
              <a:off x="869442" y="4792980"/>
              <a:ext cx="1831086"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过程模型：瀑布到敏捷</a:t>
              </a:r>
            </a:p>
          </p:txBody>
        </p:sp>
      </p:grpSp>
      <p:grpSp>
        <p:nvGrpSpPr>
          <p:cNvPr id="19" name="cover-credit"/>
          <p:cNvGrpSpPr/>
          <p:nvPr/>
        </p:nvGrpSpPr>
        <p:grpSpPr>
          <a:xfrm>
            <a:off x="680466" y="6192202"/>
            <a:ext cx="4131050" cy="205359"/>
            <a:chOff x="680466" y="6192202"/>
            <a:chExt cx="4131050" cy="205359"/>
          </a:xfrm>
        </p:grpSpPr>
        <p:sp>
          <p:nvSpPr>
            <p:cNvPr id="18" name="TextBox 18"/>
            <p:cNvSpPr txBox="1"/>
            <p:nvPr/>
          </p:nvSpPr>
          <p:spPr>
            <a:xfrm>
              <a:off x="680466" y="6192202"/>
              <a:ext cx="4131050"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重制讲义 · 自学复习版｜据吉林大学《软件工程》第一章课件整理</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2085594" cy="909257"/>
            <a:chOff x="520446" y="342900"/>
            <a:chExt cx="2085594" cy="909257"/>
          </a:xfrm>
        </p:grpSpPr>
        <p:sp>
          <p:nvSpPr>
            <p:cNvPr id="2" name="Rectangle 2"/>
            <p:cNvSpPr/>
            <p:nvPr/>
          </p:nvSpPr>
          <p:spPr>
            <a:xfrm>
              <a:off x="533400" y="342900"/>
              <a:ext cx="962978" cy="266700"/>
            </a:xfrm>
            <a:prstGeom prst="roundRect">
              <a:avLst>
                <a:gd name="adj" fmla="val 50000"/>
              </a:avLst>
            </a:prstGeom>
            <a:solidFill>
              <a:srgbClr val="E7EDF3"/>
            </a:solidFill>
            <a:ln>
              <a:noFill/>
            </a:ln>
          </p:spPr>
        </p:sp>
        <p:sp>
          <p:nvSpPr>
            <p:cNvPr id="3" name="TextBox 3"/>
            <p:cNvSpPr txBox="1"/>
            <p:nvPr/>
          </p:nvSpPr>
          <p:spPr>
            <a:xfrm>
              <a:off x="639866" y="407194"/>
              <a:ext cx="749094"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a:t>
              </a:r>
            </a:p>
          </p:txBody>
        </p:sp>
        <p:sp>
          <p:nvSpPr>
            <p:cNvPr id="4" name="TextBox 4"/>
            <p:cNvSpPr txBox="1"/>
            <p:nvPr/>
          </p:nvSpPr>
          <p:spPr>
            <a:xfrm>
              <a:off x="520446" y="753428"/>
              <a:ext cx="208559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本章学习路线</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0" name="c1-agenda-1"/>
          <p:cNvGrpSpPr/>
          <p:nvPr/>
        </p:nvGrpSpPr>
        <p:grpSpPr>
          <a:xfrm>
            <a:off x="521970" y="1515428"/>
            <a:ext cx="6287453" cy="4461795"/>
            <a:chOff x="521970" y="1515428"/>
            <a:chExt cx="6287453" cy="4461795"/>
          </a:xfrm>
        </p:grpSpPr>
        <p:sp>
          <p:nvSpPr>
            <p:cNvPr id="7" name="TextBox 7"/>
            <p:cNvSpPr txBox="1"/>
            <p:nvPr/>
          </p:nvSpPr>
          <p:spPr>
            <a:xfrm>
              <a:off x="521970" y="1515428"/>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01</a:t>
              </a:r>
            </a:p>
          </p:txBody>
        </p:sp>
        <p:sp>
          <p:nvSpPr>
            <p:cNvPr id="8" name="TextBox 8"/>
            <p:cNvSpPr txBox="1"/>
            <p:nvPr/>
          </p:nvSpPr>
          <p:spPr>
            <a:xfrm>
              <a:off x="1065086" y="1551622"/>
              <a:ext cx="1571625"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软件与软件危机</a:t>
              </a:r>
            </a:p>
          </p:txBody>
        </p:sp>
        <p:sp>
          <p:nvSpPr>
            <p:cNvPr id="9" name="TextBox 9"/>
            <p:cNvSpPr txBox="1"/>
            <p:nvPr/>
          </p:nvSpPr>
          <p:spPr>
            <a:xfrm>
              <a:off x="1066990" y="1868329"/>
              <a:ext cx="3803853"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软件的定义和特点，危机的表现、原因与消除途径</a:t>
              </a:r>
            </a:p>
          </p:txBody>
        </p:sp>
        <p:sp>
          <p:nvSpPr>
            <p:cNvPr id="10" name="Rectangle 10"/>
            <p:cNvSpPr/>
            <p:nvPr/>
          </p:nvSpPr>
          <p:spPr>
            <a:xfrm>
              <a:off x="1073468" y="2181225"/>
              <a:ext cx="5735955" cy="9525"/>
            </a:xfrm>
            <a:prstGeom prst="rect">
              <a:avLst/>
            </a:prstGeom>
            <a:solidFill>
              <a:srgbClr val="D9DFEA"/>
            </a:solidFill>
            <a:ln>
              <a:noFill/>
            </a:ln>
          </p:spPr>
        </p:sp>
        <p:sp>
          <p:nvSpPr>
            <p:cNvPr id="11" name="TextBox 11"/>
            <p:cNvSpPr txBox="1"/>
            <p:nvPr/>
          </p:nvSpPr>
          <p:spPr>
            <a:xfrm>
              <a:off x="521970" y="2286952"/>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02</a:t>
              </a:r>
            </a:p>
          </p:txBody>
        </p:sp>
        <p:sp>
          <p:nvSpPr>
            <p:cNvPr id="12" name="TextBox 12"/>
            <p:cNvSpPr txBox="1"/>
            <p:nvPr/>
          </p:nvSpPr>
          <p:spPr>
            <a:xfrm>
              <a:off x="1065086" y="2323148"/>
              <a:ext cx="905256"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软件工程</a:t>
              </a:r>
            </a:p>
          </p:txBody>
        </p:sp>
        <p:sp>
          <p:nvSpPr>
            <p:cNvPr id="13" name="TextBox 13"/>
            <p:cNvSpPr txBox="1"/>
            <p:nvPr/>
          </p:nvSpPr>
          <p:spPr>
            <a:xfrm>
              <a:off x="1066990" y="2639854"/>
              <a:ext cx="3631540"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定义、本质特性、七条基本原理、方法学三要素</a:t>
              </a:r>
            </a:p>
          </p:txBody>
        </p:sp>
        <p:sp>
          <p:nvSpPr>
            <p:cNvPr id="14" name="Rectangle 14"/>
            <p:cNvSpPr/>
            <p:nvPr/>
          </p:nvSpPr>
          <p:spPr>
            <a:xfrm>
              <a:off x="1073468" y="2953702"/>
              <a:ext cx="5735955" cy="9525"/>
            </a:xfrm>
            <a:prstGeom prst="rect">
              <a:avLst/>
            </a:prstGeom>
            <a:solidFill>
              <a:srgbClr val="D9DFEA"/>
            </a:solidFill>
            <a:ln>
              <a:noFill/>
            </a:ln>
          </p:spPr>
        </p:sp>
        <p:sp>
          <p:nvSpPr>
            <p:cNvPr id="15" name="TextBox 15"/>
            <p:cNvSpPr txBox="1"/>
            <p:nvPr/>
          </p:nvSpPr>
          <p:spPr>
            <a:xfrm>
              <a:off x="521970" y="3058478"/>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03</a:t>
              </a:r>
            </a:p>
          </p:txBody>
        </p:sp>
        <p:sp>
          <p:nvSpPr>
            <p:cNvPr id="16" name="TextBox 16"/>
            <p:cNvSpPr txBox="1"/>
            <p:nvPr/>
          </p:nvSpPr>
          <p:spPr>
            <a:xfrm>
              <a:off x="1065086" y="3094673"/>
              <a:ext cx="1349502"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软件生命周期</a:t>
              </a:r>
            </a:p>
          </p:txBody>
        </p:sp>
        <p:sp>
          <p:nvSpPr>
            <p:cNvPr id="17" name="TextBox 17"/>
            <p:cNvSpPr txBox="1"/>
            <p:nvPr/>
          </p:nvSpPr>
          <p:spPr>
            <a:xfrm>
              <a:off x="1066990" y="3412331"/>
              <a:ext cx="3114599"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3 个时期 8 个阶段，维护活动与团队角色</a:t>
              </a:r>
            </a:p>
          </p:txBody>
        </p:sp>
        <p:sp>
          <p:nvSpPr>
            <p:cNvPr id="18" name="Rectangle 18"/>
            <p:cNvSpPr/>
            <p:nvPr/>
          </p:nvSpPr>
          <p:spPr>
            <a:xfrm>
              <a:off x="1073468" y="3725228"/>
              <a:ext cx="5735955" cy="9525"/>
            </a:xfrm>
            <a:prstGeom prst="rect">
              <a:avLst/>
            </a:prstGeom>
            <a:solidFill>
              <a:srgbClr val="D9DFEA"/>
            </a:solidFill>
            <a:ln>
              <a:noFill/>
            </a:ln>
          </p:spPr>
        </p:sp>
        <p:sp>
          <p:nvSpPr>
            <p:cNvPr id="19" name="TextBox 19"/>
            <p:cNvSpPr txBox="1"/>
            <p:nvPr/>
          </p:nvSpPr>
          <p:spPr>
            <a:xfrm>
              <a:off x="521970" y="3830955"/>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04</a:t>
              </a:r>
            </a:p>
          </p:txBody>
        </p:sp>
        <p:sp>
          <p:nvSpPr>
            <p:cNvPr id="20" name="TextBox 20"/>
            <p:cNvSpPr txBox="1"/>
            <p:nvPr/>
          </p:nvSpPr>
          <p:spPr>
            <a:xfrm>
              <a:off x="1065086" y="3867150"/>
              <a:ext cx="1349502"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传统过程模型</a:t>
              </a:r>
            </a:p>
          </p:txBody>
        </p:sp>
        <p:sp>
          <p:nvSpPr>
            <p:cNvPr id="21" name="TextBox 21"/>
            <p:cNvSpPr txBox="1"/>
            <p:nvPr/>
          </p:nvSpPr>
          <p:spPr>
            <a:xfrm>
              <a:off x="1066990" y="4183856"/>
              <a:ext cx="3042422"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瀑布、V、快速原型、增量、螺旋、喷泉</a:t>
              </a:r>
            </a:p>
          </p:txBody>
        </p:sp>
        <p:sp>
          <p:nvSpPr>
            <p:cNvPr id="22" name="Rectangle 22"/>
            <p:cNvSpPr/>
            <p:nvPr/>
          </p:nvSpPr>
          <p:spPr>
            <a:xfrm>
              <a:off x="1073468" y="4497705"/>
              <a:ext cx="5735955" cy="9525"/>
            </a:xfrm>
            <a:prstGeom prst="rect">
              <a:avLst/>
            </a:prstGeom>
            <a:solidFill>
              <a:srgbClr val="D9DFEA"/>
            </a:solidFill>
            <a:ln>
              <a:noFill/>
            </a:ln>
          </p:spPr>
        </p:sp>
        <p:sp>
          <p:nvSpPr>
            <p:cNvPr id="23" name="TextBox 23"/>
            <p:cNvSpPr txBox="1"/>
            <p:nvPr/>
          </p:nvSpPr>
          <p:spPr>
            <a:xfrm>
              <a:off x="521970" y="4602480"/>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05</a:t>
              </a:r>
            </a:p>
          </p:txBody>
        </p:sp>
        <p:sp>
          <p:nvSpPr>
            <p:cNvPr id="24" name="TextBox 24"/>
            <p:cNvSpPr txBox="1"/>
            <p:nvPr/>
          </p:nvSpPr>
          <p:spPr>
            <a:xfrm>
              <a:off x="1065086" y="4638675"/>
              <a:ext cx="1385796"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RUP 统一过程</a:t>
              </a:r>
            </a:p>
          </p:txBody>
        </p:sp>
        <p:sp>
          <p:nvSpPr>
            <p:cNvPr id="25" name="TextBox 25"/>
            <p:cNvSpPr txBox="1"/>
            <p:nvPr/>
          </p:nvSpPr>
          <p:spPr>
            <a:xfrm>
              <a:off x="1066990" y="4955381"/>
              <a:ext cx="4148480"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六大最佳实践、二维生命周期、9 个工作流与 4 个阶段</a:t>
              </a:r>
            </a:p>
          </p:txBody>
        </p:sp>
        <p:sp>
          <p:nvSpPr>
            <p:cNvPr id="26" name="Rectangle 26"/>
            <p:cNvSpPr/>
            <p:nvPr/>
          </p:nvSpPr>
          <p:spPr>
            <a:xfrm>
              <a:off x="1073468" y="5269230"/>
              <a:ext cx="5735955" cy="9525"/>
            </a:xfrm>
            <a:prstGeom prst="rect">
              <a:avLst/>
            </a:prstGeom>
            <a:solidFill>
              <a:srgbClr val="D9DFEA"/>
            </a:solidFill>
            <a:ln>
              <a:noFill/>
            </a:ln>
          </p:spPr>
        </p:sp>
        <p:sp>
          <p:nvSpPr>
            <p:cNvPr id="27" name="TextBox 27"/>
            <p:cNvSpPr txBox="1"/>
            <p:nvPr/>
          </p:nvSpPr>
          <p:spPr>
            <a:xfrm>
              <a:off x="521970" y="5374958"/>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06</a:t>
              </a:r>
            </a:p>
          </p:txBody>
        </p:sp>
        <p:sp>
          <p:nvSpPr>
            <p:cNvPr id="28" name="TextBox 28"/>
            <p:cNvSpPr txBox="1"/>
            <p:nvPr/>
          </p:nvSpPr>
          <p:spPr>
            <a:xfrm>
              <a:off x="1065086" y="5411152"/>
              <a:ext cx="2015871"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敏捷过程与微软过程</a:t>
              </a:r>
            </a:p>
          </p:txBody>
        </p:sp>
        <p:sp>
          <p:nvSpPr>
            <p:cNvPr id="29" name="TextBox 29"/>
            <p:cNvSpPr txBox="1"/>
            <p:nvPr/>
          </p:nvSpPr>
          <p:spPr>
            <a:xfrm>
              <a:off x="1066990" y="5727859"/>
              <a:ext cx="3541806"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敏捷宣言、XP 实践、用户故事、微软生命周期</a:t>
              </a:r>
            </a:p>
          </p:txBody>
        </p:sp>
      </p:grpSp>
      <p:grpSp>
        <p:nvGrpSpPr>
          <p:cNvPr id="45" name="c2-card-1"/>
          <p:cNvGrpSpPr/>
          <p:nvPr/>
        </p:nvGrpSpPr>
        <p:grpSpPr>
          <a:xfrm>
            <a:off x="7114222" y="1524000"/>
            <a:ext cx="4544378" cy="4402455"/>
            <a:chOff x="7114222" y="1524000"/>
            <a:chExt cx="4544378" cy="4402455"/>
          </a:xfrm>
        </p:grpSpPr>
        <p:sp>
          <p:nvSpPr>
            <p:cNvPr id="31" name="Rectangle 31"/>
            <p:cNvSpPr/>
            <p:nvPr/>
          </p:nvSpPr>
          <p:spPr>
            <a:xfrm>
              <a:off x="7114222" y="1524000"/>
              <a:ext cx="4544378" cy="4402455"/>
            </a:xfrm>
            <a:prstGeom prst="roundRect">
              <a:avLst>
                <a:gd name="adj" fmla="val 3029"/>
              </a:avLst>
            </a:prstGeom>
            <a:solidFill>
              <a:srgbClr val="FFFFFF"/>
            </a:solidFill>
            <a:ln w="14288">
              <a:solidFill>
                <a:srgbClr val="D9DFEA"/>
              </a:solidFill>
            </a:ln>
          </p:spPr>
        </p:sp>
        <p:sp>
          <p:nvSpPr>
            <p:cNvPr id="32" name="Rectangle 32"/>
            <p:cNvSpPr/>
            <p:nvPr/>
          </p:nvSpPr>
          <p:spPr>
            <a:xfrm>
              <a:off x="7123748" y="1657350"/>
              <a:ext cx="47625" cy="4135755"/>
            </a:xfrm>
            <a:prstGeom prst="roundRect">
              <a:avLst>
                <a:gd name="adj" fmla="val 50000"/>
              </a:avLst>
            </a:prstGeom>
            <a:solidFill>
              <a:srgbClr val="334E68"/>
            </a:solidFill>
            <a:ln>
              <a:noFill/>
            </a:ln>
          </p:spPr>
        </p:sp>
        <p:sp>
          <p:nvSpPr>
            <p:cNvPr id="33" name="Rectangle 33"/>
            <p:cNvSpPr/>
            <p:nvPr/>
          </p:nvSpPr>
          <p:spPr>
            <a:xfrm>
              <a:off x="7361872" y="1733550"/>
              <a:ext cx="778192" cy="257175"/>
            </a:xfrm>
            <a:prstGeom prst="roundRect">
              <a:avLst>
                <a:gd name="adj" fmla="val 50000"/>
              </a:avLst>
            </a:prstGeom>
            <a:solidFill>
              <a:srgbClr val="E7EDF3"/>
            </a:solidFill>
            <a:ln>
              <a:noFill/>
            </a:ln>
          </p:spPr>
        </p:sp>
        <p:sp>
          <p:nvSpPr>
            <p:cNvPr id="34" name="TextBox 34"/>
            <p:cNvSpPr txBox="1"/>
            <p:nvPr/>
          </p:nvSpPr>
          <p:spPr>
            <a:xfrm>
              <a:off x="7443229" y="1769269"/>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学习目标</a:t>
              </a:r>
            </a:p>
          </p:txBody>
        </p:sp>
        <p:sp>
          <p:nvSpPr>
            <p:cNvPr id="35" name="Ellipse 35"/>
            <p:cNvSpPr/>
            <p:nvPr/>
          </p:nvSpPr>
          <p:spPr>
            <a:xfrm>
              <a:off x="7367588" y="2173605"/>
              <a:ext cx="64770" cy="64770"/>
            </a:xfrm>
            <a:prstGeom prst="ellipse">
              <a:avLst/>
            </a:prstGeom>
            <a:solidFill>
              <a:srgbClr val="334E68"/>
            </a:solidFill>
            <a:ln>
              <a:noFill/>
            </a:ln>
          </p:spPr>
        </p:sp>
        <p:sp>
          <p:nvSpPr>
            <p:cNvPr id="36" name="TextBox 36"/>
            <p:cNvSpPr txBox="1"/>
            <p:nvPr/>
          </p:nvSpPr>
          <p:spPr>
            <a:xfrm>
              <a:off x="7525702" y="211074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说出软件危机的表现和产生原因，并解释阶</a:t>
              </a:r>
              <a:br/>
              <a:r>
                <a:rPr lang="zh-CN" sz="1500" dirty="0">
                  <a:solidFill>
                    <a:srgbClr val="1F2937"/>
                  </a:solidFill>
                  <a:latin typeface="+mn-lt"/>
                  <a:ea typeface="+mn-ea"/>
                  <a:cs typeface="+mn-cs"/>
                </a:rPr>
                <a:t>段评审为什么能省钱</a:t>
              </a:r>
            </a:p>
          </p:txBody>
        </p:sp>
        <p:sp>
          <p:nvSpPr>
            <p:cNvPr id="37" name="Ellipse 37"/>
            <p:cNvSpPr/>
            <p:nvPr/>
          </p:nvSpPr>
          <p:spPr>
            <a:xfrm>
              <a:off x="7367588" y="2794635"/>
              <a:ext cx="64770" cy="64770"/>
            </a:xfrm>
            <a:prstGeom prst="ellipse">
              <a:avLst/>
            </a:prstGeom>
            <a:solidFill>
              <a:srgbClr val="334E68"/>
            </a:solidFill>
            <a:ln>
              <a:noFill/>
            </a:ln>
          </p:spPr>
        </p:sp>
        <p:sp>
          <p:nvSpPr>
            <p:cNvPr id="38" name="TextBox 38"/>
            <p:cNvSpPr txBox="1"/>
            <p:nvPr/>
          </p:nvSpPr>
          <p:spPr>
            <a:xfrm>
              <a:off x="7525702" y="2731770"/>
              <a:ext cx="37395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默写 Boehm 七条基本原理和软件工程方法学</a:t>
              </a:r>
              <a:br/>
              <a:r>
                <a:rPr lang="zh-CN" sz="1500" dirty="0">
                  <a:solidFill>
                    <a:srgbClr val="1F2937"/>
                  </a:solidFill>
                  <a:latin typeface="+mn-lt"/>
                  <a:ea typeface="+mn-ea"/>
                  <a:cs typeface="+mn-cs"/>
                </a:rPr>
                <a:t>的三个要素</a:t>
              </a:r>
            </a:p>
          </p:txBody>
        </p:sp>
        <p:sp>
          <p:nvSpPr>
            <p:cNvPr id="39" name="Ellipse 39"/>
            <p:cNvSpPr/>
            <p:nvPr/>
          </p:nvSpPr>
          <p:spPr>
            <a:xfrm>
              <a:off x="7367588" y="3415665"/>
              <a:ext cx="64770" cy="64770"/>
            </a:xfrm>
            <a:prstGeom prst="ellipse">
              <a:avLst/>
            </a:prstGeom>
            <a:solidFill>
              <a:srgbClr val="334E68"/>
            </a:solidFill>
            <a:ln>
              <a:noFill/>
            </a:ln>
          </p:spPr>
        </p:sp>
        <p:sp>
          <p:nvSpPr>
            <p:cNvPr id="40" name="TextBox 40"/>
            <p:cNvSpPr txBox="1"/>
            <p:nvPr/>
          </p:nvSpPr>
          <p:spPr>
            <a:xfrm>
              <a:off x="7525702" y="3352800"/>
              <a:ext cx="36633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列出软件生命周期 3 个时期包含的全部阶段</a:t>
              </a:r>
              <a:br/>
              <a:r>
                <a:rPr lang="zh-CN" sz="1500" dirty="0">
                  <a:solidFill>
                    <a:srgbClr val="1F2937"/>
                  </a:solidFill>
                  <a:latin typeface="+mn-lt"/>
                  <a:ea typeface="+mn-ea"/>
                  <a:cs typeface="+mn-cs"/>
                </a:rPr>
                <a:t>及各自的任务</a:t>
              </a:r>
            </a:p>
          </p:txBody>
        </p:sp>
        <p:sp>
          <p:nvSpPr>
            <p:cNvPr id="41" name="Ellipse 41"/>
            <p:cNvSpPr/>
            <p:nvPr/>
          </p:nvSpPr>
          <p:spPr>
            <a:xfrm>
              <a:off x="7367588" y="4036695"/>
              <a:ext cx="64770" cy="64770"/>
            </a:xfrm>
            <a:prstGeom prst="ellipse">
              <a:avLst/>
            </a:prstGeom>
            <a:solidFill>
              <a:srgbClr val="334E68"/>
            </a:solidFill>
            <a:ln>
              <a:noFill/>
            </a:ln>
          </p:spPr>
        </p:sp>
        <p:sp>
          <p:nvSpPr>
            <p:cNvPr id="42" name="TextBox 42"/>
            <p:cNvSpPr txBox="1"/>
            <p:nvPr/>
          </p:nvSpPr>
          <p:spPr>
            <a:xfrm>
              <a:off x="7525702" y="3973830"/>
              <a:ext cx="37395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画出瀑布、V、快速原型、增量、螺旋模型的</a:t>
              </a:r>
              <a:br/>
              <a:r>
                <a:rPr lang="zh-CN" sz="1500" dirty="0">
                  <a:solidFill>
                    <a:srgbClr val="1F2937"/>
                  </a:solidFill>
                  <a:latin typeface="+mn-lt"/>
                  <a:ea typeface="+mn-ea"/>
                  <a:cs typeface="+mn-cs"/>
                </a:rPr>
                <a:t>流程图并比较优缺点</a:t>
              </a:r>
            </a:p>
          </p:txBody>
        </p:sp>
        <p:sp>
          <p:nvSpPr>
            <p:cNvPr id="43" name="Ellipse 43"/>
            <p:cNvSpPr/>
            <p:nvPr/>
          </p:nvSpPr>
          <p:spPr>
            <a:xfrm>
              <a:off x="7367588" y="4657725"/>
              <a:ext cx="64770" cy="64770"/>
            </a:xfrm>
            <a:prstGeom prst="ellipse">
              <a:avLst/>
            </a:prstGeom>
            <a:solidFill>
              <a:srgbClr val="334E68"/>
            </a:solidFill>
            <a:ln>
              <a:noFill/>
            </a:ln>
          </p:spPr>
        </p:sp>
        <p:sp>
          <p:nvSpPr>
            <p:cNvPr id="44" name="TextBox 44"/>
            <p:cNvSpPr txBox="1"/>
            <p:nvPr/>
          </p:nvSpPr>
          <p:spPr>
            <a:xfrm>
              <a:off x="7525702" y="4594860"/>
              <a:ext cx="36823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说出 RUP 的 4 个阶段、9 个工作流和敏捷宣</a:t>
              </a:r>
              <a:br/>
              <a:r>
                <a:rPr lang="zh-CN" sz="1500" dirty="0">
                  <a:solidFill>
                    <a:srgbClr val="1F2937"/>
                  </a:solidFill>
                  <a:latin typeface="+mn-lt"/>
                  <a:ea typeface="+mn-ea"/>
                  <a:cs typeface="+mn-cs"/>
                </a:rPr>
                <a:t>言的 4 条价值观</a:t>
              </a:r>
            </a:p>
          </p:txBody>
        </p:sp>
      </p:grpSp>
      <p:grpSp>
        <p:nvGrpSpPr>
          <p:cNvPr id="48" name="footer"/>
          <p:cNvGrpSpPr/>
          <p:nvPr/>
        </p:nvGrpSpPr>
        <p:grpSpPr>
          <a:xfrm>
            <a:off x="528447" y="6581299"/>
            <a:ext cx="11135106" cy="190690"/>
            <a:chOff x="528447" y="6581299"/>
            <a:chExt cx="11135106" cy="190690"/>
          </a:xfrm>
        </p:grpSpPr>
        <p:sp>
          <p:nvSpPr>
            <p:cNvPr id="46" name="TextBox 46"/>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47" name="TextBox 47"/>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01</a:t>
              </a:r>
            </a:p>
          </p:txBody>
        </p:sp>
      </p:grpSp>
      <p:grpSp>
        <p:nvGrpSpPr>
          <p:cNvPr id="18" name="section-title"/>
          <p:cNvGrpSpPr/>
          <p:nvPr/>
        </p:nvGrpSpPr>
        <p:grpSpPr>
          <a:xfrm>
            <a:off x="667512" y="1835468"/>
            <a:ext cx="4247007" cy="3351847"/>
            <a:chOff x="667512" y="1835468"/>
            <a:chExt cx="4247007"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第一部分</a:t>
              </a:r>
            </a:p>
          </p:txBody>
        </p:sp>
        <p:sp>
          <p:nvSpPr>
            <p:cNvPr id="7" name="TextBox 7"/>
            <p:cNvSpPr txBox="1"/>
            <p:nvPr/>
          </p:nvSpPr>
          <p:spPr>
            <a:xfrm>
              <a:off x="667512" y="2240280"/>
              <a:ext cx="3429000"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软件与软件危机</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237101"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先弄清软件是什么，再看它为什么会闹危机</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16306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软件的定义与特点</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软件发展的三个时期</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软件危机的表现与原因</a:t>
              </a:r>
            </a:p>
          </p:txBody>
        </p:sp>
        <p:sp>
          <p:nvSpPr>
            <p:cNvPr id="16" name="Ellipse 16"/>
            <p:cNvSpPr/>
            <p:nvPr/>
          </p:nvSpPr>
          <p:spPr>
            <a:xfrm>
              <a:off x="723900" y="4951095"/>
              <a:ext cx="76200" cy="76200"/>
            </a:xfrm>
            <a:prstGeom prst="ellipse">
              <a:avLst/>
            </a:prstGeom>
            <a:solidFill>
              <a:srgbClr val="334E68"/>
            </a:solidFill>
            <a:ln>
              <a:noFill/>
            </a:ln>
          </p:spPr>
        </p:sp>
        <p:sp>
          <p:nvSpPr>
            <p:cNvPr id="17" name="TextBox 17"/>
            <p:cNvSpPr txBox="1"/>
            <p:nvPr/>
          </p:nvSpPr>
          <p:spPr>
            <a:xfrm>
              <a:off x="906780" y="4893945"/>
              <a:ext cx="24384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差错传播与消除危机的途径</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20" name="TextBox 20"/>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2129790" cy="266700"/>
            </a:xfrm>
            <a:prstGeom prst="roundRect">
              <a:avLst>
                <a:gd name="adj" fmla="val 50000"/>
              </a:avLst>
            </a:prstGeom>
            <a:solidFill>
              <a:srgbClr val="E7EDF3"/>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软件与软件危机</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软件是程序、数据及其相关文档的完整集合</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7035089" cy="308039"/>
            <a:chOff x="525399" y="1550194"/>
            <a:chExt cx="7035089" cy="308039"/>
          </a:xfrm>
        </p:grpSpPr>
        <p:sp>
          <p:nvSpPr>
            <p:cNvPr id="7" name="TextBox 7"/>
            <p:cNvSpPr txBox="1"/>
            <p:nvPr/>
          </p:nvSpPr>
          <p:spPr>
            <a:xfrm>
              <a:off x="525399" y="1550194"/>
              <a:ext cx="7035089"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软件是计算机系统中与硬件相互依存的另一部分，三个组成部分缺一不可。</a:t>
              </a:r>
            </a:p>
          </p:txBody>
        </p:sp>
      </p:grpSp>
      <p:grpSp>
        <p:nvGrpSpPr>
          <p:cNvPr id="15" name="c1-card-1"/>
          <p:cNvGrpSpPr/>
          <p:nvPr/>
        </p:nvGrpSpPr>
        <p:grpSpPr>
          <a:xfrm>
            <a:off x="533400" y="1967865"/>
            <a:ext cx="5626418" cy="1335405"/>
            <a:chOff x="533400" y="1967865"/>
            <a:chExt cx="5626418" cy="1335405"/>
          </a:xfrm>
        </p:grpSpPr>
        <p:sp>
          <p:nvSpPr>
            <p:cNvPr id="9" name="Rectangle 9"/>
            <p:cNvSpPr/>
            <p:nvPr/>
          </p:nvSpPr>
          <p:spPr>
            <a:xfrm>
              <a:off x="533400" y="1967865"/>
              <a:ext cx="5626418" cy="1335405"/>
            </a:xfrm>
            <a:prstGeom prst="roundRect">
              <a:avLst>
                <a:gd name="adj" fmla="val 9986"/>
              </a:avLst>
            </a:prstGeom>
            <a:solidFill>
              <a:srgbClr val="FFFFFF"/>
            </a:solidFill>
            <a:ln w="14288">
              <a:solidFill>
                <a:srgbClr val="D9DFEA"/>
              </a:solidFill>
            </a:ln>
          </p:spPr>
        </p:sp>
        <p:sp>
          <p:nvSpPr>
            <p:cNvPr id="10" name="Rectangle 10"/>
            <p:cNvSpPr/>
            <p:nvPr/>
          </p:nvSpPr>
          <p:spPr>
            <a:xfrm>
              <a:off x="542925" y="2101215"/>
              <a:ext cx="47625" cy="1068705"/>
            </a:xfrm>
            <a:prstGeom prst="roundRect">
              <a:avLst>
                <a:gd name="adj" fmla="val 50000"/>
              </a:avLst>
            </a:prstGeom>
            <a:solidFill>
              <a:srgbClr val="334E68"/>
            </a:solidFill>
            <a:ln>
              <a:noFill/>
            </a:ln>
          </p:spPr>
        </p:sp>
        <p:sp>
          <p:nvSpPr>
            <p:cNvPr id="11" name="Rectangle 11"/>
            <p:cNvSpPr/>
            <p:nvPr/>
          </p:nvSpPr>
          <p:spPr>
            <a:xfrm>
              <a:off x="781050" y="2177415"/>
              <a:ext cx="494348" cy="257175"/>
            </a:xfrm>
            <a:prstGeom prst="roundRect">
              <a:avLst>
                <a:gd name="adj" fmla="val 50000"/>
              </a:avLst>
            </a:prstGeom>
            <a:solidFill>
              <a:srgbClr val="E7EDF3"/>
            </a:solidFill>
            <a:ln>
              <a:noFill/>
            </a:ln>
          </p:spPr>
        </p:sp>
        <p:sp>
          <p:nvSpPr>
            <p:cNvPr id="12" name="TextBox 12"/>
            <p:cNvSpPr txBox="1"/>
            <p:nvPr/>
          </p:nvSpPr>
          <p:spPr>
            <a:xfrm>
              <a:off x="871258" y="2213134"/>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定义</a:t>
              </a:r>
            </a:p>
          </p:txBody>
        </p:sp>
        <p:sp>
          <p:nvSpPr>
            <p:cNvPr id="13" name="TextBox 13"/>
            <p:cNvSpPr txBox="1"/>
            <p:nvPr/>
          </p:nvSpPr>
          <p:spPr>
            <a:xfrm>
              <a:off x="1382078" y="2212658"/>
              <a:ext cx="1805183"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软件（Software）</a:t>
              </a:r>
            </a:p>
          </p:txBody>
        </p:sp>
        <p:sp>
          <p:nvSpPr>
            <p:cNvPr id="14" name="TextBox 14"/>
            <p:cNvSpPr txBox="1"/>
            <p:nvPr/>
          </p:nvSpPr>
          <p:spPr>
            <a:xfrm>
              <a:off x="773430" y="2573655"/>
              <a:ext cx="4968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软件是计算机系统中与硬件相互依存的另一部分，它是包括</a:t>
              </a:r>
              <a:br/>
              <a:r>
                <a:rPr lang="zh-CN" sz="1500" dirty="0">
                  <a:solidFill>
                    <a:srgbClr val="1F2937"/>
                  </a:solidFill>
                  <a:latin typeface="+mn-lt"/>
                  <a:ea typeface="+mn-ea"/>
                  <a:cs typeface="+mn-cs"/>
                </a:rPr>
                <a:t>程序、数据及其相关文档的完整集合。</a:t>
              </a:r>
            </a:p>
          </p:txBody>
        </p:sp>
      </p:grpSp>
      <p:grpSp>
        <p:nvGrpSpPr>
          <p:cNvPr id="24" name="c1-kv-2"/>
          <p:cNvGrpSpPr/>
          <p:nvPr/>
        </p:nvGrpSpPr>
        <p:grpSpPr>
          <a:xfrm>
            <a:off x="525780" y="3518535"/>
            <a:ext cx="5634038" cy="1173480"/>
            <a:chOff x="525780" y="3518535"/>
            <a:chExt cx="5634038" cy="1173480"/>
          </a:xfrm>
        </p:grpSpPr>
        <p:sp>
          <p:nvSpPr>
            <p:cNvPr id="16" name="TextBox 16"/>
            <p:cNvSpPr txBox="1"/>
            <p:nvPr/>
          </p:nvSpPr>
          <p:spPr>
            <a:xfrm>
              <a:off x="525780" y="3518535"/>
              <a:ext cx="41910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程序</a:t>
              </a:r>
            </a:p>
          </p:txBody>
        </p:sp>
        <p:sp>
          <p:nvSpPr>
            <p:cNvPr id="17" name="TextBox 17"/>
            <p:cNvSpPr txBox="1"/>
            <p:nvPr/>
          </p:nvSpPr>
          <p:spPr>
            <a:xfrm>
              <a:off x="1170622" y="3518535"/>
              <a:ext cx="40538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按事先设计的功能和性能要求执行的指令序列</a:t>
              </a:r>
            </a:p>
          </p:txBody>
        </p:sp>
        <p:sp>
          <p:nvSpPr>
            <p:cNvPr id="18" name="Rectangle 18"/>
            <p:cNvSpPr/>
            <p:nvPr/>
          </p:nvSpPr>
          <p:spPr>
            <a:xfrm>
              <a:off x="533400" y="3838575"/>
              <a:ext cx="5626418" cy="9525"/>
            </a:xfrm>
            <a:prstGeom prst="rect">
              <a:avLst/>
            </a:prstGeom>
            <a:solidFill>
              <a:srgbClr val="D9DFEA"/>
            </a:solidFill>
            <a:ln>
              <a:noFill/>
            </a:ln>
          </p:spPr>
        </p:sp>
        <p:sp>
          <p:nvSpPr>
            <p:cNvPr id="19" name="TextBox 19"/>
            <p:cNvSpPr txBox="1"/>
            <p:nvPr/>
          </p:nvSpPr>
          <p:spPr>
            <a:xfrm>
              <a:off x="525780" y="3958590"/>
              <a:ext cx="41910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数据</a:t>
              </a:r>
            </a:p>
          </p:txBody>
        </p:sp>
        <p:sp>
          <p:nvSpPr>
            <p:cNvPr id="20" name="TextBox 20"/>
            <p:cNvSpPr txBox="1"/>
            <p:nvPr/>
          </p:nvSpPr>
          <p:spPr>
            <a:xfrm>
              <a:off x="1170622" y="3958590"/>
              <a:ext cx="30441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使程序能正常操纵信息的数据结构</a:t>
              </a:r>
            </a:p>
          </p:txBody>
        </p:sp>
        <p:sp>
          <p:nvSpPr>
            <p:cNvPr id="21" name="Rectangle 21"/>
            <p:cNvSpPr/>
            <p:nvPr/>
          </p:nvSpPr>
          <p:spPr>
            <a:xfrm>
              <a:off x="533400" y="4278630"/>
              <a:ext cx="5626418" cy="9525"/>
            </a:xfrm>
            <a:prstGeom prst="rect">
              <a:avLst/>
            </a:prstGeom>
            <a:solidFill>
              <a:srgbClr val="D9DFEA"/>
            </a:solidFill>
            <a:ln>
              <a:noFill/>
            </a:ln>
          </p:spPr>
        </p:sp>
        <p:sp>
          <p:nvSpPr>
            <p:cNvPr id="22" name="TextBox 22"/>
            <p:cNvSpPr txBox="1"/>
            <p:nvPr/>
          </p:nvSpPr>
          <p:spPr>
            <a:xfrm>
              <a:off x="525780" y="4398645"/>
              <a:ext cx="41910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文档</a:t>
              </a:r>
            </a:p>
          </p:txBody>
        </p:sp>
        <p:sp>
          <p:nvSpPr>
            <p:cNvPr id="23" name="TextBox 23"/>
            <p:cNvSpPr txBox="1"/>
            <p:nvPr/>
          </p:nvSpPr>
          <p:spPr>
            <a:xfrm>
              <a:off x="1170622" y="4398645"/>
              <a:ext cx="36499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与程序开发、维护和使用有关的图文材料</a:t>
              </a:r>
            </a:p>
          </p:txBody>
        </p:sp>
      </p:grpSp>
      <p:grpSp>
        <p:nvGrpSpPr>
          <p:cNvPr id="31" name="c1-callout-3"/>
          <p:cNvGrpSpPr/>
          <p:nvPr/>
        </p:nvGrpSpPr>
        <p:grpSpPr>
          <a:xfrm>
            <a:off x="533400" y="4823460"/>
            <a:ext cx="5626418" cy="782955"/>
            <a:chOff x="533400" y="4823460"/>
            <a:chExt cx="5626418" cy="782955"/>
          </a:xfrm>
        </p:grpSpPr>
        <p:sp>
          <p:nvSpPr>
            <p:cNvPr id="25" name="Rectangle 25"/>
            <p:cNvSpPr/>
            <p:nvPr/>
          </p:nvSpPr>
          <p:spPr>
            <a:xfrm>
              <a:off x="533400" y="4823460"/>
              <a:ext cx="5626418" cy="782955"/>
            </a:xfrm>
            <a:prstGeom prst="roundRect">
              <a:avLst>
                <a:gd name="adj" fmla="val 14599"/>
              </a:avLst>
            </a:prstGeom>
            <a:solidFill>
              <a:srgbClr val="FDEEE7"/>
            </a:solidFill>
            <a:ln>
              <a:noFill/>
            </a:ln>
          </p:spPr>
        </p:sp>
        <p:grpSp>
          <p:nvGrpSpPr>
            <p:cNvPr id="29" name="Group 29"/>
            <p:cNvGrpSpPr/>
            <p:nvPr/>
          </p:nvGrpSpPr>
          <p:grpSpPr>
            <a:xfrm>
              <a:off x="738188" y="5114925"/>
              <a:ext cx="200026" cy="200025"/>
              <a:chOff x="738188" y="5114925"/>
              <a:chExt cx="200026" cy="200025"/>
            </a:xfrm>
          </p:grpSpPr>
          <p:sp>
            <p:nvSpPr>
              <p:cNvPr id="26" name="Freeform 26"/>
              <p:cNvSpPr/>
              <p:nvPr/>
            </p:nvSpPr>
            <p:spPr>
              <a:xfrm>
                <a:off x="738188" y="511492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27" name="Freeform 27"/>
              <p:cNvSpPr/>
              <p:nvPr/>
            </p:nvSpPr>
            <p:spPr>
              <a:xfrm>
                <a:off x="777926" y="515937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28" name="Freeform 28"/>
              <p:cNvSpPr/>
              <p:nvPr/>
            </p:nvSpPr>
            <p:spPr>
              <a:xfrm>
                <a:off x="812642" y="527050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0" name="TextBox 30"/>
            <p:cNvSpPr txBox="1"/>
            <p:nvPr/>
          </p:nvSpPr>
          <p:spPr>
            <a:xfrm>
              <a:off x="1040130" y="4972050"/>
              <a:ext cx="4587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只交代码不交文档，后面的人既看不懂设计意图，也无</a:t>
              </a:r>
              <a:br/>
              <a:r>
                <a:rPr lang="zh-CN" sz="1500" dirty="0">
                  <a:solidFill>
                    <a:srgbClr val="C2410C"/>
                  </a:solidFill>
                  <a:latin typeface="+mn-lt"/>
                  <a:ea typeface="+mn-ea"/>
                  <a:cs typeface="+mn-cs"/>
                </a:rPr>
                <a:t>法维护。</a:t>
              </a:r>
            </a:p>
          </p:txBody>
        </p:sp>
      </p:grpSp>
      <p:grpSp>
        <p:nvGrpSpPr>
          <p:cNvPr id="42" name="c2-card-1"/>
          <p:cNvGrpSpPr/>
          <p:nvPr/>
        </p:nvGrpSpPr>
        <p:grpSpPr>
          <a:xfrm>
            <a:off x="6464618" y="1967865"/>
            <a:ext cx="5193982" cy="3638550"/>
            <a:chOff x="6464618" y="1967865"/>
            <a:chExt cx="5193982" cy="3638550"/>
          </a:xfrm>
        </p:grpSpPr>
        <p:sp>
          <p:nvSpPr>
            <p:cNvPr id="32" name="Rectangle 32"/>
            <p:cNvSpPr/>
            <p:nvPr/>
          </p:nvSpPr>
          <p:spPr>
            <a:xfrm>
              <a:off x="6464618" y="1967865"/>
              <a:ext cx="5193982" cy="3638550"/>
            </a:xfrm>
            <a:prstGeom prst="roundRect">
              <a:avLst>
                <a:gd name="adj" fmla="val 3665"/>
              </a:avLst>
            </a:prstGeom>
            <a:solidFill>
              <a:srgbClr val="334E68"/>
            </a:solidFill>
            <a:ln>
              <a:noFill/>
            </a:ln>
          </p:spPr>
        </p:sp>
        <p:sp>
          <p:nvSpPr>
            <p:cNvPr id="33" name="Rectangle 33"/>
            <p:cNvSpPr/>
            <p:nvPr/>
          </p:nvSpPr>
          <p:spPr>
            <a:xfrm>
              <a:off x="6674168" y="2177415"/>
              <a:ext cx="921068" cy="257175"/>
            </a:xfrm>
            <a:prstGeom prst="roundRect">
              <a:avLst>
                <a:gd name="adj" fmla="val 50000"/>
              </a:avLst>
            </a:prstGeom>
            <a:solidFill>
              <a:srgbClr val="243B53"/>
            </a:solidFill>
            <a:ln>
              <a:noFill/>
            </a:ln>
          </p:spPr>
        </p:sp>
        <p:sp>
          <p:nvSpPr>
            <p:cNvPr id="34" name="TextBox 34"/>
            <p:cNvSpPr txBox="1"/>
            <p:nvPr/>
          </p:nvSpPr>
          <p:spPr>
            <a:xfrm>
              <a:off x="6752526" y="2213134"/>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软件的特点</a:t>
              </a:r>
            </a:p>
          </p:txBody>
        </p:sp>
        <p:sp>
          <p:nvSpPr>
            <p:cNvPr id="35" name="Ellipse 35"/>
            <p:cNvSpPr/>
            <p:nvPr/>
          </p:nvSpPr>
          <p:spPr>
            <a:xfrm>
              <a:off x="6679883" y="2617470"/>
              <a:ext cx="64770" cy="64770"/>
            </a:xfrm>
            <a:prstGeom prst="ellipse">
              <a:avLst/>
            </a:prstGeom>
            <a:solidFill>
              <a:srgbClr val="FFFFFF"/>
            </a:solidFill>
            <a:ln>
              <a:noFill/>
            </a:ln>
          </p:spPr>
        </p:sp>
        <p:sp>
          <p:nvSpPr>
            <p:cNvPr id="36" name="TextBox 36"/>
            <p:cNvSpPr txBox="1"/>
            <p:nvPr/>
          </p:nvSpPr>
          <p:spPr>
            <a:xfrm>
              <a:off x="6837998" y="2554605"/>
              <a:ext cx="4396740" cy="579120"/>
            </a:xfrm>
            <a:prstGeom prst="rect">
              <a:avLst/>
            </a:prstGeom>
            <a:noFill/>
            <a:ln>
              <a:noFill/>
            </a:ln>
          </p:spPr>
          <p:txBody>
            <a:bodyPr wrap="none" lIns="0" tIns="0" rIns="0" bIns="0" anchor="t" anchorCtr="0">
              <a:spAutoFit/>
            </a:bodyPr>
            <a:lstStyle/>
            <a:p>
              <a:pPr algn="l">
                <a:lnSpc>
                  <a:spcPts val="2250"/>
                </a:lnSpc>
              </a:pPr>
              <a:r>
                <a:rPr lang="zh-CN" sz="1500" b="1" dirty="0">
                  <a:solidFill>
                    <a:srgbClr val="FFFFFF"/>
                  </a:solidFill>
                  <a:latin typeface="+mn-lt"/>
                  <a:ea typeface="+mn-ea"/>
                  <a:cs typeface="+mn-cs"/>
                </a:rPr>
                <a:t>逻辑实体</a:t>
              </a:r>
              <a:r>
                <a:rPr lang="zh-CN" sz="1500" dirty="0">
                  <a:solidFill>
                    <a:srgbClr val="FFFFFF"/>
                  </a:solidFill>
                  <a:latin typeface="+mn-lt"/>
                  <a:ea typeface="+mn-ea"/>
                  <a:cs typeface="+mn-cs"/>
                </a:rPr>
                <a:t>：没有具体的物理形态，只能通过运行结果</a:t>
              </a:r>
              <a:br/>
              <a:r>
                <a:rPr lang="zh-CN" sz="1500" dirty="0">
                  <a:solidFill>
                    <a:srgbClr val="FFFFFF"/>
                  </a:solidFill>
                  <a:latin typeface="+mn-lt"/>
                  <a:ea typeface="+mn-ea"/>
                  <a:cs typeface="+mn-cs"/>
                </a:rPr>
                <a:t>和文档去把握，因而具有抽象性</a:t>
              </a:r>
            </a:p>
          </p:txBody>
        </p:sp>
        <p:sp>
          <p:nvSpPr>
            <p:cNvPr id="37" name="Ellipse 37"/>
            <p:cNvSpPr/>
            <p:nvPr/>
          </p:nvSpPr>
          <p:spPr>
            <a:xfrm>
              <a:off x="6679883" y="3238500"/>
              <a:ext cx="64770" cy="64770"/>
            </a:xfrm>
            <a:prstGeom prst="ellipse">
              <a:avLst/>
            </a:prstGeom>
            <a:solidFill>
              <a:srgbClr val="FFFFFF"/>
            </a:solidFill>
            <a:ln>
              <a:noFill/>
            </a:ln>
          </p:spPr>
        </p:sp>
        <p:sp>
          <p:nvSpPr>
            <p:cNvPr id="38" name="TextBox 38"/>
            <p:cNvSpPr txBox="1"/>
            <p:nvPr/>
          </p:nvSpPr>
          <p:spPr>
            <a:xfrm>
              <a:off x="6837998" y="3175635"/>
              <a:ext cx="4396740" cy="579120"/>
            </a:xfrm>
            <a:prstGeom prst="rect">
              <a:avLst/>
            </a:prstGeom>
            <a:noFill/>
            <a:ln>
              <a:noFill/>
            </a:ln>
          </p:spPr>
          <p:txBody>
            <a:bodyPr wrap="none" lIns="0" tIns="0" rIns="0" bIns="0" anchor="t" anchorCtr="0">
              <a:spAutoFit/>
            </a:bodyPr>
            <a:lstStyle/>
            <a:p>
              <a:pPr algn="l">
                <a:lnSpc>
                  <a:spcPts val="2250"/>
                </a:lnSpc>
              </a:pPr>
              <a:r>
                <a:rPr lang="zh-CN" sz="1500" b="1" dirty="0">
                  <a:solidFill>
                    <a:srgbClr val="FFFFFF"/>
                  </a:solidFill>
                  <a:latin typeface="+mn-lt"/>
                  <a:ea typeface="+mn-ea"/>
                  <a:cs typeface="+mn-cs"/>
                </a:rPr>
                <a:t>没有明显的制造过程</a:t>
              </a:r>
              <a:r>
                <a:rPr lang="zh-CN" sz="1500" dirty="0">
                  <a:solidFill>
                    <a:srgbClr val="FFFFFF"/>
                  </a:solidFill>
                  <a:latin typeface="+mn-lt"/>
                  <a:ea typeface="+mn-ea"/>
                  <a:cs typeface="+mn-cs"/>
                </a:rPr>
                <a:t>：复制一份的代价几乎为零，质</a:t>
              </a:r>
              <a:br/>
              <a:r>
                <a:rPr lang="zh-CN" sz="1500" dirty="0">
                  <a:solidFill>
                    <a:srgbClr val="FFFFFF"/>
                  </a:solidFill>
                  <a:latin typeface="+mn-lt"/>
                  <a:ea typeface="+mn-ea"/>
                  <a:cs typeface="+mn-cs"/>
                </a:rPr>
                <a:t>量控制必须放在开发阶段</a:t>
              </a:r>
            </a:p>
          </p:txBody>
        </p:sp>
        <p:sp>
          <p:nvSpPr>
            <p:cNvPr id="39" name="Ellipse 39"/>
            <p:cNvSpPr/>
            <p:nvPr/>
          </p:nvSpPr>
          <p:spPr>
            <a:xfrm>
              <a:off x="6679883" y="3859530"/>
              <a:ext cx="64770" cy="64770"/>
            </a:xfrm>
            <a:prstGeom prst="ellipse">
              <a:avLst/>
            </a:prstGeom>
            <a:solidFill>
              <a:srgbClr val="FFFFFF"/>
            </a:solidFill>
            <a:ln>
              <a:noFill/>
            </a:ln>
          </p:spPr>
        </p:sp>
        <p:sp>
          <p:nvSpPr>
            <p:cNvPr id="40" name="TextBox 40"/>
            <p:cNvSpPr txBox="1"/>
            <p:nvPr/>
          </p:nvSpPr>
          <p:spPr>
            <a:xfrm>
              <a:off x="6837998" y="3796665"/>
              <a:ext cx="4396740" cy="579120"/>
            </a:xfrm>
            <a:prstGeom prst="rect">
              <a:avLst/>
            </a:prstGeom>
            <a:noFill/>
            <a:ln>
              <a:noFill/>
            </a:ln>
          </p:spPr>
          <p:txBody>
            <a:bodyPr wrap="none" lIns="0" tIns="0" rIns="0" bIns="0" anchor="t" anchorCtr="0">
              <a:spAutoFit/>
            </a:bodyPr>
            <a:lstStyle/>
            <a:p>
              <a:pPr algn="l">
                <a:lnSpc>
                  <a:spcPts val="2250"/>
                </a:lnSpc>
              </a:pPr>
              <a:r>
                <a:rPr lang="zh-CN" sz="1500" b="1" dirty="0">
                  <a:solidFill>
                    <a:srgbClr val="FFFFFF"/>
                  </a:solidFill>
                  <a:latin typeface="+mn-lt"/>
                  <a:ea typeface="+mn-ea"/>
                  <a:cs typeface="+mn-cs"/>
                </a:rPr>
                <a:t>不存在机械磨损与老化</a:t>
              </a:r>
              <a:r>
                <a:rPr lang="zh-CN" sz="1500" dirty="0">
                  <a:solidFill>
                    <a:srgbClr val="FFFFFF"/>
                  </a:solidFill>
                  <a:latin typeface="+mn-lt"/>
                  <a:ea typeface="+mn-ea"/>
                  <a:cs typeface="+mn-cs"/>
                </a:rPr>
                <a:t>：硬件坏了可以换备用零件，</a:t>
              </a:r>
              <a:br/>
              <a:r>
                <a:rPr lang="zh-CN" sz="1500" dirty="0">
                  <a:solidFill>
                    <a:srgbClr val="FFFFFF"/>
                  </a:solidFill>
                  <a:latin typeface="+mn-lt"/>
                  <a:ea typeface="+mn-ea"/>
                  <a:cs typeface="+mn-cs"/>
                </a:rPr>
                <a:t>软件出故障是开发时留下的错误，换零件解决不了</a:t>
              </a:r>
            </a:p>
          </p:txBody>
        </p:sp>
        <p:sp>
          <p:nvSpPr>
            <p:cNvPr id="41" name="TextBox 41"/>
            <p:cNvSpPr txBox="1"/>
            <p:nvPr/>
          </p:nvSpPr>
          <p:spPr>
            <a:xfrm>
              <a:off x="6667691" y="4413409"/>
              <a:ext cx="456463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FFFFFF"/>
                  </a:solidFill>
                  <a:latin typeface="+mn-lt"/>
                  <a:ea typeface="+mn-ea"/>
                  <a:cs typeface="+mn-cs"/>
                </a:rPr>
                <a:t>由此得到一个结论：软件维护比硬件维修复杂，它与硬件的维修</a:t>
              </a:r>
              <a:br/>
              <a:r>
                <a:rPr lang="zh-CN" sz="1280" dirty="0">
                  <a:solidFill>
                    <a:srgbClr val="FFFFFF"/>
                  </a:solidFill>
                  <a:latin typeface="+mn-lt"/>
                  <a:ea typeface="+mn-ea"/>
                  <a:cs typeface="+mn-cs"/>
                </a:rPr>
                <a:t>有本质差别。</a:t>
              </a:r>
            </a:p>
          </p:txBody>
        </p:sp>
      </p:grpSp>
      <p:grpSp>
        <p:nvGrpSpPr>
          <p:cNvPr id="45" name="footer"/>
          <p:cNvGrpSpPr/>
          <p:nvPr/>
        </p:nvGrpSpPr>
        <p:grpSpPr>
          <a:xfrm>
            <a:off x="528447" y="6581299"/>
            <a:ext cx="11135106" cy="190690"/>
            <a:chOff x="528447" y="6581299"/>
            <a:chExt cx="11135106" cy="190690"/>
          </a:xfrm>
        </p:grpSpPr>
        <p:sp>
          <p:nvSpPr>
            <p:cNvPr id="43" name="TextBox 43"/>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44" name="TextBox 44"/>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2129790" cy="266700"/>
            </a:xfrm>
            <a:prstGeom prst="roundRect">
              <a:avLst>
                <a:gd name="adj" fmla="val 50000"/>
              </a:avLst>
            </a:prstGeom>
            <a:solidFill>
              <a:srgbClr val="E7EDF3"/>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软件与软件危机</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软件不会磨损，却会因为一次次修改而退化</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4" name="c1-graph-1"/>
          <p:cNvGrpSpPr/>
          <p:nvPr/>
        </p:nvGrpSpPr>
        <p:grpSpPr>
          <a:xfrm>
            <a:off x="967740" y="1545431"/>
            <a:ext cx="5642509" cy="2686526"/>
            <a:chOff x="967740" y="1545431"/>
            <a:chExt cx="5642509" cy="2686526"/>
          </a:xfrm>
        </p:grpSpPr>
        <p:sp>
          <p:nvSpPr>
            <p:cNvPr id="7" name="Freeform 7"/>
            <p:cNvSpPr/>
            <p:nvPr/>
          </p:nvSpPr>
          <p:spPr>
            <a:xfrm>
              <a:off x="972502" y="1829752"/>
              <a:ext cx="9525" cy="1802130"/>
            </a:xfrm>
            <a:custGeom>
              <a:avLst/>
              <a:gdLst/>
              <a:ahLst/>
              <a:cxnLst/>
              <a:rect l="l" t="t" r="r" b="b"/>
              <a:pathLst>
                <a:path w="9525" h="1802130">
                  <a:moveTo>
                    <a:pt x="0" y="0"/>
                  </a:moveTo>
                  <a:lnTo>
                    <a:pt x="0" y="1802130"/>
                  </a:lnTo>
                </a:path>
              </a:pathLst>
            </a:custGeom>
            <a:noFill/>
            <a:ln w="13335">
              <a:solidFill>
                <a:srgbClr val="5B6475"/>
              </a:solidFill>
            </a:ln>
          </p:spPr>
        </p:sp>
        <p:sp>
          <p:nvSpPr>
            <p:cNvPr id="8" name="Freeform 8"/>
            <p:cNvSpPr/>
            <p:nvPr/>
          </p:nvSpPr>
          <p:spPr>
            <a:xfrm>
              <a:off x="1010602" y="3723322"/>
              <a:ext cx="2371725" cy="9525"/>
            </a:xfrm>
            <a:custGeom>
              <a:avLst/>
              <a:gdLst/>
              <a:ahLst/>
              <a:cxnLst/>
              <a:rect l="l" t="t" r="r" b="b"/>
              <a:pathLst>
                <a:path w="2371725" h="9525">
                  <a:moveTo>
                    <a:pt x="0" y="0"/>
                  </a:moveTo>
                  <a:lnTo>
                    <a:pt x="2371725" y="0"/>
                  </a:lnTo>
                </a:path>
              </a:pathLst>
            </a:custGeom>
            <a:noFill/>
            <a:ln w="13335">
              <a:solidFill>
                <a:srgbClr val="5B6475"/>
              </a:solidFill>
            </a:ln>
          </p:spPr>
        </p:sp>
        <p:sp>
          <p:nvSpPr>
            <p:cNvPr id="9" name="Freeform 9"/>
            <p:cNvSpPr/>
            <p:nvPr/>
          </p:nvSpPr>
          <p:spPr>
            <a:xfrm>
              <a:off x="4048125" y="1829752"/>
              <a:ext cx="9525" cy="1802130"/>
            </a:xfrm>
            <a:custGeom>
              <a:avLst/>
              <a:gdLst/>
              <a:ahLst/>
              <a:cxnLst/>
              <a:rect l="l" t="t" r="r" b="b"/>
              <a:pathLst>
                <a:path w="9525" h="1802130">
                  <a:moveTo>
                    <a:pt x="0" y="0"/>
                  </a:moveTo>
                  <a:lnTo>
                    <a:pt x="0" y="1802130"/>
                  </a:lnTo>
                </a:path>
              </a:pathLst>
            </a:custGeom>
            <a:noFill/>
            <a:ln w="13335">
              <a:solidFill>
                <a:srgbClr val="5B6475"/>
              </a:solidFill>
            </a:ln>
          </p:spPr>
        </p:sp>
        <p:sp>
          <p:nvSpPr>
            <p:cNvPr id="10" name="Freeform 10"/>
            <p:cNvSpPr/>
            <p:nvPr/>
          </p:nvSpPr>
          <p:spPr>
            <a:xfrm>
              <a:off x="4086225" y="3723322"/>
              <a:ext cx="2433638" cy="9525"/>
            </a:xfrm>
            <a:custGeom>
              <a:avLst/>
              <a:gdLst/>
              <a:ahLst/>
              <a:cxnLst/>
              <a:rect l="l" t="t" r="r" b="b"/>
              <a:pathLst>
                <a:path w="2433638" h="9525">
                  <a:moveTo>
                    <a:pt x="0" y="0"/>
                  </a:moveTo>
                  <a:lnTo>
                    <a:pt x="2433638" y="0"/>
                  </a:lnTo>
                </a:path>
              </a:pathLst>
            </a:custGeom>
            <a:noFill/>
            <a:ln w="13335">
              <a:solidFill>
                <a:srgbClr val="5B6475"/>
              </a:solidFill>
            </a:ln>
          </p:spPr>
        </p:sp>
        <p:sp>
          <p:nvSpPr>
            <p:cNvPr id="11" name="Freeform 11"/>
            <p:cNvSpPr/>
            <p:nvPr/>
          </p:nvSpPr>
          <p:spPr>
            <a:xfrm>
              <a:off x="1250632" y="2151698"/>
              <a:ext cx="1952625" cy="1249680"/>
            </a:xfrm>
            <a:custGeom>
              <a:avLst/>
              <a:gdLst/>
              <a:ahLst/>
              <a:cxnLst/>
              <a:rect l="l" t="t" r="r" b="b"/>
              <a:pathLst>
                <a:path w="1952625" h="1249680">
                  <a:moveTo>
                    <a:pt x="0" y="0"/>
                  </a:moveTo>
                  <a:lnTo>
                    <a:pt x="223838" y="766762"/>
                  </a:lnTo>
                  <a:lnTo>
                    <a:pt x="538162" y="1196340"/>
                  </a:lnTo>
                  <a:lnTo>
                    <a:pt x="1353502" y="1249680"/>
                  </a:lnTo>
                  <a:lnTo>
                    <a:pt x="1730692" y="713422"/>
                  </a:lnTo>
                  <a:lnTo>
                    <a:pt x="1952625" y="0"/>
                  </a:lnTo>
                </a:path>
              </a:pathLst>
            </a:custGeom>
            <a:noFill/>
            <a:ln w="17145">
              <a:solidFill>
                <a:srgbClr val="334E68"/>
              </a:solidFill>
            </a:ln>
          </p:spPr>
        </p:sp>
        <p:sp>
          <p:nvSpPr>
            <p:cNvPr id="12" name="Freeform 12"/>
            <p:cNvSpPr/>
            <p:nvPr/>
          </p:nvSpPr>
          <p:spPr>
            <a:xfrm>
              <a:off x="4336732" y="2303145"/>
              <a:ext cx="2057400" cy="1098232"/>
            </a:xfrm>
            <a:custGeom>
              <a:avLst/>
              <a:gdLst/>
              <a:ahLst/>
              <a:cxnLst/>
              <a:rect l="l" t="t" r="r" b="b"/>
              <a:pathLst>
                <a:path w="2057400" h="1098232">
                  <a:moveTo>
                    <a:pt x="0" y="0"/>
                  </a:moveTo>
                  <a:lnTo>
                    <a:pt x="339090" y="722947"/>
                  </a:lnTo>
                  <a:lnTo>
                    <a:pt x="965835" y="1044892"/>
                  </a:lnTo>
                  <a:lnTo>
                    <a:pt x="1593532" y="1098232"/>
                  </a:lnTo>
                  <a:lnTo>
                    <a:pt x="2057400" y="1098232"/>
                  </a:lnTo>
                </a:path>
              </a:pathLst>
            </a:custGeom>
            <a:noFill/>
            <a:ln w="17145">
              <a:solidFill>
                <a:srgbClr val="5B6475"/>
              </a:solidFill>
              <a:custDash>
                <a:ds d="333333" sp="222222"/>
              </a:custDash>
            </a:ln>
          </p:spPr>
        </p:sp>
        <p:sp>
          <p:nvSpPr>
            <p:cNvPr id="13" name="Freeform 13"/>
            <p:cNvSpPr/>
            <p:nvPr/>
          </p:nvSpPr>
          <p:spPr>
            <a:xfrm>
              <a:off x="4334828" y="2312670"/>
              <a:ext cx="2059305" cy="821055"/>
            </a:xfrm>
            <a:custGeom>
              <a:avLst/>
              <a:gdLst/>
              <a:ahLst/>
              <a:cxnLst/>
              <a:rect l="l" t="t" r="r" b="b"/>
              <a:pathLst>
                <a:path w="2059305" h="821055">
                  <a:moveTo>
                    <a:pt x="0" y="0"/>
                  </a:moveTo>
                  <a:lnTo>
                    <a:pt x="215265" y="552450"/>
                  </a:lnTo>
                  <a:lnTo>
                    <a:pt x="402907" y="122872"/>
                  </a:lnTo>
                  <a:lnTo>
                    <a:pt x="717232" y="713422"/>
                  </a:lnTo>
                  <a:lnTo>
                    <a:pt x="905828" y="338138"/>
                  </a:lnTo>
                  <a:lnTo>
                    <a:pt x="1282065" y="821055"/>
                  </a:lnTo>
                  <a:lnTo>
                    <a:pt x="1470660" y="444817"/>
                  </a:lnTo>
                  <a:lnTo>
                    <a:pt x="1846897" y="766762"/>
                  </a:lnTo>
                  <a:lnTo>
                    <a:pt x="2059305" y="630555"/>
                  </a:lnTo>
                </a:path>
              </a:pathLst>
            </a:custGeom>
            <a:noFill/>
            <a:ln w="17145">
              <a:solidFill>
                <a:srgbClr val="334E68"/>
              </a:solidFill>
            </a:ln>
          </p:spPr>
        </p:sp>
        <p:sp>
          <p:nvSpPr>
            <p:cNvPr id="14" name="TextBox 14"/>
            <p:cNvSpPr txBox="1"/>
            <p:nvPr/>
          </p:nvSpPr>
          <p:spPr>
            <a:xfrm>
              <a:off x="967740" y="1545431"/>
              <a:ext cx="340690" cy="161925"/>
            </a:xfrm>
            <a:prstGeom prst="rect">
              <a:avLst/>
            </a:prstGeom>
            <a:noFill/>
            <a:ln>
              <a:noFill/>
            </a:ln>
          </p:spPr>
          <p:txBody>
            <a:bodyPr wrap="none" lIns="0" tIns="0" rIns="0" bIns="0" anchor="t" anchorCtr="0">
              <a:spAutoFit/>
            </a:bodyPr>
            <a:lstStyle/>
            <a:p>
              <a:pPr algn="l"/>
              <a:r>
                <a:rPr lang="zh-CN" sz="820" dirty="0">
                  <a:solidFill>
                    <a:srgbClr val="5B6475"/>
                  </a:solidFill>
                  <a:latin typeface="+mn-lt"/>
                  <a:ea typeface="+mn-ea"/>
                  <a:cs typeface="+mn-cs"/>
                </a:rPr>
                <a:t>失效率</a:t>
              </a:r>
            </a:p>
          </p:txBody>
        </p:sp>
        <p:sp>
          <p:nvSpPr>
            <p:cNvPr id="15" name="TextBox 15"/>
            <p:cNvSpPr txBox="1"/>
            <p:nvPr/>
          </p:nvSpPr>
          <p:spPr>
            <a:xfrm>
              <a:off x="3242412" y="3902869"/>
              <a:ext cx="230302"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时间</a:t>
              </a:r>
            </a:p>
          </p:txBody>
        </p:sp>
        <p:sp>
          <p:nvSpPr>
            <p:cNvPr id="16" name="TextBox 16"/>
            <p:cNvSpPr txBox="1"/>
            <p:nvPr/>
          </p:nvSpPr>
          <p:spPr>
            <a:xfrm>
              <a:off x="1374661" y="2400776"/>
              <a:ext cx="45107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磨合调整</a:t>
              </a:r>
            </a:p>
          </p:txBody>
        </p:sp>
        <p:sp>
          <p:nvSpPr>
            <p:cNvPr id="17" name="TextBox 17"/>
            <p:cNvSpPr txBox="1"/>
            <p:nvPr/>
          </p:nvSpPr>
          <p:spPr>
            <a:xfrm>
              <a:off x="2692921" y="2346484"/>
              <a:ext cx="45107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磨损用坏</a:t>
              </a:r>
            </a:p>
          </p:txBody>
        </p:sp>
        <p:sp>
          <p:nvSpPr>
            <p:cNvPr id="18" name="TextBox 18"/>
            <p:cNvSpPr txBox="1"/>
            <p:nvPr/>
          </p:nvSpPr>
          <p:spPr>
            <a:xfrm>
              <a:off x="1612181" y="4055745"/>
              <a:ext cx="1105702" cy="176212"/>
            </a:xfrm>
            <a:prstGeom prst="rect">
              <a:avLst/>
            </a:prstGeom>
            <a:noFill/>
            <a:ln>
              <a:noFill/>
            </a:ln>
          </p:spPr>
          <p:txBody>
            <a:bodyPr wrap="none" lIns="0" tIns="0" rIns="0" bIns="0" anchor="t" anchorCtr="0">
              <a:spAutoFit/>
            </a:bodyPr>
            <a:lstStyle/>
            <a:p>
              <a:pPr algn="ctr"/>
              <a:r>
                <a:rPr lang="zh-CN" sz="900" b="1" dirty="0">
                  <a:solidFill>
                    <a:srgbClr val="5B6475"/>
                  </a:solidFill>
                  <a:latin typeface="+mn-lt"/>
                  <a:ea typeface="+mn-ea"/>
                  <a:cs typeface="+mn-cs"/>
                </a:rPr>
                <a:t>(a) 硬件：浴盆曲线</a:t>
              </a:r>
            </a:p>
          </p:txBody>
        </p:sp>
        <p:sp>
          <p:nvSpPr>
            <p:cNvPr id="19" name="TextBox 19"/>
            <p:cNvSpPr txBox="1"/>
            <p:nvPr/>
          </p:nvSpPr>
          <p:spPr>
            <a:xfrm>
              <a:off x="4043362" y="1545431"/>
              <a:ext cx="340690" cy="161925"/>
            </a:xfrm>
            <a:prstGeom prst="rect">
              <a:avLst/>
            </a:prstGeom>
            <a:noFill/>
            <a:ln>
              <a:noFill/>
            </a:ln>
          </p:spPr>
          <p:txBody>
            <a:bodyPr wrap="none" lIns="0" tIns="0" rIns="0" bIns="0" anchor="t" anchorCtr="0">
              <a:spAutoFit/>
            </a:bodyPr>
            <a:lstStyle/>
            <a:p>
              <a:pPr algn="l"/>
              <a:r>
                <a:rPr lang="zh-CN" sz="820" dirty="0">
                  <a:solidFill>
                    <a:srgbClr val="5B6475"/>
                  </a:solidFill>
                  <a:latin typeface="+mn-lt"/>
                  <a:ea typeface="+mn-ea"/>
                  <a:cs typeface="+mn-cs"/>
                </a:rPr>
                <a:t>失效率</a:t>
              </a:r>
            </a:p>
          </p:txBody>
        </p:sp>
        <p:sp>
          <p:nvSpPr>
            <p:cNvPr id="20" name="TextBox 20"/>
            <p:cNvSpPr txBox="1"/>
            <p:nvPr/>
          </p:nvSpPr>
          <p:spPr>
            <a:xfrm>
              <a:off x="6379947" y="3902869"/>
              <a:ext cx="230302"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时间</a:t>
              </a:r>
            </a:p>
          </p:txBody>
        </p:sp>
        <p:sp>
          <p:nvSpPr>
            <p:cNvPr id="21" name="TextBox 21"/>
            <p:cNvSpPr txBox="1"/>
            <p:nvPr/>
          </p:nvSpPr>
          <p:spPr>
            <a:xfrm>
              <a:off x="4863922" y="2025491"/>
              <a:ext cx="1003021"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每个修改点跳高一次</a:t>
              </a:r>
            </a:p>
          </p:txBody>
        </p:sp>
        <p:sp>
          <p:nvSpPr>
            <p:cNvPr id="22" name="TextBox 22"/>
            <p:cNvSpPr txBox="1"/>
            <p:nvPr/>
          </p:nvSpPr>
          <p:spPr>
            <a:xfrm>
              <a:off x="5956186" y="3554254"/>
              <a:ext cx="451079"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理想曲线</a:t>
              </a:r>
            </a:p>
          </p:txBody>
        </p:sp>
        <p:sp>
          <p:nvSpPr>
            <p:cNvPr id="23" name="TextBox 23"/>
            <p:cNvSpPr txBox="1"/>
            <p:nvPr/>
          </p:nvSpPr>
          <p:spPr>
            <a:xfrm>
              <a:off x="4507400" y="4055745"/>
              <a:ext cx="1590334" cy="176212"/>
            </a:xfrm>
            <a:prstGeom prst="rect">
              <a:avLst/>
            </a:prstGeom>
            <a:noFill/>
            <a:ln>
              <a:noFill/>
            </a:ln>
          </p:spPr>
          <p:txBody>
            <a:bodyPr wrap="none" lIns="0" tIns="0" rIns="0" bIns="0" anchor="t" anchorCtr="0">
              <a:spAutoFit/>
            </a:bodyPr>
            <a:lstStyle/>
            <a:p>
              <a:pPr algn="ctr"/>
              <a:r>
                <a:rPr lang="zh-CN" sz="900" b="1" dirty="0">
                  <a:solidFill>
                    <a:srgbClr val="5B6475"/>
                  </a:solidFill>
                  <a:latin typeface="+mn-lt"/>
                  <a:ea typeface="+mn-ea"/>
                  <a:cs typeface="+mn-cs"/>
                </a:rPr>
                <a:t>(b) 软件：实际曲线越修越高</a:t>
              </a:r>
            </a:p>
          </p:txBody>
        </p:sp>
      </p:grpSp>
      <p:grpSp>
        <p:nvGrpSpPr>
          <p:cNvPr id="33" name="c1-card-2"/>
          <p:cNvGrpSpPr/>
          <p:nvPr/>
        </p:nvGrpSpPr>
        <p:grpSpPr>
          <a:xfrm>
            <a:off x="533400" y="4375785"/>
            <a:ext cx="6276022" cy="1743075"/>
            <a:chOff x="533400" y="4375785"/>
            <a:chExt cx="6276022" cy="1743075"/>
          </a:xfrm>
        </p:grpSpPr>
        <p:sp>
          <p:nvSpPr>
            <p:cNvPr id="25" name="Rectangle 25"/>
            <p:cNvSpPr/>
            <p:nvPr/>
          </p:nvSpPr>
          <p:spPr>
            <a:xfrm>
              <a:off x="533400" y="4375785"/>
              <a:ext cx="6276022" cy="1743075"/>
            </a:xfrm>
            <a:prstGeom prst="roundRect">
              <a:avLst>
                <a:gd name="adj" fmla="val 7650"/>
              </a:avLst>
            </a:prstGeom>
            <a:solidFill>
              <a:srgbClr val="FFFFFF"/>
            </a:solidFill>
            <a:ln w="14288">
              <a:solidFill>
                <a:srgbClr val="D9DFEA"/>
              </a:solidFill>
            </a:ln>
          </p:spPr>
        </p:sp>
        <p:sp>
          <p:nvSpPr>
            <p:cNvPr id="26" name="Rectangle 26"/>
            <p:cNvSpPr/>
            <p:nvPr/>
          </p:nvSpPr>
          <p:spPr>
            <a:xfrm>
              <a:off x="542925" y="4509135"/>
              <a:ext cx="47625" cy="1476375"/>
            </a:xfrm>
            <a:prstGeom prst="roundRect">
              <a:avLst>
                <a:gd name="adj" fmla="val 50000"/>
              </a:avLst>
            </a:prstGeom>
            <a:solidFill>
              <a:srgbClr val="5B6475"/>
            </a:solidFill>
            <a:ln>
              <a:noFill/>
            </a:ln>
          </p:spPr>
        </p:sp>
        <p:sp>
          <p:nvSpPr>
            <p:cNvPr id="27" name="Rectangle 27"/>
            <p:cNvSpPr/>
            <p:nvPr/>
          </p:nvSpPr>
          <p:spPr>
            <a:xfrm>
              <a:off x="758190" y="4562475"/>
              <a:ext cx="458152" cy="238125"/>
            </a:xfrm>
            <a:prstGeom prst="roundRect">
              <a:avLst>
                <a:gd name="adj" fmla="val 50000"/>
              </a:avLst>
            </a:prstGeom>
            <a:solidFill>
              <a:srgbClr val="F4F6FB"/>
            </a:solidFill>
            <a:ln>
              <a:noFill/>
            </a:ln>
          </p:spPr>
        </p:sp>
        <p:sp>
          <p:nvSpPr>
            <p:cNvPr id="28" name="TextBox 28"/>
            <p:cNvSpPr txBox="1"/>
            <p:nvPr/>
          </p:nvSpPr>
          <p:spPr>
            <a:xfrm>
              <a:off x="850862" y="4595336"/>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读图</a:t>
              </a:r>
            </a:p>
          </p:txBody>
        </p:sp>
        <p:sp>
          <p:nvSpPr>
            <p:cNvPr id="29" name="Ellipse 29"/>
            <p:cNvSpPr/>
            <p:nvPr/>
          </p:nvSpPr>
          <p:spPr>
            <a:xfrm>
              <a:off x="766762" y="4963478"/>
              <a:ext cx="59055" cy="59055"/>
            </a:xfrm>
            <a:prstGeom prst="ellipse">
              <a:avLst/>
            </a:prstGeom>
            <a:solidFill>
              <a:srgbClr val="334E68"/>
            </a:solidFill>
            <a:ln>
              <a:noFill/>
            </a:ln>
          </p:spPr>
        </p:sp>
        <p:sp>
          <p:nvSpPr>
            <p:cNvPr id="30" name="TextBox 30"/>
            <p:cNvSpPr txBox="1"/>
            <p:nvPr/>
          </p:nvSpPr>
          <p:spPr>
            <a:xfrm>
              <a:off x="922782" y="4907280"/>
              <a:ext cx="53286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硬件曲线分三段：早期磨合调整时失效率高，中期平稳，后期零件磨损</a:t>
              </a:r>
              <a:br/>
              <a:r>
                <a:rPr lang="zh-CN" sz="1350" dirty="0">
                  <a:solidFill>
                    <a:srgbClr val="1F2937"/>
                  </a:solidFill>
                  <a:latin typeface="+mn-lt"/>
                  <a:ea typeface="+mn-ea"/>
                  <a:cs typeface="+mn-cs"/>
                </a:rPr>
                <a:t>用坏又升高</a:t>
              </a:r>
            </a:p>
          </p:txBody>
        </p:sp>
        <p:sp>
          <p:nvSpPr>
            <p:cNvPr id="31" name="Ellipse 31"/>
            <p:cNvSpPr/>
            <p:nvPr/>
          </p:nvSpPr>
          <p:spPr>
            <a:xfrm>
              <a:off x="766762" y="5520690"/>
              <a:ext cx="59055" cy="59055"/>
            </a:xfrm>
            <a:prstGeom prst="ellipse">
              <a:avLst/>
            </a:prstGeom>
            <a:solidFill>
              <a:srgbClr val="334E68"/>
            </a:solidFill>
            <a:ln>
              <a:noFill/>
            </a:ln>
          </p:spPr>
        </p:sp>
        <p:sp>
          <p:nvSpPr>
            <p:cNvPr id="32" name="TextBox 32"/>
            <p:cNvSpPr txBox="1"/>
            <p:nvPr/>
          </p:nvSpPr>
          <p:spPr>
            <a:xfrm>
              <a:off x="922782" y="5464492"/>
              <a:ext cx="53286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软件的理想曲线一路下降后趋平；实际曲线在每个修改点突然跳高，再</a:t>
              </a:r>
              <a:br/>
              <a:r>
                <a:rPr lang="zh-CN" sz="1350" dirty="0">
                  <a:solidFill>
                    <a:srgbClr val="1F2937"/>
                  </a:solidFill>
                  <a:latin typeface="+mn-lt"/>
                  <a:ea typeface="+mn-ea"/>
                  <a:cs typeface="+mn-cs"/>
                </a:rPr>
                <a:t>慢慢回落，整体越来越高</a:t>
              </a:r>
            </a:p>
          </p:txBody>
        </p:sp>
      </p:grpSp>
      <p:grpSp>
        <p:nvGrpSpPr>
          <p:cNvPr id="39" name="c2-card-1"/>
          <p:cNvGrpSpPr/>
          <p:nvPr/>
        </p:nvGrpSpPr>
        <p:grpSpPr>
          <a:xfrm>
            <a:off x="7114222" y="1524000"/>
            <a:ext cx="4544378" cy="1654492"/>
            <a:chOff x="7114222" y="1524000"/>
            <a:chExt cx="4544378" cy="1654492"/>
          </a:xfrm>
        </p:grpSpPr>
        <p:sp>
          <p:nvSpPr>
            <p:cNvPr id="34" name="Rectangle 34"/>
            <p:cNvSpPr/>
            <p:nvPr/>
          </p:nvSpPr>
          <p:spPr>
            <a:xfrm>
              <a:off x="7114222" y="1524000"/>
              <a:ext cx="4544378" cy="1654492"/>
            </a:xfrm>
            <a:prstGeom prst="roundRect">
              <a:avLst>
                <a:gd name="adj" fmla="val 8060"/>
              </a:avLst>
            </a:prstGeom>
            <a:solidFill>
              <a:srgbClr val="334E68"/>
            </a:solidFill>
            <a:ln>
              <a:noFill/>
            </a:ln>
          </p:spPr>
        </p:sp>
        <p:sp>
          <p:nvSpPr>
            <p:cNvPr id="35" name="Rectangle 35"/>
            <p:cNvSpPr/>
            <p:nvPr/>
          </p:nvSpPr>
          <p:spPr>
            <a:xfrm>
              <a:off x="7300912" y="1710690"/>
              <a:ext cx="458152" cy="238125"/>
            </a:xfrm>
            <a:prstGeom prst="roundRect">
              <a:avLst>
                <a:gd name="adj" fmla="val 50000"/>
              </a:avLst>
            </a:prstGeom>
            <a:solidFill>
              <a:srgbClr val="243B53"/>
            </a:solidFill>
            <a:ln>
              <a:noFill/>
            </a:ln>
          </p:spPr>
        </p:sp>
        <p:sp>
          <p:nvSpPr>
            <p:cNvPr id="36" name="TextBox 36"/>
            <p:cNvSpPr txBox="1"/>
            <p:nvPr/>
          </p:nvSpPr>
          <p:spPr>
            <a:xfrm>
              <a:off x="7392632" y="1743551"/>
              <a:ext cx="273761"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退化</a:t>
              </a:r>
            </a:p>
          </p:txBody>
        </p:sp>
        <p:sp>
          <p:nvSpPr>
            <p:cNvPr id="37" name="TextBox 37"/>
            <p:cNvSpPr txBox="1"/>
            <p:nvPr/>
          </p:nvSpPr>
          <p:spPr>
            <a:xfrm>
              <a:off x="7294054" y="2054542"/>
              <a:ext cx="39570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软件不存在磨损与老化，但存在</a:t>
              </a:r>
              <a:r>
                <a:rPr lang="zh-CN" sz="1350" b="1" dirty="0">
                  <a:solidFill>
                    <a:srgbClr val="FFD58A"/>
                  </a:solidFill>
                  <a:latin typeface="+mn-lt"/>
                  <a:ea typeface="+mn-ea"/>
                  <a:cs typeface="+mn-cs"/>
                </a:rPr>
                <a:t>退化</a:t>
              </a:r>
              <a:r>
                <a:rPr lang="zh-CN" sz="1350" dirty="0">
                  <a:solidFill>
                    <a:srgbClr val="FFFFFF"/>
                  </a:solidFill>
                  <a:latin typeface="+mn-lt"/>
                  <a:ea typeface="+mn-ea"/>
                  <a:cs typeface="+mn-cs"/>
                </a:rPr>
                <a:t>问题，软件退化</a:t>
              </a:r>
              <a:br/>
              <a:r>
                <a:rPr lang="zh-CN" sz="1350" dirty="0">
                  <a:solidFill>
                    <a:srgbClr val="FFFFFF"/>
                  </a:solidFill>
                  <a:latin typeface="+mn-lt"/>
                  <a:ea typeface="+mn-ea"/>
                  <a:cs typeface="+mn-cs"/>
                </a:rPr>
                <a:t>缘于修改。</a:t>
              </a:r>
            </a:p>
          </p:txBody>
        </p:sp>
        <p:sp>
          <p:nvSpPr>
            <p:cNvPr id="38" name="TextBox 38"/>
            <p:cNvSpPr txBox="1"/>
            <p:nvPr/>
          </p:nvSpPr>
          <p:spPr>
            <a:xfrm>
              <a:off x="7295198" y="2608421"/>
              <a:ext cx="399415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FFFFFF"/>
                  </a:solidFill>
                  <a:latin typeface="+mn-lt"/>
                  <a:ea typeface="+mn-ea"/>
                  <a:cs typeface="+mn-cs"/>
                </a:rPr>
                <a:t>每次修改都可能引入新的错误，失效率回落后仍比修改前高，累</a:t>
              </a:r>
              <a:br/>
              <a:r>
                <a:rPr lang="zh-CN" sz="1120" dirty="0">
                  <a:solidFill>
                    <a:srgbClr val="FFFFFF"/>
                  </a:solidFill>
                  <a:latin typeface="+mn-lt"/>
                  <a:ea typeface="+mn-ea"/>
                  <a:cs typeface="+mn-cs"/>
                </a:rPr>
                <a:t>积下去程序越来越难改动。</a:t>
              </a:r>
            </a:p>
          </p:txBody>
        </p:sp>
      </p:grpSp>
      <p:grpSp>
        <p:nvGrpSpPr>
          <p:cNvPr id="48" name="c2-kv-2"/>
          <p:cNvGrpSpPr/>
          <p:nvPr/>
        </p:nvGrpSpPr>
        <p:grpSpPr>
          <a:xfrm>
            <a:off x="7107364" y="3369945"/>
            <a:ext cx="4551236" cy="1556575"/>
            <a:chOff x="7107364" y="3369945"/>
            <a:chExt cx="4551236" cy="1556575"/>
          </a:xfrm>
        </p:grpSpPr>
        <p:sp>
          <p:nvSpPr>
            <p:cNvPr id="40" name="TextBox 40"/>
            <p:cNvSpPr txBox="1"/>
            <p:nvPr/>
          </p:nvSpPr>
          <p:spPr>
            <a:xfrm>
              <a:off x="7107364" y="3369945"/>
              <a:ext cx="1265430"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error（错误）</a:t>
              </a:r>
            </a:p>
          </p:txBody>
        </p:sp>
        <p:sp>
          <p:nvSpPr>
            <p:cNvPr id="41" name="TextBox 41"/>
            <p:cNvSpPr txBox="1"/>
            <p:nvPr/>
          </p:nvSpPr>
          <p:spPr>
            <a:xfrm>
              <a:off x="8697087" y="3369945"/>
              <a:ext cx="2242566"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软件开发中的人为出错，也叫</a:t>
              </a:r>
              <a:br/>
              <a:r>
                <a:rPr lang="en-US" sz="1350" dirty="0">
                  <a:solidFill>
                    <a:srgbClr val="1F2937"/>
                  </a:solidFill>
                  <a:latin typeface="+mn-lt"/>
                  <a:ea typeface="+mn-ea"/>
                  <a:cs typeface="+mn-cs"/>
                </a:rPr>
                <a:t>human mistake</a:t>
              </a:r>
            </a:p>
          </p:txBody>
        </p:sp>
        <p:sp>
          <p:nvSpPr>
            <p:cNvPr id="42" name="Rectangle 42"/>
            <p:cNvSpPr/>
            <p:nvPr/>
          </p:nvSpPr>
          <p:spPr>
            <a:xfrm>
              <a:off x="7114222" y="3910965"/>
              <a:ext cx="4544378" cy="9525"/>
            </a:xfrm>
            <a:prstGeom prst="rect">
              <a:avLst/>
            </a:prstGeom>
            <a:solidFill>
              <a:srgbClr val="D9DFEA"/>
            </a:solidFill>
            <a:ln>
              <a:noFill/>
            </a:ln>
          </p:spPr>
        </p:sp>
        <p:sp>
          <p:nvSpPr>
            <p:cNvPr id="43" name="TextBox 43"/>
            <p:cNvSpPr txBox="1"/>
            <p:nvPr/>
          </p:nvSpPr>
          <p:spPr>
            <a:xfrm>
              <a:off x="7107364" y="4016692"/>
              <a:ext cx="1217724"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fault（缺陷）</a:t>
              </a:r>
            </a:p>
          </p:txBody>
        </p:sp>
        <p:sp>
          <p:nvSpPr>
            <p:cNvPr id="44" name="TextBox 44"/>
            <p:cNvSpPr txBox="1"/>
            <p:nvPr/>
          </p:nvSpPr>
          <p:spPr>
            <a:xfrm>
              <a:off x="8697087" y="4016692"/>
              <a:ext cx="27397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人为错误在工作产品里留下的缺陷</a:t>
              </a:r>
            </a:p>
          </p:txBody>
        </p:sp>
        <p:sp>
          <p:nvSpPr>
            <p:cNvPr id="45" name="Rectangle 45"/>
            <p:cNvSpPr/>
            <p:nvPr/>
          </p:nvSpPr>
          <p:spPr>
            <a:xfrm>
              <a:off x="7114222" y="4303395"/>
              <a:ext cx="4544378" cy="9525"/>
            </a:xfrm>
            <a:prstGeom prst="rect">
              <a:avLst/>
            </a:prstGeom>
            <a:solidFill>
              <a:srgbClr val="D9DFEA"/>
            </a:solidFill>
            <a:ln>
              <a:noFill/>
            </a:ln>
          </p:spPr>
        </p:sp>
        <p:sp>
          <p:nvSpPr>
            <p:cNvPr id="46" name="TextBox 46"/>
            <p:cNvSpPr txBox="1"/>
            <p:nvPr/>
          </p:nvSpPr>
          <p:spPr>
            <a:xfrm>
              <a:off x="7107364" y="4409122"/>
              <a:ext cx="1379924"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failure（故障）</a:t>
              </a:r>
            </a:p>
          </p:txBody>
        </p:sp>
        <p:sp>
          <p:nvSpPr>
            <p:cNvPr id="47" name="TextBox 47"/>
            <p:cNvSpPr txBox="1"/>
            <p:nvPr/>
          </p:nvSpPr>
          <p:spPr>
            <a:xfrm>
              <a:off x="8697087" y="4409122"/>
              <a:ext cx="2756916"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对用户而言，系统相对于预期行为的</a:t>
              </a:r>
              <a:br/>
              <a:r>
                <a:rPr lang="zh-CN" sz="1350" dirty="0">
                  <a:solidFill>
                    <a:srgbClr val="1F2937"/>
                  </a:solidFill>
                  <a:latin typeface="+mn-lt"/>
                  <a:ea typeface="+mn-ea"/>
                  <a:cs typeface="+mn-cs"/>
                </a:rPr>
                <a:t>偏离</a:t>
              </a:r>
            </a:p>
          </p:txBody>
        </p:sp>
      </p:grpSp>
      <p:grpSp>
        <p:nvGrpSpPr>
          <p:cNvPr id="55" name="c2-callout-3"/>
          <p:cNvGrpSpPr/>
          <p:nvPr/>
        </p:nvGrpSpPr>
        <p:grpSpPr>
          <a:xfrm>
            <a:off x="7114222" y="5043488"/>
            <a:ext cx="4544378" cy="1075372"/>
            <a:chOff x="7114222" y="5043488"/>
            <a:chExt cx="4544378" cy="1075372"/>
          </a:xfrm>
        </p:grpSpPr>
        <p:sp>
          <p:nvSpPr>
            <p:cNvPr id="49" name="Rectangle 49"/>
            <p:cNvSpPr/>
            <p:nvPr/>
          </p:nvSpPr>
          <p:spPr>
            <a:xfrm>
              <a:off x="7114222" y="5043488"/>
              <a:ext cx="4544378" cy="1075372"/>
            </a:xfrm>
            <a:prstGeom prst="roundRect">
              <a:avLst>
                <a:gd name="adj" fmla="val 10629"/>
              </a:avLst>
            </a:prstGeom>
            <a:solidFill>
              <a:srgbClr val="FDECEA"/>
            </a:solidFill>
            <a:ln>
              <a:noFill/>
            </a:ln>
          </p:spPr>
        </p:sp>
        <p:grpSp>
          <p:nvGrpSpPr>
            <p:cNvPr id="53" name="Group 53"/>
            <p:cNvGrpSpPr/>
            <p:nvPr/>
          </p:nvGrpSpPr>
          <p:grpSpPr>
            <a:xfrm>
              <a:off x="7306952" y="5477946"/>
              <a:ext cx="224134" cy="192560"/>
              <a:chOff x="7306952" y="5477946"/>
              <a:chExt cx="224134" cy="192560"/>
            </a:xfrm>
          </p:grpSpPr>
          <p:sp>
            <p:nvSpPr>
              <p:cNvPr id="50" name="Freeform 50"/>
              <p:cNvSpPr/>
              <p:nvPr/>
            </p:nvSpPr>
            <p:spPr>
              <a:xfrm>
                <a:off x="7419023" y="554831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51" name="Freeform 51"/>
              <p:cNvSpPr/>
              <p:nvPr/>
            </p:nvSpPr>
            <p:spPr>
              <a:xfrm>
                <a:off x="7306952" y="547794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52" name="Freeform 52"/>
              <p:cNvSpPr/>
              <p:nvPr/>
            </p:nvSpPr>
            <p:spPr>
              <a:xfrm>
                <a:off x="7419023" y="562610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54" name="TextBox 54"/>
            <p:cNvSpPr txBox="1"/>
            <p:nvPr/>
          </p:nvSpPr>
          <p:spPr>
            <a:xfrm>
              <a:off x="7621714" y="5362575"/>
              <a:ext cx="3108388"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B42318"/>
                  </a:solidFill>
                  <a:latin typeface="+mn-lt"/>
                  <a:ea typeface="+mn-ea"/>
                  <a:cs typeface="+mn-cs"/>
                </a:rPr>
                <a:t>三者是一条链：人犯 error，产品里留下</a:t>
              </a:r>
              <a:br/>
              <a:r>
                <a:rPr lang="zh-CN" sz="1350" dirty="0">
                  <a:solidFill>
                    <a:srgbClr val="B42318"/>
                  </a:solidFill>
                  <a:latin typeface="+mn-lt"/>
                  <a:ea typeface="+mn-ea"/>
                  <a:cs typeface="+mn-cs"/>
                </a:rPr>
                <a:t>fault，执行到时表现为 failure。</a:t>
              </a:r>
            </a:p>
          </p:txBody>
        </p:sp>
      </p:grpSp>
      <p:grpSp>
        <p:nvGrpSpPr>
          <p:cNvPr id="58" name="footer"/>
          <p:cNvGrpSpPr/>
          <p:nvPr/>
        </p:nvGrpSpPr>
        <p:grpSpPr>
          <a:xfrm>
            <a:off x="528447" y="6581299"/>
            <a:ext cx="11135106" cy="190690"/>
            <a:chOff x="528447" y="6581299"/>
            <a:chExt cx="11135106" cy="190690"/>
          </a:xfrm>
        </p:grpSpPr>
        <p:sp>
          <p:nvSpPr>
            <p:cNvPr id="56" name="TextBox 56"/>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57" name="TextBox 57"/>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8607933" cy="909257"/>
            <a:chOff x="520446" y="342900"/>
            <a:chExt cx="8607933" cy="909257"/>
          </a:xfrm>
        </p:grpSpPr>
        <p:sp>
          <p:nvSpPr>
            <p:cNvPr id="2" name="Rectangle 2"/>
            <p:cNvSpPr/>
            <p:nvPr/>
          </p:nvSpPr>
          <p:spPr>
            <a:xfrm>
              <a:off x="533400" y="342900"/>
              <a:ext cx="2129790" cy="266700"/>
            </a:xfrm>
            <a:prstGeom prst="roundRect">
              <a:avLst>
                <a:gd name="adj" fmla="val 50000"/>
              </a:avLst>
            </a:prstGeom>
            <a:solidFill>
              <a:srgbClr val="E7EDF3"/>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软件与软件危机</a:t>
              </a:r>
            </a:p>
          </p:txBody>
        </p:sp>
        <p:sp>
          <p:nvSpPr>
            <p:cNvPr id="4" name="TextBox 4"/>
            <p:cNvSpPr txBox="1"/>
            <p:nvPr/>
          </p:nvSpPr>
          <p:spPr>
            <a:xfrm>
              <a:off x="520446" y="753428"/>
              <a:ext cx="860793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软件发展的三个时期（一）：从个人写程序到工程化开发</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0" name="c1-table-1"/>
          <p:cNvGrpSpPr/>
          <p:nvPr/>
        </p:nvGrpSpPr>
        <p:grpSpPr>
          <a:xfrm>
            <a:off x="533400" y="1524000"/>
            <a:ext cx="11125200" cy="2800350"/>
            <a:chOff x="533400" y="1524000"/>
            <a:chExt cx="11125200" cy="2800350"/>
          </a:xfrm>
        </p:grpSpPr>
        <p:sp>
          <p:nvSpPr>
            <p:cNvPr id="7" name="Rectangle 7"/>
            <p:cNvSpPr/>
            <p:nvPr/>
          </p:nvSpPr>
          <p:spPr>
            <a:xfrm>
              <a:off x="533400" y="1524000"/>
              <a:ext cx="11125200" cy="400050"/>
            </a:xfrm>
            <a:prstGeom prst="rect">
              <a:avLst/>
            </a:prstGeom>
            <a:solidFill>
              <a:srgbClr val="334E68"/>
            </a:solidFill>
            <a:ln>
              <a:noFill/>
            </a:ln>
          </p:spPr>
        </p:sp>
        <p:sp>
          <p:nvSpPr>
            <p:cNvPr id="8" name="TextBox 8"/>
            <p:cNvSpPr txBox="1"/>
            <p:nvPr/>
          </p:nvSpPr>
          <p:spPr>
            <a:xfrm>
              <a:off x="1377988" y="1645444"/>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特点</a:t>
              </a:r>
            </a:p>
          </p:txBody>
        </p:sp>
        <p:sp>
          <p:nvSpPr>
            <p:cNvPr id="9" name="TextBox 9"/>
            <p:cNvSpPr txBox="1"/>
            <p:nvPr/>
          </p:nvSpPr>
          <p:spPr>
            <a:xfrm>
              <a:off x="2790600" y="1645444"/>
              <a:ext cx="216071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程序设计阶段（50 至 60 年代）</a:t>
              </a:r>
            </a:p>
          </p:txBody>
        </p:sp>
        <p:sp>
          <p:nvSpPr>
            <p:cNvPr id="10" name="TextBox 10"/>
            <p:cNvSpPr txBox="1"/>
            <p:nvPr/>
          </p:nvSpPr>
          <p:spPr>
            <a:xfrm>
              <a:off x="5516655" y="1645444"/>
              <a:ext cx="216071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程序系统阶段（60 至 70 年代）</a:t>
              </a:r>
            </a:p>
          </p:txBody>
        </p:sp>
        <p:sp>
          <p:nvSpPr>
            <p:cNvPr id="11" name="TextBox 11"/>
            <p:cNvSpPr txBox="1"/>
            <p:nvPr/>
          </p:nvSpPr>
          <p:spPr>
            <a:xfrm>
              <a:off x="8801952" y="1645444"/>
              <a:ext cx="204236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软件工程阶段（70 年代以后）</a:t>
              </a:r>
            </a:p>
          </p:txBody>
        </p:sp>
        <p:sp>
          <p:nvSpPr>
            <p:cNvPr id="12" name="TextBox 12"/>
            <p:cNvSpPr txBox="1"/>
            <p:nvPr/>
          </p:nvSpPr>
          <p:spPr>
            <a:xfrm>
              <a:off x="630555" y="2045494"/>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软件所指</a:t>
              </a:r>
            </a:p>
          </p:txBody>
        </p:sp>
        <p:sp>
          <p:nvSpPr>
            <p:cNvPr id="13" name="TextBox 13"/>
            <p:cNvSpPr txBox="1"/>
            <p:nvPr/>
          </p:nvSpPr>
          <p:spPr>
            <a:xfrm>
              <a:off x="2632710" y="2045494"/>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程序</a:t>
              </a:r>
            </a:p>
          </p:txBody>
        </p:sp>
        <p:sp>
          <p:nvSpPr>
            <p:cNvPr id="14" name="TextBox 14"/>
            <p:cNvSpPr txBox="1"/>
            <p:nvPr/>
          </p:nvSpPr>
          <p:spPr>
            <a:xfrm>
              <a:off x="5303520" y="2045494"/>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程序及说明书</a:t>
              </a:r>
            </a:p>
          </p:txBody>
        </p:sp>
        <p:sp>
          <p:nvSpPr>
            <p:cNvPr id="15" name="Rectangle 15"/>
            <p:cNvSpPr/>
            <p:nvPr/>
          </p:nvSpPr>
          <p:spPr>
            <a:xfrm>
              <a:off x="7997190" y="1933575"/>
              <a:ext cx="3651885" cy="381000"/>
            </a:xfrm>
            <a:prstGeom prst="rect">
              <a:avLst/>
            </a:prstGeom>
            <a:solidFill>
              <a:srgbClr val="FDEEE7"/>
            </a:solidFill>
            <a:ln>
              <a:noFill/>
            </a:ln>
          </p:spPr>
        </p:sp>
        <p:sp>
          <p:nvSpPr>
            <p:cNvPr id="16" name="TextBox 16"/>
            <p:cNvSpPr txBox="1"/>
            <p:nvPr/>
          </p:nvSpPr>
          <p:spPr>
            <a:xfrm>
              <a:off x="8084820" y="2045494"/>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程序、文档、数据</a:t>
              </a:r>
            </a:p>
          </p:txBody>
        </p:sp>
        <p:sp>
          <p:nvSpPr>
            <p:cNvPr id="17" name="Rectangle 17"/>
            <p:cNvSpPr/>
            <p:nvPr/>
          </p:nvSpPr>
          <p:spPr>
            <a:xfrm>
              <a:off x="533400" y="2319338"/>
              <a:ext cx="11125200" cy="9525"/>
            </a:xfrm>
            <a:prstGeom prst="rect">
              <a:avLst/>
            </a:prstGeom>
            <a:solidFill>
              <a:srgbClr val="D9DFEA"/>
            </a:solidFill>
            <a:ln>
              <a:noFill/>
            </a:ln>
          </p:spPr>
        </p:sp>
        <p:sp>
          <p:nvSpPr>
            <p:cNvPr id="18" name="Rectangle 18"/>
            <p:cNvSpPr/>
            <p:nvPr/>
          </p:nvSpPr>
          <p:spPr>
            <a:xfrm>
              <a:off x="533400" y="2324100"/>
              <a:ext cx="11125200" cy="400050"/>
            </a:xfrm>
            <a:prstGeom prst="rect">
              <a:avLst/>
            </a:prstGeom>
            <a:solidFill>
              <a:srgbClr val="F4F6FB"/>
            </a:solidFill>
            <a:ln>
              <a:noFill/>
            </a:ln>
          </p:spPr>
        </p:sp>
        <p:sp>
          <p:nvSpPr>
            <p:cNvPr id="19" name="TextBox 19"/>
            <p:cNvSpPr txBox="1"/>
            <p:nvPr/>
          </p:nvSpPr>
          <p:spPr>
            <a:xfrm>
              <a:off x="630555" y="2445544"/>
              <a:ext cx="1217625"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主要程序设计语言</a:t>
              </a:r>
            </a:p>
          </p:txBody>
        </p:sp>
        <p:sp>
          <p:nvSpPr>
            <p:cNvPr id="20" name="TextBox 20"/>
            <p:cNvSpPr txBox="1"/>
            <p:nvPr/>
          </p:nvSpPr>
          <p:spPr>
            <a:xfrm>
              <a:off x="2632710" y="2445544"/>
              <a:ext cx="10668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汇编及机器语言</a:t>
              </a:r>
            </a:p>
          </p:txBody>
        </p:sp>
        <p:sp>
          <p:nvSpPr>
            <p:cNvPr id="21" name="TextBox 21"/>
            <p:cNvSpPr txBox="1"/>
            <p:nvPr/>
          </p:nvSpPr>
          <p:spPr>
            <a:xfrm>
              <a:off x="5303520" y="2445544"/>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高级语言</a:t>
              </a:r>
            </a:p>
          </p:txBody>
        </p:sp>
        <p:sp>
          <p:nvSpPr>
            <p:cNvPr id="22" name="TextBox 22"/>
            <p:cNvSpPr txBox="1"/>
            <p:nvPr/>
          </p:nvSpPr>
          <p:spPr>
            <a:xfrm>
              <a:off x="8084820" y="2445544"/>
              <a:ext cx="21222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软件语言（如需求定义语言等）</a:t>
              </a:r>
            </a:p>
          </p:txBody>
        </p:sp>
        <p:sp>
          <p:nvSpPr>
            <p:cNvPr id="23" name="Rectangle 23"/>
            <p:cNvSpPr/>
            <p:nvPr/>
          </p:nvSpPr>
          <p:spPr>
            <a:xfrm>
              <a:off x="533400" y="2719388"/>
              <a:ext cx="11125200" cy="9525"/>
            </a:xfrm>
            <a:prstGeom prst="rect">
              <a:avLst/>
            </a:prstGeom>
            <a:solidFill>
              <a:srgbClr val="D9DFEA"/>
            </a:solidFill>
            <a:ln>
              <a:noFill/>
            </a:ln>
          </p:spPr>
        </p:sp>
        <p:sp>
          <p:nvSpPr>
            <p:cNvPr id="24" name="TextBox 24"/>
            <p:cNvSpPr txBox="1"/>
            <p:nvPr/>
          </p:nvSpPr>
          <p:spPr>
            <a:xfrm>
              <a:off x="630555" y="2845594"/>
              <a:ext cx="916076"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软件工作范围</a:t>
              </a:r>
            </a:p>
          </p:txBody>
        </p:sp>
        <p:sp>
          <p:nvSpPr>
            <p:cNvPr id="25" name="TextBox 25"/>
            <p:cNvSpPr txBox="1"/>
            <p:nvPr/>
          </p:nvSpPr>
          <p:spPr>
            <a:xfrm>
              <a:off x="2632710" y="2845594"/>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程序编写</a:t>
              </a:r>
            </a:p>
          </p:txBody>
        </p:sp>
        <p:sp>
          <p:nvSpPr>
            <p:cNvPr id="26" name="TextBox 26"/>
            <p:cNvSpPr txBox="1"/>
            <p:nvPr/>
          </p:nvSpPr>
          <p:spPr>
            <a:xfrm>
              <a:off x="5303520" y="2845594"/>
              <a:ext cx="10668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包括设计和测试</a:t>
              </a:r>
            </a:p>
          </p:txBody>
        </p:sp>
        <p:sp>
          <p:nvSpPr>
            <p:cNvPr id="27" name="Rectangle 27"/>
            <p:cNvSpPr/>
            <p:nvPr/>
          </p:nvSpPr>
          <p:spPr>
            <a:xfrm>
              <a:off x="7997190" y="2733675"/>
              <a:ext cx="3651885" cy="381000"/>
            </a:xfrm>
            <a:prstGeom prst="rect">
              <a:avLst/>
            </a:prstGeom>
            <a:solidFill>
              <a:srgbClr val="FDEEE7"/>
            </a:solidFill>
            <a:ln>
              <a:noFill/>
            </a:ln>
          </p:spPr>
        </p:sp>
        <p:sp>
          <p:nvSpPr>
            <p:cNvPr id="28" name="TextBox 28"/>
            <p:cNvSpPr txBox="1"/>
            <p:nvPr/>
          </p:nvSpPr>
          <p:spPr>
            <a:xfrm>
              <a:off x="8084820" y="2845594"/>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软件生命周期</a:t>
              </a:r>
            </a:p>
          </p:txBody>
        </p:sp>
        <p:sp>
          <p:nvSpPr>
            <p:cNvPr id="29" name="Rectangle 29"/>
            <p:cNvSpPr/>
            <p:nvPr/>
          </p:nvSpPr>
          <p:spPr>
            <a:xfrm>
              <a:off x="533400" y="3119438"/>
              <a:ext cx="11125200" cy="9525"/>
            </a:xfrm>
            <a:prstGeom prst="rect">
              <a:avLst/>
            </a:prstGeom>
            <a:solidFill>
              <a:srgbClr val="D9DFEA"/>
            </a:solidFill>
            <a:ln>
              <a:noFill/>
            </a:ln>
          </p:spPr>
        </p:sp>
        <p:sp>
          <p:nvSpPr>
            <p:cNvPr id="30" name="Rectangle 30"/>
            <p:cNvSpPr/>
            <p:nvPr/>
          </p:nvSpPr>
          <p:spPr>
            <a:xfrm>
              <a:off x="533400" y="3124200"/>
              <a:ext cx="11125200" cy="400050"/>
            </a:xfrm>
            <a:prstGeom prst="rect">
              <a:avLst/>
            </a:prstGeom>
            <a:solidFill>
              <a:srgbClr val="F4F6FB"/>
            </a:solidFill>
            <a:ln>
              <a:noFill/>
            </a:ln>
          </p:spPr>
        </p:sp>
        <p:sp>
          <p:nvSpPr>
            <p:cNvPr id="31" name="TextBox 31"/>
            <p:cNvSpPr txBox="1"/>
            <p:nvPr/>
          </p:nvSpPr>
          <p:spPr>
            <a:xfrm>
              <a:off x="630555" y="3245644"/>
              <a:ext cx="46375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需求者</a:t>
              </a:r>
            </a:p>
          </p:txBody>
        </p:sp>
        <p:sp>
          <p:nvSpPr>
            <p:cNvPr id="32" name="TextBox 32"/>
            <p:cNvSpPr txBox="1"/>
            <p:nvPr/>
          </p:nvSpPr>
          <p:spPr>
            <a:xfrm>
              <a:off x="2632710" y="3245644"/>
              <a:ext cx="10668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程序设计者本人</a:t>
              </a:r>
            </a:p>
          </p:txBody>
        </p:sp>
        <p:sp>
          <p:nvSpPr>
            <p:cNvPr id="33" name="TextBox 33"/>
            <p:cNvSpPr txBox="1"/>
            <p:nvPr/>
          </p:nvSpPr>
          <p:spPr>
            <a:xfrm>
              <a:off x="5303520" y="3245644"/>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少数用户</a:t>
              </a:r>
            </a:p>
          </p:txBody>
        </p:sp>
        <p:sp>
          <p:nvSpPr>
            <p:cNvPr id="34" name="TextBox 34"/>
            <p:cNvSpPr txBox="1"/>
            <p:nvPr/>
          </p:nvSpPr>
          <p:spPr>
            <a:xfrm>
              <a:off x="8084820" y="3245644"/>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市场用户</a:t>
              </a:r>
            </a:p>
          </p:txBody>
        </p:sp>
        <p:sp>
          <p:nvSpPr>
            <p:cNvPr id="35" name="Rectangle 35"/>
            <p:cNvSpPr/>
            <p:nvPr/>
          </p:nvSpPr>
          <p:spPr>
            <a:xfrm>
              <a:off x="533400" y="3519488"/>
              <a:ext cx="11125200" cy="9525"/>
            </a:xfrm>
            <a:prstGeom prst="rect">
              <a:avLst/>
            </a:prstGeom>
            <a:solidFill>
              <a:srgbClr val="D9DFEA"/>
            </a:solidFill>
            <a:ln>
              <a:noFill/>
            </a:ln>
          </p:spPr>
        </p:sp>
        <p:sp>
          <p:nvSpPr>
            <p:cNvPr id="36" name="TextBox 36"/>
            <p:cNvSpPr txBox="1"/>
            <p:nvPr/>
          </p:nvSpPr>
          <p:spPr>
            <a:xfrm>
              <a:off x="630555" y="3645694"/>
              <a:ext cx="1066851"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开发软件的组织</a:t>
              </a:r>
            </a:p>
          </p:txBody>
        </p:sp>
        <p:sp>
          <p:nvSpPr>
            <p:cNvPr id="37" name="TextBox 37"/>
            <p:cNvSpPr txBox="1"/>
            <p:nvPr/>
          </p:nvSpPr>
          <p:spPr>
            <a:xfrm>
              <a:off x="2632710" y="3645694"/>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个人</a:t>
              </a:r>
            </a:p>
          </p:txBody>
        </p:sp>
        <p:sp>
          <p:nvSpPr>
            <p:cNvPr id="38" name="TextBox 38"/>
            <p:cNvSpPr txBox="1"/>
            <p:nvPr/>
          </p:nvSpPr>
          <p:spPr>
            <a:xfrm>
              <a:off x="5303520" y="3645694"/>
              <a:ext cx="168502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开发小组（“软件作坊”）</a:t>
              </a:r>
            </a:p>
          </p:txBody>
        </p:sp>
        <p:sp>
          <p:nvSpPr>
            <p:cNvPr id="39" name="TextBox 39"/>
            <p:cNvSpPr txBox="1"/>
            <p:nvPr/>
          </p:nvSpPr>
          <p:spPr>
            <a:xfrm>
              <a:off x="8084820" y="3645694"/>
              <a:ext cx="21222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开发小组及大中型软件开发机构</a:t>
              </a:r>
            </a:p>
          </p:txBody>
        </p:sp>
        <p:sp>
          <p:nvSpPr>
            <p:cNvPr id="40" name="Rectangle 40"/>
            <p:cNvSpPr/>
            <p:nvPr/>
          </p:nvSpPr>
          <p:spPr>
            <a:xfrm>
              <a:off x="533400" y="3919538"/>
              <a:ext cx="11125200" cy="9525"/>
            </a:xfrm>
            <a:prstGeom prst="rect">
              <a:avLst/>
            </a:prstGeom>
            <a:solidFill>
              <a:srgbClr val="D9DFEA"/>
            </a:solidFill>
            <a:ln>
              <a:noFill/>
            </a:ln>
          </p:spPr>
        </p:sp>
        <p:sp>
          <p:nvSpPr>
            <p:cNvPr id="41" name="Rectangle 41"/>
            <p:cNvSpPr/>
            <p:nvPr/>
          </p:nvSpPr>
          <p:spPr>
            <a:xfrm>
              <a:off x="533400" y="3924300"/>
              <a:ext cx="11125200" cy="400050"/>
            </a:xfrm>
            <a:prstGeom prst="rect">
              <a:avLst/>
            </a:prstGeom>
            <a:solidFill>
              <a:srgbClr val="F4F6FB"/>
            </a:solidFill>
            <a:ln>
              <a:noFill/>
            </a:ln>
          </p:spPr>
        </p:sp>
        <p:sp>
          <p:nvSpPr>
            <p:cNvPr id="42" name="TextBox 42"/>
            <p:cNvSpPr txBox="1"/>
            <p:nvPr/>
          </p:nvSpPr>
          <p:spPr>
            <a:xfrm>
              <a:off x="630555" y="4045744"/>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软件规模</a:t>
              </a:r>
            </a:p>
          </p:txBody>
        </p:sp>
        <p:sp>
          <p:nvSpPr>
            <p:cNvPr id="43" name="TextBox 43"/>
            <p:cNvSpPr txBox="1"/>
            <p:nvPr/>
          </p:nvSpPr>
          <p:spPr>
            <a:xfrm>
              <a:off x="2632710" y="4045744"/>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小型</a:t>
              </a:r>
            </a:p>
          </p:txBody>
        </p:sp>
        <p:sp>
          <p:nvSpPr>
            <p:cNvPr id="44" name="TextBox 44"/>
            <p:cNvSpPr txBox="1"/>
            <p:nvPr/>
          </p:nvSpPr>
          <p:spPr>
            <a:xfrm>
              <a:off x="5303520" y="4045744"/>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中小型</a:t>
              </a:r>
            </a:p>
          </p:txBody>
        </p:sp>
        <p:sp>
          <p:nvSpPr>
            <p:cNvPr id="45" name="TextBox 45"/>
            <p:cNvSpPr txBox="1"/>
            <p:nvPr/>
          </p:nvSpPr>
          <p:spPr>
            <a:xfrm>
              <a:off x="8084820" y="4045744"/>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大中小型</a:t>
              </a:r>
            </a:p>
          </p:txBody>
        </p:sp>
        <p:sp>
          <p:nvSpPr>
            <p:cNvPr id="46" name="Rectangle 46"/>
            <p:cNvSpPr/>
            <p:nvPr/>
          </p:nvSpPr>
          <p:spPr>
            <a:xfrm>
              <a:off x="533400" y="1524000"/>
              <a:ext cx="11125200" cy="2800350"/>
            </a:xfrm>
            <a:prstGeom prst="rect">
              <a:avLst/>
            </a:prstGeom>
            <a:noFill/>
            <a:ln w="14288">
              <a:solidFill>
                <a:srgbClr val="D9DFEA"/>
              </a:solidFill>
            </a:ln>
          </p:spPr>
        </p:sp>
        <p:sp>
          <p:nvSpPr>
            <p:cNvPr id="47" name="Rectangle 47"/>
            <p:cNvSpPr/>
            <p:nvPr/>
          </p:nvSpPr>
          <p:spPr>
            <a:xfrm>
              <a:off x="2530792" y="1524000"/>
              <a:ext cx="9525" cy="2800350"/>
            </a:xfrm>
            <a:prstGeom prst="rect">
              <a:avLst/>
            </a:prstGeom>
            <a:solidFill>
              <a:srgbClr val="D9DFEA"/>
            </a:solidFill>
            <a:ln>
              <a:noFill/>
            </a:ln>
          </p:spPr>
        </p:sp>
        <p:sp>
          <p:nvSpPr>
            <p:cNvPr id="48" name="Rectangle 48"/>
            <p:cNvSpPr/>
            <p:nvPr/>
          </p:nvSpPr>
          <p:spPr>
            <a:xfrm>
              <a:off x="5201602" y="1524000"/>
              <a:ext cx="9525" cy="2800350"/>
            </a:xfrm>
            <a:prstGeom prst="rect">
              <a:avLst/>
            </a:prstGeom>
            <a:solidFill>
              <a:srgbClr val="D9DFEA"/>
            </a:solidFill>
            <a:ln>
              <a:noFill/>
            </a:ln>
          </p:spPr>
        </p:sp>
        <p:sp>
          <p:nvSpPr>
            <p:cNvPr id="49" name="Rectangle 49"/>
            <p:cNvSpPr/>
            <p:nvPr/>
          </p:nvSpPr>
          <p:spPr>
            <a:xfrm>
              <a:off x="7982902" y="1524000"/>
              <a:ext cx="9525" cy="2800350"/>
            </a:xfrm>
            <a:prstGeom prst="rect">
              <a:avLst/>
            </a:prstGeom>
            <a:solidFill>
              <a:srgbClr val="D9DFEA"/>
            </a:solidFill>
            <a:ln>
              <a:noFill/>
            </a:ln>
          </p:spPr>
        </p:sp>
      </p:grpSp>
      <p:grpSp>
        <p:nvGrpSpPr>
          <p:cNvPr id="59" name="c1-kv-2"/>
          <p:cNvGrpSpPr/>
          <p:nvPr/>
        </p:nvGrpSpPr>
        <p:grpSpPr>
          <a:xfrm>
            <a:off x="526542" y="4516755"/>
            <a:ext cx="11132058" cy="1048893"/>
            <a:chOff x="526542" y="4516755"/>
            <a:chExt cx="11132058" cy="1048893"/>
          </a:xfrm>
        </p:grpSpPr>
        <p:sp>
          <p:nvSpPr>
            <p:cNvPr id="51" name="TextBox 51"/>
            <p:cNvSpPr txBox="1"/>
            <p:nvPr/>
          </p:nvSpPr>
          <p:spPr>
            <a:xfrm>
              <a:off x="526542" y="4516755"/>
              <a:ext cx="1104138"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程序设计阶段</a:t>
              </a:r>
            </a:p>
          </p:txBody>
        </p:sp>
        <p:sp>
          <p:nvSpPr>
            <p:cNvPr id="52" name="TextBox 52"/>
            <p:cNvSpPr txBox="1"/>
            <p:nvPr/>
          </p:nvSpPr>
          <p:spPr>
            <a:xfrm>
              <a:off x="1845754" y="4516755"/>
              <a:ext cx="310324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个人为自己写程序，软件就是程序本身</a:t>
              </a:r>
            </a:p>
          </p:txBody>
        </p:sp>
        <p:sp>
          <p:nvSpPr>
            <p:cNvPr id="53" name="Rectangle 53"/>
            <p:cNvSpPr/>
            <p:nvPr/>
          </p:nvSpPr>
          <p:spPr>
            <a:xfrm>
              <a:off x="533400" y="4802505"/>
              <a:ext cx="11125200" cy="9525"/>
            </a:xfrm>
            <a:prstGeom prst="rect">
              <a:avLst/>
            </a:prstGeom>
            <a:solidFill>
              <a:srgbClr val="D9DFEA"/>
            </a:solidFill>
            <a:ln>
              <a:noFill/>
            </a:ln>
          </p:spPr>
        </p:sp>
        <p:sp>
          <p:nvSpPr>
            <p:cNvPr id="54" name="TextBox 54"/>
            <p:cNvSpPr txBox="1"/>
            <p:nvPr/>
          </p:nvSpPr>
          <p:spPr>
            <a:xfrm>
              <a:off x="526542" y="4909185"/>
              <a:ext cx="1104138"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程序系统阶段</a:t>
              </a:r>
            </a:p>
          </p:txBody>
        </p:sp>
        <p:sp>
          <p:nvSpPr>
            <p:cNvPr id="55" name="TextBox 55"/>
            <p:cNvSpPr txBox="1"/>
            <p:nvPr/>
          </p:nvSpPr>
          <p:spPr>
            <a:xfrm>
              <a:off x="1845754" y="4909185"/>
              <a:ext cx="421184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小组在“软件作坊”里开发，软件危机在这个阶段出现</a:t>
              </a:r>
            </a:p>
          </p:txBody>
        </p:sp>
        <p:sp>
          <p:nvSpPr>
            <p:cNvPr id="56" name="Rectangle 56"/>
            <p:cNvSpPr/>
            <p:nvPr/>
          </p:nvSpPr>
          <p:spPr>
            <a:xfrm>
              <a:off x="533400" y="5194935"/>
              <a:ext cx="11125200" cy="9525"/>
            </a:xfrm>
            <a:prstGeom prst="rect">
              <a:avLst/>
            </a:prstGeom>
            <a:solidFill>
              <a:srgbClr val="D9DFEA"/>
            </a:solidFill>
            <a:ln>
              <a:noFill/>
            </a:ln>
          </p:spPr>
        </p:sp>
        <p:sp>
          <p:nvSpPr>
            <p:cNvPr id="57" name="TextBox 57"/>
            <p:cNvSpPr txBox="1"/>
            <p:nvPr/>
          </p:nvSpPr>
          <p:spPr>
            <a:xfrm>
              <a:off x="526542" y="5301615"/>
              <a:ext cx="1104138"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软件工程阶段</a:t>
              </a:r>
            </a:p>
          </p:txBody>
        </p:sp>
        <p:sp>
          <p:nvSpPr>
            <p:cNvPr id="58" name="TextBox 58"/>
            <p:cNvSpPr txBox="1"/>
            <p:nvPr/>
          </p:nvSpPr>
          <p:spPr>
            <a:xfrm>
              <a:off x="1845754" y="5301615"/>
              <a:ext cx="364845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按工程方式组织，软件包括程序、文档和数据</a:t>
              </a:r>
            </a:p>
          </p:txBody>
        </p:sp>
      </p:grpSp>
      <p:grpSp>
        <p:nvGrpSpPr>
          <p:cNvPr id="66" name="takeaway"/>
          <p:cNvGrpSpPr/>
          <p:nvPr/>
        </p:nvGrpSpPr>
        <p:grpSpPr>
          <a:xfrm>
            <a:off x="533400" y="5881688"/>
            <a:ext cx="11125200" cy="481012"/>
            <a:chOff x="533400" y="5881688"/>
            <a:chExt cx="11125200" cy="481012"/>
          </a:xfrm>
        </p:grpSpPr>
        <p:sp>
          <p:nvSpPr>
            <p:cNvPr id="60" name="Rectangle 60"/>
            <p:cNvSpPr/>
            <p:nvPr/>
          </p:nvSpPr>
          <p:spPr>
            <a:xfrm>
              <a:off x="533400" y="5881688"/>
              <a:ext cx="11125200" cy="481012"/>
            </a:xfrm>
            <a:prstGeom prst="roundRect">
              <a:avLst>
                <a:gd name="adj" fmla="val 23762"/>
              </a:avLst>
            </a:prstGeom>
            <a:solidFill>
              <a:srgbClr val="FDECEA"/>
            </a:solidFill>
            <a:ln>
              <a:noFill/>
            </a:ln>
          </p:spPr>
        </p:sp>
        <p:grpSp>
          <p:nvGrpSpPr>
            <p:cNvPr id="64" name="Group 64"/>
            <p:cNvGrpSpPr/>
            <p:nvPr/>
          </p:nvGrpSpPr>
          <p:grpSpPr>
            <a:xfrm>
              <a:off x="726129" y="6018966"/>
              <a:ext cx="224134" cy="192560"/>
              <a:chOff x="726129" y="6018966"/>
              <a:chExt cx="224134" cy="192560"/>
            </a:xfrm>
          </p:grpSpPr>
          <p:sp>
            <p:nvSpPr>
              <p:cNvPr id="61" name="Freeform 61"/>
              <p:cNvSpPr/>
              <p:nvPr/>
            </p:nvSpPr>
            <p:spPr>
              <a:xfrm>
                <a:off x="838200" y="608933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62" name="Freeform 62"/>
              <p:cNvSpPr/>
              <p:nvPr/>
            </p:nvSpPr>
            <p:spPr>
              <a:xfrm>
                <a:off x="726129" y="601896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63" name="Freeform 63"/>
              <p:cNvSpPr/>
              <p:nvPr/>
            </p:nvSpPr>
            <p:spPr>
              <a:xfrm>
                <a:off x="838200" y="616712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65" name="TextBox 65"/>
            <p:cNvSpPr txBox="1"/>
            <p:nvPr/>
          </p:nvSpPr>
          <p:spPr>
            <a:xfrm>
              <a:off x="1040892" y="6028373"/>
              <a:ext cx="7846581" cy="264033"/>
            </a:xfrm>
            <a:prstGeom prst="rect">
              <a:avLst/>
            </a:prstGeom>
            <a:noFill/>
            <a:ln>
              <a:noFill/>
            </a:ln>
          </p:spPr>
          <p:txBody>
            <a:bodyPr wrap="none" lIns="0" tIns="0" rIns="0" bIns="0" anchor="t" anchorCtr="0">
              <a:spAutoFit/>
            </a:bodyPr>
            <a:lstStyle/>
            <a:p>
              <a:pPr algn="l"/>
              <a:r>
                <a:rPr lang="zh-CN" sz="1350" dirty="0">
                  <a:solidFill>
                    <a:srgbClr val="B42318"/>
                  </a:solidFill>
                  <a:latin typeface="+mn-lt"/>
                  <a:ea typeface="+mn-ea"/>
                  <a:cs typeface="+mn-cs"/>
                </a:rPr>
                <a:t>“软件危机”出现在程序系统阶段：软件技术的发展跟不上需求，而当时的开发还停留在作坊方式。</a:t>
              </a:r>
            </a:p>
          </p:txBody>
        </p:sp>
      </p:grpSp>
      <p:grpSp>
        <p:nvGrpSpPr>
          <p:cNvPr id="69" name="footer"/>
          <p:cNvGrpSpPr/>
          <p:nvPr/>
        </p:nvGrpSpPr>
        <p:grpSpPr>
          <a:xfrm>
            <a:off x="528447" y="6581299"/>
            <a:ext cx="11135106" cy="190690"/>
            <a:chOff x="528447" y="6581299"/>
            <a:chExt cx="11135106" cy="190690"/>
          </a:xfrm>
        </p:grpSpPr>
        <p:sp>
          <p:nvSpPr>
            <p:cNvPr id="67" name="TextBox 67"/>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8" name="TextBox 68"/>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8264652" cy="909257"/>
            <a:chOff x="520446" y="342900"/>
            <a:chExt cx="8264652" cy="909257"/>
          </a:xfrm>
        </p:grpSpPr>
        <p:sp>
          <p:nvSpPr>
            <p:cNvPr id="2" name="Rectangle 2"/>
            <p:cNvSpPr/>
            <p:nvPr/>
          </p:nvSpPr>
          <p:spPr>
            <a:xfrm>
              <a:off x="533400" y="342900"/>
              <a:ext cx="2129790" cy="266700"/>
            </a:xfrm>
            <a:prstGeom prst="roundRect">
              <a:avLst>
                <a:gd name="adj" fmla="val 50000"/>
              </a:avLst>
            </a:prstGeom>
            <a:solidFill>
              <a:srgbClr val="E7EDF3"/>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软件与软件危机</a:t>
              </a:r>
            </a:p>
          </p:txBody>
        </p:sp>
        <p:sp>
          <p:nvSpPr>
            <p:cNvPr id="4" name="TextBox 4"/>
            <p:cNvSpPr txBox="1"/>
            <p:nvPr/>
          </p:nvSpPr>
          <p:spPr>
            <a:xfrm>
              <a:off x="520446" y="753428"/>
              <a:ext cx="826465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软件发展的三个时期（二）：质量从靠个人转为靠管理</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3" name="c1-table-1"/>
          <p:cNvGrpSpPr/>
          <p:nvPr/>
        </p:nvGrpSpPr>
        <p:grpSpPr>
          <a:xfrm>
            <a:off x="533400" y="1524000"/>
            <a:ext cx="6708458" cy="4073842"/>
            <a:chOff x="533400" y="1524000"/>
            <a:chExt cx="6708458" cy="4073842"/>
          </a:xfrm>
        </p:grpSpPr>
        <p:sp>
          <p:nvSpPr>
            <p:cNvPr id="7" name="Rectangle 7"/>
            <p:cNvSpPr/>
            <p:nvPr/>
          </p:nvSpPr>
          <p:spPr>
            <a:xfrm>
              <a:off x="533400" y="1524000"/>
              <a:ext cx="6708458" cy="439102"/>
            </a:xfrm>
            <a:prstGeom prst="rect">
              <a:avLst/>
            </a:prstGeom>
            <a:solidFill>
              <a:srgbClr val="334E68"/>
            </a:solidFill>
            <a:ln>
              <a:noFill/>
            </a:ln>
          </p:spPr>
        </p:sp>
        <p:sp>
          <p:nvSpPr>
            <p:cNvPr id="8" name="TextBox 8"/>
            <p:cNvSpPr txBox="1"/>
            <p:nvPr/>
          </p:nvSpPr>
          <p:spPr>
            <a:xfrm>
              <a:off x="915353" y="164877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特点</a:t>
              </a:r>
            </a:p>
          </p:txBody>
        </p:sp>
        <p:sp>
          <p:nvSpPr>
            <p:cNvPr id="9" name="TextBox 9"/>
            <p:cNvSpPr txBox="1"/>
            <p:nvPr/>
          </p:nvSpPr>
          <p:spPr>
            <a:xfrm>
              <a:off x="1792986" y="1648778"/>
              <a:ext cx="110413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程序设计阶段</a:t>
              </a:r>
            </a:p>
          </p:txBody>
        </p:sp>
        <p:sp>
          <p:nvSpPr>
            <p:cNvPr id="10" name="TextBox 10"/>
            <p:cNvSpPr txBox="1"/>
            <p:nvPr/>
          </p:nvSpPr>
          <p:spPr>
            <a:xfrm>
              <a:off x="3268408" y="1648778"/>
              <a:ext cx="110413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程序系统阶段</a:t>
              </a:r>
            </a:p>
          </p:txBody>
        </p:sp>
        <p:sp>
          <p:nvSpPr>
            <p:cNvPr id="11" name="TextBox 11"/>
            <p:cNvSpPr txBox="1"/>
            <p:nvPr/>
          </p:nvSpPr>
          <p:spPr>
            <a:xfrm>
              <a:off x="5382006" y="1648778"/>
              <a:ext cx="110413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软件工程阶段</a:t>
              </a:r>
            </a:p>
          </p:txBody>
        </p:sp>
        <p:sp>
          <p:nvSpPr>
            <p:cNvPr id="12" name="TextBox 12"/>
            <p:cNvSpPr txBox="1"/>
            <p:nvPr/>
          </p:nvSpPr>
          <p:spPr>
            <a:xfrm>
              <a:off x="629412" y="2087880"/>
              <a:ext cx="870966" cy="50406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决定质量的</a:t>
              </a:r>
              <a:br/>
              <a:r>
                <a:rPr lang="zh-CN" sz="1350" b="1" dirty="0">
                  <a:solidFill>
                    <a:srgbClr val="1F2937"/>
                  </a:solidFill>
                  <a:latin typeface="+mn-lt"/>
                  <a:ea typeface="+mn-ea"/>
                  <a:cs typeface="+mn-cs"/>
                </a:rPr>
                <a:t>因素</a:t>
              </a:r>
            </a:p>
          </p:txBody>
        </p:sp>
        <p:sp>
          <p:nvSpPr>
            <p:cNvPr id="13" name="TextBox 13"/>
            <p:cNvSpPr txBox="1"/>
            <p:nvPr/>
          </p:nvSpPr>
          <p:spPr>
            <a:xfrm>
              <a:off x="1769554" y="2207895"/>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个人程序技术</a:t>
              </a:r>
            </a:p>
          </p:txBody>
        </p:sp>
        <p:sp>
          <p:nvSpPr>
            <p:cNvPr id="14" name="TextBox 14"/>
            <p:cNvSpPr txBox="1"/>
            <p:nvPr/>
          </p:nvSpPr>
          <p:spPr>
            <a:xfrm>
              <a:off x="3111627" y="2207895"/>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小组技术水平</a:t>
              </a:r>
            </a:p>
          </p:txBody>
        </p:sp>
        <p:sp>
          <p:nvSpPr>
            <p:cNvPr id="15" name="Rectangle 15"/>
            <p:cNvSpPr/>
            <p:nvPr/>
          </p:nvSpPr>
          <p:spPr>
            <a:xfrm>
              <a:off x="4634865" y="1972628"/>
              <a:ext cx="2597468" cy="660082"/>
            </a:xfrm>
            <a:prstGeom prst="rect">
              <a:avLst/>
            </a:prstGeom>
            <a:solidFill>
              <a:srgbClr val="FDEEE7"/>
            </a:solidFill>
            <a:ln>
              <a:noFill/>
            </a:ln>
          </p:spPr>
        </p:sp>
        <p:sp>
          <p:nvSpPr>
            <p:cNvPr id="16" name="TextBox 16"/>
            <p:cNvSpPr txBox="1"/>
            <p:nvPr/>
          </p:nvSpPr>
          <p:spPr>
            <a:xfrm>
              <a:off x="4721352" y="2207895"/>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管理水平</a:t>
              </a:r>
            </a:p>
          </p:txBody>
        </p:sp>
        <p:sp>
          <p:nvSpPr>
            <p:cNvPr id="17" name="Rectangle 17"/>
            <p:cNvSpPr/>
            <p:nvPr/>
          </p:nvSpPr>
          <p:spPr>
            <a:xfrm>
              <a:off x="533400" y="2637472"/>
              <a:ext cx="6708458" cy="9525"/>
            </a:xfrm>
            <a:prstGeom prst="rect">
              <a:avLst/>
            </a:prstGeom>
            <a:solidFill>
              <a:srgbClr val="D9DFEA"/>
            </a:solidFill>
            <a:ln>
              <a:noFill/>
            </a:ln>
          </p:spPr>
        </p:sp>
        <p:sp>
          <p:nvSpPr>
            <p:cNvPr id="18" name="Rectangle 18"/>
            <p:cNvSpPr/>
            <p:nvPr/>
          </p:nvSpPr>
          <p:spPr>
            <a:xfrm>
              <a:off x="533400" y="2642235"/>
              <a:ext cx="6708458" cy="919162"/>
            </a:xfrm>
            <a:prstGeom prst="rect">
              <a:avLst/>
            </a:prstGeom>
            <a:solidFill>
              <a:srgbClr val="F4F6FB"/>
            </a:solidFill>
            <a:ln>
              <a:noFill/>
            </a:ln>
          </p:spPr>
        </p:sp>
        <p:sp>
          <p:nvSpPr>
            <p:cNvPr id="19" name="TextBox 19"/>
            <p:cNvSpPr txBox="1"/>
            <p:nvPr/>
          </p:nvSpPr>
          <p:spPr>
            <a:xfrm>
              <a:off x="629412" y="2887027"/>
              <a:ext cx="870966" cy="50406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开发技术和</a:t>
              </a:r>
              <a:br/>
              <a:r>
                <a:rPr lang="zh-CN" sz="1350" b="1" dirty="0">
                  <a:solidFill>
                    <a:srgbClr val="1F2937"/>
                  </a:solidFill>
                  <a:latin typeface="+mn-lt"/>
                  <a:ea typeface="+mn-ea"/>
                  <a:cs typeface="+mn-cs"/>
                </a:rPr>
                <a:t>手段</a:t>
              </a:r>
            </a:p>
          </p:txBody>
        </p:sp>
        <p:sp>
          <p:nvSpPr>
            <p:cNvPr id="20" name="TextBox 20"/>
            <p:cNvSpPr txBox="1"/>
            <p:nvPr/>
          </p:nvSpPr>
          <p:spPr>
            <a:xfrm>
              <a:off x="1769554" y="2887027"/>
              <a:ext cx="10424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子程序、程序</a:t>
              </a:r>
              <a:br/>
              <a:r>
                <a:rPr lang="zh-CN" sz="1350" dirty="0">
                  <a:solidFill>
                    <a:srgbClr val="1F2937"/>
                  </a:solidFill>
                  <a:latin typeface="+mn-lt"/>
                  <a:ea typeface="+mn-ea"/>
                  <a:cs typeface="+mn-cs"/>
                </a:rPr>
                <a:t>库</a:t>
              </a:r>
            </a:p>
          </p:txBody>
        </p:sp>
        <p:sp>
          <p:nvSpPr>
            <p:cNvPr id="21" name="TextBox 21"/>
            <p:cNvSpPr txBox="1"/>
            <p:nvPr/>
          </p:nvSpPr>
          <p:spPr>
            <a:xfrm>
              <a:off x="3111627" y="3007042"/>
              <a:ext cx="128587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结构化程序设计</a:t>
              </a:r>
            </a:p>
          </p:txBody>
        </p:sp>
        <p:sp>
          <p:nvSpPr>
            <p:cNvPr id="22" name="TextBox 22"/>
            <p:cNvSpPr txBox="1"/>
            <p:nvPr/>
          </p:nvSpPr>
          <p:spPr>
            <a:xfrm>
              <a:off x="4721352" y="2767012"/>
              <a:ext cx="2242566" cy="74409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数据库、开发工具与环境、标</a:t>
              </a:r>
              <a:br/>
              <a:r>
                <a:rPr lang="zh-CN" sz="1350" dirty="0">
                  <a:solidFill>
                    <a:srgbClr val="1F2937"/>
                  </a:solidFill>
                  <a:latin typeface="+mn-lt"/>
                  <a:ea typeface="+mn-ea"/>
                  <a:cs typeface="+mn-cs"/>
                </a:rPr>
                <a:t>准规范、分布式开发、面向对</a:t>
              </a:r>
              <a:br/>
              <a:r>
                <a:rPr lang="zh-CN" sz="1350" dirty="0">
                  <a:solidFill>
                    <a:srgbClr val="1F2937"/>
                  </a:solidFill>
                  <a:latin typeface="+mn-lt"/>
                  <a:ea typeface="+mn-ea"/>
                  <a:cs typeface="+mn-cs"/>
                </a:rPr>
                <a:t>象技术</a:t>
              </a:r>
            </a:p>
          </p:txBody>
        </p:sp>
        <p:sp>
          <p:nvSpPr>
            <p:cNvPr id="23" name="Rectangle 23"/>
            <p:cNvSpPr/>
            <p:nvPr/>
          </p:nvSpPr>
          <p:spPr>
            <a:xfrm>
              <a:off x="533400" y="3555682"/>
              <a:ext cx="6708458" cy="9525"/>
            </a:xfrm>
            <a:prstGeom prst="rect">
              <a:avLst/>
            </a:prstGeom>
            <a:solidFill>
              <a:srgbClr val="D9DFEA"/>
            </a:solidFill>
            <a:ln>
              <a:noFill/>
            </a:ln>
          </p:spPr>
        </p:sp>
        <p:sp>
          <p:nvSpPr>
            <p:cNvPr id="24" name="TextBox 24"/>
            <p:cNvSpPr txBox="1"/>
            <p:nvPr/>
          </p:nvSpPr>
          <p:spPr>
            <a:xfrm>
              <a:off x="629412" y="3686175"/>
              <a:ext cx="92240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维护责任者</a:t>
              </a:r>
            </a:p>
          </p:txBody>
        </p:sp>
        <p:sp>
          <p:nvSpPr>
            <p:cNvPr id="25" name="TextBox 25"/>
            <p:cNvSpPr txBox="1"/>
            <p:nvPr/>
          </p:nvSpPr>
          <p:spPr>
            <a:xfrm>
              <a:off x="1769554" y="3686175"/>
              <a:ext cx="92240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程序设计者</a:t>
              </a:r>
            </a:p>
          </p:txBody>
        </p:sp>
        <p:sp>
          <p:nvSpPr>
            <p:cNvPr id="26" name="TextBox 26"/>
            <p:cNvSpPr txBox="1"/>
            <p:nvPr/>
          </p:nvSpPr>
          <p:spPr>
            <a:xfrm>
              <a:off x="3111627" y="3686175"/>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开发小组</a:t>
              </a:r>
            </a:p>
          </p:txBody>
        </p:sp>
        <p:sp>
          <p:nvSpPr>
            <p:cNvPr id="27" name="TextBox 27"/>
            <p:cNvSpPr txBox="1"/>
            <p:nvPr/>
          </p:nvSpPr>
          <p:spPr>
            <a:xfrm>
              <a:off x="4721352" y="3686175"/>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专职维护人员</a:t>
              </a:r>
            </a:p>
          </p:txBody>
        </p:sp>
        <p:sp>
          <p:nvSpPr>
            <p:cNvPr id="28" name="Rectangle 28"/>
            <p:cNvSpPr/>
            <p:nvPr/>
          </p:nvSpPr>
          <p:spPr>
            <a:xfrm>
              <a:off x="533400" y="3994785"/>
              <a:ext cx="6708458" cy="9525"/>
            </a:xfrm>
            <a:prstGeom prst="rect">
              <a:avLst/>
            </a:prstGeom>
            <a:solidFill>
              <a:srgbClr val="D9DFEA"/>
            </a:solidFill>
            <a:ln>
              <a:noFill/>
            </a:ln>
          </p:spPr>
        </p:sp>
        <p:sp>
          <p:nvSpPr>
            <p:cNvPr id="29" name="Rectangle 29"/>
            <p:cNvSpPr/>
            <p:nvPr/>
          </p:nvSpPr>
          <p:spPr>
            <a:xfrm>
              <a:off x="533400" y="3999548"/>
              <a:ext cx="6708458" cy="679132"/>
            </a:xfrm>
            <a:prstGeom prst="rect">
              <a:avLst/>
            </a:prstGeom>
            <a:solidFill>
              <a:srgbClr val="F4F6FB"/>
            </a:solidFill>
            <a:ln>
              <a:noFill/>
            </a:ln>
          </p:spPr>
        </p:sp>
        <p:sp>
          <p:nvSpPr>
            <p:cNvPr id="30" name="TextBox 30"/>
            <p:cNvSpPr txBox="1"/>
            <p:nvPr/>
          </p:nvSpPr>
          <p:spPr>
            <a:xfrm>
              <a:off x="629412" y="4245292"/>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硬件特征</a:t>
              </a:r>
            </a:p>
          </p:txBody>
        </p:sp>
        <p:sp>
          <p:nvSpPr>
            <p:cNvPr id="31" name="TextBox 31"/>
            <p:cNvSpPr txBox="1"/>
            <p:nvPr/>
          </p:nvSpPr>
          <p:spPr>
            <a:xfrm>
              <a:off x="1769554" y="4125277"/>
              <a:ext cx="10424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价格高、容量</a:t>
              </a:r>
              <a:br/>
              <a:r>
                <a:rPr lang="zh-CN" sz="1350" dirty="0">
                  <a:solidFill>
                    <a:srgbClr val="1F2937"/>
                  </a:solidFill>
                  <a:latin typeface="+mn-lt"/>
                  <a:ea typeface="+mn-ea"/>
                  <a:cs typeface="+mn-cs"/>
                </a:rPr>
                <a:t>小、可靠性差</a:t>
              </a:r>
            </a:p>
          </p:txBody>
        </p:sp>
        <p:sp>
          <p:nvSpPr>
            <p:cNvPr id="32" name="TextBox 32"/>
            <p:cNvSpPr txBox="1"/>
            <p:nvPr/>
          </p:nvSpPr>
          <p:spPr>
            <a:xfrm>
              <a:off x="3111627" y="4125277"/>
              <a:ext cx="12138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降价，速度容量</a:t>
              </a:r>
              <a:br/>
              <a:r>
                <a:rPr lang="zh-CN" sz="1350" dirty="0">
                  <a:solidFill>
                    <a:srgbClr val="1F2937"/>
                  </a:solidFill>
                  <a:latin typeface="+mn-lt"/>
                  <a:ea typeface="+mn-ea"/>
                  <a:cs typeface="+mn-cs"/>
                </a:rPr>
                <a:t>和可靠性提高</a:t>
              </a:r>
            </a:p>
          </p:txBody>
        </p:sp>
        <p:sp>
          <p:nvSpPr>
            <p:cNvPr id="33" name="TextBox 33"/>
            <p:cNvSpPr txBox="1"/>
            <p:nvPr/>
          </p:nvSpPr>
          <p:spPr>
            <a:xfrm>
              <a:off x="4721352" y="4125277"/>
              <a:ext cx="22425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超高速、大容量、微型化、网</a:t>
              </a:r>
              <a:br/>
              <a:r>
                <a:rPr lang="zh-CN" sz="1350" dirty="0">
                  <a:solidFill>
                    <a:srgbClr val="1F2937"/>
                  </a:solidFill>
                  <a:latin typeface="+mn-lt"/>
                  <a:ea typeface="+mn-ea"/>
                  <a:cs typeface="+mn-cs"/>
                </a:rPr>
                <a:t>络化</a:t>
              </a:r>
            </a:p>
          </p:txBody>
        </p:sp>
        <p:sp>
          <p:nvSpPr>
            <p:cNvPr id="34" name="Rectangle 34"/>
            <p:cNvSpPr/>
            <p:nvPr/>
          </p:nvSpPr>
          <p:spPr>
            <a:xfrm>
              <a:off x="533400" y="4673918"/>
              <a:ext cx="6708458" cy="9525"/>
            </a:xfrm>
            <a:prstGeom prst="rect">
              <a:avLst/>
            </a:prstGeom>
            <a:solidFill>
              <a:srgbClr val="D9DFEA"/>
            </a:solidFill>
            <a:ln>
              <a:noFill/>
            </a:ln>
          </p:spPr>
        </p:sp>
        <p:sp>
          <p:nvSpPr>
            <p:cNvPr id="35" name="TextBox 35"/>
            <p:cNvSpPr txBox="1"/>
            <p:nvPr/>
          </p:nvSpPr>
          <p:spPr>
            <a:xfrm>
              <a:off x="629412" y="5043488"/>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软件特征</a:t>
              </a:r>
            </a:p>
          </p:txBody>
        </p:sp>
        <p:sp>
          <p:nvSpPr>
            <p:cNvPr id="36" name="TextBox 36"/>
            <p:cNvSpPr txBox="1"/>
            <p:nvPr/>
          </p:nvSpPr>
          <p:spPr>
            <a:xfrm>
              <a:off x="1769554" y="5043488"/>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完全不受重视</a:t>
              </a:r>
            </a:p>
          </p:txBody>
        </p:sp>
        <p:sp>
          <p:nvSpPr>
            <p:cNvPr id="37" name="TextBox 37"/>
            <p:cNvSpPr txBox="1"/>
            <p:nvPr/>
          </p:nvSpPr>
          <p:spPr>
            <a:xfrm>
              <a:off x="3111627" y="4803458"/>
              <a:ext cx="1213866" cy="74409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技术跟不上需</a:t>
              </a:r>
              <a:br/>
              <a:r>
                <a:rPr lang="zh-CN" sz="1350" dirty="0">
                  <a:solidFill>
                    <a:srgbClr val="1F2937"/>
                  </a:solidFill>
                  <a:latin typeface="+mn-lt"/>
                  <a:ea typeface="+mn-ea"/>
                  <a:cs typeface="+mn-cs"/>
                </a:rPr>
                <a:t>要，出现软件危</a:t>
              </a:r>
              <a:br/>
              <a:r>
                <a:rPr lang="zh-CN" sz="1350" dirty="0">
                  <a:solidFill>
                    <a:srgbClr val="1F2937"/>
                  </a:solidFill>
                  <a:latin typeface="+mn-lt"/>
                  <a:ea typeface="+mn-ea"/>
                  <a:cs typeface="+mn-cs"/>
                </a:rPr>
                <a:t>机</a:t>
              </a:r>
            </a:p>
          </p:txBody>
        </p:sp>
        <p:sp>
          <p:nvSpPr>
            <p:cNvPr id="38" name="TextBox 38"/>
            <p:cNvSpPr txBox="1"/>
            <p:nvPr/>
          </p:nvSpPr>
          <p:spPr>
            <a:xfrm>
              <a:off x="4721352" y="4923473"/>
              <a:ext cx="22425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技术有进步但未突破，未完全</a:t>
              </a:r>
              <a:br/>
              <a:r>
                <a:rPr lang="zh-CN" sz="1350" dirty="0">
                  <a:solidFill>
                    <a:srgbClr val="1F2937"/>
                  </a:solidFill>
                  <a:latin typeface="+mn-lt"/>
                  <a:ea typeface="+mn-ea"/>
                  <a:cs typeface="+mn-cs"/>
                </a:rPr>
                <a:t>摆脱危机</a:t>
              </a:r>
            </a:p>
          </p:txBody>
        </p:sp>
        <p:sp>
          <p:nvSpPr>
            <p:cNvPr id="39" name="Rectangle 39"/>
            <p:cNvSpPr/>
            <p:nvPr/>
          </p:nvSpPr>
          <p:spPr>
            <a:xfrm>
              <a:off x="533400" y="1524000"/>
              <a:ext cx="6708458" cy="4073842"/>
            </a:xfrm>
            <a:prstGeom prst="rect">
              <a:avLst/>
            </a:prstGeom>
            <a:noFill/>
            <a:ln w="14288">
              <a:solidFill>
                <a:srgbClr val="D9DFEA"/>
              </a:solidFill>
            </a:ln>
          </p:spPr>
        </p:sp>
        <p:sp>
          <p:nvSpPr>
            <p:cNvPr id="40" name="Rectangle 40"/>
            <p:cNvSpPr/>
            <p:nvPr/>
          </p:nvSpPr>
          <p:spPr>
            <a:xfrm>
              <a:off x="1668780" y="1524000"/>
              <a:ext cx="9525" cy="4073842"/>
            </a:xfrm>
            <a:prstGeom prst="rect">
              <a:avLst/>
            </a:prstGeom>
            <a:solidFill>
              <a:srgbClr val="D9DFEA"/>
            </a:solidFill>
            <a:ln>
              <a:noFill/>
            </a:ln>
          </p:spPr>
        </p:sp>
        <p:sp>
          <p:nvSpPr>
            <p:cNvPr id="41" name="Rectangle 41"/>
            <p:cNvSpPr/>
            <p:nvPr/>
          </p:nvSpPr>
          <p:spPr>
            <a:xfrm>
              <a:off x="3010852" y="1524000"/>
              <a:ext cx="9525" cy="4073842"/>
            </a:xfrm>
            <a:prstGeom prst="rect">
              <a:avLst/>
            </a:prstGeom>
            <a:solidFill>
              <a:srgbClr val="D9DFEA"/>
            </a:solidFill>
            <a:ln>
              <a:noFill/>
            </a:ln>
          </p:spPr>
        </p:sp>
        <p:sp>
          <p:nvSpPr>
            <p:cNvPr id="42" name="Rectangle 42"/>
            <p:cNvSpPr/>
            <p:nvPr/>
          </p:nvSpPr>
          <p:spPr>
            <a:xfrm>
              <a:off x="4620578" y="1524000"/>
              <a:ext cx="9525" cy="4073842"/>
            </a:xfrm>
            <a:prstGeom prst="rect">
              <a:avLst/>
            </a:prstGeom>
            <a:solidFill>
              <a:srgbClr val="D9DFEA"/>
            </a:solidFill>
            <a:ln>
              <a:noFill/>
            </a:ln>
          </p:spPr>
        </p:sp>
      </p:grpSp>
      <p:grpSp>
        <p:nvGrpSpPr>
          <p:cNvPr id="86" name="c2-table-1"/>
          <p:cNvGrpSpPr/>
          <p:nvPr/>
        </p:nvGrpSpPr>
        <p:grpSpPr>
          <a:xfrm>
            <a:off x="7541704" y="1524000"/>
            <a:ext cx="4116896" cy="3336321"/>
            <a:chOff x="7541704" y="1524000"/>
            <a:chExt cx="4116896" cy="3336321"/>
          </a:xfrm>
        </p:grpSpPr>
        <p:sp>
          <p:nvSpPr>
            <p:cNvPr id="44" name="Rectangle 44"/>
            <p:cNvSpPr/>
            <p:nvPr/>
          </p:nvSpPr>
          <p:spPr>
            <a:xfrm>
              <a:off x="7546658" y="1524000"/>
              <a:ext cx="4111942" cy="439102"/>
            </a:xfrm>
            <a:prstGeom prst="rect">
              <a:avLst/>
            </a:prstGeom>
            <a:solidFill>
              <a:srgbClr val="334E68"/>
            </a:solidFill>
            <a:ln>
              <a:noFill/>
            </a:ln>
          </p:spPr>
        </p:sp>
        <p:sp>
          <p:nvSpPr>
            <p:cNvPr id="45" name="TextBox 45"/>
            <p:cNvSpPr txBox="1"/>
            <p:nvPr/>
          </p:nvSpPr>
          <p:spPr>
            <a:xfrm>
              <a:off x="7743825" y="164877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类别</a:t>
              </a:r>
            </a:p>
          </p:txBody>
        </p:sp>
        <p:sp>
          <p:nvSpPr>
            <p:cNvPr id="46" name="TextBox 46"/>
            <p:cNvSpPr txBox="1"/>
            <p:nvPr/>
          </p:nvSpPr>
          <p:spPr>
            <a:xfrm>
              <a:off x="8523160" y="1648778"/>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参加人数</a:t>
              </a:r>
            </a:p>
          </p:txBody>
        </p:sp>
        <p:sp>
          <p:nvSpPr>
            <p:cNvPr id="47" name="TextBox 47"/>
            <p:cNvSpPr txBox="1"/>
            <p:nvPr/>
          </p:nvSpPr>
          <p:spPr>
            <a:xfrm>
              <a:off x="9569006" y="1648778"/>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研制期限</a:t>
              </a:r>
            </a:p>
          </p:txBody>
        </p:sp>
        <p:sp>
          <p:nvSpPr>
            <p:cNvPr id="48" name="TextBox 48"/>
            <p:cNvSpPr txBox="1"/>
            <p:nvPr/>
          </p:nvSpPr>
          <p:spPr>
            <a:xfrm>
              <a:off x="10573512" y="1648778"/>
              <a:ext cx="92240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源程序行数</a:t>
              </a:r>
            </a:p>
          </p:txBody>
        </p:sp>
        <p:sp>
          <p:nvSpPr>
            <p:cNvPr id="49" name="TextBox 49"/>
            <p:cNvSpPr txBox="1"/>
            <p:nvPr/>
          </p:nvSpPr>
          <p:spPr>
            <a:xfrm>
              <a:off x="7642670" y="2087880"/>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微型</a:t>
              </a:r>
            </a:p>
          </p:txBody>
        </p:sp>
        <p:sp>
          <p:nvSpPr>
            <p:cNvPr id="50" name="TextBox 50"/>
            <p:cNvSpPr txBox="1"/>
            <p:nvPr/>
          </p:nvSpPr>
          <p:spPr>
            <a:xfrm>
              <a:off x="8836657" y="2087880"/>
              <a:ext cx="113671"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1</a:t>
              </a:r>
            </a:p>
          </p:txBody>
        </p:sp>
        <p:sp>
          <p:nvSpPr>
            <p:cNvPr id="51" name="TextBox 51"/>
            <p:cNvSpPr txBox="1"/>
            <p:nvPr/>
          </p:nvSpPr>
          <p:spPr>
            <a:xfrm>
              <a:off x="9664417" y="2087880"/>
              <a:ext cx="549840"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1~4 周</a:t>
              </a:r>
            </a:p>
          </p:txBody>
        </p:sp>
        <p:sp>
          <p:nvSpPr>
            <p:cNvPr id="52" name="TextBox 52"/>
            <p:cNvSpPr txBox="1"/>
            <p:nvPr/>
          </p:nvSpPr>
          <p:spPr>
            <a:xfrm>
              <a:off x="10827944" y="2087880"/>
              <a:ext cx="413537"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0.5k</a:t>
              </a:r>
            </a:p>
          </p:txBody>
        </p:sp>
        <p:sp>
          <p:nvSpPr>
            <p:cNvPr id="53" name="Rectangle 53"/>
            <p:cNvSpPr/>
            <p:nvPr/>
          </p:nvSpPr>
          <p:spPr>
            <a:xfrm>
              <a:off x="7546658" y="2397442"/>
              <a:ext cx="4111942" cy="9525"/>
            </a:xfrm>
            <a:prstGeom prst="rect">
              <a:avLst/>
            </a:prstGeom>
            <a:solidFill>
              <a:srgbClr val="D9DFEA"/>
            </a:solidFill>
            <a:ln>
              <a:noFill/>
            </a:ln>
          </p:spPr>
        </p:sp>
        <p:sp>
          <p:nvSpPr>
            <p:cNvPr id="54" name="Rectangle 54"/>
            <p:cNvSpPr/>
            <p:nvPr/>
          </p:nvSpPr>
          <p:spPr>
            <a:xfrm>
              <a:off x="7546658" y="2402205"/>
              <a:ext cx="4111942" cy="439102"/>
            </a:xfrm>
            <a:prstGeom prst="rect">
              <a:avLst/>
            </a:prstGeom>
            <a:solidFill>
              <a:srgbClr val="F4F6FB"/>
            </a:solidFill>
            <a:ln>
              <a:noFill/>
            </a:ln>
          </p:spPr>
        </p:sp>
        <p:sp>
          <p:nvSpPr>
            <p:cNvPr id="55" name="TextBox 55"/>
            <p:cNvSpPr txBox="1"/>
            <p:nvPr/>
          </p:nvSpPr>
          <p:spPr>
            <a:xfrm>
              <a:off x="7642670" y="2526982"/>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小型</a:t>
              </a:r>
            </a:p>
          </p:txBody>
        </p:sp>
        <p:sp>
          <p:nvSpPr>
            <p:cNvPr id="56" name="TextBox 56"/>
            <p:cNvSpPr txBox="1"/>
            <p:nvPr/>
          </p:nvSpPr>
          <p:spPr>
            <a:xfrm>
              <a:off x="8836657" y="2526982"/>
              <a:ext cx="113671"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1</a:t>
              </a:r>
            </a:p>
          </p:txBody>
        </p:sp>
        <p:sp>
          <p:nvSpPr>
            <p:cNvPr id="57" name="TextBox 57"/>
            <p:cNvSpPr txBox="1"/>
            <p:nvPr/>
          </p:nvSpPr>
          <p:spPr>
            <a:xfrm>
              <a:off x="9664417" y="2526982"/>
              <a:ext cx="549840"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1~6 月</a:t>
              </a:r>
            </a:p>
          </p:txBody>
        </p:sp>
        <p:sp>
          <p:nvSpPr>
            <p:cNvPr id="58" name="TextBox 58"/>
            <p:cNvSpPr txBox="1"/>
            <p:nvPr/>
          </p:nvSpPr>
          <p:spPr>
            <a:xfrm>
              <a:off x="10827944" y="2526982"/>
              <a:ext cx="413537"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1~2k</a:t>
              </a:r>
            </a:p>
          </p:txBody>
        </p:sp>
        <p:sp>
          <p:nvSpPr>
            <p:cNvPr id="59" name="Rectangle 59"/>
            <p:cNvSpPr/>
            <p:nvPr/>
          </p:nvSpPr>
          <p:spPr>
            <a:xfrm>
              <a:off x="7546658" y="2835592"/>
              <a:ext cx="4111942" cy="9525"/>
            </a:xfrm>
            <a:prstGeom prst="rect">
              <a:avLst/>
            </a:prstGeom>
            <a:solidFill>
              <a:srgbClr val="D9DFEA"/>
            </a:solidFill>
            <a:ln>
              <a:noFill/>
            </a:ln>
          </p:spPr>
        </p:sp>
        <p:sp>
          <p:nvSpPr>
            <p:cNvPr id="60" name="TextBox 60"/>
            <p:cNvSpPr txBox="1"/>
            <p:nvPr/>
          </p:nvSpPr>
          <p:spPr>
            <a:xfrm>
              <a:off x="7642670" y="2966085"/>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中型</a:t>
              </a:r>
            </a:p>
          </p:txBody>
        </p:sp>
        <p:sp>
          <p:nvSpPr>
            <p:cNvPr id="61" name="TextBox 61"/>
            <p:cNvSpPr txBox="1"/>
            <p:nvPr/>
          </p:nvSpPr>
          <p:spPr>
            <a:xfrm>
              <a:off x="8736701" y="2966085"/>
              <a:ext cx="313582"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2~5</a:t>
              </a:r>
            </a:p>
          </p:txBody>
        </p:sp>
        <p:sp>
          <p:nvSpPr>
            <p:cNvPr id="62" name="TextBox 62"/>
            <p:cNvSpPr txBox="1"/>
            <p:nvPr/>
          </p:nvSpPr>
          <p:spPr>
            <a:xfrm>
              <a:off x="9664417" y="2966085"/>
              <a:ext cx="549840"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1~2 年</a:t>
              </a:r>
            </a:p>
          </p:txBody>
        </p:sp>
        <p:sp>
          <p:nvSpPr>
            <p:cNvPr id="63" name="TextBox 63"/>
            <p:cNvSpPr txBox="1"/>
            <p:nvPr/>
          </p:nvSpPr>
          <p:spPr>
            <a:xfrm>
              <a:off x="10727988" y="2966085"/>
              <a:ext cx="613448"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5k~50k</a:t>
              </a:r>
            </a:p>
          </p:txBody>
        </p:sp>
        <p:sp>
          <p:nvSpPr>
            <p:cNvPr id="64" name="Rectangle 64"/>
            <p:cNvSpPr/>
            <p:nvPr/>
          </p:nvSpPr>
          <p:spPr>
            <a:xfrm>
              <a:off x="7546658" y="3274695"/>
              <a:ext cx="4111942" cy="9525"/>
            </a:xfrm>
            <a:prstGeom prst="rect">
              <a:avLst/>
            </a:prstGeom>
            <a:solidFill>
              <a:srgbClr val="D9DFEA"/>
            </a:solidFill>
            <a:ln>
              <a:noFill/>
            </a:ln>
          </p:spPr>
        </p:sp>
        <p:sp>
          <p:nvSpPr>
            <p:cNvPr id="65" name="Rectangle 65"/>
            <p:cNvSpPr/>
            <p:nvPr/>
          </p:nvSpPr>
          <p:spPr>
            <a:xfrm>
              <a:off x="7546658" y="3279458"/>
              <a:ext cx="4111942" cy="439102"/>
            </a:xfrm>
            <a:prstGeom prst="rect">
              <a:avLst/>
            </a:prstGeom>
            <a:solidFill>
              <a:srgbClr val="F4F6FB"/>
            </a:solidFill>
            <a:ln>
              <a:noFill/>
            </a:ln>
          </p:spPr>
        </p:sp>
        <p:sp>
          <p:nvSpPr>
            <p:cNvPr id="66" name="TextBox 66"/>
            <p:cNvSpPr txBox="1"/>
            <p:nvPr/>
          </p:nvSpPr>
          <p:spPr>
            <a:xfrm>
              <a:off x="7642670" y="3405188"/>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大型</a:t>
              </a:r>
            </a:p>
          </p:txBody>
        </p:sp>
        <p:sp>
          <p:nvSpPr>
            <p:cNvPr id="67" name="TextBox 67"/>
            <p:cNvSpPr txBox="1"/>
            <p:nvPr/>
          </p:nvSpPr>
          <p:spPr>
            <a:xfrm>
              <a:off x="8686724" y="3405188"/>
              <a:ext cx="413537"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5~20</a:t>
              </a:r>
            </a:p>
          </p:txBody>
        </p:sp>
        <p:sp>
          <p:nvSpPr>
            <p:cNvPr id="68" name="TextBox 68"/>
            <p:cNvSpPr txBox="1"/>
            <p:nvPr/>
          </p:nvSpPr>
          <p:spPr>
            <a:xfrm>
              <a:off x="9664417" y="3405188"/>
              <a:ext cx="549840"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2~3 年</a:t>
              </a:r>
            </a:p>
          </p:txBody>
        </p:sp>
        <p:sp>
          <p:nvSpPr>
            <p:cNvPr id="69" name="TextBox 69"/>
            <p:cNvSpPr txBox="1"/>
            <p:nvPr/>
          </p:nvSpPr>
          <p:spPr>
            <a:xfrm>
              <a:off x="10628033" y="3405188"/>
              <a:ext cx="813359"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50k~100k</a:t>
              </a:r>
            </a:p>
          </p:txBody>
        </p:sp>
        <p:sp>
          <p:nvSpPr>
            <p:cNvPr id="70" name="Rectangle 70"/>
            <p:cNvSpPr/>
            <p:nvPr/>
          </p:nvSpPr>
          <p:spPr>
            <a:xfrm>
              <a:off x="7546658" y="3713798"/>
              <a:ext cx="4111942" cy="9525"/>
            </a:xfrm>
            <a:prstGeom prst="rect">
              <a:avLst/>
            </a:prstGeom>
            <a:solidFill>
              <a:srgbClr val="D9DFEA"/>
            </a:solidFill>
            <a:ln>
              <a:noFill/>
            </a:ln>
          </p:spPr>
        </p:sp>
        <p:sp>
          <p:nvSpPr>
            <p:cNvPr id="71" name="TextBox 71"/>
            <p:cNvSpPr txBox="1"/>
            <p:nvPr/>
          </p:nvSpPr>
          <p:spPr>
            <a:xfrm>
              <a:off x="7642670" y="3843338"/>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甚大型</a:t>
              </a:r>
            </a:p>
          </p:txBody>
        </p:sp>
        <p:sp>
          <p:nvSpPr>
            <p:cNvPr id="72" name="TextBox 72"/>
            <p:cNvSpPr txBox="1"/>
            <p:nvPr/>
          </p:nvSpPr>
          <p:spPr>
            <a:xfrm>
              <a:off x="8486813" y="3843338"/>
              <a:ext cx="813359"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100~1000</a:t>
              </a:r>
            </a:p>
          </p:txBody>
        </p:sp>
        <p:sp>
          <p:nvSpPr>
            <p:cNvPr id="73" name="TextBox 73"/>
            <p:cNvSpPr txBox="1"/>
            <p:nvPr/>
          </p:nvSpPr>
          <p:spPr>
            <a:xfrm>
              <a:off x="9664417" y="3843338"/>
              <a:ext cx="549840"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4~5 年</a:t>
              </a:r>
            </a:p>
          </p:txBody>
        </p:sp>
        <p:sp>
          <p:nvSpPr>
            <p:cNvPr id="74" name="TextBox 74"/>
            <p:cNvSpPr txBox="1"/>
            <p:nvPr/>
          </p:nvSpPr>
          <p:spPr>
            <a:xfrm>
              <a:off x="10528078" y="3843338"/>
              <a:ext cx="1013270"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100k~1000k</a:t>
              </a:r>
            </a:p>
          </p:txBody>
        </p:sp>
        <p:sp>
          <p:nvSpPr>
            <p:cNvPr id="75" name="Rectangle 75"/>
            <p:cNvSpPr/>
            <p:nvPr/>
          </p:nvSpPr>
          <p:spPr>
            <a:xfrm>
              <a:off x="7546658" y="4152900"/>
              <a:ext cx="4111942" cy="9525"/>
            </a:xfrm>
            <a:prstGeom prst="rect">
              <a:avLst/>
            </a:prstGeom>
            <a:solidFill>
              <a:srgbClr val="D9DFEA"/>
            </a:solidFill>
            <a:ln>
              <a:noFill/>
            </a:ln>
          </p:spPr>
        </p:sp>
        <p:sp>
          <p:nvSpPr>
            <p:cNvPr id="76" name="Rectangle 76"/>
            <p:cNvSpPr/>
            <p:nvPr/>
          </p:nvSpPr>
          <p:spPr>
            <a:xfrm>
              <a:off x="7546658" y="4157662"/>
              <a:ext cx="4111942" cy="439102"/>
            </a:xfrm>
            <a:prstGeom prst="rect">
              <a:avLst/>
            </a:prstGeom>
            <a:solidFill>
              <a:srgbClr val="F4F6FB"/>
            </a:solidFill>
            <a:ln>
              <a:noFill/>
            </a:ln>
          </p:spPr>
        </p:sp>
        <p:sp>
          <p:nvSpPr>
            <p:cNvPr id="77" name="TextBox 77"/>
            <p:cNvSpPr txBox="1"/>
            <p:nvPr/>
          </p:nvSpPr>
          <p:spPr>
            <a:xfrm>
              <a:off x="7642670" y="4282440"/>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极大型</a:t>
              </a:r>
            </a:p>
          </p:txBody>
        </p:sp>
        <p:sp>
          <p:nvSpPr>
            <p:cNvPr id="78" name="TextBox 78"/>
            <p:cNvSpPr txBox="1"/>
            <p:nvPr/>
          </p:nvSpPr>
          <p:spPr>
            <a:xfrm>
              <a:off x="8436835" y="4282440"/>
              <a:ext cx="913314"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2000~5000</a:t>
              </a:r>
            </a:p>
          </p:txBody>
        </p:sp>
        <p:sp>
          <p:nvSpPr>
            <p:cNvPr id="79" name="TextBox 79"/>
            <p:cNvSpPr txBox="1"/>
            <p:nvPr/>
          </p:nvSpPr>
          <p:spPr>
            <a:xfrm>
              <a:off x="9614440" y="4282440"/>
              <a:ext cx="649796"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5~10 年</a:t>
              </a:r>
            </a:p>
          </p:txBody>
        </p:sp>
        <p:sp>
          <p:nvSpPr>
            <p:cNvPr id="80" name="TextBox 80"/>
            <p:cNvSpPr txBox="1"/>
            <p:nvPr/>
          </p:nvSpPr>
          <p:spPr>
            <a:xfrm>
              <a:off x="10672610" y="4282440"/>
              <a:ext cx="724205"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1M~10M</a:t>
              </a:r>
            </a:p>
          </p:txBody>
        </p:sp>
        <p:sp>
          <p:nvSpPr>
            <p:cNvPr id="81" name="Rectangle 81"/>
            <p:cNvSpPr/>
            <p:nvPr/>
          </p:nvSpPr>
          <p:spPr>
            <a:xfrm>
              <a:off x="7546658" y="1524000"/>
              <a:ext cx="4111942" cy="3072765"/>
            </a:xfrm>
            <a:prstGeom prst="rect">
              <a:avLst/>
            </a:prstGeom>
            <a:noFill/>
            <a:ln w="14288">
              <a:solidFill>
                <a:srgbClr val="D9DFEA"/>
              </a:solidFill>
            </a:ln>
          </p:spPr>
        </p:sp>
        <p:sp>
          <p:nvSpPr>
            <p:cNvPr id="82" name="Rectangle 82"/>
            <p:cNvSpPr/>
            <p:nvPr/>
          </p:nvSpPr>
          <p:spPr>
            <a:xfrm>
              <a:off x="8314372" y="1524000"/>
              <a:ext cx="9525" cy="3072765"/>
            </a:xfrm>
            <a:prstGeom prst="rect">
              <a:avLst/>
            </a:prstGeom>
            <a:solidFill>
              <a:srgbClr val="D9DFEA"/>
            </a:solidFill>
            <a:ln>
              <a:noFill/>
            </a:ln>
          </p:spPr>
        </p:sp>
        <p:sp>
          <p:nvSpPr>
            <p:cNvPr id="83" name="Rectangle 83"/>
            <p:cNvSpPr/>
            <p:nvPr/>
          </p:nvSpPr>
          <p:spPr>
            <a:xfrm>
              <a:off x="9463088" y="1524000"/>
              <a:ext cx="9525" cy="3072765"/>
            </a:xfrm>
            <a:prstGeom prst="rect">
              <a:avLst/>
            </a:prstGeom>
            <a:solidFill>
              <a:srgbClr val="D9DFEA"/>
            </a:solidFill>
            <a:ln>
              <a:noFill/>
            </a:ln>
          </p:spPr>
        </p:sp>
        <p:sp>
          <p:nvSpPr>
            <p:cNvPr id="84" name="Rectangle 84"/>
            <p:cNvSpPr/>
            <p:nvPr/>
          </p:nvSpPr>
          <p:spPr>
            <a:xfrm>
              <a:off x="10406062" y="1524000"/>
              <a:ext cx="9525" cy="3072765"/>
            </a:xfrm>
            <a:prstGeom prst="rect">
              <a:avLst/>
            </a:prstGeom>
            <a:solidFill>
              <a:srgbClr val="D9DFEA"/>
            </a:solidFill>
            <a:ln>
              <a:noFill/>
            </a:ln>
          </p:spPr>
        </p:sp>
        <p:sp>
          <p:nvSpPr>
            <p:cNvPr id="85" name="TextBox 85"/>
            <p:cNvSpPr txBox="1"/>
            <p:nvPr/>
          </p:nvSpPr>
          <p:spPr>
            <a:xfrm>
              <a:off x="7541704" y="4669631"/>
              <a:ext cx="933399"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软件规模的分类</a:t>
              </a:r>
            </a:p>
          </p:txBody>
        </p:sp>
      </p:grpSp>
      <p:grpSp>
        <p:nvGrpSpPr>
          <p:cNvPr id="92" name="takeaway"/>
          <p:cNvGrpSpPr/>
          <p:nvPr/>
        </p:nvGrpSpPr>
        <p:grpSpPr>
          <a:xfrm>
            <a:off x="533400" y="5881688"/>
            <a:ext cx="11125200" cy="481012"/>
            <a:chOff x="533400" y="5881688"/>
            <a:chExt cx="11125200" cy="481012"/>
          </a:xfrm>
        </p:grpSpPr>
        <p:sp>
          <p:nvSpPr>
            <p:cNvPr id="87" name="Rectangle 87"/>
            <p:cNvSpPr/>
            <p:nvPr/>
          </p:nvSpPr>
          <p:spPr>
            <a:xfrm>
              <a:off x="533400" y="5881688"/>
              <a:ext cx="11125200" cy="481012"/>
            </a:xfrm>
            <a:prstGeom prst="roundRect">
              <a:avLst>
                <a:gd name="adj" fmla="val 23762"/>
              </a:avLst>
            </a:prstGeom>
            <a:solidFill>
              <a:srgbClr val="334E68"/>
            </a:solidFill>
            <a:ln>
              <a:noFill/>
            </a:ln>
          </p:spPr>
        </p:sp>
        <p:grpSp>
          <p:nvGrpSpPr>
            <p:cNvPr id="90" name="Group 90"/>
            <p:cNvGrpSpPr/>
            <p:nvPr/>
          </p:nvGrpSpPr>
          <p:grpSpPr>
            <a:xfrm>
              <a:off x="738188" y="6022660"/>
              <a:ext cx="200023" cy="200023"/>
              <a:chOff x="738188" y="6022660"/>
              <a:chExt cx="200023" cy="200023"/>
            </a:xfrm>
          </p:grpSpPr>
          <p:sp>
            <p:nvSpPr>
              <p:cNvPr id="88" name="Freeform 88"/>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89" name="Freeform 89"/>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91" name="TextBox 91"/>
            <p:cNvSpPr txBox="1"/>
            <p:nvPr/>
          </p:nvSpPr>
          <p:spPr>
            <a:xfrm>
              <a:off x="1040892" y="6028373"/>
              <a:ext cx="7683017"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三个时期的分界线是“软件指什么”和“谁来保证质量”：从个人技术到小组技术，再到管理水平。</a:t>
              </a:r>
            </a:p>
          </p:txBody>
        </p:sp>
      </p:grpSp>
      <p:grpSp>
        <p:nvGrpSpPr>
          <p:cNvPr id="95" name="footer"/>
          <p:cNvGrpSpPr/>
          <p:nvPr/>
        </p:nvGrpSpPr>
        <p:grpSpPr>
          <a:xfrm>
            <a:off x="528447" y="6581299"/>
            <a:ext cx="11135106" cy="190690"/>
            <a:chOff x="528447" y="6581299"/>
            <a:chExt cx="11135106" cy="190690"/>
          </a:xfrm>
        </p:grpSpPr>
        <p:sp>
          <p:nvSpPr>
            <p:cNvPr id="93" name="TextBox 93"/>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94" name="TextBox 94"/>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921371" cy="909257"/>
            <a:chOff x="520446" y="342900"/>
            <a:chExt cx="7921371" cy="909257"/>
          </a:xfrm>
        </p:grpSpPr>
        <p:sp>
          <p:nvSpPr>
            <p:cNvPr id="2" name="Rectangle 2"/>
            <p:cNvSpPr/>
            <p:nvPr/>
          </p:nvSpPr>
          <p:spPr>
            <a:xfrm>
              <a:off x="533400" y="342900"/>
              <a:ext cx="2129790" cy="266700"/>
            </a:xfrm>
            <a:prstGeom prst="roundRect">
              <a:avLst>
                <a:gd name="adj" fmla="val 50000"/>
              </a:avLst>
            </a:prstGeom>
            <a:solidFill>
              <a:srgbClr val="E7EDF3"/>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软件与软件危机</a:t>
              </a:r>
            </a:p>
          </p:txBody>
        </p:sp>
        <p:sp>
          <p:nvSpPr>
            <p:cNvPr id="4" name="TextBox 4"/>
            <p:cNvSpPr txBox="1"/>
            <p:nvPr/>
          </p:nvSpPr>
          <p:spPr>
            <a:xfrm>
              <a:off x="520446" y="753428"/>
              <a:ext cx="792137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软件危机：开发和维护软件时遇到的一系列严重问题</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7" name="c1-card-1"/>
          <p:cNvGrpSpPr/>
          <p:nvPr/>
        </p:nvGrpSpPr>
        <p:grpSpPr>
          <a:xfrm>
            <a:off x="533400" y="1524000"/>
            <a:ext cx="4760595" cy="2863215"/>
            <a:chOff x="533400" y="1524000"/>
            <a:chExt cx="4760595" cy="2863215"/>
          </a:xfrm>
        </p:grpSpPr>
        <p:sp>
          <p:nvSpPr>
            <p:cNvPr id="7" name="Rectangle 7"/>
            <p:cNvSpPr/>
            <p:nvPr/>
          </p:nvSpPr>
          <p:spPr>
            <a:xfrm>
              <a:off x="533400" y="1524000"/>
              <a:ext cx="4760595" cy="2863215"/>
            </a:xfrm>
            <a:prstGeom prst="roundRect">
              <a:avLst>
                <a:gd name="adj" fmla="val 4657"/>
              </a:avLst>
            </a:prstGeom>
            <a:solidFill>
              <a:srgbClr val="FFFFFF"/>
            </a:solidFill>
            <a:ln w="14288">
              <a:solidFill>
                <a:srgbClr val="D9DFEA"/>
              </a:solidFill>
            </a:ln>
          </p:spPr>
        </p:sp>
        <p:sp>
          <p:nvSpPr>
            <p:cNvPr id="8" name="Rectangle 8"/>
            <p:cNvSpPr/>
            <p:nvPr/>
          </p:nvSpPr>
          <p:spPr>
            <a:xfrm>
              <a:off x="542925" y="1657350"/>
              <a:ext cx="47625" cy="2596515"/>
            </a:xfrm>
            <a:prstGeom prst="roundRect">
              <a:avLst>
                <a:gd name="adj" fmla="val 50000"/>
              </a:avLst>
            </a:prstGeom>
            <a:solidFill>
              <a:srgbClr val="334E68"/>
            </a:solidFill>
            <a:ln>
              <a:noFill/>
            </a:ln>
          </p:spPr>
        </p:sp>
        <p:sp>
          <p:nvSpPr>
            <p:cNvPr id="9" name="Rectangle 9"/>
            <p:cNvSpPr/>
            <p:nvPr/>
          </p:nvSpPr>
          <p:spPr>
            <a:xfrm>
              <a:off x="781050" y="1733550"/>
              <a:ext cx="494348" cy="257175"/>
            </a:xfrm>
            <a:prstGeom prst="roundRect">
              <a:avLst>
                <a:gd name="adj" fmla="val 50000"/>
              </a:avLst>
            </a:prstGeom>
            <a:solidFill>
              <a:srgbClr val="E7EDF3"/>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定义</a:t>
              </a:r>
            </a:p>
          </p:txBody>
        </p:sp>
        <p:sp>
          <p:nvSpPr>
            <p:cNvPr id="11" name="TextBox 11"/>
            <p:cNvSpPr txBox="1"/>
            <p:nvPr/>
          </p:nvSpPr>
          <p:spPr>
            <a:xfrm>
              <a:off x="1382078" y="1768792"/>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软件危机</a:t>
              </a:r>
            </a:p>
          </p:txBody>
        </p:sp>
        <p:sp>
          <p:nvSpPr>
            <p:cNvPr id="12" name="TextBox 12"/>
            <p:cNvSpPr txBox="1"/>
            <p:nvPr/>
          </p:nvSpPr>
          <p:spPr>
            <a:xfrm>
              <a:off x="773430" y="2129790"/>
              <a:ext cx="40157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软件危机是指在计算机软件的</a:t>
              </a:r>
              <a:r>
                <a:rPr lang="zh-CN" sz="1500" b="1" dirty="0">
                  <a:solidFill>
                    <a:srgbClr val="C2410C"/>
                  </a:solidFill>
                  <a:latin typeface="+mn-lt"/>
                  <a:ea typeface="+mn-ea"/>
                  <a:cs typeface="+mn-cs"/>
                </a:rPr>
                <a:t>开发和维护</a:t>
              </a:r>
              <a:r>
                <a:rPr lang="zh-CN" sz="1500" dirty="0">
                  <a:solidFill>
                    <a:srgbClr val="1F2937"/>
                  </a:solidFill>
                  <a:latin typeface="+mn-lt"/>
                  <a:ea typeface="+mn-ea"/>
                  <a:cs typeface="+mn-cs"/>
                </a:rPr>
                <a:t>过程中</a:t>
              </a:r>
              <a:br/>
              <a:r>
                <a:rPr lang="zh-CN" sz="1500" dirty="0">
                  <a:solidFill>
                    <a:srgbClr val="1F2937"/>
                  </a:solidFill>
                  <a:latin typeface="+mn-lt"/>
                  <a:ea typeface="+mn-ea"/>
                  <a:cs typeface="+mn-cs"/>
                </a:rPr>
                <a:t>所遇到的一系列严重问题。几乎所有软件都不同</a:t>
              </a:r>
              <a:br/>
              <a:r>
                <a:rPr lang="zh-CN" sz="1500" dirty="0">
                  <a:solidFill>
                    <a:srgbClr val="1F2937"/>
                  </a:solidFill>
                  <a:latin typeface="+mn-lt"/>
                  <a:ea typeface="+mn-ea"/>
                  <a:cs typeface="+mn-cs"/>
                </a:rPr>
                <a:t>程度地存在这些问题。</a:t>
              </a:r>
            </a:p>
          </p:txBody>
        </p:sp>
        <p:sp>
          <p:nvSpPr>
            <p:cNvPr id="13" name="Ellipse 13"/>
            <p:cNvSpPr/>
            <p:nvPr/>
          </p:nvSpPr>
          <p:spPr>
            <a:xfrm>
              <a:off x="786765" y="3099435"/>
              <a:ext cx="64770" cy="64770"/>
            </a:xfrm>
            <a:prstGeom prst="ellipse">
              <a:avLst/>
            </a:prstGeom>
            <a:solidFill>
              <a:srgbClr val="334E68"/>
            </a:solidFill>
            <a:ln>
              <a:noFill/>
            </a:ln>
          </p:spPr>
        </p:sp>
        <p:sp>
          <p:nvSpPr>
            <p:cNvPr id="14" name="TextBox 14"/>
            <p:cNvSpPr txBox="1"/>
            <p:nvPr/>
          </p:nvSpPr>
          <p:spPr>
            <a:xfrm>
              <a:off x="944880" y="3036570"/>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出现时间：程序系统阶段</a:t>
              </a:r>
            </a:p>
          </p:txBody>
        </p:sp>
        <p:sp>
          <p:nvSpPr>
            <p:cNvPr id="15" name="Ellipse 15"/>
            <p:cNvSpPr/>
            <p:nvPr/>
          </p:nvSpPr>
          <p:spPr>
            <a:xfrm>
              <a:off x="786765" y="3434715"/>
              <a:ext cx="64770" cy="64770"/>
            </a:xfrm>
            <a:prstGeom prst="ellipse">
              <a:avLst/>
            </a:prstGeom>
            <a:solidFill>
              <a:srgbClr val="334E68"/>
            </a:solidFill>
            <a:ln>
              <a:noFill/>
            </a:ln>
          </p:spPr>
        </p:sp>
        <p:sp>
          <p:nvSpPr>
            <p:cNvPr id="16" name="TextBox 16"/>
            <p:cNvSpPr txBox="1"/>
            <p:nvPr/>
          </p:nvSpPr>
          <p:spPr>
            <a:xfrm>
              <a:off x="944880" y="3371850"/>
              <a:ext cx="3825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两方面问题：如何开发软件，以满足对软件日</a:t>
              </a:r>
              <a:br/>
              <a:r>
                <a:rPr lang="zh-CN" sz="1500" dirty="0">
                  <a:solidFill>
                    <a:srgbClr val="1F2937"/>
                  </a:solidFill>
                  <a:latin typeface="+mn-lt"/>
                  <a:ea typeface="+mn-ea"/>
                  <a:cs typeface="+mn-cs"/>
                </a:rPr>
                <a:t>益增长的需求；如何维护数量不断膨胀的已有</a:t>
              </a:r>
              <a:br/>
              <a:r>
                <a:rPr lang="zh-CN" sz="1500" dirty="0">
                  <a:solidFill>
                    <a:srgbClr val="1F2937"/>
                  </a:solidFill>
                  <a:latin typeface="+mn-lt"/>
                  <a:ea typeface="+mn-ea"/>
                  <a:cs typeface="+mn-cs"/>
                </a:rPr>
                <a:t>软件</a:t>
              </a:r>
            </a:p>
          </p:txBody>
        </p:sp>
      </p:grpSp>
      <p:grpSp>
        <p:nvGrpSpPr>
          <p:cNvPr id="24" name="c1-callout-2"/>
          <p:cNvGrpSpPr/>
          <p:nvPr/>
        </p:nvGrpSpPr>
        <p:grpSpPr>
          <a:xfrm>
            <a:off x="533400" y="4577715"/>
            <a:ext cx="4760595" cy="782955"/>
            <a:chOff x="533400" y="4577715"/>
            <a:chExt cx="4760595" cy="782955"/>
          </a:xfrm>
        </p:grpSpPr>
        <p:sp>
          <p:nvSpPr>
            <p:cNvPr id="18" name="Rectangle 18"/>
            <p:cNvSpPr/>
            <p:nvPr/>
          </p:nvSpPr>
          <p:spPr>
            <a:xfrm>
              <a:off x="533400" y="4577715"/>
              <a:ext cx="4760595" cy="782955"/>
            </a:xfrm>
            <a:prstGeom prst="roundRect">
              <a:avLst>
                <a:gd name="adj" fmla="val 14599"/>
              </a:avLst>
            </a:prstGeom>
            <a:solidFill>
              <a:srgbClr val="F4F6FB"/>
            </a:solidFill>
            <a:ln>
              <a:noFill/>
            </a:ln>
          </p:spPr>
        </p:sp>
        <p:grpSp>
          <p:nvGrpSpPr>
            <p:cNvPr id="22" name="Group 22"/>
            <p:cNvGrpSpPr/>
            <p:nvPr/>
          </p:nvGrpSpPr>
          <p:grpSpPr>
            <a:xfrm>
              <a:off x="738188" y="4869180"/>
              <a:ext cx="200026" cy="200026"/>
              <a:chOff x="738188" y="4869180"/>
              <a:chExt cx="200026" cy="200026"/>
            </a:xfrm>
          </p:grpSpPr>
          <p:sp>
            <p:nvSpPr>
              <p:cNvPr id="19" name="Freeform 19"/>
              <p:cNvSpPr/>
              <p:nvPr/>
            </p:nvSpPr>
            <p:spPr>
              <a:xfrm>
                <a:off x="738188" y="486918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20" name="Freeform 20"/>
              <p:cNvSpPr/>
              <p:nvPr/>
            </p:nvSpPr>
            <p:spPr>
              <a:xfrm>
                <a:off x="838200" y="493585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21" name="Freeform 21"/>
              <p:cNvSpPr/>
              <p:nvPr/>
            </p:nvSpPr>
            <p:spPr>
              <a:xfrm>
                <a:off x="827088" y="496919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23" name="TextBox 23"/>
            <p:cNvSpPr txBox="1"/>
            <p:nvPr/>
          </p:nvSpPr>
          <p:spPr>
            <a:xfrm>
              <a:off x="1040130" y="4726305"/>
              <a:ext cx="3825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危机不是某个项目做砸了，而是整个行业普遍</a:t>
              </a:r>
              <a:br/>
              <a:r>
                <a:rPr lang="zh-CN" sz="1500" dirty="0">
                  <a:solidFill>
                    <a:srgbClr val="1F2937"/>
                  </a:solidFill>
                  <a:latin typeface="+mn-lt"/>
                  <a:ea typeface="+mn-ea"/>
                  <a:cs typeface="+mn-cs"/>
                </a:rPr>
                <a:t>出现同一类问题。</a:t>
              </a:r>
            </a:p>
          </p:txBody>
        </p:sp>
      </p:grpSp>
      <p:grpSp>
        <p:nvGrpSpPr>
          <p:cNvPr id="47" name="c2-bullets-1"/>
          <p:cNvGrpSpPr/>
          <p:nvPr/>
        </p:nvGrpSpPr>
        <p:grpSpPr>
          <a:xfrm>
            <a:off x="5591175" y="1548765"/>
            <a:ext cx="5848350" cy="3002280"/>
            <a:chOff x="5591175" y="1548765"/>
            <a:chExt cx="5848350" cy="3002280"/>
          </a:xfrm>
        </p:grpSpPr>
        <p:sp>
          <p:nvSpPr>
            <p:cNvPr id="25" name="TextBox 25"/>
            <p:cNvSpPr txBox="1"/>
            <p:nvPr/>
          </p:nvSpPr>
          <p:spPr>
            <a:xfrm>
              <a:off x="5591175" y="1548765"/>
              <a:ext cx="183261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软件危机的主要表现</a:t>
              </a:r>
            </a:p>
          </p:txBody>
        </p:sp>
        <p:sp>
          <p:nvSpPr>
            <p:cNvPr id="26" name="Ellipse 26"/>
            <p:cNvSpPr/>
            <p:nvPr/>
          </p:nvSpPr>
          <p:spPr>
            <a:xfrm>
              <a:off x="5598795" y="1889760"/>
              <a:ext cx="213360" cy="213360"/>
            </a:xfrm>
            <a:prstGeom prst="ellipse">
              <a:avLst/>
            </a:prstGeom>
            <a:solidFill>
              <a:srgbClr val="334E68"/>
            </a:solidFill>
            <a:ln>
              <a:noFill/>
            </a:ln>
          </p:spPr>
        </p:sp>
        <p:sp>
          <p:nvSpPr>
            <p:cNvPr id="27" name="TextBox 27"/>
            <p:cNvSpPr txBox="1"/>
            <p:nvPr/>
          </p:nvSpPr>
          <p:spPr>
            <a:xfrm>
              <a:off x="5660644" y="193205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28" name="TextBox 28"/>
            <p:cNvSpPr txBox="1"/>
            <p:nvPr/>
          </p:nvSpPr>
          <p:spPr>
            <a:xfrm>
              <a:off x="5899785" y="1903095"/>
              <a:ext cx="38519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对软件开发成本和进度的估计常常很不准确</a:t>
              </a:r>
            </a:p>
          </p:txBody>
        </p:sp>
        <p:sp>
          <p:nvSpPr>
            <p:cNvPr id="29" name="Ellipse 29"/>
            <p:cNvSpPr/>
            <p:nvPr/>
          </p:nvSpPr>
          <p:spPr>
            <a:xfrm>
              <a:off x="5598795" y="2234565"/>
              <a:ext cx="213360" cy="213360"/>
            </a:xfrm>
            <a:prstGeom prst="ellipse">
              <a:avLst/>
            </a:prstGeom>
            <a:solidFill>
              <a:srgbClr val="334E68"/>
            </a:solidFill>
            <a:ln>
              <a:noFill/>
            </a:ln>
          </p:spPr>
        </p:sp>
        <p:sp>
          <p:nvSpPr>
            <p:cNvPr id="30" name="TextBox 30"/>
            <p:cNvSpPr txBox="1"/>
            <p:nvPr/>
          </p:nvSpPr>
          <p:spPr>
            <a:xfrm>
              <a:off x="5660644" y="227685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31" name="TextBox 31"/>
            <p:cNvSpPr txBox="1"/>
            <p:nvPr/>
          </p:nvSpPr>
          <p:spPr>
            <a:xfrm>
              <a:off x="5899785" y="2247900"/>
              <a:ext cx="4477893"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用户对“已完成的”软件系统不满意的现象经常发生</a:t>
              </a:r>
            </a:p>
          </p:txBody>
        </p:sp>
        <p:sp>
          <p:nvSpPr>
            <p:cNvPr id="32" name="Ellipse 32"/>
            <p:cNvSpPr/>
            <p:nvPr/>
          </p:nvSpPr>
          <p:spPr>
            <a:xfrm>
              <a:off x="5598795" y="2579370"/>
              <a:ext cx="213360" cy="213360"/>
            </a:xfrm>
            <a:prstGeom prst="ellipse">
              <a:avLst/>
            </a:prstGeom>
            <a:solidFill>
              <a:srgbClr val="334E68"/>
            </a:solidFill>
            <a:ln>
              <a:noFill/>
            </a:ln>
          </p:spPr>
        </p:sp>
        <p:sp>
          <p:nvSpPr>
            <p:cNvPr id="33" name="TextBox 33"/>
            <p:cNvSpPr txBox="1"/>
            <p:nvPr/>
          </p:nvSpPr>
          <p:spPr>
            <a:xfrm>
              <a:off x="5660644" y="262166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34" name="TextBox 34"/>
            <p:cNvSpPr txBox="1"/>
            <p:nvPr/>
          </p:nvSpPr>
          <p:spPr>
            <a:xfrm>
              <a:off x="5899785" y="2592705"/>
              <a:ext cx="24384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软件产品的质量往往靠不住</a:t>
              </a:r>
            </a:p>
          </p:txBody>
        </p:sp>
        <p:sp>
          <p:nvSpPr>
            <p:cNvPr id="35" name="Ellipse 35"/>
            <p:cNvSpPr/>
            <p:nvPr/>
          </p:nvSpPr>
          <p:spPr>
            <a:xfrm>
              <a:off x="5598795" y="2924175"/>
              <a:ext cx="213360" cy="213360"/>
            </a:xfrm>
            <a:prstGeom prst="ellipse">
              <a:avLst/>
            </a:prstGeom>
            <a:solidFill>
              <a:srgbClr val="334E68"/>
            </a:solidFill>
            <a:ln>
              <a:noFill/>
            </a:ln>
          </p:spPr>
        </p:sp>
        <p:sp>
          <p:nvSpPr>
            <p:cNvPr id="36" name="TextBox 36"/>
            <p:cNvSpPr txBox="1"/>
            <p:nvPr/>
          </p:nvSpPr>
          <p:spPr>
            <a:xfrm>
              <a:off x="5660644" y="296646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4</a:t>
              </a:r>
            </a:p>
          </p:txBody>
        </p:sp>
        <p:sp>
          <p:nvSpPr>
            <p:cNvPr id="37" name="TextBox 37"/>
            <p:cNvSpPr txBox="1"/>
            <p:nvPr/>
          </p:nvSpPr>
          <p:spPr>
            <a:xfrm>
              <a:off x="5899785" y="2937510"/>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软件常常是不可维护的</a:t>
              </a:r>
            </a:p>
          </p:txBody>
        </p:sp>
        <p:sp>
          <p:nvSpPr>
            <p:cNvPr id="38" name="Ellipse 38"/>
            <p:cNvSpPr/>
            <p:nvPr/>
          </p:nvSpPr>
          <p:spPr>
            <a:xfrm>
              <a:off x="5598795" y="3268980"/>
              <a:ext cx="213360" cy="213360"/>
            </a:xfrm>
            <a:prstGeom prst="ellipse">
              <a:avLst/>
            </a:prstGeom>
            <a:solidFill>
              <a:srgbClr val="334E68"/>
            </a:solidFill>
            <a:ln>
              <a:noFill/>
            </a:ln>
          </p:spPr>
        </p:sp>
        <p:sp>
          <p:nvSpPr>
            <p:cNvPr id="39" name="TextBox 39"/>
            <p:cNvSpPr txBox="1"/>
            <p:nvPr/>
          </p:nvSpPr>
          <p:spPr>
            <a:xfrm>
              <a:off x="5660644" y="331127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5</a:t>
              </a:r>
            </a:p>
          </p:txBody>
        </p:sp>
        <p:sp>
          <p:nvSpPr>
            <p:cNvPr id="40" name="TextBox 40"/>
            <p:cNvSpPr txBox="1"/>
            <p:nvPr/>
          </p:nvSpPr>
          <p:spPr>
            <a:xfrm>
              <a:off x="5899785" y="3282315"/>
              <a:ext cx="264033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软件通常没有适当的文档资料</a:t>
              </a:r>
            </a:p>
          </p:txBody>
        </p:sp>
        <p:sp>
          <p:nvSpPr>
            <p:cNvPr id="41" name="Ellipse 41"/>
            <p:cNvSpPr/>
            <p:nvPr/>
          </p:nvSpPr>
          <p:spPr>
            <a:xfrm>
              <a:off x="5598795" y="3613785"/>
              <a:ext cx="213360" cy="213360"/>
            </a:xfrm>
            <a:prstGeom prst="ellipse">
              <a:avLst/>
            </a:prstGeom>
            <a:solidFill>
              <a:srgbClr val="334E68"/>
            </a:solidFill>
            <a:ln>
              <a:noFill/>
            </a:ln>
          </p:spPr>
        </p:sp>
        <p:sp>
          <p:nvSpPr>
            <p:cNvPr id="42" name="TextBox 42"/>
            <p:cNvSpPr txBox="1"/>
            <p:nvPr/>
          </p:nvSpPr>
          <p:spPr>
            <a:xfrm>
              <a:off x="5660644" y="365607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6</a:t>
              </a:r>
            </a:p>
          </p:txBody>
        </p:sp>
        <p:sp>
          <p:nvSpPr>
            <p:cNvPr id="43" name="TextBox 43"/>
            <p:cNvSpPr txBox="1"/>
            <p:nvPr/>
          </p:nvSpPr>
          <p:spPr>
            <a:xfrm>
              <a:off x="5899785" y="3627120"/>
              <a:ext cx="465963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软件成本在计算机系统总成本中所占的比例逐年上升</a:t>
              </a:r>
            </a:p>
          </p:txBody>
        </p:sp>
        <p:sp>
          <p:nvSpPr>
            <p:cNvPr id="44" name="Ellipse 44"/>
            <p:cNvSpPr/>
            <p:nvPr/>
          </p:nvSpPr>
          <p:spPr>
            <a:xfrm>
              <a:off x="5598795" y="3958590"/>
              <a:ext cx="213360" cy="213360"/>
            </a:xfrm>
            <a:prstGeom prst="ellipse">
              <a:avLst/>
            </a:prstGeom>
            <a:solidFill>
              <a:srgbClr val="334E68"/>
            </a:solidFill>
            <a:ln>
              <a:noFill/>
            </a:ln>
          </p:spPr>
        </p:sp>
        <p:sp>
          <p:nvSpPr>
            <p:cNvPr id="45" name="TextBox 45"/>
            <p:cNvSpPr txBox="1"/>
            <p:nvPr/>
          </p:nvSpPr>
          <p:spPr>
            <a:xfrm>
              <a:off x="5660644" y="400088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7</a:t>
              </a:r>
            </a:p>
          </p:txBody>
        </p:sp>
        <p:sp>
          <p:nvSpPr>
            <p:cNvPr id="46" name="TextBox 46"/>
            <p:cNvSpPr txBox="1"/>
            <p:nvPr/>
          </p:nvSpPr>
          <p:spPr>
            <a:xfrm>
              <a:off x="5899785" y="3971925"/>
              <a:ext cx="5539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软件开发生产率提高的速度，远远跟不上计算机应用迅速普及深入</a:t>
              </a:r>
              <a:br/>
              <a:r>
                <a:rPr lang="zh-CN" sz="1500" dirty="0">
                  <a:solidFill>
                    <a:srgbClr val="1F2937"/>
                  </a:solidFill>
                  <a:latin typeface="+mn-lt"/>
                  <a:ea typeface="+mn-ea"/>
                  <a:cs typeface="+mn-cs"/>
                </a:rPr>
                <a:t>的趋势</a:t>
              </a:r>
            </a:p>
          </p:txBody>
        </p:sp>
      </p:grpSp>
      <p:grpSp>
        <p:nvGrpSpPr>
          <p:cNvPr id="54" name="takeaway"/>
          <p:cNvGrpSpPr/>
          <p:nvPr/>
        </p:nvGrpSpPr>
        <p:grpSpPr>
          <a:xfrm>
            <a:off x="533400" y="5829300"/>
            <a:ext cx="11125200" cy="533400"/>
            <a:chOff x="533400" y="5829300"/>
            <a:chExt cx="11125200" cy="533400"/>
          </a:xfrm>
        </p:grpSpPr>
        <p:sp>
          <p:nvSpPr>
            <p:cNvPr id="48" name="Rectangle 48"/>
            <p:cNvSpPr/>
            <p:nvPr/>
          </p:nvSpPr>
          <p:spPr>
            <a:xfrm>
              <a:off x="533400" y="5829300"/>
              <a:ext cx="11125200" cy="533400"/>
            </a:xfrm>
            <a:prstGeom prst="roundRect">
              <a:avLst>
                <a:gd name="adj" fmla="val 21429"/>
              </a:avLst>
            </a:prstGeom>
            <a:solidFill>
              <a:srgbClr val="FDEEE7"/>
            </a:solidFill>
            <a:ln>
              <a:noFill/>
            </a:ln>
          </p:spPr>
        </p:sp>
        <p:grpSp>
          <p:nvGrpSpPr>
            <p:cNvPr id="52" name="Group 52"/>
            <p:cNvGrpSpPr/>
            <p:nvPr/>
          </p:nvGrpSpPr>
          <p:grpSpPr>
            <a:xfrm>
              <a:off x="738188" y="5995988"/>
              <a:ext cx="200026" cy="200025"/>
              <a:chOff x="738188" y="5995988"/>
              <a:chExt cx="200026" cy="200025"/>
            </a:xfrm>
          </p:grpSpPr>
          <p:sp>
            <p:nvSpPr>
              <p:cNvPr id="49" name="Freeform 49"/>
              <p:cNvSpPr/>
              <p:nvPr/>
            </p:nvSpPr>
            <p:spPr>
              <a:xfrm>
                <a:off x="738188" y="599598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0" name="Freeform 50"/>
              <p:cNvSpPr/>
              <p:nvPr/>
            </p:nvSpPr>
            <p:spPr>
              <a:xfrm>
                <a:off x="777926" y="604043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1" name="Freeform 51"/>
              <p:cNvSpPr/>
              <p:nvPr/>
            </p:nvSpPr>
            <p:spPr>
              <a:xfrm>
                <a:off x="812642" y="615156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3" name="TextBox 53"/>
            <p:cNvSpPr txBox="1"/>
            <p:nvPr/>
          </p:nvSpPr>
          <p:spPr>
            <a:xfrm>
              <a:off x="1040130" y="5991225"/>
              <a:ext cx="9142476" cy="293370"/>
            </a:xfrm>
            <a:prstGeom prst="rect">
              <a:avLst/>
            </a:prstGeom>
            <a:noFill/>
            <a:ln>
              <a:noFill/>
            </a:ln>
          </p:spPr>
          <p:txBody>
            <a:bodyPr wrap="none" lIns="0" tIns="0" rIns="0" bIns="0" anchor="t" anchorCtr="0">
              <a:spAutoFit/>
            </a:bodyPr>
            <a:lstStyle/>
            <a:p>
              <a:pPr algn="l"/>
              <a:r>
                <a:rPr lang="zh-CN" sz="1500" dirty="0">
                  <a:solidFill>
                    <a:srgbClr val="C2410C"/>
                  </a:solidFill>
                  <a:latin typeface="+mn-lt"/>
                  <a:ea typeface="+mn-ea"/>
                  <a:cs typeface="+mn-cs"/>
                </a:rPr>
                <a:t>记忆线索：前五条说“做出来的软件不好用、不好改”，后两条说“软件越来越贵、供给越来越跟不上”。</a:t>
              </a:r>
            </a:p>
          </p:txBody>
        </p:sp>
      </p:grpSp>
      <p:grpSp>
        <p:nvGrpSpPr>
          <p:cNvPr id="57" name="footer"/>
          <p:cNvGrpSpPr/>
          <p:nvPr/>
        </p:nvGrpSpPr>
        <p:grpSpPr>
          <a:xfrm>
            <a:off x="528447" y="6581299"/>
            <a:ext cx="11135106" cy="190690"/>
            <a:chOff x="528447" y="6581299"/>
            <a:chExt cx="11135106" cy="190690"/>
          </a:xfrm>
        </p:grpSpPr>
        <p:sp>
          <p:nvSpPr>
            <p:cNvPr id="55" name="TextBox 55"/>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56" name="TextBox 56"/>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2129790" cy="266700"/>
            </a:xfrm>
            <a:prstGeom prst="roundRect">
              <a:avLst>
                <a:gd name="adj" fmla="val 50000"/>
              </a:avLst>
            </a:prstGeom>
            <a:solidFill>
              <a:srgbClr val="E7EDF3"/>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软件与软件危机</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危机的根源：软件本身难做，方法又不对</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6" name="c1-card-1"/>
          <p:cNvGrpSpPr/>
          <p:nvPr/>
        </p:nvGrpSpPr>
        <p:grpSpPr>
          <a:xfrm>
            <a:off x="533400" y="1524000"/>
            <a:ext cx="5951220" cy="1670685"/>
            <a:chOff x="533400" y="1524000"/>
            <a:chExt cx="5951220" cy="1670685"/>
          </a:xfrm>
        </p:grpSpPr>
        <p:sp>
          <p:nvSpPr>
            <p:cNvPr id="7" name="Rectangle 7"/>
            <p:cNvSpPr/>
            <p:nvPr/>
          </p:nvSpPr>
          <p:spPr>
            <a:xfrm>
              <a:off x="533400" y="1524000"/>
              <a:ext cx="5951220" cy="1670685"/>
            </a:xfrm>
            <a:prstGeom prst="roundRect">
              <a:avLst>
                <a:gd name="adj" fmla="val 7982"/>
              </a:avLst>
            </a:prstGeom>
            <a:solidFill>
              <a:srgbClr val="FFFFFF"/>
            </a:solidFill>
            <a:ln w="14288">
              <a:solidFill>
                <a:srgbClr val="D9DFEA"/>
              </a:solidFill>
            </a:ln>
          </p:spPr>
        </p:sp>
        <p:sp>
          <p:nvSpPr>
            <p:cNvPr id="8" name="Rectangle 8"/>
            <p:cNvSpPr/>
            <p:nvPr/>
          </p:nvSpPr>
          <p:spPr>
            <a:xfrm>
              <a:off x="542925" y="1657350"/>
              <a:ext cx="47625" cy="1403985"/>
            </a:xfrm>
            <a:prstGeom prst="roundRect">
              <a:avLst>
                <a:gd name="adj" fmla="val 50000"/>
              </a:avLst>
            </a:prstGeom>
            <a:solidFill>
              <a:srgbClr val="B42318"/>
            </a:solidFill>
            <a:ln>
              <a:noFill/>
            </a:ln>
          </p:spPr>
        </p:sp>
        <p:sp>
          <p:nvSpPr>
            <p:cNvPr id="9" name="Rectangle 9"/>
            <p:cNvSpPr/>
            <p:nvPr/>
          </p:nvSpPr>
          <p:spPr>
            <a:xfrm>
              <a:off x="781050" y="1733550"/>
              <a:ext cx="636270" cy="257175"/>
            </a:xfrm>
            <a:prstGeom prst="roundRect">
              <a:avLst>
                <a:gd name="adj" fmla="val 50000"/>
              </a:avLst>
            </a:prstGeom>
            <a:solidFill>
              <a:srgbClr val="FDECEA"/>
            </a:solidFill>
            <a:ln>
              <a:noFill/>
            </a:ln>
          </p:spPr>
        </p:sp>
        <p:sp>
          <p:nvSpPr>
            <p:cNvPr id="10" name="TextBox 10"/>
            <p:cNvSpPr txBox="1"/>
            <p:nvPr/>
          </p:nvSpPr>
          <p:spPr>
            <a:xfrm>
              <a:off x="867308" y="1769269"/>
              <a:ext cx="463753"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原因一</a:t>
              </a:r>
            </a:p>
          </p:txBody>
        </p:sp>
        <p:sp>
          <p:nvSpPr>
            <p:cNvPr id="11" name="TextBox 11"/>
            <p:cNvSpPr txBox="1"/>
            <p:nvPr/>
          </p:nvSpPr>
          <p:spPr>
            <a:xfrm>
              <a:off x="1524000" y="1768792"/>
              <a:ext cx="142875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软件本身的特点</a:t>
              </a:r>
            </a:p>
          </p:txBody>
        </p:sp>
        <p:sp>
          <p:nvSpPr>
            <p:cNvPr id="12" name="Ellipse 12"/>
            <p:cNvSpPr/>
            <p:nvPr/>
          </p:nvSpPr>
          <p:spPr>
            <a:xfrm>
              <a:off x="786765" y="2192655"/>
              <a:ext cx="64770" cy="64770"/>
            </a:xfrm>
            <a:prstGeom prst="ellipse">
              <a:avLst/>
            </a:prstGeom>
            <a:solidFill>
              <a:srgbClr val="334E68"/>
            </a:solidFill>
            <a:ln>
              <a:noFill/>
            </a:ln>
          </p:spPr>
        </p:sp>
        <p:sp>
          <p:nvSpPr>
            <p:cNvPr id="13" name="TextBox 13"/>
            <p:cNvSpPr txBox="1"/>
            <p:nvPr/>
          </p:nvSpPr>
          <p:spPr>
            <a:xfrm>
              <a:off x="944880" y="2129790"/>
              <a:ext cx="48615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软件的逻辑性：看不见摸不着，进度和质量都难以度量</a:t>
              </a:r>
            </a:p>
          </p:txBody>
        </p:sp>
        <p:sp>
          <p:nvSpPr>
            <p:cNvPr id="14" name="Ellipse 14"/>
            <p:cNvSpPr/>
            <p:nvPr/>
          </p:nvSpPr>
          <p:spPr>
            <a:xfrm>
              <a:off x="786765" y="2527935"/>
              <a:ext cx="64770" cy="64770"/>
            </a:xfrm>
            <a:prstGeom prst="ellipse">
              <a:avLst/>
            </a:prstGeom>
            <a:solidFill>
              <a:srgbClr val="334E68"/>
            </a:solidFill>
            <a:ln>
              <a:noFill/>
            </a:ln>
          </p:spPr>
        </p:sp>
        <p:sp>
          <p:nvSpPr>
            <p:cNvPr id="15" name="TextBox 15"/>
            <p:cNvSpPr txBox="1"/>
            <p:nvPr/>
          </p:nvSpPr>
          <p:spPr>
            <a:xfrm>
              <a:off x="944880" y="2465070"/>
              <a:ext cx="4968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程序的复杂性、规模庞大：模块之间相互影响，人脑难以一</a:t>
              </a:r>
              <a:br/>
              <a:r>
                <a:rPr lang="zh-CN" sz="1500" dirty="0">
                  <a:solidFill>
                    <a:srgbClr val="1F2937"/>
                  </a:solidFill>
                  <a:latin typeface="+mn-lt"/>
                  <a:ea typeface="+mn-ea"/>
                  <a:cs typeface="+mn-cs"/>
                </a:rPr>
                <a:t>次把握全部细节</a:t>
              </a:r>
            </a:p>
          </p:txBody>
        </p:sp>
      </p:grpSp>
      <p:grpSp>
        <p:nvGrpSpPr>
          <p:cNvPr id="28" name="c1-card-2"/>
          <p:cNvGrpSpPr/>
          <p:nvPr/>
        </p:nvGrpSpPr>
        <p:grpSpPr>
          <a:xfrm>
            <a:off x="533400" y="3385185"/>
            <a:ext cx="5951220" cy="2005965"/>
            <a:chOff x="533400" y="3385185"/>
            <a:chExt cx="5951220" cy="2005965"/>
          </a:xfrm>
        </p:grpSpPr>
        <p:sp>
          <p:nvSpPr>
            <p:cNvPr id="17" name="Rectangle 17"/>
            <p:cNvSpPr/>
            <p:nvPr/>
          </p:nvSpPr>
          <p:spPr>
            <a:xfrm>
              <a:off x="533400" y="3385185"/>
              <a:ext cx="5951220" cy="2005965"/>
            </a:xfrm>
            <a:prstGeom prst="roundRect">
              <a:avLst>
                <a:gd name="adj" fmla="val 6648"/>
              </a:avLst>
            </a:prstGeom>
            <a:solidFill>
              <a:srgbClr val="FFFFFF"/>
            </a:solidFill>
            <a:ln w="14288">
              <a:solidFill>
                <a:srgbClr val="D9DFEA"/>
              </a:solidFill>
            </a:ln>
          </p:spPr>
        </p:sp>
        <p:sp>
          <p:nvSpPr>
            <p:cNvPr id="18" name="Rectangle 18"/>
            <p:cNvSpPr/>
            <p:nvPr/>
          </p:nvSpPr>
          <p:spPr>
            <a:xfrm>
              <a:off x="542925" y="3518535"/>
              <a:ext cx="47625" cy="1739265"/>
            </a:xfrm>
            <a:prstGeom prst="roundRect">
              <a:avLst>
                <a:gd name="adj" fmla="val 50000"/>
              </a:avLst>
            </a:prstGeom>
            <a:solidFill>
              <a:srgbClr val="B42318"/>
            </a:solidFill>
            <a:ln>
              <a:noFill/>
            </a:ln>
          </p:spPr>
        </p:sp>
        <p:sp>
          <p:nvSpPr>
            <p:cNvPr id="19" name="Rectangle 19"/>
            <p:cNvSpPr/>
            <p:nvPr/>
          </p:nvSpPr>
          <p:spPr>
            <a:xfrm>
              <a:off x="781050" y="3594735"/>
              <a:ext cx="636270" cy="257175"/>
            </a:xfrm>
            <a:prstGeom prst="roundRect">
              <a:avLst>
                <a:gd name="adj" fmla="val 50000"/>
              </a:avLst>
            </a:prstGeom>
            <a:solidFill>
              <a:srgbClr val="FDECEA"/>
            </a:solidFill>
            <a:ln>
              <a:noFill/>
            </a:ln>
          </p:spPr>
        </p:sp>
        <p:sp>
          <p:nvSpPr>
            <p:cNvPr id="20" name="TextBox 20"/>
            <p:cNvSpPr txBox="1"/>
            <p:nvPr/>
          </p:nvSpPr>
          <p:spPr>
            <a:xfrm>
              <a:off x="867308" y="3630454"/>
              <a:ext cx="463753"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原因二</a:t>
              </a:r>
            </a:p>
          </p:txBody>
        </p:sp>
        <p:sp>
          <p:nvSpPr>
            <p:cNvPr id="21" name="TextBox 21"/>
            <p:cNvSpPr txBox="1"/>
            <p:nvPr/>
          </p:nvSpPr>
          <p:spPr>
            <a:xfrm>
              <a:off x="1524000" y="3629978"/>
              <a:ext cx="223647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开发与维护的方法不正确</a:t>
              </a:r>
            </a:p>
          </p:txBody>
        </p:sp>
        <p:sp>
          <p:nvSpPr>
            <p:cNvPr id="22" name="Ellipse 22"/>
            <p:cNvSpPr/>
            <p:nvPr/>
          </p:nvSpPr>
          <p:spPr>
            <a:xfrm>
              <a:off x="786765" y="4053840"/>
              <a:ext cx="64770" cy="64770"/>
            </a:xfrm>
            <a:prstGeom prst="ellipse">
              <a:avLst/>
            </a:prstGeom>
            <a:solidFill>
              <a:srgbClr val="334E68"/>
            </a:solidFill>
            <a:ln>
              <a:noFill/>
            </a:ln>
          </p:spPr>
        </p:sp>
        <p:sp>
          <p:nvSpPr>
            <p:cNvPr id="23" name="TextBox 23"/>
            <p:cNvSpPr txBox="1"/>
            <p:nvPr/>
          </p:nvSpPr>
          <p:spPr>
            <a:xfrm>
              <a:off x="944880" y="3990975"/>
              <a:ext cx="4968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忽视软件定义时期的工作，特别是忽视了软件需求分析的重</a:t>
              </a:r>
              <a:br/>
              <a:r>
                <a:rPr lang="zh-CN" sz="1500" dirty="0">
                  <a:solidFill>
                    <a:srgbClr val="1F2937"/>
                  </a:solidFill>
                  <a:latin typeface="+mn-lt"/>
                  <a:ea typeface="+mn-ea"/>
                  <a:cs typeface="+mn-cs"/>
                </a:rPr>
                <a:t>要性</a:t>
              </a:r>
            </a:p>
          </p:txBody>
        </p:sp>
        <p:sp>
          <p:nvSpPr>
            <p:cNvPr id="24" name="Ellipse 24"/>
            <p:cNvSpPr/>
            <p:nvPr/>
          </p:nvSpPr>
          <p:spPr>
            <a:xfrm>
              <a:off x="786765" y="4674870"/>
              <a:ext cx="64770" cy="64770"/>
            </a:xfrm>
            <a:prstGeom prst="ellipse">
              <a:avLst/>
            </a:prstGeom>
            <a:solidFill>
              <a:srgbClr val="334E68"/>
            </a:solidFill>
            <a:ln>
              <a:noFill/>
            </a:ln>
          </p:spPr>
        </p:sp>
        <p:sp>
          <p:nvSpPr>
            <p:cNvPr id="25" name="TextBox 25"/>
            <p:cNvSpPr txBox="1"/>
            <p:nvPr/>
          </p:nvSpPr>
          <p:spPr>
            <a:xfrm>
              <a:off x="944880" y="4612005"/>
              <a:ext cx="36499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认为软件开发就是写程序并设法使之运行</a:t>
              </a:r>
            </a:p>
          </p:txBody>
        </p:sp>
        <p:sp>
          <p:nvSpPr>
            <p:cNvPr id="26" name="Ellipse 26"/>
            <p:cNvSpPr/>
            <p:nvPr/>
          </p:nvSpPr>
          <p:spPr>
            <a:xfrm>
              <a:off x="786765" y="5010150"/>
              <a:ext cx="64770" cy="64770"/>
            </a:xfrm>
            <a:prstGeom prst="ellipse">
              <a:avLst/>
            </a:prstGeom>
            <a:solidFill>
              <a:srgbClr val="334E68"/>
            </a:solidFill>
            <a:ln>
              <a:noFill/>
            </a:ln>
          </p:spPr>
        </p:sp>
        <p:sp>
          <p:nvSpPr>
            <p:cNvPr id="27" name="TextBox 27"/>
            <p:cNvSpPr txBox="1"/>
            <p:nvPr/>
          </p:nvSpPr>
          <p:spPr>
            <a:xfrm>
              <a:off x="944880" y="494728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轻视软件维护</a:t>
              </a:r>
            </a:p>
          </p:txBody>
        </p:sp>
      </p:grpSp>
      <p:grpSp>
        <p:nvGrpSpPr>
          <p:cNvPr id="37" name="c2-graph-1"/>
          <p:cNvGrpSpPr/>
          <p:nvPr/>
        </p:nvGrpSpPr>
        <p:grpSpPr>
          <a:xfrm>
            <a:off x="7319772" y="1549241"/>
            <a:ext cx="4008310" cy="2203323"/>
            <a:chOff x="7319772" y="1549241"/>
            <a:chExt cx="4008310" cy="2203323"/>
          </a:xfrm>
        </p:grpSpPr>
        <p:sp>
          <p:nvSpPr>
            <p:cNvPr id="29" name="Freeform 29"/>
            <p:cNvSpPr/>
            <p:nvPr/>
          </p:nvSpPr>
          <p:spPr>
            <a:xfrm>
              <a:off x="7373302" y="1821180"/>
              <a:ext cx="9525" cy="1453515"/>
            </a:xfrm>
            <a:custGeom>
              <a:avLst/>
              <a:gdLst/>
              <a:ahLst/>
              <a:cxnLst/>
              <a:rect l="l" t="t" r="r" b="b"/>
              <a:pathLst>
                <a:path w="9525" h="1453515">
                  <a:moveTo>
                    <a:pt x="0" y="0"/>
                  </a:moveTo>
                  <a:lnTo>
                    <a:pt x="0" y="1453515"/>
                  </a:lnTo>
                </a:path>
              </a:pathLst>
            </a:custGeom>
            <a:noFill/>
            <a:ln w="13335">
              <a:solidFill>
                <a:srgbClr val="5B6475"/>
              </a:solidFill>
            </a:ln>
          </p:spPr>
        </p:sp>
        <p:sp>
          <p:nvSpPr>
            <p:cNvPr id="30" name="Freeform 30"/>
            <p:cNvSpPr/>
            <p:nvPr/>
          </p:nvSpPr>
          <p:spPr>
            <a:xfrm>
              <a:off x="7411402" y="3381375"/>
              <a:ext cx="3916680" cy="9525"/>
            </a:xfrm>
            <a:custGeom>
              <a:avLst/>
              <a:gdLst/>
              <a:ahLst/>
              <a:cxnLst/>
              <a:rect l="l" t="t" r="r" b="b"/>
              <a:pathLst>
                <a:path w="3916680" h="9525">
                  <a:moveTo>
                    <a:pt x="0" y="0"/>
                  </a:moveTo>
                  <a:lnTo>
                    <a:pt x="3916680" y="0"/>
                  </a:lnTo>
                </a:path>
              </a:pathLst>
            </a:custGeom>
            <a:noFill/>
            <a:ln w="13335">
              <a:solidFill>
                <a:srgbClr val="5B6475"/>
              </a:solidFill>
            </a:ln>
          </p:spPr>
        </p:sp>
        <p:sp>
          <p:nvSpPr>
            <p:cNvPr id="31" name="Freeform 31"/>
            <p:cNvSpPr/>
            <p:nvPr/>
          </p:nvSpPr>
          <p:spPr>
            <a:xfrm>
              <a:off x="7606665" y="1860232"/>
              <a:ext cx="3429952" cy="1376362"/>
            </a:xfrm>
            <a:custGeom>
              <a:avLst/>
              <a:gdLst/>
              <a:ahLst/>
              <a:cxnLst/>
              <a:rect l="l" t="t" r="r" b="b"/>
              <a:pathLst>
                <a:path w="3429952" h="1376362">
                  <a:moveTo>
                    <a:pt x="0" y="1376362"/>
                  </a:moveTo>
                  <a:lnTo>
                    <a:pt x="935355" y="1330642"/>
                  </a:lnTo>
                  <a:lnTo>
                    <a:pt x="1714500" y="902017"/>
                  </a:lnTo>
                  <a:lnTo>
                    <a:pt x="2201228" y="378142"/>
                  </a:lnTo>
                  <a:lnTo>
                    <a:pt x="2883217" y="44767"/>
                  </a:lnTo>
                  <a:lnTo>
                    <a:pt x="3429952" y="0"/>
                  </a:lnTo>
                </a:path>
              </a:pathLst>
            </a:custGeom>
            <a:noFill/>
            <a:ln w="17145">
              <a:solidFill>
                <a:srgbClr val="334E68"/>
              </a:solidFill>
            </a:ln>
          </p:spPr>
        </p:sp>
        <p:sp>
          <p:nvSpPr>
            <p:cNvPr id="32" name="TextBox 32"/>
            <p:cNvSpPr txBox="1"/>
            <p:nvPr/>
          </p:nvSpPr>
          <p:spPr>
            <a:xfrm>
              <a:off x="7319772" y="1549241"/>
              <a:ext cx="273761"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代价</a:t>
              </a:r>
            </a:p>
          </p:txBody>
        </p:sp>
        <p:sp>
          <p:nvSpPr>
            <p:cNvPr id="33" name="TextBox 33"/>
            <p:cNvSpPr txBox="1"/>
            <p:nvPr/>
          </p:nvSpPr>
          <p:spPr>
            <a:xfrm>
              <a:off x="9244038" y="3561874"/>
              <a:ext cx="933399"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变化出现的时期</a:t>
              </a:r>
            </a:p>
          </p:txBody>
        </p:sp>
        <p:sp>
          <p:nvSpPr>
            <p:cNvPr id="34" name="TextBox 34"/>
            <p:cNvSpPr txBox="1"/>
            <p:nvPr/>
          </p:nvSpPr>
          <p:spPr>
            <a:xfrm>
              <a:off x="8081531" y="3418999"/>
              <a:ext cx="141834"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早</a:t>
              </a:r>
            </a:p>
          </p:txBody>
        </p:sp>
        <p:sp>
          <p:nvSpPr>
            <p:cNvPr id="35" name="TextBox 35"/>
            <p:cNvSpPr txBox="1"/>
            <p:nvPr/>
          </p:nvSpPr>
          <p:spPr>
            <a:xfrm>
              <a:off x="9396933" y="3418999"/>
              <a:ext cx="141834"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中</a:t>
              </a:r>
            </a:p>
          </p:txBody>
        </p:sp>
        <p:sp>
          <p:nvSpPr>
            <p:cNvPr id="36" name="TextBox 36"/>
            <p:cNvSpPr txBox="1"/>
            <p:nvPr/>
          </p:nvSpPr>
          <p:spPr>
            <a:xfrm>
              <a:off x="10808538" y="3418999"/>
              <a:ext cx="141834"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后</a:t>
              </a:r>
            </a:p>
          </p:txBody>
        </p:sp>
      </p:grpSp>
      <p:grpSp>
        <p:nvGrpSpPr>
          <p:cNvPr id="43" name="c2-callout-2"/>
          <p:cNvGrpSpPr/>
          <p:nvPr/>
        </p:nvGrpSpPr>
        <p:grpSpPr>
          <a:xfrm>
            <a:off x="6789420" y="4095750"/>
            <a:ext cx="4869180" cy="1295400"/>
            <a:chOff x="6789420" y="4095750"/>
            <a:chExt cx="4869180" cy="1295400"/>
          </a:xfrm>
        </p:grpSpPr>
        <p:sp>
          <p:nvSpPr>
            <p:cNvPr id="38" name="Rectangle 38"/>
            <p:cNvSpPr/>
            <p:nvPr/>
          </p:nvSpPr>
          <p:spPr>
            <a:xfrm>
              <a:off x="6789420" y="4095750"/>
              <a:ext cx="4869180" cy="1295400"/>
            </a:xfrm>
            <a:prstGeom prst="roundRect">
              <a:avLst>
                <a:gd name="adj" fmla="val 8824"/>
              </a:avLst>
            </a:prstGeom>
            <a:solidFill>
              <a:srgbClr val="334E68"/>
            </a:solidFill>
            <a:ln>
              <a:noFill/>
            </a:ln>
          </p:spPr>
        </p:sp>
        <p:grpSp>
          <p:nvGrpSpPr>
            <p:cNvPr id="41" name="Group 41"/>
            <p:cNvGrpSpPr/>
            <p:nvPr/>
          </p:nvGrpSpPr>
          <p:grpSpPr>
            <a:xfrm>
              <a:off x="6994208" y="4643440"/>
              <a:ext cx="200023" cy="200023"/>
              <a:chOff x="6994208" y="4643440"/>
              <a:chExt cx="200023" cy="200023"/>
            </a:xfrm>
          </p:grpSpPr>
          <p:sp>
            <p:nvSpPr>
              <p:cNvPr id="39" name="Freeform 39"/>
              <p:cNvSpPr/>
              <p:nvPr/>
            </p:nvSpPr>
            <p:spPr>
              <a:xfrm>
                <a:off x="6994208" y="464344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0" name="Freeform 40"/>
              <p:cNvSpPr/>
              <p:nvPr/>
            </p:nvSpPr>
            <p:spPr>
              <a:xfrm>
                <a:off x="7127558" y="471011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2" name="TextBox 42"/>
            <p:cNvSpPr txBox="1"/>
            <p:nvPr/>
          </p:nvSpPr>
          <p:spPr>
            <a:xfrm>
              <a:off x="7296150" y="4500562"/>
              <a:ext cx="3825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需求阶段改一处只改文档，交付后改同一处要</a:t>
              </a:r>
              <a:br/>
              <a:r>
                <a:rPr lang="zh-CN" sz="1500" dirty="0">
                  <a:solidFill>
                    <a:srgbClr val="FFFFFF"/>
                  </a:solidFill>
                  <a:latin typeface="+mn-lt"/>
                  <a:ea typeface="+mn-ea"/>
                  <a:cs typeface="+mn-cs"/>
                </a:rPr>
                <a:t>改设计、代码、测试用例和用户手册。</a:t>
              </a:r>
            </a:p>
          </p:txBody>
        </p:sp>
      </p:grpSp>
      <p:grpSp>
        <p:nvGrpSpPr>
          <p:cNvPr id="50" name="takeaway"/>
          <p:cNvGrpSpPr/>
          <p:nvPr/>
        </p:nvGrpSpPr>
        <p:grpSpPr>
          <a:xfrm>
            <a:off x="533400" y="5829300"/>
            <a:ext cx="11125200" cy="533400"/>
            <a:chOff x="533400" y="5829300"/>
            <a:chExt cx="11125200" cy="533400"/>
          </a:xfrm>
        </p:grpSpPr>
        <p:sp>
          <p:nvSpPr>
            <p:cNvPr id="44" name="Rectangle 44"/>
            <p:cNvSpPr/>
            <p:nvPr/>
          </p:nvSpPr>
          <p:spPr>
            <a:xfrm>
              <a:off x="533400" y="5829300"/>
              <a:ext cx="11125200" cy="533400"/>
            </a:xfrm>
            <a:prstGeom prst="roundRect">
              <a:avLst>
                <a:gd name="adj" fmla="val 21429"/>
              </a:avLst>
            </a:prstGeom>
            <a:solidFill>
              <a:srgbClr val="FDECEA"/>
            </a:solidFill>
            <a:ln>
              <a:noFill/>
            </a:ln>
          </p:spPr>
        </p:sp>
        <p:grpSp>
          <p:nvGrpSpPr>
            <p:cNvPr id="48" name="Group 48"/>
            <p:cNvGrpSpPr/>
            <p:nvPr/>
          </p:nvGrpSpPr>
          <p:grpSpPr>
            <a:xfrm>
              <a:off x="726129" y="5992296"/>
              <a:ext cx="224134" cy="192560"/>
              <a:chOff x="726129" y="5992296"/>
              <a:chExt cx="224134" cy="192560"/>
            </a:xfrm>
          </p:grpSpPr>
          <p:sp>
            <p:nvSpPr>
              <p:cNvPr id="45" name="Freeform 45"/>
              <p:cNvSpPr/>
              <p:nvPr/>
            </p:nvSpPr>
            <p:spPr>
              <a:xfrm>
                <a:off x="838200" y="606266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46" name="Freeform 46"/>
              <p:cNvSpPr/>
              <p:nvPr/>
            </p:nvSpPr>
            <p:spPr>
              <a:xfrm>
                <a:off x="726129" y="599229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47" name="Freeform 47"/>
              <p:cNvSpPr/>
              <p:nvPr/>
            </p:nvSpPr>
            <p:spPr>
              <a:xfrm>
                <a:off x="838200" y="614045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49" name="TextBox 49"/>
            <p:cNvSpPr txBox="1"/>
            <p:nvPr/>
          </p:nvSpPr>
          <p:spPr>
            <a:xfrm>
              <a:off x="1040130" y="5991225"/>
              <a:ext cx="9122283" cy="293370"/>
            </a:xfrm>
            <a:prstGeom prst="rect">
              <a:avLst/>
            </a:prstGeom>
            <a:noFill/>
            <a:ln>
              <a:noFill/>
            </a:ln>
          </p:spPr>
          <p:txBody>
            <a:bodyPr wrap="none" lIns="0" tIns="0" rIns="0" bIns="0" anchor="t" anchorCtr="0">
              <a:spAutoFit/>
            </a:bodyPr>
            <a:lstStyle/>
            <a:p>
              <a:pPr algn="l"/>
              <a:r>
                <a:rPr lang="zh-CN" sz="1500" dirty="0">
                  <a:solidFill>
                    <a:srgbClr val="B42318"/>
                  </a:solidFill>
                  <a:latin typeface="+mn-lt"/>
                  <a:ea typeface="+mn-ea"/>
                  <a:cs typeface="+mn-cs"/>
                </a:rPr>
                <a:t>在软件开发的不同阶段进行修改，付出的代价很不相同，这条曲线是后面所有“尽早评审”做法的依据。</a:t>
              </a:r>
            </a:p>
          </p:txBody>
        </p:sp>
      </p:grpSp>
      <p:grpSp>
        <p:nvGrpSpPr>
          <p:cNvPr id="53" name="footer"/>
          <p:cNvGrpSpPr/>
          <p:nvPr/>
        </p:nvGrpSpPr>
        <p:grpSpPr>
          <a:xfrm>
            <a:off x="528447" y="6581299"/>
            <a:ext cx="11135106" cy="190690"/>
            <a:chOff x="528447" y="6581299"/>
            <a:chExt cx="11135106" cy="190690"/>
          </a:xfrm>
        </p:grpSpPr>
        <p:sp>
          <p:nvSpPr>
            <p:cNvPr id="51" name="TextBox 51"/>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52" name="TextBox 52"/>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2129790" cy="266700"/>
            </a:xfrm>
            <a:prstGeom prst="roundRect">
              <a:avLst>
                <a:gd name="adj" fmla="val 50000"/>
              </a:avLst>
            </a:prstGeom>
            <a:solidFill>
              <a:srgbClr val="E7EDF3"/>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软件与软件危机</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软件神话：听起来合理，做起来吃亏</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4" name="c1-table-1"/>
          <p:cNvGrpSpPr/>
          <p:nvPr/>
        </p:nvGrpSpPr>
        <p:grpSpPr>
          <a:xfrm>
            <a:off x="533400" y="1524000"/>
            <a:ext cx="7574280" cy="4711065"/>
            <a:chOff x="533400" y="1524000"/>
            <a:chExt cx="7574280" cy="4711065"/>
          </a:xfrm>
        </p:grpSpPr>
        <p:sp>
          <p:nvSpPr>
            <p:cNvPr id="7" name="Rectangle 7"/>
            <p:cNvSpPr/>
            <p:nvPr/>
          </p:nvSpPr>
          <p:spPr>
            <a:xfrm>
              <a:off x="533400" y="1524000"/>
              <a:ext cx="7574280" cy="439102"/>
            </a:xfrm>
            <a:prstGeom prst="rect">
              <a:avLst/>
            </a:prstGeom>
            <a:solidFill>
              <a:srgbClr val="334E68"/>
            </a:solidFill>
            <a:ln>
              <a:noFill/>
            </a:ln>
          </p:spPr>
        </p:sp>
        <p:sp>
          <p:nvSpPr>
            <p:cNvPr id="8" name="TextBox 8"/>
            <p:cNvSpPr txBox="1"/>
            <p:nvPr/>
          </p:nvSpPr>
          <p:spPr>
            <a:xfrm>
              <a:off x="708279" y="1648778"/>
              <a:ext cx="55892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谁在说</a:t>
              </a:r>
            </a:p>
          </p:txBody>
        </p:sp>
        <p:sp>
          <p:nvSpPr>
            <p:cNvPr id="9" name="TextBox 9"/>
            <p:cNvSpPr txBox="1"/>
            <p:nvPr/>
          </p:nvSpPr>
          <p:spPr>
            <a:xfrm>
              <a:off x="2647759" y="1648778"/>
              <a:ext cx="92240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错误的认识</a:t>
              </a:r>
            </a:p>
          </p:txBody>
        </p:sp>
        <p:sp>
          <p:nvSpPr>
            <p:cNvPr id="10" name="TextBox 10"/>
            <p:cNvSpPr txBox="1"/>
            <p:nvPr/>
          </p:nvSpPr>
          <p:spPr>
            <a:xfrm>
              <a:off x="6071426" y="1648778"/>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实际情况</a:t>
              </a:r>
            </a:p>
          </p:txBody>
        </p:sp>
        <p:sp>
          <p:nvSpPr>
            <p:cNvPr id="11" name="TextBox 11"/>
            <p:cNvSpPr txBox="1"/>
            <p:nvPr/>
          </p:nvSpPr>
          <p:spPr>
            <a:xfrm>
              <a:off x="629412" y="2207895"/>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管理者</a:t>
              </a:r>
            </a:p>
          </p:txBody>
        </p:sp>
        <p:sp>
          <p:nvSpPr>
            <p:cNvPr id="12" name="TextBox 12"/>
            <p:cNvSpPr txBox="1"/>
            <p:nvPr/>
          </p:nvSpPr>
          <p:spPr>
            <a:xfrm>
              <a:off x="1538097" y="2087880"/>
              <a:ext cx="29283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有讲标准规程的书，又买了最新工具和</a:t>
              </a:r>
              <a:br/>
              <a:r>
                <a:rPr lang="zh-CN" sz="1350" dirty="0">
                  <a:solidFill>
                    <a:srgbClr val="1F2937"/>
                  </a:solidFill>
                  <a:latin typeface="+mn-lt"/>
                  <a:ea typeface="+mn-ea"/>
                  <a:cs typeface="+mn-cs"/>
                </a:rPr>
                <a:t>计算机</a:t>
              </a:r>
            </a:p>
          </p:txBody>
        </p:sp>
        <p:sp>
          <p:nvSpPr>
            <p:cNvPr id="13" name="TextBox 13"/>
            <p:cNvSpPr txBox="1"/>
            <p:nvPr/>
          </p:nvSpPr>
          <p:spPr>
            <a:xfrm>
              <a:off x="4870894" y="2087880"/>
              <a:ext cx="27569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书是通用框架要裁剪，工具要有人会</a:t>
              </a:r>
              <a:br/>
              <a:r>
                <a:rPr lang="zh-CN" sz="1350" dirty="0">
                  <a:solidFill>
                    <a:srgbClr val="1F2937"/>
                  </a:solidFill>
                  <a:latin typeface="+mn-lt"/>
                  <a:ea typeface="+mn-ea"/>
                  <a:cs typeface="+mn-cs"/>
                </a:rPr>
                <a:t>用、要嵌进过程</a:t>
              </a:r>
            </a:p>
          </p:txBody>
        </p:sp>
        <p:sp>
          <p:nvSpPr>
            <p:cNvPr id="14" name="Rectangle 14"/>
            <p:cNvSpPr/>
            <p:nvPr/>
          </p:nvSpPr>
          <p:spPr>
            <a:xfrm>
              <a:off x="533400" y="2637472"/>
              <a:ext cx="7574280" cy="9525"/>
            </a:xfrm>
            <a:prstGeom prst="rect">
              <a:avLst/>
            </a:prstGeom>
            <a:solidFill>
              <a:srgbClr val="D9DFEA"/>
            </a:solidFill>
            <a:ln>
              <a:noFill/>
            </a:ln>
          </p:spPr>
        </p:sp>
        <p:sp>
          <p:nvSpPr>
            <p:cNvPr id="15" name="Rectangle 15"/>
            <p:cNvSpPr/>
            <p:nvPr/>
          </p:nvSpPr>
          <p:spPr>
            <a:xfrm>
              <a:off x="533400" y="2642235"/>
              <a:ext cx="7574280" cy="679132"/>
            </a:xfrm>
            <a:prstGeom prst="rect">
              <a:avLst/>
            </a:prstGeom>
            <a:solidFill>
              <a:srgbClr val="F4F6FB"/>
            </a:solidFill>
            <a:ln>
              <a:noFill/>
            </a:ln>
          </p:spPr>
        </p:sp>
        <p:sp>
          <p:nvSpPr>
            <p:cNvPr id="16" name="TextBox 16"/>
            <p:cNvSpPr txBox="1"/>
            <p:nvPr/>
          </p:nvSpPr>
          <p:spPr>
            <a:xfrm>
              <a:off x="629412" y="2887027"/>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管理者</a:t>
              </a:r>
            </a:p>
          </p:txBody>
        </p:sp>
        <p:sp>
          <p:nvSpPr>
            <p:cNvPr id="17" name="TextBox 17"/>
            <p:cNvSpPr txBox="1"/>
            <p:nvPr/>
          </p:nvSpPr>
          <p:spPr>
            <a:xfrm>
              <a:off x="1538097" y="2887027"/>
              <a:ext cx="310324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落后于计划，可以增加程序员赶上进度</a:t>
              </a:r>
            </a:p>
          </p:txBody>
        </p:sp>
        <p:sp>
          <p:nvSpPr>
            <p:cNvPr id="18" name="TextBox 18"/>
            <p:cNvSpPr txBox="1"/>
            <p:nvPr/>
          </p:nvSpPr>
          <p:spPr>
            <a:xfrm>
              <a:off x="4870894" y="2767012"/>
              <a:ext cx="29283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新人要学习，沟通路径成倍增加，加人</a:t>
              </a:r>
              <a:br/>
              <a:r>
                <a:rPr lang="zh-CN" sz="1350" dirty="0">
                  <a:solidFill>
                    <a:srgbClr val="1F2937"/>
                  </a:solidFill>
                  <a:latin typeface="+mn-lt"/>
                  <a:ea typeface="+mn-ea"/>
                  <a:cs typeface="+mn-cs"/>
                </a:rPr>
                <a:t>往往更慢</a:t>
              </a:r>
            </a:p>
          </p:txBody>
        </p:sp>
        <p:sp>
          <p:nvSpPr>
            <p:cNvPr id="19" name="Rectangle 19"/>
            <p:cNvSpPr/>
            <p:nvPr/>
          </p:nvSpPr>
          <p:spPr>
            <a:xfrm>
              <a:off x="533400" y="3315652"/>
              <a:ext cx="7574280" cy="9525"/>
            </a:xfrm>
            <a:prstGeom prst="rect">
              <a:avLst/>
            </a:prstGeom>
            <a:solidFill>
              <a:srgbClr val="D9DFEA"/>
            </a:solidFill>
            <a:ln>
              <a:noFill/>
            </a:ln>
          </p:spPr>
        </p:sp>
        <p:sp>
          <p:nvSpPr>
            <p:cNvPr id="20" name="TextBox 20"/>
            <p:cNvSpPr txBox="1"/>
            <p:nvPr/>
          </p:nvSpPr>
          <p:spPr>
            <a:xfrm>
              <a:off x="629412" y="3566160"/>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用户</a:t>
              </a:r>
            </a:p>
          </p:txBody>
        </p:sp>
        <p:sp>
          <p:nvSpPr>
            <p:cNvPr id="21" name="TextBox 21"/>
            <p:cNvSpPr txBox="1"/>
            <p:nvPr/>
          </p:nvSpPr>
          <p:spPr>
            <a:xfrm>
              <a:off x="1538097" y="3446145"/>
              <a:ext cx="29283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有目标的一般描述就能写程序，细节以</a:t>
              </a:r>
              <a:br/>
              <a:r>
                <a:rPr lang="zh-CN" sz="1350" dirty="0">
                  <a:solidFill>
                    <a:srgbClr val="1F2937"/>
                  </a:solidFill>
                  <a:latin typeface="+mn-lt"/>
                  <a:ea typeface="+mn-ea"/>
                  <a:cs typeface="+mn-cs"/>
                </a:rPr>
                <a:t>后补</a:t>
              </a:r>
            </a:p>
          </p:txBody>
        </p:sp>
        <p:sp>
          <p:nvSpPr>
            <p:cNvPr id="22" name="TextBox 22"/>
            <p:cNvSpPr txBox="1"/>
            <p:nvPr/>
          </p:nvSpPr>
          <p:spPr>
            <a:xfrm>
              <a:off x="4870894" y="3566160"/>
              <a:ext cx="292150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需求含糊时写出的程序常常推倒重来</a:t>
              </a:r>
            </a:p>
          </p:txBody>
        </p:sp>
        <p:sp>
          <p:nvSpPr>
            <p:cNvPr id="23" name="Rectangle 23"/>
            <p:cNvSpPr/>
            <p:nvPr/>
          </p:nvSpPr>
          <p:spPr>
            <a:xfrm>
              <a:off x="533400" y="3994785"/>
              <a:ext cx="7574280" cy="9525"/>
            </a:xfrm>
            <a:prstGeom prst="rect">
              <a:avLst/>
            </a:prstGeom>
            <a:solidFill>
              <a:srgbClr val="D9DFEA"/>
            </a:solidFill>
            <a:ln>
              <a:noFill/>
            </a:ln>
          </p:spPr>
        </p:sp>
        <p:sp>
          <p:nvSpPr>
            <p:cNvPr id="24" name="Rectangle 24"/>
            <p:cNvSpPr/>
            <p:nvPr/>
          </p:nvSpPr>
          <p:spPr>
            <a:xfrm>
              <a:off x="533400" y="3999548"/>
              <a:ext cx="7574280" cy="439102"/>
            </a:xfrm>
            <a:prstGeom prst="rect">
              <a:avLst/>
            </a:prstGeom>
            <a:solidFill>
              <a:srgbClr val="F4F6FB"/>
            </a:solidFill>
            <a:ln>
              <a:noFill/>
            </a:ln>
          </p:spPr>
        </p:sp>
        <p:sp>
          <p:nvSpPr>
            <p:cNvPr id="25" name="TextBox 25"/>
            <p:cNvSpPr txBox="1"/>
            <p:nvPr/>
          </p:nvSpPr>
          <p:spPr>
            <a:xfrm>
              <a:off x="629412" y="4125277"/>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用户</a:t>
              </a:r>
            </a:p>
          </p:txBody>
        </p:sp>
        <p:sp>
          <p:nvSpPr>
            <p:cNvPr id="26" name="TextBox 26"/>
            <p:cNvSpPr txBox="1"/>
            <p:nvPr/>
          </p:nvSpPr>
          <p:spPr>
            <a:xfrm>
              <a:off x="1538097" y="4125277"/>
              <a:ext cx="310324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需求在变，但软件灵活，变化容易满足</a:t>
              </a:r>
            </a:p>
          </p:txBody>
        </p:sp>
        <p:sp>
          <p:nvSpPr>
            <p:cNvPr id="27" name="TextBox 27"/>
            <p:cNvSpPr txBox="1"/>
            <p:nvPr/>
          </p:nvSpPr>
          <p:spPr>
            <a:xfrm>
              <a:off x="4870894" y="4125277"/>
              <a:ext cx="292150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越晚改代价越高，还会破坏已有结构</a:t>
              </a:r>
            </a:p>
          </p:txBody>
        </p:sp>
        <p:sp>
          <p:nvSpPr>
            <p:cNvPr id="28" name="Rectangle 28"/>
            <p:cNvSpPr/>
            <p:nvPr/>
          </p:nvSpPr>
          <p:spPr>
            <a:xfrm>
              <a:off x="533400" y="4433888"/>
              <a:ext cx="7574280" cy="9525"/>
            </a:xfrm>
            <a:prstGeom prst="rect">
              <a:avLst/>
            </a:prstGeom>
            <a:solidFill>
              <a:srgbClr val="D9DFEA"/>
            </a:solidFill>
            <a:ln>
              <a:noFill/>
            </a:ln>
          </p:spPr>
        </p:sp>
        <p:sp>
          <p:nvSpPr>
            <p:cNvPr id="29" name="TextBox 29"/>
            <p:cNvSpPr txBox="1"/>
            <p:nvPr/>
          </p:nvSpPr>
          <p:spPr>
            <a:xfrm>
              <a:off x="629412" y="4563428"/>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开发者</a:t>
              </a:r>
            </a:p>
          </p:txBody>
        </p:sp>
        <p:sp>
          <p:nvSpPr>
            <p:cNvPr id="30" name="TextBox 30"/>
            <p:cNvSpPr txBox="1"/>
            <p:nvPr/>
          </p:nvSpPr>
          <p:spPr>
            <a:xfrm>
              <a:off x="1538097" y="4563428"/>
              <a:ext cx="310324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程序写出来能正常运行，工作就结束了</a:t>
              </a:r>
            </a:p>
          </p:txBody>
        </p:sp>
        <p:sp>
          <p:nvSpPr>
            <p:cNvPr id="31" name="TextBox 31"/>
            <p:cNvSpPr txBox="1"/>
            <p:nvPr/>
          </p:nvSpPr>
          <p:spPr>
            <a:xfrm>
              <a:off x="4870894" y="4563428"/>
              <a:ext cx="292150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交付后的维护常占一半以上的工作量</a:t>
              </a:r>
            </a:p>
          </p:txBody>
        </p:sp>
        <p:sp>
          <p:nvSpPr>
            <p:cNvPr id="32" name="Rectangle 32"/>
            <p:cNvSpPr/>
            <p:nvPr/>
          </p:nvSpPr>
          <p:spPr>
            <a:xfrm>
              <a:off x="533400" y="4872990"/>
              <a:ext cx="7574280" cy="9525"/>
            </a:xfrm>
            <a:prstGeom prst="rect">
              <a:avLst/>
            </a:prstGeom>
            <a:solidFill>
              <a:srgbClr val="D9DFEA"/>
            </a:solidFill>
            <a:ln>
              <a:noFill/>
            </a:ln>
          </p:spPr>
        </p:sp>
        <p:sp>
          <p:nvSpPr>
            <p:cNvPr id="33" name="Rectangle 33"/>
            <p:cNvSpPr/>
            <p:nvPr/>
          </p:nvSpPr>
          <p:spPr>
            <a:xfrm>
              <a:off x="533400" y="4877752"/>
              <a:ext cx="7574280" cy="679132"/>
            </a:xfrm>
            <a:prstGeom prst="rect">
              <a:avLst/>
            </a:prstGeom>
            <a:solidFill>
              <a:srgbClr val="F4F6FB"/>
            </a:solidFill>
            <a:ln>
              <a:noFill/>
            </a:ln>
          </p:spPr>
        </p:sp>
        <p:sp>
          <p:nvSpPr>
            <p:cNvPr id="34" name="TextBox 34"/>
            <p:cNvSpPr txBox="1"/>
            <p:nvPr/>
          </p:nvSpPr>
          <p:spPr>
            <a:xfrm>
              <a:off x="629412" y="5122545"/>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开发者</a:t>
              </a:r>
            </a:p>
          </p:txBody>
        </p:sp>
        <p:sp>
          <p:nvSpPr>
            <p:cNvPr id="35" name="TextBox 35"/>
            <p:cNvSpPr txBox="1"/>
            <p:nvPr/>
          </p:nvSpPr>
          <p:spPr>
            <a:xfrm>
              <a:off x="1538097" y="5122545"/>
              <a:ext cx="237629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程序运行之前没办法评估质量</a:t>
              </a:r>
            </a:p>
          </p:txBody>
        </p:sp>
        <p:sp>
          <p:nvSpPr>
            <p:cNvPr id="36" name="TextBox 36"/>
            <p:cNvSpPr txBox="1"/>
            <p:nvPr/>
          </p:nvSpPr>
          <p:spPr>
            <a:xfrm>
              <a:off x="4870894" y="5002530"/>
              <a:ext cx="29283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评审和静态分析在编码前就能查出设计</a:t>
              </a:r>
              <a:br/>
              <a:r>
                <a:rPr lang="zh-CN" sz="1350" dirty="0">
                  <a:solidFill>
                    <a:srgbClr val="1F2937"/>
                  </a:solidFill>
                  <a:latin typeface="+mn-lt"/>
                  <a:ea typeface="+mn-ea"/>
                  <a:cs typeface="+mn-cs"/>
                </a:rPr>
                <a:t>错误</a:t>
              </a:r>
            </a:p>
          </p:txBody>
        </p:sp>
        <p:sp>
          <p:nvSpPr>
            <p:cNvPr id="37" name="Rectangle 37"/>
            <p:cNvSpPr/>
            <p:nvPr/>
          </p:nvSpPr>
          <p:spPr>
            <a:xfrm>
              <a:off x="533400" y="5552122"/>
              <a:ext cx="7574280" cy="9525"/>
            </a:xfrm>
            <a:prstGeom prst="rect">
              <a:avLst/>
            </a:prstGeom>
            <a:solidFill>
              <a:srgbClr val="D9DFEA"/>
            </a:solidFill>
            <a:ln>
              <a:noFill/>
            </a:ln>
          </p:spPr>
        </p:sp>
        <p:sp>
          <p:nvSpPr>
            <p:cNvPr id="38" name="TextBox 38"/>
            <p:cNvSpPr txBox="1"/>
            <p:nvPr/>
          </p:nvSpPr>
          <p:spPr>
            <a:xfrm>
              <a:off x="629412" y="5801678"/>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开发者</a:t>
              </a:r>
            </a:p>
          </p:txBody>
        </p:sp>
        <p:sp>
          <p:nvSpPr>
            <p:cNvPr id="39" name="TextBox 39"/>
            <p:cNvSpPr txBox="1"/>
            <p:nvPr/>
          </p:nvSpPr>
          <p:spPr>
            <a:xfrm>
              <a:off x="1538097" y="5801678"/>
              <a:ext cx="27397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成功项目唯一要交的就是运行程序</a:t>
              </a:r>
            </a:p>
          </p:txBody>
        </p:sp>
        <p:sp>
          <p:nvSpPr>
            <p:cNvPr id="40" name="TextBox 40"/>
            <p:cNvSpPr txBox="1"/>
            <p:nvPr/>
          </p:nvSpPr>
          <p:spPr>
            <a:xfrm>
              <a:off x="4870894" y="5681662"/>
              <a:ext cx="29283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还要交文档、测试用例等配置，否则无</a:t>
              </a:r>
              <a:br/>
              <a:r>
                <a:rPr lang="zh-CN" sz="1350" dirty="0">
                  <a:solidFill>
                    <a:srgbClr val="1F2937"/>
                  </a:solidFill>
                  <a:latin typeface="+mn-lt"/>
                  <a:ea typeface="+mn-ea"/>
                  <a:cs typeface="+mn-cs"/>
                </a:rPr>
                <a:t>法维护</a:t>
              </a:r>
            </a:p>
          </p:txBody>
        </p:sp>
        <p:sp>
          <p:nvSpPr>
            <p:cNvPr id="41" name="Rectangle 41"/>
            <p:cNvSpPr/>
            <p:nvPr/>
          </p:nvSpPr>
          <p:spPr>
            <a:xfrm>
              <a:off x="533400" y="1524000"/>
              <a:ext cx="7574280" cy="4711065"/>
            </a:xfrm>
            <a:prstGeom prst="rect">
              <a:avLst/>
            </a:prstGeom>
            <a:noFill/>
            <a:ln w="14288">
              <a:solidFill>
                <a:srgbClr val="D9DFEA"/>
              </a:solidFill>
            </a:ln>
          </p:spPr>
        </p:sp>
        <p:sp>
          <p:nvSpPr>
            <p:cNvPr id="42" name="Rectangle 42"/>
            <p:cNvSpPr/>
            <p:nvPr/>
          </p:nvSpPr>
          <p:spPr>
            <a:xfrm>
              <a:off x="1437322" y="1524000"/>
              <a:ext cx="9525" cy="4711065"/>
            </a:xfrm>
            <a:prstGeom prst="rect">
              <a:avLst/>
            </a:prstGeom>
            <a:solidFill>
              <a:srgbClr val="D9DFEA"/>
            </a:solidFill>
            <a:ln>
              <a:noFill/>
            </a:ln>
          </p:spPr>
        </p:sp>
        <p:sp>
          <p:nvSpPr>
            <p:cNvPr id="43" name="Rectangle 43"/>
            <p:cNvSpPr/>
            <p:nvPr/>
          </p:nvSpPr>
          <p:spPr>
            <a:xfrm>
              <a:off x="4770120" y="1524000"/>
              <a:ext cx="9525" cy="4711065"/>
            </a:xfrm>
            <a:prstGeom prst="rect">
              <a:avLst/>
            </a:prstGeom>
            <a:solidFill>
              <a:srgbClr val="D9DFEA"/>
            </a:solidFill>
            <a:ln>
              <a:noFill/>
            </a:ln>
          </p:spPr>
        </p:sp>
      </p:grpSp>
      <p:grpSp>
        <p:nvGrpSpPr>
          <p:cNvPr id="47" name="c2-image-1"/>
          <p:cNvGrpSpPr/>
          <p:nvPr/>
        </p:nvGrpSpPr>
        <p:grpSpPr>
          <a:xfrm>
            <a:off x="8412480" y="1524000"/>
            <a:ext cx="3246120" cy="3709701"/>
            <a:chOff x="8412480" y="1524000"/>
            <a:chExt cx="3246120" cy="3709701"/>
          </a:xfrm>
        </p:grpSpPr>
        <p:pic>
          <p:nvPicPr>
            <p:cNvPr id="45" name="Image 45"/>
            <p:cNvPicPr>
              <a:picLocks noChangeAspect="1"/>
            </p:cNvPicPr>
            <p:nvPr/>
          </p:nvPicPr>
          <p:blipFill>
            <a:blip r:embed="rId2"/>
            <a:srcRect l="14480" t="0" r="14481" b="0"/>
            <a:stretch>
              <a:fillRect/>
            </a:stretch>
          </p:blipFill>
          <p:spPr>
            <a:xfrm>
              <a:off x="8412480" y="1524000"/>
              <a:ext cx="3246120" cy="3427095"/>
            </a:xfrm>
            <a:prstGeom prst="roundRect">
              <a:avLst>
                <a:gd name="adj" fmla="val 4107"/>
              </a:avLst>
            </a:prstGeom>
          </p:spPr>
        </p:pic>
        <p:sp>
          <p:nvSpPr>
            <p:cNvPr id="46" name="TextBox 46"/>
            <p:cNvSpPr txBox="1"/>
            <p:nvPr/>
          </p:nvSpPr>
          <p:spPr>
            <a:xfrm>
              <a:off x="8843239" y="5043011"/>
              <a:ext cx="2384603"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九个人挤在一张桌子前，并不会把活干快</a:t>
              </a:r>
            </a:p>
          </p:txBody>
        </p:sp>
      </p:grpSp>
      <p:grpSp>
        <p:nvGrpSpPr>
          <p:cNvPr id="54" name="c2-callout-2"/>
          <p:cNvGrpSpPr/>
          <p:nvPr/>
        </p:nvGrpSpPr>
        <p:grpSpPr>
          <a:xfrm>
            <a:off x="8412480" y="5384482"/>
            <a:ext cx="3246120" cy="978218"/>
            <a:chOff x="8412480" y="5384482"/>
            <a:chExt cx="3246120" cy="978218"/>
          </a:xfrm>
        </p:grpSpPr>
        <p:sp>
          <p:nvSpPr>
            <p:cNvPr id="48" name="Rectangle 48"/>
            <p:cNvSpPr/>
            <p:nvPr/>
          </p:nvSpPr>
          <p:spPr>
            <a:xfrm>
              <a:off x="8412480" y="5384482"/>
              <a:ext cx="3246120" cy="978218"/>
            </a:xfrm>
            <a:prstGeom prst="roundRect">
              <a:avLst>
                <a:gd name="adj" fmla="val 11685"/>
              </a:avLst>
            </a:prstGeom>
            <a:solidFill>
              <a:srgbClr val="FDECEA"/>
            </a:solidFill>
            <a:ln>
              <a:noFill/>
            </a:ln>
          </p:spPr>
        </p:sp>
        <p:grpSp>
          <p:nvGrpSpPr>
            <p:cNvPr id="52" name="Group 52"/>
            <p:cNvGrpSpPr/>
            <p:nvPr/>
          </p:nvGrpSpPr>
          <p:grpSpPr>
            <a:xfrm>
              <a:off x="8605209" y="5770363"/>
              <a:ext cx="224134" cy="192560"/>
              <a:chOff x="8605209" y="5770363"/>
              <a:chExt cx="224134" cy="192560"/>
            </a:xfrm>
          </p:grpSpPr>
          <p:sp>
            <p:nvSpPr>
              <p:cNvPr id="49" name="Freeform 49"/>
              <p:cNvSpPr/>
              <p:nvPr/>
            </p:nvSpPr>
            <p:spPr>
              <a:xfrm>
                <a:off x="8717280" y="5840730"/>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50" name="Freeform 50"/>
              <p:cNvSpPr/>
              <p:nvPr/>
            </p:nvSpPr>
            <p:spPr>
              <a:xfrm>
                <a:off x="8605209" y="5770363"/>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51" name="Freeform 51"/>
              <p:cNvSpPr/>
              <p:nvPr/>
            </p:nvSpPr>
            <p:spPr>
              <a:xfrm>
                <a:off x="8717280" y="5918518"/>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53" name="TextBox 53"/>
            <p:cNvSpPr txBox="1"/>
            <p:nvPr/>
          </p:nvSpPr>
          <p:spPr>
            <a:xfrm>
              <a:off x="8919972" y="5531168"/>
              <a:ext cx="2165414"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B42318"/>
                  </a:solidFill>
                  <a:latin typeface="+mn-lt"/>
                  <a:ea typeface="+mn-ea"/>
                  <a:cs typeface="+mn-cs"/>
                </a:rPr>
                <a:t>人数增加时，沟通路径按</a:t>
              </a:r>
              <a:br/>
              <a:r>
                <a:rPr lang="zh-CN" sz="1350" dirty="0">
                  <a:solidFill>
                    <a:srgbClr val="B42318"/>
                  </a:solidFill>
                  <a:latin typeface="+mn-lt"/>
                  <a:ea typeface="+mn-ea"/>
                  <a:cs typeface="+mn-cs"/>
                </a:rPr>
                <a:t>n(n−1)/2 增长，9 个人就有</a:t>
              </a:r>
              <a:br/>
              <a:r>
                <a:rPr lang="zh-CN" sz="1350" dirty="0">
                  <a:solidFill>
                    <a:srgbClr val="B42318"/>
                  </a:solidFill>
                  <a:latin typeface="+mn-lt"/>
                  <a:ea typeface="+mn-ea"/>
                  <a:cs typeface="+mn-cs"/>
                </a:rPr>
                <a:t>36 条。</a:t>
              </a:r>
            </a:p>
          </p:txBody>
        </p:sp>
      </p:grpSp>
      <p:grpSp>
        <p:nvGrpSpPr>
          <p:cNvPr id="57" name="footer"/>
          <p:cNvGrpSpPr/>
          <p:nvPr/>
        </p:nvGrpSpPr>
        <p:grpSpPr>
          <a:xfrm>
            <a:off x="528447" y="6581299"/>
            <a:ext cx="11135106" cy="190690"/>
            <a:chOff x="528447" y="6581299"/>
            <a:chExt cx="11135106" cy="190690"/>
          </a:xfrm>
        </p:grpSpPr>
        <p:sp>
          <p:nvSpPr>
            <p:cNvPr id="55" name="TextBox 55"/>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56" name="TextBox 5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493617" cy="909257"/>
            <a:chOff x="520446" y="342900"/>
            <a:chExt cx="5493617" cy="909257"/>
          </a:xfrm>
        </p:grpSpPr>
        <p:sp>
          <p:nvSpPr>
            <p:cNvPr id="2" name="Rectangle 2"/>
            <p:cNvSpPr/>
            <p:nvPr/>
          </p:nvSpPr>
          <p:spPr>
            <a:xfrm>
              <a:off x="533400" y="342900"/>
              <a:ext cx="2129790" cy="266700"/>
            </a:xfrm>
            <a:prstGeom prst="roundRect">
              <a:avLst>
                <a:gd name="adj" fmla="val 50000"/>
              </a:avLst>
            </a:prstGeom>
            <a:solidFill>
              <a:srgbClr val="E7EDF3"/>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软件与软件危机</a:t>
              </a:r>
            </a:p>
          </p:txBody>
        </p:sp>
        <p:sp>
          <p:nvSpPr>
            <p:cNvPr id="4" name="TextBox 4"/>
            <p:cNvSpPr txBox="1"/>
            <p:nvPr/>
          </p:nvSpPr>
          <p:spPr>
            <a:xfrm>
              <a:off x="520446" y="753428"/>
              <a:ext cx="549361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Tips：软件质量度量与 McCall 模型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4780473" cy="308039"/>
            <a:chOff x="525399" y="1550194"/>
            <a:chExt cx="4780473" cy="308039"/>
          </a:xfrm>
        </p:grpSpPr>
        <p:sp>
          <p:nvSpPr>
            <p:cNvPr id="7" name="TextBox 7"/>
            <p:cNvSpPr txBox="1"/>
            <p:nvPr/>
          </p:nvSpPr>
          <p:spPr>
            <a:xfrm>
              <a:off x="525399" y="1550194"/>
              <a:ext cx="4780473"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重点是“质量要素 → 评价准则 → 度量”这三层结构。</a:t>
              </a:r>
            </a:p>
          </p:txBody>
        </p:sp>
      </p:grpSp>
      <p:grpSp>
        <p:nvGrpSpPr>
          <p:cNvPr id="26" name="c1-tree-1"/>
          <p:cNvGrpSpPr/>
          <p:nvPr/>
        </p:nvGrpSpPr>
        <p:grpSpPr>
          <a:xfrm>
            <a:off x="533400" y="2083118"/>
            <a:ext cx="4544377" cy="1578292"/>
            <a:chOff x="533400" y="2083118"/>
            <a:chExt cx="4544377" cy="1578292"/>
          </a:xfrm>
        </p:grpSpPr>
        <p:sp>
          <p:nvSpPr>
            <p:cNvPr id="9" name="Freeform 9"/>
            <p:cNvSpPr/>
            <p:nvPr/>
          </p:nvSpPr>
          <p:spPr>
            <a:xfrm>
              <a:off x="3423285" y="2268855"/>
              <a:ext cx="419100" cy="301942"/>
            </a:xfrm>
            <a:custGeom>
              <a:avLst/>
              <a:gdLst/>
              <a:ahLst/>
              <a:cxnLst/>
              <a:rect l="l" t="t" r="r" b="b"/>
              <a:pathLst>
                <a:path w="419100" h="301942">
                  <a:moveTo>
                    <a:pt x="0" y="301942"/>
                  </a:moveTo>
                  <a:lnTo>
                    <a:pt x="209550" y="301942"/>
                  </a:lnTo>
                  <a:lnTo>
                    <a:pt x="209550" y="0"/>
                  </a:lnTo>
                  <a:lnTo>
                    <a:pt x="419100" y="0"/>
                  </a:lnTo>
                </a:path>
              </a:pathLst>
            </a:custGeom>
            <a:noFill/>
            <a:ln w="17145">
              <a:solidFill>
                <a:srgbClr val="D9DFEA"/>
              </a:solidFill>
            </a:ln>
          </p:spPr>
        </p:sp>
        <p:sp>
          <p:nvSpPr>
            <p:cNvPr id="10" name="Freeform 10"/>
            <p:cNvSpPr/>
            <p:nvPr/>
          </p:nvSpPr>
          <p:spPr>
            <a:xfrm>
              <a:off x="3423285" y="2570798"/>
              <a:ext cx="419100" cy="301943"/>
            </a:xfrm>
            <a:custGeom>
              <a:avLst/>
              <a:gdLst/>
              <a:ahLst/>
              <a:cxnLst/>
              <a:rect l="l" t="t" r="r" b="b"/>
              <a:pathLst>
                <a:path w="419100" h="301943">
                  <a:moveTo>
                    <a:pt x="0" y="0"/>
                  </a:moveTo>
                  <a:lnTo>
                    <a:pt x="209550" y="0"/>
                  </a:lnTo>
                  <a:lnTo>
                    <a:pt x="209550" y="301943"/>
                  </a:lnTo>
                  <a:lnTo>
                    <a:pt x="419100" y="301943"/>
                  </a:lnTo>
                </a:path>
              </a:pathLst>
            </a:custGeom>
            <a:noFill/>
            <a:ln w="17145">
              <a:solidFill>
                <a:srgbClr val="D9DFEA"/>
              </a:solidFill>
            </a:ln>
          </p:spPr>
        </p:sp>
        <p:sp>
          <p:nvSpPr>
            <p:cNvPr id="11" name="Freeform 11"/>
            <p:cNvSpPr/>
            <p:nvPr/>
          </p:nvSpPr>
          <p:spPr>
            <a:xfrm>
              <a:off x="3423285" y="3475672"/>
              <a:ext cx="419100" cy="9525"/>
            </a:xfrm>
            <a:custGeom>
              <a:avLst/>
              <a:gdLst/>
              <a:ahLst/>
              <a:cxnLst/>
              <a:rect l="l" t="t" r="r" b="b"/>
              <a:pathLst>
                <a:path w="419100" h="9525">
                  <a:moveTo>
                    <a:pt x="0" y="0"/>
                  </a:moveTo>
                  <a:lnTo>
                    <a:pt x="209550" y="0"/>
                  </a:lnTo>
                  <a:lnTo>
                    <a:pt x="209550" y="0"/>
                  </a:lnTo>
                  <a:lnTo>
                    <a:pt x="419100" y="0"/>
                  </a:lnTo>
                </a:path>
              </a:pathLst>
            </a:custGeom>
            <a:noFill/>
            <a:ln w="17145">
              <a:solidFill>
                <a:srgbClr val="D9DFEA"/>
              </a:solidFill>
            </a:ln>
          </p:spPr>
        </p:sp>
        <p:sp>
          <p:nvSpPr>
            <p:cNvPr id="12" name="Freeform 12"/>
            <p:cNvSpPr/>
            <p:nvPr/>
          </p:nvSpPr>
          <p:spPr>
            <a:xfrm>
              <a:off x="1768792" y="2570798"/>
              <a:ext cx="419100" cy="452438"/>
            </a:xfrm>
            <a:custGeom>
              <a:avLst/>
              <a:gdLst/>
              <a:ahLst/>
              <a:cxnLst/>
              <a:rect l="l" t="t" r="r" b="b"/>
              <a:pathLst>
                <a:path w="419100" h="452438">
                  <a:moveTo>
                    <a:pt x="0" y="452438"/>
                  </a:moveTo>
                  <a:lnTo>
                    <a:pt x="209550" y="452438"/>
                  </a:lnTo>
                  <a:lnTo>
                    <a:pt x="209550" y="0"/>
                  </a:lnTo>
                  <a:lnTo>
                    <a:pt x="419100" y="0"/>
                  </a:lnTo>
                </a:path>
              </a:pathLst>
            </a:custGeom>
            <a:noFill/>
            <a:ln w="17145">
              <a:solidFill>
                <a:srgbClr val="D9DFEA"/>
              </a:solidFill>
            </a:ln>
          </p:spPr>
        </p:sp>
        <p:sp>
          <p:nvSpPr>
            <p:cNvPr id="13" name="Freeform 13"/>
            <p:cNvSpPr/>
            <p:nvPr/>
          </p:nvSpPr>
          <p:spPr>
            <a:xfrm>
              <a:off x="1768792" y="3023235"/>
              <a:ext cx="419100" cy="452438"/>
            </a:xfrm>
            <a:custGeom>
              <a:avLst/>
              <a:gdLst/>
              <a:ahLst/>
              <a:cxnLst/>
              <a:rect l="l" t="t" r="r" b="b"/>
              <a:pathLst>
                <a:path w="419100" h="452438">
                  <a:moveTo>
                    <a:pt x="0" y="0"/>
                  </a:moveTo>
                  <a:lnTo>
                    <a:pt x="209550" y="0"/>
                  </a:lnTo>
                  <a:lnTo>
                    <a:pt x="209550" y="452438"/>
                  </a:lnTo>
                  <a:lnTo>
                    <a:pt x="419100" y="452438"/>
                  </a:lnTo>
                </a:path>
              </a:pathLst>
            </a:custGeom>
            <a:noFill/>
            <a:ln w="17145">
              <a:solidFill>
                <a:srgbClr val="D9DFEA"/>
              </a:solidFill>
            </a:ln>
          </p:spPr>
        </p:sp>
        <p:sp>
          <p:nvSpPr>
            <p:cNvPr id="14" name="Rectangle 14"/>
            <p:cNvSpPr/>
            <p:nvPr/>
          </p:nvSpPr>
          <p:spPr>
            <a:xfrm>
              <a:off x="3842385" y="2083118"/>
              <a:ext cx="1235392" cy="372428"/>
            </a:xfrm>
            <a:prstGeom prst="roundRect">
              <a:avLst>
                <a:gd name="adj" fmla="val 25575"/>
              </a:avLst>
            </a:prstGeom>
            <a:solidFill>
              <a:srgbClr val="FFFFFF"/>
            </a:solidFill>
            <a:ln w="13335">
              <a:solidFill>
                <a:srgbClr val="D9DFEA"/>
              </a:solidFill>
            </a:ln>
          </p:spPr>
        </p:sp>
        <p:sp>
          <p:nvSpPr>
            <p:cNvPr id="15" name="Rectangle 15"/>
            <p:cNvSpPr/>
            <p:nvPr/>
          </p:nvSpPr>
          <p:spPr>
            <a:xfrm>
              <a:off x="3842385" y="2686050"/>
              <a:ext cx="1235392" cy="372428"/>
            </a:xfrm>
            <a:prstGeom prst="roundRect">
              <a:avLst>
                <a:gd name="adj" fmla="val 25575"/>
              </a:avLst>
            </a:prstGeom>
            <a:solidFill>
              <a:srgbClr val="FFFFFF"/>
            </a:solidFill>
            <a:ln w="13335">
              <a:solidFill>
                <a:srgbClr val="D9DFEA"/>
              </a:solidFill>
            </a:ln>
          </p:spPr>
        </p:sp>
        <p:sp>
          <p:nvSpPr>
            <p:cNvPr id="16" name="Rectangle 16"/>
            <p:cNvSpPr/>
            <p:nvPr/>
          </p:nvSpPr>
          <p:spPr>
            <a:xfrm>
              <a:off x="2187892" y="2384108"/>
              <a:ext cx="1235392" cy="372428"/>
            </a:xfrm>
            <a:prstGeom prst="roundRect">
              <a:avLst>
                <a:gd name="adj" fmla="val 25575"/>
              </a:avLst>
            </a:prstGeom>
            <a:solidFill>
              <a:srgbClr val="E7EDF3"/>
            </a:solidFill>
            <a:ln>
              <a:noFill/>
            </a:ln>
          </p:spPr>
        </p:sp>
        <p:sp>
          <p:nvSpPr>
            <p:cNvPr id="17" name="Rectangle 17"/>
            <p:cNvSpPr/>
            <p:nvPr/>
          </p:nvSpPr>
          <p:spPr>
            <a:xfrm>
              <a:off x="3842385" y="3288982"/>
              <a:ext cx="1235392" cy="372428"/>
            </a:xfrm>
            <a:prstGeom prst="roundRect">
              <a:avLst>
                <a:gd name="adj" fmla="val 25575"/>
              </a:avLst>
            </a:prstGeom>
            <a:solidFill>
              <a:srgbClr val="FFFFFF"/>
            </a:solidFill>
            <a:ln w="13335">
              <a:solidFill>
                <a:srgbClr val="D9DFEA"/>
              </a:solidFill>
            </a:ln>
          </p:spPr>
        </p:sp>
        <p:sp>
          <p:nvSpPr>
            <p:cNvPr id="18" name="Rectangle 18"/>
            <p:cNvSpPr/>
            <p:nvPr/>
          </p:nvSpPr>
          <p:spPr>
            <a:xfrm>
              <a:off x="2187892" y="3288982"/>
              <a:ext cx="1235392" cy="372428"/>
            </a:xfrm>
            <a:prstGeom prst="roundRect">
              <a:avLst>
                <a:gd name="adj" fmla="val 25575"/>
              </a:avLst>
            </a:prstGeom>
            <a:solidFill>
              <a:srgbClr val="E7EDF3"/>
            </a:solidFill>
            <a:ln>
              <a:noFill/>
            </a:ln>
          </p:spPr>
        </p:sp>
        <p:sp>
          <p:nvSpPr>
            <p:cNvPr id="19" name="Rectangle 19"/>
            <p:cNvSpPr/>
            <p:nvPr/>
          </p:nvSpPr>
          <p:spPr>
            <a:xfrm>
              <a:off x="533400" y="2836545"/>
              <a:ext cx="1235392" cy="372428"/>
            </a:xfrm>
            <a:prstGeom prst="roundRect">
              <a:avLst>
                <a:gd name="adj" fmla="val 25575"/>
              </a:avLst>
            </a:prstGeom>
            <a:solidFill>
              <a:srgbClr val="334E68"/>
            </a:solidFill>
            <a:ln>
              <a:noFill/>
            </a:ln>
          </p:spPr>
        </p:sp>
        <p:sp>
          <p:nvSpPr>
            <p:cNvPr id="20" name="TextBox 20"/>
            <p:cNvSpPr txBox="1"/>
            <p:nvPr/>
          </p:nvSpPr>
          <p:spPr>
            <a:xfrm>
              <a:off x="3931158" y="2179796"/>
              <a:ext cx="35758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度量</a:t>
              </a:r>
            </a:p>
          </p:txBody>
        </p:sp>
        <p:sp>
          <p:nvSpPr>
            <p:cNvPr id="21" name="TextBox 21"/>
            <p:cNvSpPr txBox="1"/>
            <p:nvPr/>
          </p:nvSpPr>
          <p:spPr>
            <a:xfrm>
              <a:off x="3931158" y="2783681"/>
              <a:ext cx="35758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度量</a:t>
              </a:r>
            </a:p>
          </p:txBody>
        </p:sp>
        <p:sp>
          <p:nvSpPr>
            <p:cNvPr id="22" name="TextBox 22"/>
            <p:cNvSpPr txBox="1"/>
            <p:nvPr/>
          </p:nvSpPr>
          <p:spPr>
            <a:xfrm>
              <a:off x="2276666" y="2481739"/>
              <a:ext cx="702208" cy="249364"/>
            </a:xfrm>
            <a:prstGeom prst="rect">
              <a:avLst/>
            </a:prstGeom>
            <a:noFill/>
            <a:ln>
              <a:noFill/>
            </a:ln>
          </p:spPr>
          <p:txBody>
            <a:bodyPr wrap="none" lIns="0" tIns="0" rIns="0" bIns="0" anchor="t" anchorCtr="0">
              <a:spAutoFit/>
            </a:bodyPr>
            <a:lstStyle/>
            <a:p>
              <a:pPr algn="l"/>
              <a:r>
                <a:rPr lang="zh-CN" sz="1280" b="1" dirty="0">
                  <a:solidFill>
                    <a:srgbClr val="243B53"/>
                  </a:solidFill>
                  <a:latin typeface="+mn-lt"/>
                  <a:ea typeface="+mn-ea"/>
                  <a:cs typeface="+mn-cs"/>
                </a:rPr>
                <a:t>评价准则</a:t>
              </a:r>
            </a:p>
          </p:txBody>
        </p:sp>
        <p:sp>
          <p:nvSpPr>
            <p:cNvPr id="23" name="TextBox 23"/>
            <p:cNvSpPr txBox="1"/>
            <p:nvPr/>
          </p:nvSpPr>
          <p:spPr>
            <a:xfrm>
              <a:off x="3931158" y="3386614"/>
              <a:ext cx="35758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度量</a:t>
              </a:r>
            </a:p>
          </p:txBody>
        </p:sp>
        <p:sp>
          <p:nvSpPr>
            <p:cNvPr id="24" name="TextBox 24"/>
            <p:cNvSpPr txBox="1"/>
            <p:nvPr/>
          </p:nvSpPr>
          <p:spPr>
            <a:xfrm>
              <a:off x="2276666" y="3386614"/>
              <a:ext cx="702208" cy="249364"/>
            </a:xfrm>
            <a:prstGeom prst="rect">
              <a:avLst/>
            </a:prstGeom>
            <a:noFill/>
            <a:ln>
              <a:noFill/>
            </a:ln>
          </p:spPr>
          <p:txBody>
            <a:bodyPr wrap="none" lIns="0" tIns="0" rIns="0" bIns="0" anchor="t" anchorCtr="0">
              <a:spAutoFit/>
            </a:bodyPr>
            <a:lstStyle/>
            <a:p>
              <a:pPr algn="l"/>
              <a:r>
                <a:rPr lang="zh-CN" sz="1280" b="1" dirty="0">
                  <a:solidFill>
                    <a:srgbClr val="243B53"/>
                  </a:solidFill>
                  <a:latin typeface="+mn-lt"/>
                  <a:ea typeface="+mn-ea"/>
                  <a:cs typeface="+mn-cs"/>
                </a:rPr>
                <a:t>评价准则</a:t>
              </a:r>
            </a:p>
          </p:txBody>
        </p:sp>
        <p:sp>
          <p:nvSpPr>
            <p:cNvPr id="25" name="TextBox 25"/>
            <p:cNvSpPr txBox="1"/>
            <p:nvPr/>
          </p:nvSpPr>
          <p:spPr>
            <a:xfrm>
              <a:off x="622173" y="2934176"/>
              <a:ext cx="1046836"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软件质量要素</a:t>
              </a:r>
            </a:p>
          </p:txBody>
        </p:sp>
      </p:grpSp>
      <mc:AlternateContent xmlns:mc="http://schemas.openxmlformats.org/markup-compatibility/2006">
        <mc:Choice xmlns:a14="http://schemas.microsoft.com/office/drawing/2010/main" Requires="a14">
          <p:sp>
            <p:nvSpPr>
              <p:cNvPr id="27" name="formula3"/>
              <p:cNvSpPr txBox="1">
                <a:spLocks noGrp="1"/>
              </p:cNvSpPr>
              <p:nvPr/>
            </p:nvSpPr>
            <p:spPr>
              <a:xfrm>
                <a:off x="533400" y="3968115"/>
                <a:ext cx="4544378" cy="69151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650" dirty="0">
                              <a:solidFill>
                                <a:srgbClr val="1F2937"/>
                              </a:solidFill>
                              <a:latin typeface="Cambria Math"/>
                              <a:ea typeface="Cambria Math"/>
                              <a:cs typeface="Cambria Math"/>
                            </a:rPr>
                            <m:t>F</m:t>
                          </m:r>
                        </m:e>
                        <m:sub>
                          <m:r>
                            <a:rPr lang="zh-CN" sz="1650" dirty="0">
                              <a:solidFill>
                                <a:srgbClr val="1F2937"/>
                              </a:solidFill>
                              <a:latin typeface="Cambria Math"/>
                              <a:ea typeface="Cambria Math"/>
                              <a:cs typeface="Cambria Math"/>
                            </a:rPr>
                            <m:t>j</m:t>
                          </m:r>
                        </m:sub>
                      </m:sSub>
                      <m:r>
                        <m:rPr>
                          <m:sty m:val="p"/>
                        </m:rPr>
                        <a:rPr lang="zh-CN" sz="1650" dirty="0">
                          <a:solidFill>
                            <a:srgbClr val="1F2937"/>
                          </a:solidFill>
                          <a:latin typeface="Cambria Math"/>
                          <a:ea typeface="Cambria Math"/>
                          <a:cs typeface="Cambria Math"/>
                        </a:rPr>
                        <m:t>=</m:t>
                      </m:r>
                      <m:nary>
                        <m:naryPr>
                          <m:chr m:val="∑"/>
                          <m:limLoc m:val="undOvr"/>
                          <m:grow m:val="off"/>
                          <m:subHide m:val="off"/>
                          <m:supHide m:val="off"/>
                          <m:ctrlPr>
                            <a:rPr lang="zh-CN" sz="1650" dirty="0">
                              <a:solidFill>
                                <a:srgbClr val="1F2937"/>
                              </a:solidFill>
                              <a:latin typeface="Cambria Math"/>
                              <a:ea typeface="Cambria Math"/>
                              <a:cs typeface="Cambria Math"/>
                            </a:rPr>
                          </m:ctrlPr>
                        </m:naryPr>
                        <m:sub>
                          <m:r>
                            <a:rPr lang="zh-CN" sz="1650" dirty="0">
                              <a:solidFill>
                                <a:srgbClr val="1F2937"/>
                              </a:solidFill>
                              <a:latin typeface="Cambria Math"/>
                              <a:ea typeface="Cambria Math"/>
                              <a:cs typeface="Cambria Math"/>
                            </a:rPr>
                            <m:t>k</m:t>
                          </m:r>
                          <m:r>
                            <m:rPr>
                              <m:sty m:val="p"/>
                            </m:rPr>
                            <a:rPr lang="zh-CN" sz="1650" dirty="0">
                              <a:solidFill>
                                <a:srgbClr val="1F2937"/>
                              </a:solidFill>
                              <a:latin typeface="Cambria Math"/>
                              <a:ea typeface="Cambria Math"/>
                              <a:cs typeface="Cambria Math"/>
                            </a:rPr>
                            <m:t>=</m:t>
                          </m:r>
                          <m:r>
                            <a:rPr lang="zh-CN" sz="1650" dirty="0">
                              <a:solidFill>
                                <a:srgbClr val="1F2937"/>
                              </a:solidFill>
                              <a:latin typeface="Cambria Math"/>
                              <a:ea typeface="Cambria Math"/>
                              <a:cs typeface="Cambria Math"/>
                            </a:rPr>
                            <m:t>1</m:t>
                          </m:r>
                        </m:sub>
                        <m:sup>
                          <m:r>
                            <a:rPr lang="zh-CN" sz="1650" dirty="0">
                              <a:solidFill>
                                <a:srgbClr val="1F2937"/>
                              </a:solidFill>
                              <a:latin typeface="Cambria Math"/>
                              <a:ea typeface="Cambria Math"/>
                              <a:cs typeface="Cambria Math"/>
                            </a:rPr>
                            <m:t>L</m:t>
                          </m:r>
                        </m:sup>
                        <m:e>
                          <m:sSub>
                            <m:e>
                              <m:r>
                                <a:rPr lang="zh-CN" sz="1650" dirty="0">
                                  <a:solidFill>
                                    <a:srgbClr val="1F2937"/>
                                  </a:solidFill>
                                  <a:latin typeface="Cambria Math"/>
                                  <a:ea typeface="Cambria Math"/>
                                  <a:cs typeface="Cambria Math"/>
                                </a:rPr>
                                <m:t>C</m:t>
                              </m:r>
                            </m:e>
                            <m:sub>
                              <m:r>
                                <a:rPr lang="zh-CN" sz="1650" dirty="0">
                                  <a:solidFill>
                                    <a:srgbClr val="1F2937"/>
                                  </a:solidFill>
                                  <a:latin typeface="Cambria Math"/>
                                  <a:ea typeface="Cambria Math"/>
                                  <a:cs typeface="Cambria Math"/>
                                </a:rPr>
                                <m:t>jk</m:t>
                              </m:r>
                            </m:sub>
                          </m:sSub>
                          <m:sSub>
                            <m:e>
                              <m:r>
                                <a:rPr lang="zh-CN" sz="1650" dirty="0">
                                  <a:solidFill>
                                    <a:srgbClr val="1F2937"/>
                                  </a:solidFill>
                                  <a:latin typeface="Cambria Math"/>
                                  <a:ea typeface="Cambria Math"/>
                                  <a:cs typeface="Cambria Math"/>
                                </a:rPr>
                                <m:t>M</m:t>
                              </m:r>
                            </m:e>
                            <m:sub>
                              <m:r>
                                <a:rPr lang="zh-CN" sz="1650" dirty="0">
                                  <a:solidFill>
                                    <a:srgbClr val="1F2937"/>
                                  </a:solidFill>
                                  <a:latin typeface="Cambria Math"/>
                                  <a:ea typeface="Cambria Math"/>
                                  <a:cs typeface="Cambria Math"/>
                                </a:rPr>
                                <m:t>k</m:t>
                              </m:r>
                            </m:sub>
                          </m:sSub>
                        </m:e>
                      </m:nary>
                    </m:oMath>
                  </m:oMathPara>
                </a14:m>
              </a:p>
            </p:txBody>
          </p:sp>
        </mc:Choice>
      </mc:AlternateContent>
      <p:grpSp>
        <p:nvGrpSpPr>
          <p:cNvPr id="29" name="c1-text-3"/>
          <p:cNvGrpSpPr/>
          <p:nvPr/>
        </p:nvGrpSpPr>
        <p:grpSpPr>
          <a:xfrm>
            <a:off x="526923" y="4870609"/>
            <a:ext cx="4304538" cy="500824"/>
            <a:chOff x="526923" y="4870609"/>
            <a:chExt cx="4304538" cy="500824"/>
          </a:xfrm>
        </p:grpSpPr>
        <p:sp>
          <p:nvSpPr>
            <p:cNvPr id="28" name="TextBox 28"/>
            <p:cNvSpPr txBox="1"/>
            <p:nvPr/>
          </p:nvSpPr>
          <p:spPr>
            <a:xfrm>
              <a:off x="526923" y="4870609"/>
              <a:ext cx="4304538" cy="500824"/>
            </a:xfrm>
            <a:prstGeom prst="rect">
              <a:avLst/>
            </a:prstGeom>
            <a:noFill/>
            <a:ln>
              <a:noFill/>
            </a:ln>
          </p:spPr>
          <p:txBody>
            <a:bodyPr wrap="none" lIns="0" tIns="0" rIns="0" bIns="0" anchor="t" anchorCtr="0">
              <a:spAutoFit/>
            </a:bodyPr>
            <a:lstStyle/>
            <a:p>
              <a:pPr algn="l">
                <a:lnSpc>
                  <a:spcPts val="1980"/>
                </a:lnSpc>
              </a:pPr>
              <a:r>
                <a:rPr lang="zh-CN" sz="1280" dirty="0">
                  <a:solidFill>
                    <a:srgbClr val="1F2937"/>
                  </a:solidFill>
                  <a:latin typeface="+mn-lt"/>
                  <a:ea typeface="+mn-ea"/>
                  <a:cs typeface="+mn-cs"/>
                </a:rPr>
                <a:t>Mₖ 是质量要素 Fⱼ 对第 k 种评价准则的测量值，Cⱼₖ 是相应</a:t>
              </a:r>
              <a:br/>
              <a:r>
                <a:rPr lang="zh-CN" sz="1280" dirty="0">
                  <a:solidFill>
                    <a:srgbClr val="1F2937"/>
                  </a:solidFill>
                  <a:latin typeface="+mn-lt"/>
                  <a:ea typeface="+mn-ea"/>
                  <a:cs typeface="+mn-cs"/>
                </a:rPr>
                <a:t>的加权系数。</a:t>
              </a:r>
            </a:p>
          </p:txBody>
        </p:sp>
      </p:grpSp>
      <p:grpSp>
        <p:nvGrpSpPr>
          <p:cNvPr id="45" name="c2-table-1"/>
          <p:cNvGrpSpPr/>
          <p:nvPr/>
        </p:nvGrpSpPr>
        <p:grpSpPr>
          <a:xfrm>
            <a:off x="5376862" y="1967865"/>
            <a:ext cx="6281738" cy="2090262"/>
            <a:chOff x="5376862" y="1967865"/>
            <a:chExt cx="6281738" cy="2090262"/>
          </a:xfrm>
        </p:grpSpPr>
        <p:sp>
          <p:nvSpPr>
            <p:cNvPr id="30" name="Rectangle 30"/>
            <p:cNvSpPr/>
            <p:nvPr/>
          </p:nvSpPr>
          <p:spPr>
            <a:xfrm>
              <a:off x="5382578" y="1967865"/>
              <a:ext cx="6276022" cy="448628"/>
            </a:xfrm>
            <a:prstGeom prst="rect">
              <a:avLst/>
            </a:prstGeom>
            <a:solidFill>
              <a:srgbClr val="334E68"/>
            </a:solidFill>
            <a:ln>
              <a:noFill/>
            </a:ln>
          </p:spPr>
        </p:sp>
        <p:sp>
          <p:nvSpPr>
            <p:cNvPr id="31" name="TextBox 31"/>
            <p:cNvSpPr txBox="1"/>
            <p:nvPr/>
          </p:nvSpPr>
          <p:spPr>
            <a:xfrm>
              <a:off x="5894349" y="2102644"/>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三组</a:t>
              </a:r>
            </a:p>
          </p:txBody>
        </p:sp>
        <p:sp>
          <p:nvSpPr>
            <p:cNvPr id="32" name="TextBox 32"/>
            <p:cNvSpPr txBox="1"/>
            <p:nvPr/>
          </p:nvSpPr>
          <p:spPr>
            <a:xfrm>
              <a:off x="8601100" y="2102644"/>
              <a:ext cx="1219149"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包含的质量要素</a:t>
              </a:r>
            </a:p>
          </p:txBody>
        </p:sp>
        <p:sp>
          <p:nvSpPr>
            <p:cNvPr id="33" name="TextBox 33"/>
            <p:cNvSpPr txBox="1"/>
            <p:nvPr/>
          </p:nvSpPr>
          <p:spPr>
            <a:xfrm>
              <a:off x="5490401" y="2551271"/>
              <a:ext cx="8745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产品运行性</a:t>
              </a:r>
            </a:p>
          </p:txBody>
        </p:sp>
        <p:sp>
          <p:nvSpPr>
            <p:cNvPr id="34" name="TextBox 34"/>
            <p:cNvSpPr txBox="1"/>
            <p:nvPr/>
          </p:nvSpPr>
          <p:spPr>
            <a:xfrm>
              <a:off x="6871526" y="2551271"/>
              <a:ext cx="328691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正确性、可靠性、有效性、完整性、可用性</a:t>
              </a:r>
            </a:p>
          </p:txBody>
        </p:sp>
        <p:sp>
          <p:nvSpPr>
            <p:cNvPr id="35" name="Rectangle 35"/>
            <p:cNvSpPr/>
            <p:nvPr/>
          </p:nvSpPr>
          <p:spPr>
            <a:xfrm>
              <a:off x="5382578" y="2860358"/>
              <a:ext cx="6276022" cy="9525"/>
            </a:xfrm>
            <a:prstGeom prst="rect">
              <a:avLst/>
            </a:prstGeom>
            <a:solidFill>
              <a:srgbClr val="D9DFEA"/>
            </a:solidFill>
            <a:ln>
              <a:noFill/>
            </a:ln>
          </p:spPr>
        </p:sp>
        <p:sp>
          <p:nvSpPr>
            <p:cNvPr id="36" name="Rectangle 36"/>
            <p:cNvSpPr/>
            <p:nvPr/>
          </p:nvSpPr>
          <p:spPr>
            <a:xfrm>
              <a:off x="5382578" y="2865120"/>
              <a:ext cx="6276022" cy="448628"/>
            </a:xfrm>
            <a:prstGeom prst="rect">
              <a:avLst/>
            </a:prstGeom>
            <a:solidFill>
              <a:srgbClr val="F4F6FB"/>
            </a:solidFill>
            <a:ln>
              <a:noFill/>
            </a:ln>
          </p:spPr>
        </p:sp>
        <p:sp>
          <p:nvSpPr>
            <p:cNvPr id="37" name="TextBox 37"/>
            <p:cNvSpPr txBox="1"/>
            <p:nvPr/>
          </p:nvSpPr>
          <p:spPr>
            <a:xfrm>
              <a:off x="5490401" y="3000851"/>
              <a:ext cx="8745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产品修正性</a:t>
              </a:r>
            </a:p>
          </p:txBody>
        </p:sp>
        <p:sp>
          <p:nvSpPr>
            <p:cNvPr id="38" name="TextBox 38"/>
            <p:cNvSpPr txBox="1"/>
            <p:nvPr/>
          </p:nvSpPr>
          <p:spPr>
            <a:xfrm>
              <a:off x="6871526" y="3000851"/>
              <a:ext cx="225303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可维护性、灵活性、可测试性</a:t>
              </a:r>
            </a:p>
          </p:txBody>
        </p:sp>
        <p:sp>
          <p:nvSpPr>
            <p:cNvPr id="39" name="Rectangle 39"/>
            <p:cNvSpPr/>
            <p:nvPr/>
          </p:nvSpPr>
          <p:spPr>
            <a:xfrm>
              <a:off x="5382578" y="3308985"/>
              <a:ext cx="6276022" cy="9525"/>
            </a:xfrm>
            <a:prstGeom prst="rect">
              <a:avLst/>
            </a:prstGeom>
            <a:solidFill>
              <a:srgbClr val="D9DFEA"/>
            </a:solidFill>
            <a:ln>
              <a:noFill/>
            </a:ln>
          </p:spPr>
        </p:sp>
        <p:sp>
          <p:nvSpPr>
            <p:cNvPr id="40" name="TextBox 40"/>
            <p:cNvSpPr txBox="1"/>
            <p:nvPr/>
          </p:nvSpPr>
          <p:spPr>
            <a:xfrm>
              <a:off x="5490401" y="3449479"/>
              <a:ext cx="8745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产品转移性</a:t>
              </a:r>
            </a:p>
          </p:txBody>
        </p:sp>
        <p:sp>
          <p:nvSpPr>
            <p:cNvPr id="41" name="TextBox 41"/>
            <p:cNvSpPr txBox="1"/>
            <p:nvPr/>
          </p:nvSpPr>
          <p:spPr>
            <a:xfrm>
              <a:off x="6871526" y="3449479"/>
              <a:ext cx="259765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可移植性、可重用性、可互操作性</a:t>
              </a:r>
            </a:p>
          </p:txBody>
        </p:sp>
        <p:sp>
          <p:nvSpPr>
            <p:cNvPr id="42" name="Rectangle 42"/>
            <p:cNvSpPr/>
            <p:nvPr/>
          </p:nvSpPr>
          <p:spPr>
            <a:xfrm>
              <a:off x="5382578" y="1967865"/>
              <a:ext cx="6276022" cy="1795462"/>
            </a:xfrm>
            <a:prstGeom prst="rect">
              <a:avLst/>
            </a:prstGeom>
            <a:noFill/>
            <a:ln w="14288">
              <a:solidFill>
                <a:srgbClr val="D9DFEA"/>
              </a:solidFill>
            </a:ln>
          </p:spPr>
        </p:sp>
        <p:sp>
          <p:nvSpPr>
            <p:cNvPr id="43" name="Rectangle 43"/>
            <p:cNvSpPr/>
            <p:nvPr/>
          </p:nvSpPr>
          <p:spPr>
            <a:xfrm>
              <a:off x="6758940" y="1967865"/>
              <a:ext cx="9525" cy="1795462"/>
            </a:xfrm>
            <a:prstGeom prst="rect">
              <a:avLst/>
            </a:prstGeom>
            <a:solidFill>
              <a:srgbClr val="D9DFEA"/>
            </a:solidFill>
            <a:ln>
              <a:noFill/>
            </a:ln>
          </p:spPr>
        </p:sp>
        <p:sp>
          <p:nvSpPr>
            <p:cNvPr id="44" name="TextBox 44"/>
            <p:cNvSpPr txBox="1"/>
            <p:nvPr/>
          </p:nvSpPr>
          <p:spPr>
            <a:xfrm>
              <a:off x="5376862" y="3838099"/>
              <a:ext cx="2945841"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McCall 把质量要素按“用、改、搬”分成三组</a:t>
              </a:r>
            </a:p>
          </p:txBody>
        </p:sp>
      </p:grpSp>
      <p:grpSp>
        <p:nvGrpSpPr>
          <p:cNvPr id="52" name="c2-card-2"/>
          <p:cNvGrpSpPr/>
          <p:nvPr/>
        </p:nvGrpSpPr>
        <p:grpSpPr>
          <a:xfrm>
            <a:off x="5382578" y="4204335"/>
            <a:ext cx="6276022" cy="1937385"/>
            <a:chOff x="5382578" y="4204335"/>
            <a:chExt cx="6276022" cy="1937385"/>
          </a:xfrm>
        </p:grpSpPr>
        <p:sp>
          <p:nvSpPr>
            <p:cNvPr id="46" name="Rectangle 46"/>
            <p:cNvSpPr/>
            <p:nvPr/>
          </p:nvSpPr>
          <p:spPr>
            <a:xfrm>
              <a:off x="5382578" y="4204335"/>
              <a:ext cx="6276022" cy="1937385"/>
            </a:xfrm>
            <a:prstGeom prst="roundRect">
              <a:avLst>
                <a:gd name="adj" fmla="val 6883"/>
              </a:avLst>
            </a:prstGeom>
            <a:solidFill>
              <a:srgbClr val="FFFFFF"/>
            </a:solidFill>
            <a:ln w="14288">
              <a:solidFill>
                <a:srgbClr val="D9DFEA"/>
              </a:solidFill>
            </a:ln>
          </p:spPr>
        </p:sp>
        <p:sp>
          <p:nvSpPr>
            <p:cNvPr id="47" name="Rectangle 47"/>
            <p:cNvSpPr/>
            <p:nvPr/>
          </p:nvSpPr>
          <p:spPr>
            <a:xfrm>
              <a:off x="5392102" y="4337685"/>
              <a:ext cx="47625" cy="1670685"/>
            </a:xfrm>
            <a:prstGeom prst="roundRect">
              <a:avLst>
                <a:gd name="adj" fmla="val 50000"/>
              </a:avLst>
            </a:prstGeom>
            <a:solidFill>
              <a:srgbClr val="5B6475"/>
            </a:solidFill>
            <a:ln>
              <a:noFill/>
            </a:ln>
          </p:spPr>
        </p:sp>
        <p:sp>
          <p:nvSpPr>
            <p:cNvPr id="48" name="Rectangle 48"/>
            <p:cNvSpPr/>
            <p:nvPr/>
          </p:nvSpPr>
          <p:spPr>
            <a:xfrm>
              <a:off x="5630228" y="4413885"/>
              <a:ext cx="1129665" cy="257175"/>
            </a:xfrm>
            <a:prstGeom prst="roundRect">
              <a:avLst>
                <a:gd name="adj" fmla="val 50000"/>
              </a:avLst>
            </a:prstGeom>
            <a:solidFill>
              <a:srgbClr val="F4F6FB"/>
            </a:solidFill>
            <a:ln>
              <a:noFill/>
            </a:ln>
          </p:spPr>
        </p:sp>
        <p:sp>
          <p:nvSpPr>
            <p:cNvPr id="49" name="TextBox 49"/>
            <p:cNvSpPr txBox="1"/>
            <p:nvPr/>
          </p:nvSpPr>
          <p:spPr>
            <a:xfrm>
              <a:off x="5701590" y="4449604"/>
              <a:ext cx="986940"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21 条评价准则</a:t>
              </a:r>
            </a:p>
          </p:txBody>
        </p:sp>
        <p:sp>
          <p:nvSpPr>
            <p:cNvPr id="50" name="TextBox 50"/>
            <p:cNvSpPr txBox="1"/>
            <p:nvPr/>
          </p:nvSpPr>
          <p:spPr>
            <a:xfrm>
              <a:off x="5622608" y="4791075"/>
              <a:ext cx="5539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可审查性、准确性、通信通用性、完全性、简明性、一致性、数据</a:t>
              </a:r>
              <a:br/>
              <a:r>
                <a:rPr lang="zh-CN" sz="1500" dirty="0">
                  <a:solidFill>
                    <a:srgbClr val="1F2937"/>
                  </a:solidFill>
                  <a:latin typeface="+mn-lt"/>
                  <a:ea typeface="+mn-ea"/>
                  <a:cs typeface="+mn-cs"/>
                </a:rPr>
                <a:t>通用性、容错性、执行效率、可扩充性、通用性</a:t>
              </a:r>
            </a:p>
          </p:txBody>
        </p:sp>
        <p:sp>
          <p:nvSpPr>
            <p:cNvPr id="51" name="TextBox 51"/>
            <p:cNvSpPr txBox="1"/>
            <p:nvPr/>
          </p:nvSpPr>
          <p:spPr>
            <a:xfrm>
              <a:off x="5622608" y="5412105"/>
              <a:ext cx="5539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硬件独立性、检测性、模块化、可操作性、安全性、自文档化、简</a:t>
              </a:r>
              <a:br/>
              <a:r>
                <a:rPr lang="zh-CN" sz="1500" dirty="0">
                  <a:solidFill>
                    <a:srgbClr val="1F2937"/>
                  </a:solidFill>
                  <a:latin typeface="+mn-lt"/>
                  <a:ea typeface="+mn-ea"/>
                  <a:cs typeface="+mn-cs"/>
                </a:rPr>
                <a:t>单性、软件系统独立性、可追踪性、易培训性</a:t>
              </a:r>
            </a:p>
          </p:txBody>
        </p:sp>
      </p:grpSp>
      <p:grpSp>
        <p:nvGrpSpPr>
          <p:cNvPr id="55" name="footer"/>
          <p:cNvGrpSpPr/>
          <p:nvPr/>
        </p:nvGrpSpPr>
        <p:grpSpPr>
          <a:xfrm>
            <a:off x="528447" y="6581299"/>
            <a:ext cx="11135106" cy="190690"/>
            <a:chOff x="528447" y="6581299"/>
            <a:chExt cx="11135106" cy="190690"/>
          </a:xfrm>
        </p:grpSpPr>
        <p:sp>
          <p:nvSpPr>
            <p:cNvPr id="53" name="TextBox 53"/>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54" name="TextBox 5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2129790" cy="266700"/>
            </a:xfrm>
            <a:prstGeom prst="roundRect">
              <a:avLst>
                <a:gd name="adj" fmla="val 50000"/>
              </a:avLst>
            </a:prstGeom>
            <a:solidFill>
              <a:srgbClr val="E7EDF3"/>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软件与软件危机</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差错传播模型：错误会在下一个阶段被放大</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7673188" cy="308039"/>
            <a:chOff x="525399" y="1550194"/>
            <a:chExt cx="7673188" cy="308039"/>
          </a:xfrm>
        </p:grpSpPr>
        <p:sp>
          <p:nvSpPr>
            <p:cNvPr id="7" name="TextBox 7"/>
            <p:cNvSpPr txBox="1"/>
            <p:nvPr/>
          </p:nvSpPr>
          <p:spPr>
            <a:xfrm>
              <a:off x="525399" y="1550194"/>
              <a:ext cx="7673188"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把一个开发步骤看成一个方框，前一阶段传来的差错分成不扩大和会扩大两部分。</a:t>
              </a:r>
            </a:p>
          </p:txBody>
        </p:sp>
      </p:grpSp>
      <p:grpSp>
        <p:nvGrpSpPr>
          <p:cNvPr id="35" name="c1-flow-1"/>
          <p:cNvGrpSpPr/>
          <p:nvPr/>
        </p:nvGrpSpPr>
        <p:grpSpPr>
          <a:xfrm>
            <a:off x="666750" y="1970722"/>
            <a:ext cx="4711066" cy="1899285"/>
            <a:chOff x="666750" y="1970722"/>
            <a:chExt cx="4711066" cy="1899285"/>
          </a:xfrm>
        </p:grpSpPr>
        <p:sp>
          <p:nvSpPr>
            <p:cNvPr id="9" name="Freeform 9"/>
            <p:cNvSpPr/>
            <p:nvPr/>
          </p:nvSpPr>
          <p:spPr>
            <a:xfrm>
              <a:off x="1155382" y="2602230"/>
              <a:ext cx="1244918" cy="101917"/>
            </a:xfrm>
            <a:custGeom>
              <a:avLst/>
              <a:gdLst/>
              <a:ahLst/>
              <a:cxnLst/>
              <a:rect l="l" t="t" r="r" b="b"/>
              <a:pathLst>
                <a:path w="1244918" h="101917">
                  <a:moveTo>
                    <a:pt x="0" y="2858"/>
                  </a:moveTo>
                  <a:lnTo>
                    <a:pt x="0" y="0"/>
                  </a:lnTo>
                  <a:lnTo>
                    <a:pt x="1244918" y="0"/>
                  </a:lnTo>
                  <a:lnTo>
                    <a:pt x="1244918" y="101917"/>
                  </a:lnTo>
                </a:path>
              </a:pathLst>
            </a:custGeom>
            <a:noFill/>
            <a:ln w="15240">
              <a:solidFill>
                <a:srgbClr val="5B6475"/>
              </a:solidFill>
            </a:ln>
          </p:spPr>
        </p:sp>
        <p:sp>
          <p:nvSpPr>
            <p:cNvPr id="10" name="Freeform 10"/>
            <p:cNvSpPr/>
            <p:nvPr/>
          </p:nvSpPr>
          <p:spPr>
            <a:xfrm>
              <a:off x="2347912" y="2599372"/>
              <a:ext cx="104775" cy="104775"/>
            </a:xfrm>
            <a:custGeom>
              <a:avLst/>
              <a:gdLst/>
              <a:ahLst/>
              <a:cxnLst/>
              <a:rect l="l" t="t" r="r" b="b"/>
              <a:pathLst>
                <a:path w="104775" h="104775">
                  <a:moveTo>
                    <a:pt x="52388" y="0"/>
                  </a:moveTo>
                  <a:lnTo>
                    <a:pt x="104775" y="104775"/>
                  </a:lnTo>
                  <a:lnTo>
                    <a:pt x="0" y="104775"/>
                  </a:lnTo>
                  <a:close/>
                </a:path>
              </a:pathLst>
            </a:custGeom>
            <a:solidFill>
              <a:srgbClr val="5B6475"/>
            </a:solidFill>
            <a:ln>
              <a:noFill/>
            </a:ln>
          </p:spPr>
        </p:sp>
        <p:sp>
          <p:nvSpPr>
            <p:cNvPr id="11" name="Freeform 11"/>
            <p:cNvSpPr/>
            <p:nvPr/>
          </p:nvSpPr>
          <p:spPr>
            <a:xfrm>
              <a:off x="1644015" y="2920365"/>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12" name="Freeform 12"/>
            <p:cNvSpPr/>
            <p:nvPr/>
          </p:nvSpPr>
          <p:spPr>
            <a:xfrm>
              <a:off x="1805940" y="286797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3" name="Freeform 13"/>
            <p:cNvSpPr/>
            <p:nvPr/>
          </p:nvSpPr>
          <p:spPr>
            <a:xfrm>
              <a:off x="1155382" y="3135630"/>
              <a:ext cx="1244918" cy="101917"/>
            </a:xfrm>
            <a:custGeom>
              <a:avLst/>
              <a:gdLst/>
              <a:ahLst/>
              <a:cxnLst/>
              <a:rect l="l" t="t" r="r" b="b"/>
              <a:pathLst>
                <a:path w="1244918" h="101917">
                  <a:moveTo>
                    <a:pt x="0" y="99060"/>
                  </a:moveTo>
                  <a:lnTo>
                    <a:pt x="0" y="101917"/>
                  </a:lnTo>
                  <a:lnTo>
                    <a:pt x="1244918" y="101917"/>
                  </a:lnTo>
                  <a:lnTo>
                    <a:pt x="1244918" y="0"/>
                  </a:lnTo>
                </a:path>
              </a:pathLst>
            </a:custGeom>
            <a:noFill/>
            <a:ln w="15240">
              <a:solidFill>
                <a:srgbClr val="5B6475"/>
              </a:solidFill>
            </a:ln>
          </p:spPr>
        </p:sp>
        <p:sp>
          <p:nvSpPr>
            <p:cNvPr id="14" name="Freeform 14"/>
            <p:cNvSpPr/>
            <p:nvPr/>
          </p:nvSpPr>
          <p:spPr>
            <a:xfrm>
              <a:off x="2347912" y="313563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5" name="Freeform 15"/>
            <p:cNvSpPr/>
            <p:nvPr/>
          </p:nvSpPr>
          <p:spPr>
            <a:xfrm>
              <a:off x="2888932" y="2285048"/>
              <a:ext cx="161925" cy="635318"/>
            </a:xfrm>
            <a:custGeom>
              <a:avLst/>
              <a:gdLst/>
              <a:ahLst/>
              <a:cxnLst/>
              <a:rect l="l" t="t" r="r" b="b"/>
              <a:pathLst>
                <a:path w="161925" h="635318">
                  <a:moveTo>
                    <a:pt x="0" y="0"/>
                  </a:moveTo>
                  <a:lnTo>
                    <a:pt x="133350" y="0"/>
                  </a:lnTo>
                  <a:lnTo>
                    <a:pt x="133350" y="635318"/>
                  </a:lnTo>
                  <a:lnTo>
                    <a:pt x="161925" y="635318"/>
                  </a:lnTo>
                </a:path>
              </a:pathLst>
            </a:custGeom>
            <a:noFill/>
            <a:ln w="15240">
              <a:solidFill>
                <a:srgbClr val="5B6475"/>
              </a:solidFill>
            </a:ln>
          </p:spPr>
        </p:sp>
        <p:sp>
          <p:nvSpPr>
            <p:cNvPr id="16" name="Freeform 16"/>
            <p:cNvSpPr/>
            <p:nvPr/>
          </p:nvSpPr>
          <p:spPr>
            <a:xfrm>
              <a:off x="3050858" y="286797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7" name="Freeform 17"/>
            <p:cNvSpPr/>
            <p:nvPr/>
          </p:nvSpPr>
          <p:spPr>
            <a:xfrm>
              <a:off x="2888932" y="2920365"/>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18" name="Freeform 18"/>
            <p:cNvSpPr/>
            <p:nvPr/>
          </p:nvSpPr>
          <p:spPr>
            <a:xfrm>
              <a:off x="3050858" y="286797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9" name="Freeform 19"/>
            <p:cNvSpPr/>
            <p:nvPr/>
          </p:nvSpPr>
          <p:spPr>
            <a:xfrm>
              <a:off x="2888932" y="2920365"/>
              <a:ext cx="161925" cy="634365"/>
            </a:xfrm>
            <a:custGeom>
              <a:avLst/>
              <a:gdLst/>
              <a:ahLst/>
              <a:cxnLst/>
              <a:rect l="l" t="t" r="r" b="b"/>
              <a:pathLst>
                <a:path w="161925" h="634365">
                  <a:moveTo>
                    <a:pt x="0" y="634365"/>
                  </a:moveTo>
                  <a:lnTo>
                    <a:pt x="133350" y="634365"/>
                  </a:lnTo>
                  <a:lnTo>
                    <a:pt x="133350" y="0"/>
                  </a:lnTo>
                  <a:lnTo>
                    <a:pt x="161925" y="0"/>
                  </a:lnTo>
                </a:path>
              </a:pathLst>
            </a:custGeom>
            <a:noFill/>
            <a:ln w="15240">
              <a:solidFill>
                <a:srgbClr val="5B6475"/>
              </a:solidFill>
            </a:ln>
          </p:spPr>
        </p:sp>
        <p:sp>
          <p:nvSpPr>
            <p:cNvPr id="20" name="Freeform 20"/>
            <p:cNvSpPr/>
            <p:nvPr/>
          </p:nvSpPr>
          <p:spPr>
            <a:xfrm>
              <a:off x="3050858" y="286797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21" name="Freeform 21"/>
            <p:cNvSpPr/>
            <p:nvPr/>
          </p:nvSpPr>
          <p:spPr>
            <a:xfrm>
              <a:off x="4132898" y="2920365"/>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22" name="Freeform 22"/>
            <p:cNvSpPr/>
            <p:nvPr/>
          </p:nvSpPr>
          <p:spPr>
            <a:xfrm>
              <a:off x="4294822" y="286797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23" name="Freeform 23"/>
            <p:cNvSpPr/>
            <p:nvPr/>
          </p:nvSpPr>
          <p:spPr>
            <a:xfrm>
              <a:off x="666750" y="2605088"/>
              <a:ext cx="977265" cy="629603"/>
            </a:xfrm>
            <a:custGeom>
              <a:avLst/>
              <a:gdLst/>
              <a:ahLst/>
              <a:cxnLst/>
              <a:rect l="l" t="t" r="r" b="b"/>
              <a:pathLst>
                <a:path w="977265" h="629603">
                  <a:moveTo>
                    <a:pt x="133350" y="0"/>
                  </a:moveTo>
                  <a:lnTo>
                    <a:pt x="977265" y="0"/>
                  </a:lnTo>
                  <a:lnTo>
                    <a:pt x="843915" y="629603"/>
                  </a:lnTo>
                  <a:lnTo>
                    <a:pt x="0" y="629603"/>
                  </a:lnTo>
                  <a:close/>
                </a:path>
              </a:pathLst>
            </a:custGeom>
            <a:solidFill>
              <a:srgbClr val="E7EDF3"/>
            </a:solidFill>
            <a:ln w="13335">
              <a:solidFill>
                <a:srgbClr val="334E68"/>
              </a:solidFill>
            </a:ln>
          </p:spPr>
        </p:sp>
        <p:sp>
          <p:nvSpPr>
            <p:cNvPr id="24" name="Rectangle 24"/>
            <p:cNvSpPr/>
            <p:nvPr/>
          </p:nvSpPr>
          <p:spPr>
            <a:xfrm>
              <a:off x="1910715" y="1970722"/>
              <a:ext cx="977265" cy="629602"/>
            </a:xfrm>
            <a:prstGeom prst="roundRect">
              <a:avLst>
                <a:gd name="adj" fmla="val 15129"/>
              </a:avLst>
            </a:prstGeom>
            <a:solidFill>
              <a:srgbClr val="FFFFFF"/>
            </a:solidFill>
            <a:ln w="15240">
              <a:solidFill>
                <a:srgbClr val="334E68"/>
              </a:solidFill>
            </a:ln>
          </p:spPr>
        </p:sp>
        <p:sp>
          <p:nvSpPr>
            <p:cNvPr id="25" name="Rectangle 25"/>
            <p:cNvSpPr/>
            <p:nvPr/>
          </p:nvSpPr>
          <p:spPr>
            <a:xfrm>
              <a:off x="1910715" y="2605088"/>
              <a:ext cx="977265" cy="629602"/>
            </a:xfrm>
            <a:prstGeom prst="roundRect">
              <a:avLst>
                <a:gd name="adj" fmla="val 15129"/>
              </a:avLst>
            </a:prstGeom>
            <a:solidFill>
              <a:srgbClr val="E7EDF3"/>
            </a:solidFill>
            <a:ln w="19050">
              <a:solidFill>
                <a:srgbClr val="334E68"/>
              </a:solidFill>
            </a:ln>
          </p:spPr>
        </p:sp>
        <p:sp>
          <p:nvSpPr>
            <p:cNvPr id="26" name="Rectangle 26"/>
            <p:cNvSpPr/>
            <p:nvPr/>
          </p:nvSpPr>
          <p:spPr>
            <a:xfrm>
              <a:off x="1910715" y="3240405"/>
              <a:ext cx="977265" cy="629602"/>
            </a:xfrm>
            <a:prstGeom prst="roundRect">
              <a:avLst>
                <a:gd name="adj" fmla="val 15129"/>
              </a:avLst>
            </a:prstGeom>
            <a:solidFill>
              <a:srgbClr val="FFFFFF"/>
            </a:solidFill>
            <a:ln w="15240">
              <a:solidFill>
                <a:srgbClr val="334E68"/>
              </a:solidFill>
            </a:ln>
          </p:spPr>
        </p:sp>
        <p:sp>
          <p:nvSpPr>
            <p:cNvPr id="27" name="Freeform 27"/>
            <p:cNvSpPr/>
            <p:nvPr/>
          </p:nvSpPr>
          <p:spPr>
            <a:xfrm>
              <a:off x="3155632" y="2509838"/>
              <a:ext cx="977265" cy="820103"/>
            </a:xfrm>
            <a:custGeom>
              <a:avLst/>
              <a:gdLst/>
              <a:ahLst/>
              <a:cxnLst/>
              <a:rect l="l" t="t" r="r" b="b"/>
              <a:pathLst>
                <a:path w="977265" h="820103">
                  <a:moveTo>
                    <a:pt x="488633" y="0"/>
                  </a:moveTo>
                  <a:lnTo>
                    <a:pt x="977265" y="410528"/>
                  </a:lnTo>
                  <a:lnTo>
                    <a:pt x="488633" y="820103"/>
                  </a:lnTo>
                  <a:lnTo>
                    <a:pt x="0" y="410528"/>
                  </a:lnTo>
                  <a:close/>
                </a:path>
              </a:pathLst>
            </a:custGeom>
            <a:solidFill>
              <a:srgbClr val="FDEEE7"/>
            </a:solidFill>
            <a:ln w="15240">
              <a:solidFill>
                <a:srgbClr val="F26B3A"/>
              </a:solidFill>
            </a:ln>
          </p:spPr>
        </p:sp>
        <p:sp>
          <p:nvSpPr>
            <p:cNvPr id="28" name="Freeform 28"/>
            <p:cNvSpPr/>
            <p:nvPr/>
          </p:nvSpPr>
          <p:spPr>
            <a:xfrm>
              <a:off x="4399598" y="2605088"/>
              <a:ext cx="978218" cy="629603"/>
            </a:xfrm>
            <a:custGeom>
              <a:avLst/>
              <a:gdLst/>
              <a:ahLst/>
              <a:cxnLst/>
              <a:rect l="l" t="t" r="r" b="b"/>
              <a:pathLst>
                <a:path w="978218" h="629603">
                  <a:moveTo>
                    <a:pt x="133350" y="0"/>
                  </a:moveTo>
                  <a:lnTo>
                    <a:pt x="978218" y="0"/>
                  </a:lnTo>
                  <a:lnTo>
                    <a:pt x="844868" y="629603"/>
                  </a:lnTo>
                  <a:lnTo>
                    <a:pt x="0" y="629603"/>
                  </a:lnTo>
                  <a:close/>
                </a:path>
              </a:pathLst>
            </a:custGeom>
            <a:solidFill>
              <a:srgbClr val="E7EDF3"/>
            </a:solidFill>
            <a:ln w="13335">
              <a:solidFill>
                <a:srgbClr val="334E68"/>
              </a:solidFill>
            </a:ln>
          </p:spPr>
        </p:sp>
        <p:sp>
          <p:nvSpPr>
            <p:cNvPr id="29" name="TextBox 29"/>
            <p:cNvSpPr txBox="1"/>
            <p:nvPr/>
          </p:nvSpPr>
          <p:spPr>
            <a:xfrm>
              <a:off x="823785" y="2721769"/>
              <a:ext cx="663194" cy="468440"/>
            </a:xfrm>
            <a:prstGeom prst="rect">
              <a:avLst/>
            </a:prstGeom>
            <a:noFill/>
            <a:ln>
              <a:noFill/>
            </a:ln>
          </p:spPr>
          <p:txBody>
            <a:bodyPr wrap="none" lIns="0" tIns="0" rIns="0" bIns="0" anchor="t" anchorCtr="0">
              <a:spAutoFit/>
            </a:bodyPr>
            <a:lstStyle/>
            <a:p>
              <a:pPr algn="ctr">
                <a:lnSpc>
                  <a:spcPts val="1725"/>
                </a:lnSpc>
              </a:pPr>
              <a:r>
                <a:rPr lang="zh-CN" sz="1280" dirty="0">
                  <a:solidFill>
                    <a:srgbClr val="1F2937"/>
                  </a:solidFill>
                  <a:latin typeface="+mn-lt"/>
                  <a:ea typeface="+mn-ea"/>
                  <a:cs typeface="+mn-cs"/>
                </a:rPr>
                <a:t>来自前阶</a:t>
              </a:r>
              <a:br/>
              <a:r>
                <a:rPr lang="zh-CN" sz="1280" dirty="0">
                  <a:solidFill>
                    <a:srgbClr val="1F2937"/>
                  </a:solidFill>
                  <a:latin typeface="+mn-lt"/>
                  <a:ea typeface="+mn-ea"/>
                  <a:cs typeface="+mn-cs"/>
                </a:rPr>
                <a:t>段的差错</a:t>
              </a:r>
            </a:p>
          </p:txBody>
        </p:sp>
        <p:sp>
          <p:nvSpPr>
            <p:cNvPr id="30" name="TextBox 30"/>
            <p:cNvSpPr txBox="1"/>
            <p:nvPr/>
          </p:nvSpPr>
          <p:spPr>
            <a:xfrm>
              <a:off x="2068703" y="2086451"/>
              <a:ext cx="663194" cy="468440"/>
            </a:xfrm>
            <a:prstGeom prst="rect">
              <a:avLst/>
            </a:prstGeom>
            <a:noFill/>
            <a:ln>
              <a:noFill/>
            </a:ln>
          </p:spPr>
          <p:txBody>
            <a:bodyPr wrap="none" lIns="0" tIns="0" rIns="0" bIns="0" anchor="t" anchorCtr="0">
              <a:spAutoFit/>
            </a:bodyPr>
            <a:lstStyle/>
            <a:p>
              <a:pPr algn="ctr">
                <a:lnSpc>
                  <a:spcPts val="1725"/>
                </a:lnSpc>
              </a:pPr>
              <a:r>
                <a:rPr lang="zh-CN" sz="1280" dirty="0">
                  <a:solidFill>
                    <a:srgbClr val="1F2937"/>
                  </a:solidFill>
                  <a:latin typeface="+mn-lt"/>
                  <a:ea typeface="+mn-ea"/>
                  <a:cs typeface="+mn-cs"/>
                </a:rPr>
                <a:t>不扩大的</a:t>
              </a:r>
              <a:br/>
              <a:r>
                <a:rPr lang="zh-CN" sz="1280" dirty="0">
                  <a:solidFill>
                    <a:srgbClr val="1F2937"/>
                  </a:solidFill>
                  <a:latin typeface="+mn-lt"/>
                  <a:ea typeface="+mn-ea"/>
                  <a:cs typeface="+mn-cs"/>
                </a:rPr>
                <a:t>差错</a:t>
              </a:r>
            </a:p>
          </p:txBody>
        </p:sp>
        <p:sp>
          <p:nvSpPr>
            <p:cNvPr id="31" name="TextBox 31"/>
            <p:cNvSpPr txBox="1"/>
            <p:nvPr/>
          </p:nvSpPr>
          <p:spPr>
            <a:xfrm>
              <a:off x="2068703" y="2721769"/>
              <a:ext cx="663194" cy="468440"/>
            </a:xfrm>
            <a:prstGeom prst="rect">
              <a:avLst/>
            </a:prstGeom>
            <a:noFill/>
            <a:ln>
              <a:noFill/>
            </a:ln>
          </p:spPr>
          <p:txBody>
            <a:bodyPr wrap="none" lIns="0" tIns="0" rIns="0" bIns="0" anchor="t" anchorCtr="0">
              <a:spAutoFit/>
            </a:bodyPr>
            <a:lstStyle/>
            <a:p>
              <a:pPr algn="ctr">
                <a:lnSpc>
                  <a:spcPts val="1725"/>
                </a:lnSpc>
              </a:pPr>
              <a:r>
                <a:rPr lang="zh-CN" sz="1280" dirty="0">
                  <a:solidFill>
                    <a:srgbClr val="1F2937"/>
                  </a:solidFill>
                  <a:latin typeface="+mn-lt"/>
                  <a:ea typeface="+mn-ea"/>
                  <a:cs typeface="+mn-cs"/>
                </a:rPr>
                <a:t>扩大的差</a:t>
              </a:r>
              <a:br/>
              <a:r>
                <a:rPr lang="zh-CN" sz="1280" dirty="0">
                  <a:solidFill>
                    <a:srgbClr val="1F2937"/>
                  </a:solidFill>
                  <a:latin typeface="+mn-lt"/>
                  <a:ea typeface="+mn-ea"/>
                  <a:cs typeface="+mn-cs"/>
                </a:rPr>
                <a:t>错</a:t>
              </a:r>
            </a:p>
          </p:txBody>
        </p:sp>
        <p:sp>
          <p:nvSpPr>
            <p:cNvPr id="32" name="TextBox 32"/>
            <p:cNvSpPr txBox="1"/>
            <p:nvPr/>
          </p:nvSpPr>
          <p:spPr>
            <a:xfrm>
              <a:off x="2068703" y="3357086"/>
              <a:ext cx="663194" cy="468440"/>
            </a:xfrm>
            <a:prstGeom prst="rect">
              <a:avLst/>
            </a:prstGeom>
            <a:noFill/>
            <a:ln>
              <a:noFill/>
            </a:ln>
          </p:spPr>
          <p:txBody>
            <a:bodyPr wrap="none" lIns="0" tIns="0" rIns="0" bIns="0" anchor="t" anchorCtr="0">
              <a:spAutoFit/>
            </a:bodyPr>
            <a:lstStyle/>
            <a:p>
              <a:pPr algn="ctr">
                <a:lnSpc>
                  <a:spcPts val="1725"/>
                </a:lnSpc>
              </a:pPr>
              <a:r>
                <a:rPr lang="zh-CN" sz="1280" dirty="0">
                  <a:solidFill>
                    <a:srgbClr val="1F2937"/>
                  </a:solidFill>
                  <a:latin typeface="+mn-lt"/>
                  <a:ea typeface="+mn-ea"/>
                  <a:cs typeface="+mn-cs"/>
                </a:rPr>
                <a:t>新产生的</a:t>
              </a:r>
              <a:br/>
              <a:r>
                <a:rPr lang="zh-CN" sz="1280" dirty="0">
                  <a:solidFill>
                    <a:srgbClr val="1F2937"/>
                  </a:solidFill>
                  <a:latin typeface="+mn-lt"/>
                  <a:ea typeface="+mn-ea"/>
                  <a:cs typeface="+mn-cs"/>
                </a:rPr>
                <a:t>差错</a:t>
              </a:r>
            </a:p>
          </p:txBody>
        </p:sp>
        <p:sp>
          <p:nvSpPr>
            <p:cNvPr id="33" name="TextBox 33"/>
            <p:cNvSpPr txBox="1"/>
            <p:nvPr/>
          </p:nvSpPr>
          <p:spPr>
            <a:xfrm>
              <a:off x="3393948" y="2721769"/>
              <a:ext cx="500634" cy="468440"/>
            </a:xfrm>
            <a:prstGeom prst="rect">
              <a:avLst/>
            </a:prstGeom>
            <a:noFill/>
            <a:ln>
              <a:noFill/>
            </a:ln>
          </p:spPr>
          <p:txBody>
            <a:bodyPr wrap="none" lIns="0" tIns="0" rIns="0" bIns="0" anchor="t" anchorCtr="0">
              <a:spAutoFit/>
            </a:bodyPr>
            <a:lstStyle/>
            <a:p>
              <a:pPr algn="ctr">
                <a:lnSpc>
                  <a:spcPts val="1725"/>
                </a:lnSpc>
              </a:pPr>
              <a:r>
                <a:rPr lang="zh-CN" sz="1280" dirty="0">
                  <a:solidFill>
                    <a:srgbClr val="1F2937"/>
                  </a:solidFill>
                  <a:latin typeface="+mn-lt"/>
                  <a:ea typeface="+mn-ea"/>
                  <a:cs typeface="+mn-cs"/>
                </a:rPr>
                <a:t>差错检</a:t>
              </a:r>
              <a:br/>
              <a:r>
                <a:rPr lang="zh-CN" sz="1280" dirty="0">
                  <a:solidFill>
                    <a:srgbClr val="1F2937"/>
                  </a:solidFill>
                  <a:latin typeface="+mn-lt"/>
                  <a:ea typeface="+mn-ea"/>
                  <a:cs typeface="+mn-cs"/>
                </a:rPr>
                <a:t>出率</a:t>
              </a:r>
            </a:p>
          </p:txBody>
        </p:sp>
        <p:sp>
          <p:nvSpPr>
            <p:cNvPr id="34" name="TextBox 34"/>
            <p:cNvSpPr txBox="1"/>
            <p:nvPr/>
          </p:nvSpPr>
          <p:spPr>
            <a:xfrm>
              <a:off x="4556633" y="2721769"/>
              <a:ext cx="663194" cy="468440"/>
            </a:xfrm>
            <a:prstGeom prst="rect">
              <a:avLst/>
            </a:prstGeom>
            <a:noFill/>
            <a:ln>
              <a:noFill/>
            </a:ln>
          </p:spPr>
          <p:txBody>
            <a:bodyPr wrap="none" lIns="0" tIns="0" rIns="0" bIns="0" anchor="t" anchorCtr="0">
              <a:spAutoFit/>
            </a:bodyPr>
            <a:lstStyle/>
            <a:p>
              <a:pPr algn="ctr">
                <a:lnSpc>
                  <a:spcPts val="1725"/>
                </a:lnSpc>
              </a:pPr>
              <a:r>
                <a:rPr lang="zh-CN" sz="1280" dirty="0">
                  <a:solidFill>
                    <a:srgbClr val="1F2937"/>
                  </a:solidFill>
                  <a:latin typeface="+mn-lt"/>
                  <a:ea typeface="+mn-ea"/>
                  <a:cs typeface="+mn-cs"/>
                </a:rPr>
                <a:t>传往下阶</a:t>
              </a:r>
              <a:br/>
              <a:r>
                <a:rPr lang="zh-CN" sz="1280" dirty="0">
                  <a:solidFill>
                    <a:srgbClr val="1F2937"/>
                  </a:solidFill>
                  <a:latin typeface="+mn-lt"/>
                  <a:ea typeface="+mn-ea"/>
                  <a:cs typeface="+mn-cs"/>
                </a:rPr>
                <a:t>段的差错</a:t>
              </a:r>
            </a:p>
          </p:txBody>
        </p:sp>
      </p:grpSp>
      <mc:AlternateContent xmlns:mc="http://schemas.openxmlformats.org/markup-compatibility/2006">
        <mc:Choice xmlns:a14="http://schemas.microsoft.com/office/drawing/2010/main" Requires="a14">
          <p:sp>
            <p:nvSpPr>
              <p:cNvPr id="36" name="formula5"/>
              <p:cNvSpPr txBox="1">
                <a:spLocks noGrp="1"/>
              </p:cNvSpPr>
              <p:nvPr/>
            </p:nvSpPr>
            <p:spPr>
              <a:xfrm>
                <a:off x="533400" y="4063365"/>
                <a:ext cx="4977765" cy="3619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420" dirty="0">
                              <a:solidFill>
                                <a:srgbClr val="1F2937"/>
                              </a:solidFill>
                              <a:latin typeface="Cambria Math"/>
                              <a:ea typeface="Cambria Math"/>
                              <a:cs typeface="Cambria Math"/>
                            </a:rPr>
                            <m:t>E</m:t>
                          </m:r>
                        </m:e>
                        <m:sub>
                          <m:r>
                            <a:rPr lang="zh-CN" sz="1420" dirty="0">
                              <a:solidFill>
                                <a:srgbClr val="1F2937"/>
                              </a:solidFill>
                              <a:latin typeface="Cambria Math"/>
                              <a:ea typeface="Cambria Math"/>
                              <a:cs typeface="Cambria Math"/>
                            </a:rPr>
                            <m:t>out</m:t>
                          </m:r>
                        </m:sub>
                      </m:sSub>
                      <m:r>
                        <m:rPr>
                          <m:sty m:val="p"/>
                        </m:rPr>
                        <a:rPr lang="zh-CN" sz="1420" dirty="0">
                          <a:solidFill>
                            <a:srgbClr val="1F2937"/>
                          </a:solidFill>
                          <a:latin typeface="Cambria Math"/>
                          <a:ea typeface="Cambria Math"/>
                          <a:cs typeface="Cambria Math"/>
                        </a:rPr>
                        <m:t>=</m:t>
                      </m:r>
                      <m:d>
                        <m:dPr>
                          <m:begChr m:val="("/>
                          <m:sepChr m:val=""/>
                          <m:endChr m:val=")"/>
                          <m:grow m:val="on"/>
                          <m:ctrlPr>
                            <a:rPr lang="zh-CN" sz="1420" dirty="0">
                              <a:solidFill>
                                <a:srgbClr val="1F2937"/>
                              </a:solidFill>
                              <a:latin typeface="Cambria Math"/>
                              <a:ea typeface="Cambria Math"/>
                              <a:cs typeface="Cambria Math"/>
                            </a:rPr>
                          </m:ctrlPr>
                        </m:dPr>
                        <m:e>
                          <m:sSub>
                            <m:e>
                              <m:r>
                                <a:rPr lang="zh-CN" sz="1420" dirty="0">
                                  <a:solidFill>
                                    <a:srgbClr val="1F2937"/>
                                  </a:solidFill>
                                  <a:latin typeface="Cambria Math"/>
                                  <a:ea typeface="Cambria Math"/>
                                  <a:cs typeface="Cambria Math"/>
                                </a:rPr>
                                <m:t>N</m:t>
                              </m:r>
                            </m:e>
                            <m:sub>
                              <m:r>
                                <a:rPr lang="zh-CN" sz="1420" dirty="0">
                                  <a:solidFill>
                                    <a:srgbClr val="1F2937"/>
                                  </a:solidFill>
                                  <a:latin typeface="Cambria Math"/>
                                  <a:ea typeface="Cambria Math"/>
                                  <a:cs typeface="Cambria Math"/>
                                </a:rPr>
                                <m:t>p</m:t>
                              </m:r>
                            </m:sub>
                          </m:sSub>
                          <m:r>
                            <m:rPr>
                              <m:sty m:val="p"/>
                            </m:rPr>
                            <a:rPr lang="zh-CN" sz="1420" dirty="0">
                              <a:solidFill>
                                <a:srgbClr val="1F2937"/>
                              </a:solidFill>
                              <a:latin typeface="Cambria Math"/>
                              <a:ea typeface="Cambria Math"/>
                              <a:cs typeface="Cambria Math"/>
                            </a:rPr>
                            <m:t>+</m:t>
                          </m:r>
                          <m:sSub>
                            <m:e>
                              <m:r>
                                <a:rPr lang="zh-CN" sz="1420" dirty="0">
                                  <a:solidFill>
                                    <a:srgbClr val="1F2937"/>
                                  </a:solidFill>
                                  <a:latin typeface="Cambria Math"/>
                                  <a:ea typeface="Cambria Math"/>
                                  <a:cs typeface="Cambria Math"/>
                                </a:rPr>
                                <m:t>N</m:t>
                              </m:r>
                            </m:e>
                            <m:sub>
                              <m:r>
                                <a:rPr lang="zh-CN" sz="1420" dirty="0">
                                  <a:solidFill>
                                    <a:srgbClr val="1F2937"/>
                                  </a:solidFill>
                                  <a:latin typeface="Cambria Math"/>
                                  <a:ea typeface="Cambria Math"/>
                                  <a:cs typeface="Cambria Math"/>
                                </a:rPr>
                                <m:t>a</m:t>
                              </m:r>
                            </m:sub>
                          </m:sSub>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r</m:t>
                          </m:r>
                          <m:r>
                            <m:rPr>
                              <m:sty m:val="p"/>
                            </m:rPr>
                            <a:rPr lang="zh-CN" sz="1420" dirty="0">
                              <a:solidFill>
                                <a:srgbClr val="1F2937"/>
                              </a:solidFill>
                              <a:latin typeface="Cambria Math"/>
                              <a:ea typeface="Cambria Math"/>
                              <a:cs typeface="Cambria Math"/>
                            </a:rPr>
                            <m:t>+</m:t>
                          </m:r>
                          <m:sSub>
                            <m:e>
                              <m:r>
                                <a:rPr lang="zh-CN" sz="1420" dirty="0">
                                  <a:solidFill>
                                    <a:srgbClr val="1F2937"/>
                                  </a:solidFill>
                                  <a:latin typeface="Cambria Math"/>
                                  <a:ea typeface="Cambria Math"/>
                                  <a:cs typeface="Cambria Math"/>
                                </a:rPr>
                                <m:t>N</m:t>
                              </m:r>
                            </m:e>
                            <m:sub>
                              <m:r>
                                <a:rPr lang="zh-CN" sz="1420" dirty="0">
                                  <a:solidFill>
                                    <a:srgbClr val="1F2937"/>
                                  </a:solidFill>
                                  <a:latin typeface="Cambria Math"/>
                                  <a:ea typeface="Cambria Math"/>
                                  <a:cs typeface="Cambria Math"/>
                                </a:rPr>
                                <m:t>n</m:t>
                              </m:r>
                            </m:sub>
                          </m:sSub>
                        </m:e>
                      </m:d>
                      <m:d>
                        <m:dPr>
                          <m:begChr m:val="("/>
                          <m:sepChr m:val=""/>
                          <m:endChr m:val=")"/>
                          <m:grow m:val="on"/>
                          <m:ctrlPr>
                            <a:rPr lang="zh-CN" sz="1420" dirty="0">
                              <a:solidFill>
                                <a:srgbClr val="1F2937"/>
                              </a:solidFill>
                              <a:latin typeface="Cambria Math"/>
                              <a:ea typeface="Cambria Math"/>
                              <a:cs typeface="Cambria Math"/>
                            </a:rPr>
                          </m:ctrlPr>
                        </m:dPr>
                        <m:e>
                          <m:r>
                            <a:rPr lang="zh-CN" sz="1420" dirty="0">
                              <a:solidFill>
                                <a:srgbClr val="1F2937"/>
                              </a:solidFill>
                              <a:latin typeface="Cambria Math"/>
                              <a:ea typeface="Cambria Math"/>
                              <a:cs typeface="Cambria Math"/>
                            </a:rPr>
                            <m:t>1</m:t>
                          </m:r>
                          <m:r>
                            <m:rPr>
                              <m:sty m:val="p"/>
                            </m:rPr>
                            <a:rPr lang="zh-CN" sz="1420" dirty="0">
                              <a:solidFill>
                                <a:srgbClr val="1F2937"/>
                              </a:solidFill>
                              <a:latin typeface="Cambria Math"/>
                              <a:ea typeface="Cambria Math"/>
                              <a:cs typeface="Cambria Math"/>
                            </a:rPr>
                            <m:t>−</m:t>
                          </m:r>
                          <m:r>
                            <a:rPr lang="zh-CN" sz="1420" dirty="0">
                              <a:solidFill>
                                <a:srgbClr val="1F2937"/>
                              </a:solidFill>
                              <a:latin typeface="Cambria Math"/>
                              <a:ea typeface="Cambria Math"/>
                              <a:cs typeface="Cambria Math"/>
                            </a:rPr>
                            <m:t>d</m:t>
                          </m:r>
                        </m:e>
                      </m:d>
                    </m:oMath>
                  </m:oMathPara>
                </a14:m>
              </a:p>
            </p:txBody>
          </p:sp>
        </mc:Choice>
      </mc:AlternateContent>
      <p:grpSp>
        <p:nvGrpSpPr>
          <p:cNvPr id="42" name="c1-card-3"/>
          <p:cNvGrpSpPr/>
          <p:nvPr/>
        </p:nvGrpSpPr>
        <p:grpSpPr>
          <a:xfrm>
            <a:off x="533400" y="4615815"/>
            <a:ext cx="4977765" cy="1550670"/>
            <a:chOff x="533400" y="4615815"/>
            <a:chExt cx="4977765" cy="1550670"/>
          </a:xfrm>
        </p:grpSpPr>
        <p:sp>
          <p:nvSpPr>
            <p:cNvPr id="37" name="Rectangle 37"/>
            <p:cNvSpPr/>
            <p:nvPr/>
          </p:nvSpPr>
          <p:spPr>
            <a:xfrm>
              <a:off x="533400" y="4615815"/>
              <a:ext cx="4977765" cy="1550670"/>
            </a:xfrm>
            <a:prstGeom prst="roundRect">
              <a:avLst>
                <a:gd name="adj" fmla="val 8600"/>
              </a:avLst>
            </a:prstGeom>
            <a:solidFill>
              <a:srgbClr val="FFFFFF"/>
            </a:solidFill>
            <a:ln w="14288">
              <a:solidFill>
                <a:srgbClr val="D9DFEA"/>
              </a:solidFill>
            </a:ln>
          </p:spPr>
        </p:sp>
        <p:sp>
          <p:nvSpPr>
            <p:cNvPr id="38" name="Rectangle 38"/>
            <p:cNvSpPr/>
            <p:nvPr/>
          </p:nvSpPr>
          <p:spPr>
            <a:xfrm>
              <a:off x="542925" y="4749165"/>
              <a:ext cx="47625" cy="1283970"/>
            </a:xfrm>
            <a:prstGeom prst="roundRect">
              <a:avLst>
                <a:gd name="adj" fmla="val 50000"/>
              </a:avLst>
            </a:prstGeom>
            <a:solidFill>
              <a:srgbClr val="5B6475"/>
            </a:solidFill>
            <a:ln>
              <a:noFill/>
            </a:ln>
          </p:spPr>
        </p:sp>
        <p:sp>
          <p:nvSpPr>
            <p:cNvPr id="39" name="Rectangle 39"/>
            <p:cNvSpPr/>
            <p:nvPr/>
          </p:nvSpPr>
          <p:spPr>
            <a:xfrm>
              <a:off x="781050" y="4825365"/>
              <a:ext cx="494348" cy="257175"/>
            </a:xfrm>
            <a:prstGeom prst="roundRect">
              <a:avLst>
                <a:gd name="adj" fmla="val 50000"/>
              </a:avLst>
            </a:prstGeom>
            <a:solidFill>
              <a:srgbClr val="F4F6FB"/>
            </a:solidFill>
            <a:ln>
              <a:noFill/>
            </a:ln>
          </p:spPr>
        </p:sp>
        <p:sp>
          <p:nvSpPr>
            <p:cNvPr id="40" name="TextBox 40"/>
            <p:cNvSpPr txBox="1"/>
            <p:nvPr/>
          </p:nvSpPr>
          <p:spPr>
            <a:xfrm>
              <a:off x="871258" y="4861084"/>
              <a:ext cx="312979"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更正</a:t>
              </a:r>
            </a:p>
          </p:txBody>
        </p:sp>
        <p:sp>
          <p:nvSpPr>
            <p:cNvPr id="41" name="TextBox 41"/>
            <p:cNvSpPr txBox="1"/>
            <p:nvPr/>
          </p:nvSpPr>
          <p:spPr>
            <a:xfrm>
              <a:off x="773430" y="5202555"/>
              <a:ext cx="4140518"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 xml:space="preserve">原课件编码阶段传出写作 </a:t>
              </a:r>
              <a:r>
                <a:rPr lang="zh-CN" sz="1500" b="1" dirty="0">
                  <a:solidFill>
                    <a:srgbClr val="B42318"/>
                  </a:solidFill>
                  <a:latin typeface="+mn-lt"/>
                  <a:ea typeface="+mn-ea"/>
                  <a:cs typeface="+mn-cs"/>
                </a:rPr>
                <a:t>94</a:t>
              </a:r>
              <a:r>
                <a:rPr lang="zh-CN" sz="1500" dirty="0">
                  <a:solidFill>
                    <a:srgbClr val="1F2937"/>
                  </a:solidFill>
                  <a:latin typeface="+mn-lt"/>
                  <a:ea typeface="+mn-ea"/>
                  <a:cs typeface="+mn-cs"/>
                </a:rPr>
                <a:t>：116×0.8 = 92.8，</a:t>
              </a:r>
              <a:br/>
              <a:r>
                <a:rPr lang="zh-CN" sz="1500" dirty="0">
                  <a:solidFill>
                    <a:srgbClr val="1F2937"/>
                  </a:solidFill>
                  <a:latin typeface="+mn-lt"/>
                  <a:ea typeface="+mn-ea"/>
                  <a:cs typeface="+mn-cs"/>
                </a:rPr>
                <a:t xml:space="preserve">应为 </a:t>
              </a:r>
              <a:r>
                <a:rPr lang="zh-CN" sz="1500" b="1" dirty="0">
                  <a:solidFill>
                    <a:srgbClr val="0F7A68"/>
                  </a:solidFill>
                  <a:latin typeface="+mn-lt"/>
                  <a:ea typeface="+mn-ea"/>
                  <a:cs typeface="+mn-cs"/>
                </a:rPr>
                <a:t>93</a:t>
              </a:r>
              <a:r>
                <a:rPr lang="zh-CN" sz="1500" dirty="0">
                  <a:solidFill>
                    <a:srgbClr val="1F2937"/>
                  </a:solidFill>
                  <a:latin typeface="+mn-lt"/>
                  <a:ea typeface="+mn-ea"/>
                  <a:cs typeface="+mn-cs"/>
                </a:rPr>
                <a:t>，后三步仍是 47、24、12。</a:t>
              </a:r>
            </a:p>
          </p:txBody>
        </p:sp>
      </p:grpSp>
      <p:grpSp>
        <p:nvGrpSpPr>
          <p:cNvPr id="102" name="c2-table-1"/>
          <p:cNvGrpSpPr/>
          <p:nvPr/>
        </p:nvGrpSpPr>
        <p:grpSpPr>
          <a:xfrm>
            <a:off x="5810250" y="1967865"/>
            <a:ext cx="5848350" cy="4242912"/>
            <a:chOff x="5810250" y="1967865"/>
            <a:chExt cx="5848350" cy="4242912"/>
          </a:xfrm>
        </p:grpSpPr>
        <p:sp>
          <p:nvSpPr>
            <p:cNvPr id="43" name="Rectangle 43"/>
            <p:cNvSpPr/>
            <p:nvPr/>
          </p:nvSpPr>
          <p:spPr>
            <a:xfrm>
              <a:off x="5815965" y="1967865"/>
              <a:ext cx="5842635" cy="754380"/>
            </a:xfrm>
            <a:prstGeom prst="rect">
              <a:avLst/>
            </a:prstGeom>
            <a:solidFill>
              <a:srgbClr val="334E68"/>
            </a:solidFill>
            <a:ln>
              <a:noFill/>
            </a:ln>
          </p:spPr>
        </p:sp>
        <p:sp>
          <p:nvSpPr>
            <p:cNvPr id="44" name="TextBox 44"/>
            <p:cNvSpPr txBox="1"/>
            <p:nvPr/>
          </p:nvSpPr>
          <p:spPr>
            <a:xfrm>
              <a:off x="6365558" y="2240280"/>
              <a:ext cx="41910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阶段</a:t>
              </a:r>
            </a:p>
          </p:txBody>
        </p:sp>
        <p:sp>
          <p:nvSpPr>
            <p:cNvPr id="45" name="TextBox 45"/>
            <p:cNvSpPr txBox="1"/>
            <p:nvPr/>
          </p:nvSpPr>
          <p:spPr>
            <a:xfrm>
              <a:off x="7516178" y="2106930"/>
              <a:ext cx="396240" cy="560070"/>
            </a:xfrm>
            <a:prstGeom prst="rect">
              <a:avLst/>
            </a:prstGeom>
            <a:noFill/>
            <a:ln>
              <a:noFill/>
            </a:ln>
          </p:spPr>
          <p:txBody>
            <a:bodyPr wrap="none" lIns="0" tIns="0" rIns="0" bIns="0" anchor="t" anchorCtr="0">
              <a:spAutoFit/>
            </a:bodyPr>
            <a:lstStyle/>
            <a:p>
              <a:pPr algn="ctr">
                <a:lnSpc>
                  <a:spcPts val="2100"/>
                </a:lnSpc>
              </a:pPr>
              <a:r>
                <a:rPr lang="zh-CN" sz="1500" b="1" dirty="0">
                  <a:solidFill>
                    <a:srgbClr val="FFFFFF"/>
                  </a:solidFill>
                  <a:latin typeface="+mn-lt"/>
                  <a:ea typeface="+mn-ea"/>
                  <a:cs typeface="+mn-cs"/>
                </a:rPr>
                <a:t>不扩</a:t>
              </a:r>
              <a:br/>
              <a:r>
                <a:rPr lang="zh-CN" sz="1500" b="1" dirty="0">
                  <a:solidFill>
                    <a:srgbClr val="FFFFFF"/>
                  </a:solidFill>
                  <a:latin typeface="+mn-lt"/>
                  <a:ea typeface="+mn-ea"/>
                  <a:cs typeface="+mn-cs"/>
                </a:rPr>
                <a:t>大</a:t>
              </a:r>
            </a:p>
          </p:txBody>
        </p:sp>
        <p:sp>
          <p:nvSpPr>
            <p:cNvPr id="46" name="TextBox 46"/>
            <p:cNvSpPr txBox="1"/>
            <p:nvPr/>
          </p:nvSpPr>
          <p:spPr>
            <a:xfrm>
              <a:off x="8322945" y="2240280"/>
              <a:ext cx="41910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扩大</a:t>
              </a:r>
            </a:p>
          </p:txBody>
        </p:sp>
        <p:sp>
          <p:nvSpPr>
            <p:cNvPr id="47" name="TextBox 47"/>
            <p:cNvSpPr txBox="1"/>
            <p:nvPr/>
          </p:nvSpPr>
          <p:spPr>
            <a:xfrm>
              <a:off x="9152572" y="2106930"/>
              <a:ext cx="396240" cy="560070"/>
            </a:xfrm>
            <a:prstGeom prst="rect">
              <a:avLst/>
            </a:prstGeom>
            <a:noFill/>
            <a:ln>
              <a:noFill/>
            </a:ln>
          </p:spPr>
          <p:txBody>
            <a:bodyPr wrap="none" lIns="0" tIns="0" rIns="0" bIns="0" anchor="t" anchorCtr="0">
              <a:spAutoFit/>
            </a:bodyPr>
            <a:lstStyle/>
            <a:p>
              <a:pPr algn="ctr">
                <a:lnSpc>
                  <a:spcPts val="2100"/>
                </a:lnSpc>
              </a:pPr>
              <a:r>
                <a:rPr lang="zh-CN" sz="1500" b="1" dirty="0">
                  <a:solidFill>
                    <a:srgbClr val="FFFFFF"/>
                  </a:solidFill>
                  <a:latin typeface="+mn-lt"/>
                  <a:ea typeface="+mn-ea"/>
                  <a:cs typeface="+mn-cs"/>
                </a:rPr>
                <a:t>新产</a:t>
              </a:r>
              <a:br/>
              <a:r>
                <a:rPr lang="zh-CN" sz="1500" b="1" dirty="0">
                  <a:solidFill>
                    <a:srgbClr val="FFFFFF"/>
                  </a:solidFill>
                  <a:latin typeface="+mn-lt"/>
                  <a:ea typeface="+mn-ea"/>
                  <a:cs typeface="+mn-cs"/>
                </a:rPr>
                <a:t>生</a:t>
              </a:r>
            </a:p>
          </p:txBody>
        </p:sp>
        <p:sp>
          <p:nvSpPr>
            <p:cNvPr id="48" name="TextBox 48"/>
            <p:cNvSpPr txBox="1"/>
            <p:nvPr/>
          </p:nvSpPr>
          <p:spPr>
            <a:xfrm>
              <a:off x="9941242" y="2106930"/>
              <a:ext cx="396240" cy="560070"/>
            </a:xfrm>
            <a:prstGeom prst="rect">
              <a:avLst/>
            </a:prstGeom>
            <a:noFill/>
            <a:ln>
              <a:noFill/>
            </a:ln>
          </p:spPr>
          <p:txBody>
            <a:bodyPr wrap="none" lIns="0" tIns="0" rIns="0" bIns="0" anchor="t" anchorCtr="0">
              <a:spAutoFit/>
            </a:bodyPr>
            <a:lstStyle/>
            <a:p>
              <a:pPr algn="ctr">
                <a:lnSpc>
                  <a:spcPts val="2100"/>
                </a:lnSpc>
              </a:pPr>
              <a:r>
                <a:rPr lang="zh-CN" sz="1500" b="1" dirty="0">
                  <a:solidFill>
                    <a:srgbClr val="FFFFFF"/>
                  </a:solidFill>
                  <a:latin typeface="+mn-lt"/>
                  <a:ea typeface="+mn-ea"/>
                  <a:cs typeface="+mn-cs"/>
                </a:rPr>
                <a:t>检出</a:t>
              </a:r>
              <a:br/>
              <a:r>
                <a:rPr lang="zh-CN" sz="1500" b="1" dirty="0">
                  <a:solidFill>
                    <a:srgbClr val="FFFFFF"/>
                  </a:solidFill>
                  <a:latin typeface="+mn-lt"/>
                  <a:ea typeface="+mn-ea"/>
                  <a:cs typeface="+mn-cs"/>
                </a:rPr>
                <a:t>率</a:t>
              </a:r>
            </a:p>
          </p:txBody>
        </p:sp>
        <p:sp>
          <p:nvSpPr>
            <p:cNvPr id="49" name="TextBox 49"/>
            <p:cNvSpPr txBox="1"/>
            <p:nvPr/>
          </p:nvSpPr>
          <p:spPr>
            <a:xfrm>
              <a:off x="10893742" y="2240280"/>
              <a:ext cx="41910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传出</a:t>
              </a:r>
            </a:p>
          </p:txBody>
        </p:sp>
        <p:sp>
          <p:nvSpPr>
            <p:cNvPr id="50" name="TextBox 50"/>
            <p:cNvSpPr txBox="1"/>
            <p:nvPr/>
          </p:nvSpPr>
          <p:spPr>
            <a:xfrm>
              <a:off x="5922645" y="2861310"/>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概要设计</a:t>
              </a:r>
            </a:p>
          </p:txBody>
        </p:sp>
        <p:sp>
          <p:nvSpPr>
            <p:cNvPr id="51" name="TextBox 51"/>
            <p:cNvSpPr txBox="1"/>
            <p:nvPr/>
          </p:nvSpPr>
          <p:spPr>
            <a:xfrm>
              <a:off x="7651147" y="2861310"/>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0</a:t>
              </a:r>
            </a:p>
          </p:txBody>
        </p:sp>
        <p:sp>
          <p:nvSpPr>
            <p:cNvPr id="52" name="TextBox 52"/>
            <p:cNvSpPr txBox="1"/>
            <p:nvPr/>
          </p:nvSpPr>
          <p:spPr>
            <a:xfrm>
              <a:off x="8469344" y="2861310"/>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0</a:t>
              </a:r>
            </a:p>
          </p:txBody>
        </p:sp>
        <p:sp>
          <p:nvSpPr>
            <p:cNvPr id="53" name="TextBox 53"/>
            <p:cNvSpPr txBox="1"/>
            <p:nvPr/>
          </p:nvSpPr>
          <p:spPr>
            <a:xfrm>
              <a:off x="9232011" y="2861310"/>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10</a:t>
              </a:r>
            </a:p>
          </p:txBody>
        </p:sp>
        <p:sp>
          <p:nvSpPr>
            <p:cNvPr id="54" name="TextBox 54"/>
            <p:cNvSpPr txBox="1"/>
            <p:nvPr/>
          </p:nvSpPr>
          <p:spPr>
            <a:xfrm>
              <a:off x="10000488" y="2861310"/>
              <a:ext cx="277749"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0%</a:t>
              </a:r>
            </a:p>
          </p:txBody>
        </p:sp>
        <p:sp>
          <p:nvSpPr>
            <p:cNvPr id="55" name="TextBox 55"/>
            <p:cNvSpPr txBox="1"/>
            <p:nvPr/>
          </p:nvSpPr>
          <p:spPr>
            <a:xfrm>
              <a:off x="10984611" y="2861310"/>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10</a:t>
              </a:r>
            </a:p>
          </p:txBody>
        </p:sp>
        <p:sp>
          <p:nvSpPr>
            <p:cNvPr id="56" name="Rectangle 56"/>
            <p:cNvSpPr/>
            <p:nvPr/>
          </p:nvSpPr>
          <p:spPr>
            <a:xfrm>
              <a:off x="5815965" y="3205162"/>
              <a:ext cx="5842635" cy="9525"/>
            </a:xfrm>
            <a:prstGeom prst="rect">
              <a:avLst/>
            </a:prstGeom>
            <a:solidFill>
              <a:srgbClr val="D9DFEA"/>
            </a:solidFill>
            <a:ln>
              <a:noFill/>
            </a:ln>
          </p:spPr>
        </p:sp>
        <p:sp>
          <p:nvSpPr>
            <p:cNvPr id="57" name="Rectangle 57"/>
            <p:cNvSpPr/>
            <p:nvPr/>
          </p:nvSpPr>
          <p:spPr>
            <a:xfrm>
              <a:off x="5815965" y="3209925"/>
              <a:ext cx="5842635" cy="487680"/>
            </a:xfrm>
            <a:prstGeom prst="rect">
              <a:avLst/>
            </a:prstGeom>
            <a:solidFill>
              <a:srgbClr val="F4F6FB"/>
            </a:solidFill>
            <a:ln>
              <a:noFill/>
            </a:ln>
          </p:spPr>
        </p:sp>
        <p:sp>
          <p:nvSpPr>
            <p:cNvPr id="58" name="TextBox 58"/>
            <p:cNvSpPr txBox="1"/>
            <p:nvPr/>
          </p:nvSpPr>
          <p:spPr>
            <a:xfrm>
              <a:off x="5922645" y="3348990"/>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详细设计</a:t>
              </a:r>
            </a:p>
          </p:txBody>
        </p:sp>
        <p:sp>
          <p:nvSpPr>
            <p:cNvPr id="59" name="TextBox 59"/>
            <p:cNvSpPr txBox="1"/>
            <p:nvPr/>
          </p:nvSpPr>
          <p:spPr>
            <a:xfrm>
              <a:off x="7651147" y="3348990"/>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6</a:t>
              </a:r>
            </a:p>
          </p:txBody>
        </p:sp>
        <p:sp>
          <p:nvSpPr>
            <p:cNvPr id="60" name="TextBox 60"/>
            <p:cNvSpPr txBox="1"/>
            <p:nvPr/>
          </p:nvSpPr>
          <p:spPr>
            <a:xfrm>
              <a:off x="8247221" y="3348990"/>
              <a:ext cx="570548"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4×1.5</a:t>
              </a:r>
            </a:p>
          </p:txBody>
        </p:sp>
        <p:sp>
          <p:nvSpPr>
            <p:cNvPr id="61" name="TextBox 61"/>
            <p:cNvSpPr txBox="1"/>
            <p:nvPr/>
          </p:nvSpPr>
          <p:spPr>
            <a:xfrm>
              <a:off x="9232011" y="3348990"/>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25</a:t>
              </a:r>
            </a:p>
          </p:txBody>
        </p:sp>
        <p:sp>
          <p:nvSpPr>
            <p:cNvPr id="62" name="TextBox 62"/>
            <p:cNvSpPr txBox="1"/>
            <p:nvPr/>
          </p:nvSpPr>
          <p:spPr>
            <a:xfrm>
              <a:off x="10000488" y="3348990"/>
              <a:ext cx="277749"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0%</a:t>
              </a:r>
            </a:p>
          </p:txBody>
        </p:sp>
        <p:sp>
          <p:nvSpPr>
            <p:cNvPr id="63" name="TextBox 63"/>
            <p:cNvSpPr txBox="1"/>
            <p:nvPr/>
          </p:nvSpPr>
          <p:spPr>
            <a:xfrm>
              <a:off x="10984611" y="3348990"/>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37</a:t>
              </a:r>
            </a:p>
          </p:txBody>
        </p:sp>
        <p:sp>
          <p:nvSpPr>
            <p:cNvPr id="64" name="Rectangle 64"/>
            <p:cNvSpPr/>
            <p:nvPr/>
          </p:nvSpPr>
          <p:spPr>
            <a:xfrm>
              <a:off x="5815965" y="3692842"/>
              <a:ext cx="5842635" cy="9525"/>
            </a:xfrm>
            <a:prstGeom prst="rect">
              <a:avLst/>
            </a:prstGeom>
            <a:solidFill>
              <a:srgbClr val="D9DFEA"/>
            </a:solidFill>
            <a:ln>
              <a:noFill/>
            </a:ln>
          </p:spPr>
        </p:sp>
        <p:sp>
          <p:nvSpPr>
            <p:cNvPr id="65" name="TextBox 65"/>
            <p:cNvSpPr txBox="1"/>
            <p:nvPr/>
          </p:nvSpPr>
          <p:spPr>
            <a:xfrm>
              <a:off x="5922645" y="3836670"/>
              <a:ext cx="1077754" cy="560070"/>
            </a:xfrm>
            <a:prstGeom prst="rect">
              <a:avLst/>
            </a:prstGeom>
            <a:noFill/>
            <a:ln>
              <a:noFill/>
            </a:ln>
          </p:spPr>
          <p:txBody>
            <a:bodyPr wrap="none" lIns="0" tIns="0" rIns="0" bIns="0" anchor="t" anchorCtr="0">
              <a:spAutoFit/>
            </a:bodyPr>
            <a:lstStyle/>
            <a:p>
              <a:pPr algn="l">
                <a:lnSpc>
                  <a:spcPts val="2100"/>
                </a:lnSpc>
              </a:pPr>
              <a:r>
                <a:rPr lang="zh-CN" sz="1500" b="1" dirty="0">
                  <a:solidFill>
                    <a:srgbClr val="1F2937"/>
                  </a:solidFill>
                  <a:latin typeface="+mn-lt"/>
                  <a:ea typeface="+mn-ea"/>
                  <a:cs typeface="+mn-cs"/>
                </a:rPr>
                <a:t>编码/单元测</a:t>
              </a:r>
              <a:br/>
              <a:r>
                <a:rPr lang="zh-CN" sz="1500" b="1" dirty="0">
                  <a:solidFill>
                    <a:srgbClr val="1F2937"/>
                  </a:solidFill>
                  <a:latin typeface="+mn-lt"/>
                  <a:ea typeface="+mn-ea"/>
                  <a:cs typeface="+mn-cs"/>
                </a:rPr>
                <a:t>试</a:t>
              </a:r>
            </a:p>
          </p:txBody>
        </p:sp>
        <p:sp>
          <p:nvSpPr>
            <p:cNvPr id="66" name="TextBox 66"/>
            <p:cNvSpPr txBox="1"/>
            <p:nvPr/>
          </p:nvSpPr>
          <p:spPr>
            <a:xfrm>
              <a:off x="7595616" y="3970020"/>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10</a:t>
              </a:r>
            </a:p>
          </p:txBody>
        </p:sp>
        <p:sp>
          <p:nvSpPr>
            <p:cNvPr id="67" name="TextBox 67"/>
            <p:cNvSpPr txBox="1"/>
            <p:nvPr/>
          </p:nvSpPr>
          <p:spPr>
            <a:xfrm>
              <a:off x="8302752" y="3970020"/>
              <a:ext cx="459486"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27×3</a:t>
              </a:r>
            </a:p>
          </p:txBody>
        </p:sp>
        <p:sp>
          <p:nvSpPr>
            <p:cNvPr id="68" name="TextBox 68"/>
            <p:cNvSpPr txBox="1"/>
            <p:nvPr/>
          </p:nvSpPr>
          <p:spPr>
            <a:xfrm>
              <a:off x="9232011" y="3970020"/>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25</a:t>
              </a:r>
            </a:p>
          </p:txBody>
        </p:sp>
        <p:sp>
          <p:nvSpPr>
            <p:cNvPr id="69" name="TextBox 69"/>
            <p:cNvSpPr txBox="1"/>
            <p:nvPr/>
          </p:nvSpPr>
          <p:spPr>
            <a:xfrm>
              <a:off x="9944957" y="3970020"/>
              <a:ext cx="388810"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20%</a:t>
              </a:r>
            </a:p>
          </p:txBody>
        </p:sp>
        <p:sp>
          <p:nvSpPr>
            <p:cNvPr id="70" name="TextBox 70"/>
            <p:cNvSpPr txBox="1"/>
            <p:nvPr/>
          </p:nvSpPr>
          <p:spPr>
            <a:xfrm>
              <a:off x="10984611" y="3970020"/>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93</a:t>
              </a:r>
            </a:p>
          </p:txBody>
        </p:sp>
        <p:sp>
          <p:nvSpPr>
            <p:cNvPr id="71" name="Rectangle 71"/>
            <p:cNvSpPr/>
            <p:nvPr/>
          </p:nvSpPr>
          <p:spPr>
            <a:xfrm>
              <a:off x="5815965" y="4447222"/>
              <a:ext cx="5842635" cy="9525"/>
            </a:xfrm>
            <a:prstGeom prst="rect">
              <a:avLst/>
            </a:prstGeom>
            <a:solidFill>
              <a:srgbClr val="D9DFEA"/>
            </a:solidFill>
            <a:ln>
              <a:noFill/>
            </a:ln>
          </p:spPr>
        </p:sp>
        <p:sp>
          <p:nvSpPr>
            <p:cNvPr id="72" name="Rectangle 72"/>
            <p:cNvSpPr/>
            <p:nvPr/>
          </p:nvSpPr>
          <p:spPr>
            <a:xfrm>
              <a:off x="5815965" y="4451985"/>
              <a:ext cx="5842635" cy="487680"/>
            </a:xfrm>
            <a:prstGeom prst="rect">
              <a:avLst/>
            </a:prstGeom>
            <a:solidFill>
              <a:srgbClr val="F4F6FB"/>
            </a:solidFill>
            <a:ln>
              <a:noFill/>
            </a:ln>
          </p:spPr>
        </p:sp>
        <p:sp>
          <p:nvSpPr>
            <p:cNvPr id="73" name="TextBox 73"/>
            <p:cNvSpPr txBox="1"/>
            <p:nvPr/>
          </p:nvSpPr>
          <p:spPr>
            <a:xfrm>
              <a:off x="5922645" y="4591050"/>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综合测试</a:t>
              </a:r>
            </a:p>
          </p:txBody>
        </p:sp>
        <p:sp>
          <p:nvSpPr>
            <p:cNvPr id="74" name="TextBox 74"/>
            <p:cNvSpPr txBox="1"/>
            <p:nvPr/>
          </p:nvSpPr>
          <p:spPr>
            <a:xfrm>
              <a:off x="7651147" y="4591050"/>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75" name="TextBox 75"/>
            <p:cNvSpPr txBox="1"/>
            <p:nvPr/>
          </p:nvSpPr>
          <p:spPr>
            <a:xfrm>
              <a:off x="8469344" y="4591050"/>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76" name="TextBox 76"/>
            <p:cNvSpPr txBox="1"/>
            <p:nvPr/>
          </p:nvSpPr>
          <p:spPr>
            <a:xfrm>
              <a:off x="9287542" y="4591050"/>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77" name="TextBox 77"/>
            <p:cNvSpPr txBox="1"/>
            <p:nvPr/>
          </p:nvSpPr>
          <p:spPr>
            <a:xfrm>
              <a:off x="9944957" y="4591050"/>
              <a:ext cx="388810"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50%</a:t>
              </a:r>
            </a:p>
          </p:txBody>
        </p:sp>
        <p:sp>
          <p:nvSpPr>
            <p:cNvPr id="78" name="TextBox 78"/>
            <p:cNvSpPr txBox="1"/>
            <p:nvPr/>
          </p:nvSpPr>
          <p:spPr>
            <a:xfrm>
              <a:off x="10984611" y="4591050"/>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47</a:t>
              </a:r>
            </a:p>
          </p:txBody>
        </p:sp>
        <p:sp>
          <p:nvSpPr>
            <p:cNvPr id="79" name="Rectangle 79"/>
            <p:cNvSpPr/>
            <p:nvPr/>
          </p:nvSpPr>
          <p:spPr>
            <a:xfrm>
              <a:off x="5815965" y="4934902"/>
              <a:ext cx="5842635" cy="9525"/>
            </a:xfrm>
            <a:prstGeom prst="rect">
              <a:avLst/>
            </a:prstGeom>
            <a:solidFill>
              <a:srgbClr val="D9DFEA"/>
            </a:solidFill>
            <a:ln>
              <a:noFill/>
            </a:ln>
          </p:spPr>
        </p:sp>
        <p:sp>
          <p:nvSpPr>
            <p:cNvPr id="80" name="TextBox 80"/>
            <p:cNvSpPr txBox="1"/>
            <p:nvPr/>
          </p:nvSpPr>
          <p:spPr>
            <a:xfrm>
              <a:off x="5922645" y="5078730"/>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确认测试</a:t>
              </a:r>
            </a:p>
          </p:txBody>
        </p:sp>
        <p:sp>
          <p:nvSpPr>
            <p:cNvPr id="81" name="TextBox 81"/>
            <p:cNvSpPr txBox="1"/>
            <p:nvPr/>
          </p:nvSpPr>
          <p:spPr>
            <a:xfrm>
              <a:off x="7651147" y="5078730"/>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82" name="TextBox 82"/>
            <p:cNvSpPr txBox="1"/>
            <p:nvPr/>
          </p:nvSpPr>
          <p:spPr>
            <a:xfrm>
              <a:off x="8469344" y="5078730"/>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83" name="TextBox 83"/>
            <p:cNvSpPr txBox="1"/>
            <p:nvPr/>
          </p:nvSpPr>
          <p:spPr>
            <a:xfrm>
              <a:off x="9287542" y="5078730"/>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84" name="TextBox 84"/>
            <p:cNvSpPr txBox="1"/>
            <p:nvPr/>
          </p:nvSpPr>
          <p:spPr>
            <a:xfrm>
              <a:off x="9944957" y="5078730"/>
              <a:ext cx="388810"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50%</a:t>
              </a:r>
            </a:p>
          </p:txBody>
        </p:sp>
        <p:sp>
          <p:nvSpPr>
            <p:cNvPr id="85" name="TextBox 85"/>
            <p:cNvSpPr txBox="1"/>
            <p:nvPr/>
          </p:nvSpPr>
          <p:spPr>
            <a:xfrm>
              <a:off x="10984611" y="5078730"/>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24</a:t>
              </a:r>
            </a:p>
          </p:txBody>
        </p:sp>
        <p:sp>
          <p:nvSpPr>
            <p:cNvPr id="86" name="Rectangle 86"/>
            <p:cNvSpPr/>
            <p:nvPr/>
          </p:nvSpPr>
          <p:spPr>
            <a:xfrm>
              <a:off x="5815965" y="5422582"/>
              <a:ext cx="5842635" cy="9525"/>
            </a:xfrm>
            <a:prstGeom prst="rect">
              <a:avLst/>
            </a:prstGeom>
            <a:solidFill>
              <a:srgbClr val="D9DFEA"/>
            </a:solidFill>
            <a:ln>
              <a:noFill/>
            </a:ln>
          </p:spPr>
        </p:sp>
        <p:sp>
          <p:nvSpPr>
            <p:cNvPr id="87" name="Rectangle 87"/>
            <p:cNvSpPr/>
            <p:nvPr/>
          </p:nvSpPr>
          <p:spPr>
            <a:xfrm>
              <a:off x="5815965" y="5427345"/>
              <a:ext cx="5842635" cy="487680"/>
            </a:xfrm>
            <a:prstGeom prst="rect">
              <a:avLst/>
            </a:prstGeom>
            <a:solidFill>
              <a:srgbClr val="F4F6FB"/>
            </a:solidFill>
            <a:ln>
              <a:noFill/>
            </a:ln>
          </p:spPr>
        </p:sp>
        <p:sp>
          <p:nvSpPr>
            <p:cNvPr id="88" name="TextBox 88"/>
            <p:cNvSpPr txBox="1"/>
            <p:nvPr/>
          </p:nvSpPr>
          <p:spPr>
            <a:xfrm>
              <a:off x="5922645" y="5566410"/>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系统测试</a:t>
              </a:r>
            </a:p>
          </p:txBody>
        </p:sp>
        <p:sp>
          <p:nvSpPr>
            <p:cNvPr id="89" name="TextBox 89"/>
            <p:cNvSpPr txBox="1"/>
            <p:nvPr/>
          </p:nvSpPr>
          <p:spPr>
            <a:xfrm>
              <a:off x="7651147" y="5566410"/>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90" name="TextBox 90"/>
            <p:cNvSpPr txBox="1"/>
            <p:nvPr/>
          </p:nvSpPr>
          <p:spPr>
            <a:xfrm>
              <a:off x="8469344" y="5566410"/>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91" name="TextBox 91"/>
            <p:cNvSpPr txBox="1"/>
            <p:nvPr/>
          </p:nvSpPr>
          <p:spPr>
            <a:xfrm>
              <a:off x="9287542" y="5566410"/>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92" name="TextBox 92"/>
            <p:cNvSpPr txBox="1"/>
            <p:nvPr/>
          </p:nvSpPr>
          <p:spPr>
            <a:xfrm>
              <a:off x="9944957" y="5566410"/>
              <a:ext cx="388810"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50%</a:t>
              </a:r>
            </a:p>
          </p:txBody>
        </p:sp>
        <p:sp>
          <p:nvSpPr>
            <p:cNvPr id="93" name="Rectangle 93"/>
            <p:cNvSpPr/>
            <p:nvPr/>
          </p:nvSpPr>
          <p:spPr>
            <a:xfrm>
              <a:off x="10557510" y="5436870"/>
              <a:ext cx="1091565" cy="468630"/>
            </a:xfrm>
            <a:prstGeom prst="rect">
              <a:avLst/>
            </a:prstGeom>
            <a:solidFill>
              <a:srgbClr val="FDECEA"/>
            </a:solidFill>
            <a:ln>
              <a:noFill/>
            </a:ln>
          </p:spPr>
        </p:sp>
        <p:sp>
          <p:nvSpPr>
            <p:cNvPr id="94" name="TextBox 94"/>
            <p:cNvSpPr txBox="1"/>
            <p:nvPr/>
          </p:nvSpPr>
          <p:spPr>
            <a:xfrm>
              <a:off x="10984611" y="5566410"/>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12</a:t>
              </a:r>
            </a:p>
          </p:txBody>
        </p:sp>
        <p:sp>
          <p:nvSpPr>
            <p:cNvPr id="95" name="Rectangle 95"/>
            <p:cNvSpPr/>
            <p:nvPr/>
          </p:nvSpPr>
          <p:spPr>
            <a:xfrm>
              <a:off x="5815965" y="1967865"/>
              <a:ext cx="5842635" cy="3947160"/>
            </a:xfrm>
            <a:prstGeom prst="rect">
              <a:avLst/>
            </a:prstGeom>
            <a:noFill/>
            <a:ln w="14288">
              <a:solidFill>
                <a:srgbClr val="D9DFEA"/>
              </a:solidFill>
            </a:ln>
          </p:spPr>
        </p:sp>
        <p:sp>
          <p:nvSpPr>
            <p:cNvPr id="96" name="Rectangle 96"/>
            <p:cNvSpPr/>
            <p:nvPr/>
          </p:nvSpPr>
          <p:spPr>
            <a:xfrm>
              <a:off x="7330440" y="1967865"/>
              <a:ext cx="9525" cy="3947160"/>
            </a:xfrm>
            <a:prstGeom prst="rect">
              <a:avLst/>
            </a:prstGeom>
            <a:solidFill>
              <a:srgbClr val="D9DFEA"/>
            </a:solidFill>
            <a:ln>
              <a:noFill/>
            </a:ln>
          </p:spPr>
        </p:sp>
        <p:sp>
          <p:nvSpPr>
            <p:cNvPr id="97" name="Rectangle 97"/>
            <p:cNvSpPr/>
            <p:nvPr/>
          </p:nvSpPr>
          <p:spPr>
            <a:xfrm>
              <a:off x="8089582" y="1967865"/>
              <a:ext cx="9525" cy="3947160"/>
            </a:xfrm>
            <a:prstGeom prst="rect">
              <a:avLst/>
            </a:prstGeom>
            <a:solidFill>
              <a:srgbClr val="D9DFEA"/>
            </a:solidFill>
            <a:ln>
              <a:noFill/>
            </a:ln>
          </p:spPr>
        </p:sp>
        <p:sp>
          <p:nvSpPr>
            <p:cNvPr id="98" name="Rectangle 98"/>
            <p:cNvSpPr/>
            <p:nvPr/>
          </p:nvSpPr>
          <p:spPr>
            <a:xfrm>
              <a:off x="8965882" y="1967865"/>
              <a:ext cx="9525" cy="3947160"/>
            </a:xfrm>
            <a:prstGeom prst="rect">
              <a:avLst/>
            </a:prstGeom>
            <a:solidFill>
              <a:srgbClr val="D9DFEA"/>
            </a:solidFill>
            <a:ln>
              <a:noFill/>
            </a:ln>
          </p:spPr>
        </p:sp>
        <p:sp>
          <p:nvSpPr>
            <p:cNvPr id="99" name="Rectangle 99"/>
            <p:cNvSpPr/>
            <p:nvPr/>
          </p:nvSpPr>
          <p:spPr>
            <a:xfrm>
              <a:off x="9725978" y="1967865"/>
              <a:ext cx="9525" cy="3947160"/>
            </a:xfrm>
            <a:prstGeom prst="rect">
              <a:avLst/>
            </a:prstGeom>
            <a:solidFill>
              <a:srgbClr val="D9DFEA"/>
            </a:solidFill>
            <a:ln>
              <a:noFill/>
            </a:ln>
          </p:spPr>
        </p:sp>
        <p:sp>
          <p:nvSpPr>
            <p:cNvPr id="100" name="Rectangle 100"/>
            <p:cNvSpPr/>
            <p:nvPr/>
          </p:nvSpPr>
          <p:spPr>
            <a:xfrm>
              <a:off x="10543222" y="1967865"/>
              <a:ext cx="9525" cy="3947160"/>
            </a:xfrm>
            <a:prstGeom prst="rect">
              <a:avLst/>
            </a:prstGeom>
            <a:solidFill>
              <a:srgbClr val="D9DFEA"/>
            </a:solidFill>
            <a:ln>
              <a:noFill/>
            </a:ln>
          </p:spPr>
        </p:sp>
        <p:sp>
          <p:nvSpPr>
            <p:cNvPr id="101" name="TextBox 101"/>
            <p:cNvSpPr txBox="1"/>
            <p:nvPr/>
          </p:nvSpPr>
          <p:spPr>
            <a:xfrm>
              <a:off x="5810250" y="5990749"/>
              <a:ext cx="3524474"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无设计复审：10 → 37 → 93，交付时仍潜伏 12 个差错</a:t>
              </a:r>
            </a:p>
          </p:txBody>
        </p:sp>
      </p:grpSp>
      <p:grpSp>
        <p:nvGrpSpPr>
          <p:cNvPr id="105" name="footer"/>
          <p:cNvGrpSpPr/>
          <p:nvPr/>
        </p:nvGrpSpPr>
        <p:grpSpPr>
          <a:xfrm>
            <a:off x="528447" y="6581299"/>
            <a:ext cx="11135106" cy="190690"/>
            <a:chOff x="528447" y="6581299"/>
            <a:chExt cx="11135106" cy="190690"/>
          </a:xfrm>
        </p:grpSpPr>
        <p:sp>
          <p:nvSpPr>
            <p:cNvPr id="103" name="TextBox 103"/>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104" name="TextBox 10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75515" cy="909257"/>
            <a:chOff x="520446" y="342900"/>
            <a:chExt cx="7575515" cy="909257"/>
          </a:xfrm>
        </p:grpSpPr>
        <p:sp>
          <p:nvSpPr>
            <p:cNvPr id="2" name="Rectangle 2"/>
            <p:cNvSpPr/>
            <p:nvPr/>
          </p:nvSpPr>
          <p:spPr>
            <a:xfrm>
              <a:off x="533400" y="342900"/>
              <a:ext cx="2129790" cy="266700"/>
            </a:xfrm>
            <a:prstGeom prst="roundRect">
              <a:avLst>
                <a:gd name="adj" fmla="val 50000"/>
              </a:avLst>
            </a:prstGeom>
            <a:solidFill>
              <a:srgbClr val="E7EDF3"/>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软件与软件危机</a:t>
              </a:r>
            </a:p>
          </p:txBody>
        </p:sp>
        <p:sp>
          <p:nvSpPr>
            <p:cNvPr id="4" name="TextBox 4"/>
            <p:cNvSpPr txBox="1"/>
            <p:nvPr/>
          </p:nvSpPr>
          <p:spPr>
            <a:xfrm>
              <a:off x="520446" y="753428"/>
              <a:ext cx="757551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加一次设计复审，交付时的差错从 12 个降到 3 个</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66" name="c1-table-1"/>
          <p:cNvGrpSpPr/>
          <p:nvPr/>
        </p:nvGrpSpPr>
        <p:grpSpPr>
          <a:xfrm>
            <a:off x="527685" y="1524000"/>
            <a:ext cx="5848350" cy="4242912"/>
            <a:chOff x="527685" y="1524000"/>
            <a:chExt cx="5848350" cy="4242912"/>
          </a:xfrm>
        </p:grpSpPr>
        <p:sp>
          <p:nvSpPr>
            <p:cNvPr id="7" name="Rectangle 7"/>
            <p:cNvSpPr/>
            <p:nvPr/>
          </p:nvSpPr>
          <p:spPr>
            <a:xfrm>
              <a:off x="533400" y="1524000"/>
              <a:ext cx="5842635" cy="754380"/>
            </a:xfrm>
            <a:prstGeom prst="rect">
              <a:avLst/>
            </a:prstGeom>
            <a:solidFill>
              <a:srgbClr val="334E68"/>
            </a:solidFill>
            <a:ln>
              <a:noFill/>
            </a:ln>
          </p:spPr>
        </p:sp>
        <p:sp>
          <p:nvSpPr>
            <p:cNvPr id="8" name="TextBox 8"/>
            <p:cNvSpPr txBox="1"/>
            <p:nvPr/>
          </p:nvSpPr>
          <p:spPr>
            <a:xfrm>
              <a:off x="1082992" y="1796415"/>
              <a:ext cx="41910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阶段</a:t>
              </a:r>
            </a:p>
          </p:txBody>
        </p:sp>
        <p:sp>
          <p:nvSpPr>
            <p:cNvPr id="9" name="TextBox 9"/>
            <p:cNvSpPr txBox="1"/>
            <p:nvPr/>
          </p:nvSpPr>
          <p:spPr>
            <a:xfrm>
              <a:off x="2234565" y="1663065"/>
              <a:ext cx="396240" cy="560070"/>
            </a:xfrm>
            <a:prstGeom prst="rect">
              <a:avLst/>
            </a:prstGeom>
            <a:noFill/>
            <a:ln>
              <a:noFill/>
            </a:ln>
          </p:spPr>
          <p:txBody>
            <a:bodyPr wrap="none" lIns="0" tIns="0" rIns="0" bIns="0" anchor="t" anchorCtr="0">
              <a:spAutoFit/>
            </a:bodyPr>
            <a:lstStyle/>
            <a:p>
              <a:pPr algn="ctr">
                <a:lnSpc>
                  <a:spcPts val="2100"/>
                </a:lnSpc>
              </a:pPr>
              <a:r>
                <a:rPr lang="zh-CN" sz="1500" b="1" dirty="0">
                  <a:solidFill>
                    <a:srgbClr val="FFFFFF"/>
                  </a:solidFill>
                  <a:latin typeface="+mn-lt"/>
                  <a:ea typeface="+mn-ea"/>
                  <a:cs typeface="+mn-cs"/>
                </a:rPr>
                <a:t>不扩</a:t>
              </a:r>
              <a:br/>
              <a:r>
                <a:rPr lang="zh-CN" sz="1500" b="1" dirty="0">
                  <a:solidFill>
                    <a:srgbClr val="FFFFFF"/>
                  </a:solidFill>
                  <a:latin typeface="+mn-lt"/>
                  <a:ea typeface="+mn-ea"/>
                  <a:cs typeface="+mn-cs"/>
                </a:rPr>
                <a:t>大</a:t>
              </a:r>
            </a:p>
          </p:txBody>
        </p:sp>
        <p:sp>
          <p:nvSpPr>
            <p:cNvPr id="10" name="TextBox 10"/>
            <p:cNvSpPr txBox="1"/>
            <p:nvPr/>
          </p:nvSpPr>
          <p:spPr>
            <a:xfrm>
              <a:off x="3040380" y="1796415"/>
              <a:ext cx="41910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扩大</a:t>
              </a:r>
            </a:p>
          </p:txBody>
        </p:sp>
        <p:sp>
          <p:nvSpPr>
            <p:cNvPr id="11" name="TextBox 11"/>
            <p:cNvSpPr txBox="1"/>
            <p:nvPr/>
          </p:nvSpPr>
          <p:spPr>
            <a:xfrm>
              <a:off x="3870008" y="1663065"/>
              <a:ext cx="396240" cy="560070"/>
            </a:xfrm>
            <a:prstGeom prst="rect">
              <a:avLst/>
            </a:prstGeom>
            <a:noFill/>
            <a:ln>
              <a:noFill/>
            </a:ln>
          </p:spPr>
          <p:txBody>
            <a:bodyPr wrap="none" lIns="0" tIns="0" rIns="0" bIns="0" anchor="t" anchorCtr="0">
              <a:spAutoFit/>
            </a:bodyPr>
            <a:lstStyle/>
            <a:p>
              <a:pPr algn="ctr">
                <a:lnSpc>
                  <a:spcPts val="2100"/>
                </a:lnSpc>
              </a:pPr>
              <a:r>
                <a:rPr lang="zh-CN" sz="1500" b="1" dirty="0">
                  <a:solidFill>
                    <a:srgbClr val="FFFFFF"/>
                  </a:solidFill>
                  <a:latin typeface="+mn-lt"/>
                  <a:ea typeface="+mn-ea"/>
                  <a:cs typeface="+mn-cs"/>
                </a:rPr>
                <a:t>新产</a:t>
              </a:r>
              <a:br/>
              <a:r>
                <a:rPr lang="zh-CN" sz="1500" b="1" dirty="0">
                  <a:solidFill>
                    <a:srgbClr val="FFFFFF"/>
                  </a:solidFill>
                  <a:latin typeface="+mn-lt"/>
                  <a:ea typeface="+mn-ea"/>
                  <a:cs typeface="+mn-cs"/>
                </a:rPr>
                <a:t>生</a:t>
              </a:r>
            </a:p>
          </p:txBody>
        </p:sp>
        <p:sp>
          <p:nvSpPr>
            <p:cNvPr id="12" name="TextBox 12"/>
            <p:cNvSpPr txBox="1"/>
            <p:nvPr/>
          </p:nvSpPr>
          <p:spPr>
            <a:xfrm>
              <a:off x="4658678" y="1663065"/>
              <a:ext cx="396240" cy="560070"/>
            </a:xfrm>
            <a:prstGeom prst="rect">
              <a:avLst/>
            </a:prstGeom>
            <a:noFill/>
            <a:ln>
              <a:noFill/>
            </a:ln>
          </p:spPr>
          <p:txBody>
            <a:bodyPr wrap="none" lIns="0" tIns="0" rIns="0" bIns="0" anchor="t" anchorCtr="0">
              <a:spAutoFit/>
            </a:bodyPr>
            <a:lstStyle/>
            <a:p>
              <a:pPr algn="ctr">
                <a:lnSpc>
                  <a:spcPts val="2100"/>
                </a:lnSpc>
              </a:pPr>
              <a:r>
                <a:rPr lang="zh-CN" sz="1500" b="1" dirty="0">
                  <a:solidFill>
                    <a:srgbClr val="FFFFFF"/>
                  </a:solidFill>
                  <a:latin typeface="+mn-lt"/>
                  <a:ea typeface="+mn-ea"/>
                  <a:cs typeface="+mn-cs"/>
                </a:rPr>
                <a:t>检出</a:t>
              </a:r>
              <a:br/>
              <a:r>
                <a:rPr lang="zh-CN" sz="1500" b="1" dirty="0">
                  <a:solidFill>
                    <a:srgbClr val="FFFFFF"/>
                  </a:solidFill>
                  <a:latin typeface="+mn-lt"/>
                  <a:ea typeface="+mn-ea"/>
                  <a:cs typeface="+mn-cs"/>
                </a:rPr>
                <a:t>率</a:t>
              </a:r>
            </a:p>
          </p:txBody>
        </p:sp>
        <p:sp>
          <p:nvSpPr>
            <p:cNvPr id="13" name="TextBox 13"/>
            <p:cNvSpPr txBox="1"/>
            <p:nvPr/>
          </p:nvSpPr>
          <p:spPr>
            <a:xfrm>
              <a:off x="5612130" y="1796415"/>
              <a:ext cx="41910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传出</a:t>
              </a:r>
            </a:p>
          </p:txBody>
        </p:sp>
        <p:sp>
          <p:nvSpPr>
            <p:cNvPr id="14" name="TextBox 14"/>
            <p:cNvSpPr txBox="1"/>
            <p:nvPr/>
          </p:nvSpPr>
          <p:spPr>
            <a:xfrm>
              <a:off x="640080" y="2417445"/>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概要设计</a:t>
              </a:r>
            </a:p>
          </p:txBody>
        </p:sp>
        <p:sp>
          <p:nvSpPr>
            <p:cNvPr id="15" name="TextBox 15"/>
            <p:cNvSpPr txBox="1"/>
            <p:nvPr/>
          </p:nvSpPr>
          <p:spPr>
            <a:xfrm>
              <a:off x="2369534" y="241744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0</a:t>
              </a:r>
            </a:p>
          </p:txBody>
        </p:sp>
        <p:sp>
          <p:nvSpPr>
            <p:cNvPr id="16" name="TextBox 16"/>
            <p:cNvSpPr txBox="1"/>
            <p:nvPr/>
          </p:nvSpPr>
          <p:spPr>
            <a:xfrm>
              <a:off x="3186779" y="241744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0</a:t>
              </a:r>
            </a:p>
          </p:txBody>
        </p:sp>
        <p:sp>
          <p:nvSpPr>
            <p:cNvPr id="17" name="TextBox 17"/>
            <p:cNvSpPr txBox="1"/>
            <p:nvPr/>
          </p:nvSpPr>
          <p:spPr>
            <a:xfrm>
              <a:off x="3949446" y="2417445"/>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10</a:t>
              </a:r>
            </a:p>
          </p:txBody>
        </p:sp>
        <p:sp>
          <p:nvSpPr>
            <p:cNvPr id="18" name="TextBox 18"/>
            <p:cNvSpPr txBox="1"/>
            <p:nvPr/>
          </p:nvSpPr>
          <p:spPr>
            <a:xfrm>
              <a:off x="4662392" y="2417445"/>
              <a:ext cx="388810"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70%</a:t>
              </a:r>
            </a:p>
          </p:txBody>
        </p:sp>
        <p:sp>
          <p:nvSpPr>
            <p:cNvPr id="19" name="TextBox 19"/>
            <p:cNvSpPr txBox="1"/>
            <p:nvPr/>
          </p:nvSpPr>
          <p:spPr>
            <a:xfrm>
              <a:off x="5758529" y="241744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3</a:t>
              </a:r>
            </a:p>
          </p:txBody>
        </p:sp>
        <p:sp>
          <p:nvSpPr>
            <p:cNvPr id="20" name="Rectangle 20"/>
            <p:cNvSpPr/>
            <p:nvPr/>
          </p:nvSpPr>
          <p:spPr>
            <a:xfrm>
              <a:off x="533400" y="2761298"/>
              <a:ext cx="5842635" cy="9525"/>
            </a:xfrm>
            <a:prstGeom prst="rect">
              <a:avLst/>
            </a:prstGeom>
            <a:solidFill>
              <a:srgbClr val="D9DFEA"/>
            </a:solidFill>
            <a:ln>
              <a:noFill/>
            </a:ln>
          </p:spPr>
        </p:sp>
        <p:sp>
          <p:nvSpPr>
            <p:cNvPr id="21" name="Rectangle 21"/>
            <p:cNvSpPr/>
            <p:nvPr/>
          </p:nvSpPr>
          <p:spPr>
            <a:xfrm>
              <a:off x="533400" y="2766060"/>
              <a:ext cx="5842635" cy="487680"/>
            </a:xfrm>
            <a:prstGeom prst="rect">
              <a:avLst/>
            </a:prstGeom>
            <a:solidFill>
              <a:srgbClr val="F4F6FB"/>
            </a:solidFill>
            <a:ln>
              <a:noFill/>
            </a:ln>
          </p:spPr>
        </p:sp>
        <p:sp>
          <p:nvSpPr>
            <p:cNvPr id="22" name="TextBox 22"/>
            <p:cNvSpPr txBox="1"/>
            <p:nvPr/>
          </p:nvSpPr>
          <p:spPr>
            <a:xfrm>
              <a:off x="640080" y="2905125"/>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详细设计</a:t>
              </a:r>
            </a:p>
          </p:txBody>
        </p:sp>
        <p:sp>
          <p:nvSpPr>
            <p:cNvPr id="23" name="TextBox 23"/>
            <p:cNvSpPr txBox="1"/>
            <p:nvPr/>
          </p:nvSpPr>
          <p:spPr>
            <a:xfrm>
              <a:off x="2369534" y="290512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2</a:t>
              </a:r>
            </a:p>
          </p:txBody>
        </p:sp>
        <p:sp>
          <p:nvSpPr>
            <p:cNvPr id="24" name="TextBox 24"/>
            <p:cNvSpPr txBox="1"/>
            <p:nvPr/>
          </p:nvSpPr>
          <p:spPr>
            <a:xfrm>
              <a:off x="2964656" y="2905125"/>
              <a:ext cx="570548"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1×1.5</a:t>
              </a:r>
            </a:p>
          </p:txBody>
        </p:sp>
        <p:sp>
          <p:nvSpPr>
            <p:cNvPr id="25" name="TextBox 25"/>
            <p:cNvSpPr txBox="1"/>
            <p:nvPr/>
          </p:nvSpPr>
          <p:spPr>
            <a:xfrm>
              <a:off x="3949446" y="2905125"/>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25</a:t>
              </a:r>
            </a:p>
          </p:txBody>
        </p:sp>
        <p:sp>
          <p:nvSpPr>
            <p:cNvPr id="26" name="TextBox 26"/>
            <p:cNvSpPr txBox="1"/>
            <p:nvPr/>
          </p:nvSpPr>
          <p:spPr>
            <a:xfrm>
              <a:off x="4662392" y="2905125"/>
              <a:ext cx="388810"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50%</a:t>
              </a:r>
            </a:p>
          </p:txBody>
        </p:sp>
        <p:sp>
          <p:nvSpPr>
            <p:cNvPr id="27" name="TextBox 27"/>
            <p:cNvSpPr txBox="1"/>
            <p:nvPr/>
          </p:nvSpPr>
          <p:spPr>
            <a:xfrm>
              <a:off x="5702999" y="2905125"/>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15</a:t>
              </a:r>
            </a:p>
          </p:txBody>
        </p:sp>
        <p:sp>
          <p:nvSpPr>
            <p:cNvPr id="28" name="Rectangle 28"/>
            <p:cNvSpPr/>
            <p:nvPr/>
          </p:nvSpPr>
          <p:spPr>
            <a:xfrm>
              <a:off x="533400" y="3248978"/>
              <a:ext cx="5842635" cy="9525"/>
            </a:xfrm>
            <a:prstGeom prst="rect">
              <a:avLst/>
            </a:prstGeom>
            <a:solidFill>
              <a:srgbClr val="D9DFEA"/>
            </a:solidFill>
            <a:ln>
              <a:noFill/>
            </a:ln>
          </p:spPr>
        </p:sp>
        <p:sp>
          <p:nvSpPr>
            <p:cNvPr id="29" name="TextBox 29"/>
            <p:cNvSpPr txBox="1"/>
            <p:nvPr/>
          </p:nvSpPr>
          <p:spPr>
            <a:xfrm>
              <a:off x="640080" y="3392805"/>
              <a:ext cx="1077754" cy="560070"/>
            </a:xfrm>
            <a:prstGeom prst="rect">
              <a:avLst/>
            </a:prstGeom>
            <a:noFill/>
            <a:ln>
              <a:noFill/>
            </a:ln>
          </p:spPr>
          <p:txBody>
            <a:bodyPr wrap="none" lIns="0" tIns="0" rIns="0" bIns="0" anchor="t" anchorCtr="0">
              <a:spAutoFit/>
            </a:bodyPr>
            <a:lstStyle/>
            <a:p>
              <a:pPr algn="l">
                <a:lnSpc>
                  <a:spcPts val="2100"/>
                </a:lnSpc>
              </a:pPr>
              <a:r>
                <a:rPr lang="zh-CN" sz="1500" b="1" dirty="0">
                  <a:solidFill>
                    <a:srgbClr val="1F2937"/>
                  </a:solidFill>
                  <a:latin typeface="+mn-lt"/>
                  <a:ea typeface="+mn-ea"/>
                  <a:cs typeface="+mn-cs"/>
                </a:rPr>
                <a:t>编码/单元测</a:t>
              </a:r>
              <a:br/>
              <a:r>
                <a:rPr lang="zh-CN" sz="1500" b="1" dirty="0">
                  <a:solidFill>
                    <a:srgbClr val="1F2937"/>
                  </a:solidFill>
                  <a:latin typeface="+mn-lt"/>
                  <a:ea typeface="+mn-ea"/>
                  <a:cs typeface="+mn-cs"/>
                </a:rPr>
                <a:t>试</a:t>
              </a:r>
            </a:p>
          </p:txBody>
        </p:sp>
        <p:sp>
          <p:nvSpPr>
            <p:cNvPr id="30" name="TextBox 30"/>
            <p:cNvSpPr txBox="1"/>
            <p:nvPr/>
          </p:nvSpPr>
          <p:spPr>
            <a:xfrm>
              <a:off x="2369534" y="352615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5</a:t>
              </a:r>
            </a:p>
          </p:txBody>
        </p:sp>
        <p:sp>
          <p:nvSpPr>
            <p:cNvPr id="31" name="TextBox 31"/>
            <p:cNvSpPr txBox="1"/>
            <p:nvPr/>
          </p:nvSpPr>
          <p:spPr>
            <a:xfrm>
              <a:off x="3020187" y="3526155"/>
              <a:ext cx="459486"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10×3</a:t>
              </a:r>
            </a:p>
          </p:txBody>
        </p:sp>
        <p:sp>
          <p:nvSpPr>
            <p:cNvPr id="32" name="TextBox 32"/>
            <p:cNvSpPr txBox="1"/>
            <p:nvPr/>
          </p:nvSpPr>
          <p:spPr>
            <a:xfrm>
              <a:off x="3949446" y="3526155"/>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25</a:t>
              </a:r>
            </a:p>
          </p:txBody>
        </p:sp>
        <p:sp>
          <p:nvSpPr>
            <p:cNvPr id="33" name="TextBox 33"/>
            <p:cNvSpPr txBox="1"/>
            <p:nvPr/>
          </p:nvSpPr>
          <p:spPr>
            <a:xfrm>
              <a:off x="4662392" y="3526155"/>
              <a:ext cx="388810"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60%</a:t>
              </a:r>
            </a:p>
          </p:txBody>
        </p:sp>
        <p:sp>
          <p:nvSpPr>
            <p:cNvPr id="34" name="TextBox 34"/>
            <p:cNvSpPr txBox="1"/>
            <p:nvPr/>
          </p:nvSpPr>
          <p:spPr>
            <a:xfrm>
              <a:off x="5702999" y="3526155"/>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24</a:t>
              </a:r>
            </a:p>
          </p:txBody>
        </p:sp>
        <p:sp>
          <p:nvSpPr>
            <p:cNvPr id="35" name="Rectangle 35"/>
            <p:cNvSpPr/>
            <p:nvPr/>
          </p:nvSpPr>
          <p:spPr>
            <a:xfrm>
              <a:off x="533400" y="4003358"/>
              <a:ext cx="5842635" cy="9525"/>
            </a:xfrm>
            <a:prstGeom prst="rect">
              <a:avLst/>
            </a:prstGeom>
            <a:solidFill>
              <a:srgbClr val="D9DFEA"/>
            </a:solidFill>
            <a:ln>
              <a:noFill/>
            </a:ln>
          </p:spPr>
        </p:sp>
        <p:sp>
          <p:nvSpPr>
            <p:cNvPr id="36" name="Rectangle 36"/>
            <p:cNvSpPr/>
            <p:nvPr/>
          </p:nvSpPr>
          <p:spPr>
            <a:xfrm>
              <a:off x="533400" y="4008120"/>
              <a:ext cx="5842635" cy="487680"/>
            </a:xfrm>
            <a:prstGeom prst="rect">
              <a:avLst/>
            </a:prstGeom>
            <a:solidFill>
              <a:srgbClr val="F4F6FB"/>
            </a:solidFill>
            <a:ln>
              <a:noFill/>
            </a:ln>
          </p:spPr>
        </p:sp>
        <p:sp>
          <p:nvSpPr>
            <p:cNvPr id="37" name="TextBox 37"/>
            <p:cNvSpPr txBox="1"/>
            <p:nvPr/>
          </p:nvSpPr>
          <p:spPr>
            <a:xfrm>
              <a:off x="640080" y="4147185"/>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综合测试</a:t>
              </a:r>
            </a:p>
          </p:txBody>
        </p:sp>
        <p:sp>
          <p:nvSpPr>
            <p:cNvPr id="38" name="TextBox 38"/>
            <p:cNvSpPr txBox="1"/>
            <p:nvPr/>
          </p:nvSpPr>
          <p:spPr>
            <a:xfrm>
              <a:off x="2369534" y="414718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39" name="TextBox 39"/>
            <p:cNvSpPr txBox="1"/>
            <p:nvPr/>
          </p:nvSpPr>
          <p:spPr>
            <a:xfrm>
              <a:off x="3186779" y="414718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40" name="TextBox 40"/>
            <p:cNvSpPr txBox="1"/>
            <p:nvPr/>
          </p:nvSpPr>
          <p:spPr>
            <a:xfrm>
              <a:off x="4004977" y="414718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41" name="TextBox 41"/>
            <p:cNvSpPr txBox="1"/>
            <p:nvPr/>
          </p:nvSpPr>
          <p:spPr>
            <a:xfrm>
              <a:off x="4662392" y="4147185"/>
              <a:ext cx="388810"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50%</a:t>
              </a:r>
            </a:p>
          </p:txBody>
        </p:sp>
        <p:sp>
          <p:nvSpPr>
            <p:cNvPr id="42" name="TextBox 42"/>
            <p:cNvSpPr txBox="1"/>
            <p:nvPr/>
          </p:nvSpPr>
          <p:spPr>
            <a:xfrm>
              <a:off x="5702999" y="4147185"/>
              <a:ext cx="237363"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12</a:t>
              </a:r>
            </a:p>
          </p:txBody>
        </p:sp>
        <p:sp>
          <p:nvSpPr>
            <p:cNvPr id="43" name="Rectangle 43"/>
            <p:cNvSpPr/>
            <p:nvPr/>
          </p:nvSpPr>
          <p:spPr>
            <a:xfrm>
              <a:off x="533400" y="4491038"/>
              <a:ext cx="5842635" cy="9525"/>
            </a:xfrm>
            <a:prstGeom prst="rect">
              <a:avLst/>
            </a:prstGeom>
            <a:solidFill>
              <a:srgbClr val="D9DFEA"/>
            </a:solidFill>
            <a:ln>
              <a:noFill/>
            </a:ln>
          </p:spPr>
        </p:sp>
        <p:sp>
          <p:nvSpPr>
            <p:cNvPr id="44" name="TextBox 44"/>
            <p:cNvSpPr txBox="1"/>
            <p:nvPr/>
          </p:nvSpPr>
          <p:spPr>
            <a:xfrm>
              <a:off x="640080" y="4634865"/>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确认测试</a:t>
              </a:r>
            </a:p>
          </p:txBody>
        </p:sp>
        <p:sp>
          <p:nvSpPr>
            <p:cNvPr id="45" name="TextBox 45"/>
            <p:cNvSpPr txBox="1"/>
            <p:nvPr/>
          </p:nvSpPr>
          <p:spPr>
            <a:xfrm>
              <a:off x="2369534" y="463486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46" name="TextBox 46"/>
            <p:cNvSpPr txBox="1"/>
            <p:nvPr/>
          </p:nvSpPr>
          <p:spPr>
            <a:xfrm>
              <a:off x="3186779" y="463486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47" name="TextBox 47"/>
            <p:cNvSpPr txBox="1"/>
            <p:nvPr/>
          </p:nvSpPr>
          <p:spPr>
            <a:xfrm>
              <a:off x="4004977" y="463486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48" name="TextBox 48"/>
            <p:cNvSpPr txBox="1"/>
            <p:nvPr/>
          </p:nvSpPr>
          <p:spPr>
            <a:xfrm>
              <a:off x="4662392" y="4634865"/>
              <a:ext cx="388810"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50%</a:t>
              </a:r>
            </a:p>
          </p:txBody>
        </p:sp>
        <p:sp>
          <p:nvSpPr>
            <p:cNvPr id="49" name="TextBox 49"/>
            <p:cNvSpPr txBox="1"/>
            <p:nvPr/>
          </p:nvSpPr>
          <p:spPr>
            <a:xfrm>
              <a:off x="5758529" y="463486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6</a:t>
              </a:r>
            </a:p>
          </p:txBody>
        </p:sp>
        <p:sp>
          <p:nvSpPr>
            <p:cNvPr id="50" name="Rectangle 50"/>
            <p:cNvSpPr/>
            <p:nvPr/>
          </p:nvSpPr>
          <p:spPr>
            <a:xfrm>
              <a:off x="533400" y="4978718"/>
              <a:ext cx="5842635" cy="9525"/>
            </a:xfrm>
            <a:prstGeom prst="rect">
              <a:avLst/>
            </a:prstGeom>
            <a:solidFill>
              <a:srgbClr val="D9DFEA"/>
            </a:solidFill>
            <a:ln>
              <a:noFill/>
            </a:ln>
          </p:spPr>
        </p:sp>
        <p:sp>
          <p:nvSpPr>
            <p:cNvPr id="51" name="Rectangle 51"/>
            <p:cNvSpPr/>
            <p:nvPr/>
          </p:nvSpPr>
          <p:spPr>
            <a:xfrm>
              <a:off x="533400" y="4983480"/>
              <a:ext cx="5842635" cy="487680"/>
            </a:xfrm>
            <a:prstGeom prst="rect">
              <a:avLst/>
            </a:prstGeom>
            <a:solidFill>
              <a:srgbClr val="F4F6FB"/>
            </a:solidFill>
            <a:ln>
              <a:noFill/>
            </a:ln>
          </p:spPr>
        </p:sp>
        <p:sp>
          <p:nvSpPr>
            <p:cNvPr id="52" name="TextBox 52"/>
            <p:cNvSpPr txBox="1"/>
            <p:nvPr/>
          </p:nvSpPr>
          <p:spPr>
            <a:xfrm>
              <a:off x="640080" y="5122545"/>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系统测试</a:t>
              </a:r>
            </a:p>
          </p:txBody>
        </p:sp>
        <p:sp>
          <p:nvSpPr>
            <p:cNvPr id="53" name="TextBox 53"/>
            <p:cNvSpPr txBox="1"/>
            <p:nvPr/>
          </p:nvSpPr>
          <p:spPr>
            <a:xfrm>
              <a:off x="2369534" y="512254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54" name="TextBox 54"/>
            <p:cNvSpPr txBox="1"/>
            <p:nvPr/>
          </p:nvSpPr>
          <p:spPr>
            <a:xfrm>
              <a:off x="3186779" y="512254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55" name="TextBox 55"/>
            <p:cNvSpPr txBox="1"/>
            <p:nvPr/>
          </p:nvSpPr>
          <p:spPr>
            <a:xfrm>
              <a:off x="4004977" y="512254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a:t>
              </a:r>
            </a:p>
          </p:txBody>
        </p:sp>
        <p:sp>
          <p:nvSpPr>
            <p:cNvPr id="56" name="TextBox 56"/>
            <p:cNvSpPr txBox="1"/>
            <p:nvPr/>
          </p:nvSpPr>
          <p:spPr>
            <a:xfrm>
              <a:off x="4662392" y="5122545"/>
              <a:ext cx="388810"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50%</a:t>
              </a:r>
            </a:p>
          </p:txBody>
        </p:sp>
        <p:sp>
          <p:nvSpPr>
            <p:cNvPr id="57" name="Rectangle 57"/>
            <p:cNvSpPr/>
            <p:nvPr/>
          </p:nvSpPr>
          <p:spPr>
            <a:xfrm>
              <a:off x="5275898" y="4993005"/>
              <a:ext cx="1091565" cy="468630"/>
            </a:xfrm>
            <a:prstGeom prst="rect">
              <a:avLst/>
            </a:prstGeom>
            <a:solidFill>
              <a:srgbClr val="E3F5F1"/>
            </a:solidFill>
            <a:ln>
              <a:noFill/>
            </a:ln>
          </p:spPr>
        </p:sp>
        <p:sp>
          <p:nvSpPr>
            <p:cNvPr id="58" name="TextBox 58"/>
            <p:cNvSpPr txBox="1"/>
            <p:nvPr/>
          </p:nvSpPr>
          <p:spPr>
            <a:xfrm>
              <a:off x="5758529" y="5122545"/>
              <a:ext cx="126302" cy="293370"/>
            </a:xfrm>
            <a:prstGeom prst="rect">
              <a:avLst/>
            </a:prstGeom>
            <a:noFill/>
            <a:ln>
              <a:noFill/>
            </a:ln>
          </p:spPr>
          <p:txBody>
            <a:bodyPr wrap="none" lIns="0" tIns="0" rIns="0" bIns="0" anchor="t" anchorCtr="0">
              <a:spAutoFit/>
            </a:bodyPr>
            <a:lstStyle/>
            <a:p>
              <a:pPr algn="ctr"/>
              <a:r>
                <a:rPr lang="zh-CN" sz="1500" dirty="0">
                  <a:solidFill>
                    <a:srgbClr val="1F2937"/>
                  </a:solidFill>
                  <a:latin typeface="+mn-lt"/>
                  <a:ea typeface="+mn-ea"/>
                  <a:cs typeface="+mn-cs"/>
                </a:rPr>
                <a:t>3</a:t>
              </a:r>
            </a:p>
          </p:txBody>
        </p:sp>
        <p:sp>
          <p:nvSpPr>
            <p:cNvPr id="59" name="Rectangle 59"/>
            <p:cNvSpPr/>
            <p:nvPr/>
          </p:nvSpPr>
          <p:spPr>
            <a:xfrm>
              <a:off x="533400" y="1524000"/>
              <a:ext cx="5842635" cy="3947160"/>
            </a:xfrm>
            <a:prstGeom prst="rect">
              <a:avLst/>
            </a:prstGeom>
            <a:noFill/>
            <a:ln w="14288">
              <a:solidFill>
                <a:srgbClr val="D9DFEA"/>
              </a:solidFill>
            </a:ln>
          </p:spPr>
        </p:sp>
        <p:sp>
          <p:nvSpPr>
            <p:cNvPr id="60" name="Rectangle 60"/>
            <p:cNvSpPr/>
            <p:nvPr/>
          </p:nvSpPr>
          <p:spPr>
            <a:xfrm>
              <a:off x="2047875" y="1524000"/>
              <a:ext cx="9525" cy="3947160"/>
            </a:xfrm>
            <a:prstGeom prst="rect">
              <a:avLst/>
            </a:prstGeom>
            <a:solidFill>
              <a:srgbClr val="D9DFEA"/>
            </a:solidFill>
            <a:ln>
              <a:noFill/>
            </a:ln>
          </p:spPr>
        </p:sp>
        <p:sp>
          <p:nvSpPr>
            <p:cNvPr id="61" name="Rectangle 61"/>
            <p:cNvSpPr/>
            <p:nvPr/>
          </p:nvSpPr>
          <p:spPr>
            <a:xfrm>
              <a:off x="2807018" y="1524000"/>
              <a:ext cx="9525" cy="3947160"/>
            </a:xfrm>
            <a:prstGeom prst="rect">
              <a:avLst/>
            </a:prstGeom>
            <a:solidFill>
              <a:srgbClr val="D9DFEA"/>
            </a:solidFill>
            <a:ln>
              <a:noFill/>
            </a:ln>
          </p:spPr>
        </p:sp>
        <p:sp>
          <p:nvSpPr>
            <p:cNvPr id="62" name="Rectangle 62"/>
            <p:cNvSpPr/>
            <p:nvPr/>
          </p:nvSpPr>
          <p:spPr>
            <a:xfrm>
              <a:off x="3684270" y="1524000"/>
              <a:ext cx="9525" cy="3947160"/>
            </a:xfrm>
            <a:prstGeom prst="rect">
              <a:avLst/>
            </a:prstGeom>
            <a:solidFill>
              <a:srgbClr val="D9DFEA"/>
            </a:solidFill>
            <a:ln>
              <a:noFill/>
            </a:ln>
          </p:spPr>
        </p:sp>
        <p:sp>
          <p:nvSpPr>
            <p:cNvPr id="63" name="Rectangle 63"/>
            <p:cNvSpPr/>
            <p:nvPr/>
          </p:nvSpPr>
          <p:spPr>
            <a:xfrm>
              <a:off x="4443412" y="1524000"/>
              <a:ext cx="9525" cy="3947160"/>
            </a:xfrm>
            <a:prstGeom prst="rect">
              <a:avLst/>
            </a:prstGeom>
            <a:solidFill>
              <a:srgbClr val="D9DFEA"/>
            </a:solidFill>
            <a:ln>
              <a:noFill/>
            </a:ln>
          </p:spPr>
        </p:sp>
        <p:sp>
          <p:nvSpPr>
            <p:cNvPr id="64" name="Rectangle 64"/>
            <p:cNvSpPr/>
            <p:nvPr/>
          </p:nvSpPr>
          <p:spPr>
            <a:xfrm>
              <a:off x="5261610" y="1524000"/>
              <a:ext cx="9525" cy="3947160"/>
            </a:xfrm>
            <a:prstGeom prst="rect">
              <a:avLst/>
            </a:prstGeom>
            <a:solidFill>
              <a:srgbClr val="D9DFEA"/>
            </a:solidFill>
            <a:ln>
              <a:noFill/>
            </a:ln>
          </p:spPr>
        </p:sp>
        <p:sp>
          <p:nvSpPr>
            <p:cNvPr id="65" name="TextBox 65"/>
            <p:cNvSpPr txBox="1"/>
            <p:nvPr/>
          </p:nvSpPr>
          <p:spPr>
            <a:xfrm>
              <a:off x="527685" y="5546884"/>
              <a:ext cx="4489430"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有设计复审：前两个阶段就拦掉大部分差错，进入编码的只有 15 个</a:t>
              </a:r>
            </a:p>
          </p:txBody>
        </p:sp>
      </p:grpSp>
      <p:grpSp>
        <p:nvGrpSpPr>
          <p:cNvPr id="68" name="c1-text-2"/>
          <p:cNvGrpSpPr/>
          <p:nvPr/>
        </p:nvGrpSpPr>
        <p:grpSpPr>
          <a:xfrm>
            <a:off x="526923" y="5934551"/>
            <a:ext cx="5750997" cy="249364"/>
            <a:chOff x="526923" y="5934551"/>
            <a:chExt cx="5750997" cy="249364"/>
          </a:xfrm>
        </p:grpSpPr>
        <p:sp>
          <p:nvSpPr>
            <p:cNvPr id="67" name="TextBox 67"/>
            <p:cNvSpPr txBox="1"/>
            <p:nvPr/>
          </p:nvSpPr>
          <p:spPr>
            <a:xfrm>
              <a:off x="526923" y="5934551"/>
              <a:ext cx="575099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详细设计一行：(2 + 1×1.5 + 25)×(1 − 50%) = 14.25，图上取整写作 15。</a:t>
              </a:r>
            </a:p>
          </p:txBody>
        </p:sp>
      </p:grpSp>
      <p:grpSp>
        <p:nvGrpSpPr>
          <p:cNvPr id="89" name="c2-compare-1"/>
          <p:cNvGrpSpPr/>
          <p:nvPr/>
        </p:nvGrpSpPr>
        <p:grpSpPr>
          <a:xfrm>
            <a:off x="6680835" y="1524000"/>
            <a:ext cx="4977765" cy="2274570"/>
            <a:chOff x="6680835" y="1524000"/>
            <a:chExt cx="4977765" cy="2274570"/>
          </a:xfrm>
        </p:grpSpPr>
        <p:sp>
          <p:nvSpPr>
            <p:cNvPr id="69" name="Rectangle 69"/>
            <p:cNvSpPr/>
            <p:nvPr/>
          </p:nvSpPr>
          <p:spPr>
            <a:xfrm>
              <a:off x="6680835" y="1524000"/>
              <a:ext cx="2317432" cy="2274570"/>
            </a:xfrm>
            <a:prstGeom prst="roundRect">
              <a:avLst>
                <a:gd name="adj" fmla="val 5863"/>
              </a:avLst>
            </a:prstGeom>
            <a:solidFill>
              <a:srgbClr val="FFFFFF"/>
            </a:solidFill>
            <a:ln w="14288">
              <a:solidFill>
                <a:srgbClr val="D9DFEA"/>
              </a:solidFill>
            </a:ln>
          </p:spPr>
        </p:sp>
        <p:sp>
          <p:nvSpPr>
            <p:cNvPr id="70" name="Rectangle 70"/>
            <p:cNvSpPr/>
            <p:nvPr/>
          </p:nvSpPr>
          <p:spPr>
            <a:xfrm>
              <a:off x="6690360" y="1657350"/>
              <a:ext cx="47625" cy="2007870"/>
            </a:xfrm>
            <a:prstGeom prst="roundRect">
              <a:avLst>
                <a:gd name="adj" fmla="val 50000"/>
              </a:avLst>
            </a:prstGeom>
            <a:solidFill>
              <a:srgbClr val="B42318"/>
            </a:solidFill>
            <a:ln>
              <a:noFill/>
            </a:ln>
          </p:spPr>
        </p:sp>
        <p:sp>
          <p:nvSpPr>
            <p:cNvPr id="71" name="TextBox 71"/>
            <p:cNvSpPr txBox="1"/>
            <p:nvPr/>
          </p:nvSpPr>
          <p:spPr>
            <a:xfrm>
              <a:off x="6920865" y="1758315"/>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无设计复审</a:t>
              </a:r>
            </a:p>
          </p:txBody>
        </p:sp>
        <p:sp>
          <p:nvSpPr>
            <p:cNvPr id="72" name="Ellipse 72"/>
            <p:cNvSpPr/>
            <p:nvPr/>
          </p:nvSpPr>
          <p:spPr>
            <a:xfrm>
              <a:off x="6934200" y="2175510"/>
              <a:ext cx="64770" cy="64770"/>
            </a:xfrm>
            <a:prstGeom prst="ellipse">
              <a:avLst/>
            </a:prstGeom>
            <a:solidFill>
              <a:srgbClr val="334E68"/>
            </a:solidFill>
            <a:ln>
              <a:noFill/>
            </a:ln>
          </p:spPr>
        </p:sp>
        <p:sp>
          <p:nvSpPr>
            <p:cNvPr id="73" name="TextBox 73"/>
            <p:cNvSpPr txBox="1"/>
            <p:nvPr/>
          </p:nvSpPr>
          <p:spPr>
            <a:xfrm>
              <a:off x="7092315" y="2112645"/>
              <a:ext cx="155829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进入编码阶段：37</a:t>
              </a:r>
              <a:br/>
              <a:r>
                <a:rPr lang="zh-CN" sz="1500" dirty="0">
                  <a:solidFill>
                    <a:srgbClr val="1F2937"/>
                  </a:solidFill>
                  <a:latin typeface="+mn-lt"/>
                  <a:ea typeface="+mn-ea"/>
                  <a:cs typeface="+mn-cs"/>
                </a:rPr>
                <a:t>个</a:t>
              </a:r>
            </a:p>
          </p:txBody>
        </p:sp>
        <p:sp>
          <p:nvSpPr>
            <p:cNvPr id="74" name="Ellipse 74"/>
            <p:cNvSpPr/>
            <p:nvPr/>
          </p:nvSpPr>
          <p:spPr>
            <a:xfrm>
              <a:off x="6934200" y="2796540"/>
              <a:ext cx="64770" cy="64770"/>
            </a:xfrm>
            <a:prstGeom prst="ellipse">
              <a:avLst/>
            </a:prstGeom>
            <a:solidFill>
              <a:srgbClr val="334E68"/>
            </a:solidFill>
            <a:ln>
              <a:noFill/>
            </a:ln>
          </p:spPr>
        </p:sp>
        <p:sp>
          <p:nvSpPr>
            <p:cNvPr id="75" name="TextBox 75"/>
            <p:cNvSpPr txBox="1"/>
            <p:nvPr/>
          </p:nvSpPr>
          <p:spPr>
            <a:xfrm>
              <a:off x="7092315" y="2733675"/>
              <a:ext cx="1348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编码阶段放大到</a:t>
              </a:r>
              <a:br/>
              <a:r>
                <a:rPr lang="zh-CN" sz="1500" dirty="0">
                  <a:solidFill>
                    <a:srgbClr val="1F2937"/>
                  </a:solidFill>
                  <a:latin typeface="+mn-lt"/>
                  <a:ea typeface="+mn-ea"/>
                  <a:cs typeface="+mn-cs"/>
                </a:rPr>
                <a:t>116 个</a:t>
              </a:r>
            </a:p>
          </p:txBody>
        </p:sp>
        <p:sp>
          <p:nvSpPr>
            <p:cNvPr id="76" name="Ellipse 76"/>
            <p:cNvSpPr/>
            <p:nvPr/>
          </p:nvSpPr>
          <p:spPr>
            <a:xfrm>
              <a:off x="6934200" y="3417570"/>
              <a:ext cx="64770" cy="64770"/>
            </a:xfrm>
            <a:prstGeom prst="ellipse">
              <a:avLst/>
            </a:prstGeom>
            <a:solidFill>
              <a:srgbClr val="334E68"/>
            </a:solidFill>
            <a:ln>
              <a:noFill/>
            </a:ln>
          </p:spPr>
        </p:sp>
        <p:sp>
          <p:nvSpPr>
            <p:cNvPr id="77" name="TextBox 77"/>
            <p:cNvSpPr txBox="1"/>
            <p:nvPr/>
          </p:nvSpPr>
          <p:spPr>
            <a:xfrm>
              <a:off x="7092315" y="3354705"/>
              <a:ext cx="1570101"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交付时潜伏 12 个</a:t>
              </a:r>
            </a:p>
          </p:txBody>
        </p:sp>
        <p:sp>
          <p:nvSpPr>
            <p:cNvPr id="78" name="Rectangle 78"/>
            <p:cNvSpPr/>
            <p:nvPr/>
          </p:nvSpPr>
          <p:spPr>
            <a:xfrm>
              <a:off x="9341168" y="1524000"/>
              <a:ext cx="2317432" cy="2274570"/>
            </a:xfrm>
            <a:prstGeom prst="roundRect">
              <a:avLst>
                <a:gd name="adj" fmla="val 5863"/>
              </a:avLst>
            </a:prstGeom>
            <a:solidFill>
              <a:srgbClr val="FFFFFF"/>
            </a:solidFill>
            <a:ln w="14288">
              <a:solidFill>
                <a:srgbClr val="D9DFEA"/>
              </a:solidFill>
            </a:ln>
          </p:spPr>
        </p:sp>
        <p:sp>
          <p:nvSpPr>
            <p:cNvPr id="79" name="Rectangle 79"/>
            <p:cNvSpPr/>
            <p:nvPr/>
          </p:nvSpPr>
          <p:spPr>
            <a:xfrm>
              <a:off x="9350692" y="1657350"/>
              <a:ext cx="47625" cy="2007870"/>
            </a:xfrm>
            <a:prstGeom prst="roundRect">
              <a:avLst>
                <a:gd name="adj" fmla="val 50000"/>
              </a:avLst>
            </a:prstGeom>
            <a:solidFill>
              <a:srgbClr val="14A38B"/>
            </a:solidFill>
            <a:ln>
              <a:noFill/>
            </a:ln>
          </p:spPr>
        </p:sp>
        <p:sp>
          <p:nvSpPr>
            <p:cNvPr id="80" name="TextBox 80"/>
            <p:cNvSpPr txBox="1"/>
            <p:nvPr/>
          </p:nvSpPr>
          <p:spPr>
            <a:xfrm>
              <a:off x="9581198" y="1758315"/>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有设计复审</a:t>
              </a:r>
            </a:p>
          </p:txBody>
        </p:sp>
        <p:sp>
          <p:nvSpPr>
            <p:cNvPr id="81" name="Ellipse 81"/>
            <p:cNvSpPr/>
            <p:nvPr/>
          </p:nvSpPr>
          <p:spPr>
            <a:xfrm>
              <a:off x="9594532" y="2175510"/>
              <a:ext cx="64770" cy="64770"/>
            </a:xfrm>
            <a:prstGeom prst="ellipse">
              <a:avLst/>
            </a:prstGeom>
            <a:solidFill>
              <a:srgbClr val="334E68"/>
            </a:solidFill>
            <a:ln>
              <a:noFill/>
            </a:ln>
          </p:spPr>
        </p:sp>
        <p:sp>
          <p:nvSpPr>
            <p:cNvPr id="82" name="TextBox 82"/>
            <p:cNvSpPr txBox="1"/>
            <p:nvPr/>
          </p:nvSpPr>
          <p:spPr>
            <a:xfrm>
              <a:off x="9752648" y="2112645"/>
              <a:ext cx="155829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进入编码阶段：15</a:t>
              </a:r>
              <a:br/>
              <a:r>
                <a:rPr lang="zh-CN" sz="1500" dirty="0">
                  <a:solidFill>
                    <a:srgbClr val="1F2937"/>
                  </a:solidFill>
                  <a:latin typeface="+mn-lt"/>
                  <a:ea typeface="+mn-ea"/>
                  <a:cs typeface="+mn-cs"/>
                </a:rPr>
                <a:t>个</a:t>
              </a:r>
            </a:p>
          </p:txBody>
        </p:sp>
        <p:sp>
          <p:nvSpPr>
            <p:cNvPr id="83" name="Ellipse 83"/>
            <p:cNvSpPr/>
            <p:nvPr/>
          </p:nvSpPr>
          <p:spPr>
            <a:xfrm>
              <a:off x="9594532" y="2796540"/>
              <a:ext cx="64770" cy="64770"/>
            </a:xfrm>
            <a:prstGeom prst="ellipse">
              <a:avLst/>
            </a:prstGeom>
            <a:solidFill>
              <a:srgbClr val="334E68"/>
            </a:solidFill>
            <a:ln>
              <a:noFill/>
            </a:ln>
          </p:spPr>
        </p:sp>
        <p:sp>
          <p:nvSpPr>
            <p:cNvPr id="84" name="TextBox 84"/>
            <p:cNvSpPr txBox="1"/>
            <p:nvPr/>
          </p:nvSpPr>
          <p:spPr>
            <a:xfrm>
              <a:off x="9752648" y="2733675"/>
              <a:ext cx="1570101"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编码阶段共 60 个</a:t>
              </a:r>
            </a:p>
          </p:txBody>
        </p:sp>
        <p:sp>
          <p:nvSpPr>
            <p:cNvPr id="85" name="Ellipse 85"/>
            <p:cNvSpPr/>
            <p:nvPr/>
          </p:nvSpPr>
          <p:spPr>
            <a:xfrm>
              <a:off x="9594532" y="3131820"/>
              <a:ext cx="64770" cy="64770"/>
            </a:xfrm>
            <a:prstGeom prst="ellipse">
              <a:avLst/>
            </a:prstGeom>
            <a:solidFill>
              <a:srgbClr val="334E68"/>
            </a:solidFill>
            <a:ln>
              <a:noFill/>
            </a:ln>
          </p:spPr>
        </p:sp>
        <p:sp>
          <p:nvSpPr>
            <p:cNvPr id="86" name="TextBox 86"/>
            <p:cNvSpPr txBox="1"/>
            <p:nvPr/>
          </p:nvSpPr>
          <p:spPr>
            <a:xfrm>
              <a:off x="9752648" y="3068955"/>
              <a:ext cx="1459039"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交付时潜伏 3 个</a:t>
              </a:r>
            </a:p>
          </p:txBody>
        </p:sp>
        <p:sp>
          <p:nvSpPr>
            <p:cNvPr id="87" name="Ellipse 87"/>
            <p:cNvSpPr/>
            <p:nvPr/>
          </p:nvSpPr>
          <p:spPr>
            <a:xfrm>
              <a:off x="9007792" y="2499360"/>
              <a:ext cx="323850" cy="323850"/>
            </a:xfrm>
            <a:prstGeom prst="ellipse">
              <a:avLst/>
            </a:prstGeom>
            <a:solidFill>
              <a:srgbClr val="F26B3A"/>
            </a:solidFill>
            <a:ln>
              <a:noFill/>
            </a:ln>
          </p:spPr>
        </p:sp>
        <p:sp>
          <p:nvSpPr>
            <p:cNvPr id="88" name="TextBox 88"/>
            <p:cNvSpPr txBox="1"/>
            <p:nvPr/>
          </p:nvSpPr>
          <p:spPr>
            <a:xfrm>
              <a:off x="9078133" y="2595562"/>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95" name="c2-card-2"/>
          <p:cNvGrpSpPr/>
          <p:nvPr/>
        </p:nvGrpSpPr>
        <p:grpSpPr>
          <a:xfrm>
            <a:off x="6680835" y="3989070"/>
            <a:ext cx="4977765" cy="2144078"/>
            <a:chOff x="6680835" y="3989070"/>
            <a:chExt cx="4977765" cy="2144078"/>
          </a:xfrm>
        </p:grpSpPr>
        <p:sp>
          <p:nvSpPr>
            <p:cNvPr id="90" name="Rectangle 90"/>
            <p:cNvSpPr/>
            <p:nvPr/>
          </p:nvSpPr>
          <p:spPr>
            <a:xfrm>
              <a:off x="6680835" y="3989070"/>
              <a:ext cx="4977765" cy="2144078"/>
            </a:xfrm>
            <a:prstGeom prst="roundRect">
              <a:avLst>
                <a:gd name="adj" fmla="val 6219"/>
              </a:avLst>
            </a:prstGeom>
            <a:solidFill>
              <a:srgbClr val="334E68"/>
            </a:solidFill>
            <a:ln>
              <a:noFill/>
            </a:ln>
          </p:spPr>
        </p:sp>
        <p:sp>
          <p:nvSpPr>
            <p:cNvPr id="91" name="Rectangle 91"/>
            <p:cNvSpPr/>
            <p:nvPr/>
          </p:nvSpPr>
          <p:spPr>
            <a:xfrm>
              <a:off x="6890385" y="4198620"/>
              <a:ext cx="494348" cy="257175"/>
            </a:xfrm>
            <a:prstGeom prst="roundRect">
              <a:avLst>
                <a:gd name="adj" fmla="val 50000"/>
              </a:avLst>
            </a:prstGeom>
            <a:solidFill>
              <a:srgbClr val="243B53"/>
            </a:solidFill>
            <a:ln>
              <a:noFill/>
            </a:ln>
          </p:spPr>
        </p:sp>
        <p:sp>
          <p:nvSpPr>
            <p:cNvPr id="92" name="TextBox 92"/>
            <p:cNvSpPr txBox="1"/>
            <p:nvPr/>
          </p:nvSpPr>
          <p:spPr>
            <a:xfrm>
              <a:off x="6981546" y="4234339"/>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结论</a:t>
              </a:r>
            </a:p>
          </p:txBody>
        </p:sp>
        <p:sp>
          <p:nvSpPr>
            <p:cNvPr id="93" name="TextBox 93"/>
            <p:cNvSpPr txBox="1"/>
            <p:nvPr/>
          </p:nvSpPr>
          <p:spPr>
            <a:xfrm>
              <a:off x="6882765" y="4575810"/>
              <a:ext cx="42348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设计阶段每拦下 1 个差错，就挡住它在编码阶段被</a:t>
              </a:r>
              <a:br/>
              <a:r>
                <a:rPr lang="zh-CN" sz="1500" dirty="0">
                  <a:solidFill>
                    <a:srgbClr val="FFFFFF"/>
                  </a:solidFill>
                  <a:latin typeface="+mn-lt"/>
                  <a:ea typeface="+mn-ea"/>
                  <a:cs typeface="+mn-cs"/>
                </a:rPr>
                <a:t>放大成 3 个，还省下后面三轮测试的返工。</a:t>
              </a:r>
            </a:p>
          </p:txBody>
        </p:sp>
        <p:sp>
          <p:nvSpPr>
            <p:cNvPr id="94" name="TextBox 94"/>
            <p:cNvSpPr txBox="1"/>
            <p:nvPr/>
          </p:nvSpPr>
          <p:spPr>
            <a:xfrm>
              <a:off x="6883908" y="5193506"/>
              <a:ext cx="4612036"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这就是 Boehm 第二条基本原理“坚持进行阶段评审”的来历。</a:t>
              </a:r>
            </a:p>
          </p:txBody>
        </p:sp>
      </p:grpSp>
      <p:grpSp>
        <p:nvGrpSpPr>
          <p:cNvPr id="98" name="footer"/>
          <p:cNvGrpSpPr/>
          <p:nvPr/>
        </p:nvGrpSpPr>
        <p:grpSpPr>
          <a:xfrm>
            <a:off x="528447" y="6581299"/>
            <a:ext cx="11135106" cy="190690"/>
            <a:chOff x="528447" y="6581299"/>
            <a:chExt cx="11135106" cy="190690"/>
          </a:xfrm>
        </p:grpSpPr>
        <p:sp>
          <p:nvSpPr>
            <p:cNvPr id="96" name="TextBox 96"/>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97" name="TextBox 9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2129790" cy="266700"/>
            </a:xfrm>
            <a:prstGeom prst="roundRect">
              <a:avLst>
                <a:gd name="adj" fmla="val 50000"/>
              </a:avLst>
            </a:prstGeom>
            <a:solidFill>
              <a:srgbClr val="E7EDF3"/>
            </a:solidFill>
            <a:ln>
              <a:noFill/>
            </a:ln>
          </p:spPr>
        </p:sp>
        <p:sp>
          <p:nvSpPr>
            <p:cNvPr id="3" name="TextBox 3"/>
            <p:cNvSpPr txBox="1"/>
            <p:nvPr/>
          </p:nvSpPr>
          <p:spPr>
            <a:xfrm>
              <a:off x="605008" y="407194"/>
              <a:ext cx="198657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软件与软件危机</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消除软件危机：先改认识，再改做法</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4" name="c1-steps-1"/>
          <p:cNvGrpSpPr/>
          <p:nvPr/>
        </p:nvGrpSpPr>
        <p:grpSpPr>
          <a:xfrm>
            <a:off x="533400" y="1533525"/>
            <a:ext cx="5403215" cy="2890361"/>
            <a:chOff x="533400" y="1533525"/>
            <a:chExt cx="5403215" cy="2890361"/>
          </a:xfrm>
        </p:grpSpPr>
        <p:sp>
          <p:nvSpPr>
            <p:cNvPr id="7" name="Rectangle 7"/>
            <p:cNvSpPr/>
            <p:nvPr/>
          </p:nvSpPr>
          <p:spPr>
            <a:xfrm>
              <a:off x="666750" y="1676400"/>
              <a:ext cx="19050" cy="2163128"/>
            </a:xfrm>
            <a:prstGeom prst="rect">
              <a:avLst/>
            </a:prstGeom>
            <a:solidFill>
              <a:srgbClr val="D9DFEA"/>
            </a:solidFill>
            <a:ln>
              <a:noFill/>
            </a:ln>
          </p:spPr>
        </p:sp>
        <p:sp>
          <p:nvSpPr>
            <p:cNvPr id="8" name="Ellipse 8"/>
            <p:cNvSpPr/>
            <p:nvPr/>
          </p:nvSpPr>
          <p:spPr>
            <a:xfrm>
              <a:off x="533400" y="1533525"/>
              <a:ext cx="285750" cy="285750"/>
            </a:xfrm>
            <a:prstGeom prst="ellipse">
              <a:avLst/>
            </a:prstGeom>
            <a:solidFill>
              <a:srgbClr val="334E68"/>
            </a:solidFill>
            <a:ln>
              <a:noFill/>
            </a:ln>
          </p:spPr>
        </p:sp>
        <p:sp>
          <p:nvSpPr>
            <p:cNvPr id="9" name="TextBox 9"/>
            <p:cNvSpPr txBox="1"/>
            <p:nvPr/>
          </p:nvSpPr>
          <p:spPr>
            <a:xfrm>
              <a:off x="627024" y="16073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0" name="Ellipse 10"/>
            <p:cNvSpPr/>
            <p:nvPr/>
          </p:nvSpPr>
          <p:spPr>
            <a:xfrm>
              <a:off x="533400" y="2116455"/>
              <a:ext cx="285750" cy="285750"/>
            </a:xfrm>
            <a:prstGeom prst="ellipse">
              <a:avLst/>
            </a:prstGeom>
            <a:solidFill>
              <a:srgbClr val="334E68"/>
            </a:solidFill>
            <a:ln>
              <a:noFill/>
            </a:ln>
          </p:spPr>
        </p:sp>
        <p:sp>
          <p:nvSpPr>
            <p:cNvPr id="11" name="TextBox 11"/>
            <p:cNvSpPr txBox="1"/>
            <p:nvPr/>
          </p:nvSpPr>
          <p:spPr>
            <a:xfrm>
              <a:off x="627024" y="219027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2" name="Ellipse 12"/>
            <p:cNvSpPr/>
            <p:nvPr/>
          </p:nvSpPr>
          <p:spPr>
            <a:xfrm>
              <a:off x="533400" y="2906078"/>
              <a:ext cx="285750" cy="285750"/>
            </a:xfrm>
            <a:prstGeom prst="ellipse">
              <a:avLst/>
            </a:prstGeom>
            <a:solidFill>
              <a:srgbClr val="334E68"/>
            </a:solidFill>
            <a:ln>
              <a:noFill/>
            </a:ln>
          </p:spPr>
        </p:sp>
        <p:sp>
          <p:nvSpPr>
            <p:cNvPr id="13" name="TextBox 13"/>
            <p:cNvSpPr txBox="1"/>
            <p:nvPr/>
          </p:nvSpPr>
          <p:spPr>
            <a:xfrm>
              <a:off x="627024" y="297989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4" name="Ellipse 14"/>
            <p:cNvSpPr/>
            <p:nvPr/>
          </p:nvSpPr>
          <p:spPr>
            <a:xfrm>
              <a:off x="533400" y="3696652"/>
              <a:ext cx="285750" cy="285750"/>
            </a:xfrm>
            <a:prstGeom prst="ellipse">
              <a:avLst/>
            </a:prstGeom>
            <a:solidFill>
              <a:srgbClr val="334E68"/>
            </a:solidFill>
            <a:ln>
              <a:noFill/>
            </a:ln>
          </p:spPr>
        </p:sp>
        <p:sp>
          <p:nvSpPr>
            <p:cNvPr id="15" name="TextBox 15"/>
            <p:cNvSpPr txBox="1"/>
            <p:nvPr/>
          </p:nvSpPr>
          <p:spPr>
            <a:xfrm>
              <a:off x="627024" y="377047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6" name="TextBox 16"/>
            <p:cNvSpPr txBox="1"/>
            <p:nvPr/>
          </p:nvSpPr>
          <p:spPr>
            <a:xfrm>
              <a:off x="945642" y="1564957"/>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正确认识软件</a:t>
              </a:r>
            </a:p>
          </p:txBody>
        </p:sp>
        <p:sp>
          <p:nvSpPr>
            <p:cNvPr id="17" name="TextBox 17"/>
            <p:cNvSpPr txBox="1"/>
            <p:nvPr/>
          </p:nvSpPr>
          <p:spPr>
            <a:xfrm>
              <a:off x="946785" y="1833086"/>
              <a:ext cx="423311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软件是程序、数据及其相关文档的完整集合，交付物不只有代码</a:t>
              </a:r>
            </a:p>
          </p:txBody>
        </p:sp>
        <p:sp>
          <p:nvSpPr>
            <p:cNvPr id="18" name="TextBox 18"/>
            <p:cNvSpPr txBox="1"/>
            <p:nvPr/>
          </p:nvSpPr>
          <p:spPr>
            <a:xfrm>
              <a:off x="945642" y="2147888"/>
              <a:ext cx="146761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当成工程项目来做</a:t>
              </a:r>
            </a:p>
          </p:txBody>
        </p:sp>
        <p:sp>
          <p:nvSpPr>
            <p:cNvPr id="19" name="TextBox 19"/>
            <p:cNvSpPr txBox="1"/>
            <p:nvPr/>
          </p:nvSpPr>
          <p:spPr>
            <a:xfrm>
              <a:off x="946785" y="2416016"/>
              <a:ext cx="498983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1F2937"/>
                  </a:solidFill>
                  <a:latin typeface="+mn-lt"/>
                  <a:ea typeface="+mn-ea"/>
                  <a:cs typeface="+mn-cs"/>
                </a:rPr>
                <a:t>软件开发不是个体劳动的神秘技巧，而是组织良好、管理严密、各类人员协同配</a:t>
              </a:r>
              <a:br/>
              <a:r>
                <a:rPr lang="zh-CN" sz="1120" dirty="0">
                  <a:solidFill>
                    <a:srgbClr val="1F2937"/>
                  </a:solidFill>
                  <a:latin typeface="+mn-lt"/>
                  <a:ea typeface="+mn-ea"/>
                  <a:cs typeface="+mn-cs"/>
                </a:rPr>
                <a:t>合、共同完成的工程项目</a:t>
              </a:r>
            </a:p>
          </p:txBody>
        </p:sp>
        <p:sp>
          <p:nvSpPr>
            <p:cNvPr id="20" name="TextBox 20"/>
            <p:cNvSpPr txBox="1"/>
            <p:nvPr/>
          </p:nvSpPr>
          <p:spPr>
            <a:xfrm>
              <a:off x="945642" y="2938462"/>
              <a:ext cx="146761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借鉴已有工程经验</a:t>
              </a:r>
            </a:p>
          </p:txBody>
        </p:sp>
        <p:sp>
          <p:nvSpPr>
            <p:cNvPr id="21" name="TextBox 21"/>
            <p:cNvSpPr txBox="1"/>
            <p:nvPr/>
          </p:nvSpPr>
          <p:spPr>
            <a:xfrm>
              <a:off x="946785" y="3205639"/>
              <a:ext cx="498983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1F2937"/>
                  </a:solidFill>
                  <a:latin typeface="+mn-lt"/>
                  <a:ea typeface="+mn-ea"/>
                  <a:cs typeface="+mn-cs"/>
                </a:rPr>
                <a:t>吸取人类长期从事各种工程项目积累的原理、概念、技术和方法，特别是计算机</a:t>
              </a:r>
              <a:br/>
              <a:r>
                <a:rPr lang="zh-CN" sz="1120" dirty="0">
                  <a:solidFill>
                    <a:srgbClr val="1F2937"/>
                  </a:solidFill>
                  <a:latin typeface="+mn-lt"/>
                  <a:ea typeface="+mn-ea"/>
                  <a:cs typeface="+mn-cs"/>
                </a:rPr>
                <a:t>硬件研究与开发的经验教训</a:t>
              </a:r>
            </a:p>
          </p:txBody>
        </p:sp>
        <p:sp>
          <p:nvSpPr>
            <p:cNvPr id="22" name="TextBox 22"/>
            <p:cNvSpPr txBox="1"/>
            <p:nvPr/>
          </p:nvSpPr>
          <p:spPr>
            <a:xfrm>
              <a:off x="945642" y="3728085"/>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推广成熟技术与工具</a:t>
              </a:r>
            </a:p>
          </p:txBody>
        </p:sp>
        <p:sp>
          <p:nvSpPr>
            <p:cNvPr id="23" name="TextBox 23"/>
            <p:cNvSpPr txBox="1"/>
            <p:nvPr/>
          </p:nvSpPr>
          <p:spPr>
            <a:xfrm>
              <a:off x="946785" y="3996214"/>
              <a:ext cx="498983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1F2937"/>
                  </a:solidFill>
                  <a:latin typeface="+mn-lt"/>
                  <a:ea typeface="+mn-ea"/>
                  <a:cs typeface="+mn-cs"/>
                </a:rPr>
                <a:t>推广实践中总结出的成功技术和方法，研究更有效的方法，开发和使用更好的软</a:t>
              </a:r>
              <a:br/>
              <a:r>
                <a:rPr lang="zh-CN" sz="1120" dirty="0">
                  <a:solidFill>
                    <a:srgbClr val="1F2937"/>
                  </a:solidFill>
                  <a:latin typeface="+mn-lt"/>
                  <a:ea typeface="+mn-ea"/>
                  <a:cs typeface="+mn-cs"/>
                </a:rPr>
                <a:t>件工具</a:t>
              </a:r>
            </a:p>
          </p:txBody>
        </p:sp>
      </p:grpSp>
      <p:grpSp>
        <p:nvGrpSpPr>
          <p:cNvPr id="31" name="c1-card-2"/>
          <p:cNvGrpSpPr/>
          <p:nvPr/>
        </p:nvGrpSpPr>
        <p:grpSpPr>
          <a:xfrm>
            <a:off x="533400" y="4587240"/>
            <a:ext cx="5626418" cy="1654492"/>
            <a:chOff x="533400" y="4587240"/>
            <a:chExt cx="5626418" cy="1654492"/>
          </a:xfrm>
        </p:grpSpPr>
        <p:sp>
          <p:nvSpPr>
            <p:cNvPr id="25" name="Rectangle 25"/>
            <p:cNvSpPr/>
            <p:nvPr/>
          </p:nvSpPr>
          <p:spPr>
            <a:xfrm>
              <a:off x="533400" y="4587240"/>
              <a:ext cx="5626418" cy="1654492"/>
            </a:xfrm>
            <a:prstGeom prst="roundRect">
              <a:avLst>
                <a:gd name="adj" fmla="val 8060"/>
              </a:avLst>
            </a:prstGeom>
            <a:solidFill>
              <a:srgbClr val="FFFFFF"/>
            </a:solidFill>
            <a:ln w="14288">
              <a:solidFill>
                <a:srgbClr val="D9DFEA"/>
              </a:solidFill>
            </a:ln>
          </p:spPr>
        </p:sp>
        <p:sp>
          <p:nvSpPr>
            <p:cNvPr id="26" name="Rectangle 26"/>
            <p:cNvSpPr/>
            <p:nvPr/>
          </p:nvSpPr>
          <p:spPr>
            <a:xfrm>
              <a:off x="542925" y="4720590"/>
              <a:ext cx="47625" cy="1387792"/>
            </a:xfrm>
            <a:prstGeom prst="roundRect">
              <a:avLst>
                <a:gd name="adj" fmla="val 50000"/>
              </a:avLst>
            </a:prstGeom>
            <a:solidFill>
              <a:srgbClr val="5B6475"/>
            </a:solidFill>
            <a:ln>
              <a:noFill/>
            </a:ln>
          </p:spPr>
        </p:sp>
        <p:sp>
          <p:nvSpPr>
            <p:cNvPr id="27" name="Rectangle 27"/>
            <p:cNvSpPr/>
            <p:nvPr/>
          </p:nvSpPr>
          <p:spPr>
            <a:xfrm>
              <a:off x="758190" y="4773930"/>
              <a:ext cx="582930" cy="238125"/>
            </a:xfrm>
            <a:prstGeom prst="roundRect">
              <a:avLst>
                <a:gd name="adj" fmla="val 50000"/>
              </a:avLst>
            </a:prstGeom>
            <a:solidFill>
              <a:srgbClr val="F4F6FB"/>
            </a:solidFill>
            <a:ln>
              <a:noFill/>
            </a:ln>
          </p:spPr>
        </p:sp>
        <p:sp>
          <p:nvSpPr>
            <p:cNvPr id="28" name="TextBox 28"/>
            <p:cNvSpPr txBox="1"/>
            <p:nvPr/>
          </p:nvSpPr>
          <p:spPr>
            <a:xfrm>
              <a:off x="846811" y="4806791"/>
              <a:ext cx="405689"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交付物</a:t>
              </a:r>
            </a:p>
          </p:txBody>
        </p:sp>
        <p:sp>
          <p:nvSpPr>
            <p:cNvPr id="29" name="TextBox 29"/>
            <p:cNvSpPr txBox="1"/>
            <p:nvPr/>
          </p:nvSpPr>
          <p:spPr>
            <a:xfrm>
              <a:off x="751332" y="5117783"/>
              <a:ext cx="4985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交付物不只有程序：需求规格说明、设计文档、测试报告、用户手</a:t>
              </a:r>
              <a:br/>
              <a:r>
                <a:rPr lang="zh-CN" sz="1350" dirty="0">
                  <a:solidFill>
                    <a:srgbClr val="1F2937"/>
                  </a:solidFill>
                  <a:latin typeface="+mn-lt"/>
                  <a:ea typeface="+mn-ea"/>
                  <a:cs typeface="+mn-cs"/>
                </a:rPr>
                <a:t>册一起构成软件配置。</a:t>
              </a:r>
            </a:p>
          </p:txBody>
        </p:sp>
        <p:sp>
          <p:nvSpPr>
            <p:cNvPr id="30" name="TextBox 30"/>
            <p:cNvSpPr txBox="1"/>
            <p:nvPr/>
          </p:nvSpPr>
          <p:spPr>
            <a:xfrm>
              <a:off x="752475" y="5671661"/>
              <a:ext cx="498983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这四条也是全书主线：先定义（第 2、3 章）、再设计实现（第 5 至 7 章）、最</a:t>
              </a:r>
              <a:br/>
              <a:r>
                <a:rPr lang="zh-CN" sz="1120" dirty="0">
                  <a:solidFill>
                    <a:srgbClr val="5B6475"/>
                  </a:solidFill>
                  <a:latin typeface="+mn-lt"/>
                  <a:ea typeface="+mn-ea"/>
                  <a:cs typeface="+mn-cs"/>
                </a:rPr>
                <a:t>后维护（第 8 章）。</a:t>
              </a:r>
            </a:p>
          </p:txBody>
        </p:sp>
      </p:grpSp>
      <p:grpSp>
        <p:nvGrpSpPr>
          <p:cNvPr id="37" name="c2-card-1"/>
          <p:cNvGrpSpPr/>
          <p:nvPr/>
        </p:nvGrpSpPr>
        <p:grpSpPr>
          <a:xfrm>
            <a:off x="6464618" y="1524000"/>
            <a:ext cx="5193982" cy="1202055"/>
            <a:chOff x="6464618" y="1524000"/>
            <a:chExt cx="5193982" cy="1202055"/>
          </a:xfrm>
        </p:grpSpPr>
        <p:sp>
          <p:nvSpPr>
            <p:cNvPr id="32" name="Rectangle 32"/>
            <p:cNvSpPr/>
            <p:nvPr/>
          </p:nvSpPr>
          <p:spPr>
            <a:xfrm>
              <a:off x="6464618" y="1524000"/>
              <a:ext cx="5193982" cy="1202055"/>
            </a:xfrm>
            <a:prstGeom prst="roundRect">
              <a:avLst>
                <a:gd name="adj" fmla="val 11094"/>
              </a:avLst>
            </a:prstGeom>
            <a:solidFill>
              <a:srgbClr val="334E68"/>
            </a:solidFill>
            <a:ln>
              <a:noFill/>
            </a:ln>
          </p:spPr>
        </p:sp>
        <p:sp>
          <p:nvSpPr>
            <p:cNvPr id="33" name="Rectangle 33"/>
            <p:cNvSpPr/>
            <p:nvPr/>
          </p:nvSpPr>
          <p:spPr>
            <a:xfrm>
              <a:off x="6651308" y="1710690"/>
              <a:ext cx="707708" cy="238125"/>
            </a:xfrm>
            <a:prstGeom prst="roundRect">
              <a:avLst>
                <a:gd name="adj" fmla="val 50000"/>
              </a:avLst>
            </a:prstGeom>
            <a:solidFill>
              <a:srgbClr val="243B53"/>
            </a:solidFill>
            <a:ln>
              <a:noFill/>
            </a:ln>
          </p:spPr>
        </p:sp>
        <p:sp>
          <p:nvSpPr>
            <p:cNvPr id="34" name="TextBox 34"/>
            <p:cNvSpPr txBox="1"/>
            <p:nvPr/>
          </p:nvSpPr>
          <p:spPr>
            <a:xfrm>
              <a:off x="6736829" y="1743551"/>
              <a:ext cx="537616"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由此引出</a:t>
              </a:r>
            </a:p>
          </p:txBody>
        </p:sp>
        <p:sp>
          <p:nvSpPr>
            <p:cNvPr id="35" name="TextBox 35"/>
            <p:cNvSpPr txBox="1"/>
            <p:nvPr/>
          </p:nvSpPr>
          <p:spPr>
            <a:xfrm>
              <a:off x="7466457" y="1745932"/>
              <a:ext cx="74066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软件工程</a:t>
              </a:r>
            </a:p>
          </p:txBody>
        </p:sp>
        <p:sp>
          <p:nvSpPr>
            <p:cNvPr id="36" name="TextBox 36"/>
            <p:cNvSpPr txBox="1"/>
            <p:nvPr/>
          </p:nvSpPr>
          <p:spPr>
            <a:xfrm>
              <a:off x="6644449" y="2071688"/>
              <a:ext cx="457428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上面四条合起来，就是用工程化的方式开发和维护软件。</a:t>
              </a:r>
              <a:br/>
              <a:r>
                <a:rPr lang="zh-CN" sz="1350" dirty="0">
                  <a:solidFill>
                    <a:srgbClr val="FFFFFF"/>
                  </a:solidFill>
                  <a:latin typeface="+mn-lt"/>
                  <a:ea typeface="+mn-ea"/>
                  <a:cs typeface="+mn-cs"/>
                </a:rPr>
                <a:t>1968 年的 NATO 会议正是在这个背景下提出了“软件工程”。</a:t>
              </a:r>
            </a:p>
          </p:txBody>
        </p:sp>
      </p:grpSp>
      <p:grpSp>
        <p:nvGrpSpPr>
          <p:cNvPr id="62" name="c2-table-2"/>
          <p:cNvGrpSpPr/>
          <p:nvPr/>
        </p:nvGrpSpPr>
        <p:grpSpPr>
          <a:xfrm>
            <a:off x="6464618" y="2896552"/>
            <a:ext cx="5193982" cy="2200276"/>
            <a:chOff x="6464618" y="2896552"/>
            <a:chExt cx="5193982" cy="2200276"/>
          </a:xfrm>
        </p:grpSpPr>
        <p:sp>
          <p:nvSpPr>
            <p:cNvPr id="38" name="Rectangle 38"/>
            <p:cNvSpPr/>
            <p:nvPr/>
          </p:nvSpPr>
          <p:spPr>
            <a:xfrm>
              <a:off x="6464618" y="2896552"/>
              <a:ext cx="5193982" cy="400050"/>
            </a:xfrm>
            <a:prstGeom prst="rect">
              <a:avLst/>
            </a:prstGeom>
            <a:solidFill>
              <a:srgbClr val="334E68"/>
            </a:solidFill>
            <a:ln>
              <a:noFill/>
            </a:ln>
          </p:spPr>
        </p:sp>
        <p:sp>
          <p:nvSpPr>
            <p:cNvPr id="39" name="TextBox 39"/>
            <p:cNvSpPr txBox="1"/>
            <p:nvPr/>
          </p:nvSpPr>
          <p:spPr>
            <a:xfrm>
              <a:off x="6775806" y="301799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维度</a:t>
              </a:r>
            </a:p>
          </p:txBody>
        </p:sp>
        <p:sp>
          <p:nvSpPr>
            <p:cNvPr id="40" name="TextBox 40"/>
            <p:cNvSpPr txBox="1"/>
            <p:nvPr/>
          </p:nvSpPr>
          <p:spPr>
            <a:xfrm>
              <a:off x="8055546" y="3017996"/>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作坊式开发</a:t>
              </a:r>
            </a:p>
          </p:txBody>
        </p:sp>
        <p:sp>
          <p:nvSpPr>
            <p:cNvPr id="41" name="TextBox 41"/>
            <p:cNvSpPr txBox="1"/>
            <p:nvPr/>
          </p:nvSpPr>
          <p:spPr>
            <a:xfrm>
              <a:off x="10185337" y="3017996"/>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工程化开发</a:t>
              </a:r>
            </a:p>
          </p:txBody>
        </p:sp>
        <p:sp>
          <p:nvSpPr>
            <p:cNvPr id="42" name="TextBox 42"/>
            <p:cNvSpPr txBox="1"/>
            <p:nvPr/>
          </p:nvSpPr>
          <p:spPr>
            <a:xfrm>
              <a:off x="6561772" y="3518059"/>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目标</a:t>
              </a:r>
            </a:p>
          </p:txBody>
        </p:sp>
        <p:sp>
          <p:nvSpPr>
            <p:cNvPr id="43" name="TextBox 43"/>
            <p:cNvSpPr txBox="1"/>
            <p:nvPr/>
          </p:nvSpPr>
          <p:spPr>
            <a:xfrm>
              <a:off x="7497128" y="3518059"/>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程序能跑起来</a:t>
              </a:r>
            </a:p>
          </p:txBody>
        </p:sp>
        <p:sp>
          <p:nvSpPr>
            <p:cNvPr id="44" name="TextBox 44"/>
            <p:cNvSpPr txBox="1"/>
            <p:nvPr/>
          </p:nvSpPr>
          <p:spPr>
            <a:xfrm>
              <a:off x="9574530" y="3418046"/>
              <a:ext cx="186055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按成本和进度交付可维护的系</a:t>
              </a:r>
              <a:br/>
              <a:r>
                <a:rPr lang="zh-CN" sz="1120" dirty="0">
                  <a:solidFill>
                    <a:srgbClr val="1F2937"/>
                  </a:solidFill>
                  <a:latin typeface="+mn-lt"/>
                  <a:ea typeface="+mn-ea"/>
                  <a:cs typeface="+mn-cs"/>
                </a:rPr>
                <a:t>统</a:t>
              </a:r>
            </a:p>
          </p:txBody>
        </p:sp>
        <p:sp>
          <p:nvSpPr>
            <p:cNvPr id="45" name="Rectangle 45"/>
            <p:cNvSpPr/>
            <p:nvPr/>
          </p:nvSpPr>
          <p:spPr>
            <a:xfrm>
              <a:off x="6464618" y="3891915"/>
              <a:ext cx="5193982" cy="9525"/>
            </a:xfrm>
            <a:prstGeom prst="rect">
              <a:avLst/>
            </a:prstGeom>
            <a:solidFill>
              <a:srgbClr val="D9DFEA"/>
            </a:solidFill>
            <a:ln>
              <a:noFill/>
            </a:ln>
          </p:spPr>
        </p:sp>
        <p:sp>
          <p:nvSpPr>
            <p:cNvPr id="46" name="Rectangle 46"/>
            <p:cNvSpPr/>
            <p:nvPr/>
          </p:nvSpPr>
          <p:spPr>
            <a:xfrm>
              <a:off x="6464618" y="3896678"/>
              <a:ext cx="5193982" cy="400050"/>
            </a:xfrm>
            <a:prstGeom prst="rect">
              <a:avLst/>
            </a:prstGeom>
            <a:solidFill>
              <a:srgbClr val="F4F6FB"/>
            </a:solidFill>
            <a:ln>
              <a:noFill/>
            </a:ln>
          </p:spPr>
        </p:sp>
        <p:sp>
          <p:nvSpPr>
            <p:cNvPr id="47" name="TextBox 47"/>
            <p:cNvSpPr txBox="1"/>
            <p:nvPr/>
          </p:nvSpPr>
          <p:spPr>
            <a:xfrm>
              <a:off x="6561772" y="4018121"/>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过程</a:t>
              </a:r>
            </a:p>
          </p:txBody>
        </p:sp>
        <p:sp>
          <p:nvSpPr>
            <p:cNvPr id="48" name="TextBox 48"/>
            <p:cNvSpPr txBox="1"/>
            <p:nvPr/>
          </p:nvSpPr>
          <p:spPr>
            <a:xfrm>
              <a:off x="7497128" y="4018121"/>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想到哪写到哪</a:t>
              </a:r>
            </a:p>
          </p:txBody>
        </p:sp>
        <p:sp>
          <p:nvSpPr>
            <p:cNvPr id="49" name="TextBox 49"/>
            <p:cNvSpPr txBox="1"/>
            <p:nvPr/>
          </p:nvSpPr>
          <p:spPr>
            <a:xfrm>
              <a:off x="9574530" y="4018121"/>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分阶段推进，有文档和评审</a:t>
              </a:r>
            </a:p>
          </p:txBody>
        </p:sp>
        <p:sp>
          <p:nvSpPr>
            <p:cNvPr id="50" name="Rectangle 50"/>
            <p:cNvSpPr/>
            <p:nvPr/>
          </p:nvSpPr>
          <p:spPr>
            <a:xfrm>
              <a:off x="6464618" y="4291965"/>
              <a:ext cx="5193982" cy="9525"/>
            </a:xfrm>
            <a:prstGeom prst="rect">
              <a:avLst/>
            </a:prstGeom>
            <a:solidFill>
              <a:srgbClr val="D9DFEA"/>
            </a:solidFill>
            <a:ln>
              <a:noFill/>
            </a:ln>
          </p:spPr>
        </p:sp>
        <p:sp>
          <p:nvSpPr>
            <p:cNvPr id="51" name="TextBox 51"/>
            <p:cNvSpPr txBox="1"/>
            <p:nvPr/>
          </p:nvSpPr>
          <p:spPr>
            <a:xfrm>
              <a:off x="6561772" y="4418171"/>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分工</a:t>
              </a:r>
            </a:p>
          </p:txBody>
        </p:sp>
        <p:sp>
          <p:nvSpPr>
            <p:cNvPr id="52" name="TextBox 52"/>
            <p:cNvSpPr txBox="1"/>
            <p:nvPr/>
          </p:nvSpPr>
          <p:spPr>
            <a:xfrm>
              <a:off x="7497128" y="4418171"/>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个人包办</a:t>
              </a:r>
            </a:p>
          </p:txBody>
        </p:sp>
        <p:sp>
          <p:nvSpPr>
            <p:cNvPr id="53" name="TextBox 53"/>
            <p:cNvSpPr txBox="1"/>
            <p:nvPr/>
          </p:nvSpPr>
          <p:spPr>
            <a:xfrm>
              <a:off x="9574530" y="4418171"/>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角色分工，变更受控</a:t>
              </a:r>
            </a:p>
          </p:txBody>
        </p:sp>
        <p:sp>
          <p:nvSpPr>
            <p:cNvPr id="54" name="Rectangle 54"/>
            <p:cNvSpPr/>
            <p:nvPr/>
          </p:nvSpPr>
          <p:spPr>
            <a:xfrm>
              <a:off x="6464618" y="4692015"/>
              <a:ext cx="5193982" cy="9525"/>
            </a:xfrm>
            <a:prstGeom prst="rect">
              <a:avLst/>
            </a:prstGeom>
            <a:solidFill>
              <a:srgbClr val="D9DFEA"/>
            </a:solidFill>
            <a:ln>
              <a:noFill/>
            </a:ln>
          </p:spPr>
        </p:sp>
        <p:sp>
          <p:nvSpPr>
            <p:cNvPr id="55" name="Rectangle 55"/>
            <p:cNvSpPr/>
            <p:nvPr/>
          </p:nvSpPr>
          <p:spPr>
            <a:xfrm>
              <a:off x="6464618" y="4696778"/>
              <a:ext cx="5193982" cy="400050"/>
            </a:xfrm>
            <a:prstGeom prst="rect">
              <a:avLst/>
            </a:prstGeom>
            <a:solidFill>
              <a:srgbClr val="F4F6FB"/>
            </a:solidFill>
            <a:ln>
              <a:noFill/>
            </a:ln>
          </p:spPr>
        </p:sp>
        <p:sp>
          <p:nvSpPr>
            <p:cNvPr id="56" name="TextBox 56"/>
            <p:cNvSpPr txBox="1"/>
            <p:nvPr/>
          </p:nvSpPr>
          <p:spPr>
            <a:xfrm>
              <a:off x="6561772" y="4818221"/>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质量</a:t>
              </a:r>
            </a:p>
          </p:txBody>
        </p:sp>
        <p:sp>
          <p:nvSpPr>
            <p:cNvPr id="57" name="TextBox 57"/>
            <p:cNvSpPr txBox="1"/>
            <p:nvPr/>
          </p:nvSpPr>
          <p:spPr>
            <a:xfrm>
              <a:off x="7497128" y="4818221"/>
              <a:ext cx="10668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取决于个人水平</a:t>
              </a:r>
            </a:p>
          </p:txBody>
        </p:sp>
        <p:sp>
          <p:nvSpPr>
            <p:cNvPr id="58" name="TextBox 58"/>
            <p:cNvSpPr txBox="1"/>
            <p:nvPr/>
          </p:nvSpPr>
          <p:spPr>
            <a:xfrm>
              <a:off x="9574530" y="4818221"/>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取决于过程和管理</a:t>
              </a:r>
            </a:p>
          </p:txBody>
        </p:sp>
        <p:sp>
          <p:nvSpPr>
            <p:cNvPr id="59" name="Rectangle 59"/>
            <p:cNvSpPr/>
            <p:nvPr/>
          </p:nvSpPr>
          <p:spPr>
            <a:xfrm>
              <a:off x="6464618" y="2896552"/>
              <a:ext cx="5193982" cy="2200275"/>
            </a:xfrm>
            <a:prstGeom prst="rect">
              <a:avLst/>
            </a:prstGeom>
            <a:noFill/>
            <a:ln w="14288">
              <a:solidFill>
                <a:srgbClr val="D9DFEA"/>
              </a:solidFill>
            </a:ln>
          </p:spPr>
        </p:sp>
        <p:sp>
          <p:nvSpPr>
            <p:cNvPr id="60" name="Rectangle 60"/>
            <p:cNvSpPr/>
            <p:nvPr/>
          </p:nvSpPr>
          <p:spPr>
            <a:xfrm>
              <a:off x="7395210" y="2896552"/>
              <a:ext cx="9525" cy="2200275"/>
            </a:xfrm>
            <a:prstGeom prst="rect">
              <a:avLst/>
            </a:prstGeom>
            <a:solidFill>
              <a:srgbClr val="D9DFEA"/>
            </a:solidFill>
            <a:ln>
              <a:noFill/>
            </a:ln>
          </p:spPr>
        </p:sp>
        <p:sp>
          <p:nvSpPr>
            <p:cNvPr id="61" name="Rectangle 61"/>
            <p:cNvSpPr/>
            <p:nvPr/>
          </p:nvSpPr>
          <p:spPr>
            <a:xfrm>
              <a:off x="9472612" y="2896552"/>
              <a:ext cx="9525" cy="2200275"/>
            </a:xfrm>
            <a:prstGeom prst="rect">
              <a:avLst/>
            </a:prstGeom>
            <a:solidFill>
              <a:srgbClr val="D9DFEA"/>
            </a:solidFill>
            <a:ln>
              <a:noFill/>
            </a:ln>
          </p:spPr>
        </p:sp>
      </p:grpSp>
      <p:grpSp>
        <p:nvGrpSpPr>
          <p:cNvPr id="69" name="c2-callout-3"/>
          <p:cNvGrpSpPr/>
          <p:nvPr/>
        </p:nvGrpSpPr>
        <p:grpSpPr>
          <a:xfrm>
            <a:off x="6464618" y="5266372"/>
            <a:ext cx="5193982" cy="974408"/>
            <a:chOff x="6464618" y="5266372"/>
            <a:chExt cx="5193982" cy="974408"/>
          </a:xfrm>
        </p:grpSpPr>
        <p:sp>
          <p:nvSpPr>
            <p:cNvPr id="63" name="Rectangle 63"/>
            <p:cNvSpPr/>
            <p:nvPr/>
          </p:nvSpPr>
          <p:spPr>
            <a:xfrm>
              <a:off x="6464618" y="5266372"/>
              <a:ext cx="5193982" cy="974408"/>
            </a:xfrm>
            <a:prstGeom prst="roundRect">
              <a:avLst>
                <a:gd name="adj" fmla="val 11730"/>
              </a:avLst>
            </a:prstGeom>
            <a:solidFill>
              <a:srgbClr val="F4F6FB"/>
            </a:solidFill>
            <a:ln>
              <a:noFill/>
            </a:ln>
          </p:spPr>
        </p:sp>
        <p:grpSp>
          <p:nvGrpSpPr>
            <p:cNvPr id="67" name="Group 67"/>
            <p:cNvGrpSpPr/>
            <p:nvPr/>
          </p:nvGrpSpPr>
          <p:grpSpPr>
            <a:xfrm>
              <a:off x="6669405" y="5654040"/>
              <a:ext cx="200026" cy="200026"/>
              <a:chOff x="6669405" y="5654040"/>
              <a:chExt cx="200026" cy="200026"/>
            </a:xfrm>
          </p:grpSpPr>
          <p:sp>
            <p:nvSpPr>
              <p:cNvPr id="64" name="Freeform 64"/>
              <p:cNvSpPr/>
              <p:nvPr/>
            </p:nvSpPr>
            <p:spPr>
              <a:xfrm>
                <a:off x="6669405" y="565404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5" name="Freeform 65"/>
              <p:cNvSpPr/>
              <p:nvPr/>
            </p:nvSpPr>
            <p:spPr>
              <a:xfrm>
                <a:off x="6769418" y="572071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6" name="Freeform 66"/>
              <p:cNvSpPr/>
              <p:nvPr/>
            </p:nvSpPr>
            <p:spPr>
              <a:xfrm>
                <a:off x="6758305" y="575405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8" name="TextBox 68"/>
            <p:cNvSpPr txBox="1"/>
            <p:nvPr/>
          </p:nvSpPr>
          <p:spPr>
            <a:xfrm>
              <a:off x="6972110" y="5534978"/>
              <a:ext cx="4317111"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危机并没有被彻底消除，软件工程阶段的“软件特征”写的</a:t>
              </a:r>
              <a:br/>
              <a:r>
                <a:rPr lang="zh-CN" sz="1350" dirty="0">
                  <a:solidFill>
                    <a:srgbClr val="1F2937"/>
                  </a:solidFill>
                  <a:latin typeface="+mn-lt"/>
                  <a:ea typeface="+mn-ea"/>
                  <a:cs typeface="+mn-cs"/>
                </a:rPr>
                <a:t>是“未完全摆脱”。</a:t>
              </a:r>
            </a:p>
          </p:txBody>
        </p:sp>
      </p:grpSp>
      <p:grpSp>
        <p:nvGrpSpPr>
          <p:cNvPr id="72" name="footer"/>
          <p:cNvGrpSpPr/>
          <p:nvPr/>
        </p:nvGrpSpPr>
        <p:grpSpPr>
          <a:xfrm>
            <a:off x="528447" y="6581299"/>
            <a:ext cx="11135106" cy="190690"/>
            <a:chOff x="528447" y="6581299"/>
            <a:chExt cx="11135106" cy="190690"/>
          </a:xfrm>
        </p:grpSpPr>
        <p:sp>
          <p:nvSpPr>
            <p:cNvPr id="70" name="TextBox 70"/>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71" name="TextBox 7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02</a:t>
              </a:r>
            </a:p>
          </p:txBody>
        </p:sp>
      </p:grpSp>
      <p:grpSp>
        <p:nvGrpSpPr>
          <p:cNvPr id="18" name="section-title"/>
          <p:cNvGrpSpPr/>
          <p:nvPr/>
        </p:nvGrpSpPr>
        <p:grpSpPr>
          <a:xfrm>
            <a:off x="667512" y="1835468"/>
            <a:ext cx="5135499" cy="3351847"/>
            <a:chOff x="667512" y="1835468"/>
            <a:chExt cx="5135499"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第二部分</a:t>
              </a:r>
            </a:p>
          </p:txBody>
        </p:sp>
        <p:sp>
          <p:nvSpPr>
            <p:cNvPr id="7" name="TextBox 7"/>
            <p:cNvSpPr txBox="1"/>
            <p:nvPr/>
          </p:nvSpPr>
          <p:spPr>
            <a:xfrm>
              <a:off x="667512" y="2240280"/>
              <a:ext cx="197510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软件工程</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5125593"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用工程的办法开发和维护软件，这门学科讲的是什么</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软件工程的提出与定义</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本质特性与七条基本原理</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方法学三要素</a:t>
              </a:r>
            </a:p>
          </p:txBody>
        </p:sp>
        <p:sp>
          <p:nvSpPr>
            <p:cNvPr id="16" name="Ellipse 16"/>
            <p:cNvSpPr/>
            <p:nvPr/>
          </p:nvSpPr>
          <p:spPr>
            <a:xfrm>
              <a:off x="723900" y="4951095"/>
              <a:ext cx="76200" cy="76200"/>
            </a:xfrm>
            <a:prstGeom prst="ellipse">
              <a:avLst/>
            </a:prstGeom>
            <a:solidFill>
              <a:srgbClr val="334E68"/>
            </a:solidFill>
            <a:ln>
              <a:noFill/>
            </a:ln>
          </p:spPr>
        </p:sp>
        <p:sp>
          <p:nvSpPr>
            <p:cNvPr id="17" name="TextBox 17"/>
            <p:cNvSpPr txBox="1"/>
            <p:nvPr/>
          </p:nvSpPr>
          <p:spPr>
            <a:xfrm>
              <a:off x="906780" y="4893945"/>
              <a:ext cx="264033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传统方法学与面向对象方法学</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55582" cy="909257"/>
            <a:chOff x="520446" y="342900"/>
            <a:chExt cx="5555582"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软件工程</a:t>
              </a:r>
            </a:p>
          </p:txBody>
        </p:sp>
        <p:sp>
          <p:nvSpPr>
            <p:cNvPr id="4" name="TextBox 4"/>
            <p:cNvSpPr txBox="1"/>
            <p:nvPr/>
          </p:nvSpPr>
          <p:spPr>
            <a:xfrm>
              <a:off x="520446" y="753428"/>
              <a:ext cx="555558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1968 年 NATO 会议提出“软件工程”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10650982" cy="597598"/>
            <a:chOff x="525399" y="1550194"/>
            <a:chExt cx="10650982" cy="597598"/>
          </a:xfrm>
        </p:grpSpPr>
        <p:sp>
          <p:nvSpPr>
            <p:cNvPr id="7" name="TextBox 7"/>
            <p:cNvSpPr txBox="1"/>
            <p:nvPr/>
          </p:nvSpPr>
          <p:spPr>
            <a:xfrm>
              <a:off x="525399" y="1550194"/>
              <a:ext cx="10650982" cy="597598"/>
            </a:xfrm>
            <a:prstGeom prst="rect">
              <a:avLst/>
            </a:prstGeom>
            <a:noFill/>
            <a:ln>
              <a:noFill/>
            </a:ln>
          </p:spPr>
          <p:txBody>
            <a:bodyPr wrap="none" lIns="0" tIns="0" rIns="0" bIns="0" anchor="t" anchorCtr="0">
              <a:spAutoFit/>
            </a:bodyPr>
            <a:lstStyle/>
            <a:p>
              <a:pPr algn="l">
                <a:lnSpc>
                  <a:spcPts val="2280"/>
                </a:lnSpc>
              </a:pPr>
              <a:r>
                <a:rPr lang="zh-CN" sz="1580" dirty="0">
                  <a:solidFill>
                    <a:srgbClr val="5B6475"/>
                  </a:solidFill>
                  <a:latin typeface="+mn-lt"/>
                  <a:ea typeface="+mn-ea"/>
                  <a:cs typeface="+mn-cs"/>
                </a:rPr>
                <a:t>会议主张软件开发应当使用业已建立的工程学科的基本原理和范型，背后的观念是软件的设计、实现和维护应当与传统工</a:t>
              </a:r>
              <a:br/>
              <a:r>
                <a:rPr lang="zh-CN" sz="1580" dirty="0">
                  <a:solidFill>
                    <a:srgbClr val="5B6475"/>
                  </a:solidFill>
                  <a:latin typeface="+mn-lt"/>
                  <a:ea typeface="+mn-ea"/>
                  <a:cs typeface="+mn-cs"/>
                </a:rPr>
                <a:t>程学科具有同等地位。</a:t>
              </a:r>
            </a:p>
          </p:txBody>
        </p:sp>
      </p:grpSp>
      <p:grpSp>
        <p:nvGrpSpPr>
          <p:cNvPr id="28" name="c1-table-1"/>
          <p:cNvGrpSpPr/>
          <p:nvPr/>
        </p:nvGrpSpPr>
        <p:grpSpPr>
          <a:xfrm>
            <a:off x="533400" y="2257425"/>
            <a:ext cx="11125200" cy="3377565"/>
            <a:chOff x="533400" y="2257425"/>
            <a:chExt cx="11125200" cy="3377565"/>
          </a:xfrm>
        </p:grpSpPr>
        <p:sp>
          <p:nvSpPr>
            <p:cNvPr id="9" name="Rectangle 9"/>
            <p:cNvSpPr/>
            <p:nvPr/>
          </p:nvSpPr>
          <p:spPr>
            <a:xfrm>
              <a:off x="533400" y="2257425"/>
              <a:ext cx="11125200" cy="448628"/>
            </a:xfrm>
            <a:prstGeom prst="rect">
              <a:avLst/>
            </a:prstGeom>
            <a:solidFill>
              <a:srgbClr val="334E68"/>
            </a:solidFill>
            <a:ln>
              <a:noFill/>
            </a:ln>
          </p:spPr>
        </p:sp>
        <p:sp>
          <p:nvSpPr>
            <p:cNvPr id="10" name="TextBox 10"/>
            <p:cNvSpPr txBox="1"/>
            <p:nvPr/>
          </p:nvSpPr>
          <p:spPr>
            <a:xfrm>
              <a:off x="1800504" y="2393156"/>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出处</a:t>
              </a:r>
            </a:p>
          </p:txBody>
        </p:sp>
        <p:sp>
          <p:nvSpPr>
            <p:cNvPr id="11" name="TextBox 11"/>
            <p:cNvSpPr txBox="1"/>
            <p:nvPr/>
          </p:nvSpPr>
          <p:spPr>
            <a:xfrm>
              <a:off x="6932320" y="2393156"/>
              <a:ext cx="1219149"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软件工程的定义</a:t>
              </a:r>
            </a:p>
          </p:txBody>
        </p:sp>
        <p:sp>
          <p:nvSpPr>
            <p:cNvPr id="12" name="TextBox 12"/>
            <p:cNvSpPr txBox="1"/>
            <p:nvPr/>
          </p:nvSpPr>
          <p:spPr>
            <a:xfrm>
              <a:off x="641223" y="2841784"/>
              <a:ext cx="2549296"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Fritz Bauer（1969 年 NATO 会议</a:t>
              </a:r>
              <a:br/>
              <a:r>
                <a:rPr lang="zh-CN" sz="1280" b="1" dirty="0">
                  <a:solidFill>
                    <a:srgbClr val="1F2937"/>
                  </a:solidFill>
                  <a:latin typeface="+mn-lt"/>
                  <a:ea typeface="+mn-ea"/>
                  <a:cs typeface="+mn-cs"/>
                </a:rPr>
                <a:t>报告）</a:t>
              </a:r>
            </a:p>
          </p:txBody>
        </p:sp>
        <p:sp>
          <p:nvSpPr>
            <p:cNvPr id="13" name="TextBox 13"/>
            <p:cNvSpPr txBox="1"/>
            <p:nvPr/>
          </p:nvSpPr>
          <p:spPr>
            <a:xfrm>
              <a:off x="3533966" y="2955131"/>
              <a:ext cx="776706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建立并使用完善的工程化原则，以较经济的手段获得能在实际机器上有效运行的可靠软件的一系列方法</a:t>
              </a:r>
            </a:p>
          </p:txBody>
        </p:sp>
        <p:sp>
          <p:nvSpPr>
            <p:cNvPr id="14" name="Rectangle 14"/>
            <p:cNvSpPr/>
            <p:nvPr/>
          </p:nvSpPr>
          <p:spPr>
            <a:xfrm>
              <a:off x="533400" y="3377565"/>
              <a:ext cx="11125200" cy="9525"/>
            </a:xfrm>
            <a:prstGeom prst="rect">
              <a:avLst/>
            </a:prstGeom>
            <a:solidFill>
              <a:srgbClr val="D9DFEA"/>
            </a:solidFill>
            <a:ln>
              <a:noFill/>
            </a:ln>
          </p:spPr>
        </p:sp>
        <p:sp>
          <p:nvSpPr>
            <p:cNvPr id="15" name="Rectangle 15"/>
            <p:cNvSpPr/>
            <p:nvPr/>
          </p:nvSpPr>
          <p:spPr>
            <a:xfrm>
              <a:off x="533400" y="3382328"/>
              <a:ext cx="11125200" cy="675322"/>
            </a:xfrm>
            <a:prstGeom prst="rect">
              <a:avLst/>
            </a:prstGeom>
            <a:solidFill>
              <a:srgbClr val="F4F6FB"/>
            </a:solidFill>
            <a:ln>
              <a:noFill/>
            </a:ln>
          </p:spPr>
        </p:sp>
        <p:sp>
          <p:nvSpPr>
            <p:cNvPr id="16" name="TextBox 16"/>
            <p:cNvSpPr txBox="1"/>
            <p:nvPr/>
          </p:nvSpPr>
          <p:spPr>
            <a:xfrm>
              <a:off x="641223" y="3630454"/>
              <a:ext cx="11284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IEEE（1993）</a:t>
              </a:r>
            </a:p>
          </p:txBody>
        </p:sp>
        <p:sp>
          <p:nvSpPr>
            <p:cNvPr id="17" name="TextBox 17"/>
            <p:cNvSpPr txBox="1"/>
            <p:nvPr/>
          </p:nvSpPr>
          <p:spPr>
            <a:xfrm>
              <a:off x="3533966" y="3517106"/>
              <a:ext cx="7604506"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① 把系统的、规范的、可度量的途径应用于软件开发、运行和维护过程，也就是把工程应用于软件；② 研究</a:t>
              </a:r>
              <a:br/>
              <a:r>
                <a:rPr lang="zh-CN" sz="1280" dirty="0">
                  <a:solidFill>
                    <a:srgbClr val="1F2937"/>
                  </a:solidFill>
                  <a:latin typeface="+mn-lt"/>
                  <a:ea typeface="+mn-ea"/>
                  <a:cs typeface="+mn-cs"/>
                </a:rPr>
                <a:t>① 中提到的途径</a:t>
              </a:r>
            </a:p>
          </p:txBody>
        </p:sp>
        <p:sp>
          <p:nvSpPr>
            <p:cNvPr id="18" name="Rectangle 18"/>
            <p:cNvSpPr/>
            <p:nvPr/>
          </p:nvSpPr>
          <p:spPr>
            <a:xfrm>
              <a:off x="533400" y="4052888"/>
              <a:ext cx="11125200" cy="9525"/>
            </a:xfrm>
            <a:prstGeom prst="rect">
              <a:avLst/>
            </a:prstGeom>
            <a:solidFill>
              <a:srgbClr val="D9DFEA"/>
            </a:solidFill>
            <a:ln>
              <a:noFill/>
            </a:ln>
          </p:spPr>
        </p:sp>
        <p:sp>
          <p:nvSpPr>
            <p:cNvPr id="19" name="TextBox 19"/>
            <p:cNvSpPr txBox="1"/>
            <p:nvPr/>
          </p:nvSpPr>
          <p:spPr>
            <a:xfrm>
              <a:off x="641223" y="4192429"/>
              <a:ext cx="2451354"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《中国计算机科学与技术学科教程</a:t>
              </a:r>
              <a:br/>
              <a:r>
                <a:rPr lang="zh-CN" sz="1280" b="1" dirty="0">
                  <a:solidFill>
                    <a:srgbClr val="1F2937"/>
                  </a:solidFill>
                  <a:latin typeface="+mn-lt"/>
                  <a:ea typeface="+mn-ea"/>
                  <a:cs typeface="+mn-cs"/>
                </a:rPr>
                <a:t>2002》</a:t>
              </a:r>
            </a:p>
          </p:txBody>
        </p:sp>
        <p:sp>
          <p:nvSpPr>
            <p:cNvPr id="20" name="TextBox 20"/>
            <p:cNvSpPr txBox="1"/>
            <p:nvPr/>
          </p:nvSpPr>
          <p:spPr>
            <a:xfrm>
              <a:off x="3533966" y="4305776"/>
              <a:ext cx="707781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软件工程学科涉及到为高效率地构建满足客户需求的软件系统所需的理论、知识和实践的应用</a:t>
              </a:r>
            </a:p>
          </p:txBody>
        </p:sp>
        <p:sp>
          <p:nvSpPr>
            <p:cNvPr id="21" name="Rectangle 21"/>
            <p:cNvSpPr/>
            <p:nvPr/>
          </p:nvSpPr>
          <p:spPr>
            <a:xfrm>
              <a:off x="533400" y="4728210"/>
              <a:ext cx="11125200" cy="9525"/>
            </a:xfrm>
            <a:prstGeom prst="rect">
              <a:avLst/>
            </a:prstGeom>
            <a:solidFill>
              <a:srgbClr val="D9DFEA"/>
            </a:solidFill>
            <a:ln>
              <a:noFill/>
            </a:ln>
          </p:spPr>
        </p:sp>
        <p:sp>
          <p:nvSpPr>
            <p:cNvPr id="22" name="Rectangle 22"/>
            <p:cNvSpPr/>
            <p:nvPr/>
          </p:nvSpPr>
          <p:spPr>
            <a:xfrm>
              <a:off x="533400" y="4732972"/>
              <a:ext cx="11125200" cy="902018"/>
            </a:xfrm>
            <a:prstGeom prst="rect">
              <a:avLst/>
            </a:prstGeom>
            <a:solidFill>
              <a:srgbClr val="F4F6FB"/>
            </a:solidFill>
            <a:ln>
              <a:noFill/>
            </a:ln>
          </p:spPr>
        </p:sp>
        <p:sp>
          <p:nvSpPr>
            <p:cNvPr id="23" name="TextBox 23"/>
            <p:cNvSpPr txBox="1"/>
            <p:nvPr/>
          </p:nvSpPr>
          <p:spPr>
            <a:xfrm>
              <a:off x="641223" y="5095399"/>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教材定义</a:t>
              </a:r>
            </a:p>
          </p:txBody>
        </p:sp>
        <p:sp>
          <p:nvSpPr>
            <p:cNvPr id="24" name="Rectangle 24"/>
            <p:cNvSpPr/>
            <p:nvPr/>
          </p:nvSpPr>
          <p:spPr>
            <a:xfrm>
              <a:off x="3435668" y="4742498"/>
              <a:ext cx="8213408" cy="882968"/>
            </a:xfrm>
            <a:prstGeom prst="rect">
              <a:avLst/>
            </a:prstGeom>
            <a:solidFill>
              <a:srgbClr val="FDEEE7"/>
            </a:solidFill>
            <a:ln>
              <a:noFill/>
            </a:ln>
          </p:spPr>
        </p:sp>
        <p:sp>
          <p:nvSpPr>
            <p:cNvPr id="25" name="TextBox 25"/>
            <p:cNvSpPr txBox="1"/>
            <p:nvPr/>
          </p:nvSpPr>
          <p:spPr>
            <a:xfrm>
              <a:off x="3533966" y="4868704"/>
              <a:ext cx="7653274" cy="702754"/>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软件工程是指导计算机软件开发和维护的一门工程学科：采用工程的概念、原理、技术和方法来开发与维护</a:t>
              </a:r>
              <a:br/>
              <a:r>
                <a:rPr lang="zh-CN" sz="1280" dirty="0">
                  <a:solidFill>
                    <a:srgbClr val="1F2937"/>
                  </a:solidFill>
                  <a:latin typeface="+mn-lt"/>
                  <a:ea typeface="+mn-ea"/>
                  <a:cs typeface="+mn-cs"/>
                </a:rPr>
                <a:t>软件，把经过时间考验而证明正确的管理技术和当前能够得到的最好的技术方法结合起来，以经济地开发出</a:t>
              </a:r>
              <a:br/>
              <a:r>
                <a:rPr lang="zh-CN" sz="1280" dirty="0">
                  <a:solidFill>
                    <a:srgbClr val="1F2937"/>
                  </a:solidFill>
                  <a:latin typeface="+mn-lt"/>
                  <a:ea typeface="+mn-ea"/>
                  <a:cs typeface="+mn-cs"/>
                </a:rPr>
                <a:t>高质量的软件并有效地维护它</a:t>
              </a:r>
            </a:p>
          </p:txBody>
        </p:sp>
        <p:sp>
          <p:nvSpPr>
            <p:cNvPr id="26" name="Rectangle 26"/>
            <p:cNvSpPr/>
            <p:nvPr/>
          </p:nvSpPr>
          <p:spPr>
            <a:xfrm>
              <a:off x="533400" y="2257425"/>
              <a:ext cx="11125200" cy="3377565"/>
            </a:xfrm>
            <a:prstGeom prst="rect">
              <a:avLst/>
            </a:prstGeom>
            <a:noFill/>
            <a:ln w="14288">
              <a:solidFill>
                <a:srgbClr val="D9DFEA"/>
              </a:solidFill>
            </a:ln>
          </p:spPr>
        </p:sp>
        <p:sp>
          <p:nvSpPr>
            <p:cNvPr id="27" name="Rectangle 27"/>
            <p:cNvSpPr/>
            <p:nvPr/>
          </p:nvSpPr>
          <p:spPr>
            <a:xfrm>
              <a:off x="3421380" y="2257425"/>
              <a:ext cx="9525" cy="3377565"/>
            </a:xfrm>
            <a:prstGeom prst="rect">
              <a:avLst/>
            </a:prstGeom>
            <a:solidFill>
              <a:srgbClr val="D9DFEA"/>
            </a:solidFill>
            <a:ln>
              <a:noFill/>
            </a:ln>
          </p:spPr>
        </p:sp>
      </p:grpSp>
      <p:grpSp>
        <p:nvGrpSpPr>
          <p:cNvPr id="34" name="takeaway"/>
          <p:cNvGrpSpPr/>
          <p:nvPr/>
        </p:nvGrpSpPr>
        <p:grpSpPr>
          <a:xfrm>
            <a:off x="533400" y="5829300"/>
            <a:ext cx="11125200" cy="533400"/>
            <a:chOff x="533400" y="5829300"/>
            <a:chExt cx="11125200" cy="533400"/>
          </a:xfrm>
        </p:grpSpPr>
        <p:sp>
          <p:nvSpPr>
            <p:cNvPr id="29" name="Rectangle 29"/>
            <p:cNvSpPr/>
            <p:nvPr/>
          </p:nvSpPr>
          <p:spPr>
            <a:xfrm>
              <a:off x="533400" y="5829300"/>
              <a:ext cx="11125200" cy="533400"/>
            </a:xfrm>
            <a:prstGeom prst="roundRect">
              <a:avLst>
                <a:gd name="adj" fmla="val 21429"/>
              </a:avLst>
            </a:prstGeom>
            <a:solidFill>
              <a:srgbClr val="334E68"/>
            </a:solidFill>
            <a:ln>
              <a:noFill/>
            </a:ln>
          </p:spPr>
        </p:sp>
        <p:grpSp>
          <p:nvGrpSpPr>
            <p:cNvPr id="32" name="Group 32"/>
            <p:cNvGrpSpPr/>
            <p:nvPr/>
          </p:nvGrpSpPr>
          <p:grpSpPr>
            <a:xfrm>
              <a:off x="738188" y="5995990"/>
              <a:ext cx="200023" cy="200023"/>
              <a:chOff x="738188" y="5995990"/>
              <a:chExt cx="200023" cy="200023"/>
            </a:xfrm>
          </p:grpSpPr>
          <p:sp>
            <p:nvSpPr>
              <p:cNvPr id="30" name="Freeform 30"/>
              <p:cNvSpPr/>
              <p:nvPr/>
            </p:nvSpPr>
            <p:spPr>
              <a:xfrm>
                <a:off x="738188" y="599599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1" name="Freeform 31"/>
              <p:cNvSpPr/>
              <p:nvPr/>
            </p:nvSpPr>
            <p:spPr>
              <a:xfrm>
                <a:off x="871538" y="606266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3" name="TextBox 33"/>
            <p:cNvSpPr txBox="1"/>
            <p:nvPr/>
          </p:nvSpPr>
          <p:spPr>
            <a:xfrm>
              <a:off x="1040130" y="5991225"/>
              <a:ext cx="829437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四个定义的共同点：用工程化的原则和方法，在成本可控的前提下得到可靠、可维护的软件。</a:t>
              </a:r>
            </a:p>
          </p:txBody>
        </p:sp>
      </p:grpSp>
      <p:grpSp>
        <p:nvGrpSpPr>
          <p:cNvPr id="37" name="footer"/>
          <p:cNvGrpSpPr/>
          <p:nvPr/>
        </p:nvGrpSpPr>
        <p:grpSpPr>
          <a:xfrm>
            <a:off x="528447" y="6581299"/>
            <a:ext cx="11135106" cy="190690"/>
            <a:chOff x="528447" y="6581299"/>
            <a:chExt cx="11135106" cy="190690"/>
          </a:xfrm>
        </p:grpSpPr>
        <p:sp>
          <p:nvSpPr>
            <p:cNvPr id="35" name="TextBox 35"/>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36" name="TextBox 3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软件工程</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软件工程的七条本质特性</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5" name="c1-table-1"/>
          <p:cNvGrpSpPr/>
          <p:nvPr/>
        </p:nvGrpSpPr>
        <p:grpSpPr>
          <a:xfrm>
            <a:off x="533400" y="1524000"/>
            <a:ext cx="11125200" cy="3990975"/>
            <a:chOff x="533400" y="1524000"/>
            <a:chExt cx="11125200" cy="3990975"/>
          </a:xfrm>
        </p:grpSpPr>
        <p:sp>
          <p:nvSpPr>
            <p:cNvPr id="7" name="Rectangle 7"/>
            <p:cNvSpPr/>
            <p:nvPr/>
          </p:nvSpPr>
          <p:spPr>
            <a:xfrm>
              <a:off x="533400" y="1524000"/>
              <a:ext cx="11125200" cy="439102"/>
            </a:xfrm>
            <a:prstGeom prst="rect">
              <a:avLst/>
            </a:prstGeom>
            <a:solidFill>
              <a:srgbClr val="334E68"/>
            </a:solidFill>
            <a:ln>
              <a:noFill/>
            </a:ln>
          </p:spPr>
        </p:sp>
        <p:sp>
          <p:nvSpPr>
            <p:cNvPr id="8" name="TextBox 8"/>
            <p:cNvSpPr txBox="1"/>
            <p:nvPr/>
          </p:nvSpPr>
          <p:spPr>
            <a:xfrm>
              <a:off x="1720406" y="1648778"/>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本质特性</a:t>
              </a:r>
            </a:p>
          </p:txBody>
        </p:sp>
        <p:sp>
          <p:nvSpPr>
            <p:cNvPr id="9" name="TextBox 9"/>
            <p:cNvSpPr txBox="1"/>
            <p:nvPr/>
          </p:nvSpPr>
          <p:spPr>
            <a:xfrm>
              <a:off x="7464742" y="164877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含义</a:t>
              </a:r>
            </a:p>
          </p:txBody>
        </p:sp>
        <p:sp>
          <p:nvSpPr>
            <p:cNvPr id="10" name="TextBox 10"/>
            <p:cNvSpPr txBox="1"/>
            <p:nvPr/>
          </p:nvSpPr>
          <p:spPr>
            <a:xfrm>
              <a:off x="629412" y="2087880"/>
              <a:ext cx="237629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软件工程关注大型程序的构造</a:t>
              </a:r>
            </a:p>
          </p:txBody>
        </p:sp>
        <p:sp>
          <p:nvSpPr>
            <p:cNvPr id="11" name="TextBox 11"/>
            <p:cNvSpPr txBox="1"/>
            <p:nvPr/>
          </p:nvSpPr>
          <p:spPr>
            <a:xfrm>
              <a:off x="3744087" y="2087880"/>
              <a:ext cx="601103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一个人几天写完的程序不需要工程方法，多人协作、长期演化的系统才需要</a:t>
              </a:r>
            </a:p>
          </p:txBody>
        </p:sp>
        <p:sp>
          <p:nvSpPr>
            <p:cNvPr id="12" name="Rectangle 12"/>
            <p:cNvSpPr/>
            <p:nvPr/>
          </p:nvSpPr>
          <p:spPr>
            <a:xfrm>
              <a:off x="533400" y="2397442"/>
              <a:ext cx="11125200" cy="9525"/>
            </a:xfrm>
            <a:prstGeom prst="rect">
              <a:avLst/>
            </a:prstGeom>
            <a:solidFill>
              <a:srgbClr val="D9DFEA"/>
            </a:solidFill>
            <a:ln>
              <a:noFill/>
            </a:ln>
          </p:spPr>
        </p:sp>
        <p:sp>
          <p:nvSpPr>
            <p:cNvPr id="13" name="Rectangle 13"/>
            <p:cNvSpPr/>
            <p:nvPr/>
          </p:nvSpPr>
          <p:spPr>
            <a:xfrm>
              <a:off x="533400" y="2402205"/>
              <a:ext cx="11125200" cy="439102"/>
            </a:xfrm>
            <a:prstGeom prst="rect">
              <a:avLst/>
            </a:prstGeom>
            <a:solidFill>
              <a:srgbClr val="F4F6FB"/>
            </a:solidFill>
            <a:ln>
              <a:noFill/>
            </a:ln>
          </p:spPr>
        </p:sp>
        <p:sp>
          <p:nvSpPr>
            <p:cNvPr id="14" name="TextBox 14"/>
            <p:cNvSpPr txBox="1"/>
            <p:nvPr/>
          </p:nvSpPr>
          <p:spPr>
            <a:xfrm>
              <a:off x="629412" y="2526982"/>
              <a:ext cx="273977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软件工程的中心课题是控制复杂性</a:t>
              </a:r>
            </a:p>
          </p:txBody>
        </p:sp>
        <p:sp>
          <p:nvSpPr>
            <p:cNvPr id="15" name="TextBox 15"/>
            <p:cNvSpPr txBox="1"/>
            <p:nvPr/>
          </p:nvSpPr>
          <p:spPr>
            <a:xfrm>
              <a:off x="3744087" y="2526982"/>
              <a:ext cx="473887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把大问题分解成能够理解和处理的小问题，用抽象隔离细节</a:t>
              </a:r>
            </a:p>
          </p:txBody>
        </p:sp>
        <p:sp>
          <p:nvSpPr>
            <p:cNvPr id="16" name="Rectangle 16"/>
            <p:cNvSpPr/>
            <p:nvPr/>
          </p:nvSpPr>
          <p:spPr>
            <a:xfrm>
              <a:off x="533400" y="2835592"/>
              <a:ext cx="11125200" cy="9525"/>
            </a:xfrm>
            <a:prstGeom prst="rect">
              <a:avLst/>
            </a:prstGeom>
            <a:solidFill>
              <a:srgbClr val="D9DFEA"/>
            </a:solidFill>
            <a:ln>
              <a:noFill/>
            </a:ln>
          </p:spPr>
        </p:sp>
        <p:sp>
          <p:nvSpPr>
            <p:cNvPr id="17" name="TextBox 17"/>
            <p:cNvSpPr txBox="1"/>
            <p:nvPr/>
          </p:nvSpPr>
          <p:spPr>
            <a:xfrm>
              <a:off x="629412" y="2966085"/>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软件经常变化</a:t>
              </a:r>
            </a:p>
          </p:txBody>
        </p:sp>
        <p:sp>
          <p:nvSpPr>
            <p:cNvPr id="18" name="TextBox 18"/>
            <p:cNvSpPr txBox="1"/>
            <p:nvPr/>
          </p:nvSpPr>
          <p:spPr>
            <a:xfrm>
              <a:off x="3744087" y="2966085"/>
              <a:ext cx="528408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需求和运行环境都在变，开发过程必须为变化留出接口和管理手段</a:t>
              </a:r>
            </a:p>
          </p:txBody>
        </p:sp>
        <p:sp>
          <p:nvSpPr>
            <p:cNvPr id="19" name="Rectangle 19"/>
            <p:cNvSpPr/>
            <p:nvPr/>
          </p:nvSpPr>
          <p:spPr>
            <a:xfrm>
              <a:off x="533400" y="3274695"/>
              <a:ext cx="11125200" cy="9525"/>
            </a:xfrm>
            <a:prstGeom prst="rect">
              <a:avLst/>
            </a:prstGeom>
            <a:solidFill>
              <a:srgbClr val="D9DFEA"/>
            </a:solidFill>
            <a:ln>
              <a:noFill/>
            </a:ln>
          </p:spPr>
        </p:sp>
        <p:sp>
          <p:nvSpPr>
            <p:cNvPr id="20" name="Rectangle 20"/>
            <p:cNvSpPr/>
            <p:nvPr/>
          </p:nvSpPr>
          <p:spPr>
            <a:xfrm>
              <a:off x="533400" y="3279458"/>
              <a:ext cx="11125200" cy="439102"/>
            </a:xfrm>
            <a:prstGeom prst="rect">
              <a:avLst/>
            </a:prstGeom>
            <a:solidFill>
              <a:srgbClr val="F4F6FB"/>
            </a:solidFill>
            <a:ln>
              <a:noFill/>
            </a:ln>
          </p:spPr>
        </p:sp>
        <p:sp>
          <p:nvSpPr>
            <p:cNvPr id="21" name="TextBox 21"/>
            <p:cNvSpPr txBox="1"/>
            <p:nvPr/>
          </p:nvSpPr>
          <p:spPr>
            <a:xfrm>
              <a:off x="629412" y="3405188"/>
              <a:ext cx="201282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开发软件的效率非常重要</a:t>
              </a:r>
            </a:p>
          </p:txBody>
        </p:sp>
        <p:sp>
          <p:nvSpPr>
            <p:cNvPr id="22" name="TextBox 22"/>
            <p:cNvSpPr txBox="1"/>
            <p:nvPr/>
          </p:nvSpPr>
          <p:spPr>
            <a:xfrm>
              <a:off x="3744087" y="3405188"/>
              <a:ext cx="564756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社会对软件的需求增长远快于生产率的提高，效率决定能不能按期交付</a:t>
              </a:r>
            </a:p>
          </p:txBody>
        </p:sp>
        <p:sp>
          <p:nvSpPr>
            <p:cNvPr id="23" name="Rectangle 23"/>
            <p:cNvSpPr/>
            <p:nvPr/>
          </p:nvSpPr>
          <p:spPr>
            <a:xfrm>
              <a:off x="533400" y="3713798"/>
              <a:ext cx="11125200" cy="9525"/>
            </a:xfrm>
            <a:prstGeom prst="rect">
              <a:avLst/>
            </a:prstGeom>
            <a:solidFill>
              <a:srgbClr val="D9DFEA"/>
            </a:solidFill>
            <a:ln>
              <a:noFill/>
            </a:ln>
          </p:spPr>
        </p:sp>
        <p:sp>
          <p:nvSpPr>
            <p:cNvPr id="24" name="TextBox 24"/>
            <p:cNvSpPr txBox="1"/>
            <p:nvPr/>
          </p:nvSpPr>
          <p:spPr>
            <a:xfrm>
              <a:off x="629412" y="3843338"/>
              <a:ext cx="237629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和谐地合作是开发软件的关键</a:t>
              </a:r>
            </a:p>
          </p:txBody>
        </p:sp>
        <p:sp>
          <p:nvSpPr>
            <p:cNvPr id="25" name="TextBox 25"/>
            <p:cNvSpPr txBox="1"/>
            <p:nvPr/>
          </p:nvSpPr>
          <p:spPr>
            <a:xfrm>
              <a:off x="3744087" y="3843338"/>
              <a:ext cx="473887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大型项目由许多人分工完成，需要规范、纪律和顺畅的沟通</a:t>
              </a:r>
            </a:p>
          </p:txBody>
        </p:sp>
        <p:sp>
          <p:nvSpPr>
            <p:cNvPr id="26" name="Rectangle 26"/>
            <p:cNvSpPr/>
            <p:nvPr/>
          </p:nvSpPr>
          <p:spPr>
            <a:xfrm>
              <a:off x="533400" y="4152900"/>
              <a:ext cx="11125200" cy="9525"/>
            </a:xfrm>
            <a:prstGeom prst="rect">
              <a:avLst/>
            </a:prstGeom>
            <a:solidFill>
              <a:srgbClr val="D9DFEA"/>
            </a:solidFill>
            <a:ln>
              <a:noFill/>
            </a:ln>
          </p:spPr>
        </p:sp>
        <p:sp>
          <p:nvSpPr>
            <p:cNvPr id="27" name="Rectangle 27"/>
            <p:cNvSpPr/>
            <p:nvPr/>
          </p:nvSpPr>
          <p:spPr>
            <a:xfrm>
              <a:off x="533400" y="4157662"/>
              <a:ext cx="11125200" cy="439102"/>
            </a:xfrm>
            <a:prstGeom prst="rect">
              <a:avLst/>
            </a:prstGeom>
            <a:solidFill>
              <a:srgbClr val="F4F6FB"/>
            </a:solidFill>
            <a:ln>
              <a:noFill/>
            </a:ln>
          </p:spPr>
        </p:sp>
        <p:sp>
          <p:nvSpPr>
            <p:cNvPr id="28" name="TextBox 28"/>
            <p:cNvSpPr txBox="1"/>
            <p:nvPr/>
          </p:nvSpPr>
          <p:spPr>
            <a:xfrm>
              <a:off x="629412" y="4282440"/>
              <a:ext cx="237629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软件必须有效地支持它的用户</a:t>
              </a:r>
            </a:p>
          </p:txBody>
        </p:sp>
        <p:sp>
          <p:nvSpPr>
            <p:cNvPr id="29" name="TextBox 29"/>
            <p:cNvSpPr txBox="1"/>
            <p:nvPr/>
          </p:nvSpPr>
          <p:spPr>
            <a:xfrm>
              <a:off x="3744087" y="4282440"/>
              <a:ext cx="492061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功能正确还不够，用户要能方便、可靠地用它完成自己的工作</a:t>
              </a:r>
            </a:p>
          </p:txBody>
        </p:sp>
        <p:sp>
          <p:nvSpPr>
            <p:cNvPr id="30" name="Rectangle 30"/>
            <p:cNvSpPr/>
            <p:nvPr/>
          </p:nvSpPr>
          <p:spPr>
            <a:xfrm>
              <a:off x="533400" y="4592002"/>
              <a:ext cx="11125200" cy="9525"/>
            </a:xfrm>
            <a:prstGeom prst="rect">
              <a:avLst/>
            </a:prstGeom>
            <a:solidFill>
              <a:srgbClr val="D9DFEA"/>
            </a:solidFill>
            <a:ln>
              <a:noFill/>
            </a:ln>
          </p:spPr>
        </p:sp>
        <p:sp>
          <p:nvSpPr>
            <p:cNvPr id="31" name="TextBox 31"/>
            <p:cNvSpPr txBox="1"/>
            <p:nvPr/>
          </p:nvSpPr>
          <p:spPr>
            <a:xfrm>
              <a:off x="629412" y="4721542"/>
              <a:ext cx="2756916" cy="74409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软件工程领域中是由具有一种文化背</a:t>
              </a:r>
              <a:br/>
              <a:r>
                <a:rPr lang="zh-CN" sz="1350" b="1" dirty="0">
                  <a:solidFill>
                    <a:srgbClr val="1F2937"/>
                  </a:solidFill>
                  <a:latin typeface="+mn-lt"/>
                  <a:ea typeface="+mn-ea"/>
                  <a:cs typeface="+mn-cs"/>
                </a:rPr>
                <a:t>景的人替具有另一种文化背景的人创</a:t>
              </a:r>
              <a:br/>
              <a:r>
                <a:rPr lang="zh-CN" sz="1350" b="1" dirty="0">
                  <a:solidFill>
                    <a:srgbClr val="1F2937"/>
                  </a:solidFill>
                  <a:latin typeface="+mn-lt"/>
                  <a:ea typeface="+mn-ea"/>
                  <a:cs typeface="+mn-cs"/>
                </a:rPr>
                <a:t>造产品</a:t>
              </a:r>
            </a:p>
          </p:txBody>
        </p:sp>
        <p:sp>
          <p:nvSpPr>
            <p:cNvPr id="32" name="TextBox 32"/>
            <p:cNvSpPr txBox="1"/>
            <p:nvPr/>
          </p:nvSpPr>
          <p:spPr>
            <a:xfrm>
              <a:off x="3744087" y="4961573"/>
              <a:ext cx="564756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开发人员不熟悉用户的业务领域，必须主动学习用户的语言和工作方式</a:t>
              </a:r>
            </a:p>
          </p:txBody>
        </p:sp>
        <p:sp>
          <p:nvSpPr>
            <p:cNvPr id="33" name="Rectangle 33"/>
            <p:cNvSpPr/>
            <p:nvPr/>
          </p:nvSpPr>
          <p:spPr>
            <a:xfrm>
              <a:off x="533400" y="1524000"/>
              <a:ext cx="11125200" cy="3990975"/>
            </a:xfrm>
            <a:prstGeom prst="rect">
              <a:avLst/>
            </a:prstGeom>
            <a:noFill/>
            <a:ln w="14288">
              <a:solidFill>
                <a:srgbClr val="D9DFEA"/>
              </a:solidFill>
            </a:ln>
          </p:spPr>
        </p:sp>
        <p:sp>
          <p:nvSpPr>
            <p:cNvPr id="34" name="Rectangle 34"/>
            <p:cNvSpPr/>
            <p:nvPr/>
          </p:nvSpPr>
          <p:spPr>
            <a:xfrm>
              <a:off x="3643312" y="1524000"/>
              <a:ext cx="9525" cy="3990975"/>
            </a:xfrm>
            <a:prstGeom prst="rect">
              <a:avLst/>
            </a:prstGeom>
            <a:solidFill>
              <a:srgbClr val="D9DFEA"/>
            </a:solidFill>
            <a:ln>
              <a:noFill/>
            </a:ln>
          </p:spPr>
        </p:sp>
      </p:grpSp>
      <p:grpSp>
        <p:nvGrpSpPr>
          <p:cNvPr id="42" name="takeaway"/>
          <p:cNvGrpSpPr/>
          <p:nvPr/>
        </p:nvGrpSpPr>
        <p:grpSpPr>
          <a:xfrm>
            <a:off x="533400" y="5881688"/>
            <a:ext cx="11125200" cy="481012"/>
            <a:chOff x="533400" y="5881688"/>
            <a:chExt cx="11125200" cy="481012"/>
          </a:xfrm>
        </p:grpSpPr>
        <p:sp>
          <p:nvSpPr>
            <p:cNvPr id="36" name="Rectangle 36"/>
            <p:cNvSpPr/>
            <p:nvPr/>
          </p:nvSpPr>
          <p:spPr>
            <a:xfrm>
              <a:off x="533400" y="5881688"/>
              <a:ext cx="11125200" cy="481012"/>
            </a:xfrm>
            <a:prstGeom prst="roundRect">
              <a:avLst>
                <a:gd name="adj" fmla="val 23762"/>
              </a:avLst>
            </a:prstGeom>
            <a:solidFill>
              <a:srgbClr val="F4F6FB"/>
            </a:solidFill>
            <a:ln>
              <a:noFill/>
            </a:ln>
          </p:spPr>
        </p:sp>
        <p:grpSp>
          <p:nvGrpSpPr>
            <p:cNvPr id="40" name="Group 40"/>
            <p:cNvGrpSpPr/>
            <p:nvPr/>
          </p:nvGrpSpPr>
          <p:grpSpPr>
            <a:xfrm>
              <a:off x="738188" y="6022658"/>
              <a:ext cx="200026" cy="200026"/>
              <a:chOff x="738188" y="6022658"/>
              <a:chExt cx="200026" cy="200026"/>
            </a:xfrm>
          </p:grpSpPr>
          <p:sp>
            <p:nvSpPr>
              <p:cNvPr id="37" name="Freeform 37"/>
              <p:cNvSpPr/>
              <p:nvPr/>
            </p:nvSpPr>
            <p:spPr>
              <a:xfrm>
                <a:off x="738188" y="602265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38" name="Freeform 38"/>
              <p:cNvSpPr/>
              <p:nvPr/>
            </p:nvSpPr>
            <p:spPr>
              <a:xfrm>
                <a:off x="838200" y="608933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39" name="Freeform 39"/>
              <p:cNvSpPr/>
              <p:nvPr/>
            </p:nvSpPr>
            <p:spPr>
              <a:xfrm>
                <a:off x="827088" y="612267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1" name="TextBox 41"/>
            <p:cNvSpPr txBox="1"/>
            <p:nvPr/>
          </p:nvSpPr>
          <p:spPr>
            <a:xfrm>
              <a:off x="1040892" y="6028373"/>
              <a:ext cx="928230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这七条解释了后面各章的安排：控制复杂性靠分解与抽象，应对变化靠过程模型和配置管理，支持用户靠需求分析。</a:t>
              </a:r>
            </a:p>
          </p:txBody>
        </p:sp>
      </p:grpSp>
      <p:grpSp>
        <p:nvGrpSpPr>
          <p:cNvPr id="45" name="footer"/>
          <p:cNvGrpSpPr/>
          <p:nvPr/>
        </p:nvGrpSpPr>
        <p:grpSpPr>
          <a:xfrm>
            <a:off x="528447" y="6581299"/>
            <a:ext cx="11135106" cy="190690"/>
            <a:chOff x="528447" y="6581299"/>
            <a:chExt cx="11135106" cy="190690"/>
          </a:xfrm>
        </p:grpSpPr>
        <p:sp>
          <p:nvSpPr>
            <p:cNvPr id="43" name="TextBox 43"/>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44" name="TextBox 4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093124" cy="909257"/>
            <a:chOff x="520446" y="342900"/>
            <a:chExt cx="5093124"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软件工程</a:t>
              </a:r>
            </a:p>
          </p:txBody>
        </p:sp>
        <p:sp>
          <p:nvSpPr>
            <p:cNvPr id="4" name="TextBox 4"/>
            <p:cNvSpPr txBox="1"/>
            <p:nvPr/>
          </p:nvSpPr>
          <p:spPr>
            <a:xfrm>
              <a:off x="520446" y="753428"/>
              <a:ext cx="509312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Boehm 的七条基本原理（1983）</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542" y="1545907"/>
            <a:ext cx="5699684" cy="264033"/>
            <a:chOff x="526542" y="1545907"/>
            <a:chExt cx="5699684" cy="264033"/>
          </a:xfrm>
        </p:grpSpPr>
        <p:sp>
          <p:nvSpPr>
            <p:cNvPr id="7" name="TextBox 7"/>
            <p:cNvSpPr txBox="1"/>
            <p:nvPr/>
          </p:nvSpPr>
          <p:spPr>
            <a:xfrm>
              <a:off x="526542" y="1545907"/>
              <a:ext cx="5699684"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Boehm 认为这七条是确保软件产品质量和开发效率的原理的最小集合。</a:t>
              </a:r>
            </a:p>
          </p:txBody>
        </p:sp>
      </p:grpSp>
      <p:grpSp>
        <p:nvGrpSpPr>
          <p:cNvPr id="38" name="c1-table-1"/>
          <p:cNvGrpSpPr/>
          <p:nvPr/>
        </p:nvGrpSpPr>
        <p:grpSpPr>
          <a:xfrm>
            <a:off x="533400" y="1928812"/>
            <a:ext cx="6924675" cy="3990975"/>
            <a:chOff x="533400" y="1928812"/>
            <a:chExt cx="6924675" cy="3990975"/>
          </a:xfrm>
        </p:grpSpPr>
        <p:sp>
          <p:nvSpPr>
            <p:cNvPr id="9" name="Rectangle 9"/>
            <p:cNvSpPr/>
            <p:nvPr/>
          </p:nvSpPr>
          <p:spPr>
            <a:xfrm>
              <a:off x="533400" y="1928812"/>
              <a:ext cx="6924675" cy="439102"/>
            </a:xfrm>
            <a:prstGeom prst="rect">
              <a:avLst/>
            </a:prstGeom>
            <a:solidFill>
              <a:srgbClr val="334E68"/>
            </a:solidFill>
            <a:ln>
              <a:noFill/>
            </a:ln>
          </p:spPr>
        </p:sp>
        <p:sp>
          <p:nvSpPr>
            <p:cNvPr id="10" name="TextBox 10"/>
            <p:cNvSpPr txBox="1"/>
            <p:nvPr/>
          </p:nvSpPr>
          <p:spPr>
            <a:xfrm>
              <a:off x="1548003" y="2053590"/>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基本原理</a:t>
              </a:r>
            </a:p>
          </p:txBody>
        </p:sp>
        <p:sp>
          <p:nvSpPr>
            <p:cNvPr id="11" name="TextBox 11"/>
            <p:cNvSpPr txBox="1"/>
            <p:nvPr/>
          </p:nvSpPr>
          <p:spPr>
            <a:xfrm>
              <a:off x="5192077" y="2053590"/>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要点</a:t>
              </a:r>
            </a:p>
          </p:txBody>
        </p:sp>
        <p:sp>
          <p:nvSpPr>
            <p:cNvPr id="12" name="TextBox 12"/>
            <p:cNvSpPr txBox="1"/>
            <p:nvPr/>
          </p:nvSpPr>
          <p:spPr>
            <a:xfrm>
              <a:off x="629412" y="2492692"/>
              <a:ext cx="2323148" cy="50406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1. 用分阶段的生命周期计划严</a:t>
              </a:r>
              <a:br/>
              <a:r>
                <a:rPr lang="zh-CN" sz="1350" b="1" dirty="0">
                  <a:solidFill>
                    <a:srgbClr val="1F2937"/>
                  </a:solidFill>
                  <a:latin typeface="+mn-lt"/>
                  <a:ea typeface="+mn-ea"/>
                  <a:cs typeface="+mn-cs"/>
                </a:rPr>
                <a:t>格管理</a:t>
              </a:r>
            </a:p>
          </p:txBody>
        </p:sp>
        <p:sp>
          <p:nvSpPr>
            <p:cNvPr id="13" name="TextBox 13"/>
            <p:cNvSpPr txBox="1"/>
            <p:nvPr/>
          </p:nvSpPr>
          <p:spPr>
            <a:xfrm>
              <a:off x="3399282" y="2492692"/>
              <a:ext cx="37856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划分阶段，制定可行的计划，按计划管理开发与维</a:t>
              </a:r>
              <a:br/>
              <a:r>
                <a:rPr lang="zh-CN" sz="1350" dirty="0">
                  <a:solidFill>
                    <a:srgbClr val="1F2937"/>
                  </a:solidFill>
                  <a:latin typeface="+mn-lt"/>
                  <a:ea typeface="+mn-ea"/>
                  <a:cs typeface="+mn-cs"/>
                </a:rPr>
                <a:t>护</a:t>
              </a:r>
            </a:p>
          </p:txBody>
        </p:sp>
        <p:sp>
          <p:nvSpPr>
            <p:cNvPr id="14" name="Rectangle 14"/>
            <p:cNvSpPr/>
            <p:nvPr/>
          </p:nvSpPr>
          <p:spPr>
            <a:xfrm>
              <a:off x="533400" y="3041332"/>
              <a:ext cx="6924675" cy="9525"/>
            </a:xfrm>
            <a:prstGeom prst="rect">
              <a:avLst/>
            </a:prstGeom>
            <a:solidFill>
              <a:srgbClr val="D9DFEA"/>
            </a:solidFill>
            <a:ln>
              <a:noFill/>
            </a:ln>
          </p:spPr>
        </p:sp>
        <p:sp>
          <p:nvSpPr>
            <p:cNvPr id="15" name="Rectangle 15"/>
            <p:cNvSpPr/>
            <p:nvPr/>
          </p:nvSpPr>
          <p:spPr>
            <a:xfrm>
              <a:off x="533400" y="3046095"/>
              <a:ext cx="6924675" cy="439102"/>
            </a:xfrm>
            <a:prstGeom prst="rect">
              <a:avLst/>
            </a:prstGeom>
            <a:solidFill>
              <a:srgbClr val="F4F6FB"/>
            </a:solidFill>
            <a:ln>
              <a:noFill/>
            </a:ln>
          </p:spPr>
        </p:sp>
        <p:sp>
          <p:nvSpPr>
            <p:cNvPr id="16" name="Rectangle 16"/>
            <p:cNvSpPr/>
            <p:nvPr/>
          </p:nvSpPr>
          <p:spPr>
            <a:xfrm>
              <a:off x="542925" y="3055620"/>
              <a:ext cx="2750820" cy="420052"/>
            </a:xfrm>
            <a:prstGeom prst="rect">
              <a:avLst/>
            </a:prstGeom>
            <a:solidFill>
              <a:srgbClr val="FDEEE7"/>
            </a:solidFill>
            <a:ln>
              <a:noFill/>
            </a:ln>
          </p:spPr>
        </p:sp>
        <p:sp>
          <p:nvSpPr>
            <p:cNvPr id="17" name="TextBox 17"/>
            <p:cNvSpPr txBox="1"/>
            <p:nvPr/>
          </p:nvSpPr>
          <p:spPr>
            <a:xfrm>
              <a:off x="629412" y="3171825"/>
              <a:ext cx="173476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2. 坚持进行阶段评审</a:t>
              </a:r>
            </a:p>
          </p:txBody>
        </p:sp>
        <p:sp>
          <p:nvSpPr>
            <p:cNvPr id="18" name="TextBox 18"/>
            <p:cNvSpPr txBox="1"/>
            <p:nvPr/>
          </p:nvSpPr>
          <p:spPr>
            <a:xfrm>
              <a:off x="3399282" y="3171825"/>
              <a:ext cx="4011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大部分错误在编码之前造成，改正得越晚代价越高</a:t>
              </a:r>
            </a:p>
          </p:txBody>
        </p:sp>
        <p:sp>
          <p:nvSpPr>
            <p:cNvPr id="19" name="Rectangle 19"/>
            <p:cNvSpPr/>
            <p:nvPr/>
          </p:nvSpPr>
          <p:spPr>
            <a:xfrm>
              <a:off x="533400" y="3480435"/>
              <a:ext cx="6924675" cy="9525"/>
            </a:xfrm>
            <a:prstGeom prst="rect">
              <a:avLst/>
            </a:prstGeom>
            <a:solidFill>
              <a:srgbClr val="D9DFEA"/>
            </a:solidFill>
            <a:ln>
              <a:noFill/>
            </a:ln>
          </p:spPr>
        </p:sp>
        <p:sp>
          <p:nvSpPr>
            <p:cNvPr id="20" name="TextBox 20"/>
            <p:cNvSpPr txBox="1"/>
            <p:nvPr/>
          </p:nvSpPr>
          <p:spPr>
            <a:xfrm>
              <a:off x="629412" y="3610927"/>
              <a:ext cx="191650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3. 实行严格的产品控制</a:t>
              </a:r>
            </a:p>
          </p:txBody>
        </p:sp>
        <p:sp>
          <p:nvSpPr>
            <p:cNvPr id="21" name="TextBox 21"/>
            <p:cNvSpPr txBox="1"/>
            <p:nvPr/>
          </p:nvSpPr>
          <p:spPr>
            <a:xfrm>
              <a:off x="3399282" y="3610927"/>
              <a:ext cx="383019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需求改变时靠基准配置管理保持各配置成分一致</a:t>
              </a:r>
            </a:p>
          </p:txBody>
        </p:sp>
        <p:sp>
          <p:nvSpPr>
            <p:cNvPr id="22" name="Rectangle 22"/>
            <p:cNvSpPr/>
            <p:nvPr/>
          </p:nvSpPr>
          <p:spPr>
            <a:xfrm>
              <a:off x="533400" y="3919538"/>
              <a:ext cx="6924675" cy="9525"/>
            </a:xfrm>
            <a:prstGeom prst="rect">
              <a:avLst/>
            </a:prstGeom>
            <a:solidFill>
              <a:srgbClr val="D9DFEA"/>
            </a:solidFill>
            <a:ln>
              <a:noFill/>
            </a:ln>
          </p:spPr>
        </p:sp>
        <p:sp>
          <p:nvSpPr>
            <p:cNvPr id="23" name="Rectangle 23"/>
            <p:cNvSpPr/>
            <p:nvPr/>
          </p:nvSpPr>
          <p:spPr>
            <a:xfrm>
              <a:off x="533400" y="3924300"/>
              <a:ext cx="6924675" cy="439102"/>
            </a:xfrm>
            <a:prstGeom prst="rect">
              <a:avLst/>
            </a:prstGeom>
            <a:solidFill>
              <a:srgbClr val="F4F6FB"/>
            </a:solidFill>
            <a:ln>
              <a:noFill/>
            </a:ln>
          </p:spPr>
        </p:sp>
        <p:sp>
          <p:nvSpPr>
            <p:cNvPr id="24" name="TextBox 24"/>
            <p:cNvSpPr txBox="1"/>
            <p:nvPr/>
          </p:nvSpPr>
          <p:spPr>
            <a:xfrm>
              <a:off x="629412" y="4049077"/>
              <a:ext cx="209823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4. 采用现代程序设计技术</a:t>
              </a:r>
            </a:p>
          </p:txBody>
        </p:sp>
        <p:sp>
          <p:nvSpPr>
            <p:cNvPr id="25" name="TextBox 25"/>
            <p:cNvSpPr txBox="1"/>
            <p:nvPr/>
          </p:nvSpPr>
          <p:spPr>
            <a:xfrm>
              <a:off x="3399282" y="4049077"/>
              <a:ext cx="310324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先进技术既提高效率，又提高产品质量</a:t>
              </a:r>
            </a:p>
          </p:txBody>
        </p:sp>
        <p:sp>
          <p:nvSpPr>
            <p:cNvPr id="26" name="Rectangle 26"/>
            <p:cNvSpPr/>
            <p:nvPr/>
          </p:nvSpPr>
          <p:spPr>
            <a:xfrm>
              <a:off x="533400" y="4358640"/>
              <a:ext cx="6924675" cy="9525"/>
            </a:xfrm>
            <a:prstGeom prst="rect">
              <a:avLst/>
            </a:prstGeom>
            <a:solidFill>
              <a:srgbClr val="D9DFEA"/>
            </a:solidFill>
            <a:ln>
              <a:noFill/>
            </a:ln>
          </p:spPr>
        </p:sp>
        <p:sp>
          <p:nvSpPr>
            <p:cNvPr id="27" name="TextBox 27"/>
            <p:cNvSpPr txBox="1"/>
            <p:nvPr/>
          </p:nvSpPr>
          <p:spPr>
            <a:xfrm>
              <a:off x="629412" y="4488180"/>
              <a:ext cx="191650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5. 结果应能清楚地审查</a:t>
              </a:r>
            </a:p>
          </p:txBody>
        </p:sp>
        <p:sp>
          <p:nvSpPr>
            <p:cNvPr id="28" name="TextBox 28"/>
            <p:cNvSpPr txBox="1"/>
            <p:nvPr/>
          </p:nvSpPr>
          <p:spPr>
            <a:xfrm>
              <a:off x="3399282" y="4488180"/>
              <a:ext cx="4011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规定开发组织的责任和产品标准，提高过程可见性</a:t>
              </a:r>
            </a:p>
          </p:txBody>
        </p:sp>
        <p:sp>
          <p:nvSpPr>
            <p:cNvPr id="29" name="Rectangle 29"/>
            <p:cNvSpPr/>
            <p:nvPr/>
          </p:nvSpPr>
          <p:spPr>
            <a:xfrm>
              <a:off x="533400" y="4797742"/>
              <a:ext cx="6924675" cy="9525"/>
            </a:xfrm>
            <a:prstGeom prst="rect">
              <a:avLst/>
            </a:prstGeom>
            <a:solidFill>
              <a:srgbClr val="D9DFEA"/>
            </a:solidFill>
            <a:ln>
              <a:noFill/>
            </a:ln>
          </p:spPr>
        </p:sp>
        <p:sp>
          <p:nvSpPr>
            <p:cNvPr id="30" name="Rectangle 30"/>
            <p:cNvSpPr/>
            <p:nvPr/>
          </p:nvSpPr>
          <p:spPr>
            <a:xfrm>
              <a:off x="533400" y="4802505"/>
              <a:ext cx="6924675" cy="439102"/>
            </a:xfrm>
            <a:prstGeom prst="rect">
              <a:avLst/>
            </a:prstGeom>
            <a:solidFill>
              <a:srgbClr val="F4F6FB"/>
            </a:solidFill>
            <a:ln>
              <a:noFill/>
            </a:ln>
          </p:spPr>
        </p:sp>
        <p:sp>
          <p:nvSpPr>
            <p:cNvPr id="31" name="TextBox 31"/>
            <p:cNvSpPr txBox="1"/>
            <p:nvPr/>
          </p:nvSpPr>
          <p:spPr>
            <a:xfrm>
              <a:off x="629412" y="4927283"/>
              <a:ext cx="246171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6. 开发小组的成员应该少而精</a:t>
              </a:r>
            </a:p>
          </p:txBody>
        </p:sp>
        <p:sp>
          <p:nvSpPr>
            <p:cNvPr id="32" name="TextBox 32"/>
            <p:cNvSpPr txBox="1"/>
            <p:nvPr/>
          </p:nvSpPr>
          <p:spPr>
            <a:xfrm>
              <a:off x="3399282" y="4927283"/>
              <a:ext cx="364845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人员素质和数量是影响质量和效率的重要因素</a:t>
              </a:r>
            </a:p>
          </p:txBody>
        </p:sp>
        <p:sp>
          <p:nvSpPr>
            <p:cNvPr id="33" name="Rectangle 33"/>
            <p:cNvSpPr/>
            <p:nvPr/>
          </p:nvSpPr>
          <p:spPr>
            <a:xfrm>
              <a:off x="533400" y="5235892"/>
              <a:ext cx="6924675" cy="9525"/>
            </a:xfrm>
            <a:prstGeom prst="rect">
              <a:avLst/>
            </a:prstGeom>
            <a:solidFill>
              <a:srgbClr val="D9DFEA"/>
            </a:solidFill>
            <a:ln>
              <a:noFill/>
            </a:ln>
          </p:spPr>
        </p:sp>
        <p:sp>
          <p:nvSpPr>
            <p:cNvPr id="34" name="TextBox 34"/>
            <p:cNvSpPr txBox="1"/>
            <p:nvPr/>
          </p:nvSpPr>
          <p:spPr>
            <a:xfrm>
              <a:off x="629412" y="5366385"/>
              <a:ext cx="2323148" cy="50406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7. 承认不断改进软件工程实践</a:t>
              </a:r>
              <a:br/>
              <a:r>
                <a:rPr lang="zh-CN" sz="1350" b="1" dirty="0">
                  <a:solidFill>
                    <a:srgbClr val="1F2937"/>
                  </a:solidFill>
                  <a:latin typeface="+mn-lt"/>
                  <a:ea typeface="+mn-ea"/>
                  <a:cs typeface="+mn-cs"/>
                </a:rPr>
                <a:t>的必要性</a:t>
              </a:r>
            </a:p>
          </p:txBody>
        </p:sp>
        <p:sp>
          <p:nvSpPr>
            <p:cNvPr id="35" name="TextBox 35"/>
            <p:cNvSpPr txBox="1"/>
            <p:nvPr/>
          </p:nvSpPr>
          <p:spPr>
            <a:xfrm>
              <a:off x="3399282" y="5486400"/>
              <a:ext cx="27397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采纳新技术，总结经验、评价效果</a:t>
              </a:r>
            </a:p>
          </p:txBody>
        </p:sp>
        <p:sp>
          <p:nvSpPr>
            <p:cNvPr id="36" name="Rectangle 36"/>
            <p:cNvSpPr/>
            <p:nvPr/>
          </p:nvSpPr>
          <p:spPr>
            <a:xfrm>
              <a:off x="533400" y="1928812"/>
              <a:ext cx="6924675" cy="3990975"/>
            </a:xfrm>
            <a:prstGeom prst="rect">
              <a:avLst/>
            </a:prstGeom>
            <a:noFill/>
            <a:ln w="14288">
              <a:solidFill>
                <a:srgbClr val="D9DFEA"/>
              </a:solidFill>
            </a:ln>
          </p:spPr>
        </p:sp>
        <p:sp>
          <p:nvSpPr>
            <p:cNvPr id="37" name="Rectangle 37"/>
            <p:cNvSpPr/>
            <p:nvPr/>
          </p:nvSpPr>
          <p:spPr>
            <a:xfrm>
              <a:off x="3298508" y="1928812"/>
              <a:ext cx="9525" cy="3990975"/>
            </a:xfrm>
            <a:prstGeom prst="rect">
              <a:avLst/>
            </a:prstGeom>
            <a:solidFill>
              <a:srgbClr val="D9DFEA"/>
            </a:solidFill>
            <a:ln>
              <a:noFill/>
            </a:ln>
          </p:spPr>
        </p:sp>
      </p:grpSp>
      <p:grpSp>
        <p:nvGrpSpPr>
          <p:cNvPr id="45" name="c2-card-1"/>
          <p:cNvGrpSpPr/>
          <p:nvPr/>
        </p:nvGrpSpPr>
        <p:grpSpPr>
          <a:xfrm>
            <a:off x="7762875" y="1928812"/>
            <a:ext cx="3895725" cy="1911668"/>
            <a:chOff x="7762875" y="1928812"/>
            <a:chExt cx="3895725" cy="1911668"/>
          </a:xfrm>
        </p:grpSpPr>
        <p:sp>
          <p:nvSpPr>
            <p:cNvPr id="39" name="Rectangle 39"/>
            <p:cNvSpPr/>
            <p:nvPr/>
          </p:nvSpPr>
          <p:spPr>
            <a:xfrm>
              <a:off x="7762875" y="1928812"/>
              <a:ext cx="3895725" cy="1911668"/>
            </a:xfrm>
            <a:prstGeom prst="roundRect">
              <a:avLst>
                <a:gd name="adj" fmla="val 6976"/>
              </a:avLst>
            </a:prstGeom>
            <a:solidFill>
              <a:srgbClr val="FFFFFF"/>
            </a:solidFill>
            <a:ln w="14288">
              <a:solidFill>
                <a:srgbClr val="D9DFEA"/>
              </a:solidFill>
            </a:ln>
          </p:spPr>
        </p:sp>
        <p:sp>
          <p:nvSpPr>
            <p:cNvPr id="40" name="Rectangle 40"/>
            <p:cNvSpPr/>
            <p:nvPr/>
          </p:nvSpPr>
          <p:spPr>
            <a:xfrm>
              <a:off x="7772400" y="2062162"/>
              <a:ext cx="47625" cy="1644968"/>
            </a:xfrm>
            <a:prstGeom prst="roundRect">
              <a:avLst>
                <a:gd name="adj" fmla="val 50000"/>
              </a:avLst>
            </a:prstGeom>
            <a:solidFill>
              <a:srgbClr val="5B6475"/>
            </a:solidFill>
            <a:ln>
              <a:noFill/>
            </a:ln>
          </p:spPr>
        </p:sp>
        <p:sp>
          <p:nvSpPr>
            <p:cNvPr id="41" name="Rectangle 41"/>
            <p:cNvSpPr/>
            <p:nvPr/>
          </p:nvSpPr>
          <p:spPr>
            <a:xfrm>
              <a:off x="7987665" y="2115502"/>
              <a:ext cx="982028" cy="238125"/>
            </a:xfrm>
            <a:prstGeom prst="roundRect">
              <a:avLst>
                <a:gd name="adj" fmla="val 50000"/>
              </a:avLst>
            </a:prstGeom>
            <a:solidFill>
              <a:srgbClr val="F4F6FB"/>
            </a:solidFill>
            <a:ln>
              <a:noFill/>
            </a:ln>
          </p:spPr>
        </p:sp>
        <p:sp>
          <p:nvSpPr>
            <p:cNvPr id="42" name="TextBox 42"/>
            <p:cNvSpPr txBox="1"/>
            <p:nvPr/>
          </p:nvSpPr>
          <p:spPr>
            <a:xfrm>
              <a:off x="8064732" y="2148364"/>
              <a:ext cx="828847"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第 2 条的依据</a:t>
              </a:r>
            </a:p>
          </p:txBody>
        </p:sp>
        <p:sp>
          <p:nvSpPr>
            <p:cNvPr id="43" name="TextBox 43"/>
            <p:cNvSpPr txBox="1"/>
            <p:nvPr/>
          </p:nvSpPr>
          <p:spPr>
            <a:xfrm>
              <a:off x="7980807" y="2459355"/>
              <a:ext cx="3194113"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根据 Boehm 等人的统计，</a:t>
              </a:r>
              <a:r>
                <a:rPr lang="zh-CN" sz="1350" b="1" dirty="0">
                  <a:solidFill>
                    <a:srgbClr val="C2410C"/>
                  </a:solidFill>
                  <a:latin typeface="+mn-lt"/>
                  <a:ea typeface="+mn-ea"/>
                  <a:cs typeface="+mn-cs"/>
                </a:rPr>
                <a:t>设计错误占软件</a:t>
              </a:r>
              <a:br/>
              <a:r>
                <a:rPr lang="zh-CN" sz="1350" b="1" dirty="0">
                  <a:solidFill>
                    <a:srgbClr val="C2410C"/>
                  </a:solidFill>
                  <a:latin typeface="+mn-lt"/>
                  <a:ea typeface="+mn-ea"/>
                  <a:cs typeface="+mn-cs"/>
                </a:rPr>
                <a:t>错误的 63%，编码错误仅占 37%</a:t>
              </a:r>
              <a:r>
                <a:rPr lang="zh-CN" sz="1350" dirty="0">
                  <a:solidFill>
                    <a:srgbClr val="1F2937"/>
                  </a:solidFill>
                  <a:latin typeface="+mn-lt"/>
                  <a:ea typeface="+mn-ea"/>
                  <a:cs typeface="+mn-cs"/>
                </a:rPr>
                <a:t>，所以评</a:t>
              </a:r>
              <a:br/>
              <a:r>
                <a:rPr lang="zh-CN" sz="1350" dirty="0">
                  <a:solidFill>
                    <a:srgbClr val="1F2937"/>
                  </a:solidFill>
                  <a:latin typeface="+mn-lt"/>
                  <a:ea typeface="+mn-ea"/>
                  <a:cs typeface="+mn-cs"/>
                </a:rPr>
                <a:t>审要放在编码之前。</a:t>
              </a:r>
            </a:p>
          </p:txBody>
        </p:sp>
        <p:sp>
          <p:nvSpPr>
            <p:cNvPr id="44" name="TextBox 44"/>
            <p:cNvSpPr txBox="1"/>
            <p:nvPr/>
          </p:nvSpPr>
          <p:spPr>
            <a:xfrm>
              <a:off x="7981950" y="3270409"/>
              <a:ext cx="314071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前一页的差错传播模型给出了这条原理省下多少返</a:t>
              </a:r>
              <a:br/>
              <a:r>
                <a:rPr lang="zh-CN" sz="1120" dirty="0">
                  <a:solidFill>
                    <a:srgbClr val="5B6475"/>
                  </a:solidFill>
                  <a:latin typeface="+mn-lt"/>
                  <a:ea typeface="+mn-ea"/>
                  <a:cs typeface="+mn-cs"/>
                </a:rPr>
                <a:t>工。</a:t>
              </a:r>
            </a:p>
          </p:txBody>
        </p:sp>
      </p:grpSp>
      <p:grpSp>
        <p:nvGrpSpPr>
          <p:cNvPr id="53" name="c2-card-2"/>
          <p:cNvGrpSpPr/>
          <p:nvPr/>
        </p:nvGrpSpPr>
        <p:grpSpPr>
          <a:xfrm>
            <a:off x="7762875" y="4010025"/>
            <a:ext cx="3895725" cy="2274570"/>
            <a:chOff x="7762875" y="4010025"/>
            <a:chExt cx="3895725" cy="2274570"/>
          </a:xfrm>
        </p:grpSpPr>
        <p:sp>
          <p:nvSpPr>
            <p:cNvPr id="46" name="Rectangle 46"/>
            <p:cNvSpPr/>
            <p:nvPr/>
          </p:nvSpPr>
          <p:spPr>
            <a:xfrm>
              <a:off x="7762875" y="4010025"/>
              <a:ext cx="3895725" cy="2274570"/>
            </a:xfrm>
            <a:prstGeom prst="roundRect">
              <a:avLst>
                <a:gd name="adj" fmla="val 5863"/>
              </a:avLst>
            </a:prstGeom>
            <a:solidFill>
              <a:srgbClr val="FFFFFF"/>
            </a:solidFill>
            <a:ln w="14288">
              <a:solidFill>
                <a:srgbClr val="D9DFEA"/>
              </a:solidFill>
            </a:ln>
          </p:spPr>
        </p:sp>
        <p:sp>
          <p:nvSpPr>
            <p:cNvPr id="47" name="Rectangle 47"/>
            <p:cNvSpPr/>
            <p:nvPr/>
          </p:nvSpPr>
          <p:spPr>
            <a:xfrm>
              <a:off x="7772400" y="4143375"/>
              <a:ext cx="47625" cy="2007870"/>
            </a:xfrm>
            <a:prstGeom prst="roundRect">
              <a:avLst>
                <a:gd name="adj" fmla="val 50000"/>
              </a:avLst>
            </a:prstGeom>
            <a:solidFill>
              <a:srgbClr val="334E68"/>
            </a:solidFill>
            <a:ln>
              <a:noFill/>
            </a:ln>
          </p:spPr>
        </p:sp>
        <p:sp>
          <p:nvSpPr>
            <p:cNvPr id="48" name="Rectangle 48"/>
            <p:cNvSpPr/>
            <p:nvPr/>
          </p:nvSpPr>
          <p:spPr>
            <a:xfrm>
              <a:off x="7987665" y="4196715"/>
              <a:ext cx="1106805" cy="238125"/>
            </a:xfrm>
            <a:prstGeom prst="roundRect">
              <a:avLst>
                <a:gd name="adj" fmla="val 50000"/>
              </a:avLst>
            </a:prstGeom>
            <a:solidFill>
              <a:srgbClr val="E7EDF3"/>
            </a:solidFill>
            <a:ln>
              <a:noFill/>
            </a:ln>
          </p:spPr>
        </p:sp>
        <p:sp>
          <p:nvSpPr>
            <p:cNvPr id="49" name="TextBox 49"/>
            <p:cNvSpPr txBox="1"/>
            <p:nvPr/>
          </p:nvSpPr>
          <p:spPr>
            <a:xfrm>
              <a:off x="8060680" y="4229576"/>
              <a:ext cx="960774"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第 3 条的关键词</a:t>
              </a:r>
            </a:p>
          </p:txBody>
        </p:sp>
        <p:sp>
          <p:nvSpPr>
            <p:cNvPr id="50" name="TextBox 50"/>
            <p:cNvSpPr txBox="1"/>
            <p:nvPr/>
          </p:nvSpPr>
          <p:spPr>
            <a:xfrm>
              <a:off x="9201912" y="4231958"/>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基准配置与变动控制</a:t>
              </a:r>
            </a:p>
          </p:txBody>
        </p:sp>
        <p:sp>
          <p:nvSpPr>
            <p:cNvPr id="51" name="TextBox 51"/>
            <p:cNvSpPr txBox="1"/>
            <p:nvPr/>
          </p:nvSpPr>
          <p:spPr>
            <a:xfrm>
              <a:off x="7980807" y="4557712"/>
              <a:ext cx="32712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基准配置又称基线配置，是经过阶段评审后</a:t>
              </a:r>
              <a:br/>
              <a:r>
                <a:rPr lang="zh-CN" sz="1350" dirty="0">
                  <a:solidFill>
                    <a:srgbClr val="1F2937"/>
                  </a:solidFill>
                  <a:latin typeface="+mn-lt"/>
                  <a:ea typeface="+mn-ea"/>
                  <a:cs typeface="+mn-cs"/>
                </a:rPr>
                <a:t>的软件配置成分，即各阶段产生的文档或程</a:t>
              </a:r>
              <a:br/>
              <a:r>
                <a:rPr lang="zh-CN" sz="1350" dirty="0">
                  <a:solidFill>
                    <a:srgbClr val="1F2937"/>
                  </a:solidFill>
                  <a:latin typeface="+mn-lt"/>
                  <a:ea typeface="+mn-ea"/>
                  <a:cs typeface="+mn-cs"/>
                </a:rPr>
                <a:t>序代码。</a:t>
              </a:r>
            </a:p>
          </p:txBody>
        </p:sp>
        <p:sp>
          <p:nvSpPr>
            <p:cNvPr id="52" name="TextBox 52"/>
            <p:cNvSpPr txBox="1"/>
            <p:nvPr/>
          </p:nvSpPr>
          <p:spPr>
            <a:xfrm>
              <a:off x="7980807" y="5372100"/>
              <a:ext cx="32712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基准配置管理也称变动控制：修改软件的建</a:t>
              </a:r>
              <a:br/>
              <a:r>
                <a:rPr lang="zh-CN" sz="1350" dirty="0">
                  <a:solidFill>
                    <a:srgbClr val="1F2937"/>
                  </a:solidFill>
                  <a:latin typeface="+mn-lt"/>
                  <a:ea typeface="+mn-ea"/>
                  <a:cs typeface="+mn-cs"/>
                </a:rPr>
                <a:t>议，特别是涉及基准配置的建议，都要按严</a:t>
              </a:r>
              <a:br/>
              <a:r>
                <a:rPr lang="zh-CN" sz="1350" dirty="0">
                  <a:solidFill>
                    <a:srgbClr val="1F2937"/>
                  </a:solidFill>
                  <a:latin typeface="+mn-lt"/>
                  <a:ea typeface="+mn-ea"/>
                  <a:cs typeface="+mn-cs"/>
                </a:rPr>
                <a:t>格的规程评审，批准后才能实施。</a:t>
              </a:r>
            </a:p>
          </p:txBody>
        </p:sp>
      </p:grpSp>
      <p:grpSp>
        <p:nvGrpSpPr>
          <p:cNvPr id="56" name="footer"/>
          <p:cNvGrpSpPr/>
          <p:nvPr/>
        </p:nvGrpSpPr>
        <p:grpSpPr>
          <a:xfrm>
            <a:off x="528447" y="6581299"/>
            <a:ext cx="11135106" cy="190690"/>
            <a:chOff x="528447" y="6581299"/>
            <a:chExt cx="11135106" cy="190690"/>
          </a:xfrm>
        </p:grpSpPr>
        <p:sp>
          <p:nvSpPr>
            <p:cNvPr id="54" name="TextBox 54"/>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55" name="TextBox 5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732096" cy="909257"/>
            <a:chOff x="520446" y="342900"/>
            <a:chExt cx="5732096"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软件工程</a:t>
              </a:r>
            </a:p>
          </p:txBody>
        </p:sp>
        <p:sp>
          <p:nvSpPr>
            <p:cNvPr id="4" name="TextBox 4"/>
            <p:cNvSpPr txBox="1"/>
            <p:nvPr/>
          </p:nvSpPr>
          <p:spPr>
            <a:xfrm>
              <a:off x="520446" y="753428"/>
              <a:ext cx="573209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软件工程方法学 = 方法 + 工具 + 过程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780" y="1548765"/>
            <a:ext cx="10182416" cy="293370"/>
            <a:chOff x="525780" y="1548765"/>
            <a:chExt cx="10182416" cy="293370"/>
          </a:xfrm>
        </p:grpSpPr>
        <p:sp>
          <p:nvSpPr>
            <p:cNvPr id="7" name="TextBox 7"/>
            <p:cNvSpPr txBox="1"/>
            <p:nvPr/>
          </p:nvSpPr>
          <p:spPr>
            <a:xfrm>
              <a:off x="525780" y="1548765"/>
              <a:ext cx="10182416"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在软件生命周期全过程中使用的一整套技术方法的集合称为方法学（methodology），也称为范型（paradigm）。</a:t>
              </a:r>
            </a:p>
          </p:txBody>
        </p:sp>
      </p:grpSp>
      <p:grpSp>
        <p:nvGrpSpPr>
          <p:cNvPr id="17" name="c1-kv-1"/>
          <p:cNvGrpSpPr/>
          <p:nvPr/>
        </p:nvGrpSpPr>
        <p:grpSpPr>
          <a:xfrm>
            <a:off x="526161" y="1977866"/>
            <a:ext cx="5435539" cy="1378839"/>
            <a:chOff x="526161" y="1977866"/>
            <a:chExt cx="5435539" cy="1378839"/>
          </a:xfrm>
        </p:grpSpPr>
        <p:sp>
          <p:nvSpPr>
            <p:cNvPr id="9" name="TextBox 9"/>
            <p:cNvSpPr txBox="1"/>
            <p:nvPr/>
          </p:nvSpPr>
          <p:spPr>
            <a:xfrm>
              <a:off x="526161" y="1977866"/>
              <a:ext cx="396799"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方法</a:t>
              </a:r>
            </a:p>
          </p:txBody>
        </p:sp>
        <p:sp>
          <p:nvSpPr>
            <p:cNvPr id="10" name="TextBox 10"/>
            <p:cNvSpPr txBox="1"/>
            <p:nvPr/>
          </p:nvSpPr>
          <p:spPr>
            <a:xfrm>
              <a:off x="1149096" y="1977866"/>
              <a:ext cx="481260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完成软件开发各项任务的技术方法，回答“怎样做”的问题</a:t>
              </a:r>
            </a:p>
          </p:txBody>
        </p:sp>
        <p:sp>
          <p:nvSpPr>
            <p:cNvPr id="11" name="Rectangle 11"/>
            <p:cNvSpPr/>
            <p:nvPr/>
          </p:nvSpPr>
          <p:spPr>
            <a:xfrm>
              <a:off x="533400" y="2281238"/>
              <a:ext cx="5410200" cy="9525"/>
            </a:xfrm>
            <a:prstGeom prst="rect">
              <a:avLst/>
            </a:prstGeom>
            <a:solidFill>
              <a:srgbClr val="D9DFEA"/>
            </a:solidFill>
            <a:ln>
              <a:noFill/>
            </a:ln>
          </p:spPr>
        </p:sp>
        <p:sp>
          <p:nvSpPr>
            <p:cNvPr id="12" name="TextBox 12"/>
            <p:cNvSpPr txBox="1"/>
            <p:nvPr/>
          </p:nvSpPr>
          <p:spPr>
            <a:xfrm>
              <a:off x="526161" y="2394109"/>
              <a:ext cx="396799"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工具</a:t>
              </a:r>
            </a:p>
          </p:txBody>
        </p:sp>
        <p:sp>
          <p:nvSpPr>
            <p:cNvPr id="13" name="TextBox 13"/>
            <p:cNvSpPr txBox="1"/>
            <p:nvPr/>
          </p:nvSpPr>
          <p:spPr>
            <a:xfrm>
              <a:off x="1149096" y="2394109"/>
              <a:ext cx="4220007"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为软件工程方法提供自动或半自动的软件支撑环境</a:t>
              </a:r>
            </a:p>
          </p:txBody>
        </p:sp>
        <p:sp>
          <p:nvSpPr>
            <p:cNvPr id="14" name="Rectangle 14"/>
            <p:cNvSpPr/>
            <p:nvPr/>
          </p:nvSpPr>
          <p:spPr>
            <a:xfrm>
              <a:off x="533400" y="2697480"/>
              <a:ext cx="5410200" cy="9525"/>
            </a:xfrm>
            <a:prstGeom prst="rect">
              <a:avLst/>
            </a:prstGeom>
            <a:solidFill>
              <a:srgbClr val="D9DFEA"/>
            </a:solidFill>
            <a:ln>
              <a:noFill/>
            </a:ln>
          </p:spPr>
        </p:sp>
        <p:sp>
          <p:nvSpPr>
            <p:cNvPr id="15" name="TextBox 15"/>
            <p:cNvSpPr txBox="1"/>
            <p:nvPr/>
          </p:nvSpPr>
          <p:spPr>
            <a:xfrm>
              <a:off x="526161" y="2810351"/>
              <a:ext cx="396799"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过程</a:t>
              </a:r>
            </a:p>
          </p:txBody>
        </p:sp>
        <p:sp>
          <p:nvSpPr>
            <p:cNvPr id="16" name="TextBox 16"/>
            <p:cNvSpPr txBox="1"/>
            <p:nvPr/>
          </p:nvSpPr>
          <p:spPr>
            <a:xfrm>
              <a:off x="1149096" y="2810351"/>
              <a:ext cx="4522978" cy="546354"/>
            </a:xfrm>
            <a:prstGeom prst="rect">
              <a:avLst/>
            </a:prstGeom>
            <a:noFill/>
            <a:ln>
              <a:noFill/>
            </a:ln>
          </p:spPr>
          <p:txBody>
            <a:bodyPr wrap="none" lIns="0" tIns="0" rIns="0" bIns="0" anchor="t" anchorCtr="0">
              <a:spAutoFit/>
            </a:bodyPr>
            <a:lstStyle/>
            <a:p>
              <a:pPr algn="l">
                <a:lnSpc>
                  <a:spcPts val="2108"/>
                </a:lnSpc>
              </a:pPr>
              <a:r>
                <a:rPr lang="zh-CN" sz="1420" dirty="0">
                  <a:solidFill>
                    <a:srgbClr val="1F2937"/>
                  </a:solidFill>
                  <a:latin typeface="+mn-lt"/>
                  <a:ea typeface="+mn-ea"/>
                  <a:cs typeface="+mn-cs"/>
                </a:rPr>
                <a:t>为了获得高质量软件所需要完成的一系列任务的框架，规</a:t>
              </a:r>
              <a:br/>
              <a:r>
                <a:rPr lang="zh-CN" sz="1420" dirty="0">
                  <a:solidFill>
                    <a:srgbClr val="1F2937"/>
                  </a:solidFill>
                  <a:latin typeface="+mn-lt"/>
                  <a:ea typeface="+mn-ea"/>
                  <a:cs typeface="+mn-cs"/>
                </a:rPr>
                <a:t>定了完成各项任务的步骤</a:t>
              </a:r>
            </a:p>
          </p:txBody>
        </p:sp>
      </p:grpSp>
      <p:grpSp>
        <p:nvGrpSpPr>
          <p:cNvPr id="24" name="c1-callout-2"/>
          <p:cNvGrpSpPr/>
          <p:nvPr/>
        </p:nvGrpSpPr>
        <p:grpSpPr>
          <a:xfrm>
            <a:off x="533400" y="3481388"/>
            <a:ext cx="5410200" cy="1837372"/>
            <a:chOff x="533400" y="3481388"/>
            <a:chExt cx="5410200" cy="1837372"/>
          </a:xfrm>
        </p:grpSpPr>
        <p:sp>
          <p:nvSpPr>
            <p:cNvPr id="18" name="Rectangle 18"/>
            <p:cNvSpPr/>
            <p:nvPr/>
          </p:nvSpPr>
          <p:spPr>
            <a:xfrm>
              <a:off x="533400" y="3481388"/>
              <a:ext cx="5410200" cy="1837372"/>
            </a:xfrm>
            <a:prstGeom prst="roundRect">
              <a:avLst>
                <a:gd name="adj" fmla="val 6221"/>
              </a:avLst>
            </a:prstGeom>
            <a:solidFill>
              <a:srgbClr val="FDEEE7"/>
            </a:solidFill>
            <a:ln>
              <a:noFill/>
            </a:ln>
          </p:spPr>
        </p:sp>
        <p:grpSp>
          <p:nvGrpSpPr>
            <p:cNvPr id="22" name="Group 22"/>
            <p:cNvGrpSpPr/>
            <p:nvPr/>
          </p:nvGrpSpPr>
          <p:grpSpPr>
            <a:xfrm>
              <a:off x="738188" y="4299585"/>
              <a:ext cx="200026" cy="200025"/>
              <a:chOff x="738188" y="4299585"/>
              <a:chExt cx="200026" cy="200025"/>
            </a:xfrm>
          </p:grpSpPr>
          <p:sp>
            <p:nvSpPr>
              <p:cNvPr id="19" name="Freeform 19"/>
              <p:cNvSpPr/>
              <p:nvPr/>
            </p:nvSpPr>
            <p:spPr>
              <a:xfrm>
                <a:off x="738188" y="429958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20" name="Freeform 20"/>
              <p:cNvSpPr/>
              <p:nvPr/>
            </p:nvSpPr>
            <p:spPr>
              <a:xfrm>
                <a:off x="777926" y="434403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21" name="Freeform 21"/>
              <p:cNvSpPr/>
              <p:nvPr/>
            </p:nvSpPr>
            <p:spPr>
              <a:xfrm>
                <a:off x="812642" y="445516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23" name="TextBox 23"/>
            <p:cNvSpPr txBox="1"/>
            <p:nvPr/>
          </p:nvSpPr>
          <p:spPr>
            <a:xfrm>
              <a:off x="1040511" y="4038124"/>
              <a:ext cx="4522978" cy="80448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工具能集成起来（一个工具产生的信息可被另一个工具使</a:t>
              </a:r>
              <a:br/>
              <a:r>
                <a:rPr lang="zh-CN" sz="1420" dirty="0">
                  <a:solidFill>
                    <a:srgbClr val="C2410C"/>
                  </a:solidFill>
                  <a:latin typeface="+mn-lt"/>
                  <a:ea typeface="+mn-ea"/>
                  <a:cs typeface="+mn-cs"/>
                </a:rPr>
                <a:t>用）时，这样的支持系统称为 CASE，即计算机辅助软件</a:t>
              </a:r>
              <a:br/>
              <a:r>
                <a:rPr lang="zh-CN" sz="1420" dirty="0">
                  <a:solidFill>
                    <a:srgbClr val="C2410C"/>
                  </a:solidFill>
                  <a:latin typeface="+mn-lt"/>
                  <a:ea typeface="+mn-ea"/>
                  <a:cs typeface="+mn-cs"/>
                </a:rPr>
                <a:t>工程。</a:t>
              </a:r>
            </a:p>
          </p:txBody>
        </p:sp>
      </p:grpSp>
      <p:grpSp>
        <p:nvGrpSpPr>
          <p:cNvPr id="40" name="c2-card-1"/>
          <p:cNvGrpSpPr/>
          <p:nvPr/>
        </p:nvGrpSpPr>
        <p:grpSpPr>
          <a:xfrm>
            <a:off x="6248400" y="1954530"/>
            <a:ext cx="5410200" cy="1932622"/>
            <a:chOff x="6248400" y="1954530"/>
            <a:chExt cx="5410200" cy="1932622"/>
          </a:xfrm>
        </p:grpSpPr>
        <p:sp>
          <p:nvSpPr>
            <p:cNvPr id="25" name="Rectangle 25"/>
            <p:cNvSpPr/>
            <p:nvPr/>
          </p:nvSpPr>
          <p:spPr>
            <a:xfrm>
              <a:off x="6248400" y="1954530"/>
              <a:ext cx="5410200" cy="1932622"/>
            </a:xfrm>
            <a:prstGeom prst="roundRect">
              <a:avLst>
                <a:gd name="adj" fmla="val 6900"/>
              </a:avLst>
            </a:prstGeom>
            <a:solidFill>
              <a:srgbClr val="334E68"/>
            </a:solidFill>
            <a:ln>
              <a:noFill/>
            </a:ln>
          </p:spPr>
        </p:sp>
        <p:sp>
          <p:nvSpPr>
            <p:cNvPr id="26" name="Rectangle 26"/>
            <p:cNvSpPr/>
            <p:nvPr/>
          </p:nvSpPr>
          <p:spPr>
            <a:xfrm>
              <a:off x="6446520" y="2152650"/>
              <a:ext cx="1276350" cy="247650"/>
            </a:xfrm>
            <a:prstGeom prst="roundRect">
              <a:avLst>
                <a:gd name="adj" fmla="val 50000"/>
              </a:avLst>
            </a:prstGeom>
            <a:solidFill>
              <a:srgbClr val="243B53"/>
            </a:solidFill>
            <a:ln>
              <a:noFill/>
            </a:ln>
          </p:spPr>
        </p:sp>
        <p:sp>
          <p:nvSpPr>
            <p:cNvPr id="27" name="TextBox 27"/>
            <p:cNvSpPr txBox="1"/>
            <p:nvPr/>
          </p:nvSpPr>
          <p:spPr>
            <a:xfrm>
              <a:off x="6513957" y="2186940"/>
              <a:ext cx="1141476"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过程定义了四件事</a:t>
              </a:r>
            </a:p>
          </p:txBody>
        </p:sp>
        <p:sp>
          <p:nvSpPr>
            <p:cNvPr id="28" name="Ellipse 28"/>
            <p:cNvSpPr/>
            <p:nvPr/>
          </p:nvSpPr>
          <p:spPr>
            <a:xfrm>
              <a:off x="6446520" y="2501265"/>
              <a:ext cx="201930" cy="201930"/>
            </a:xfrm>
            <a:prstGeom prst="ellipse">
              <a:avLst/>
            </a:prstGeom>
            <a:solidFill>
              <a:srgbClr val="334E68"/>
            </a:solidFill>
            <a:ln>
              <a:noFill/>
            </a:ln>
          </p:spPr>
        </p:sp>
        <p:sp>
          <p:nvSpPr>
            <p:cNvPr id="29" name="TextBox 29"/>
            <p:cNvSpPr txBox="1"/>
            <p:nvPr/>
          </p:nvSpPr>
          <p:spPr>
            <a:xfrm>
              <a:off x="6504865" y="254065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30" name="TextBox 30"/>
            <p:cNvSpPr txBox="1"/>
            <p:nvPr/>
          </p:nvSpPr>
          <p:spPr>
            <a:xfrm>
              <a:off x="6737414" y="2513171"/>
              <a:ext cx="1352601"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方法使用的顺序</a:t>
              </a:r>
            </a:p>
          </p:txBody>
        </p:sp>
        <p:sp>
          <p:nvSpPr>
            <p:cNvPr id="31" name="Ellipse 31"/>
            <p:cNvSpPr/>
            <p:nvPr/>
          </p:nvSpPr>
          <p:spPr>
            <a:xfrm>
              <a:off x="6446520" y="2818448"/>
              <a:ext cx="201930" cy="201930"/>
            </a:xfrm>
            <a:prstGeom prst="ellipse">
              <a:avLst/>
            </a:prstGeom>
            <a:solidFill>
              <a:srgbClr val="334E68"/>
            </a:solidFill>
            <a:ln>
              <a:noFill/>
            </a:ln>
          </p:spPr>
        </p:sp>
        <p:sp>
          <p:nvSpPr>
            <p:cNvPr id="32" name="TextBox 32"/>
            <p:cNvSpPr txBox="1"/>
            <p:nvPr/>
          </p:nvSpPr>
          <p:spPr>
            <a:xfrm>
              <a:off x="6504865" y="285878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33" name="TextBox 33"/>
            <p:cNvSpPr txBox="1"/>
            <p:nvPr/>
          </p:nvSpPr>
          <p:spPr>
            <a:xfrm>
              <a:off x="6737414" y="2831306"/>
              <a:ext cx="1734922"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要求交付的文档资料</a:t>
              </a:r>
            </a:p>
          </p:txBody>
        </p:sp>
        <p:sp>
          <p:nvSpPr>
            <p:cNvPr id="34" name="Ellipse 34"/>
            <p:cNvSpPr/>
            <p:nvPr/>
          </p:nvSpPr>
          <p:spPr>
            <a:xfrm>
              <a:off x="6446520" y="3136582"/>
              <a:ext cx="201930" cy="201930"/>
            </a:xfrm>
            <a:prstGeom prst="ellipse">
              <a:avLst/>
            </a:prstGeom>
            <a:solidFill>
              <a:srgbClr val="334E68"/>
            </a:solidFill>
            <a:ln>
              <a:noFill/>
            </a:ln>
          </p:spPr>
        </p:sp>
        <p:sp>
          <p:nvSpPr>
            <p:cNvPr id="35" name="TextBox 35"/>
            <p:cNvSpPr txBox="1"/>
            <p:nvPr/>
          </p:nvSpPr>
          <p:spPr>
            <a:xfrm>
              <a:off x="6504865" y="317692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36" name="TextBox 36"/>
            <p:cNvSpPr txBox="1"/>
            <p:nvPr/>
          </p:nvSpPr>
          <p:spPr>
            <a:xfrm>
              <a:off x="6737414" y="3148489"/>
              <a:ext cx="3073044"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为保证质量和适应变化所需要的管理</a:t>
              </a:r>
            </a:p>
          </p:txBody>
        </p:sp>
        <p:sp>
          <p:nvSpPr>
            <p:cNvPr id="37" name="Ellipse 37"/>
            <p:cNvSpPr/>
            <p:nvPr/>
          </p:nvSpPr>
          <p:spPr>
            <a:xfrm>
              <a:off x="6446520" y="3454718"/>
              <a:ext cx="201930" cy="201930"/>
            </a:xfrm>
            <a:prstGeom prst="ellipse">
              <a:avLst/>
            </a:prstGeom>
            <a:solidFill>
              <a:srgbClr val="334E68"/>
            </a:solidFill>
            <a:ln>
              <a:noFill/>
            </a:ln>
          </p:spPr>
        </p:sp>
        <p:sp>
          <p:nvSpPr>
            <p:cNvPr id="38" name="TextBox 38"/>
            <p:cNvSpPr txBox="1"/>
            <p:nvPr/>
          </p:nvSpPr>
          <p:spPr>
            <a:xfrm>
              <a:off x="6504865" y="3494103"/>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4</a:t>
              </a:r>
            </a:p>
          </p:txBody>
        </p:sp>
        <p:sp>
          <p:nvSpPr>
            <p:cNvPr id="39" name="TextBox 39"/>
            <p:cNvSpPr txBox="1"/>
            <p:nvPr/>
          </p:nvSpPr>
          <p:spPr>
            <a:xfrm>
              <a:off x="6737414" y="3466624"/>
              <a:ext cx="2690724"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软件开发各个阶段完成的里程碑</a:t>
              </a:r>
            </a:p>
          </p:txBody>
        </p:sp>
      </p:grpSp>
      <p:grpSp>
        <p:nvGrpSpPr>
          <p:cNvPr id="46" name="c2-card-2"/>
          <p:cNvGrpSpPr/>
          <p:nvPr/>
        </p:nvGrpSpPr>
        <p:grpSpPr>
          <a:xfrm>
            <a:off x="6248400" y="4067175"/>
            <a:ext cx="5410200" cy="1250632"/>
            <a:chOff x="6248400" y="4067175"/>
            <a:chExt cx="5410200" cy="1250632"/>
          </a:xfrm>
        </p:grpSpPr>
        <p:sp>
          <p:nvSpPr>
            <p:cNvPr id="41" name="Rectangle 41"/>
            <p:cNvSpPr/>
            <p:nvPr/>
          </p:nvSpPr>
          <p:spPr>
            <a:xfrm>
              <a:off x="6248400" y="4067175"/>
              <a:ext cx="5410200" cy="1250632"/>
            </a:xfrm>
            <a:prstGeom prst="roundRect">
              <a:avLst>
                <a:gd name="adj" fmla="val 10663"/>
              </a:avLst>
            </a:prstGeom>
            <a:solidFill>
              <a:srgbClr val="FFFFFF"/>
            </a:solidFill>
            <a:ln w="14288">
              <a:solidFill>
                <a:srgbClr val="D9DFEA"/>
              </a:solidFill>
            </a:ln>
          </p:spPr>
        </p:sp>
        <p:sp>
          <p:nvSpPr>
            <p:cNvPr id="42" name="Rectangle 42"/>
            <p:cNvSpPr/>
            <p:nvPr/>
          </p:nvSpPr>
          <p:spPr>
            <a:xfrm>
              <a:off x="6257925" y="4200525"/>
              <a:ext cx="47625" cy="983932"/>
            </a:xfrm>
            <a:prstGeom prst="roundRect">
              <a:avLst>
                <a:gd name="adj" fmla="val 50000"/>
              </a:avLst>
            </a:prstGeom>
            <a:solidFill>
              <a:srgbClr val="5B6475"/>
            </a:solidFill>
            <a:ln>
              <a:noFill/>
            </a:ln>
          </p:spPr>
        </p:sp>
        <p:sp>
          <p:nvSpPr>
            <p:cNvPr id="43" name="Rectangle 43"/>
            <p:cNvSpPr/>
            <p:nvPr/>
          </p:nvSpPr>
          <p:spPr>
            <a:xfrm>
              <a:off x="6484620" y="4265295"/>
              <a:ext cx="1143000" cy="247650"/>
            </a:xfrm>
            <a:prstGeom prst="roundRect">
              <a:avLst>
                <a:gd name="adj" fmla="val 50000"/>
              </a:avLst>
            </a:prstGeom>
            <a:solidFill>
              <a:srgbClr val="F4F6FB"/>
            </a:solidFill>
            <a:ln>
              <a:noFill/>
            </a:ln>
          </p:spPr>
        </p:sp>
        <p:sp>
          <p:nvSpPr>
            <p:cNvPr id="44" name="TextBox 44"/>
            <p:cNvSpPr txBox="1"/>
            <p:nvPr/>
          </p:nvSpPr>
          <p:spPr>
            <a:xfrm>
              <a:off x="6556058" y="4299585"/>
              <a:ext cx="1000125"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两种主流方法学</a:t>
              </a:r>
            </a:p>
          </p:txBody>
        </p:sp>
        <p:sp>
          <p:nvSpPr>
            <p:cNvPr id="45" name="TextBox 45"/>
            <p:cNvSpPr txBox="1"/>
            <p:nvPr/>
          </p:nvSpPr>
          <p:spPr>
            <a:xfrm>
              <a:off x="6477381" y="4626769"/>
              <a:ext cx="470331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目前使用得最广泛的软件工程方法学是</a:t>
              </a:r>
              <a:r>
                <a:rPr lang="zh-CN" sz="1420" b="1" dirty="0">
                  <a:solidFill>
                    <a:srgbClr val="C2410C"/>
                  </a:solidFill>
                  <a:latin typeface="+mn-lt"/>
                  <a:ea typeface="+mn-ea"/>
                  <a:cs typeface="+mn-cs"/>
                </a:rPr>
                <a:t>传统方法学</a:t>
              </a:r>
              <a:r>
                <a:rPr lang="zh-CN" sz="1420" dirty="0">
                  <a:solidFill>
                    <a:srgbClr val="1F2937"/>
                  </a:solidFill>
                  <a:latin typeface="+mn-lt"/>
                  <a:ea typeface="+mn-ea"/>
                  <a:cs typeface="+mn-cs"/>
                </a:rPr>
                <a:t>和</a:t>
              </a:r>
              <a:r>
                <a:rPr lang="zh-CN" sz="1420" b="1" dirty="0">
                  <a:solidFill>
                    <a:srgbClr val="C2410C"/>
                  </a:solidFill>
                  <a:latin typeface="+mn-lt"/>
                  <a:ea typeface="+mn-ea"/>
                  <a:cs typeface="+mn-cs"/>
                </a:rPr>
                <a:t>面向对</a:t>
              </a:r>
              <a:br/>
              <a:r>
                <a:rPr lang="zh-CN" sz="1420" b="1" dirty="0">
                  <a:solidFill>
                    <a:srgbClr val="C2410C"/>
                  </a:solidFill>
                  <a:latin typeface="+mn-lt"/>
                  <a:ea typeface="+mn-ea"/>
                  <a:cs typeface="+mn-cs"/>
                </a:rPr>
                <a:t>象方法学</a:t>
              </a:r>
              <a:r>
                <a:rPr lang="zh-CN" sz="1420" dirty="0">
                  <a:solidFill>
                    <a:srgbClr val="1F2937"/>
                  </a:solidFill>
                  <a:latin typeface="+mn-lt"/>
                  <a:ea typeface="+mn-ea"/>
                  <a:cs typeface="+mn-cs"/>
                </a:rPr>
                <a:t>，它们的区别在于怎样看待数据和操作的关系。</a:t>
              </a:r>
            </a:p>
          </p:txBody>
        </p:sp>
      </p:grpSp>
      <p:grpSp>
        <p:nvGrpSpPr>
          <p:cNvPr id="52" name="takeaway"/>
          <p:cNvGrpSpPr/>
          <p:nvPr/>
        </p:nvGrpSpPr>
        <p:grpSpPr>
          <a:xfrm>
            <a:off x="533400" y="5606415"/>
            <a:ext cx="11125200" cy="756285"/>
            <a:chOff x="533400" y="5606415"/>
            <a:chExt cx="11125200" cy="756285"/>
          </a:xfrm>
        </p:grpSpPr>
        <p:sp>
          <p:nvSpPr>
            <p:cNvPr id="47" name="Rectangle 47"/>
            <p:cNvSpPr/>
            <p:nvPr/>
          </p:nvSpPr>
          <p:spPr>
            <a:xfrm>
              <a:off x="533400" y="5606415"/>
              <a:ext cx="11125200" cy="756285"/>
            </a:xfrm>
            <a:prstGeom prst="roundRect">
              <a:avLst>
                <a:gd name="adj" fmla="val 15113"/>
              </a:avLst>
            </a:prstGeom>
            <a:solidFill>
              <a:srgbClr val="334E68"/>
            </a:solidFill>
            <a:ln>
              <a:noFill/>
            </a:ln>
          </p:spPr>
        </p:sp>
        <p:grpSp>
          <p:nvGrpSpPr>
            <p:cNvPr id="50" name="Group 50"/>
            <p:cNvGrpSpPr/>
            <p:nvPr/>
          </p:nvGrpSpPr>
          <p:grpSpPr>
            <a:xfrm>
              <a:off x="738188" y="5884547"/>
              <a:ext cx="200023" cy="200023"/>
              <a:chOff x="738188" y="5884547"/>
              <a:chExt cx="200023" cy="200023"/>
            </a:xfrm>
          </p:grpSpPr>
          <p:sp>
            <p:nvSpPr>
              <p:cNvPr id="48" name="Freeform 48"/>
              <p:cNvSpPr/>
              <p:nvPr/>
            </p:nvSpPr>
            <p:spPr>
              <a:xfrm>
                <a:off x="738188" y="588454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9" name="Freeform 49"/>
              <p:cNvSpPr/>
              <p:nvPr/>
            </p:nvSpPr>
            <p:spPr>
              <a:xfrm>
                <a:off x="871538" y="595122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1" name="TextBox 51"/>
            <p:cNvSpPr txBox="1"/>
            <p:nvPr/>
          </p:nvSpPr>
          <p:spPr>
            <a:xfrm>
              <a:off x="1040511" y="5753576"/>
              <a:ext cx="993317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软件工程包括管理和技术两方面。管理是通过计划、组织和控制等一系列活动，合理地配置和使用各种资源，以达到既定目标</a:t>
              </a:r>
              <a:br/>
              <a:r>
                <a:rPr lang="zh-CN" sz="1420" dirty="0">
                  <a:solidFill>
                    <a:srgbClr val="FFFFFF"/>
                  </a:solidFill>
                  <a:latin typeface="+mn-lt"/>
                  <a:ea typeface="+mn-ea"/>
                  <a:cs typeface="+mn-cs"/>
                </a:rPr>
                <a:t>的过程。</a:t>
              </a:r>
            </a:p>
          </p:txBody>
        </p:sp>
      </p:grpSp>
      <p:grpSp>
        <p:nvGrpSpPr>
          <p:cNvPr id="55" name="footer"/>
          <p:cNvGrpSpPr/>
          <p:nvPr/>
        </p:nvGrpSpPr>
        <p:grpSpPr>
          <a:xfrm>
            <a:off x="528447" y="6581299"/>
            <a:ext cx="11135106" cy="190690"/>
            <a:chOff x="528447" y="6581299"/>
            <a:chExt cx="11135106" cy="190690"/>
          </a:xfrm>
        </p:grpSpPr>
        <p:sp>
          <p:nvSpPr>
            <p:cNvPr id="53" name="TextBox 53"/>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54" name="TextBox 5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78090" cy="909257"/>
            <a:chOff x="520446" y="342900"/>
            <a:chExt cx="7578090"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软件工程</a:t>
              </a:r>
            </a:p>
          </p:txBody>
        </p:sp>
        <p:sp>
          <p:nvSpPr>
            <p:cNvPr id="4" name="TextBox 4"/>
            <p:cNvSpPr txBox="1"/>
            <p:nvPr/>
          </p:nvSpPr>
          <p:spPr>
            <a:xfrm>
              <a:off x="520446" y="753428"/>
              <a:ext cx="757809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传统方法学：把生命周期切成阶段，一段一段地做</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3" name="c1-card-1"/>
          <p:cNvGrpSpPr/>
          <p:nvPr/>
        </p:nvGrpSpPr>
        <p:grpSpPr>
          <a:xfrm>
            <a:off x="533400" y="1524000"/>
            <a:ext cx="5626418" cy="1811655"/>
            <a:chOff x="533400" y="1524000"/>
            <a:chExt cx="5626418" cy="1811655"/>
          </a:xfrm>
        </p:grpSpPr>
        <p:sp>
          <p:nvSpPr>
            <p:cNvPr id="7" name="Rectangle 7"/>
            <p:cNvSpPr/>
            <p:nvPr/>
          </p:nvSpPr>
          <p:spPr>
            <a:xfrm>
              <a:off x="533400" y="1524000"/>
              <a:ext cx="5626418" cy="1811655"/>
            </a:xfrm>
            <a:prstGeom prst="roundRect">
              <a:avLst>
                <a:gd name="adj" fmla="val 7361"/>
              </a:avLst>
            </a:prstGeom>
            <a:solidFill>
              <a:srgbClr val="FFFFFF"/>
            </a:solidFill>
            <a:ln w="14288">
              <a:solidFill>
                <a:srgbClr val="D9DFEA"/>
              </a:solidFill>
            </a:ln>
          </p:spPr>
        </p:sp>
        <p:sp>
          <p:nvSpPr>
            <p:cNvPr id="8" name="Rectangle 8"/>
            <p:cNvSpPr/>
            <p:nvPr/>
          </p:nvSpPr>
          <p:spPr>
            <a:xfrm>
              <a:off x="542925" y="1657350"/>
              <a:ext cx="47625" cy="1544955"/>
            </a:xfrm>
            <a:prstGeom prst="roundRect">
              <a:avLst>
                <a:gd name="adj" fmla="val 50000"/>
              </a:avLst>
            </a:prstGeom>
            <a:solidFill>
              <a:srgbClr val="334E68"/>
            </a:solidFill>
            <a:ln>
              <a:noFill/>
            </a:ln>
          </p:spPr>
        </p:sp>
        <p:sp>
          <p:nvSpPr>
            <p:cNvPr id="9" name="Rectangle 9"/>
            <p:cNvSpPr/>
            <p:nvPr/>
          </p:nvSpPr>
          <p:spPr>
            <a:xfrm>
              <a:off x="769620" y="1722120"/>
              <a:ext cx="476250" cy="247650"/>
            </a:xfrm>
            <a:prstGeom prst="roundRect">
              <a:avLst>
                <a:gd name="adj" fmla="val 50000"/>
              </a:avLst>
            </a:prstGeom>
            <a:solidFill>
              <a:srgbClr val="E7EDF3"/>
            </a:solidFill>
            <a:ln>
              <a:noFill/>
            </a:ln>
          </p:spPr>
        </p:sp>
        <p:sp>
          <p:nvSpPr>
            <p:cNvPr id="10" name="TextBox 10"/>
            <p:cNvSpPr txBox="1"/>
            <p:nvPr/>
          </p:nvSpPr>
          <p:spPr>
            <a:xfrm>
              <a:off x="861060" y="1756410"/>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定义</a:t>
              </a:r>
            </a:p>
          </p:txBody>
        </p:sp>
        <p:sp>
          <p:nvSpPr>
            <p:cNvPr id="11" name="TextBox 11"/>
            <p:cNvSpPr txBox="1"/>
            <p:nvPr/>
          </p:nvSpPr>
          <p:spPr>
            <a:xfrm>
              <a:off x="1352931" y="1756886"/>
              <a:ext cx="97028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传统方法学</a:t>
              </a:r>
            </a:p>
          </p:txBody>
        </p:sp>
        <p:sp>
          <p:nvSpPr>
            <p:cNvPr id="12" name="TextBox 12"/>
            <p:cNvSpPr txBox="1"/>
            <p:nvPr/>
          </p:nvSpPr>
          <p:spPr>
            <a:xfrm>
              <a:off x="762381" y="2100739"/>
              <a:ext cx="4883658" cy="1093089"/>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传统方法学又称</a:t>
              </a:r>
              <a:r>
                <a:rPr lang="zh-CN" sz="1420" b="1" dirty="0">
                  <a:solidFill>
                    <a:srgbClr val="C2410C"/>
                  </a:solidFill>
                  <a:latin typeface="+mn-lt"/>
                  <a:ea typeface="+mn-ea"/>
                  <a:cs typeface="+mn-cs"/>
                </a:rPr>
                <a:t>生命周期方法学</a:t>
              </a:r>
              <a:r>
                <a:rPr lang="zh-CN" sz="1420" dirty="0">
                  <a:solidFill>
                    <a:srgbClr val="1F2937"/>
                  </a:solidFill>
                  <a:latin typeface="+mn-lt"/>
                  <a:ea typeface="+mn-ea"/>
                  <a:cs typeface="+mn-cs"/>
                </a:rPr>
                <a:t>或</a:t>
              </a:r>
              <a:r>
                <a:rPr lang="zh-CN" sz="1420" b="1" dirty="0">
                  <a:solidFill>
                    <a:srgbClr val="C2410C"/>
                  </a:solidFill>
                  <a:latin typeface="+mn-lt"/>
                  <a:ea typeface="+mn-ea"/>
                  <a:cs typeface="+mn-cs"/>
                </a:rPr>
                <a:t>结构化范型</a:t>
              </a:r>
              <a:r>
                <a:rPr lang="zh-CN" sz="1420" dirty="0">
                  <a:solidFill>
                    <a:srgbClr val="1F2937"/>
                  </a:solidFill>
                  <a:latin typeface="+mn-lt"/>
                  <a:ea typeface="+mn-ea"/>
                  <a:cs typeface="+mn-cs"/>
                </a:rPr>
                <a:t>。它采用结构化</a:t>
              </a:r>
              <a:br/>
              <a:r>
                <a:rPr lang="zh-CN" sz="1420" dirty="0">
                  <a:solidFill>
                    <a:srgbClr val="1F2937"/>
                  </a:solidFill>
                  <a:latin typeface="+mn-lt"/>
                  <a:ea typeface="+mn-ea"/>
                  <a:cs typeface="+mn-cs"/>
                </a:rPr>
                <a:t>技术（结构化分析、结构化设计和结构化实现）完成软件开发</a:t>
              </a:r>
              <a:br/>
              <a:r>
                <a:rPr lang="zh-CN" sz="1420" dirty="0">
                  <a:solidFill>
                    <a:srgbClr val="1F2937"/>
                  </a:solidFill>
                  <a:latin typeface="+mn-lt"/>
                  <a:ea typeface="+mn-ea"/>
                  <a:cs typeface="+mn-cs"/>
                </a:rPr>
                <a:t>的各项任务，并使用适当的软件工具或软件工程环境来支持结</a:t>
              </a:r>
              <a:br/>
              <a:r>
                <a:rPr lang="zh-CN" sz="1420" dirty="0">
                  <a:solidFill>
                    <a:srgbClr val="1F2937"/>
                  </a:solidFill>
                  <a:latin typeface="+mn-lt"/>
                  <a:ea typeface="+mn-ea"/>
                  <a:cs typeface="+mn-cs"/>
                </a:rPr>
                <a:t>构化技术的运用。</a:t>
              </a:r>
            </a:p>
          </p:txBody>
        </p:sp>
      </p:grpSp>
      <p:grpSp>
        <p:nvGrpSpPr>
          <p:cNvPr id="24" name="c1-bullets-2"/>
          <p:cNvGrpSpPr/>
          <p:nvPr/>
        </p:nvGrpSpPr>
        <p:grpSpPr>
          <a:xfrm>
            <a:off x="526161" y="3539966"/>
            <a:ext cx="5665101" cy="1267397"/>
            <a:chOff x="526161" y="3539966"/>
            <a:chExt cx="5665101" cy="1267397"/>
          </a:xfrm>
        </p:grpSpPr>
        <p:sp>
          <p:nvSpPr>
            <p:cNvPr id="14" name="TextBox 14"/>
            <p:cNvSpPr txBox="1"/>
            <p:nvPr/>
          </p:nvSpPr>
          <p:spPr>
            <a:xfrm>
              <a:off x="526161" y="3539966"/>
              <a:ext cx="2308403"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把生命周期划分为若干阶段</a:t>
              </a:r>
            </a:p>
          </p:txBody>
        </p:sp>
        <p:sp>
          <p:nvSpPr>
            <p:cNvPr id="15" name="Ellipse 15"/>
            <p:cNvSpPr/>
            <p:nvPr/>
          </p:nvSpPr>
          <p:spPr>
            <a:xfrm>
              <a:off x="533400" y="3863340"/>
              <a:ext cx="201930" cy="201930"/>
            </a:xfrm>
            <a:prstGeom prst="ellipse">
              <a:avLst/>
            </a:prstGeom>
            <a:solidFill>
              <a:srgbClr val="334E68"/>
            </a:solidFill>
            <a:ln>
              <a:noFill/>
            </a:ln>
          </p:spPr>
        </p:sp>
        <p:sp>
          <p:nvSpPr>
            <p:cNvPr id="16" name="TextBox 16"/>
            <p:cNvSpPr txBox="1"/>
            <p:nvPr/>
          </p:nvSpPr>
          <p:spPr>
            <a:xfrm>
              <a:off x="591745" y="390272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17" name="TextBox 17"/>
            <p:cNvSpPr txBox="1"/>
            <p:nvPr/>
          </p:nvSpPr>
          <p:spPr>
            <a:xfrm>
              <a:off x="824293" y="3875246"/>
              <a:ext cx="345536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前一阶段是基础、前提，后一阶段是细化</a:t>
              </a:r>
            </a:p>
          </p:txBody>
        </p:sp>
        <p:sp>
          <p:nvSpPr>
            <p:cNvPr id="18" name="Ellipse 18"/>
            <p:cNvSpPr/>
            <p:nvPr/>
          </p:nvSpPr>
          <p:spPr>
            <a:xfrm>
              <a:off x="533400" y="4190048"/>
              <a:ext cx="201930" cy="201930"/>
            </a:xfrm>
            <a:prstGeom prst="ellipse">
              <a:avLst/>
            </a:prstGeom>
            <a:solidFill>
              <a:srgbClr val="334E68"/>
            </a:solidFill>
            <a:ln>
              <a:noFill/>
            </a:ln>
          </p:spPr>
        </p:sp>
        <p:sp>
          <p:nvSpPr>
            <p:cNvPr id="19" name="TextBox 19"/>
            <p:cNvSpPr txBox="1"/>
            <p:nvPr/>
          </p:nvSpPr>
          <p:spPr>
            <a:xfrm>
              <a:off x="591745" y="4229433"/>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20" name="TextBox 20"/>
            <p:cNvSpPr txBox="1"/>
            <p:nvPr/>
          </p:nvSpPr>
          <p:spPr>
            <a:xfrm>
              <a:off x="824293" y="4201954"/>
              <a:ext cx="345536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每一个阶段的开始和结束都有严格的标准</a:t>
              </a:r>
            </a:p>
          </p:txBody>
        </p:sp>
        <p:sp>
          <p:nvSpPr>
            <p:cNvPr id="21" name="Ellipse 21"/>
            <p:cNvSpPr/>
            <p:nvPr/>
          </p:nvSpPr>
          <p:spPr>
            <a:xfrm>
              <a:off x="533400" y="4516755"/>
              <a:ext cx="201930" cy="201930"/>
            </a:xfrm>
            <a:prstGeom prst="ellipse">
              <a:avLst/>
            </a:prstGeom>
            <a:solidFill>
              <a:srgbClr val="334E68"/>
            </a:solidFill>
            <a:ln>
              <a:noFill/>
            </a:ln>
          </p:spPr>
        </p:sp>
        <p:sp>
          <p:nvSpPr>
            <p:cNvPr id="22" name="TextBox 22"/>
            <p:cNvSpPr txBox="1"/>
            <p:nvPr/>
          </p:nvSpPr>
          <p:spPr>
            <a:xfrm>
              <a:off x="591745" y="455614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23" name="TextBox 23"/>
            <p:cNvSpPr txBox="1"/>
            <p:nvPr/>
          </p:nvSpPr>
          <p:spPr>
            <a:xfrm>
              <a:off x="824293" y="4528661"/>
              <a:ext cx="5366969"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每一个阶段结束之前都必须进行正式严格的技术审查和管理复审</a:t>
              </a:r>
            </a:p>
          </p:txBody>
        </p:sp>
      </p:grpSp>
      <p:grpSp>
        <p:nvGrpSpPr>
          <p:cNvPr id="31" name="c1-callout-3"/>
          <p:cNvGrpSpPr/>
          <p:nvPr/>
        </p:nvGrpSpPr>
        <p:grpSpPr>
          <a:xfrm>
            <a:off x="533400" y="4931092"/>
            <a:ext cx="5626418" cy="756285"/>
            <a:chOff x="533400" y="4931092"/>
            <a:chExt cx="5626418" cy="756285"/>
          </a:xfrm>
        </p:grpSpPr>
        <p:sp>
          <p:nvSpPr>
            <p:cNvPr id="25" name="Rectangle 25"/>
            <p:cNvSpPr/>
            <p:nvPr/>
          </p:nvSpPr>
          <p:spPr>
            <a:xfrm>
              <a:off x="533400" y="4931092"/>
              <a:ext cx="5626418" cy="756285"/>
            </a:xfrm>
            <a:prstGeom prst="roundRect">
              <a:avLst>
                <a:gd name="adj" fmla="val 15113"/>
              </a:avLst>
            </a:prstGeom>
            <a:solidFill>
              <a:srgbClr val="FDEEE7"/>
            </a:solidFill>
            <a:ln>
              <a:noFill/>
            </a:ln>
          </p:spPr>
        </p:sp>
        <p:grpSp>
          <p:nvGrpSpPr>
            <p:cNvPr id="29" name="Group 29"/>
            <p:cNvGrpSpPr/>
            <p:nvPr/>
          </p:nvGrpSpPr>
          <p:grpSpPr>
            <a:xfrm>
              <a:off x="738188" y="5209223"/>
              <a:ext cx="200026" cy="200025"/>
              <a:chOff x="738188" y="5209223"/>
              <a:chExt cx="200026" cy="200025"/>
            </a:xfrm>
          </p:grpSpPr>
          <p:sp>
            <p:nvSpPr>
              <p:cNvPr id="26" name="Freeform 26"/>
              <p:cNvSpPr/>
              <p:nvPr/>
            </p:nvSpPr>
            <p:spPr>
              <a:xfrm>
                <a:off x="738188" y="520922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27" name="Freeform 27"/>
              <p:cNvSpPr/>
              <p:nvPr/>
            </p:nvSpPr>
            <p:spPr>
              <a:xfrm>
                <a:off x="777926" y="525367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28" name="Freeform 28"/>
              <p:cNvSpPr/>
              <p:nvPr/>
            </p:nvSpPr>
            <p:spPr>
              <a:xfrm>
                <a:off x="812642" y="536479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0" name="TextBox 30"/>
            <p:cNvSpPr txBox="1"/>
            <p:nvPr/>
          </p:nvSpPr>
          <p:spPr>
            <a:xfrm>
              <a:off x="1040511" y="5079206"/>
              <a:ext cx="470331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结构化技术的三块内容分别对应需求分析（结构化分析）、</a:t>
              </a:r>
              <a:br/>
              <a:r>
                <a:rPr lang="zh-CN" sz="1420" dirty="0">
                  <a:solidFill>
                    <a:srgbClr val="C2410C"/>
                  </a:solidFill>
                  <a:latin typeface="+mn-lt"/>
                  <a:ea typeface="+mn-ea"/>
                  <a:cs typeface="+mn-cs"/>
                </a:rPr>
                <a:t>总体与详细设计（结构化设计）和编码（结构化实现）。</a:t>
              </a:r>
            </a:p>
          </p:txBody>
        </p:sp>
      </p:grpSp>
      <p:grpSp>
        <p:nvGrpSpPr>
          <p:cNvPr id="52" name="c2-compare-1"/>
          <p:cNvGrpSpPr/>
          <p:nvPr/>
        </p:nvGrpSpPr>
        <p:grpSpPr>
          <a:xfrm>
            <a:off x="6464618" y="1524000"/>
            <a:ext cx="5193982" cy="2156460"/>
            <a:chOff x="6464618" y="1524000"/>
            <a:chExt cx="5193982" cy="2156460"/>
          </a:xfrm>
        </p:grpSpPr>
        <p:sp>
          <p:nvSpPr>
            <p:cNvPr id="32" name="Rectangle 32"/>
            <p:cNvSpPr/>
            <p:nvPr/>
          </p:nvSpPr>
          <p:spPr>
            <a:xfrm>
              <a:off x="6464618" y="1524000"/>
              <a:ext cx="2425065" cy="2156460"/>
            </a:xfrm>
            <a:prstGeom prst="roundRect">
              <a:avLst>
                <a:gd name="adj" fmla="val 6184"/>
              </a:avLst>
            </a:prstGeom>
            <a:solidFill>
              <a:srgbClr val="FFFFFF"/>
            </a:solidFill>
            <a:ln w="14288">
              <a:solidFill>
                <a:srgbClr val="D9DFEA"/>
              </a:solidFill>
            </a:ln>
          </p:spPr>
        </p:sp>
        <p:sp>
          <p:nvSpPr>
            <p:cNvPr id="33" name="Rectangle 33"/>
            <p:cNvSpPr/>
            <p:nvPr/>
          </p:nvSpPr>
          <p:spPr>
            <a:xfrm>
              <a:off x="6474142" y="1657350"/>
              <a:ext cx="47625" cy="1889760"/>
            </a:xfrm>
            <a:prstGeom prst="roundRect">
              <a:avLst>
                <a:gd name="adj" fmla="val 50000"/>
              </a:avLst>
            </a:prstGeom>
            <a:solidFill>
              <a:srgbClr val="14A38B"/>
            </a:solidFill>
            <a:ln>
              <a:noFill/>
            </a:ln>
          </p:spPr>
        </p:sp>
        <p:sp>
          <p:nvSpPr>
            <p:cNvPr id="34" name="TextBox 34"/>
            <p:cNvSpPr txBox="1"/>
            <p:nvPr/>
          </p:nvSpPr>
          <p:spPr>
            <a:xfrm>
              <a:off x="6693598" y="1745456"/>
              <a:ext cx="39679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优点</a:t>
              </a:r>
            </a:p>
          </p:txBody>
        </p:sp>
        <p:sp>
          <p:nvSpPr>
            <p:cNvPr id="35" name="Ellipse 35"/>
            <p:cNvSpPr/>
            <p:nvPr/>
          </p:nvSpPr>
          <p:spPr>
            <a:xfrm>
              <a:off x="6708458" y="2141220"/>
              <a:ext cx="60960" cy="60960"/>
            </a:xfrm>
            <a:prstGeom prst="ellipse">
              <a:avLst/>
            </a:prstGeom>
            <a:solidFill>
              <a:srgbClr val="334E68"/>
            </a:solidFill>
            <a:ln>
              <a:noFill/>
            </a:ln>
          </p:spPr>
        </p:sp>
        <p:sp>
          <p:nvSpPr>
            <p:cNvPr id="36" name="TextBox 36"/>
            <p:cNvSpPr txBox="1"/>
            <p:nvPr/>
          </p:nvSpPr>
          <p:spPr>
            <a:xfrm>
              <a:off x="6865048" y="2081689"/>
              <a:ext cx="163753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分阶段降低了整个开</a:t>
              </a:r>
              <a:br/>
              <a:r>
                <a:rPr lang="zh-CN" sz="1420" dirty="0">
                  <a:solidFill>
                    <a:srgbClr val="1F2937"/>
                  </a:solidFill>
                  <a:latin typeface="+mn-lt"/>
                  <a:ea typeface="+mn-ea"/>
                  <a:cs typeface="+mn-cs"/>
                </a:rPr>
                <a:t>发过程的困难程度</a:t>
              </a:r>
            </a:p>
          </p:txBody>
        </p:sp>
        <p:sp>
          <p:nvSpPr>
            <p:cNvPr id="37" name="Ellipse 37"/>
            <p:cNvSpPr/>
            <p:nvPr/>
          </p:nvSpPr>
          <p:spPr>
            <a:xfrm>
              <a:off x="6708458" y="2730818"/>
              <a:ext cx="60960" cy="60960"/>
            </a:xfrm>
            <a:prstGeom prst="ellipse">
              <a:avLst/>
            </a:prstGeom>
            <a:solidFill>
              <a:srgbClr val="334E68"/>
            </a:solidFill>
            <a:ln>
              <a:noFill/>
            </a:ln>
          </p:spPr>
        </p:sp>
        <p:sp>
          <p:nvSpPr>
            <p:cNvPr id="38" name="TextBox 38"/>
            <p:cNvSpPr txBox="1"/>
            <p:nvPr/>
          </p:nvSpPr>
          <p:spPr>
            <a:xfrm>
              <a:off x="6865048" y="2670334"/>
              <a:ext cx="163753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阶段结束前的严格审</a:t>
              </a:r>
              <a:br/>
              <a:r>
                <a:rPr lang="zh-CN" sz="1420" dirty="0">
                  <a:solidFill>
                    <a:srgbClr val="1F2937"/>
                  </a:solidFill>
                  <a:latin typeface="+mn-lt"/>
                  <a:ea typeface="+mn-ea"/>
                  <a:cs typeface="+mn-cs"/>
                </a:rPr>
                <a:t>查保证了质量</a:t>
              </a:r>
            </a:p>
          </p:txBody>
        </p:sp>
        <p:sp>
          <p:nvSpPr>
            <p:cNvPr id="39" name="Ellipse 39"/>
            <p:cNvSpPr/>
            <p:nvPr/>
          </p:nvSpPr>
          <p:spPr>
            <a:xfrm>
              <a:off x="6708458" y="3319462"/>
              <a:ext cx="60960" cy="60960"/>
            </a:xfrm>
            <a:prstGeom prst="ellipse">
              <a:avLst/>
            </a:prstGeom>
            <a:solidFill>
              <a:srgbClr val="334E68"/>
            </a:solidFill>
            <a:ln>
              <a:noFill/>
            </a:ln>
          </p:spPr>
        </p:sp>
        <p:sp>
          <p:nvSpPr>
            <p:cNvPr id="40" name="TextBox 40"/>
            <p:cNvSpPr txBox="1"/>
            <p:nvPr/>
          </p:nvSpPr>
          <p:spPr>
            <a:xfrm>
              <a:off x="6865048" y="3259931"/>
              <a:ext cx="154376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可维护性因此提高</a:t>
              </a:r>
            </a:p>
          </p:txBody>
        </p:sp>
        <p:sp>
          <p:nvSpPr>
            <p:cNvPr id="41" name="Rectangle 41"/>
            <p:cNvSpPr/>
            <p:nvPr/>
          </p:nvSpPr>
          <p:spPr>
            <a:xfrm>
              <a:off x="9233535" y="1524000"/>
              <a:ext cx="2425065" cy="2156460"/>
            </a:xfrm>
            <a:prstGeom prst="roundRect">
              <a:avLst>
                <a:gd name="adj" fmla="val 6184"/>
              </a:avLst>
            </a:prstGeom>
            <a:solidFill>
              <a:srgbClr val="FFFFFF"/>
            </a:solidFill>
            <a:ln w="14288">
              <a:solidFill>
                <a:srgbClr val="D9DFEA"/>
              </a:solidFill>
            </a:ln>
          </p:spPr>
        </p:sp>
        <p:sp>
          <p:nvSpPr>
            <p:cNvPr id="42" name="Rectangle 42"/>
            <p:cNvSpPr/>
            <p:nvPr/>
          </p:nvSpPr>
          <p:spPr>
            <a:xfrm>
              <a:off x="9243060" y="1657350"/>
              <a:ext cx="47625" cy="1889760"/>
            </a:xfrm>
            <a:prstGeom prst="roundRect">
              <a:avLst>
                <a:gd name="adj" fmla="val 50000"/>
              </a:avLst>
            </a:prstGeom>
            <a:solidFill>
              <a:srgbClr val="B42318"/>
            </a:solidFill>
            <a:ln>
              <a:noFill/>
            </a:ln>
          </p:spPr>
        </p:sp>
        <p:sp>
          <p:nvSpPr>
            <p:cNvPr id="43" name="TextBox 43"/>
            <p:cNvSpPr txBox="1"/>
            <p:nvPr/>
          </p:nvSpPr>
          <p:spPr>
            <a:xfrm>
              <a:off x="9462516" y="1745456"/>
              <a:ext cx="97028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存在的问题</a:t>
              </a:r>
            </a:p>
          </p:txBody>
        </p:sp>
        <p:sp>
          <p:nvSpPr>
            <p:cNvPr id="44" name="Ellipse 44"/>
            <p:cNvSpPr/>
            <p:nvPr/>
          </p:nvSpPr>
          <p:spPr>
            <a:xfrm>
              <a:off x="9477375" y="2141220"/>
              <a:ext cx="60960" cy="60960"/>
            </a:xfrm>
            <a:prstGeom prst="ellipse">
              <a:avLst/>
            </a:prstGeom>
            <a:solidFill>
              <a:srgbClr val="334E68"/>
            </a:solidFill>
            <a:ln>
              <a:noFill/>
            </a:ln>
          </p:spPr>
        </p:sp>
        <p:sp>
          <p:nvSpPr>
            <p:cNvPr id="45" name="TextBox 45"/>
            <p:cNvSpPr txBox="1"/>
            <p:nvPr/>
          </p:nvSpPr>
          <p:spPr>
            <a:xfrm>
              <a:off x="9633966" y="2081689"/>
              <a:ext cx="163753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软件规模庞大时往往</a:t>
              </a:r>
              <a:br/>
              <a:r>
                <a:rPr lang="zh-CN" sz="1420" dirty="0">
                  <a:solidFill>
                    <a:srgbClr val="1F2937"/>
                  </a:solidFill>
                  <a:latin typeface="+mn-lt"/>
                  <a:ea typeface="+mn-ea"/>
                  <a:cs typeface="+mn-cs"/>
                </a:rPr>
                <a:t>不成功</a:t>
              </a:r>
            </a:p>
          </p:txBody>
        </p:sp>
        <p:sp>
          <p:nvSpPr>
            <p:cNvPr id="46" name="Ellipse 46"/>
            <p:cNvSpPr/>
            <p:nvPr/>
          </p:nvSpPr>
          <p:spPr>
            <a:xfrm>
              <a:off x="9477375" y="2730818"/>
              <a:ext cx="60960" cy="60960"/>
            </a:xfrm>
            <a:prstGeom prst="ellipse">
              <a:avLst/>
            </a:prstGeom>
            <a:solidFill>
              <a:srgbClr val="334E68"/>
            </a:solidFill>
            <a:ln>
              <a:noFill/>
            </a:ln>
          </p:spPr>
        </p:sp>
        <p:sp>
          <p:nvSpPr>
            <p:cNvPr id="47" name="TextBox 47"/>
            <p:cNvSpPr txBox="1"/>
            <p:nvPr/>
          </p:nvSpPr>
          <p:spPr>
            <a:xfrm>
              <a:off x="9633966" y="2670334"/>
              <a:ext cx="163753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需求模糊或随时间变</a:t>
              </a:r>
              <a:br/>
              <a:r>
                <a:rPr lang="zh-CN" sz="1420" dirty="0">
                  <a:solidFill>
                    <a:srgbClr val="1F2937"/>
                  </a:solidFill>
                  <a:latin typeface="+mn-lt"/>
                  <a:ea typeface="+mn-ea"/>
                  <a:cs typeface="+mn-cs"/>
                </a:rPr>
                <a:t>化时也不成功</a:t>
              </a:r>
            </a:p>
          </p:txBody>
        </p:sp>
        <p:sp>
          <p:nvSpPr>
            <p:cNvPr id="48" name="Ellipse 48"/>
            <p:cNvSpPr/>
            <p:nvPr/>
          </p:nvSpPr>
          <p:spPr>
            <a:xfrm>
              <a:off x="9477375" y="3319462"/>
              <a:ext cx="60960" cy="60960"/>
            </a:xfrm>
            <a:prstGeom prst="ellipse">
              <a:avLst/>
            </a:prstGeom>
            <a:solidFill>
              <a:srgbClr val="334E68"/>
            </a:solidFill>
            <a:ln>
              <a:noFill/>
            </a:ln>
          </p:spPr>
        </p:sp>
        <p:sp>
          <p:nvSpPr>
            <p:cNvPr id="49" name="TextBox 49"/>
            <p:cNvSpPr txBox="1"/>
            <p:nvPr/>
          </p:nvSpPr>
          <p:spPr>
            <a:xfrm>
              <a:off x="9633966" y="3259931"/>
              <a:ext cx="173492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维护起来仍然很困难</a:t>
              </a:r>
            </a:p>
          </p:txBody>
        </p:sp>
        <p:sp>
          <p:nvSpPr>
            <p:cNvPr id="50" name="Ellipse 50"/>
            <p:cNvSpPr/>
            <p:nvPr/>
          </p:nvSpPr>
          <p:spPr>
            <a:xfrm>
              <a:off x="8900160" y="2440305"/>
              <a:ext cx="323850" cy="323850"/>
            </a:xfrm>
            <a:prstGeom prst="ellipse">
              <a:avLst/>
            </a:prstGeom>
            <a:solidFill>
              <a:srgbClr val="F26B3A"/>
            </a:solidFill>
            <a:ln>
              <a:noFill/>
            </a:ln>
          </p:spPr>
        </p:sp>
        <p:sp>
          <p:nvSpPr>
            <p:cNvPr id="51" name="TextBox 51"/>
            <p:cNvSpPr txBox="1"/>
            <p:nvPr/>
          </p:nvSpPr>
          <p:spPr>
            <a:xfrm>
              <a:off x="8970500" y="2536508"/>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58" name="c2-card-2"/>
          <p:cNvGrpSpPr/>
          <p:nvPr/>
        </p:nvGrpSpPr>
        <p:grpSpPr>
          <a:xfrm>
            <a:off x="6464618" y="3860482"/>
            <a:ext cx="5193982" cy="1826895"/>
            <a:chOff x="6464618" y="3860482"/>
            <a:chExt cx="5193982" cy="1826895"/>
          </a:xfrm>
        </p:grpSpPr>
        <p:sp>
          <p:nvSpPr>
            <p:cNvPr id="53" name="Rectangle 53"/>
            <p:cNvSpPr/>
            <p:nvPr/>
          </p:nvSpPr>
          <p:spPr>
            <a:xfrm>
              <a:off x="6464618" y="3860482"/>
              <a:ext cx="5193982" cy="1826895"/>
            </a:xfrm>
            <a:prstGeom prst="roundRect">
              <a:avLst>
                <a:gd name="adj" fmla="val 7299"/>
              </a:avLst>
            </a:prstGeom>
            <a:solidFill>
              <a:srgbClr val="FFFFFF"/>
            </a:solidFill>
            <a:ln w="14288">
              <a:solidFill>
                <a:srgbClr val="D9DFEA"/>
              </a:solidFill>
            </a:ln>
          </p:spPr>
        </p:sp>
        <p:sp>
          <p:nvSpPr>
            <p:cNvPr id="54" name="Rectangle 54"/>
            <p:cNvSpPr/>
            <p:nvPr/>
          </p:nvSpPr>
          <p:spPr>
            <a:xfrm>
              <a:off x="6474142" y="3993832"/>
              <a:ext cx="47625" cy="1560195"/>
            </a:xfrm>
            <a:prstGeom prst="roundRect">
              <a:avLst>
                <a:gd name="adj" fmla="val 50000"/>
              </a:avLst>
            </a:prstGeom>
            <a:solidFill>
              <a:srgbClr val="B42318"/>
            </a:solidFill>
            <a:ln>
              <a:noFill/>
            </a:ln>
          </p:spPr>
        </p:sp>
        <p:sp>
          <p:nvSpPr>
            <p:cNvPr id="55" name="Rectangle 55"/>
            <p:cNvSpPr/>
            <p:nvPr/>
          </p:nvSpPr>
          <p:spPr>
            <a:xfrm>
              <a:off x="6700838" y="4058602"/>
              <a:ext cx="876300" cy="247650"/>
            </a:xfrm>
            <a:prstGeom prst="roundRect">
              <a:avLst>
                <a:gd name="adj" fmla="val 50000"/>
              </a:avLst>
            </a:prstGeom>
            <a:solidFill>
              <a:srgbClr val="FDECEA"/>
            </a:solidFill>
            <a:ln>
              <a:noFill/>
            </a:ln>
          </p:spPr>
        </p:sp>
        <p:sp>
          <p:nvSpPr>
            <p:cNvPr id="56" name="TextBox 56"/>
            <p:cNvSpPr txBox="1"/>
            <p:nvPr/>
          </p:nvSpPr>
          <p:spPr>
            <a:xfrm>
              <a:off x="6780276" y="4092893"/>
              <a:ext cx="717423"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问题的原因</a:t>
              </a:r>
            </a:p>
          </p:txBody>
        </p:sp>
        <p:sp>
          <p:nvSpPr>
            <p:cNvPr id="57" name="TextBox 57"/>
            <p:cNvSpPr txBox="1"/>
            <p:nvPr/>
          </p:nvSpPr>
          <p:spPr>
            <a:xfrm>
              <a:off x="6693598" y="4419124"/>
              <a:ext cx="452297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传统方法学把原本密切相关的</a:t>
              </a:r>
              <a:r>
                <a:rPr lang="zh-CN" sz="1420" b="1" dirty="0">
                  <a:solidFill>
                    <a:srgbClr val="C2410C"/>
                  </a:solidFill>
                  <a:latin typeface="+mn-lt"/>
                  <a:ea typeface="+mn-ea"/>
                  <a:cs typeface="+mn-cs"/>
                </a:rPr>
                <a:t>数据和操作</a:t>
              </a:r>
              <a:r>
                <a:rPr lang="zh-CN" sz="1420" dirty="0">
                  <a:solidFill>
                    <a:srgbClr val="1F2937"/>
                  </a:solidFill>
                  <a:latin typeface="+mn-lt"/>
                  <a:ea typeface="+mn-ea"/>
                  <a:cs typeface="+mn-cs"/>
                </a:rPr>
                <a:t>人为地分离成了</a:t>
              </a:r>
              <a:br/>
              <a:r>
                <a:rPr lang="zh-CN" sz="1420" dirty="0">
                  <a:solidFill>
                    <a:srgbClr val="1F2937"/>
                  </a:solidFill>
                  <a:latin typeface="+mn-lt"/>
                  <a:ea typeface="+mn-ea"/>
                  <a:cs typeface="+mn-cs"/>
                </a:rPr>
                <a:t>两个独立的部分，数据结构一变，用到它的所有程序都要</a:t>
              </a:r>
              <a:br/>
              <a:r>
                <a:rPr lang="zh-CN" sz="1420" dirty="0">
                  <a:solidFill>
                    <a:srgbClr val="1F2937"/>
                  </a:solidFill>
                  <a:latin typeface="+mn-lt"/>
                  <a:ea typeface="+mn-ea"/>
                  <a:cs typeface="+mn-cs"/>
                </a:rPr>
                <a:t>跟着改，增加了开发与维护的难度。</a:t>
              </a:r>
            </a:p>
          </p:txBody>
        </p:sp>
      </p:grpSp>
      <p:grpSp>
        <p:nvGrpSpPr>
          <p:cNvPr id="61" name="footer"/>
          <p:cNvGrpSpPr/>
          <p:nvPr/>
        </p:nvGrpSpPr>
        <p:grpSpPr>
          <a:xfrm>
            <a:off x="528447" y="6581299"/>
            <a:ext cx="11135106" cy="190690"/>
            <a:chOff x="528447" y="6581299"/>
            <a:chExt cx="11135106" cy="190690"/>
          </a:xfrm>
        </p:grpSpPr>
        <p:sp>
          <p:nvSpPr>
            <p:cNvPr id="59" name="TextBox 59"/>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0" name="TextBox 6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软件工程</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面向对象方法学：把数据和操作封装在一起</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5" name="c1-card-1"/>
          <p:cNvGrpSpPr/>
          <p:nvPr/>
        </p:nvGrpSpPr>
        <p:grpSpPr>
          <a:xfrm>
            <a:off x="533400" y="1524000"/>
            <a:ext cx="5626418" cy="3083242"/>
            <a:chOff x="533400" y="1524000"/>
            <a:chExt cx="5626418" cy="3083242"/>
          </a:xfrm>
        </p:grpSpPr>
        <p:sp>
          <p:nvSpPr>
            <p:cNvPr id="7" name="Rectangle 7"/>
            <p:cNvSpPr/>
            <p:nvPr/>
          </p:nvSpPr>
          <p:spPr>
            <a:xfrm>
              <a:off x="533400" y="1524000"/>
              <a:ext cx="5626418" cy="3083242"/>
            </a:xfrm>
            <a:prstGeom prst="roundRect">
              <a:avLst>
                <a:gd name="adj" fmla="val 4325"/>
              </a:avLst>
            </a:prstGeom>
            <a:solidFill>
              <a:srgbClr val="FFFFFF"/>
            </a:solidFill>
            <a:ln w="14288">
              <a:solidFill>
                <a:srgbClr val="D9DFEA"/>
              </a:solidFill>
            </a:ln>
          </p:spPr>
        </p:sp>
        <p:sp>
          <p:nvSpPr>
            <p:cNvPr id="8" name="Rectangle 8"/>
            <p:cNvSpPr/>
            <p:nvPr/>
          </p:nvSpPr>
          <p:spPr>
            <a:xfrm>
              <a:off x="542925" y="1657350"/>
              <a:ext cx="47625" cy="2816542"/>
            </a:xfrm>
            <a:prstGeom prst="roundRect">
              <a:avLst>
                <a:gd name="adj" fmla="val 50000"/>
              </a:avLst>
            </a:prstGeom>
            <a:solidFill>
              <a:srgbClr val="334E68"/>
            </a:solidFill>
            <a:ln>
              <a:noFill/>
            </a:ln>
          </p:spPr>
        </p:sp>
        <p:sp>
          <p:nvSpPr>
            <p:cNvPr id="9" name="Rectangle 9"/>
            <p:cNvSpPr/>
            <p:nvPr/>
          </p:nvSpPr>
          <p:spPr>
            <a:xfrm>
              <a:off x="769620" y="1722120"/>
              <a:ext cx="476250" cy="247650"/>
            </a:xfrm>
            <a:prstGeom prst="roundRect">
              <a:avLst>
                <a:gd name="adj" fmla="val 50000"/>
              </a:avLst>
            </a:prstGeom>
            <a:solidFill>
              <a:srgbClr val="E7EDF3"/>
            </a:solidFill>
            <a:ln>
              <a:noFill/>
            </a:ln>
          </p:spPr>
        </p:sp>
        <p:sp>
          <p:nvSpPr>
            <p:cNvPr id="10" name="TextBox 10"/>
            <p:cNvSpPr txBox="1"/>
            <p:nvPr/>
          </p:nvSpPr>
          <p:spPr>
            <a:xfrm>
              <a:off x="861060" y="1756410"/>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定义</a:t>
              </a:r>
            </a:p>
          </p:txBody>
        </p:sp>
        <p:sp>
          <p:nvSpPr>
            <p:cNvPr id="11" name="TextBox 11"/>
            <p:cNvSpPr txBox="1"/>
            <p:nvPr/>
          </p:nvSpPr>
          <p:spPr>
            <a:xfrm>
              <a:off x="1352931" y="1756886"/>
              <a:ext cx="135260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面向对象方法学</a:t>
              </a:r>
            </a:p>
          </p:txBody>
        </p:sp>
        <p:sp>
          <p:nvSpPr>
            <p:cNvPr id="12" name="TextBox 12"/>
            <p:cNvSpPr txBox="1"/>
            <p:nvPr/>
          </p:nvSpPr>
          <p:spPr>
            <a:xfrm>
              <a:off x="762381" y="2100739"/>
              <a:ext cx="488365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面向对象方法学是一种以数据为主线，把数据和对数据的操作</a:t>
              </a:r>
              <a:br/>
              <a:r>
                <a:rPr lang="zh-CN" sz="1420" dirty="0">
                  <a:solidFill>
                    <a:srgbClr val="1F2937"/>
                  </a:solidFill>
                  <a:latin typeface="+mn-lt"/>
                  <a:ea typeface="+mn-ea"/>
                  <a:cs typeface="+mn-cs"/>
                </a:rPr>
                <a:t>紧密地结合起来的方法。</a:t>
              </a:r>
            </a:p>
          </p:txBody>
        </p:sp>
        <p:sp>
          <p:nvSpPr>
            <p:cNvPr id="13" name="Ellipse 13"/>
            <p:cNvSpPr/>
            <p:nvPr/>
          </p:nvSpPr>
          <p:spPr>
            <a:xfrm>
              <a:off x="769620" y="2677477"/>
              <a:ext cx="201930" cy="201930"/>
            </a:xfrm>
            <a:prstGeom prst="ellipse">
              <a:avLst/>
            </a:prstGeom>
            <a:solidFill>
              <a:srgbClr val="334E68"/>
            </a:solidFill>
            <a:ln>
              <a:noFill/>
            </a:ln>
          </p:spPr>
        </p:sp>
        <p:sp>
          <p:nvSpPr>
            <p:cNvPr id="14" name="TextBox 14"/>
            <p:cNvSpPr txBox="1"/>
            <p:nvPr/>
          </p:nvSpPr>
          <p:spPr>
            <a:xfrm>
              <a:off x="827965" y="271781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15" name="TextBox 15"/>
            <p:cNvSpPr txBox="1"/>
            <p:nvPr/>
          </p:nvSpPr>
          <p:spPr>
            <a:xfrm>
              <a:off x="1060514" y="2690336"/>
              <a:ext cx="470331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把对象作为融合了数据及在数据上的操作行为的统一的软件</a:t>
              </a:r>
              <a:br/>
              <a:r>
                <a:rPr lang="zh-CN" sz="1420" dirty="0">
                  <a:solidFill>
                    <a:srgbClr val="1F2937"/>
                  </a:solidFill>
                  <a:latin typeface="+mn-lt"/>
                  <a:ea typeface="+mn-ea"/>
                  <a:cs typeface="+mn-cs"/>
                </a:rPr>
                <a:t>构件</a:t>
              </a:r>
            </a:p>
          </p:txBody>
        </p:sp>
        <p:sp>
          <p:nvSpPr>
            <p:cNvPr id="16" name="Ellipse 16"/>
            <p:cNvSpPr/>
            <p:nvPr/>
          </p:nvSpPr>
          <p:spPr>
            <a:xfrm>
              <a:off x="769620" y="3267075"/>
              <a:ext cx="201930" cy="201930"/>
            </a:xfrm>
            <a:prstGeom prst="ellipse">
              <a:avLst/>
            </a:prstGeom>
            <a:solidFill>
              <a:srgbClr val="334E68"/>
            </a:solidFill>
            <a:ln>
              <a:noFill/>
            </a:ln>
          </p:spPr>
        </p:sp>
        <p:sp>
          <p:nvSpPr>
            <p:cNvPr id="17" name="TextBox 17"/>
            <p:cNvSpPr txBox="1"/>
            <p:nvPr/>
          </p:nvSpPr>
          <p:spPr>
            <a:xfrm>
              <a:off x="827965" y="330646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18" name="TextBox 18"/>
            <p:cNvSpPr txBox="1"/>
            <p:nvPr/>
          </p:nvSpPr>
          <p:spPr>
            <a:xfrm>
              <a:off x="1060514" y="3278981"/>
              <a:ext cx="192608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把所有对象都划分成类</a:t>
              </a:r>
            </a:p>
          </p:txBody>
        </p:sp>
        <p:sp>
          <p:nvSpPr>
            <p:cNvPr id="19" name="Ellipse 19"/>
            <p:cNvSpPr/>
            <p:nvPr/>
          </p:nvSpPr>
          <p:spPr>
            <a:xfrm>
              <a:off x="769620" y="3584257"/>
              <a:ext cx="201930" cy="201930"/>
            </a:xfrm>
            <a:prstGeom prst="ellipse">
              <a:avLst/>
            </a:prstGeom>
            <a:solidFill>
              <a:srgbClr val="334E68"/>
            </a:solidFill>
            <a:ln>
              <a:noFill/>
            </a:ln>
          </p:spPr>
        </p:sp>
        <p:sp>
          <p:nvSpPr>
            <p:cNvPr id="20" name="TextBox 20"/>
            <p:cNvSpPr txBox="1"/>
            <p:nvPr/>
          </p:nvSpPr>
          <p:spPr>
            <a:xfrm>
              <a:off x="827965" y="362459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21" name="TextBox 21"/>
            <p:cNvSpPr txBox="1"/>
            <p:nvPr/>
          </p:nvSpPr>
          <p:spPr>
            <a:xfrm>
              <a:off x="1060514" y="3597116"/>
              <a:ext cx="470331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按照父类与子类的关系，把若干个相关类组成一个类层次结</a:t>
              </a:r>
              <a:br/>
              <a:r>
                <a:rPr lang="zh-CN" sz="1420" dirty="0">
                  <a:solidFill>
                    <a:srgbClr val="1F2937"/>
                  </a:solidFill>
                  <a:latin typeface="+mn-lt"/>
                  <a:ea typeface="+mn-ea"/>
                  <a:cs typeface="+mn-cs"/>
                </a:rPr>
                <a:t>构，位于下层的类继承上层中某类的特点</a:t>
              </a:r>
            </a:p>
          </p:txBody>
        </p:sp>
        <p:sp>
          <p:nvSpPr>
            <p:cNvPr id="22" name="Ellipse 22"/>
            <p:cNvSpPr/>
            <p:nvPr/>
          </p:nvSpPr>
          <p:spPr>
            <a:xfrm>
              <a:off x="769620" y="4173855"/>
              <a:ext cx="201930" cy="201930"/>
            </a:xfrm>
            <a:prstGeom prst="ellipse">
              <a:avLst/>
            </a:prstGeom>
            <a:solidFill>
              <a:srgbClr val="334E68"/>
            </a:solidFill>
            <a:ln>
              <a:noFill/>
            </a:ln>
          </p:spPr>
        </p:sp>
        <p:sp>
          <p:nvSpPr>
            <p:cNvPr id="23" name="TextBox 23"/>
            <p:cNvSpPr txBox="1"/>
            <p:nvPr/>
          </p:nvSpPr>
          <p:spPr>
            <a:xfrm>
              <a:off x="827965" y="4214193"/>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4</a:t>
              </a:r>
            </a:p>
          </p:txBody>
        </p:sp>
        <p:sp>
          <p:nvSpPr>
            <p:cNvPr id="24" name="TextBox 24"/>
            <p:cNvSpPr txBox="1"/>
            <p:nvPr/>
          </p:nvSpPr>
          <p:spPr>
            <a:xfrm>
              <a:off x="1060514" y="4185761"/>
              <a:ext cx="326420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对象彼此间仅能通过发送消息互相联系</a:t>
              </a:r>
            </a:p>
          </p:txBody>
        </p:sp>
      </p:grpSp>
      <p:grpSp>
        <p:nvGrpSpPr>
          <p:cNvPr id="31" name="c1-callout-2"/>
          <p:cNvGrpSpPr/>
          <p:nvPr/>
        </p:nvGrpSpPr>
        <p:grpSpPr>
          <a:xfrm>
            <a:off x="533400" y="4787265"/>
            <a:ext cx="5626418" cy="585788"/>
            <a:chOff x="533400" y="4787265"/>
            <a:chExt cx="5626418" cy="585788"/>
          </a:xfrm>
        </p:grpSpPr>
        <p:sp>
          <p:nvSpPr>
            <p:cNvPr id="26" name="Rectangle 26"/>
            <p:cNvSpPr/>
            <p:nvPr/>
          </p:nvSpPr>
          <p:spPr>
            <a:xfrm>
              <a:off x="533400" y="4787265"/>
              <a:ext cx="5626418" cy="585788"/>
            </a:xfrm>
            <a:prstGeom prst="roundRect">
              <a:avLst>
                <a:gd name="adj" fmla="val 19512"/>
              </a:avLst>
            </a:prstGeom>
            <a:solidFill>
              <a:srgbClr val="334E68"/>
            </a:solidFill>
            <a:ln>
              <a:noFill/>
            </a:ln>
          </p:spPr>
        </p:sp>
        <p:grpSp>
          <p:nvGrpSpPr>
            <p:cNvPr id="29" name="Group 29"/>
            <p:cNvGrpSpPr/>
            <p:nvPr/>
          </p:nvGrpSpPr>
          <p:grpSpPr>
            <a:xfrm>
              <a:off x="738188" y="4979672"/>
              <a:ext cx="200023" cy="200023"/>
              <a:chOff x="738188" y="4979672"/>
              <a:chExt cx="200023" cy="200023"/>
            </a:xfrm>
          </p:grpSpPr>
          <p:sp>
            <p:nvSpPr>
              <p:cNvPr id="27" name="Freeform 27"/>
              <p:cNvSpPr/>
              <p:nvPr/>
            </p:nvSpPr>
            <p:spPr>
              <a:xfrm>
                <a:off x="738188" y="497967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8" name="Freeform 28"/>
              <p:cNvSpPr/>
              <p:nvPr/>
            </p:nvSpPr>
            <p:spPr>
              <a:xfrm>
                <a:off x="871538" y="504634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0" name="TextBox 30"/>
            <p:cNvSpPr txBox="1"/>
            <p:nvPr/>
          </p:nvSpPr>
          <p:spPr>
            <a:xfrm>
              <a:off x="1040511" y="4980146"/>
              <a:ext cx="2996580"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面向对象 = 对象 + 类 + 继承 + 通信</a:t>
              </a:r>
            </a:p>
          </p:txBody>
        </p:sp>
      </p:grpSp>
      <p:grpSp>
        <p:nvGrpSpPr>
          <p:cNvPr id="41" name="c2-bullets-1"/>
          <p:cNvGrpSpPr/>
          <p:nvPr/>
        </p:nvGrpSpPr>
        <p:grpSpPr>
          <a:xfrm>
            <a:off x="6457379" y="1547336"/>
            <a:ext cx="2751022" cy="1595057"/>
            <a:chOff x="6457379" y="1547336"/>
            <a:chExt cx="2751022" cy="1595057"/>
          </a:xfrm>
        </p:grpSpPr>
        <p:sp>
          <p:nvSpPr>
            <p:cNvPr id="32" name="TextBox 32"/>
            <p:cNvSpPr txBox="1"/>
            <p:nvPr/>
          </p:nvSpPr>
          <p:spPr>
            <a:xfrm>
              <a:off x="6457379" y="1547336"/>
              <a:ext cx="1926082"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面向对象方法学的优点</a:t>
              </a:r>
            </a:p>
          </p:txBody>
        </p:sp>
        <p:sp>
          <p:nvSpPr>
            <p:cNvPr id="33" name="Freeform 33"/>
            <p:cNvSpPr/>
            <p:nvPr/>
          </p:nvSpPr>
          <p:spPr>
            <a:xfrm>
              <a:off x="6464618" y="1913572"/>
              <a:ext cx="137160" cy="110490"/>
            </a:xfrm>
            <a:custGeom>
              <a:avLst/>
              <a:gdLst/>
              <a:ahLst/>
              <a:cxnLst/>
              <a:rect l="l" t="t" r="r" b="b"/>
              <a:pathLst>
                <a:path w="137160" h="110490">
                  <a:moveTo>
                    <a:pt x="0" y="58102"/>
                  </a:moveTo>
                  <a:lnTo>
                    <a:pt x="52388" y="110490"/>
                  </a:lnTo>
                  <a:lnTo>
                    <a:pt x="137160" y="0"/>
                  </a:lnTo>
                </a:path>
              </a:pathLst>
            </a:custGeom>
            <a:noFill/>
            <a:ln w="24765" cap="rnd">
              <a:solidFill>
                <a:srgbClr val="14A38B"/>
              </a:solidFill>
              <a:round/>
            </a:ln>
          </p:spPr>
        </p:sp>
        <p:sp>
          <p:nvSpPr>
            <p:cNvPr id="34" name="TextBox 34"/>
            <p:cNvSpPr txBox="1"/>
            <p:nvPr/>
          </p:nvSpPr>
          <p:spPr>
            <a:xfrm>
              <a:off x="6708838" y="1883569"/>
              <a:ext cx="211724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降低了软件产品的复杂性</a:t>
              </a:r>
            </a:p>
          </p:txBody>
        </p:sp>
        <p:sp>
          <p:nvSpPr>
            <p:cNvPr id="35" name="Freeform 35"/>
            <p:cNvSpPr/>
            <p:nvPr/>
          </p:nvSpPr>
          <p:spPr>
            <a:xfrm>
              <a:off x="6464618" y="2240280"/>
              <a:ext cx="137160" cy="110490"/>
            </a:xfrm>
            <a:custGeom>
              <a:avLst/>
              <a:gdLst/>
              <a:ahLst/>
              <a:cxnLst/>
              <a:rect l="l" t="t" r="r" b="b"/>
              <a:pathLst>
                <a:path w="137160" h="110490">
                  <a:moveTo>
                    <a:pt x="0" y="58103"/>
                  </a:moveTo>
                  <a:lnTo>
                    <a:pt x="52388" y="110490"/>
                  </a:lnTo>
                  <a:lnTo>
                    <a:pt x="137160" y="0"/>
                  </a:lnTo>
                </a:path>
              </a:pathLst>
            </a:custGeom>
            <a:noFill/>
            <a:ln w="24765" cap="rnd">
              <a:solidFill>
                <a:srgbClr val="14A38B"/>
              </a:solidFill>
              <a:round/>
            </a:ln>
          </p:spPr>
        </p:sp>
        <p:sp>
          <p:nvSpPr>
            <p:cNvPr id="36" name="TextBox 36"/>
            <p:cNvSpPr txBox="1"/>
            <p:nvPr/>
          </p:nvSpPr>
          <p:spPr>
            <a:xfrm>
              <a:off x="6708838" y="2210276"/>
              <a:ext cx="192608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提高了软件的可理解性</a:t>
              </a:r>
            </a:p>
          </p:txBody>
        </p:sp>
        <p:sp>
          <p:nvSpPr>
            <p:cNvPr id="37" name="Freeform 37"/>
            <p:cNvSpPr/>
            <p:nvPr/>
          </p:nvSpPr>
          <p:spPr>
            <a:xfrm>
              <a:off x="6464618" y="2566988"/>
              <a:ext cx="137160" cy="110490"/>
            </a:xfrm>
            <a:custGeom>
              <a:avLst/>
              <a:gdLst/>
              <a:ahLst/>
              <a:cxnLst/>
              <a:rect l="l" t="t" r="r" b="b"/>
              <a:pathLst>
                <a:path w="137160" h="110490">
                  <a:moveTo>
                    <a:pt x="0" y="58103"/>
                  </a:moveTo>
                  <a:lnTo>
                    <a:pt x="52388" y="110490"/>
                  </a:lnTo>
                  <a:lnTo>
                    <a:pt x="137160" y="0"/>
                  </a:lnTo>
                </a:path>
              </a:pathLst>
            </a:custGeom>
            <a:noFill/>
            <a:ln w="24765" cap="rnd">
              <a:solidFill>
                <a:srgbClr val="14A38B"/>
              </a:solidFill>
              <a:round/>
            </a:ln>
          </p:spPr>
        </p:sp>
        <p:sp>
          <p:nvSpPr>
            <p:cNvPr id="38" name="TextBox 38"/>
            <p:cNvSpPr txBox="1"/>
            <p:nvPr/>
          </p:nvSpPr>
          <p:spPr>
            <a:xfrm>
              <a:off x="6708838" y="2536984"/>
              <a:ext cx="249956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简化了软件的开发和维护工作</a:t>
              </a:r>
            </a:p>
          </p:txBody>
        </p:sp>
        <p:sp>
          <p:nvSpPr>
            <p:cNvPr id="39" name="Freeform 39"/>
            <p:cNvSpPr/>
            <p:nvPr/>
          </p:nvSpPr>
          <p:spPr>
            <a:xfrm>
              <a:off x="6464618" y="2893695"/>
              <a:ext cx="137160" cy="110490"/>
            </a:xfrm>
            <a:custGeom>
              <a:avLst/>
              <a:gdLst/>
              <a:ahLst/>
              <a:cxnLst/>
              <a:rect l="l" t="t" r="r" b="b"/>
              <a:pathLst>
                <a:path w="137160" h="110490">
                  <a:moveTo>
                    <a:pt x="0" y="58102"/>
                  </a:moveTo>
                  <a:lnTo>
                    <a:pt x="52388" y="110490"/>
                  </a:lnTo>
                  <a:lnTo>
                    <a:pt x="137160" y="0"/>
                  </a:lnTo>
                </a:path>
              </a:pathLst>
            </a:custGeom>
            <a:noFill/>
            <a:ln w="24765" cap="rnd">
              <a:solidFill>
                <a:srgbClr val="14A38B"/>
              </a:solidFill>
              <a:round/>
            </a:ln>
          </p:spPr>
        </p:sp>
        <p:sp>
          <p:nvSpPr>
            <p:cNvPr id="40" name="TextBox 40"/>
            <p:cNvSpPr txBox="1"/>
            <p:nvPr/>
          </p:nvSpPr>
          <p:spPr>
            <a:xfrm>
              <a:off x="6708838" y="2863691"/>
              <a:ext cx="135260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促进了软件重用</a:t>
              </a:r>
            </a:p>
          </p:txBody>
        </p:sp>
      </p:grpSp>
      <p:grpSp>
        <p:nvGrpSpPr>
          <p:cNvPr id="61" name="c2-table-2"/>
          <p:cNvGrpSpPr/>
          <p:nvPr/>
        </p:nvGrpSpPr>
        <p:grpSpPr>
          <a:xfrm>
            <a:off x="6464618" y="3266122"/>
            <a:ext cx="5193982" cy="2106930"/>
            <a:chOff x="6464618" y="3266122"/>
            <a:chExt cx="5193982" cy="2106930"/>
          </a:xfrm>
        </p:grpSpPr>
        <p:sp>
          <p:nvSpPr>
            <p:cNvPr id="42" name="Rectangle 42"/>
            <p:cNvSpPr/>
            <p:nvPr/>
          </p:nvSpPr>
          <p:spPr>
            <a:xfrm>
              <a:off x="6464618" y="3266122"/>
              <a:ext cx="5193982" cy="462915"/>
            </a:xfrm>
            <a:prstGeom prst="rect">
              <a:avLst/>
            </a:prstGeom>
            <a:solidFill>
              <a:srgbClr val="334E68"/>
            </a:solidFill>
            <a:ln>
              <a:noFill/>
            </a:ln>
          </p:spPr>
        </p:sp>
        <p:sp>
          <p:nvSpPr>
            <p:cNvPr id="43" name="TextBox 43"/>
            <p:cNvSpPr txBox="1"/>
            <p:nvPr/>
          </p:nvSpPr>
          <p:spPr>
            <a:xfrm>
              <a:off x="6794525" y="3398044"/>
              <a:ext cx="587959"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对比项</a:t>
              </a:r>
            </a:p>
          </p:txBody>
        </p:sp>
        <p:sp>
          <p:nvSpPr>
            <p:cNvPr id="44" name="TextBox 44"/>
            <p:cNvSpPr txBox="1"/>
            <p:nvPr/>
          </p:nvSpPr>
          <p:spPr>
            <a:xfrm>
              <a:off x="8213090" y="3398044"/>
              <a:ext cx="970280"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传统方法学</a:t>
              </a:r>
            </a:p>
          </p:txBody>
        </p:sp>
        <p:sp>
          <p:nvSpPr>
            <p:cNvPr id="45" name="TextBox 45"/>
            <p:cNvSpPr txBox="1"/>
            <p:nvPr/>
          </p:nvSpPr>
          <p:spPr>
            <a:xfrm>
              <a:off x="9995510" y="3398044"/>
              <a:ext cx="1352601"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面向对象方法学</a:t>
              </a:r>
            </a:p>
          </p:txBody>
        </p:sp>
        <p:sp>
          <p:nvSpPr>
            <p:cNvPr id="46" name="TextBox 46"/>
            <p:cNvSpPr txBox="1"/>
            <p:nvPr/>
          </p:nvSpPr>
          <p:spPr>
            <a:xfrm>
              <a:off x="6565964" y="3861911"/>
              <a:ext cx="39679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主线</a:t>
              </a:r>
            </a:p>
          </p:txBody>
        </p:sp>
        <p:sp>
          <p:nvSpPr>
            <p:cNvPr id="47" name="TextBox 47"/>
            <p:cNvSpPr txBox="1"/>
            <p:nvPr/>
          </p:nvSpPr>
          <p:spPr>
            <a:xfrm>
              <a:off x="7812786" y="3861911"/>
              <a:ext cx="154376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以功能分解为主线</a:t>
              </a:r>
            </a:p>
          </p:txBody>
        </p:sp>
        <p:sp>
          <p:nvSpPr>
            <p:cNvPr id="48" name="TextBox 48"/>
            <p:cNvSpPr txBox="1"/>
            <p:nvPr/>
          </p:nvSpPr>
          <p:spPr>
            <a:xfrm>
              <a:off x="9786366" y="3861911"/>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以数据为主线</a:t>
              </a:r>
            </a:p>
          </p:txBody>
        </p:sp>
        <p:sp>
          <p:nvSpPr>
            <p:cNvPr id="49" name="Rectangle 49"/>
            <p:cNvSpPr/>
            <p:nvPr/>
          </p:nvSpPr>
          <p:spPr>
            <a:xfrm>
              <a:off x="6464618" y="4188142"/>
              <a:ext cx="5193982" cy="9525"/>
            </a:xfrm>
            <a:prstGeom prst="rect">
              <a:avLst/>
            </a:prstGeom>
            <a:solidFill>
              <a:srgbClr val="D9DFEA"/>
            </a:solidFill>
            <a:ln>
              <a:noFill/>
            </a:ln>
          </p:spPr>
        </p:sp>
        <p:sp>
          <p:nvSpPr>
            <p:cNvPr id="50" name="Rectangle 50"/>
            <p:cNvSpPr/>
            <p:nvPr/>
          </p:nvSpPr>
          <p:spPr>
            <a:xfrm>
              <a:off x="6464618" y="4192905"/>
              <a:ext cx="5193982" cy="462915"/>
            </a:xfrm>
            <a:prstGeom prst="rect">
              <a:avLst/>
            </a:prstGeom>
            <a:solidFill>
              <a:srgbClr val="F4F6FB"/>
            </a:solidFill>
            <a:ln>
              <a:noFill/>
            </a:ln>
          </p:spPr>
        </p:sp>
        <p:sp>
          <p:nvSpPr>
            <p:cNvPr id="51" name="TextBox 51"/>
            <p:cNvSpPr txBox="1"/>
            <p:nvPr/>
          </p:nvSpPr>
          <p:spPr>
            <a:xfrm>
              <a:off x="6565964" y="4324826"/>
              <a:ext cx="97028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数据与操作</a:t>
              </a:r>
            </a:p>
          </p:txBody>
        </p:sp>
        <p:sp>
          <p:nvSpPr>
            <p:cNvPr id="52" name="TextBox 52"/>
            <p:cNvSpPr txBox="1"/>
            <p:nvPr/>
          </p:nvSpPr>
          <p:spPr>
            <a:xfrm>
              <a:off x="7812786" y="4324826"/>
              <a:ext cx="154376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人为分离成两部分</a:t>
              </a:r>
            </a:p>
          </p:txBody>
        </p:sp>
        <p:sp>
          <p:nvSpPr>
            <p:cNvPr id="53" name="TextBox 53"/>
            <p:cNvSpPr txBox="1"/>
            <p:nvPr/>
          </p:nvSpPr>
          <p:spPr>
            <a:xfrm>
              <a:off x="9786366" y="4324826"/>
              <a:ext cx="135260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封装在对象内部</a:t>
              </a:r>
            </a:p>
          </p:txBody>
        </p:sp>
        <p:sp>
          <p:nvSpPr>
            <p:cNvPr id="54" name="Rectangle 54"/>
            <p:cNvSpPr/>
            <p:nvPr/>
          </p:nvSpPr>
          <p:spPr>
            <a:xfrm>
              <a:off x="6464618" y="4651058"/>
              <a:ext cx="5193982" cy="9525"/>
            </a:xfrm>
            <a:prstGeom prst="rect">
              <a:avLst/>
            </a:prstGeom>
            <a:solidFill>
              <a:srgbClr val="D9DFEA"/>
            </a:solidFill>
            <a:ln>
              <a:noFill/>
            </a:ln>
          </p:spPr>
        </p:sp>
        <p:sp>
          <p:nvSpPr>
            <p:cNvPr id="55" name="TextBox 55"/>
            <p:cNvSpPr txBox="1"/>
            <p:nvPr/>
          </p:nvSpPr>
          <p:spPr>
            <a:xfrm>
              <a:off x="6565964" y="4914424"/>
              <a:ext cx="77912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适应变化</a:t>
              </a:r>
            </a:p>
          </p:txBody>
        </p:sp>
        <p:sp>
          <p:nvSpPr>
            <p:cNvPr id="56" name="TextBox 56"/>
            <p:cNvSpPr txBox="1"/>
            <p:nvPr/>
          </p:nvSpPr>
          <p:spPr>
            <a:xfrm>
              <a:off x="7812786" y="4914424"/>
              <a:ext cx="173492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需求变化时改动扩散</a:t>
              </a:r>
            </a:p>
          </p:txBody>
        </p:sp>
        <p:sp>
          <p:nvSpPr>
            <p:cNvPr id="57" name="TextBox 57"/>
            <p:cNvSpPr txBox="1"/>
            <p:nvPr/>
          </p:nvSpPr>
          <p:spPr>
            <a:xfrm>
              <a:off x="9786366" y="4787741"/>
              <a:ext cx="163753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改动局限在相关的类</a:t>
              </a:r>
              <a:br/>
              <a:r>
                <a:rPr lang="zh-CN" sz="1420" dirty="0">
                  <a:solidFill>
                    <a:srgbClr val="1F2937"/>
                  </a:solidFill>
                  <a:latin typeface="+mn-lt"/>
                  <a:ea typeface="+mn-ea"/>
                  <a:cs typeface="+mn-cs"/>
                </a:rPr>
                <a:t>里</a:t>
              </a:r>
            </a:p>
          </p:txBody>
        </p:sp>
        <p:sp>
          <p:nvSpPr>
            <p:cNvPr id="58" name="Rectangle 58"/>
            <p:cNvSpPr/>
            <p:nvPr/>
          </p:nvSpPr>
          <p:spPr>
            <a:xfrm>
              <a:off x="6464618" y="3266122"/>
              <a:ext cx="5193982" cy="2106930"/>
            </a:xfrm>
            <a:prstGeom prst="rect">
              <a:avLst/>
            </a:prstGeom>
            <a:noFill/>
            <a:ln w="14288">
              <a:solidFill>
                <a:srgbClr val="D9DFEA"/>
              </a:solidFill>
            </a:ln>
          </p:spPr>
        </p:sp>
        <p:sp>
          <p:nvSpPr>
            <p:cNvPr id="59" name="Rectangle 59"/>
            <p:cNvSpPr/>
            <p:nvPr/>
          </p:nvSpPr>
          <p:spPr>
            <a:xfrm>
              <a:off x="7706678" y="3266122"/>
              <a:ext cx="9525" cy="2106930"/>
            </a:xfrm>
            <a:prstGeom prst="rect">
              <a:avLst/>
            </a:prstGeom>
            <a:solidFill>
              <a:srgbClr val="D9DFEA"/>
            </a:solidFill>
            <a:ln>
              <a:noFill/>
            </a:ln>
          </p:spPr>
        </p:sp>
        <p:sp>
          <p:nvSpPr>
            <p:cNvPr id="60" name="Rectangle 60"/>
            <p:cNvSpPr/>
            <p:nvPr/>
          </p:nvSpPr>
          <p:spPr>
            <a:xfrm>
              <a:off x="9680258" y="3266122"/>
              <a:ext cx="9525" cy="2106930"/>
            </a:xfrm>
            <a:prstGeom prst="rect">
              <a:avLst/>
            </a:prstGeom>
            <a:solidFill>
              <a:srgbClr val="D9DFEA"/>
            </a:solidFill>
            <a:ln>
              <a:noFill/>
            </a:ln>
          </p:spPr>
        </p:sp>
      </p:grpSp>
      <p:grpSp>
        <p:nvGrpSpPr>
          <p:cNvPr id="67" name="takeaway"/>
          <p:cNvGrpSpPr/>
          <p:nvPr/>
        </p:nvGrpSpPr>
        <p:grpSpPr>
          <a:xfrm>
            <a:off x="533400" y="5858828"/>
            <a:ext cx="11125200" cy="503872"/>
            <a:chOff x="533400" y="5858828"/>
            <a:chExt cx="11125200" cy="503872"/>
          </a:xfrm>
        </p:grpSpPr>
        <p:sp>
          <p:nvSpPr>
            <p:cNvPr id="62" name="Rectangle 62"/>
            <p:cNvSpPr/>
            <p:nvPr/>
          </p:nvSpPr>
          <p:spPr>
            <a:xfrm>
              <a:off x="533400" y="5858828"/>
              <a:ext cx="11125200" cy="503872"/>
            </a:xfrm>
            <a:prstGeom prst="roundRect">
              <a:avLst>
                <a:gd name="adj" fmla="val 22684"/>
              </a:avLst>
            </a:prstGeom>
            <a:solidFill>
              <a:srgbClr val="334E68"/>
            </a:solidFill>
            <a:ln>
              <a:noFill/>
            </a:ln>
          </p:spPr>
        </p:sp>
        <p:grpSp>
          <p:nvGrpSpPr>
            <p:cNvPr id="65" name="Group 65"/>
            <p:cNvGrpSpPr/>
            <p:nvPr/>
          </p:nvGrpSpPr>
          <p:grpSpPr>
            <a:xfrm>
              <a:off x="738188" y="6011230"/>
              <a:ext cx="200023" cy="200023"/>
              <a:chOff x="738188" y="6011230"/>
              <a:chExt cx="200023" cy="200023"/>
            </a:xfrm>
          </p:grpSpPr>
          <p:sp>
            <p:nvSpPr>
              <p:cNvPr id="63" name="Freeform 63"/>
              <p:cNvSpPr/>
              <p:nvPr/>
            </p:nvSpPr>
            <p:spPr>
              <a:xfrm>
                <a:off x="738188" y="601123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4" name="Freeform 64"/>
              <p:cNvSpPr/>
              <p:nvPr/>
            </p:nvSpPr>
            <p:spPr>
              <a:xfrm>
                <a:off x="871538" y="607790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6" name="TextBox 66"/>
            <p:cNvSpPr txBox="1"/>
            <p:nvPr/>
          </p:nvSpPr>
          <p:spPr>
            <a:xfrm>
              <a:off x="1040511" y="6011704"/>
              <a:ext cx="10145979"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出发点和基本原则是尽量模拟人类习惯的思维方式，使描述问题的问题空间与实现解法的求解空间在结构上尽可能一致。</a:t>
              </a:r>
            </a:p>
          </p:txBody>
        </p:sp>
      </p:grpSp>
      <p:grpSp>
        <p:nvGrpSpPr>
          <p:cNvPr id="70" name="footer"/>
          <p:cNvGrpSpPr/>
          <p:nvPr/>
        </p:nvGrpSpPr>
        <p:grpSpPr>
          <a:xfrm>
            <a:off x="528447" y="6581299"/>
            <a:ext cx="11135106" cy="190690"/>
            <a:chOff x="528447" y="6581299"/>
            <a:chExt cx="11135106" cy="190690"/>
          </a:xfrm>
        </p:grpSpPr>
        <p:sp>
          <p:nvSpPr>
            <p:cNvPr id="68" name="TextBox 68"/>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9" name="TextBox 6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软件工程</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三种角色与三门相关学科</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8" name="c1-card-1"/>
          <p:cNvGrpSpPr/>
          <p:nvPr/>
        </p:nvGrpSpPr>
        <p:grpSpPr>
          <a:xfrm>
            <a:off x="533400" y="1524000"/>
            <a:ext cx="5410200" cy="2175510"/>
            <a:chOff x="533400" y="1524000"/>
            <a:chExt cx="5410200" cy="2175510"/>
          </a:xfrm>
        </p:grpSpPr>
        <p:sp>
          <p:nvSpPr>
            <p:cNvPr id="7" name="Rectangle 7"/>
            <p:cNvSpPr/>
            <p:nvPr/>
          </p:nvSpPr>
          <p:spPr>
            <a:xfrm>
              <a:off x="533400" y="1524000"/>
              <a:ext cx="5410200" cy="2175510"/>
            </a:xfrm>
            <a:prstGeom prst="roundRect">
              <a:avLst>
                <a:gd name="adj" fmla="val 6130"/>
              </a:avLst>
            </a:prstGeom>
            <a:solidFill>
              <a:srgbClr val="FFFFFF"/>
            </a:solidFill>
            <a:ln w="14288">
              <a:solidFill>
                <a:srgbClr val="D9DFEA"/>
              </a:solidFill>
            </a:ln>
          </p:spPr>
        </p:sp>
        <p:sp>
          <p:nvSpPr>
            <p:cNvPr id="8" name="Rectangle 8"/>
            <p:cNvSpPr/>
            <p:nvPr/>
          </p:nvSpPr>
          <p:spPr>
            <a:xfrm>
              <a:off x="542925" y="1657350"/>
              <a:ext cx="47625" cy="1908810"/>
            </a:xfrm>
            <a:prstGeom prst="roundRect">
              <a:avLst>
                <a:gd name="adj" fmla="val 50000"/>
              </a:avLst>
            </a:prstGeom>
            <a:solidFill>
              <a:srgbClr val="334E68"/>
            </a:solidFill>
            <a:ln>
              <a:noFill/>
            </a:ln>
          </p:spPr>
        </p:sp>
        <p:sp>
          <p:nvSpPr>
            <p:cNvPr id="9" name="Rectangle 9"/>
            <p:cNvSpPr/>
            <p:nvPr/>
          </p:nvSpPr>
          <p:spPr>
            <a:xfrm>
              <a:off x="769620" y="1722120"/>
              <a:ext cx="476250" cy="247650"/>
            </a:xfrm>
            <a:prstGeom prst="roundRect">
              <a:avLst>
                <a:gd name="adj" fmla="val 50000"/>
              </a:avLst>
            </a:prstGeom>
            <a:solidFill>
              <a:srgbClr val="E7EDF3"/>
            </a:solidFill>
            <a:ln>
              <a:noFill/>
            </a:ln>
          </p:spPr>
        </p:sp>
        <p:sp>
          <p:nvSpPr>
            <p:cNvPr id="10" name="TextBox 10"/>
            <p:cNvSpPr txBox="1"/>
            <p:nvPr/>
          </p:nvSpPr>
          <p:spPr>
            <a:xfrm>
              <a:off x="861060" y="1756410"/>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角色</a:t>
              </a:r>
            </a:p>
          </p:txBody>
        </p:sp>
        <p:sp>
          <p:nvSpPr>
            <p:cNvPr id="11" name="TextBox 11"/>
            <p:cNvSpPr txBox="1"/>
            <p:nvPr/>
          </p:nvSpPr>
          <p:spPr>
            <a:xfrm>
              <a:off x="1352931" y="1756886"/>
              <a:ext cx="289650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角色（Role）是一种职责对应关系</a:t>
              </a:r>
            </a:p>
          </p:txBody>
        </p:sp>
        <p:sp>
          <p:nvSpPr>
            <p:cNvPr id="12" name="Ellipse 12"/>
            <p:cNvSpPr/>
            <p:nvPr/>
          </p:nvSpPr>
          <p:spPr>
            <a:xfrm>
              <a:off x="777240" y="2161222"/>
              <a:ext cx="60960" cy="60960"/>
            </a:xfrm>
            <a:prstGeom prst="ellipse">
              <a:avLst/>
            </a:prstGeom>
            <a:solidFill>
              <a:srgbClr val="334E68"/>
            </a:solidFill>
            <a:ln>
              <a:noFill/>
            </a:ln>
          </p:spPr>
        </p:sp>
        <p:sp>
          <p:nvSpPr>
            <p:cNvPr id="13" name="TextBox 13"/>
            <p:cNvSpPr txBox="1"/>
            <p:nvPr/>
          </p:nvSpPr>
          <p:spPr>
            <a:xfrm>
              <a:off x="933831" y="2100739"/>
              <a:ext cx="4492320"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C2410C"/>
                  </a:solidFill>
                  <a:latin typeface="+mn-lt"/>
                  <a:ea typeface="+mn-ea"/>
                  <a:cs typeface="+mn-cs"/>
                </a:rPr>
                <a:t>客户（Customer）</a:t>
              </a:r>
              <a:r>
                <a:rPr lang="zh-CN" sz="1420" dirty="0">
                  <a:solidFill>
                    <a:srgbClr val="1F2937"/>
                  </a:solidFill>
                  <a:latin typeface="+mn-lt"/>
                  <a:ea typeface="+mn-ea"/>
                  <a:cs typeface="+mn-cs"/>
                </a:rPr>
                <a:t>：花钱开发软件系统的公司、组织或</a:t>
              </a:r>
              <a:br/>
              <a:r>
                <a:rPr lang="zh-CN" sz="1420" dirty="0">
                  <a:solidFill>
                    <a:srgbClr val="1F2937"/>
                  </a:solidFill>
                  <a:latin typeface="+mn-lt"/>
                  <a:ea typeface="+mn-ea"/>
                  <a:cs typeface="+mn-cs"/>
                </a:rPr>
                <a:t>个人</a:t>
              </a:r>
            </a:p>
          </p:txBody>
        </p:sp>
        <p:sp>
          <p:nvSpPr>
            <p:cNvPr id="14" name="Ellipse 14"/>
            <p:cNvSpPr/>
            <p:nvPr/>
          </p:nvSpPr>
          <p:spPr>
            <a:xfrm>
              <a:off x="777240" y="2749868"/>
              <a:ext cx="60960" cy="60960"/>
            </a:xfrm>
            <a:prstGeom prst="ellipse">
              <a:avLst/>
            </a:prstGeom>
            <a:solidFill>
              <a:srgbClr val="334E68"/>
            </a:solidFill>
            <a:ln>
              <a:noFill/>
            </a:ln>
          </p:spPr>
        </p:sp>
        <p:sp>
          <p:nvSpPr>
            <p:cNvPr id="15" name="TextBox 15"/>
            <p:cNvSpPr txBox="1"/>
            <p:nvPr/>
          </p:nvSpPr>
          <p:spPr>
            <a:xfrm>
              <a:off x="933831" y="2690336"/>
              <a:ext cx="4511256"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C2410C"/>
                  </a:solidFill>
                  <a:latin typeface="+mn-lt"/>
                  <a:ea typeface="+mn-ea"/>
                  <a:cs typeface="+mn-cs"/>
                </a:rPr>
                <a:t>开发者（Developer）</a:t>
              </a:r>
              <a:r>
                <a:rPr lang="zh-CN" sz="1420" dirty="0">
                  <a:solidFill>
                    <a:srgbClr val="1F2937"/>
                  </a:solidFill>
                  <a:latin typeface="+mn-lt"/>
                  <a:ea typeface="+mn-ea"/>
                  <a:cs typeface="+mn-cs"/>
                </a:rPr>
                <a:t>：为客户构建软件系统的公司、组</a:t>
              </a:r>
              <a:br/>
              <a:r>
                <a:rPr lang="zh-CN" sz="1420" dirty="0">
                  <a:solidFill>
                    <a:srgbClr val="1F2937"/>
                  </a:solidFill>
                  <a:latin typeface="+mn-lt"/>
                  <a:ea typeface="+mn-ea"/>
                  <a:cs typeface="+mn-cs"/>
                </a:rPr>
                <a:t>织或个人</a:t>
              </a:r>
            </a:p>
          </p:txBody>
        </p:sp>
        <p:sp>
          <p:nvSpPr>
            <p:cNvPr id="16" name="Ellipse 16"/>
            <p:cNvSpPr/>
            <p:nvPr/>
          </p:nvSpPr>
          <p:spPr>
            <a:xfrm>
              <a:off x="777240" y="3339465"/>
              <a:ext cx="60960" cy="60960"/>
            </a:xfrm>
            <a:prstGeom prst="ellipse">
              <a:avLst/>
            </a:prstGeom>
            <a:solidFill>
              <a:srgbClr val="334E68"/>
            </a:solidFill>
            <a:ln>
              <a:noFill/>
            </a:ln>
          </p:spPr>
        </p:sp>
        <p:sp>
          <p:nvSpPr>
            <p:cNvPr id="17" name="TextBox 17"/>
            <p:cNvSpPr txBox="1"/>
            <p:nvPr/>
          </p:nvSpPr>
          <p:spPr>
            <a:xfrm>
              <a:off x="933831" y="3278981"/>
              <a:ext cx="3329713" cy="278702"/>
            </a:xfrm>
            <a:prstGeom prst="rect">
              <a:avLst/>
            </a:prstGeom>
            <a:noFill/>
            <a:ln>
              <a:noFill/>
            </a:ln>
          </p:spPr>
          <p:txBody>
            <a:bodyPr wrap="none" lIns="0" tIns="0" rIns="0" bIns="0" anchor="t" anchorCtr="0">
              <a:spAutoFit/>
            </a:bodyPr>
            <a:lstStyle/>
            <a:p>
              <a:pPr algn="l"/>
              <a:r>
                <a:rPr lang="zh-CN" sz="1420" b="1" dirty="0">
                  <a:solidFill>
                    <a:srgbClr val="C2410C"/>
                  </a:solidFill>
                  <a:latin typeface="+mn-lt"/>
                  <a:ea typeface="+mn-ea"/>
                  <a:cs typeface="+mn-cs"/>
                </a:rPr>
                <a:t>用户（User）</a:t>
              </a:r>
              <a:r>
                <a:rPr lang="zh-CN" sz="1420" dirty="0">
                  <a:solidFill>
                    <a:srgbClr val="1F2937"/>
                  </a:solidFill>
                  <a:latin typeface="+mn-lt"/>
                  <a:ea typeface="+mn-ea"/>
                  <a:cs typeface="+mn-cs"/>
                </a:rPr>
                <a:t>：最终使用该系统的人员</a:t>
              </a:r>
            </a:p>
          </p:txBody>
        </p:sp>
      </p:grpSp>
      <p:grpSp>
        <p:nvGrpSpPr>
          <p:cNvPr id="24" name="c1-card-2"/>
          <p:cNvGrpSpPr/>
          <p:nvPr/>
        </p:nvGrpSpPr>
        <p:grpSpPr>
          <a:xfrm>
            <a:off x="533400" y="3880485"/>
            <a:ext cx="5410200" cy="2465070"/>
            <a:chOff x="533400" y="3880485"/>
            <a:chExt cx="5410200" cy="2465070"/>
          </a:xfrm>
        </p:grpSpPr>
        <p:sp>
          <p:nvSpPr>
            <p:cNvPr id="19" name="Rectangle 19"/>
            <p:cNvSpPr/>
            <p:nvPr/>
          </p:nvSpPr>
          <p:spPr>
            <a:xfrm>
              <a:off x="533400" y="3880485"/>
              <a:ext cx="5410200" cy="2465070"/>
            </a:xfrm>
            <a:prstGeom prst="roundRect">
              <a:avLst>
                <a:gd name="adj" fmla="val 5410"/>
              </a:avLst>
            </a:prstGeom>
            <a:solidFill>
              <a:srgbClr val="FFFFFF"/>
            </a:solidFill>
            <a:ln w="14288">
              <a:solidFill>
                <a:srgbClr val="D9DFEA"/>
              </a:solidFill>
            </a:ln>
          </p:spPr>
        </p:sp>
        <p:sp>
          <p:nvSpPr>
            <p:cNvPr id="20" name="Rectangle 20"/>
            <p:cNvSpPr/>
            <p:nvPr/>
          </p:nvSpPr>
          <p:spPr>
            <a:xfrm>
              <a:off x="542925" y="4013835"/>
              <a:ext cx="47625" cy="2198370"/>
            </a:xfrm>
            <a:prstGeom prst="roundRect">
              <a:avLst>
                <a:gd name="adj" fmla="val 50000"/>
              </a:avLst>
            </a:prstGeom>
            <a:solidFill>
              <a:srgbClr val="5B6475"/>
            </a:solidFill>
            <a:ln>
              <a:noFill/>
            </a:ln>
          </p:spPr>
        </p:sp>
        <p:sp>
          <p:nvSpPr>
            <p:cNvPr id="21" name="Rectangle 21"/>
            <p:cNvSpPr/>
            <p:nvPr/>
          </p:nvSpPr>
          <p:spPr>
            <a:xfrm>
              <a:off x="769620" y="4078605"/>
              <a:ext cx="876300" cy="247650"/>
            </a:xfrm>
            <a:prstGeom prst="roundRect">
              <a:avLst>
                <a:gd name="adj" fmla="val 50000"/>
              </a:avLst>
            </a:prstGeom>
            <a:solidFill>
              <a:srgbClr val="F4F6FB"/>
            </a:solidFill>
            <a:ln>
              <a:noFill/>
            </a:ln>
          </p:spPr>
        </p:sp>
        <p:sp>
          <p:nvSpPr>
            <p:cNvPr id="22" name="TextBox 22"/>
            <p:cNvSpPr txBox="1"/>
            <p:nvPr/>
          </p:nvSpPr>
          <p:spPr>
            <a:xfrm>
              <a:off x="849058" y="4112895"/>
              <a:ext cx="717423"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角色会交叉</a:t>
              </a:r>
            </a:p>
          </p:txBody>
        </p:sp>
        <p:sp>
          <p:nvSpPr>
            <p:cNvPr id="23" name="TextBox 23"/>
            <p:cNvSpPr txBox="1"/>
            <p:nvPr/>
          </p:nvSpPr>
          <p:spPr>
            <a:xfrm>
              <a:off x="762381" y="4439126"/>
              <a:ext cx="470331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通用商业软件包（Commercial off-the-shelf，COTS）没</a:t>
              </a:r>
              <a:br/>
              <a:r>
                <a:rPr lang="zh-CN" sz="1420" dirty="0">
                  <a:solidFill>
                    <a:srgbClr val="1F2937"/>
                  </a:solidFill>
                  <a:latin typeface="+mn-lt"/>
                  <a:ea typeface="+mn-ea"/>
                  <a:cs typeface="+mn-cs"/>
                </a:rPr>
                <a:t>有特定客户，开发者要自己判断市场需要什么；转包</a:t>
              </a:r>
              <a:br/>
              <a:r>
                <a:rPr lang="zh-CN" sz="1420" dirty="0">
                  <a:solidFill>
                    <a:srgbClr val="1F2937"/>
                  </a:solidFill>
                  <a:latin typeface="+mn-lt"/>
                  <a:ea typeface="+mn-ea"/>
                  <a:cs typeface="+mn-cs"/>
                </a:rPr>
                <a:t>（Subcontract）时上游开发者又成了下游的客户。</a:t>
              </a:r>
            </a:p>
          </p:txBody>
        </p:sp>
      </p:grpSp>
      <p:grpSp>
        <p:nvGrpSpPr>
          <p:cNvPr id="40" name="c2-table-1"/>
          <p:cNvGrpSpPr/>
          <p:nvPr/>
        </p:nvGrpSpPr>
        <p:grpSpPr>
          <a:xfrm>
            <a:off x="6243066" y="1524000"/>
            <a:ext cx="5415534" cy="1977961"/>
            <a:chOff x="6243066" y="1524000"/>
            <a:chExt cx="5415534" cy="1977961"/>
          </a:xfrm>
        </p:grpSpPr>
        <p:sp>
          <p:nvSpPr>
            <p:cNvPr id="25" name="Rectangle 25"/>
            <p:cNvSpPr/>
            <p:nvPr/>
          </p:nvSpPr>
          <p:spPr>
            <a:xfrm>
              <a:off x="6248400" y="1524000"/>
              <a:ext cx="5410200" cy="424815"/>
            </a:xfrm>
            <a:prstGeom prst="rect">
              <a:avLst/>
            </a:prstGeom>
            <a:solidFill>
              <a:srgbClr val="334E68"/>
            </a:solidFill>
            <a:ln>
              <a:noFill/>
            </a:ln>
          </p:spPr>
        </p:sp>
        <p:sp>
          <p:nvSpPr>
            <p:cNvPr id="26" name="TextBox 26"/>
            <p:cNvSpPr txBox="1"/>
            <p:nvPr/>
          </p:nvSpPr>
          <p:spPr>
            <a:xfrm>
              <a:off x="6892290" y="165258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学科</a:t>
              </a:r>
            </a:p>
          </p:txBody>
        </p:sp>
        <p:sp>
          <p:nvSpPr>
            <p:cNvPr id="27" name="TextBox 27"/>
            <p:cNvSpPr txBox="1"/>
            <p:nvPr/>
          </p:nvSpPr>
          <p:spPr>
            <a:xfrm>
              <a:off x="9031986" y="1652588"/>
              <a:ext cx="146608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在软件工程中的用途</a:t>
              </a:r>
            </a:p>
          </p:txBody>
        </p:sp>
        <p:sp>
          <p:nvSpPr>
            <p:cNvPr id="28" name="TextBox 28"/>
            <p:cNvSpPr txBox="1"/>
            <p:nvPr/>
          </p:nvSpPr>
          <p:spPr>
            <a:xfrm>
              <a:off x="6350889" y="2076450"/>
              <a:ext cx="130454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计算机科学和数学</a:t>
              </a:r>
            </a:p>
          </p:txBody>
        </p:sp>
        <p:sp>
          <p:nvSpPr>
            <p:cNvPr id="29" name="TextBox 29"/>
            <p:cNvSpPr txBox="1"/>
            <p:nvPr/>
          </p:nvSpPr>
          <p:spPr>
            <a:xfrm>
              <a:off x="7973949" y="2076450"/>
              <a:ext cx="146608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构造模型、分析算法</a:t>
              </a:r>
            </a:p>
          </p:txBody>
        </p:sp>
        <p:sp>
          <p:nvSpPr>
            <p:cNvPr id="30" name="Rectangle 30"/>
            <p:cNvSpPr/>
            <p:nvPr/>
          </p:nvSpPr>
          <p:spPr>
            <a:xfrm>
              <a:off x="6248400" y="2367915"/>
              <a:ext cx="5410200" cy="9525"/>
            </a:xfrm>
            <a:prstGeom prst="rect">
              <a:avLst/>
            </a:prstGeom>
            <a:solidFill>
              <a:srgbClr val="D9DFEA"/>
            </a:solidFill>
            <a:ln>
              <a:noFill/>
            </a:ln>
          </p:spPr>
        </p:sp>
        <p:sp>
          <p:nvSpPr>
            <p:cNvPr id="31" name="Rectangle 31"/>
            <p:cNvSpPr/>
            <p:nvPr/>
          </p:nvSpPr>
          <p:spPr>
            <a:xfrm>
              <a:off x="6248400" y="2372678"/>
              <a:ext cx="5410200" cy="424815"/>
            </a:xfrm>
            <a:prstGeom prst="rect">
              <a:avLst/>
            </a:prstGeom>
            <a:solidFill>
              <a:srgbClr val="F4F6FB"/>
            </a:solidFill>
            <a:ln>
              <a:noFill/>
            </a:ln>
          </p:spPr>
        </p:sp>
        <p:sp>
          <p:nvSpPr>
            <p:cNvPr id="32" name="TextBox 32"/>
            <p:cNvSpPr txBox="1"/>
            <p:nvPr/>
          </p:nvSpPr>
          <p:spPr>
            <a:xfrm>
              <a:off x="6350889" y="2501265"/>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工程科学</a:t>
              </a:r>
            </a:p>
          </p:txBody>
        </p:sp>
        <p:sp>
          <p:nvSpPr>
            <p:cNvPr id="33" name="TextBox 33"/>
            <p:cNvSpPr txBox="1"/>
            <p:nvPr/>
          </p:nvSpPr>
          <p:spPr>
            <a:xfrm>
              <a:off x="7973949" y="2501265"/>
              <a:ext cx="308152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制定规范、明确范型、评估成本、确定权衡</a:t>
              </a:r>
            </a:p>
          </p:txBody>
        </p:sp>
        <p:sp>
          <p:nvSpPr>
            <p:cNvPr id="34" name="Rectangle 34"/>
            <p:cNvSpPr/>
            <p:nvPr/>
          </p:nvSpPr>
          <p:spPr>
            <a:xfrm>
              <a:off x="6248400" y="2792730"/>
              <a:ext cx="5410200" cy="9525"/>
            </a:xfrm>
            <a:prstGeom prst="rect">
              <a:avLst/>
            </a:prstGeom>
            <a:solidFill>
              <a:srgbClr val="D9DFEA"/>
            </a:solidFill>
            <a:ln>
              <a:noFill/>
            </a:ln>
          </p:spPr>
        </p:sp>
        <p:sp>
          <p:nvSpPr>
            <p:cNvPr id="35" name="TextBox 35"/>
            <p:cNvSpPr txBox="1"/>
            <p:nvPr/>
          </p:nvSpPr>
          <p:spPr>
            <a:xfrm>
              <a:off x="6350889" y="2926080"/>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管理科学</a:t>
              </a:r>
            </a:p>
          </p:txBody>
        </p:sp>
        <p:sp>
          <p:nvSpPr>
            <p:cNvPr id="36" name="TextBox 36"/>
            <p:cNvSpPr txBox="1"/>
            <p:nvPr/>
          </p:nvSpPr>
          <p:spPr>
            <a:xfrm>
              <a:off x="7973949" y="2926080"/>
              <a:ext cx="243535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进度、资源、质量、成本等的管理</a:t>
              </a:r>
            </a:p>
          </p:txBody>
        </p:sp>
        <p:sp>
          <p:nvSpPr>
            <p:cNvPr id="37" name="Rectangle 37"/>
            <p:cNvSpPr/>
            <p:nvPr/>
          </p:nvSpPr>
          <p:spPr>
            <a:xfrm>
              <a:off x="6248400" y="1524000"/>
              <a:ext cx="5410200" cy="1697355"/>
            </a:xfrm>
            <a:prstGeom prst="rect">
              <a:avLst/>
            </a:prstGeom>
            <a:noFill/>
            <a:ln w="14288">
              <a:solidFill>
                <a:srgbClr val="D9DFEA"/>
              </a:solidFill>
            </a:ln>
          </p:spPr>
        </p:sp>
        <p:sp>
          <p:nvSpPr>
            <p:cNvPr id="38" name="Rectangle 38"/>
            <p:cNvSpPr/>
            <p:nvPr/>
          </p:nvSpPr>
          <p:spPr>
            <a:xfrm>
              <a:off x="7866698" y="1524000"/>
              <a:ext cx="9525" cy="1697355"/>
            </a:xfrm>
            <a:prstGeom prst="rect">
              <a:avLst/>
            </a:prstGeom>
            <a:solidFill>
              <a:srgbClr val="D9DFEA"/>
            </a:solidFill>
            <a:ln>
              <a:noFill/>
            </a:ln>
          </p:spPr>
        </p:sp>
        <p:sp>
          <p:nvSpPr>
            <p:cNvPr id="39" name="TextBox 39"/>
            <p:cNvSpPr txBox="1"/>
            <p:nvPr/>
          </p:nvSpPr>
          <p:spPr>
            <a:xfrm>
              <a:off x="6243066" y="3296602"/>
              <a:ext cx="4109847"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软件工程借鉴这些学科的原理和方法，目的是提高质量、降低成本</a:t>
              </a:r>
            </a:p>
          </p:txBody>
        </p:sp>
      </p:grpSp>
      <p:grpSp>
        <p:nvGrpSpPr>
          <p:cNvPr id="48" name="c2-card-2"/>
          <p:cNvGrpSpPr/>
          <p:nvPr/>
        </p:nvGrpSpPr>
        <p:grpSpPr>
          <a:xfrm>
            <a:off x="6248400" y="3640455"/>
            <a:ext cx="5410200" cy="1768792"/>
            <a:chOff x="6248400" y="3640455"/>
            <a:chExt cx="5410200" cy="1768792"/>
          </a:xfrm>
        </p:grpSpPr>
        <p:sp>
          <p:nvSpPr>
            <p:cNvPr id="41" name="Rectangle 41"/>
            <p:cNvSpPr/>
            <p:nvPr/>
          </p:nvSpPr>
          <p:spPr>
            <a:xfrm>
              <a:off x="6248400" y="3640455"/>
              <a:ext cx="5410200" cy="1768792"/>
            </a:xfrm>
            <a:prstGeom prst="roundRect">
              <a:avLst>
                <a:gd name="adj" fmla="val 7539"/>
              </a:avLst>
            </a:prstGeom>
            <a:solidFill>
              <a:srgbClr val="FFFFFF"/>
            </a:solidFill>
            <a:ln w="14288">
              <a:solidFill>
                <a:srgbClr val="D9DFEA"/>
              </a:solidFill>
            </a:ln>
          </p:spPr>
        </p:sp>
        <p:sp>
          <p:nvSpPr>
            <p:cNvPr id="42" name="Rectangle 42"/>
            <p:cNvSpPr/>
            <p:nvPr/>
          </p:nvSpPr>
          <p:spPr>
            <a:xfrm>
              <a:off x="6257925" y="3773805"/>
              <a:ext cx="47625" cy="1502092"/>
            </a:xfrm>
            <a:prstGeom prst="roundRect">
              <a:avLst>
                <a:gd name="adj" fmla="val 50000"/>
              </a:avLst>
            </a:prstGeom>
            <a:solidFill>
              <a:srgbClr val="14A38B"/>
            </a:solidFill>
            <a:ln>
              <a:noFill/>
            </a:ln>
          </p:spPr>
        </p:sp>
        <p:sp>
          <p:nvSpPr>
            <p:cNvPr id="43" name="Rectangle 43"/>
            <p:cNvSpPr/>
            <p:nvPr/>
          </p:nvSpPr>
          <p:spPr>
            <a:xfrm>
              <a:off x="6484620" y="3838575"/>
              <a:ext cx="476250" cy="247650"/>
            </a:xfrm>
            <a:prstGeom prst="roundRect">
              <a:avLst>
                <a:gd name="adj" fmla="val 50000"/>
              </a:avLst>
            </a:prstGeom>
            <a:solidFill>
              <a:srgbClr val="E3F5F1"/>
            </a:solidFill>
            <a:ln>
              <a:noFill/>
            </a:ln>
          </p:spPr>
        </p:sp>
        <p:sp>
          <p:nvSpPr>
            <p:cNvPr id="44" name="TextBox 44"/>
            <p:cNvSpPr txBox="1"/>
            <p:nvPr/>
          </p:nvSpPr>
          <p:spPr>
            <a:xfrm>
              <a:off x="6576060" y="3872865"/>
              <a:ext cx="293370"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例子</a:t>
              </a:r>
            </a:p>
          </p:txBody>
        </p:sp>
        <p:sp>
          <p:nvSpPr>
            <p:cNvPr id="45" name="TextBox 45"/>
            <p:cNvSpPr txBox="1"/>
            <p:nvPr/>
          </p:nvSpPr>
          <p:spPr>
            <a:xfrm>
              <a:off x="7067931" y="3873341"/>
              <a:ext cx="135260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学校的教务系统</a:t>
              </a:r>
            </a:p>
          </p:txBody>
        </p:sp>
        <p:sp>
          <p:nvSpPr>
            <p:cNvPr id="46" name="TextBox 46"/>
            <p:cNvSpPr txBox="1"/>
            <p:nvPr/>
          </p:nvSpPr>
          <p:spPr>
            <a:xfrm>
              <a:off x="6477381" y="4217194"/>
              <a:ext cx="470331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客户是学校（出钱并提要求），用户是教师和学生（每天使</a:t>
              </a:r>
              <a:br/>
              <a:r>
                <a:rPr lang="zh-CN" sz="1420" dirty="0">
                  <a:solidFill>
                    <a:srgbClr val="1F2937"/>
                  </a:solidFill>
                  <a:latin typeface="+mn-lt"/>
                  <a:ea typeface="+mn-ea"/>
                  <a:cs typeface="+mn-cs"/>
                </a:rPr>
                <a:t>用），开发者是软件公司。</a:t>
              </a:r>
            </a:p>
          </p:txBody>
        </p:sp>
        <p:sp>
          <p:nvSpPr>
            <p:cNvPr id="47" name="TextBox 47"/>
            <p:cNvSpPr txBox="1"/>
            <p:nvPr/>
          </p:nvSpPr>
          <p:spPr>
            <a:xfrm>
              <a:off x="6478524" y="4802505"/>
              <a:ext cx="473659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客户提出的需求未必是用户真正需要的，所以需求分析阶段要直接接触</a:t>
              </a:r>
              <a:br/>
              <a:r>
                <a:rPr lang="zh-CN" sz="1200" dirty="0">
                  <a:solidFill>
                    <a:srgbClr val="5B6475"/>
                  </a:solidFill>
                  <a:latin typeface="+mn-lt"/>
                  <a:ea typeface="+mn-ea"/>
                  <a:cs typeface="+mn-cs"/>
                </a:rPr>
                <a:t>用户。</a:t>
              </a:r>
            </a:p>
          </p:txBody>
        </p:sp>
      </p:grpSp>
      <p:grpSp>
        <p:nvGrpSpPr>
          <p:cNvPr id="55" name="c2-callout-3"/>
          <p:cNvGrpSpPr/>
          <p:nvPr/>
        </p:nvGrpSpPr>
        <p:grpSpPr>
          <a:xfrm>
            <a:off x="6248400" y="5589270"/>
            <a:ext cx="5410200" cy="756285"/>
            <a:chOff x="6248400" y="5589270"/>
            <a:chExt cx="5410200" cy="756285"/>
          </a:xfrm>
        </p:grpSpPr>
        <p:sp>
          <p:nvSpPr>
            <p:cNvPr id="49" name="Rectangle 49"/>
            <p:cNvSpPr/>
            <p:nvPr/>
          </p:nvSpPr>
          <p:spPr>
            <a:xfrm>
              <a:off x="6248400" y="5589270"/>
              <a:ext cx="5410200" cy="756285"/>
            </a:xfrm>
            <a:prstGeom prst="roundRect">
              <a:avLst>
                <a:gd name="adj" fmla="val 15113"/>
              </a:avLst>
            </a:prstGeom>
            <a:solidFill>
              <a:srgbClr val="FDEEE7"/>
            </a:solidFill>
            <a:ln>
              <a:noFill/>
            </a:ln>
          </p:spPr>
        </p:sp>
        <p:grpSp>
          <p:nvGrpSpPr>
            <p:cNvPr id="53" name="Group 53"/>
            <p:cNvGrpSpPr/>
            <p:nvPr/>
          </p:nvGrpSpPr>
          <p:grpSpPr>
            <a:xfrm>
              <a:off x="6453188" y="5867400"/>
              <a:ext cx="200026" cy="200025"/>
              <a:chOff x="6453188" y="5867400"/>
              <a:chExt cx="200026" cy="200025"/>
            </a:xfrm>
          </p:grpSpPr>
          <p:sp>
            <p:nvSpPr>
              <p:cNvPr id="50" name="Freeform 50"/>
              <p:cNvSpPr/>
              <p:nvPr/>
            </p:nvSpPr>
            <p:spPr>
              <a:xfrm>
                <a:off x="6453188" y="586740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1" name="Freeform 51"/>
              <p:cNvSpPr/>
              <p:nvPr/>
            </p:nvSpPr>
            <p:spPr>
              <a:xfrm>
                <a:off x="6492926" y="591185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2" name="Freeform 52"/>
              <p:cNvSpPr/>
              <p:nvPr/>
            </p:nvSpPr>
            <p:spPr>
              <a:xfrm>
                <a:off x="6527642" y="602297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4" name="TextBox 54"/>
            <p:cNvSpPr txBox="1"/>
            <p:nvPr/>
          </p:nvSpPr>
          <p:spPr>
            <a:xfrm>
              <a:off x="6755511" y="5736431"/>
              <a:ext cx="452297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客户、开发者和用户三方常常不是同一批人，需求分析的</a:t>
              </a:r>
              <a:br/>
              <a:r>
                <a:rPr lang="zh-CN" sz="1420" dirty="0">
                  <a:solidFill>
                    <a:srgbClr val="C2410C"/>
                  </a:solidFill>
                  <a:latin typeface="+mn-lt"/>
                  <a:ea typeface="+mn-ea"/>
                  <a:cs typeface="+mn-cs"/>
                </a:rPr>
                <a:t>许多困难就来自这里。</a:t>
              </a:r>
            </a:p>
          </p:txBody>
        </p:sp>
      </p:grpSp>
      <p:grpSp>
        <p:nvGrpSpPr>
          <p:cNvPr id="58" name="footer"/>
          <p:cNvGrpSpPr/>
          <p:nvPr/>
        </p:nvGrpSpPr>
        <p:grpSpPr>
          <a:xfrm>
            <a:off x="528447" y="6581299"/>
            <a:ext cx="11135106" cy="190690"/>
            <a:chOff x="528447" y="6581299"/>
            <a:chExt cx="11135106" cy="190690"/>
          </a:xfrm>
        </p:grpSpPr>
        <p:sp>
          <p:nvSpPr>
            <p:cNvPr id="56" name="TextBox 56"/>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57" name="TextBox 5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03</a:t>
              </a:r>
            </a:p>
          </p:txBody>
        </p:sp>
      </p:grpSp>
      <p:grpSp>
        <p:nvGrpSpPr>
          <p:cNvPr id="18" name="section-title"/>
          <p:cNvGrpSpPr/>
          <p:nvPr/>
        </p:nvGrpSpPr>
        <p:grpSpPr>
          <a:xfrm>
            <a:off x="667512" y="1835468"/>
            <a:ext cx="4024884" cy="3351847"/>
            <a:chOff x="667512" y="1835468"/>
            <a:chExt cx="4024884"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第三部分</a:t>
              </a:r>
            </a:p>
          </p:txBody>
        </p:sp>
        <p:sp>
          <p:nvSpPr>
            <p:cNvPr id="7" name="TextBox 7"/>
            <p:cNvSpPr txBox="1"/>
            <p:nvPr/>
          </p:nvSpPr>
          <p:spPr>
            <a:xfrm>
              <a:off x="667512" y="2240280"/>
              <a:ext cx="294436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软件生命周期</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014978"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从问题定义到退役，软件要走过哪些阶段</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一般问题的解决过程</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三个时期与八个阶段</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四类维护活动</a:t>
              </a:r>
            </a:p>
          </p:txBody>
        </p:sp>
        <p:sp>
          <p:nvSpPr>
            <p:cNvPr id="16" name="Ellipse 16"/>
            <p:cNvSpPr/>
            <p:nvPr/>
          </p:nvSpPr>
          <p:spPr>
            <a:xfrm>
              <a:off x="723900" y="4951095"/>
              <a:ext cx="76200" cy="76200"/>
            </a:xfrm>
            <a:prstGeom prst="ellipse">
              <a:avLst/>
            </a:prstGeom>
            <a:solidFill>
              <a:srgbClr val="334E68"/>
            </a:solidFill>
            <a:ln>
              <a:noFill/>
            </a:ln>
          </p:spPr>
        </p:sp>
        <p:sp>
          <p:nvSpPr>
            <p:cNvPr id="17" name="TextBox 17"/>
            <p:cNvSpPr txBox="1"/>
            <p:nvPr/>
          </p:nvSpPr>
          <p:spPr>
            <a:xfrm>
              <a:off x="906780" y="4893945"/>
              <a:ext cx="16306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开发团队中的角色</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软件生命周期</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生命周期的阶段划分来自一般的问题解决过程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2" name="c1-steps-1"/>
          <p:cNvGrpSpPr/>
          <p:nvPr/>
        </p:nvGrpSpPr>
        <p:grpSpPr>
          <a:xfrm>
            <a:off x="533400" y="1533525"/>
            <a:ext cx="5422671" cy="4065555"/>
            <a:chOff x="533400" y="1533525"/>
            <a:chExt cx="5422671" cy="4065555"/>
          </a:xfrm>
        </p:grpSpPr>
        <p:sp>
          <p:nvSpPr>
            <p:cNvPr id="7" name="Rectangle 7"/>
            <p:cNvSpPr/>
            <p:nvPr/>
          </p:nvSpPr>
          <p:spPr>
            <a:xfrm>
              <a:off x="666750" y="1676400"/>
              <a:ext cx="19050" cy="3488055"/>
            </a:xfrm>
            <a:prstGeom prst="rect">
              <a:avLst/>
            </a:prstGeom>
            <a:solidFill>
              <a:srgbClr val="D9DFEA"/>
            </a:solidFill>
            <a:ln>
              <a:noFill/>
            </a:ln>
          </p:spPr>
        </p:sp>
        <p:sp>
          <p:nvSpPr>
            <p:cNvPr id="8" name="Ellipse 8"/>
            <p:cNvSpPr/>
            <p:nvPr/>
          </p:nvSpPr>
          <p:spPr>
            <a:xfrm>
              <a:off x="533400" y="1533525"/>
              <a:ext cx="285750" cy="285750"/>
            </a:xfrm>
            <a:prstGeom prst="ellipse">
              <a:avLst/>
            </a:prstGeom>
            <a:solidFill>
              <a:srgbClr val="334E68"/>
            </a:solidFill>
            <a:ln>
              <a:noFill/>
            </a:ln>
          </p:spPr>
        </p:sp>
        <p:sp>
          <p:nvSpPr>
            <p:cNvPr id="9" name="TextBox 9"/>
            <p:cNvSpPr txBox="1"/>
            <p:nvPr/>
          </p:nvSpPr>
          <p:spPr>
            <a:xfrm>
              <a:off x="627024" y="16073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0" name="Ellipse 10"/>
            <p:cNvSpPr/>
            <p:nvPr/>
          </p:nvSpPr>
          <p:spPr>
            <a:xfrm>
              <a:off x="533400" y="2184082"/>
              <a:ext cx="285750" cy="285750"/>
            </a:xfrm>
            <a:prstGeom prst="ellipse">
              <a:avLst/>
            </a:prstGeom>
            <a:solidFill>
              <a:srgbClr val="334E68"/>
            </a:solidFill>
            <a:ln>
              <a:noFill/>
            </a:ln>
          </p:spPr>
        </p:sp>
        <p:sp>
          <p:nvSpPr>
            <p:cNvPr id="11" name="TextBox 11"/>
            <p:cNvSpPr txBox="1"/>
            <p:nvPr/>
          </p:nvSpPr>
          <p:spPr>
            <a:xfrm>
              <a:off x="627024" y="225790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2" name="Ellipse 12"/>
            <p:cNvSpPr/>
            <p:nvPr/>
          </p:nvSpPr>
          <p:spPr>
            <a:xfrm>
              <a:off x="533400" y="3069908"/>
              <a:ext cx="285750" cy="285750"/>
            </a:xfrm>
            <a:prstGeom prst="ellipse">
              <a:avLst/>
            </a:prstGeom>
            <a:solidFill>
              <a:srgbClr val="334E68"/>
            </a:solidFill>
            <a:ln>
              <a:noFill/>
            </a:ln>
          </p:spPr>
        </p:sp>
        <p:sp>
          <p:nvSpPr>
            <p:cNvPr id="13" name="TextBox 13"/>
            <p:cNvSpPr txBox="1"/>
            <p:nvPr/>
          </p:nvSpPr>
          <p:spPr>
            <a:xfrm>
              <a:off x="627024" y="314372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4" name="Ellipse 14"/>
            <p:cNvSpPr/>
            <p:nvPr/>
          </p:nvSpPr>
          <p:spPr>
            <a:xfrm>
              <a:off x="533400" y="3720465"/>
              <a:ext cx="285750" cy="285750"/>
            </a:xfrm>
            <a:prstGeom prst="ellipse">
              <a:avLst/>
            </a:prstGeom>
            <a:solidFill>
              <a:srgbClr val="334E68"/>
            </a:solidFill>
            <a:ln>
              <a:noFill/>
            </a:ln>
          </p:spPr>
        </p:sp>
        <p:sp>
          <p:nvSpPr>
            <p:cNvPr id="15" name="TextBox 15"/>
            <p:cNvSpPr txBox="1"/>
            <p:nvPr/>
          </p:nvSpPr>
          <p:spPr>
            <a:xfrm>
              <a:off x="627024" y="379428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6" name="Ellipse 16"/>
            <p:cNvSpPr/>
            <p:nvPr/>
          </p:nvSpPr>
          <p:spPr>
            <a:xfrm>
              <a:off x="533400" y="4371022"/>
              <a:ext cx="285750" cy="285750"/>
            </a:xfrm>
            <a:prstGeom prst="ellipse">
              <a:avLst/>
            </a:prstGeom>
            <a:solidFill>
              <a:srgbClr val="334E68"/>
            </a:solidFill>
            <a:ln>
              <a:noFill/>
            </a:ln>
          </p:spPr>
        </p:sp>
        <p:sp>
          <p:nvSpPr>
            <p:cNvPr id="17" name="TextBox 17"/>
            <p:cNvSpPr txBox="1"/>
            <p:nvPr/>
          </p:nvSpPr>
          <p:spPr>
            <a:xfrm>
              <a:off x="627024" y="444484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5</a:t>
              </a:r>
            </a:p>
          </p:txBody>
        </p:sp>
        <p:sp>
          <p:nvSpPr>
            <p:cNvPr id="18" name="Ellipse 18"/>
            <p:cNvSpPr/>
            <p:nvPr/>
          </p:nvSpPr>
          <p:spPr>
            <a:xfrm>
              <a:off x="533400" y="5021580"/>
              <a:ext cx="285750" cy="285750"/>
            </a:xfrm>
            <a:prstGeom prst="ellipse">
              <a:avLst/>
            </a:prstGeom>
            <a:solidFill>
              <a:srgbClr val="334E68"/>
            </a:solidFill>
            <a:ln>
              <a:noFill/>
            </a:ln>
          </p:spPr>
        </p:sp>
        <p:sp>
          <p:nvSpPr>
            <p:cNvPr id="19" name="TextBox 19"/>
            <p:cNvSpPr txBox="1"/>
            <p:nvPr/>
          </p:nvSpPr>
          <p:spPr>
            <a:xfrm>
              <a:off x="627024" y="509539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6</a:t>
              </a:r>
            </a:p>
          </p:txBody>
        </p:sp>
        <p:sp>
          <p:nvSpPr>
            <p:cNvPr id="20" name="TextBox 20"/>
            <p:cNvSpPr txBox="1"/>
            <p:nvPr/>
          </p:nvSpPr>
          <p:spPr>
            <a:xfrm>
              <a:off x="944880" y="1567815"/>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问题的阐述</a:t>
              </a:r>
            </a:p>
          </p:txBody>
        </p:sp>
        <p:sp>
          <p:nvSpPr>
            <p:cNvPr id="21" name="TextBox 21"/>
            <p:cNvSpPr txBox="1"/>
            <p:nvPr/>
          </p:nvSpPr>
          <p:spPr>
            <a:xfrm>
              <a:off x="946023" y="1861661"/>
              <a:ext cx="44931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界定问题，用较宽的范围而不是细节来定义和描述待解问题</a:t>
              </a:r>
            </a:p>
          </p:txBody>
        </p:sp>
        <p:sp>
          <p:nvSpPr>
            <p:cNvPr id="22" name="TextBox 22"/>
            <p:cNvSpPr txBox="1"/>
            <p:nvPr/>
          </p:nvSpPr>
          <p:spPr>
            <a:xfrm>
              <a:off x="944880" y="2218372"/>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问题的分析</a:t>
              </a:r>
            </a:p>
          </p:txBody>
        </p:sp>
        <p:sp>
          <p:nvSpPr>
            <p:cNvPr id="23" name="TextBox 23"/>
            <p:cNvSpPr txBox="1"/>
            <p:nvPr/>
          </p:nvSpPr>
          <p:spPr>
            <a:xfrm>
              <a:off x="946023" y="2512219"/>
              <a:ext cx="488975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提炼问题定义，把问题分成可以理解和处理的子问题，进而提供基本</a:t>
              </a:r>
              <a:br/>
              <a:r>
                <a:rPr lang="zh-CN" sz="1280" dirty="0">
                  <a:solidFill>
                    <a:srgbClr val="1F2937"/>
                  </a:solidFill>
                  <a:latin typeface="+mn-lt"/>
                  <a:ea typeface="+mn-ea"/>
                  <a:cs typeface="+mn-cs"/>
                </a:rPr>
                <a:t>细节</a:t>
              </a:r>
            </a:p>
          </p:txBody>
        </p:sp>
        <p:sp>
          <p:nvSpPr>
            <p:cNvPr id="24" name="TextBox 24"/>
            <p:cNvSpPr txBox="1"/>
            <p:nvPr/>
          </p:nvSpPr>
          <p:spPr>
            <a:xfrm>
              <a:off x="944880" y="3104198"/>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寻找解法</a:t>
              </a:r>
            </a:p>
          </p:txBody>
        </p:sp>
        <p:sp>
          <p:nvSpPr>
            <p:cNvPr id="25" name="TextBox 25"/>
            <p:cNvSpPr txBox="1"/>
            <p:nvPr/>
          </p:nvSpPr>
          <p:spPr>
            <a:xfrm>
              <a:off x="946023" y="3397091"/>
              <a:ext cx="190840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收集问题的一组可能解法</a:t>
              </a:r>
            </a:p>
          </p:txBody>
        </p:sp>
        <p:sp>
          <p:nvSpPr>
            <p:cNvPr id="26" name="TextBox 26"/>
            <p:cNvSpPr txBox="1"/>
            <p:nvPr/>
          </p:nvSpPr>
          <p:spPr>
            <a:xfrm>
              <a:off x="944880" y="3754755"/>
              <a:ext cx="4191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判定</a:t>
              </a:r>
            </a:p>
          </p:txBody>
        </p:sp>
        <p:sp>
          <p:nvSpPr>
            <p:cNvPr id="27" name="TextBox 27"/>
            <p:cNvSpPr txBox="1"/>
            <p:nvPr/>
          </p:nvSpPr>
          <p:spPr>
            <a:xfrm>
              <a:off x="946023" y="4048601"/>
              <a:ext cx="363154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评估和比较每一种可能解法，直至获得最佳解法</a:t>
              </a:r>
            </a:p>
          </p:txBody>
        </p:sp>
        <p:sp>
          <p:nvSpPr>
            <p:cNvPr id="28" name="TextBox 28"/>
            <p:cNvSpPr txBox="1"/>
            <p:nvPr/>
          </p:nvSpPr>
          <p:spPr>
            <a:xfrm>
              <a:off x="944880" y="4405312"/>
              <a:ext cx="122682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设计规格说明</a:t>
              </a:r>
            </a:p>
          </p:txBody>
        </p:sp>
        <p:sp>
          <p:nvSpPr>
            <p:cNvPr id="29" name="TextBox 29"/>
            <p:cNvSpPr txBox="1"/>
            <p:nvPr/>
          </p:nvSpPr>
          <p:spPr>
            <a:xfrm>
              <a:off x="946023" y="4699159"/>
              <a:ext cx="173609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对选中解法做细节描述</a:t>
              </a:r>
            </a:p>
          </p:txBody>
        </p:sp>
        <p:sp>
          <p:nvSpPr>
            <p:cNvPr id="30" name="TextBox 30"/>
            <p:cNvSpPr txBox="1"/>
            <p:nvPr/>
          </p:nvSpPr>
          <p:spPr>
            <a:xfrm>
              <a:off x="944880" y="5055870"/>
              <a:ext cx="4191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实现</a:t>
              </a:r>
            </a:p>
          </p:txBody>
        </p:sp>
        <p:sp>
          <p:nvSpPr>
            <p:cNvPr id="31" name="TextBox 31"/>
            <p:cNvSpPr txBox="1"/>
            <p:nvPr/>
          </p:nvSpPr>
          <p:spPr>
            <a:xfrm>
              <a:off x="946023" y="5349716"/>
              <a:ext cx="501004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由设计构造出结果产品，把分解过的各部分综合成一个有机的整体</a:t>
              </a:r>
            </a:p>
          </p:txBody>
        </p:sp>
      </p:grpSp>
      <p:grpSp>
        <p:nvGrpSpPr>
          <p:cNvPr id="40" name="c2-card-1"/>
          <p:cNvGrpSpPr/>
          <p:nvPr/>
        </p:nvGrpSpPr>
        <p:grpSpPr>
          <a:xfrm>
            <a:off x="6464618" y="1524000"/>
            <a:ext cx="5193982" cy="2438400"/>
            <a:chOff x="6464618" y="1524000"/>
            <a:chExt cx="5193982" cy="2438400"/>
          </a:xfrm>
        </p:grpSpPr>
        <p:sp>
          <p:nvSpPr>
            <p:cNvPr id="33" name="Rectangle 33"/>
            <p:cNvSpPr/>
            <p:nvPr/>
          </p:nvSpPr>
          <p:spPr>
            <a:xfrm>
              <a:off x="6464618" y="1524000"/>
              <a:ext cx="5193982" cy="2438400"/>
            </a:xfrm>
            <a:prstGeom prst="roundRect">
              <a:avLst>
                <a:gd name="adj" fmla="val 5469"/>
              </a:avLst>
            </a:prstGeom>
            <a:solidFill>
              <a:srgbClr val="FFFFFF"/>
            </a:solidFill>
            <a:ln w="14288">
              <a:solidFill>
                <a:srgbClr val="D9DFEA"/>
              </a:solidFill>
            </a:ln>
          </p:spPr>
        </p:sp>
        <p:sp>
          <p:nvSpPr>
            <p:cNvPr id="34" name="Rectangle 34"/>
            <p:cNvSpPr/>
            <p:nvPr/>
          </p:nvSpPr>
          <p:spPr>
            <a:xfrm>
              <a:off x="6474142" y="1657350"/>
              <a:ext cx="47625" cy="2171700"/>
            </a:xfrm>
            <a:prstGeom prst="roundRect">
              <a:avLst>
                <a:gd name="adj" fmla="val 50000"/>
              </a:avLst>
            </a:prstGeom>
            <a:solidFill>
              <a:srgbClr val="334E68"/>
            </a:solidFill>
            <a:ln>
              <a:noFill/>
            </a:ln>
          </p:spPr>
        </p:sp>
        <p:sp>
          <p:nvSpPr>
            <p:cNvPr id="35" name="Rectangle 35"/>
            <p:cNvSpPr/>
            <p:nvPr/>
          </p:nvSpPr>
          <p:spPr>
            <a:xfrm>
              <a:off x="6712268" y="1733550"/>
              <a:ext cx="494348" cy="257175"/>
            </a:xfrm>
            <a:prstGeom prst="roundRect">
              <a:avLst>
                <a:gd name="adj" fmla="val 50000"/>
              </a:avLst>
            </a:prstGeom>
            <a:solidFill>
              <a:srgbClr val="E7EDF3"/>
            </a:solidFill>
            <a:ln>
              <a:noFill/>
            </a:ln>
          </p:spPr>
        </p:sp>
        <p:sp>
          <p:nvSpPr>
            <p:cNvPr id="36" name="TextBox 36"/>
            <p:cNvSpPr txBox="1"/>
            <p:nvPr/>
          </p:nvSpPr>
          <p:spPr>
            <a:xfrm>
              <a:off x="6803428" y="1769269"/>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定义</a:t>
              </a:r>
            </a:p>
          </p:txBody>
        </p:sp>
        <p:sp>
          <p:nvSpPr>
            <p:cNvPr id="37" name="TextBox 37"/>
            <p:cNvSpPr txBox="1"/>
            <p:nvPr/>
          </p:nvSpPr>
          <p:spPr>
            <a:xfrm>
              <a:off x="7313295" y="1768792"/>
              <a:ext cx="3697174"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软件生命周期（Software Life Cycle）</a:t>
              </a:r>
            </a:p>
          </p:txBody>
        </p:sp>
        <p:sp>
          <p:nvSpPr>
            <p:cNvPr id="38" name="TextBox 38"/>
            <p:cNvSpPr txBox="1"/>
            <p:nvPr/>
          </p:nvSpPr>
          <p:spPr>
            <a:xfrm>
              <a:off x="6704648" y="2129790"/>
              <a:ext cx="4396740" cy="11506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软件也有孕育、诞生、成长、成熟、衰亡、演化的生</a:t>
              </a:r>
              <a:br/>
              <a:r>
                <a:rPr lang="zh-CN" sz="1500" dirty="0">
                  <a:solidFill>
                    <a:srgbClr val="1F2937"/>
                  </a:solidFill>
                  <a:latin typeface="+mn-lt"/>
                  <a:ea typeface="+mn-ea"/>
                  <a:cs typeface="+mn-cs"/>
                </a:rPr>
                <a:t>存过程。为了用工程化方式有效地管理这个全过程，</a:t>
              </a:r>
              <a:br/>
              <a:r>
                <a:rPr lang="zh-CN" sz="1500" dirty="0">
                  <a:solidFill>
                    <a:srgbClr val="1F2937"/>
                  </a:solidFill>
                  <a:latin typeface="+mn-lt"/>
                  <a:ea typeface="+mn-ea"/>
                  <a:cs typeface="+mn-cs"/>
                </a:rPr>
                <a:t>把它划分成若干阶段，由此形成软件生命周期的概</a:t>
              </a:r>
              <a:br/>
              <a:r>
                <a:rPr lang="zh-CN" sz="1500" dirty="0">
                  <a:solidFill>
                    <a:srgbClr val="1F2937"/>
                  </a:solidFill>
                  <a:latin typeface="+mn-lt"/>
                  <a:ea typeface="+mn-ea"/>
                  <a:cs typeface="+mn-cs"/>
                </a:rPr>
                <a:t>念。</a:t>
              </a:r>
            </a:p>
          </p:txBody>
        </p:sp>
        <p:sp>
          <p:nvSpPr>
            <p:cNvPr id="39" name="TextBox 39"/>
            <p:cNvSpPr txBox="1"/>
            <p:nvPr/>
          </p:nvSpPr>
          <p:spPr>
            <a:xfrm>
              <a:off x="6705791" y="3318986"/>
              <a:ext cx="456463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5B6475"/>
                  </a:solidFill>
                  <a:latin typeface="+mn-lt"/>
                  <a:ea typeface="+mn-ea"/>
                  <a:cs typeface="+mn-cs"/>
                </a:rPr>
                <a:t>它从用户需求开始，经过开发、交付使用，在使用中不断增补修</a:t>
              </a:r>
              <a:br/>
              <a:r>
                <a:rPr lang="zh-CN" sz="1280" dirty="0">
                  <a:solidFill>
                    <a:srgbClr val="5B6475"/>
                  </a:solidFill>
                  <a:latin typeface="+mn-lt"/>
                  <a:ea typeface="+mn-ea"/>
                  <a:cs typeface="+mn-cs"/>
                </a:rPr>
                <a:t>订，直至让位于新软件。</a:t>
              </a:r>
            </a:p>
          </p:txBody>
        </p:sp>
      </p:grpSp>
      <p:grpSp>
        <p:nvGrpSpPr>
          <p:cNvPr id="46" name="c2-callout-2"/>
          <p:cNvGrpSpPr/>
          <p:nvPr/>
        </p:nvGrpSpPr>
        <p:grpSpPr>
          <a:xfrm>
            <a:off x="6464618" y="4152900"/>
            <a:ext cx="5193982" cy="1434465"/>
            <a:chOff x="6464618" y="4152900"/>
            <a:chExt cx="5193982" cy="1434465"/>
          </a:xfrm>
        </p:grpSpPr>
        <p:sp>
          <p:nvSpPr>
            <p:cNvPr id="41" name="Rectangle 41"/>
            <p:cNvSpPr/>
            <p:nvPr/>
          </p:nvSpPr>
          <p:spPr>
            <a:xfrm>
              <a:off x="6464618" y="4152900"/>
              <a:ext cx="5193982" cy="1434465"/>
            </a:xfrm>
            <a:prstGeom prst="roundRect">
              <a:avLst>
                <a:gd name="adj" fmla="val 7968"/>
              </a:avLst>
            </a:prstGeom>
            <a:solidFill>
              <a:srgbClr val="334E68"/>
            </a:solidFill>
            <a:ln>
              <a:noFill/>
            </a:ln>
          </p:spPr>
        </p:sp>
        <p:grpSp>
          <p:nvGrpSpPr>
            <p:cNvPr id="44" name="Group 44"/>
            <p:cNvGrpSpPr/>
            <p:nvPr/>
          </p:nvGrpSpPr>
          <p:grpSpPr>
            <a:xfrm>
              <a:off x="6669405" y="4770122"/>
              <a:ext cx="200023" cy="200023"/>
              <a:chOff x="6669405" y="4770122"/>
              <a:chExt cx="200023" cy="200023"/>
            </a:xfrm>
          </p:grpSpPr>
          <p:sp>
            <p:nvSpPr>
              <p:cNvPr id="42" name="Freeform 42"/>
              <p:cNvSpPr/>
              <p:nvPr/>
            </p:nvSpPr>
            <p:spPr>
              <a:xfrm>
                <a:off x="6669405" y="477012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3" name="Freeform 43"/>
              <p:cNvSpPr/>
              <p:nvPr/>
            </p:nvSpPr>
            <p:spPr>
              <a:xfrm>
                <a:off x="6802755" y="483679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5" name="TextBox 45"/>
            <p:cNvSpPr txBox="1"/>
            <p:nvPr/>
          </p:nvSpPr>
          <p:spPr>
            <a:xfrm>
              <a:off x="6971348" y="4627245"/>
              <a:ext cx="417766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软件生命周期由软件定义、软件开发和运行维护 3</a:t>
              </a:r>
              <a:br/>
              <a:r>
                <a:rPr lang="zh-CN" sz="1500" dirty="0">
                  <a:solidFill>
                    <a:srgbClr val="FFFFFF"/>
                  </a:solidFill>
                  <a:latin typeface="+mn-lt"/>
                  <a:ea typeface="+mn-ea"/>
                  <a:cs typeface="+mn-cs"/>
                </a:rPr>
                <a:t>个时期组成，每个时期再划分成若干阶段。</a:t>
              </a:r>
            </a:p>
          </p:txBody>
        </p:sp>
      </p:grpSp>
      <p:grpSp>
        <p:nvGrpSpPr>
          <p:cNvPr id="49" name="footer"/>
          <p:cNvGrpSpPr/>
          <p:nvPr/>
        </p:nvGrpSpPr>
        <p:grpSpPr>
          <a:xfrm>
            <a:off x="528447" y="6581299"/>
            <a:ext cx="11135106" cy="190690"/>
            <a:chOff x="528447" y="6581299"/>
            <a:chExt cx="11135106" cy="190690"/>
          </a:xfrm>
        </p:grpSpPr>
        <p:sp>
          <p:nvSpPr>
            <p:cNvPr id="47" name="TextBox 47"/>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48" name="TextBox 4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软件生命周期</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三个时期、八个阶段各做什么</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0" name="c1-table-1"/>
          <p:cNvGrpSpPr/>
          <p:nvPr/>
        </p:nvGrpSpPr>
        <p:grpSpPr>
          <a:xfrm>
            <a:off x="533400" y="1524000"/>
            <a:ext cx="6924675" cy="4670108"/>
            <a:chOff x="533400" y="1524000"/>
            <a:chExt cx="6924675" cy="4670108"/>
          </a:xfrm>
        </p:grpSpPr>
        <p:sp>
          <p:nvSpPr>
            <p:cNvPr id="7" name="Rectangle 7"/>
            <p:cNvSpPr/>
            <p:nvPr/>
          </p:nvSpPr>
          <p:spPr>
            <a:xfrm>
              <a:off x="533400" y="1524000"/>
              <a:ext cx="6924675" cy="439102"/>
            </a:xfrm>
            <a:prstGeom prst="rect">
              <a:avLst/>
            </a:prstGeom>
            <a:solidFill>
              <a:srgbClr val="334E68"/>
            </a:solidFill>
            <a:ln>
              <a:noFill/>
            </a:ln>
          </p:spPr>
        </p:sp>
        <p:sp>
          <p:nvSpPr>
            <p:cNvPr id="8" name="TextBox 8"/>
            <p:cNvSpPr txBox="1"/>
            <p:nvPr/>
          </p:nvSpPr>
          <p:spPr>
            <a:xfrm>
              <a:off x="899160" y="164877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时期</a:t>
              </a:r>
            </a:p>
          </p:txBody>
        </p:sp>
        <p:sp>
          <p:nvSpPr>
            <p:cNvPr id="9" name="TextBox 9"/>
            <p:cNvSpPr txBox="1"/>
            <p:nvPr/>
          </p:nvSpPr>
          <p:spPr>
            <a:xfrm>
              <a:off x="2214562" y="164877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阶段</a:t>
              </a:r>
            </a:p>
          </p:txBody>
        </p:sp>
        <p:sp>
          <p:nvSpPr>
            <p:cNvPr id="10" name="TextBox 10"/>
            <p:cNvSpPr txBox="1"/>
            <p:nvPr/>
          </p:nvSpPr>
          <p:spPr>
            <a:xfrm>
              <a:off x="4941761" y="1648778"/>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关键任务</a:t>
              </a:r>
            </a:p>
          </p:txBody>
        </p:sp>
        <p:sp>
          <p:nvSpPr>
            <p:cNvPr id="11" name="TextBox 11"/>
            <p:cNvSpPr txBox="1"/>
            <p:nvPr/>
          </p:nvSpPr>
          <p:spPr>
            <a:xfrm>
              <a:off x="629412" y="2087880"/>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软件定义</a:t>
              </a:r>
            </a:p>
          </p:txBody>
        </p:sp>
        <p:sp>
          <p:nvSpPr>
            <p:cNvPr id="12" name="TextBox 12"/>
            <p:cNvSpPr txBox="1"/>
            <p:nvPr/>
          </p:nvSpPr>
          <p:spPr>
            <a:xfrm>
              <a:off x="1737170" y="2087880"/>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问题定义</a:t>
              </a:r>
            </a:p>
          </p:txBody>
        </p:sp>
        <p:sp>
          <p:nvSpPr>
            <p:cNvPr id="13" name="TextBox 13"/>
            <p:cNvSpPr txBox="1"/>
            <p:nvPr/>
          </p:nvSpPr>
          <p:spPr>
            <a:xfrm>
              <a:off x="3261170" y="2087880"/>
              <a:ext cx="27397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界定问题的范围，确切地定义问题</a:t>
              </a:r>
            </a:p>
          </p:txBody>
        </p:sp>
        <p:sp>
          <p:nvSpPr>
            <p:cNvPr id="14" name="Rectangle 14"/>
            <p:cNvSpPr/>
            <p:nvPr/>
          </p:nvSpPr>
          <p:spPr>
            <a:xfrm>
              <a:off x="533400" y="2397442"/>
              <a:ext cx="6924675" cy="9525"/>
            </a:xfrm>
            <a:prstGeom prst="rect">
              <a:avLst/>
            </a:prstGeom>
            <a:solidFill>
              <a:srgbClr val="D9DFEA"/>
            </a:solidFill>
            <a:ln>
              <a:noFill/>
            </a:ln>
          </p:spPr>
        </p:sp>
        <p:sp>
          <p:nvSpPr>
            <p:cNvPr id="15" name="Rectangle 15"/>
            <p:cNvSpPr/>
            <p:nvPr/>
          </p:nvSpPr>
          <p:spPr>
            <a:xfrm>
              <a:off x="533400" y="2402205"/>
              <a:ext cx="6924675" cy="679132"/>
            </a:xfrm>
            <a:prstGeom prst="rect">
              <a:avLst/>
            </a:prstGeom>
            <a:solidFill>
              <a:srgbClr val="F4F6FB"/>
            </a:solidFill>
            <a:ln>
              <a:noFill/>
            </a:ln>
          </p:spPr>
        </p:sp>
        <p:sp>
          <p:nvSpPr>
            <p:cNvPr id="16" name="TextBox 16"/>
            <p:cNvSpPr txBox="1"/>
            <p:nvPr/>
          </p:nvSpPr>
          <p:spPr>
            <a:xfrm>
              <a:off x="629412" y="2646998"/>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软件定义</a:t>
              </a:r>
            </a:p>
          </p:txBody>
        </p:sp>
        <p:sp>
          <p:nvSpPr>
            <p:cNvPr id="17" name="TextBox 17"/>
            <p:cNvSpPr txBox="1"/>
            <p:nvPr/>
          </p:nvSpPr>
          <p:spPr>
            <a:xfrm>
              <a:off x="1737170" y="2646998"/>
              <a:ext cx="92240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可行性研究</a:t>
              </a:r>
            </a:p>
          </p:txBody>
        </p:sp>
        <p:sp>
          <p:nvSpPr>
            <p:cNvPr id="18" name="TextBox 18"/>
            <p:cNvSpPr txBox="1"/>
            <p:nvPr/>
          </p:nvSpPr>
          <p:spPr>
            <a:xfrm>
              <a:off x="3261170" y="2526982"/>
              <a:ext cx="37856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研究问题的范围，探索这个问题是否值得去解，是</a:t>
              </a:r>
              <a:br/>
              <a:r>
                <a:rPr lang="zh-CN" sz="1350" dirty="0">
                  <a:solidFill>
                    <a:srgbClr val="1F2937"/>
                  </a:solidFill>
                  <a:latin typeface="+mn-lt"/>
                  <a:ea typeface="+mn-ea"/>
                  <a:cs typeface="+mn-cs"/>
                </a:rPr>
                <a:t>否有可行的解决办法</a:t>
              </a:r>
            </a:p>
          </p:txBody>
        </p:sp>
        <p:sp>
          <p:nvSpPr>
            <p:cNvPr id="19" name="Rectangle 19"/>
            <p:cNvSpPr/>
            <p:nvPr/>
          </p:nvSpPr>
          <p:spPr>
            <a:xfrm>
              <a:off x="533400" y="3075622"/>
              <a:ext cx="6924675" cy="9525"/>
            </a:xfrm>
            <a:prstGeom prst="rect">
              <a:avLst/>
            </a:prstGeom>
            <a:solidFill>
              <a:srgbClr val="D9DFEA"/>
            </a:solidFill>
            <a:ln>
              <a:noFill/>
            </a:ln>
          </p:spPr>
        </p:sp>
        <p:sp>
          <p:nvSpPr>
            <p:cNvPr id="20" name="TextBox 20"/>
            <p:cNvSpPr txBox="1"/>
            <p:nvPr/>
          </p:nvSpPr>
          <p:spPr>
            <a:xfrm>
              <a:off x="629412" y="3206115"/>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软件定义</a:t>
              </a:r>
            </a:p>
          </p:txBody>
        </p:sp>
        <p:sp>
          <p:nvSpPr>
            <p:cNvPr id="21" name="TextBox 21"/>
            <p:cNvSpPr txBox="1"/>
            <p:nvPr/>
          </p:nvSpPr>
          <p:spPr>
            <a:xfrm>
              <a:off x="1737170" y="3206115"/>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需求分析</a:t>
              </a:r>
            </a:p>
          </p:txBody>
        </p:sp>
        <p:sp>
          <p:nvSpPr>
            <p:cNvPr id="22" name="Rectangle 22"/>
            <p:cNvSpPr/>
            <p:nvPr/>
          </p:nvSpPr>
          <p:spPr>
            <a:xfrm>
              <a:off x="3174682" y="3089910"/>
              <a:ext cx="4274820" cy="420052"/>
            </a:xfrm>
            <a:prstGeom prst="rect">
              <a:avLst/>
            </a:prstGeom>
            <a:solidFill>
              <a:srgbClr val="FDEEE7"/>
            </a:solidFill>
            <a:ln>
              <a:noFill/>
            </a:ln>
          </p:spPr>
        </p:sp>
        <p:sp>
          <p:nvSpPr>
            <p:cNvPr id="23" name="TextBox 23"/>
            <p:cNvSpPr txBox="1"/>
            <p:nvPr/>
          </p:nvSpPr>
          <p:spPr>
            <a:xfrm>
              <a:off x="3261170" y="3206115"/>
              <a:ext cx="255803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确定目标系统必须具备哪些功能</a:t>
              </a:r>
            </a:p>
          </p:txBody>
        </p:sp>
        <p:sp>
          <p:nvSpPr>
            <p:cNvPr id="24" name="Rectangle 24"/>
            <p:cNvSpPr/>
            <p:nvPr/>
          </p:nvSpPr>
          <p:spPr>
            <a:xfrm>
              <a:off x="533400" y="3514725"/>
              <a:ext cx="6924675" cy="9525"/>
            </a:xfrm>
            <a:prstGeom prst="rect">
              <a:avLst/>
            </a:prstGeom>
            <a:solidFill>
              <a:srgbClr val="D9DFEA"/>
            </a:solidFill>
            <a:ln>
              <a:noFill/>
            </a:ln>
          </p:spPr>
        </p:sp>
        <p:sp>
          <p:nvSpPr>
            <p:cNvPr id="25" name="Rectangle 25"/>
            <p:cNvSpPr/>
            <p:nvPr/>
          </p:nvSpPr>
          <p:spPr>
            <a:xfrm>
              <a:off x="533400" y="3519488"/>
              <a:ext cx="6924675" cy="679132"/>
            </a:xfrm>
            <a:prstGeom prst="rect">
              <a:avLst/>
            </a:prstGeom>
            <a:solidFill>
              <a:srgbClr val="F4F6FB"/>
            </a:solidFill>
            <a:ln>
              <a:noFill/>
            </a:ln>
          </p:spPr>
        </p:sp>
        <p:sp>
          <p:nvSpPr>
            <p:cNvPr id="26" name="TextBox 26"/>
            <p:cNvSpPr txBox="1"/>
            <p:nvPr/>
          </p:nvSpPr>
          <p:spPr>
            <a:xfrm>
              <a:off x="629412" y="3765232"/>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软件开发</a:t>
              </a:r>
            </a:p>
          </p:txBody>
        </p:sp>
        <p:sp>
          <p:nvSpPr>
            <p:cNvPr id="27" name="TextBox 27"/>
            <p:cNvSpPr txBox="1"/>
            <p:nvPr/>
          </p:nvSpPr>
          <p:spPr>
            <a:xfrm>
              <a:off x="1737170" y="3765232"/>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总体设计</a:t>
              </a:r>
            </a:p>
          </p:txBody>
        </p:sp>
        <p:sp>
          <p:nvSpPr>
            <p:cNvPr id="28" name="TextBox 28"/>
            <p:cNvSpPr txBox="1"/>
            <p:nvPr/>
          </p:nvSpPr>
          <p:spPr>
            <a:xfrm>
              <a:off x="3261170" y="3645218"/>
              <a:ext cx="37856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设计出几种可能的实现方案，权衡利弊推荐最佳方</a:t>
              </a:r>
              <a:br/>
              <a:r>
                <a:rPr lang="zh-CN" sz="1350" dirty="0">
                  <a:solidFill>
                    <a:srgbClr val="1F2937"/>
                  </a:solidFill>
                  <a:latin typeface="+mn-lt"/>
                  <a:ea typeface="+mn-ea"/>
                  <a:cs typeface="+mn-cs"/>
                </a:rPr>
                <a:t>案，制定详细计划，设计软件的体系结构</a:t>
              </a:r>
            </a:p>
          </p:txBody>
        </p:sp>
        <p:sp>
          <p:nvSpPr>
            <p:cNvPr id="29" name="Rectangle 29"/>
            <p:cNvSpPr/>
            <p:nvPr/>
          </p:nvSpPr>
          <p:spPr>
            <a:xfrm>
              <a:off x="533400" y="4193858"/>
              <a:ext cx="6924675" cy="9525"/>
            </a:xfrm>
            <a:prstGeom prst="rect">
              <a:avLst/>
            </a:prstGeom>
            <a:solidFill>
              <a:srgbClr val="D9DFEA"/>
            </a:solidFill>
            <a:ln>
              <a:noFill/>
            </a:ln>
          </p:spPr>
        </p:sp>
        <p:sp>
          <p:nvSpPr>
            <p:cNvPr id="30" name="TextBox 30"/>
            <p:cNvSpPr txBox="1"/>
            <p:nvPr/>
          </p:nvSpPr>
          <p:spPr>
            <a:xfrm>
              <a:off x="629412" y="4323398"/>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软件开发</a:t>
              </a:r>
            </a:p>
          </p:txBody>
        </p:sp>
        <p:sp>
          <p:nvSpPr>
            <p:cNvPr id="31" name="TextBox 31"/>
            <p:cNvSpPr txBox="1"/>
            <p:nvPr/>
          </p:nvSpPr>
          <p:spPr>
            <a:xfrm>
              <a:off x="1737170" y="4323398"/>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详细设计</a:t>
              </a:r>
            </a:p>
          </p:txBody>
        </p:sp>
        <p:sp>
          <p:nvSpPr>
            <p:cNvPr id="32" name="TextBox 32"/>
            <p:cNvSpPr txBox="1"/>
            <p:nvPr/>
          </p:nvSpPr>
          <p:spPr>
            <a:xfrm>
              <a:off x="3261170" y="4323398"/>
              <a:ext cx="219456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设计出程序的详细规格说明</a:t>
              </a:r>
            </a:p>
          </p:txBody>
        </p:sp>
        <p:sp>
          <p:nvSpPr>
            <p:cNvPr id="33" name="Rectangle 33"/>
            <p:cNvSpPr/>
            <p:nvPr/>
          </p:nvSpPr>
          <p:spPr>
            <a:xfrm>
              <a:off x="533400" y="4632960"/>
              <a:ext cx="6924675" cy="9525"/>
            </a:xfrm>
            <a:prstGeom prst="rect">
              <a:avLst/>
            </a:prstGeom>
            <a:solidFill>
              <a:srgbClr val="D9DFEA"/>
            </a:solidFill>
            <a:ln>
              <a:noFill/>
            </a:ln>
          </p:spPr>
        </p:sp>
        <p:sp>
          <p:nvSpPr>
            <p:cNvPr id="34" name="Rectangle 34"/>
            <p:cNvSpPr/>
            <p:nvPr/>
          </p:nvSpPr>
          <p:spPr>
            <a:xfrm>
              <a:off x="533400" y="4637722"/>
              <a:ext cx="6924675" cy="439102"/>
            </a:xfrm>
            <a:prstGeom prst="rect">
              <a:avLst/>
            </a:prstGeom>
            <a:solidFill>
              <a:srgbClr val="F4F6FB"/>
            </a:solidFill>
            <a:ln>
              <a:noFill/>
            </a:ln>
          </p:spPr>
        </p:sp>
        <p:sp>
          <p:nvSpPr>
            <p:cNvPr id="35" name="TextBox 35"/>
            <p:cNvSpPr txBox="1"/>
            <p:nvPr/>
          </p:nvSpPr>
          <p:spPr>
            <a:xfrm>
              <a:off x="629412" y="4762500"/>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软件开发</a:t>
              </a:r>
            </a:p>
          </p:txBody>
        </p:sp>
        <p:sp>
          <p:nvSpPr>
            <p:cNvPr id="36" name="TextBox 36"/>
            <p:cNvSpPr txBox="1"/>
            <p:nvPr/>
          </p:nvSpPr>
          <p:spPr>
            <a:xfrm>
              <a:off x="1737170" y="4762500"/>
              <a:ext cx="128587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编码和单元测试</a:t>
              </a:r>
            </a:p>
          </p:txBody>
        </p:sp>
        <p:sp>
          <p:nvSpPr>
            <p:cNvPr id="37" name="TextBox 37"/>
            <p:cNvSpPr txBox="1"/>
            <p:nvPr/>
          </p:nvSpPr>
          <p:spPr>
            <a:xfrm>
              <a:off x="3261170" y="4762500"/>
              <a:ext cx="364845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写出正确的、容易理解、容易维护的程序模块</a:t>
              </a:r>
            </a:p>
          </p:txBody>
        </p:sp>
        <p:sp>
          <p:nvSpPr>
            <p:cNvPr id="38" name="Rectangle 38"/>
            <p:cNvSpPr/>
            <p:nvPr/>
          </p:nvSpPr>
          <p:spPr>
            <a:xfrm>
              <a:off x="533400" y="5072062"/>
              <a:ext cx="6924675" cy="9525"/>
            </a:xfrm>
            <a:prstGeom prst="rect">
              <a:avLst/>
            </a:prstGeom>
            <a:solidFill>
              <a:srgbClr val="D9DFEA"/>
            </a:solidFill>
            <a:ln>
              <a:noFill/>
            </a:ln>
          </p:spPr>
        </p:sp>
        <p:sp>
          <p:nvSpPr>
            <p:cNvPr id="39" name="TextBox 39"/>
            <p:cNvSpPr txBox="1"/>
            <p:nvPr/>
          </p:nvSpPr>
          <p:spPr>
            <a:xfrm>
              <a:off x="629412" y="5201602"/>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软件开发</a:t>
              </a:r>
            </a:p>
          </p:txBody>
        </p:sp>
        <p:sp>
          <p:nvSpPr>
            <p:cNvPr id="40" name="TextBox 40"/>
            <p:cNvSpPr txBox="1"/>
            <p:nvPr/>
          </p:nvSpPr>
          <p:spPr>
            <a:xfrm>
              <a:off x="1737170" y="5201602"/>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综合测试</a:t>
              </a:r>
            </a:p>
          </p:txBody>
        </p:sp>
        <p:sp>
          <p:nvSpPr>
            <p:cNvPr id="41" name="TextBox 41"/>
            <p:cNvSpPr txBox="1"/>
            <p:nvPr/>
          </p:nvSpPr>
          <p:spPr>
            <a:xfrm>
              <a:off x="3261170" y="5201602"/>
              <a:ext cx="34667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通过各种类型的测试使软件达到预定的要求</a:t>
              </a:r>
            </a:p>
          </p:txBody>
        </p:sp>
        <p:sp>
          <p:nvSpPr>
            <p:cNvPr id="42" name="Rectangle 42"/>
            <p:cNvSpPr/>
            <p:nvPr/>
          </p:nvSpPr>
          <p:spPr>
            <a:xfrm>
              <a:off x="533400" y="5510212"/>
              <a:ext cx="6924675" cy="9525"/>
            </a:xfrm>
            <a:prstGeom prst="rect">
              <a:avLst/>
            </a:prstGeom>
            <a:solidFill>
              <a:srgbClr val="D9DFEA"/>
            </a:solidFill>
            <a:ln>
              <a:noFill/>
            </a:ln>
          </p:spPr>
        </p:sp>
        <p:sp>
          <p:nvSpPr>
            <p:cNvPr id="43" name="Rectangle 43"/>
            <p:cNvSpPr/>
            <p:nvPr/>
          </p:nvSpPr>
          <p:spPr>
            <a:xfrm>
              <a:off x="533400" y="5514975"/>
              <a:ext cx="6924675" cy="679132"/>
            </a:xfrm>
            <a:prstGeom prst="rect">
              <a:avLst/>
            </a:prstGeom>
            <a:solidFill>
              <a:srgbClr val="F4F6FB"/>
            </a:solidFill>
            <a:ln>
              <a:noFill/>
            </a:ln>
          </p:spPr>
        </p:sp>
        <p:sp>
          <p:nvSpPr>
            <p:cNvPr id="44" name="TextBox 44"/>
            <p:cNvSpPr txBox="1"/>
            <p:nvPr/>
          </p:nvSpPr>
          <p:spPr>
            <a:xfrm>
              <a:off x="629412" y="5760720"/>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运行维护</a:t>
              </a:r>
            </a:p>
          </p:txBody>
        </p:sp>
        <p:sp>
          <p:nvSpPr>
            <p:cNvPr id="45" name="TextBox 45"/>
            <p:cNvSpPr txBox="1"/>
            <p:nvPr/>
          </p:nvSpPr>
          <p:spPr>
            <a:xfrm>
              <a:off x="1737170" y="5760720"/>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软件维护</a:t>
              </a:r>
            </a:p>
          </p:txBody>
        </p:sp>
        <p:sp>
          <p:nvSpPr>
            <p:cNvPr id="46" name="TextBox 46"/>
            <p:cNvSpPr txBox="1"/>
            <p:nvPr/>
          </p:nvSpPr>
          <p:spPr>
            <a:xfrm>
              <a:off x="3261170" y="5640705"/>
              <a:ext cx="37856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通过各种必要的维护活动使软件系统持久地满足用</a:t>
              </a:r>
              <a:br/>
              <a:r>
                <a:rPr lang="zh-CN" sz="1350" dirty="0">
                  <a:solidFill>
                    <a:srgbClr val="1F2937"/>
                  </a:solidFill>
                  <a:latin typeface="+mn-lt"/>
                  <a:ea typeface="+mn-ea"/>
                  <a:cs typeface="+mn-cs"/>
                </a:rPr>
                <a:t>户的需要</a:t>
              </a:r>
            </a:p>
          </p:txBody>
        </p:sp>
        <p:sp>
          <p:nvSpPr>
            <p:cNvPr id="47" name="Rectangle 47"/>
            <p:cNvSpPr/>
            <p:nvPr/>
          </p:nvSpPr>
          <p:spPr>
            <a:xfrm>
              <a:off x="533400" y="1524000"/>
              <a:ext cx="6924675" cy="4670108"/>
            </a:xfrm>
            <a:prstGeom prst="rect">
              <a:avLst/>
            </a:prstGeom>
            <a:noFill/>
            <a:ln w="14288">
              <a:solidFill>
                <a:srgbClr val="D9DFEA"/>
              </a:solidFill>
            </a:ln>
          </p:spPr>
        </p:sp>
        <p:sp>
          <p:nvSpPr>
            <p:cNvPr id="48" name="Rectangle 48"/>
            <p:cNvSpPr/>
            <p:nvPr/>
          </p:nvSpPr>
          <p:spPr>
            <a:xfrm>
              <a:off x="1636395" y="1524000"/>
              <a:ext cx="9525" cy="4670108"/>
            </a:xfrm>
            <a:prstGeom prst="rect">
              <a:avLst/>
            </a:prstGeom>
            <a:solidFill>
              <a:srgbClr val="D9DFEA"/>
            </a:solidFill>
            <a:ln>
              <a:noFill/>
            </a:ln>
          </p:spPr>
        </p:sp>
        <p:sp>
          <p:nvSpPr>
            <p:cNvPr id="49" name="Rectangle 49"/>
            <p:cNvSpPr/>
            <p:nvPr/>
          </p:nvSpPr>
          <p:spPr>
            <a:xfrm>
              <a:off x="3160395" y="1524000"/>
              <a:ext cx="9525" cy="4670108"/>
            </a:xfrm>
            <a:prstGeom prst="rect">
              <a:avLst/>
            </a:prstGeom>
            <a:solidFill>
              <a:srgbClr val="D9DFEA"/>
            </a:solidFill>
            <a:ln>
              <a:noFill/>
            </a:ln>
          </p:spPr>
        </p:sp>
      </p:grpSp>
      <p:grpSp>
        <p:nvGrpSpPr>
          <p:cNvPr id="56" name="c2-card-1"/>
          <p:cNvGrpSpPr/>
          <p:nvPr/>
        </p:nvGrpSpPr>
        <p:grpSpPr>
          <a:xfrm>
            <a:off x="7762875" y="1524000"/>
            <a:ext cx="3895725" cy="1185862"/>
            <a:chOff x="7762875" y="1524000"/>
            <a:chExt cx="3895725" cy="1185862"/>
          </a:xfrm>
        </p:grpSpPr>
        <p:sp>
          <p:nvSpPr>
            <p:cNvPr id="51" name="Rectangle 51"/>
            <p:cNvSpPr/>
            <p:nvPr/>
          </p:nvSpPr>
          <p:spPr>
            <a:xfrm>
              <a:off x="7762875" y="1524000"/>
              <a:ext cx="3895725" cy="1185862"/>
            </a:xfrm>
            <a:prstGeom prst="roundRect">
              <a:avLst>
                <a:gd name="adj" fmla="val 11245"/>
              </a:avLst>
            </a:prstGeom>
            <a:solidFill>
              <a:srgbClr val="FFFFFF"/>
            </a:solidFill>
            <a:ln w="14288">
              <a:solidFill>
                <a:srgbClr val="D9DFEA"/>
              </a:solidFill>
            </a:ln>
          </p:spPr>
        </p:sp>
        <p:sp>
          <p:nvSpPr>
            <p:cNvPr id="52" name="Rectangle 52"/>
            <p:cNvSpPr/>
            <p:nvPr/>
          </p:nvSpPr>
          <p:spPr>
            <a:xfrm>
              <a:off x="7772400" y="1657350"/>
              <a:ext cx="47625" cy="919162"/>
            </a:xfrm>
            <a:prstGeom prst="roundRect">
              <a:avLst>
                <a:gd name="adj" fmla="val 50000"/>
              </a:avLst>
            </a:prstGeom>
            <a:solidFill>
              <a:srgbClr val="5B6475"/>
            </a:solidFill>
            <a:ln>
              <a:noFill/>
            </a:ln>
          </p:spPr>
        </p:sp>
        <p:sp>
          <p:nvSpPr>
            <p:cNvPr id="53" name="Rectangle 53"/>
            <p:cNvSpPr/>
            <p:nvPr/>
          </p:nvSpPr>
          <p:spPr>
            <a:xfrm>
              <a:off x="7987665" y="1710690"/>
              <a:ext cx="1329690" cy="238125"/>
            </a:xfrm>
            <a:prstGeom prst="roundRect">
              <a:avLst>
                <a:gd name="adj" fmla="val 50000"/>
              </a:avLst>
            </a:prstGeom>
            <a:solidFill>
              <a:srgbClr val="F4F6FB"/>
            </a:solidFill>
            <a:ln>
              <a:noFill/>
            </a:ln>
          </p:spPr>
        </p:sp>
        <p:sp>
          <p:nvSpPr>
            <p:cNvPr id="54" name="TextBox 54"/>
            <p:cNvSpPr txBox="1"/>
            <p:nvPr/>
          </p:nvSpPr>
          <p:spPr>
            <a:xfrm>
              <a:off x="8053883" y="1743551"/>
              <a:ext cx="1197254"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软件定义时期还要做</a:t>
              </a:r>
            </a:p>
          </p:txBody>
        </p:sp>
        <p:sp>
          <p:nvSpPr>
            <p:cNvPr id="55" name="TextBox 55"/>
            <p:cNvSpPr txBox="1"/>
            <p:nvPr/>
          </p:nvSpPr>
          <p:spPr>
            <a:xfrm>
              <a:off x="7980807" y="2054542"/>
              <a:ext cx="32712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估计完成该项工程所需要的资源和成本，制</a:t>
              </a:r>
              <a:br/>
              <a:r>
                <a:rPr lang="zh-CN" sz="1350" dirty="0">
                  <a:solidFill>
                    <a:srgbClr val="1F2937"/>
                  </a:solidFill>
                  <a:latin typeface="+mn-lt"/>
                  <a:ea typeface="+mn-ea"/>
                  <a:cs typeface="+mn-cs"/>
                </a:rPr>
                <a:t>定工程进度表。</a:t>
              </a:r>
            </a:p>
          </p:txBody>
        </p:sp>
      </p:grpSp>
      <p:grpSp>
        <p:nvGrpSpPr>
          <p:cNvPr id="62" name="c2-card-2"/>
          <p:cNvGrpSpPr/>
          <p:nvPr/>
        </p:nvGrpSpPr>
        <p:grpSpPr>
          <a:xfrm>
            <a:off x="7762875" y="2879408"/>
            <a:ext cx="3895725" cy="1185862"/>
            <a:chOff x="7762875" y="2879408"/>
            <a:chExt cx="3895725" cy="1185862"/>
          </a:xfrm>
        </p:grpSpPr>
        <p:sp>
          <p:nvSpPr>
            <p:cNvPr id="57" name="Rectangle 57"/>
            <p:cNvSpPr/>
            <p:nvPr/>
          </p:nvSpPr>
          <p:spPr>
            <a:xfrm>
              <a:off x="7762875" y="2879408"/>
              <a:ext cx="3895725" cy="1185862"/>
            </a:xfrm>
            <a:prstGeom prst="roundRect">
              <a:avLst>
                <a:gd name="adj" fmla="val 11245"/>
              </a:avLst>
            </a:prstGeom>
            <a:solidFill>
              <a:srgbClr val="FFFFFF"/>
            </a:solidFill>
            <a:ln w="14288">
              <a:solidFill>
                <a:srgbClr val="D9DFEA"/>
              </a:solidFill>
            </a:ln>
          </p:spPr>
        </p:sp>
        <p:sp>
          <p:nvSpPr>
            <p:cNvPr id="58" name="Rectangle 58"/>
            <p:cNvSpPr/>
            <p:nvPr/>
          </p:nvSpPr>
          <p:spPr>
            <a:xfrm>
              <a:off x="7772400" y="3012758"/>
              <a:ext cx="47625" cy="919162"/>
            </a:xfrm>
            <a:prstGeom prst="roundRect">
              <a:avLst>
                <a:gd name="adj" fmla="val 50000"/>
              </a:avLst>
            </a:prstGeom>
            <a:solidFill>
              <a:srgbClr val="5B6475"/>
            </a:solidFill>
            <a:ln>
              <a:noFill/>
            </a:ln>
          </p:spPr>
        </p:sp>
        <p:sp>
          <p:nvSpPr>
            <p:cNvPr id="59" name="Rectangle 59"/>
            <p:cNvSpPr/>
            <p:nvPr/>
          </p:nvSpPr>
          <p:spPr>
            <a:xfrm>
              <a:off x="7987665" y="3066098"/>
              <a:ext cx="956310" cy="238125"/>
            </a:xfrm>
            <a:prstGeom prst="roundRect">
              <a:avLst>
                <a:gd name="adj" fmla="val 50000"/>
              </a:avLst>
            </a:prstGeom>
            <a:solidFill>
              <a:srgbClr val="F4F6FB"/>
            </a:solidFill>
            <a:ln>
              <a:noFill/>
            </a:ln>
          </p:spPr>
        </p:sp>
        <p:sp>
          <p:nvSpPr>
            <p:cNvPr id="60" name="TextBox 60"/>
            <p:cNvSpPr txBox="1"/>
            <p:nvPr/>
          </p:nvSpPr>
          <p:spPr>
            <a:xfrm>
              <a:off x="8065084" y="3098959"/>
              <a:ext cx="801472"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综合测试包括</a:t>
              </a:r>
            </a:p>
          </p:txBody>
        </p:sp>
        <p:sp>
          <p:nvSpPr>
            <p:cNvPr id="61" name="TextBox 61"/>
            <p:cNvSpPr txBox="1"/>
            <p:nvPr/>
          </p:nvSpPr>
          <p:spPr>
            <a:xfrm>
              <a:off x="7980807" y="3410902"/>
              <a:ext cx="30998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集成测试、验收测试、现场测试、平行运</a:t>
              </a:r>
              <a:br/>
              <a:r>
                <a:rPr lang="zh-CN" sz="1350" dirty="0">
                  <a:solidFill>
                    <a:srgbClr val="1F2937"/>
                  </a:solidFill>
                  <a:latin typeface="+mn-lt"/>
                  <a:ea typeface="+mn-ea"/>
                  <a:cs typeface="+mn-cs"/>
                </a:rPr>
                <a:t>行。</a:t>
              </a:r>
            </a:p>
          </p:txBody>
        </p:sp>
      </p:grpSp>
      <p:grpSp>
        <p:nvGrpSpPr>
          <p:cNvPr id="69" name="c2-callout-3"/>
          <p:cNvGrpSpPr/>
          <p:nvPr/>
        </p:nvGrpSpPr>
        <p:grpSpPr>
          <a:xfrm>
            <a:off x="7762875" y="4234815"/>
            <a:ext cx="3895725" cy="1959292"/>
            <a:chOff x="7762875" y="4234815"/>
            <a:chExt cx="3895725" cy="1959292"/>
          </a:xfrm>
        </p:grpSpPr>
        <p:sp>
          <p:nvSpPr>
            <p:cNvPr id="63" name="Rectangle 63"/>
            <p:cNvSpPr/>
            <p:nvPr/>
          </p:nvSpPr>
          <p:spPr>
            <a:xfrm>
              <a:off x="7762875" y="4234815"/>
              <a:ext cx="3895725" cy="1959292"/>
            </a:xfrm>
            <a:prstGeom prst="roundRect">
              <a:avLst>
                <a:gd name="adj" fmla="val 5834"/>
              </a:avLst>
            </a:prstGeom>
            <a:solidFill>
              <a:srgbClr val="FDECEA"/>
            </a:solidFill>
            <a:ln>
              <a:noFill/>
            </a:ln>
          </p:spPr>
        </p:sp>
        <p:grpSp>
          <p:nvGrpSpPr>
            <p:cNvPr id="67" name="Group 67"/>
            <p:cNvGrpSpPr/>
            <p:nvPr/>
          </p:nvGrpSpPr>
          <p:grpSpPr>
            <a:xfrm>
              <a:off x="7955604" y="5111233"/>
              <a:ext cx="224134" cy="192560"/>
              <a:chOff x="7955604" y="5111233"/>
              <a:chExt cx="224134" cy="192560"/>
            </a:xfrm>
          </p:grpSpPr>
          <p:sp>
            <p:nvSpPr>
              <p:cNvPr id="64" name="Freeform 64"/>
              <p:cNvSpPr/>
              <p:nvPr/>
            </p:nvSpPr>
            <p:spPr>
              <a:xfrm>
                <a:off x="8067675" y="5181600"/>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65" name="Freeform 65"/>
              <p:cNvSpPr/>
              <p:nvPr/>
            </p:nvSpPr>
            <p:spPr>
              <a:xfrm>
                <a:off x="7955604" y="5111233"/>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66" name="Freeform 66"/>
              <p:cNvSpPr/>
              <p:nvPr/>
            </p:nvSpPr>
            <p:spPr>
              <a:xfrm>
                <a:off x="8067675" y="5259388"/>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68" name="TextBox 68"/>
            <p:cNvSpPr txBox="1"/>
            <p:nvPr/>
          </p:nvSpPr>
          <p:spPr>
            <a:xfrm>
              <a:off x="8270367" y="4872037"/>
              <a:ext cx="2928366"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B42318"/>
                  </a:solidFill>
                  <a:latin typeface="+mn-lt"/>
                  <a:ea typeface="+mn-ea"/>
                  <a:cs typeface="+mn-cs"/>
                </a:rPr>
                <a:t>维护阶段是生命周期里时间最长的一</a:t>
              </a:r>
              <a:br/>
              <a:r>
                <a:rPr lang="zh-CN" sz="1350" dirty="0">
                  <a:solidFill>
                    <a:srgbClr val="B42318"/>
                  </a:solidFill>
                  <a:latin typeface="+mn-lt"/>
                  <a:ea typeface="+mn-ea"/>
                  <a:cs typeface="+mn-cs"/>
                </a:rPr>
                <a:t>段，前面所有阶段留下的文档都是它的</a:t>
              </a:r>
              <a:br/>
              <a:r>
                <a:rPr lang="zh-CN" sz="1350" dirty="0">
                  <a:solidFill>
                    <a:srgbClr val="B42318"/>
                  </a:solidFill>
                  <a:latin typeface="+mn-lt"/>
                  <a:ea typeface="+mn-ea"/>
                  <a:cs typeface="+mn-cs"/>
                </a:rPr>
                <a:t>依据。</a:t>
              </a:r>
            </a:p>
          </p:txBody>
        </p:sp>
      </p:grpSp>
      <p:grpSp>
        <p:nvGrpSpPr>
          <p:cNvPr id="72" name="footer"/>
          <p:cNvGrpSpPr/>
          <p:nvPr/>
        </p:nvGrpSpPr>
        <p:grpSpPr>
          <a:xfrm>
            <a:off x="528447" y="6581299"/>
            <a:ext cx="11135106" cy="190690"/>
            <a:chOff x="528447" y="6581299"/>
            <a:chExt cx="11135106" cy="190690"/>
          </a:xfrm>
        </p:grpSpPr>
        <p:sp>
          <p:nvSpPr>
            <p:cNvPr id="70" name="TextBox 70"/>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71" name="TextBox 7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25</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软件生命周期</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四类维护活动与开发团队里的角色</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6" name="c1-table-1"/>
          <p:cNvGrpSpPr/>
          <p:nvPr/>
        </p:nvGrpSpPr>
        <p:grpSpPr>
          <a:xfrm>
            <a:off x="528447" y="1524000"/>
            <a:ext cx="4982718" cy="2263806"/>
            <a:chOff x="528447" y="1524000"/>
            <a:chExt cx="4982718" cy="2263806"/>
          </a:xfrm>
        </p:grpSpPr>
        <p:sp>
          <p:nvSpPr>
            <p:cNvPr id="7" name="Rectangle 7"/>
            <p:cNvSpPr/>
            <p:nvPr/>
          </p:nvSpPr>
          <p:spPr>
            <a:xfrm>
              <a:off x="533400" y="1524000"/>
              <a:ext cx="4977765" cy="400050"/>
            </a:xfrm>
            <a:prstGeom prst="rect">
              <a:avLst/>
            </a:prstGeom>
            <a:solidFill>
              <a:srgbClr val="334E68"/>
            </a:solidFill>
            <a:ln>
              <a:noFill/>
            </a:ln>
          </p:spPr>
        </p:sp>
        <p:sp>
          <p:nvSpPr>
            <p:cNvPr id="8" name="TextBox 8"/>
            <p:cNvSpPr txBox="1"/>
            <p:nvPr/>
          </p:nvSpPr>
          <p:spPr>
            <a:xfrm>
              <a:off x="872884" y="1645444"/>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维护活动</a:t>
              </a:r>
            </a:p>
          </p:txBody>
        </p:sp>
        <p:sp>
          <p:nvSpPr>
            <p:cNvPr id="9" name="TextBox 9"/>
            <p:cNvSpPr txBox="1"/>
            <p:nvPr/>
          </p:nvSpPr>
          <p:spPr>
            <a:xfrm>
              <a:off x="3437153" y="1645444"/>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做什么</a:t>
              </a:r>
            </a:p>
          </p:txBody>
        </p:sp>
        <p:sp>
          <p:nvSpPr>
            <p:cNvPr id="10" name="TextBox 10"/>
            <p:cNvSpPr txBox="1"/>
            <p:nvPr/>
          </p:nvSpPr>
          <p:spPr>
            <a:xfrm>
              <a:off x="630555" y="2045494"/>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改正性维护</a:t>
              </a:r>
            </a:p>
          </p:txBody>
        </p:sp>
        <p:sp>
          <p:nvSpPr>
            <p:cNvPr id="11" name="TextBox 11"/>
            <p:cNvSpPr txBox="1"/>
            <p:nvPr/>
          </p:nvSpPr>
          <p:spPr>
            <a:xfrm>
              <a:off x="1925002" y="2045494"/>
              <a:ext cx="257459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诊断和改正使用过程中发现的软件错误</a:t>
              </a:r>
            </a:p>
          </p:txBody>
        </p:sp>
        <p:sp>
          <p:nvSpPr>
            <p:cNvPr id="12" name="Rectangle 12"/>
            <p:cNvSpPr/>
            <p:nvPr/>
          </p:nvSpPr>
          <p:spPr>
            <a:xfrm>
              <a:off x="533400" y="2319338"/>
              <a:ext cx="4977765" cy="9525"/>
            </a:xfrm>
            <a:prstGeom prst="rect">
              <a:avLst/>
            </a:prstGeom>
            <a:solidFill>
              <a:srgbClr val="D9DFEA"/>
            </a:solidFill>
            <a:ln>
              <a:noFill/>
            </a:ln>
          </p:spPr>
        </p:sp>
        <p:sp>
          <p:nvSpPr>
            <p:cNvPr id="13" name="Rectangle 13"/>
            <p:cNvSpPr/>
            <p:nvPr/>
          </p:nvSpPr>
          <p:spPr>
            <a:xfrm>
              <a:off x="533400" y="2324100"/>
              <a:ext cx="4977765" cy="400050"/>
            </a:xfrm>
            <a:prstGeom prst="rect">
              <a:avLst/>
            </a:prstGeom>
            <a:solidFill>
              <a:srgbClr val="F4F6FB"/>
            </a:solidFill>
            <a:ln>
              <a:noFill/>
            </a:ln>
          </p:spPr>
        </p:sp>
        <p:sp>
          <p:nvSpPr>
            <p:cNvPr id="14" name="TextBox 14"/>
            <p:cNvSpPr txBox="1"/>
            <p:nvPr/>
          </p:nvSpPr>
          <p:spPr>
            <a:xfrm>
              <a:off x="630555" y="2445544"/>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适应性维护</a:t>
              </a:r>
            </a:p>
          </p:txBody>
        </p:sp>
        <p:sp>
          <p:nvSpPr>
            <p:cNvPr id="15" name="TextBox 15"/>
            <p:cNvSpPr txBox="1"/>
            <p:nvPr/>
          </p:nvSpPr>
          <p:spPr>
            <a:xfrm>
              <a:off x="1925002" y="2445544"/>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修改软件以适应环境的变化</a:t>
              </a:r>
            </a:p>
          </p:txBody>
        </p:sp>
        <p:sp>
          <p:nvSpPr>
            <p:cNvPr id="16" name="Rectangle 16"/>
            <p:cNvSpPr/>
            <p:nvPr/>
          </p:nvSpPr>
          <p:spPr>
            <a:xfrm>
              <a:off x="533400" y="2719388"/>
              <a:ext cx="4977765" cy="9525"/>
            </a:xfrm>
            <a:prstGeom prst="rect">
              <a:avLst/>
            </a:prstGeom>
            <a:solidFill>
              <a:srgbClr val="D9DFEA"/>
            </a:solidFill>
            <a:ln>
              <a:noFill/>
            </a:ln>
          </p:spPr>
        </p:sp>
        <p:sp>
          <p:nvSpPr>
            <p:cNvPr id="17" name="TextBox 17"/>
            <p:cNvSpPr txBox="1"/>
            <p:nvPr/>
          </p:nvSpPr>
          <p:spPr>
            <a:xfrm>
              <a:off x="630555" y="2845594"/>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完善性维护</a:t>
              </a:r>
            </a:p>
          </p:txBody>
        </p:sp>
        <p:sp>
          <p:nvSpPr>
            <p:cNvPr id="18" name="TextBox 18"/>
            <p:cNvSpPr txBox="1"/>
            <p:nvPr/>
          </p:nvSpPr>
          <p:spPr>
            <a:xfrm>
              <a:off x="1925002" y="2845594"/>
              <a:ext cx="272536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根据用户需要改进或扩充软件使之更完善</a:t>
              </a:r>
            </a:p>
          </p:txBody>
        </p:sp>
        <p:sp>
          <p:nvSpPr>
            <p:cNvPr id="19" name="Rectangle 19"/>
            <p:cNvSpPr/>
            <p:nvPr/>
          </p:nvSpPr>
          <p:spPr>
            <a:xfrm>
              <a:off x="533400" y="3119438"/>
              <a:ext cx="4977765" cy="9525"/>
            </a:xfrm>
            <a:prstGeom prst="rect">
              <a:avLst/>
            </a:prstGeom>
            <a:solidFill>
              <a:srgbClr val="D9DFEA"/>
            </a:solidFill>
            <a:ln>
              <a:noFill/>
            </a:ln>
          </p:spPr>
        </p:sp>
        <p:sp>
          <p:nvSpPr>
            <p:cNvPr id="20" name="Rectangle 20"/>
            <p:cNvSpPr/>
            <p:nvPr/>
          </p:nvSpPr>
          <p:spPr>
            <a:xfrm>
              <a:off x="533400" y="3124200"/>
              <a:ext cx="4977765" cy="400050"/>
            </a:xfrm>
            <a:prstGeom prst="rect">
              <a:avLst/>
            </a:prstGeom>
            <a:solidFill>
              <a:srgbClr val="F4F6FB"/>
            </a:solidFill>
            <a:ln>
              <a:noFill/>
            </a:ln>
          </p:spPr>
        </p:sp>
        <p:sp>
          <p:nvSpPr>
            <p:cNvPr id="21" name="TextBox 21"/>
            <p:cNvSpPr txBox="1"/>
            <p:nvPr/>
          </p:nvSpPr>
          <p:spPr>
            <a:xfrm>
              <a:off x="630555" y="3245644"/>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预防性维护</a:t>
              </a:r>
            </a:p>
          </p:txBody>
        </p:sp>
        <p:sp>
          <p:nvSpPr>
            <p:cNvPr id="22" name="TextBox 22"/>
            <p:cNvSpPr txBox="1"/>
            <p:nvPr/>
          </p:nvSpPr>
          <p:spPr>
            <a:xfrm>
              <a:off x="1925002" y="3245644"/>
              <a:ext cx="272536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修改软件从而为将来的维护活动做好准备</a:t>
              </a:r>
            </a:p>
          </p:txBody>
        </p:sp>
        <p:sp>
          <p:nvSpPr>
            <p:cNvPr id="23" name="Rectangle 23"/>
            <p:cNvSpPr/>
            <p:nvPr/>
          </p:nvSpPr>
          <p:spPr>
            <a:xfrm>
              <a:off x="533400" y="1524000"/>
              <a:ext cx="4977765" cy="2000250"/>
            </a:xfrm>
            <a:prstGeom prst="rect">
              <a:avLst/>
            </a:prstGeom>
            <a:noFill/>
            <a:ln w="14288">
              <a:solidFill>
                <a:srgbClr val="D9DFEA"/>
              </a:solidFill>
            </a:ln>
          </p:spPr>
        </p:sp>
        <p:sp>
          <p:nvSpPr>
            <p:cNvPr id="24" name="Rectangle 24"/>
            <p:cNvSpPr/>
            <p:nvPr/>
          </p:nvSpPr>
          <p:spPr>
            <a:xfrm>
              <a:off x="1823085" y="1524000"/>
              <a:ext cx="9525" cy="2000250"/>
            </a:xfrm>
            <a:prstGeom prst="rect">
              <a:avLst/>
            </a:prstGeom>
            <a:solidFill>
              <a:srgbClr val="D9DFEA"/>
            </a:solidFill>
            <a:ln>
              <a:noFill/>
            </a:ln>
          </p:spPr>
        </p:sp>
        <p:sp>
          <p:nvSpPr>
            <p:cNvPr id="25" name="TextBox 25"/>
            <p:cNvSpPr txBox="1"/>
            <p:nvPr/>
          </p:nvSpPr>
          <p:spPr>
            <a:xfrm>
              <a:off x="528447" y="3597116"/>
              <a:ext cx="264845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关键任务是使软件系统持久地满足用户的需要</a:t>
              </a:r>
            </a:p>
          </p:txBody>
        </p:sp>
      </p:grpSp>
      <p:grpSp>
        <p:nvGrpSpPr>
          <p:cNvPr id="33" name="c1-callout-2"/>
          <p:cNvGrpSpPr/>
          <p:nvPr/>
        </p:nvGrpSpPr>
        <p:grpSpPr>
          <a:xfrm>
            <a:off x="533400" y="3919538"/>
            <a:ext cx="4977765" cy="729615"/>
            <a:chOff x="533400" y="3919538"/>
            <a:chExt cx="4977765" cy="729615"/>
          </a:xfrm>
        </p:grpSpPr>
        <p:sp>
          <p:nvSpPr>
            <p:cNvPr id="27" name="Rectangle 27"/>
            <p:cNvSpPr/>
            <p:nvPr/>
          </p:nvSpPr>
          <p:spPr>
            <a:xfrm>
              <a:off x="533400" y="3919538"/>
              <a:ext cx="4977765" cy="729615"/>
            </a:xfrm>
            <a:prstGeom prst="roundRect">
              <a:avLst>
                <a:gd name="adj" fmla="val 15666"/>
              </a:avLst>
            </a:prstGeom>
            <a:solidFill>
              <a:srgbClr val="FDEEE7"/>
            </a:solidFill>
            <a:ln>
              <a:noFill/>
            </a:ln>
          </p:spPr>
        </p:sp>
        <p:grpSp>
          <p:nvGrpSpPr>
            <p:cNvPr id="31" name="Group 31"/>
            <p:cNvGrpSpPr/>
            <p:nvPr/>
          </p:nvGrpSpPr>
          <p:grpSpPr>
            <a:xfrm>
              <a:off x="738188" y="4184333"/>
              <a:ext cx="200026" cy="200025"/>
              <a:chOff x="738188" y="4184333"/>
              <a:chExt cx="200026" cy="200025"/>
            </a:xfrm>
          </p:grpSpPr>
          <p:sp>
            <p:nvSpPr>
              <p:cNvPr id="28" name="Freeform 28"/>
              <p:cNvSpPr/>
              <p:nvPr/>
            </p:nvSpPr>
            <p:spPr>
              <a:xfrm>
                <a:off x="738188" y="418433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29" name="Freeform 29"/>
              <p:cNvSpPr/>
              <p:nvPr/>
            </p:nvSpPr>
            <p:spPr>
              <a:xfrm>
                <a:off x="777926" y="422878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0" name="Freeform 30"/>
              <p:cNvSpPr/>
              <p:nvPr/>
            </p:nvSpPr>
            <p:spPr>
              <a:xfrm>
                <a:off x="812642" y="433990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2" name="TextBox 32"/>
            <p:cNvSpPr txBox="1"/>
            <p:nvPr/>
          </p:nvSpPr>
          <p:spPr>
            <a:xfrm>
              <a:off x="1040892" y="4066222"/>
              <a:ext cx="39570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四类维护里，完善性维护的占比最大，改正错误反而</a:t>
              </a:r>
              <a:br/>
              <a:r>
                <a:rPr lang="zh-CN" sz="1350" dirty="0">
                  <a:solidFill>
                    <a:srgbClr val="C2410C"/>
                  </a:solidFill>
                  <a:latin typeface="+mn-lt"/>
                  <a:ea typeface="+mn-ea"/>
                  <a:cs typeface="+mn-cs"/>
                </a:rPr>
                <a:t>不是维护的主要工作。</a:t>
              </a:r>
            </a:p>
          </p:txBody>
        </p:sp>
      </p:grpSp>
      <p:grpSp>
        <p:nvGrpSpPr>
          <p:cNvPr id="66" name="c2-table-1"/>
          <p:cNvGrpSpPr/>
          <p:nvPr/>
        </p:nvGrpSpPr>
        <p:grpSpPr>
          <a:xfrm>
            <a:off x="5815965" y="1524000"/>
            <a:ext cx="5842635" cy="3950018"/>
            <a:chOff x="5815965" y="1524000"/>
            <a:chExt cx="5842635" cy="3950018"/>
          </a:xfrm>
        </p:grpSpPr>
        <p:sp>
          <p:nvSpPr>
            <p:cNvPr id="34" name="Rectangle 34"/>
            <p:cNvSpPr/>
            <p:nvPr/>
          </p:nvSpPr>
          <p:spPr>
            <a:xfrm>
              <a:off x="5815965" y="1524000"/>
              <a:ext cx="5842635" cy="439102"/>
            </a:xfrm>
            <a:prstGeom prst="rect">
              <a:avLst/>
            </a:prstGeom>
            <a:solidFill>
              <a:srgbClr val="334E68"/>
            </a:solidFill>
            <a:ln>
              <a:noFill/>
            </a:ln>
          </p:spPr>
        </p:sp>
        <p:sp>
          <p:nvSpPr>
            <p:cNvPr id="35" name="TextBox 35"/>
            <p:cNvSpPr txBox="1"/>
            <p:nvPr/>
          </p:nvSpPr>
          <p:spPr>
            <a:xfrm>
              <a:off x="6386512" y="164877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角色</a:t>
              </a:r>
            </a:p>
          </p:txBody>
        </p:sp>
        <p:sp>
          <p:nvSpPr>
            <p:cNvPr id="36" name="TextBox 36"/>
            <p:cNvSpPr txBox="1"/>
            <p:nvPr/>
          </p:nvSpPr>
          <p:spPr>
            <a:xfrm>
              <a:off x="9307830" y="164877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职责</a:t>
              </a:r>
            </a:p>
          </p:txBody>
        </p:sp>
        <p:sp>
          <p:nvSpPr>
            <p:cNvPr id="37" name="TextBox 37"/>
            <p:cNvSpPr txBox="1"/>
            <p:nvPr/>
          </p:nvSpPr>
          <p:spPr>
            <a:xfrm>
              <a:off x="5911977" y="2087880"/>
              <a:ext cx="92240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需求分析师</a:t>
              </a:r>
            </a:p>
          </p:txBody>
        </p:sp>
        <p:sp>
          <p:nvSpPr>
            <p:cNvPr id="38" name="TextBox 38"/>
            <p:cNvSpPr txBox="1"/>
            <p:nvPr/>
          </p:nvSpPr>
          <p:spPr>
            <a:xfrm>
              <a:off x="7431214" y="2087880"/>
              <a:ext cx="146761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弄清客户想要什么</a:t>
              </a:r>
            </a:p>
          </p:txBody>
        </p:sp>
        <p:sp>
          <p:nvSpPr>
            <p:cNvPr id="39" name="Rectangle 39"/>
            <p:cNvSpPr/>
            <p:nvPr/>
          </p:nvSpPr>
          <p:spPr>
            <a:xfrm>
              <a:off x="5815965" y="2397442"/>
              <a:ext cx="5842635" cy="9525"/>
            </a:xfrm>
            <a:prstGeom prst="rect">
              <a:avLst/>
            </a:prstGeom>
            <a:solidFill>
              <a:srgbClr val="D9DFEA"/>
            </a:solidFill>
            <a:ln>
              <a:noFill/>
            </a:ln>
          </p:spPr>
        </p:sp>
        <p:sp>
          <p:nvSpPr>
            <p:cNvPr id="40" name="Rectangle 40"/>
            <p:cNvSpPr/>
            <p:nvPr/>
          </p:nvSpPr>
          <p:spPr>
            <a:xfrm>
              <a:off x="5815965" y="2402205"/>
              <a:ext cx="5842635" cy="439102"/>
            </a:xfrm>
            <a:prstGeom prst="rect">
              <a:avLst/>
            </a:prstGeom>
            <a:solidFill>
              <a:srgbClr val="F4F6FB"/>
            </a:solidFill>
            <a:ln>
              <a:noFill/>
            </a:ln>
          </p:spPr>
        </p:sp>
        <p:sp>
          <p:nvSpPr>
            <p:cNvPr id="41" name="TextBox 41"/>
            <p:cNvSpPr txBox="1"/>
            <p:nvPr/>
          </p:nvSpPr>
          <p:spPr>
            <a:xfrm>
              <a:off x="5911977" y="2526982"/>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设计师</a:t>
              </a:r>
            </a:p>
          </p:txBody>
        </p:sp>
        <p:sp>
          <p:nvSpPr>
            <p:cNvPr id="42" name="TextBox 42"/>
            <p:cNvSpPr txBox="1"/>
            <p:nvPr/>
          </p:nvSpPr>
          <p:spPr>
            <a:xfrm>
              <a:off x="7431214" y="2526982"/>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决定系统该如何去做</a:t>
              </a:r>
            </a:p>
          </p:txBody>
        </p:sp>
        <p:sp>
          <p:nvSpPr>
            <p:cNvPr id="43" name="Rectangle 43"/>
            <p:cNvSpPr/>
            <p:nvPr/>
          </p:nvSpPr>
          <p:spPr>
            <a:xfrm>
              <a:off x="5815965" y="2835592"/>
              <a:ext cx="5842635" cy="9525"/>
            </a:xfrm>
            <a:prstGeom prst="rect">
              <a:avLst/>
            </a:prstGeom>
            <a:solidFill>
              <a:srgbClr val="D9DFEA"/>
            </a:solidFill>
            <a:ln>
              <a:noFill/>
            </a:ln>
          </p:spPr>
        </p:sp>
        <p:sp>
          <p:nvSpPr>
            <p:cNvPr id="44" name="TextBox 44"/>
            <p:cNvSpPr txBox="1"/>
            <p:nvPr/>
          </p:nvSpPr>
          <p:spPr>
            <a:xfrm>
              <a:off x="5911977" y="2966085"/>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程序员</a:t>
              </a:r>
            </a:p>
          </p:txBody>
        </p:sp>
        <p:sp>
          <p:nvSpPr>
            <p:cNvPr id="45" name="TextBox 45"/>
            <p:cNvSpPr txBox="1"/>
            <p:nvPr/>
          </p:nvSpPr>
          <p:spPr>
            <a:xfrm>
              <a:off x="7431214" y="2966085"/>
              <a:ext cx="201282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用代码实现设计师的想法</a:t>
              </a:r>
            </a:p>
          </p:txBody>
        </p:sp>
        <p:sp>
          <p:nvSpPr>
            <p:cNvPr id="46" name="Rectangle 46"/>
            <p:cNvSpPr/>
            <p:nvPr/>
          </p:nvSpPr>
          <p:spPr>
            <a:xfrm>
              <a:off x="5815965" y="3274695"/>
              <a:ext cx="5842635" cy="9525"/>
            </a:xfrm>
            <a:prstGeom prst="rect">
              <a:avLst/>
            </a:prstGeom>
            <a:solidFill>
              <a:srgbClr val="D9DFEA"/>
            </a:solidFill>
            <a:ln>
              <a:noFill/>
            </a:ln>
          </p:spPr>
        </p:sp>
        <p:sp>
          <p:nvSpPr>
            <p:cNvPr id="47" name="Rectangle 47"/>
            <p:cNvSpPr/>
            <p:nvPr/>
          </p:nvSpPr>
          <p:spPr>
            <a:xfrm>
              <a:off x="5815965" y="3279458"/>
              <a:ext cx="5842635" cy="439102"/>
            </a:xfrm>
            <a:prstGeom prst="rect">
              <a:avLst/>
            </a:prstGeom>
            <a:solidFill>
              <a:srgbClr val="F4F6FB"/>
            </a:solidFill>
            <a:ln>
              <a:noFill/>
            </a:ln>
          </p:spPr>
        </p:sp>
        <p:sp>
          <p:nvSpPr>
            <p:cNvPr id="48" name="TextBox 48"/>
            <p:cNvSpPr txBox="1"/>
            <p:nvPr/>
          </p:nvSpPr>
          <p:spPr>
            <a:xfrm>
              <a:off x="5911977" y="3405188"/>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测试员</a:t>
              </a:r>
            </a:p>
          </p:txBody>
        </p:sp>
        <p:sp>
          <p:nvSpPr>
            <p:cNvPr id="49" name="TextBox 49"/>
            <p:cNvSpPr txBox="1"/>
            <p:nvPr/>
          </p:nvSpPr>
          <p:spPr>
            <a:xfrm>
              <a:off x="7431214" y="3405188"/>
              <a:ext cx="219456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按照需求清单给系统挑毛病</a:t>
              </a:r>
            </a:p>
          </p:txBody>
        </p:sp>
        <p:sp>
          <p:nvSpPr>
            <p:cNvPr id="50" name="Rectangle 50"/>
            <p:cNvSpPr/>
            <p:nvPr/>
          </p:nvSpPr>
          <p:spPr>
            <a:xfrm>
              <a:off x="5815965" y="3713798"/>
              <a:ext cx="5842635" cy="9525"/>
            </a:xfrm>
            <a:prstGeom prst="rect">
              <a:avLst/>
            </a:prstGeom>
            <a:solidFill>
              <a:srgbClr val="D9DFEA"/>
            </a:solidFill>
            <a:ln>
              <a:noFill/>
            </a:ln>
          </p:spPr>
        </p:sp>
        <p:sp>
          <p:nvSpPr>
            <p:cNvPr id="51" name="TextBox 51"/>
            <p:cNvSpPr txBox="1"/>
            <p:nvPr/>
          </p:nvSpPr>
          <p:spPr>
            <a:xfrm>
              <a:off x="5911977" y="3843338"/>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培训人员</a:t>
              </a:r>
            </a:p>
          </p:txBody>
        </p:sp>
        <p:sp>
          <p:nvSpPr>
            <p:cNvPr id="52" name="TextBox 52"/>
            <p:cNvSpPr txBox="1"/>
            <p:nvPr/>
          </p:nvSpPr>
          <p:spPr>
            <a:xfrm>
              <a:off x="7431214" y="3843338"/>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教用户如何使用系统</a:t>
              </a:r>
            </a:p>
          </p:txBody>
        </p:sp>
        <p:sp>
          <p:nvSpPr>
            <p:cNvPr id="53" name="Rectangle 53"/>
            <p:cNvSpPr/>
            <p:nvPr/>
          </p:nvSpPr>
          <p:spPr>
            <a:xfrm>
              <a:off x="5815965" y="4152900"/>
              <a:ext cx="5842635" cy="9525"/>
            </a:xfrm>
            <a:prstGeom prst="rect">
              <a:avLst/>
            </a:prstGeom>
            <a:solidFill>
              <a:srgbClr val="D9DFEA"/>
            </a:solidFill>
            <a:ln>
              <a:noFill/>
            </a:ln>
          </p:spPr>
        </p:sp>
        <p:sp>
          <p:nvSpPr>
            <p:cNvPr id="54" name="Rectangle 54"/>
            <p:cNvSpPr/>
            <p:nvPr/>
          </p:nvSpPr>
          <p:spPr>
            <a:xfrm>
              <a:off x="5815965" y="4157662"/>
              <a:ext cx="5842635" cy="439102"/>
            </a:xfrm>
            <a:prstGeom prst="rect">
              <a:avLst/>
            </a:prstGeom>
            <a:solidFill>
              <a:srgbClr val="F4F6FB"/>
            </a:solidFill>
            <a:ln>
              <a:noFill/>
            </a:ln>
          </p:spPr>
        </p:sp>
        <p:sp>
          <p:nvSpPr>
            <p:cNvPr id="55" name="TextBox 55"/>
            <p:cNvSpPr txBox="1"/>
            <p:nvPr/>
          </p:nvSpPr>
          <p:spPr>
            <a:xfrm>
              <a:off x="5911977" y="4282440"/>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维护人员</a:t>
              </a:r>
            </a:p>
          </p:txBody>
        </p:sp>
        <p:sp>
          <p:nvSpPr>
            <p:cNvPr id="56" name="TextBox 56"/>
            <p:cNvSpPr txBox="1"/>
            <p:nvPr/>
          </p:nvSpPr>
          <p:spPr>
            <a:xfrm>
              <a:off x="7431214" y="4282440"/>
              <a:ext cx="219456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可能同时包括上面所有角色</a:t>
              </a:r>
            </a:p>
          </p:txBody>
        </p:sp>
        <p:sp>
          <p:nvSpPr>
            <p:cNvPr id="57" name="Rectangle 57"/>
            <p:cNvSpPr/>
            <p:nvPr/>
          </p:nvSpPr>
          <p:spPr>
            <a:xfrm>
              <a:off x="5815965" y="4592002"/>
              <a:ext cx="5842635" cy="9525"/>
            </a:xfrm>
            <a:prstGeom prst="rect">
              <a:avLst/>
            </a:prstGeom>
            <a:solidFill>
              <a:srgbClr val="D9DFEA"/>
            </a:solidFill>
            <a:ln>
              <a:noFill/>
            </a:ln>
          </p:spPr>
        </p:sp>
        <p:sp>
          <p:nvSpPr>
            <p:cNvPr id="58" name="TextBox 58"/>
            <p:cNvSpPr txBox="1"/>
            <p:nvPr/>
          </p:nvSpPr>
          <p:spPr>
            <a:xfrm>
              <a:off x="5911977" y="4721542"/>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文档库管理员</a:t>
              </a:r>
            </a:p>
          </p:txBody>
        </p:sp>
        <p:sp>
          <p:nvSpPr>
            <p:cNvPr id="59" name="TextBox 59"/>
            <p:cNvSpPr txBox="1"/>
            <p:nvPr/>
          </p:nvSpPr>
          <p:spPr>
            <a:xfrm>
              <a:off x="7431214" y="4721542"/>
              <a:ext cx="292150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组织和维护项目文档，记录开发过程</a:t>
              </a:r>
            </a:p>
          </p:txBody>
        </p:sp>
        <p:sp>
          <p:nvSpPr>
            <p:cNvPr id="60" name="Rectangle 60"/>
            <p:cNvSpPr/>
            <p:nvPr/>
          </p:nvSpPr>
          <p:spPr>
            <a:xfrm>
              <a:off x="5815965" y="5030152"/>
              <a:ext cx="5842635" cy="9525"/>
            </a:xfrm>
            <a:prstGeom prst="rect">
              <a:avLst/>
            </a:prstGeom>
            <a:solidFill>
              <a:srgbClr val="D9DFEA"/>
            </a:solidFill>
            <a:ln>
              <a:noFill/>
            </a:ln>
          </p:spPr>
        </p:sp>
        <p:sp>
          <p:nvSpPr>
            <p:cNvPr id="61" name="Rectangle 61"/>
            <p:cNvSpPr/>
            <p:nvPr/>
          </p:nvSpPr>
          <p:spPr>
            <a:xfrm>
              <a:off x="5815965" y="5034915"/>
              <a:ext cx="5842635" cy="439102"/>
            </a:xfrm>
            <a:prstGeom prst="rect">
              <a:avLst/>
            </a:prstGeom>
            <a:solidFill>
              <a:srgbClr val="F4F6FB"/>
            </a:solidFill>
            <a:ln>
              <a:noFill/>
            </a:ln>
          </p:spPr>
        </p:sp>
        <p:sp>
          <p:nvSpPr>
            <p:cNvPr id="62" name="TextBox 62"/>
            <p:cNvSpPr txBox="1"/>
            <p:nvPr/>
          </p:nvSpPr>
          <p:spPr>
            <a:xfrm>
              <a:off x="5911977" y="5160645"/>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配置管理小组</a:t>
              </a:r>
            </a:p>
          </p:txBody>
        </p:sp>
        <p:sp>
          <p:nvSpPr>
            <p:cNvPr id="63" name="TextBox 63"/>
            <p:cNvSpPr txBox="1"/>
            <p:nvPr/>
          </p:nvSpPr>
          <p:spPr>
            <a:xfrm>
              <a:off x="7431214" y="5160645"/>
              <a:ext cx="34667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维护、控制变更，确保变更正确实现并报告</a:t>
              </a:r>
            </a:p>
          </p:txBody>
        </p:sp>
        <p:sp>
          <p:nvSpPr>
            <p:cNvPr id="64" name="Rectangle 64"/>
            <p:cNvSpPr/>
            <p:nvPr/>
          </p:nvSpPr>
          <p:spPr>
            <a:xfrm>
              <a:off x="5815965" y="1524000"/>
              <a:ext cx="5842635" cy="3950018"/>
            </a:xfrm>
            <a:prstGeom prst="rect">
              <a:avLst/>
            </a:prstGeom>
            <a:noFill/>
            <a:ln w="14288">
              <a:solidFill>
                <a:srgbClr val="D9DFEA"/>
              </a:solidFill>
            </a:ln>
          </p:spPr>
        </p:sp>
        <p:sp>
          <p:nvSpPr>
            <p:cNvPr id="65" name="Rectangle 65"/>
            <p:cNvSpPr/>
            <p:nvPr/>
          </p:nvSpPr>
          <p:spPr>
            <a:xfrm>
              <a:off x="7330440" y="1524000"/>
              <a:ext cx="9525" cy="3950018"/>
            </a:xfrm>
            <a:prstGeom prst="rect">
              <a:avLst/>
            </a:prstGeom>
            <a:solidFill>
              <a:srgbClr val="D9DFEA"/>
            </a:solidFill>
            <a:ln>
              <a:noFill/>
            </a:ln>
          </p:spPr>
        </p:sp>
      </p:grpSp>
      <p:grpSp>
        <p:nvGrpSpPr>
          <p:cNvPr id="73" name="c2-callout-2"/>
          <p:cNvGrpSpPr/>
          <p:nvPr/>
        </p:nvGrpSpPr>
        <p:grpSpPr>
          <a:xfrm>
            <a:off x="5815965" y="5644515"/>
            <a:ext cx="5842635" cy="481012"/>
            <a:chOff x="5815965" y="5644515"/>
            <a:chExt cx="5842635" cy="481012"/>
          </a:xfrm>
        </p:grpSpPr>
        <p:sp>
          <p:nvSpPr>
            <p:cNvPr id="67" name="Rectangle 67"/>
            <p:cNvSpPr/>
            <p:nvPr/>
          </p:nvSpPr>
          <p:spPr>
            <a:xfrm>
              <a:off x="5815965" y="5644515"/>
              <a:ext cx="5842635" cy="481012"/>
            </a:xfrm>
            <a:prstGeom prst="roundRect">
              <a:avLst>
                <a:gd name="adj" fmla="val 23762"/>
              </a:avLst>
            </a:prstGeom>
            <a:solidFill>
              <a:srgbClr val="F4F6FB"/>
            </a:solidFill>
            <a:ln>
              <a:noFill/>
            </a:ln>
          </p:spPr>
        </p:sp>
        <p:grpSp>
          <p:nvGrpSpPr>
            <p:cNvPr id="71" name="Group 71"/>
            <p:cNvGrpSpPr/>
            <p:nvPr/>
          </p:nvGrpSpPr>
          <p:grpSpPr>
            <a:xfrm>
              <a:off x="6020753" y="5784533"/>
              <a:ext cx="200026" cy="200026"/>
              <a:chOff x="6020753" y="5784533"/>
              <a:chExt cx="200026" cy="200026"/>
            </a:xfrm>
          </p:grpSpPr>
          <p:sp>
            <p:nvSpPr>
              <p:cNvPr id="68" name="Freeform 68"/>
              <p:cNvSpPr/>
              <p:nvPr/>
            </p:nvSpPr>
            <p:spPr>
              <a:xfrm>
                <a:off x="6020753" y="578453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9" name="Freeform 69"/>
              <p:cNvSpPr/>
              <p:nvPr/>
            </p:nvSpPr>
            <p:spPr>
              <a:xfrm>
                <a:off x="6120765" y="585120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70" name="Freeform 70"/>
              <p:cNvSpPr/>
              <p:nvPr/>
            </p:nvSpPr>
            <p:spPr>
              <a:xfrm>
                <a:off x="6109653" y="588454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72" name="TextBox 72"/>
            <p:cNvSpPr txBox="1"/>
            <p:nvPr/>
          </p:nvSpPr>
          <p:spPr>
            <a:xfrm>
              <a:off x="6323457" y="5790248"/>
              <a:ext cx="510235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小项目两三人承担所有角色，大项目一个角色由一个团队承担。</a:t>
              </a:r>
            </a:p>
          </p:txBody>
        </p:sp>
      </p:grpSp>
      <p:grpSp>
        <p:nvGrpSpPr>
          <p:cNvPr id="76" name="footer"/>
          <p:cNvGrpSpPr/>
          <p:nvPr/>
        </p:nvGrpSpPr>
        <p:grpSpPr>
          <a:xfrm>
            <a:off x="528447" y="6581299"/>
            <a:ext cx="11135106" cy="190690"/>
            <a:chOff x="528447" y="6581299"/>
            <a:chExt cx="11135106" cy="190690"/>
          </a:xfrm>
        </p:grpSpPr>
        <p:sp>
          <p:nvSpPr>
            <p:cNvPr id="74" name="TextBox 74"/>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75" name="TextBox 7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26</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04</a:t>
              </a:r>
            </a:p>
          </p:txBody>
        </p:sp>
      </p:grpSp>
      <p:grpSp>
        <p:nvGrpSpPr>
          <p:cNvPr id="20" name="section-title"/>
          <p:cNvGrpSpPr/>
          <p:nvPr/>
        </p:nvGrpSpPr>
        <p:grpSpPr>
          <a:xfrm>
            <a:off x="667512" y="1835468"/>
            <a:ext cx="5579745" cy="3706177"/>
            <a:chOff x="667512" y="1835468"/>
            <a:chExt cx="5579745" cy="370617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第四部分</a:t>
              </a:r>
            </a:p>
          </p:txBody>
        </p:sp>
        <p:sp>
          <p:nvSpPr>
            <p:cNvPr id="7" name="TextBox 7"/>
            <p:cNvSpPr txBox="1"/>
            <p:nvPr/>
          </p:nvSpPr>
          <p:spPr>
            <a:xfrm>
              <a:off x="667512" y="2240280"/>
              <a:ext cx="536752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软件过程与传统过程模型</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5569839"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同样的阶段，按不同的顺序和节奏组织，就是不同的模型</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软件过程的定义</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167411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瀑布模型与 V 模型</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快速原型模型</a:t>
              </a:r>
            </a:p>
          </p:txBody>
        </p:sp>
        <p:sp>
          <p:nvSpPr>
            <p:cNvPr id="16" name="Ellipse 16"/>
            <p:cNvSpPr/>
            <p:nvPr/>
          </p:nvSpPr>
          <p:spPr>
            <a:xfrm>
              <a:off x="723900" y="4951095"/>
              <a:ext cx="76200" cy="76200"/>
            </a:xfrm>
            <a:prstGeom prst="ellipse">
              <a:avLst/>
            </a:prstGeom>
            <a:solidFill>
              <a:srgbClr val="334E68"/>
            </a:solidFill>
            <a:ln>
              <a:noFill/>
            </a:ln>
          </p:spPr>
        </p:sp>
        <p:sp>
          <p:nvSpPr>
            <p:cNvPr id="17" name="TextBox 17"/>
            <p:cNvSpPr txBox="1"/>
            <p:nvPr/>
          </p:nvSpPr>
          <p:spPr>
            <a:xfrm>
              <a:off x="906780" y="489394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增量模型与螺旋模型</a:t>
              </a:r>
            </a:p>
          </p:txBody>
        </p:sp>
        <p:sp>
          <p:nvSpPr>
            <p:cNvPr id="18" name="Ellipse 18"/>
            <p:cNvSpPr/>
            <p:nvPr/>
          </p:nvSpPr>
          <p:spPr>
            <a:xfrm>
              <a:off x="723900" y="5305425"/>
              <a:ext cx="76200" cy="76200"/>
            </a:xfrm>
            <a:prstGeom prst="ellipse">
              <a:avLst/>
            </a:prstGeom>
            <a:solidFill>
              <a:srgbClr val="334E68"/>
            </a:solidFill>
            <a:ln>
              <a:noFill/>
            </a:ln>
          </p:spPr>
        </p:sp>
        <p:sp>
          <p:nvSpPr>
            <p:cNvPr id="19" name="TextBox 19"/>
            <p:cNvSpPr txBox="1"/>
            <p:nvPr/>
          </p:nvSpPr>
          <p:spPr>
            <a:xfrm>
              <a:off x="906780" y="5248275"/>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喷泉模型</a:t>
              </a:r>
            </a:p>
          </p:txBody>
        </p:sp>
      </p:grpSp>
      <p:grpSp>
        <p:nvGrpSpPr>
          <p:cNvPr id="23" name="footer"/>
          <p:cNvGrpSpPr/>
          <p:nvPr/>
        </p:nvGrpSpPr>
        <p:grpSpPr>
          <a:xfrm>
            <a:off x="528447" y="6581299"/>
            <a:ext cx="11135106" cy="190690"/>
            <a:chOff x="528447" y="6581299"/>
            <a:chExt cx="11135106" cy="190690"/>
          </a:xfrm>
        </p:grpSpPr>
        <p:sp>
          <p:nvSpPr>
            <p:cNvPr id="21" name="TextBox 21"/>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22" name="TextBox 2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27</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软件过程与传统过程模型</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软件过程规定了谁在什么时候做什么、怎么做</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4" name="c1-card-1"/>
          <p:cNvGrpSpPr/>
          <p:nvPr/>
        </p:nvGrpSpPr>
        <p:grpSpPr>
          <a:xfrm>
            <a:off x="533400" y="1524000"/>
            <a:ext cx="5842635" cy="1866900"/>
            <a:chOff x="533400" y="1524000"/>
            <a:chExt cx="5842635" cy="1866900"/>
          </a:xfrm>
        </p:grpSpPr>
        <p:sp>
          <p:nvSpPr>
            <p:cNvPr id="7" name="Rectangle 7"/>
            <p:cNvSpPr/>
            <p:nvPr/>
          </p:nvSpPr>
          <p:spPr>
            <a:xfrm>
              <a:off x="533400" y="1524000"/>
              <a:ext cx="5842635" cy="1866900"/>
            </a:xfrm>
            <a:prstGeom prst="roundRect">
              <a:avLst>
                <a:gd name="adj" fmla="val 7143"/>
              </a:avLst>
            </a:prstGeom>
            <a:solidFill>
              <a:srgbClr val="FFFFFF"/>
            </a:solidFill>
            <a:ln w="14288">
              <a:solidFill>
                <a:srgbClr val="D9DFEA"/>
              </a:solidFill>
            </a:ln>
          </p:spPr>
        </p:sp>
        <p:sp>
          <p:nvSpPr>
            <p:cNvPr id="8" name="Rectangle 8"/>
            <p:cNvSpPr/>
            <p:nvPr/>
          </p:nvSpPr>
          <p:spPr>
            <a:xfrm>
              <a:off x="542925" y="1657350"/>
              <a:ext cx="47625" cy="1600200"/>
            </a:xfrm>
            <a:prstGeom prst="roundRect">
              <a:avLst>
                <a:gd name="adj" fmla="val 50000"/>
              </a:avLst>
            </a:prstGeom>
            <a:solidFill>
              <a:srgbClr val="334E68"/>
            </a:solidFill>
            <a:ln>
              <a:noFill/>
            </a:ln>
          </p:spPr>
        </p:sp>
        <p:sp>
          <p:nvSpPr>
            <p:cNvPr id="9" name="Rectangle 9"/>
            <p:cNvSpPr/>
            <p:nvPr/>
          </p:nvSpPr>
          <p:spPr>
            <a:xfrm>
              <a:off x="781050" y="1733550"/>
              <a:ext cx="494348" cy="257175"/>
            </a:xfrm>
            <a:prstGeom prst="roundRect">
              <a:avLst>
                <a:gd name="adj" fmla="val 50000"/>
              </a:avLst>
            </a:prstGeom>
            <a:solidFill>
              <a:srgbClr val="E7EDF3"/>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定义</a:t>
              </a:r>
            </a:p>
          </p:txBody>
        </p:sp>
        <p:sp>
          <p:nvSpPr>
            <p:cNvPr id="11" name="TextBox 11"/>
            <p:cNvSpPr txBox="1"/>
            <p:nvPr/>
          </p:nvSpPr>
          <p:spPr>
            <a:xfrm>
              <a:off x="1382078" y="1768792"/>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软件过程</a:t>
              </a:r>
            </a:p>
          </p:txBody>
        </p:sp>
        <p:sp>
          <p:nvSpPr>
            <p:cNvPr id="12" name="TextBox 12"/>
            <p:cNvSpPr txBox="1"/>
            <p:nvPr/>
          </p:nvSpPr>
          <p:spPr>
            <a:xfrm>
              <a:off x="773430" y="2129790"/>
              <a:ext cx="5158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软件过程是为了获得高质量软件所需要完成的一系列任务的框</a:t>
              </a:r>
              <a:br/>
              <a:r>
                <a:rPr lang="zh-CN" sz="1500" dirty="0">
                  <a:solidFill>
                    <a:srgbClr val="1F2937"/>
                  </a:solidFill>
                  <a:latin typeface="+mn-lt"/>
                  <a:ea typeface="+mn-ea"/>
                  <a:cs typeface="+mn-cs"/>
                </a:rPr>
                <a:t>架，它规定了完成各项任务的工作步骤。</a:t>
              </a:r>
            </a:p>
          </p:txBody>
        </p:sp>
        <p:sp>
          <p:nvSpPr>
            <p:cNvPr id="13" name="TextBox 13"/>
            <p:cNvSpPr txBox="1"/>
            <p:nvPr/>
          </p:nvSpPr>
          <p:spPr>
            <a:xfrm>
              <a:off x="774573" y="2747486"/>
              <a:ext cx="5117338"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5B6475"/>
                  </a:solidFill>
                  <a:latin typeface="+mn-lt"/>
                  <a:ea typeface="+mn-ea"/>
                  <a:cs typeface="+mn-cs"/>
                </a:rPr>
                <a:t>ISO 9000 对过程的定义：使用资源将输入转化为输出的活动所构成的系</a:t>
              </a:r>
              <a:br/>
              <a:r>
                <a:rPr lang="zh-CN" sz="1280" dirty="0">
                  <a:solidFill>
                    <a:srgbClr val="5B6475"/>
                  </a:solidFill>
                  <a:latin typeface="+mn-lt"/>
                  <a:ea typeface="+mn-ea"/>
                  <a:cs typeface="+mn-cs"/>
                </a:rPr>
                <a:t>统。</a:t>
              </a:r>
            </a:p>
          </p:txBody>
        </p:sp>
      </p:grpSp>
      <p:grpSp>
        <p:nvGrpSpPr>
          <p:cNvPr id="25" name="c1-flow-2"/>
          <p:cNvGrpSpPr/>
          <p:nvPr/>
        </p:nvGrpSpPr>
        <p:grpSpPr>
          <a:xfrm>
            <a:off x="669608" y="3980498"/>
            <a:ext cx="5570219" cy="629603"/>
            <a:chOff x="669608" y="3980498"/>
            <a:chExt cx="5570219" cy="629603"/>
          </a:xfrm>
        </p:grpSpPr>
        <p:sp>
          <p:nvSpPr>
            <p:cNvPr id="15" name="Freeform 15"/>
            <p:cNvSpPr/>
            <p:nvPr/>
          </p:nvSpPr>
          <p:spPr>
            <a:xfrm>
              <a:off x="2345055" y="4295775"/>
              <a:ext cx="167640" cy="9525"/>
            </a:xfrm>
            <a:custGeom>
              <a:avLst/>
              <a:gdLst/>
              <a:ahLst/>
              <a:cxnLst/>
              <a:rect l="l" t="t" r="r" b="b"/>
              <a:pathLst>
                <a:path w="167640" h="9525">
                  <a:moveTo>
                    <a:pt x="0" y="0"/>
                  </a:moveTo>
                  <a:lnTo>
                    <a:pt x="167640" y="0"/>
                  </a:lnTo>
                </a:path>
              </a:pathLst>
            </a:custGeom>
            <a:noFill/>
            <a:ln w="15240">
              <a:solidFill>
                <a:srgbClr val="5B6475"/>
              </a:solidFill>
            </a:ln>
          </p:spPr>
        </p:sp>
        <p:sp>
          <p:nvSpPr>
            <p:cNvPr id="16" name="Freeform 16"/>
            <p:cNvSpPr/>
            <p:nvPr/>
          </p:nvSpPr>
          <p:spPr>
            <a:xfrm>
              <a:off x="2512695" y="424338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7" name="Freeform 17"/>
            <p:cNvSpPr/>
            <p:nvPr/>
          </p:nvSpPr>
          <p:spPr>
            <a:xfrm>
              <a:off x="4291965" y="4295775"/>
              <a:ext cx="168592" cy="9525"/>
            </a:xfrm>
            <a:custGeom>
              <a:avLst/>
              <a:gdLst/>
              <a:ahLst/>
              <a:cxnLst/>
              <a:rect l="l" t="t" r="r" b="b"/>
              <a:pathLst>
                <a:path w="168592" h="9525">
                  <a:moveTo>
                    <a:pt x="0" y="0"/>
                  </a:moveTo>
                  <a:lnTo>
                    <a:pt x="168592" y="0"/>
                  </a:lnTo>
                </a:path>
              </a:pathLst>
            </a:custGeom>
            <a:noFill/>
            <a:ln w="15240">
              <a:solidFill>
                <a:srgbClr val="5B6475"/>
              </a:solidFill>
            </a:ln>
          </p:spPr>
        </p:sp>
        <p:sp>
          <p:nvSpPr>
            <p:cNvPr id="18" name="Freeform 18"/>
            <p:cNvSpPr/>
            <p:nvPr/>
          </p:nvSpPr>
          <p:spPr>
            <a:xfrm>
              <a:off x="4460558" y="424338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9" name="Freeform 19"/>
            <p:cNvSpPr/>
            <p:nvPr/>
          </p:nvSpPr>
          <p:spPr>
            <a:xfrm>
              <a:off x="669608" y="3980498"/>
              <a:ext cx="1675447" cy="629603"/>
            </a:xfrm>
            <a:custGeom>
              <a:avLst/>
              <a:gdLst/>
              <a:ahLst/>
              <a:cxnLst/>
              <a:rect l="l" t="t" r="r" b="b"/>
              <a:pathLst>
                <a:path w="1675447" h="629603">
                  <a:moveTo>
                    <a:pt x="133350" y="0"/>
                  </a:moveTo>
                  <a:lnTo>
                    <a:pt x="1675447" y="0"/>
                  </a:lnTo>
                  <a:lnTo>
                    <a:pt x="1542097" y="629603"/>
                  </a:lnTo>
                  <a:lnTo>
                    <a:pt x="0" y="629603"/>
                  </a:lnTo>
                  <a:close/>
                </a:path>
              </a:pathLst>
            </a:custGeom>
            <a:solidFill>
              <a:srgbClr val="E7EDF3"/>
            </a:solidFill>
            <a:ln w="13335">
              <a:solidFill>
                <a:srgbClr val="334E68"/>
              </a:solidFill>
            </a:ln>
          </p:spPr>
        </p:sp>
        <p:sp>
          <p:nvSpPr>
            <p:cNvPr id="20" name="Rectangle 20"/>
            <p:cNvSpPr/>
            <p:nvPr/>
          </p:nvSpPr>
          <p:spPr>
            <a:xfrm>
              <a:off x="2617470" y="4076700"/>
              <a:ext cx="1675448" cy="438150"/>
            </a:xfrm>
            <a:prstGeom prst="roundRect">
              <a:avLst>
                <a:gd name="adj" fmla="val 21739"/>
              </a:avLst>
            </a:prstGeom>
            <a:solidFill>
              <a:srgbClr val="E7EDF3"/>
            </a:solidFill>
            <a:ln w="19050">
              <a:solidFill>
                <a:srgbClr val="334E68"/>
              </a:solidFill>
            </a:ln>
          </p:spPr>
        </p:sp>
        <p:sp>
          <p:nvSpPr>
            <p:cNvPr id="21" name="Freeform 21"/>
            <p:cNvSpPr/>
            <p:nvPr/>
          </p:nvSpPr>
          <p:spPr>
            <a:xfrm>
              <a:off x="4565332" y="3980498"/>
              <a:ext cx="1674495" cy="629603"/>
            </a:xfrm>
            <a:custGeom>
              <a:avLst/>
              <a:gdLst/>
              <a:ahLst/>
              <a:cxnLst/>
              <a:rect l="l" t="t" r="r" b="b"/>
              <a:pathLst>
                <a:path w="1674495" h="629603">
                  <a:moveTo>
                    <a:pt x="133350" y="0"/>
                  </a:moveTo>
                  <a:lnTo>
                    <a:pt x="1674495" y="0"/>
                  </a:lnTo>
                  <a:lnTo>
                    <a:pt x="1541145" y="629603"/>
                  </a:lnTo>
                  <a:lnTo>
                    <a:pt x="0" y="629603"/>
                  </a:lnTo>
                  <a:close/>
                </a:path>
              </a:pathLst>
            </a:custGeom>
            <a:solidFill>
              <a:srgbClr val="E7EDF3"/>
            </a:solidFill>
            <a:ln w="13335">
              <a:solidFill>
                <a:srgbClr val="334E68"/>
              </a:solidFill>
            </a:ln>
          </p:spPr>
        </p:sp>
        <p:sp>
          <p:nvSpPr>
            <p:cNvPr id="22" name="TextBox 22"/>
            <p:cNvSpPr txBox="1"/>
            <p:nvPr/>
          </p:nvSpPr>
          <p:spPr>
            <a:xfrm>
              <a:off x="931418" y="4097179"/>
              <a:ext cx="1150874" cy="468440"/>
            </a:xfrm>
            <a:prstGeom prst="rect">
              <a:avLst/>
            </a:prstGeom>
            <a:noFill/>
            <a:ln>
              <a:noFill/>
            </a:ln>
          </p:spPr>
          <p:txBody>
            <a:bodyPr wrap="none" lIns="0" tIns="0" rIns="0" bIns="0" anchor="t" anchorCtr="0">
              <a:spAutoFit/>
            </a:bodyPr>
            <a:lstStyle/>
            <a:p>
              <a:pPr algn="ctr">
                <a:lnSpc>
                  <a:spcPts val="1725"/>
                </a:lnSpc>
              </a:pPr>
              <a:r>
                <a:rPr lang="zh-CN" sz="1280" dirty="0">
                  <a:solidFill>
                    <a:srgbClr val="1F2937"/>
                  </a:solidFill>
                  <a:latin typeface="+mn-lt"/>
                  <a:ea typeface="+mn-ea"/>
                  <a:cs typeface="+mn-cs"/>
                </a:rPr>
                <a:t>新的或变化的需</a:t>
              </a:r>
              <a:br/>
              <a:r>
                <a:rPr lang="zh-CN" sz="1280" dirty="0">
                  <a:solidFill>
                    <a:srgbClr val="1F2937"/>
                  </a:solidFill>
                  <a:latin typeface="+mn-lt"/>
                  <a:ea typeface="+mn-ea"/>
                  <a:cs typeface="+mn-cs"/>
                </a:rPr>
                <a:t>求</a:t>
              </a:r>
            </a:p>
          </p:txBody>
        </p:sp>
        <p:sp>
          <p:nvSpPr>
            <p:cNvPr id="23" name="TextBox 23"/>
            <p:cNvSpPr txBox="1"/>
            <p:nvPr/>
          </p:nvSpPr>
          <p:spPr>
            <a:xfrm>
              <a:off x="2931300" y="4206716"/>
              <a:ext cx="104683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软件工程过程</a:t>
              </a:r>
            </a:p>
          </p:txBody>
        </p:sp>
        <p:sp>
          <p:nvSpPr>
            <p:cNvPr id="24" name="TextBox 24"/>
            <p:cNvSpPr txBox="1"/>
            <p:nvPr/>
          </p:nvSpPr>
          <p:spPr>
            <a:xfrm>
              <a:off x="4827143" y="4097179"/>
              <a:ext cx="1150874" cy="468440"/>
            </a:xfrm>
            <a:prstGeom prst="rect">
              <a:avLst/>
            </a:prstGeom>
            <a:noFill/>
            <a:ln>
              <a:noFill/>
            </a:ln>
          </p:spPr>
          <p:txBody>
            <a:bodyPr wrap="none" lIns="0" tIns="0" rIns="0" bIns="0" anchor="t" anchorCtr="0">
              <a:spAutoFit/>
            </a:bodyPr>
            <a:lstStyle/>
            <a:p>
              <a:pPr algn="ctr">
                <a:lnSpc>
                  <a:spcPts val="1725"/>
                </a:lnSpc>
              </a:pPr>
              <a:r>
                <a:rPr lang="zh-CN" sz="1280" dirty="0">
                  <a:solidFill>
                    <a:srgbClr val="1F2937"/>
                  </a:solidFill>
                  <a:latin typeface="+mn-lt"/>
                  <a:ea typeface="+mn-ea"/>
                  <a:cs typeface="+mn-cs"/>
                </a:rPr>
                <a:t>新的或变化的系</a:t>
              </a:r>
              <a:br/>
              <a:r>
                <a:rPr lang="zh-CN" sz="1280" dirty="0">
                  <a:solidFill>
                    <a:srgbClr val="1F2937"/>
                  </a:solidFill>
                  <a:latin typeface="+mn-lt"/>
                  <a:ea typeface="+mn-ea"/>
                  <a:cs typeface="+mn-cs"/>
                </a:rPr>
                <a:t>统</a:t>
              </a:r>
            </a:p>
          </p:txBody>
        </p:sp>
      </p:grpSp>
      <p:grpSp>
        <p:nvGrpSpPr>
          <p:cNvPr id="31" name="c1-callout-3"/>
          <p:cNvGrpSpPr/>
          <p:nvPr/>
        </p:nvGrpSpPr>
        <p:grpSpPr>
          <a:xfrm>
            <a:off x="533400" y="5200650"/>
            <a:ext cx="5842635" cy="782955"/>
            <a:chOff x="533400" y="5200650"/>
            <a:chExt cx="5842635" cy="782955"/>
          </a:xfrm>
        </p:grpSpPr>
        <p:sp>
          <p:nvSpPr>
            <p:cNvPr id="26" name="Rectangle 26"/>
            <p:cNvSpPr/>
            <p:nvPr/>
          </p:nvSpPr>
          <p:spPr>
            <a:xfrm>
              <a:off x="533400" y="5200650"/>
              <a:ext cx="5842635" cy="782955"/>
            </a:xfrm>
            <a:prstGeom prst="roundRect">
              <a:avLst>
                <a:gd name="adj" fmla="val 14599"/>
              </a:avLst>
            </a:prstGeom>
            <a:solidFill>
              <a:srgbClr val="334E68"/>
            </a:solidFill>
            <a:ln>
              <a:noFill/>
            </a:ln>
          </p:spPr>
        </p:sp>
        <p:grpSp>
          <p:nvGrpSpPr>
            <p:cNvPr id="29" name="Group 29"/>
            <p:cNvGrpSpPr/>
            <p:nvPr/>
          </p:nvGrpSpPr>
          <p:grpSpPr>
            <a:xfrm>
              <a:off x="738188" y="5492117"/>
              <a:ext cx="200023" cy="200023"/>
              <a:chOff x="738188" y="5492117"/>
              <a:chExt cx="200023" cy="200023"/>
            </a:xfrm>
          </p:grpSpPr>
          <p:sp>
            <p:nvSpPr>
              <p:cNvPr id="27" name="Freeform 27"/>
              <p:cNvSpPr/>
              <p:nvPr/>
            </p:nvSpPr>
            <p:spPr>
              <a:xfrm>
                <a:off x="738188" y="549211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8" name="Freeform 28"/>
              <p:cNvSpPr/>
              <p:nvPr/>
            </p:nvSpPr>
            <p:spPr>
              <a:xfrm>
                <a:off x="871538" y="555879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0" name="TextBox 30"/>
            <p:cNvSpPr txBox="1"/>
            <p:nvPr/>
          </p:nvSpPr>
          <p:spPr>
            <a:xfrm>
              <a:off x="1040130" y="5349240"/>
              <a:ext cx="4425315" cy="569595"/>
            </a:xfrm>
            <a:prstGeom prst="rect">
              <a:avLst/>
            </a:prstGeom>
            <a:noFill/>
            <a:ln>
              <a:noFill/>
            </a:ln>
          </p:spPr>
          <p:txBody>
            <a:bodyPr wrap="none" lIns="0" tIns="0" rIns="0" bIns="0" anchor="t" anchorCtr="0">
              <a:spAutoFit/>
            </a:bodyPr>
            <a:lstStyle/>
            <a:p>
              <a:pPr algn="l">
                <a:lnSpc>
                  <a:spcPts val="2175"/>
                </a:lnSpc>
              </a:pPr>
              <a:r>
                <a:rPr lang="en-US" sz="1500" dirty="0">
                  <a:solidFill>
                    <a:srgbClr val="FFFFFF"/>
                  </a:solidFill>
                  <a:latin typeface="+mn-lt"/>
                  <a:ea typeface="+mn-ea"/>
                  <a:cs typeface="+mn-cs"/>
                </a:rPr>
                <a:t>A process defines Who is doing What, When, and</a:t>
              </a:r>
              <a:br/>
              <a:r>
                <a:rPr lang="en-US" sz="1500" dirty="0">
                  <a:solidFill>
                    <a:srgbClr val="FFFFFF"/>
                  </a:solidFill>
                  <a:latin typeface="+mn-lt"/>
                  <a:ea typeface="+mn-ea"/>
                  <a:cs typeface="+mn-cs"/>
                </a:rPr>
                <a:t>How, in order to reach a certain goal.</a:t>
              </a:r>
            </a:p>
          </p:txBody>
        </p:sp>
      </p:grpSp>
      <p:grpSp>
        <p:nvGrpSpPr>
          <p:cNvPr id="54" name="c2-bullets-1"/>
          <p:cNvGrpSpPr/>
          <p:nvPr/>
        </p:nvGrpSpPr>
        <p:grpSpPr>
          <a:xfrm>
            <a:off x="6673215" y="1548765"/>
            <a:ext cx="3554730" cy="2716530"/>
            <a:chOff x="6673215" y="1548765"/>
            <a:chExt cx="3554730" cy="2716530"/>
          </a:xfrm>
        </p:grpSpPr>
        <p:sp>
          <p:nvSpPr>
            <p:cNvPr id="32" name="TextBox 32"/>
            <p:cNvSpPr txBox="1"/>
            <p:nvPr/>
          </p:nvSpPr>
          <p:spPr>
            <a:xfrm>
              <a:off x="6673215" y="1548765"/>
              <a:ext cx="288416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改变了软件工程实践的 7 大因素</a:t>
              </a:r>
            </a:p>
          </p:txBody>
        </p:sp>
        <p:sp>
          <p:nvSpPr>
            <p:cNvPr id="33" name="Ellipse 33"/>
            <p:cNvSpPr/>
            <p:nvPr/>
          </p:nvSpPr>
          <p:spPr>
            <a:xfrm>
              <a:off x="6680835" y="1889760"/>
              <a:ext cx="213360" cy="213360"/>
            </a:xfrm>
            <a:prstGeom prst="ellipse">
              <a:avLst/>
            </a:prstGeom>
            <a:solidFill>
              <a:srgbClr val="334E68"/>
            </a:solidFill>
            <a:ln>
              <a:noFill/>
            </a:ln>
          </p:spPr>
        </p:sp>
        <p:sp>
          <p:nvSpPr>
            <p:cNvPr id="34" name="TextBox 34"/>
            <p:cNvSpPr txBox="1"/>
            <p:nvPr/>
          </p:nvSpPr>
          <p:spPr>
            <a:xfrm>
              <a:off x="6742684" y="193205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35" name="TextBox 35"/>
            <p:cNvSpPr txBox="1"/>
            <p:nvPr/>
          </p:nvSpPr>
          <p:spPr>
            <a:xfrm>
              <a:off x="6981825" y="190309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紧迫的上市时间要求</a:t>
              </a:r>
            </a:p>
          </p:txBody>
        </p:sp>
        <p:sp>
          <p:nvSpPr>
            <p:cNvPr id="36" name="Ellipse 36"/>
            <p:cNvSpPr/>
            <p:nvPr/>
          </p:nvSpPr>
          <p:spPr>
            <a:xfrm>
              <a:off x="6680835" y="2234565"/>
              <a:ext cx="213360" cy="213360"/>
            </a:xfrm>
            <a:prstGeom prst="ellipse">
              <a:avLst/>
            </a:prstGeom>
            <a:solidFill>
              <a:srgbClr val="334E68"/>
            </a:solidFill>
            <a:ln>
              <a:noFill/>
            </a:ln>
          </p:spPr>
        </p:sp>
        <p:sp>
          <p:nvSpPr>
            <p:cNvPr id="37" name="TextBox 37"/>
            <p:cNvSpPr txBox="1"/>
            <p:nvPr/>
          </p:nvSpPr>
          <p:spPr>
            <a:xfrm>
              <a:off x="6742684" y="227685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38" name="TextBox 38"/>
            <p:cNvSpPr txBox="1"/>
            <p:nvPr/>
          </p:nvSpPr>
          <p:spPr>
            <a:xfrm>
              <a:off x="6981825" y="2247900"/>
              <a:ext cx="32461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硬件成本降低，开发和维护费用增高</a:t>
              </a:r>
            </a:p>
          </p:txBody>
        </p:sp>
        <p:sp>
          <p:nvSpPr>
            <p:cNvPr id="39" name="Ellipse 39"/>
            <p:cNvSpPr/>
            <p:nvPr/>
          </p:nvSpPr>
          <p:spPr>
            <a:xfrm>
              <a:off x="6680835" y="2579370"/>
              <a:ext cx="213360" cy="213360"/>
            </a:xfrm>
            <a:prstGeom prst="ellipse">
              <a:avLst/>
            </a:prstGeom>
            <a:solidFill>
              <a:srgbClr val="334E68"/>
            </a:solidFill>
            <a:ln>
              <a:noFill/>
            </a:ln>
          </p:spPr>
        </p:sp>
        <p:sp>
          <p:nvSpPr>
            <p:cNvPr id="40" name="TextBox 40"/>
            <p:cNvSpPr txBox="1"/>
            <p:nvPr/>
          </p:nvSpPr>
          <p:spPr>
            <a:xfrm>
              <a:off x="6742684" y="262166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41" name="TextBox 41"/>
            <p:cNvSpPr txBox="1"/>
            <p:nvPr/>
          </p:nvSpPr>
          <p:spPr>
            <a:xfrm>
              <a:off x="6981825" y="259270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桌面系统功能日益强大</a:t>
              </a:r>
            </a:p>
          </p:txBody>
        </p:sp>
        <p:sp>
          <p:nvSpPr>
            <p:cNvPr id="42" name="Ellipse 42"/>
            <p:cNvSpPr/>
            <p:nvPr/>
          </p:nvSpPr>
          <p:spPr>
            <a:xfrm>
              <a:off x="6680835" y="2924175"/>
              <a:ext cx="213360" cy="213360"/>
            </a:xfrm>
            <a:prstGeom prst="ellipse">
              <a:avLst/>
            </a:prstGeom>
            <a:solidFill>
              <a:srgbClr val="334E68"/>
            </a:solidFill>
            <a:ln>
              <a:noFill/>
            </a:ln>
          </p:spPr>
        </p:sp>
        <p:sp>
          <p:nvSpPr>
            <p:cNvPr id="43" name="TextBox 43"/>
            <p:cNvSpPr txBox="1"/>
            <p:nvPr/>
          </p:nvSpPr>
          <p:spPr>
            <a:xfrm>
              <a:off x="6742684" y="296646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4</a:t>
              </a:r>
            </a:p>
          </p:txBody>
        </p:sp>
        <p:sp>
          <p:nvSpPr>
            <p:cNvPr id="44" name="TextBox 44"/>
            <p:cNvSpPr txBox="1"/>
            <p:nvPr/>
          </p:nvSpPr>
          <p:spPr>
            <a:xfrm>
              <a:off x="6981825" y="2937510"/>
              <a:ext cx="10248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网络的普及</a:t>
              </a:r>
            </a:p>
          </p:txBody>
        </p:sp>
        <p:sp>
          <p:nvSpPr>
            <p:cNvPr id="45" name="Ellipse 45"/>
            <p:cNvSpPr/>
            <p:nvPr/>
          </p:nvSpPr>
          <p:spPr>
            <a:xfrm>
              <a:off x="6680835" y="3268980"/>
              <a:ext cx="213360" cy="213360"/>
            </a:xfrm>
            <a:prstGeom prst="ellipse">
              <a:avLst/>
            </a:prstGeom>
            <a:solidFill>
              <a:srgbClr val="334E68"/>
            </a:solidFill>
            <a:ln>
              <a:noFill/>
            </a:ln>
          </p:spPr>
        </p:sp>
        <p:sp>
          <p:nvSpPr>
            <p:cNvPr id="46" name="TextBox 46"/>
            <p:cNvSpPr txBox="1"/>
            <p:nvPr/>
          </p:nvSpPr>
          <p:spPr>
            <a:xfrm>
              <a:off x="6742684" y="331127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5</a:t>
              </a:r>
            </a:p>
          </p:txBody>
        </p:sp>
        <p:sp>
          <p:nvSpPr>
            <p:cNvPr id="47" name="TextBox 47"/>
            <p:cNvSpPr txBox="1"/>
            <p:nvPr/>
          </p:nvSpPr>
          <p:spPr>
            <a:xfrm>
              <a:off x="6981825" y="3282315"/>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面向对象方法与技术被广泛接受</a:t>
              </a:r>
            </a:p>
          </p:txBody>
        </p:sp>
        <p:sp>
          <p:nvSpPr>
            <p:cNvPr id="48" name="Ellipse 48"/>
            <p:cNvSpPr/>
            <p:nvPr/>
          </p:nvSpPr>
          <p:spPr>
            <a:xfrm>
              <a:off x="6680835" y="3613785"/>
              <a:ext cx="213360" cy="213360"/>
            </a:xfrm>
            <a:prstGeom prst="ellipse">
              <a:avLst/>
            </a:prstGeom>
            <a:solidFill>
              <a:srgbClr val="334E68"/>
            </a:solidFill>
            <a:ln>
              <a:noFill/>
            </a:ln>
          </p:spPr>
        </p:sp>
        <p:sp>
          <p:nvSpPr>
            <p:cNvPr id="49" name="TextBox 49"/>
            <p:cNvSpPr txBox="1"/>
            <p:nvPr/>
          </p:nvSpPr>
          <p:spPr>
            <a:xfrm>
              <a:off x="6742684" y="365607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6</a:t>
              </a:r>
            </a:p>
          </p:txBody>
        </p:sp>
        <p:sp>
          <p:nvSpPr>
            <p:cNvPr id="50" name="TextBox 50"/>
            <p:cNvSpPr txBox="1"/>
            <p:nvPr/>
          </p:nvSpPr>
          <p:spPr>
            <a:xfrm>
              <a:off x="6981825" y="3627120"/>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图形用户界面的广泛使用</a:t>
              </a:r>
            </a:p>
          </p:txBody>
        </p:sp>
        <p:sp>
          <p:nvSpPr>
            <p:cNvPr id="51" name="Ellipse 51"/>
            <p:cNvSpPr/>
            <p:nvPr/>
          </p:nvSpPr>
          <p:spPr>
            <a:xfrm>
              <a:off x="6680835" y="3958590"/>
              <a:ext cx="213360" cy="213360"/>
            </a:xfrm>
            <a:prstGeom prst="ellipse">
              <a:avLst/>
            </a:prstGeom>
            <a:solidFill>
              <a:srgbClr val="334E68"/>
            </a:solidFill>
            <a:ln>
              <a:noFill/>
            </a:ln>
          </p:spPr>
        </p:sp>
        <p:sp>
          <p:nvSpPr>
            <p:cNvPr id="52" name="TextBox 52"/>
            <p:cNvSpPr txBox="1"/>
            <p:nvPr/>
          </p:nvSpPr>
          <p:spPr>
            <a:xfrm>
              <a:off x="6742684" y="400088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7</a:t>
              </a:r>
            </a:p>
          </p:txBody>
        </p:sp>
        <p:sp>
          <p:nvSpPr>
            <p:cNvPr id="53" name="TextBox 53"/>
            <p:cNvSpPr txBox="1"/>
            <p:nvPr/>
          </p:nvSpPr>
          <p:spPr>
            <a:xfrm>
              <a:off x="6981825" y="397192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瀑布模型缺乏灵活性</a:t>
              </a:r>
            </a:p>
          </p:txBody>
        </p:sp>
      </p:grpSp>
      <p:grpSp>
        <p:nvGrpSpPr>
          <p:cNvPr id="61" name="c2-callout-2"/>
          <p:cNvGrpSpPr/>
          <p:nvPr/>
        </p:nvGrpSpPr>
        <p:grpSpPr>
          <a:xfrm>
            <a:off x="6680835" y="4396740"/>
            <a:ext cx="4977765" cy="1586865"/>
            <a:chOff x="6680835" y="4396740"/>
            <a:chExt cx="4977765" cy="1586865"/>
          </a:xfrm>
        </p:grpSpPr>
        <p:sp>
          <p:nvSpPr>
            <p:cNvPr id="55" name="Rectangle 55"/>
            <p:cNvSpPr/>
            <p:nvPr/>
          </p:nvSpPr>
          <p:spPr>
            <a:xfrm>
              <a:off x="6680835" y="4396740"/>
              <a:ext cx="4977765" cy="1586865"/>
            </a:xfrm>
            <a:prstGeom prst="roundRect">
              <a:avLst>
                <a:gd name="adj" fmla="val 7203"/>
              </a:avLst>
            </a:prstGeom>
            <a:solidFill>
              <a:srgbClr val="F4F6FB"/>
            </a:solidFill>
            <a:ln>
              <a:noFill/>
            </a:ln>
          </p:spPr>
        </p:sp>
        <p:grpSp>
          <p:nvGrpSpPr>
            <p:cNvPr id="59" name="Group 59"/>
            <p:cNvGrpSpPr/>
            <p:nvPr/>
          </p:nvGrpSpPr>
          <p:grpSpPr>
            <a:xfrm>
              <a:off x="6885623" y="5090160"/>
              <a:ext cx="200026" cy="200026"/>
              <a:chOff x="6885623" y="5090160"/>
              <a:chExt cx="200026" cy="200026"/>
            </a:xfrm>
          </p:grpSpPr>
          <p:sp>
            <p:nvSpPr>
              <p:cNvPr id="56" name="Freeform 56"/>
              <p:cNvSpPr/>
              <p:nvPr/>
            </p:nvSpPr>
            <p:spPr>
              <a:xfrm>
                <a:off x="6885623" y="509016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7" name="Freeform 57"/>
              <p:cNvSpPr/>
              <p:nvPr/>
            </p:nvSpPr>
            <p:spPr>
              <a:xfrm>
                <a:off x="6985635" y="515683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8" name="Freeform 58"/>
              <p:cNvSpPr/>
              <p:nvPr/>
            </p:nvSpPr>
            <p:spPr>
              <a:xfrm>
                <a:off x="6974523" y="519017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0" name="TextBox 60"/>
            <p:cNvSpPr txBox="1"/>
            <p:nvPr/>
          </p:nvSpPr>
          <p:spPr>
            <a:xfrm>
              <a:off x="7187565" y="4947285"/>
              <a:ext cx="40157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最后一条直接催生了后面的原型、增量、螺旋和</a:t>
              </a:r>
              <a:br/>
              <a:r>
                <a:rPr lang="zh-CN" sz="1500" dirty="0">
                  <a:solidFill>
                    <a:srgbClr val="1F2937"/>
                  </a:solidFill>
                  <a:latin typeface="+mn-lt"/>
                  <a:ea typeface="+mn-ea"/>
                  <a:cs typeface="+mn-cs"/>
                </a:rPr>
                <a:t>敏捷各种模型。</a:t>
              </a:r>
            </a:p>
          </p:txBody>
        </p:sp>
      </p:grpSp>
      <p:grpSp>
        <p:nvGrpSpPr>
          <p:cNvPr id="64" name="footer"/>
          <p:cNvGrpSpPr/>
          <p:nvPr/>
        </p:nvGrpSpPr>
        <p:grpSpPr>
          <a:xfrm>
            <a:off x="528447" y="6581299"/>
            <a:ext cx="11135106" cy="190690"/>
            <a:chOff x="528447" y="6581299"/>
            <a:chExt cx="11135106" cy="190690"/>
          </a:xfrm>
        </p:grpSpPr>
        <p:sp>
          <p:nvSpPr>
            <p:cNvPr id="62" name="TextBox 62"/>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3" name="TextBox 6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28</a:t>
              </a:r>
            </a:p>
          </p:txBody>
        </p:sp>
      </p:gr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921371" cy="909257"/>
            <a:chOff x="520446" y="342900"/>
            <a:chExt cx="7921371"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软件过程与传统过程模型</a:t>
              </a:r>
            </a:p>
          </p:txBody>
        </p:sp>
        <p:sp>
          <p:nvSpPr>
            <p:cNvPr id="4" name="TextBox 4"/>
            <p:cNvSpPr txBox="1"/>
            <p:nvPr/>
          </p:nvSpPr>
          <p:spPr>
            <a:xfrm>
              <a:off x="520446" y="753428"/>
              <a:ext cx="792137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瀑布模型：前一阶段的输出文档就是后一阶段的输入</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9" name="c1-flow-1"/>
          <p:cNvGrpSpPr/>
          <p:nvPr/>
        </p:nvGrpSpPr>
        <p:grpSpPr>
          <a:xfrm>
            <a:off x="882015" y="1631632"/>
            <a:ext cx="4280535" cy="3545206"/>
            <a:chOff x="882015" y="1631632"/>
            <a:chExt cx="4280535" cy="3545206"/>
          </a:xfrm>
        </p:grpSpPr>
        <p:sp>
          <p:nvSpPr>
            <p:cNvPr id="7" name="Freeform 7"/>
            <p:cNvSpPr/>
            <p:nvPr/>
          </p:nvSpPr>
          <p:spPr>
            <a:xfrm>
              <a:off x="3022282" y="2043112"/>
              <a:ext cx="9525" cy="110490"/>
            </a:xfrm>
            <a:custGeom>
              <a:avLst/>
              <a:gdLst/>
              <a:ahLst/>
              <a:cxnLst/>
              <a:rect l="l" t="t" r="r" b="b"/>
              <a:pathLst>
                <a:path w="9525" h="110490">
                  <a:moveTo>
                    <a:pt x="0" y="0"/>
                  </a:moveTo>
                  <a:lnTo>
                    <a:pt x="0" y="110490"/>
                  </a:lnTo>
                </a:path>
              </a:pathLst>
            </a:custGeom>
            <a:noFill/>
            <a:ln w="15240">
              <a:solidFill>
                <a:srgbClr val="5B6475"/>
              </a:solidFill>
            </a:ln>
          </p:spPr>
        </p:sp>
        <p:sp>
          <p:nvSpPr>
            <p:cNvPr id="8" name="Freeform 8"/>
            <p:cNvSpPr/>
            <p:nvPr/>
          </p:nvSpPr>
          <p:spPr>
            <a:xfrm>
              <a:off x="2969895" y="215360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9" name="Freeform 9"/>
            <p:cNvSpPr/>
            <p:nvPr/>
          </p:nvSpPr>
          <p:spPr>
            <a:xfrm>
              <a:off x="3022282" y="2669858"/>
              <a:ext cx="9525" cy="110490"/>
            </a:xfrm>
            <a:custGeom>
              <a:avLst/>
              <a:gdLst/>
              <a:ahLst/>
              <a:cxnLst/>
              <a:rect l="l" t="t" r="r" b="b"/>
              <a:pathLst>
                <a:path w="9525" h="110490">
                  <a:moveTo>
                    <a:pt x="0" y="0"/>
                  </a:moveTo>
                  <a:lnTo>
                    <a:pt x="0" y="110490"/>
                  </a:lnTo>
                </a:path>
              </a:pathLst>
            </a:custGeom>
            <a:noFill/>
            <a:ln w="15240">
              <a:solidFill>
                <a:srgbClr val="5B6475"/>
              </a:solidFill>
            </a:ln>
          </p:spPr>
        </p:sp>
        <p:sp>
          <p:nvSpPr>
            <p:cNvPr id="10" name="Freeform 10"/>
            <p:cNvSpPr/>
            <p:nvPr/>
          </p:nvSpPr>
          <p:spPr>
            <a:xfrm>
              <a:off x="2969895" y="278034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1" name="Freeform 11"/>
            <p:cNvSpPr/>
            <p:nvPr/>
          </p:nvSpPr>
          <p:spPr>
            <a:xfrm>
              <a:off x="3022282" y="3296602"/>
              <a:ext cx="9525" cy="110490"/>
            </a:xfrm>
            <a:custGeom>
              <a:avLst/>
              <a:gdLst/>
              <a:ahLst/>
              <a:cxnLst/>
              <a:rect l="l" t="t" r="r" b="b"/>
              <a:pathLst>
                <a:path w="9525" h="110490">
                  <a:moveTo>
                    <a:pt x="0" y="0"/>
                  </a:moveTo>
                  <a:lnTo>
                    <a:pt x="0" y="110490"/>
                  </a:lnTo>
                </a:path>
              </a:pathLst>
            </a:custGeom>
            <a:noFill/>
            <a:ln w="15240">
              <a:solidFill>
                <a:srgbClr val="5B6475"/>
              </a:solidFill>
            </a:ln>
          </p:spPr>
        </p:sp>
        <p:sp>
          <p:nvSpPr>
            <p:cNvPr id="12" name="Freeform 12"/>
            <p:cNvSpPr/>
            <p:nvPr/>
          </p:nvSpPr>
          <p:spPr>
            <a:xfrm>
              <a:off x="2969895" y="340709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3" name="Freeform 13"/>
            <p:cNvSpPr/>
            <p:nvPr/>
          </p:nvSpPr>
          <p:spPr>
            <a:xfrm>
              <a:off x="3022282" y="3923348"/>
              <a:ext cx="9525" cy="110490"/>
            </a:xfrm>
            <a:custGeom>
              <a:avLst/>
              <a:gdLst/>
              <a:ahLst/>
              <a:cxnLst/>
              <a:rect l="l" t="t" r="r" b="b"/>
              <a:pathLst>
                <a:path w="9525" h="110490">
                  <a:moveTo>
                    <a:pt x="0" y="0"/>
                  </a:moveTo>
                  <a:lnTo>
                    <a:pt x="0" y="110490"/>
                  </a:lnTo>
                </a:path>
              </a:pathLst>
            </a:custGeom>
            <a:noFill/>
            <a:ln w="15240">
              <a:solidFill>
                <a:srgbClr val="5B6475"/>
              </a:solidFill>
            </a:ln>
          </p:spPr>
        </p:sp>
        <p:sp>
          <p:nvSpPr>
            <p:cNvPr id="14" name="Freeform 14"/>
            <p:cNvSpPr/>
            <p:nvPr/>
          </p:nvSpPr>
          <p:spPr>
            <a:xfrm>
              <a:off x="2969895" y="403383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5" name="Freeform 15"/>
            <p:cNvSpPr/>
            <p:nvPr/>
          </p:nvSpPr>
          <p:spPr>
            <a:xfrm>
              <a:off x="3022282" y="4550092"/>
              <a:ext cx="9525" cy="110490"/>
            </a:xfrm>
            <a:custGeom>
              <a:avLst/>
              <a:gdLst/>
              <a:ahLst/>
              <a:cxnLst/>
              <a:rect l="l" t="t" r="r" b="b"/>
              <a:pathLst>
                <a:path w="9525" h="110490">
                  <a:moveTo>
                    <a:pt x="0" y="0"/>
                  </a:moveTo>
                  <a:lnTo>
                    <a:pt x="0" y="110490"/>
                  </a:lnTo>
                </a:path>
              </a:pathLst>
            </a:custGeom>
            <a:noFill/>
            <a:ln w="15240">
              <a:solidFill>
                <a:srgbClr val="5B6475"/>
              </a:solidFill>
            </a:ln>
          </p:spPr>
        </p:sp>
        <p:sp>
          <p:nvSpPr>
            <p:cNvPr id="16" name="Freeform 16"/>
            <p:cNvSpPr/>
            <p:nvPr/>
          </p:nvSpPr>
          <p:spPr>
            <a:xfrm>
              <a:off x="2969895" y="466058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7" name="Rectangle 17"/>
            <p:cNvSpPr/>
            <p:nvPr/>
          </p:nvSpPr>
          <p:spPr>
            <a:xfrm>
              <a:off x="882015" y="1631632"/>
              <a:ext cx="4280535" cy="411480"/>
            </a:xfrm>
            <a:prstGeom prst="roundRect">
              <a:avLst>
                <a:gd name="adj" fmla="val 23148"/>
              </a:avLst>
            </a:prstGeom>
            <a:solidFill>
              <a:srgbClr val="FFFFFF"/>
            </a:solidFill>
            <a:ln w="15240">
              <a:solidFill>
                <a:srgbClr val="334E68"/>
              </a:solidFill>
            </a:ln>
          </p:spPr>
        </p:sp>
        <p:sp>
          <p:nvSpPr>
            <p:cNvPr id="18" name="Rectangle 18"/>
            <p:cNvSpPr/>
            <p:nvPr/>
          </p:nvSpPr>
          <p:spPr>
            <a:xfrm>
              <a:off x="882015" y="2258378"/>
              <a:ext cx="4280535" cy="411480"/>
            </a:xfrm>
            <a:prstGeom prst="roundRect">
              <a:avLst>
                <a:gd name="adj" fmla="val 23148"/>
              </a:avLst>
            </a:prstGeom>
            <a:solidFill>
              <a:srgbClr val="FFFFFF"/>
            </a:solidFill>
            <a:ln w="15240">
              <a:solidFill>
                <a:srgbClr val="334E68"/>
              </a:solidFill>
            </a:ln>
          </p:spPr>
        </p:sp>
        <p:sp>
          <p:nvSpPr>
            <p:cNvPr id="19" name="Rectangle 19"/>
            <p:cNvSpPr/>
            <p:nvPr/>
          </p:nvSpPr>
          <p:spPr>
            <a:xfrm>
              <a:off x="882015" y="2885122"/>
              <a:ext cx="4280535" cy="411480"/>
            </a:xfrm>
            <a:prstGeom prst="roundRect">
              <a:avLst>
                <a:gd name="adj" fmla="val 23148"/>
              </a:avLst>
            </a:prstGeom>
            <a:solidFill>
              <a:srgbClr val="FFFFFF"/>
            </a:solidFill>
            <a:ln w="15240">
              <a:solidFill>
                <a:srgbClr val="334E68"/>
              </a:solidFill>
            </a:ln>
          </p:spPr>
        </p:sp>
        <p:sp>
          <p:nvSpPr>
            <p:cNvPr id="20" name="Rectangle 20"/>
            <p:cNvSpPr/>
            <p:nvPr/>
          </p:nvSpPr>
          <p:spPr>
            <a:xfrm>
              <a:off x="882015" y="3511868"/>
              <a:ext cx="4280535" cy="411480"/>
            </a:xfrm>
            <a:prstGeom prst="roundRect">
              <a:avLst>
                <a:gd name="adj" fmla="val 23148"/>
              </a:avLst>
            </a:prstGeom>
            <a:solidFill>
              <a:srgbClr val="FFFFFF"/>
            </a:solidFill>
            <a:ln w="15240">
              <a:solidFill>
                <a:srgbClr val="334E68"/>
              </a:solidFill>
            </a:ln>
          </p:spPr>
        </p:sp>
        <p:sp>
          <p:nvSpPr>
            <p:cNvPr id="21" name="Rectangle 21"/>
            <p:cNvSpPr/>
            <p:nvPr/>
          </p:nvSpPr>
          <p:spPr>
            <a:xfrm>
              <a:off x="882015" y="4138612"/>
              <a:ext cx="4280535" cy="411480"/>
            </a:xfrm>
            <a:prstGeom prst="roundRect">
              <a:avLst>
                <a:gd name="adj" fmla="val 23148"/>
              </a:avLst>
            </a:prstGeom>
            <a:solidFill>
              <a:srgbClr val="FFFFFF"/>
            </a:solidFill>
            <a:ln w="15240">
              <a:solidFill>
                <a:srgbClr val="334E68"/>
              </a:solidFill>
            </a:ln>
          </p:spPr>
        </p:sp>
        <p:sp>
          <p:nvSpPr>
            <p:cNvPr id="22" name="Rectangle 22"/>
            <p:cNvSpPr/>
            <p:nvPr/>
          </p:nvSpPr>
          <p:spPr>
            <a:xfrm>
              <a:off x="882015" y="4765358"/>
              <a:ext cx="4280535" cy="411480"/>
            </a:xfrm>
            <a:prstGeom prst="roundRect">
              <a:avLst>
                <a:gd name="adj" fmla="val 50000"/>
              </a:avLst>
            </a:prstGeom>
            <a:solidFill>
              <a:srgbClr val="334E68"/>
            </a:solidFill>
            <a:ln>
              <a:noFill/>
            </a:ln>
          </p:spPr>
        </p:sp>
        <p:sp>
          <p:nvSpPr>
            <p:cNvPr id="23" name="TextBox 23"/>
            <p:cNvSpPr txBox="1"/>
            <p:nvPr/>
          </p:nvSpPr>
          <p:spPr>
            <a:xfrm>
              <a:off x="2370010" y="1753552"/>
              <a:ext cx="1304544"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需求分析（验证）</a:t>
              </a:r>
            </a:p>
          </p:txBody>
        </p:sp>
        <p:sp>
          <p:nvSpPr>
            <p:cNvPr id="24" name="TextBox 24"/>
            <p:cNvSpPr txBox="1"/>
            <p:nvPr/>
          </p:nvSpPr>
          <p:spPr>
            <a:xfrm>
              <a:off x="2370010" y="2380298"/>
              <a:ext cx="1304544"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规格说明（验证）</a:t>
              </a:r>
            </a:p>
          </p:txBody>
        </p:sp>
        <p:sp>
          <p:nvSpPr>
            <p:cNvPr id="25" name="TextBox 25"/>
            <p:cNvSpPr txBox="1"/>
            <p:nvPr/>
          </p:nvSpPr>
          <p:spPr>
            <a:xfrm>
              <a:off x="2531555" y="3007042"/>
              <a:ext cx="981456"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设计（验证）</a:t>
              </a:r>
            </a:p>
          </p:txBody>
        </p:sp>
        <p:sp>
          <p:nvSpPr>
            <p:cNvPr id="26" name="TextBox 26"/>
            <p:cNvSpPr txBox="1"/>
            <p:nvPr/>
          </p:nvSpPr>
          <p:spPr>
            <a:xfrm>
              <a:off x="2531555" y="3633788"/>
              <a:ext cx="981456"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编码（测试）</a:t>
              </a:r>
            </a:p>
          </p:txBody>
        </p:sp>
        <p:sp>
          <p:nvSpPr>
            <p:cNvPr id="27" name="TextBox 27"/>
            <p:cNvSpPr txBox="1"/>
            <p:nvPr/>
          </p:nvSpPr>
          <p:spPr>
            <a:xfrm>
              <a:off x="2693098" y="4260532"/>
              <a:ext cx="658368"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综合测试</a:t>
              </a:r>
            </a:p>
          </p:txBody>
        </p:sp>
        <p:sp>
          <p:nvSpPr>
            <p:cNvPr id="28" name="TextBox 28"/>
            <p:cNvSpPr txBox="1"/>
            <p:nvPr/>
          </p:nvSpPr>
          <p:spPr>
            <a:xfrm>
              <a:off x="2854643" y="488727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维护</a:t>
              </a:r>
            </a:p>
          </p:txBody>
        </p:sp>
      </p:grpSp>
      <p:grpSp>
        <p:nvGrpSpPr>
          <p:cNvPr id="31" name="c1-text-2"/>
          <p:cNvGrpSpPr/>
          <p:nvPr/>
        </p:nvGrpSpPr>
        <p:grpSpPr>
          <a:xfrm>
            <a:off x="1804607" y="5484495"/>
            <a:ext cx="2435352" cy="234696"/>
            <a:chOff x="1804607" y="5484495"/>
            <a:chExt cx="2435352" cy="234696"/>
          </a:xfrm>
        </p:grpSpPr>
        <p:sp>
          <p:nvSpPr>
            <p:cNvPr id="30" name="TextBox 30"/>
            <p:cNvSpPr txBox="1"/>
            <p:nvPr/>
          </p:nvSpPr>
          <p:spPr>
            <a:xfrm>
              <a:off x="1804607" y="5484495"/>
              <a:ext cx="2435352"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传统的瀑布模型：只有向下的箭头</a:t>
              </a:r>
            </a:p>
          </p:txBody>
        </p:sp>
      </p:grpSp>
      <p:grpSp>
        <p:nvGrpSpPr>
          <p:cNvPr id="68" name="c2-flow-1"/>
          <p:cNvGrpSpPr/>
          <p:nvPr/>
        </p:nvGrpSpPr>
        <p:grpSpPr>
          <a:xfrm>
            <a:off x="6019800" y="1631632"/>
            <a:ext cx="5434965" cy="3545206"/>
            <a:chOff x="6019800" y="1631632"/>
            <a:chExt cx="5434965" cy="3545206"/>
          </a:xfrm>
        </p:grpSpPr>
        <p:sp>
          <p:nvSpPr>
            <p:cNvPr id="32" name="Freeform 32"/>
            <p:cNvSpPr/>
            <p:nvPr/>
          </p:nvSpPr>
          <p:spPr>
            <a:xfrm>
              <a:off x="7276148" y="2043112"/>
              <a:ext cx="9525" cy="110490"/>
            </a:xfrm>
            <a:custGeom>
              <a:avLst/>
              <a:gdLst/>
              <a:ahLst/>
              <a:cxnLst/>
              <a:rect l="l" t="t" r="r" b="b"/>
              <a:pathLst>
                <a:path w="9525" h="110490">
                  <a:moveTo>
                    <a:pt x="0" y="0"/>
                  </a:moveTo>
                  <a:lnTo>
                    <a:pt x="0" y="110490"/>
                  </a:lnTo>
                </a:path>
              </a:pathLst>
            </a:custGeom>
            <a:noFill/>
            <a:ln w="15240">
              <a:solidFill>
                <a:srgbClr val="5B6475"/>
              </a:solidFill>
            </a:ln>
          </p:spPr>
        </p:sp>
        <p:sp>
          <p:nvSpPr>
            <p:cNvPr id="33" name="Freeform 33"/>
            <p:cNvSpPr/>
            <p:nvPr/>
          </p:nvSpPr>
          <p:spPr>
            <a:xfrm>
              <a:off x="7223760" y="215360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4" name="Freeform 34"/>
            <p:cNvSpPr/>
            <p:nvPr/>
          </p:nvSpPr>
          <p:spPr>
            <a:xfrm>
              <a:off x="7276148" y="2669858"/>
              <a:ext cx="9525" cy="110490"/>
            </a:xfrm>
            <a:custGeom>
              <a:avLst/>
              <a:gdLst/>
              <a:ahLst/>
              <a:cxnLst/>
              <a:rect l="l" t="t" r="r" b="b"/>
              <a:pathLst>
                <a:path w="9525" h="110490">
                  <a:moveTo>
                    <a:pt x="0" y="0"/>
                  </a:moveTo>
                  <a:lnTo>
                    <a:pt x="0" y="110490"/>
                  </a:lnTo>
                </a:path>
              </a:pathLst>
            </a:custGeom>
            <a:noFill/>
            <a:ln w="15240">
              <a:solidFill>
                <a:srgbClr val="5B6475"/>
              </a:solidFill>
            </a:ln>
          </p:spPr>
        </p:sp>
        <p:sp>
          <p:nvSpPr>
            <p:cNvPr id="35" name="Freeform 35"/>
            <p:cNvSpPr/>
            <p:nvPr/>
          </p:nvSpPr>
          <p:spPr>
            <a:xfrm>
              <a:off x="7223760" y="278034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6" name="Freeform 36"/>
            <p:cNvSpPr/>
            <p:nvPr/>
          </p:nvSpPr>
          <p:spPr>
            <a:xfrm>
              <a:off x="7276148" y="3296602"/>
              <a:ext cx="9525" cy="110490"/>
            </a:xfrm>
            <a:custGeom>
              <a:avLst/>
              <a:gdLst/>
              <a:ahLst/>
              <a:cxnLst/>
              <a:rect l="l" t="t" r="r" b="b"/>
              <a:pathLst>
                <a:path w="9525" h="110490">
                  <a:moveTo>
                    <a:pt x="0" y="0"/>
                  </a:moveTo>
                  <a:lnTo>
                    <a:pt x="0" y="110490"/>
                  </a:lnTo>
                </a:path>
              </a:pathLst>
            </a:custGeom>
            <a:noFill/>
            <a:ln w="15240">
              <a:solidFill>
                <a:srgbClr val="5B6475"/>
              </a:solidFill>
            </a:ln>
          </p:spPr>
        </p:sp>
        <p:sp>
          <p:nvSpPr>
            <p:cNvPr id="37" name="Freeform 37"/>
            <p:cNvSpPr/>
            <p:nvPr/>
          </p:nvSpPr>
          <p:spPr>
            <a:xfrm>
              <a:off x="7223760" y="340709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8" name="Freeform 38"/>
            <p:cNvSpPr/>
            <p:nvPr/>
          </p:nvSpPr>
          <p:spPr>
            <a:xfrm>
              <a:off x="7276148" y="3923348"/>
              <a:ext cx="9525" cy="110490"/>
            </a:xfrm>
            <a:custGeom>
              <a:avLst/>
              <a:gdLst/>
              <a:ahLst/>
              <a:cxnLst/>
              <a:rect l="l" t="t" r="r" b="b"/>
              <a:pathLst>
                <a:path w="9525" h="110490">
                  <a:moveTo>
                    <a:pt x="0" y="0"/>
                  </a:moveTo>
                  <a:lnTo>
                    <a:pt x="0" y="110490"/>
                  </a:lnTo>
                </a:path>
              </a:pathLst>
            </a:custGeom>
            <a:noFill/>
            <a:ln w="15240">
              <a:solidFill>
                <a:srgbClr val="5B6475"/>
              </a:solidFill>
            </a:ln>
          </p:spPr>
        </p:sp>
        <p:sp>
          <p:nvSpPr>
            <p:cNvPr id="39" name="Freeform 39"/>
            <p:cNvSpPr/>
            <p:nvPr/>
          </p:nvSpPr>
          <p:spPr>
            <a:xfrm>
              <a:off x="7223760" y="403383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40" name="Freeform 40"/>
            <p:cNvSpPr/>
            <p:nvPr/>
          </p:nvSpPr>
          <p:spPr>
            <a:xfrm>
              <a:off x="7276148" y="4550092"/>
              <a:ext cx="9525" cy="110490"/>
            </a:xfrm>
            <a:custGeom>
              <a:avLst/>
              <a:gdLst/>
              <a:ahLst/>
              <a:cxnLst/>
              <a:rect l="l" t="t" r="r" b="b"/>
              <a:pathLst>
                <a:path w="9525" h="110490">
                  <a:moveTo>
                    <a:pt x="0" y="0"/>
                  </a:moveTo>
                  <a:lnTo>
                    <a:pt x="0" y="110490"/>
                  </a:lnTo>
                </a:path>
              </a:pathLst>
            </a:custGeom>
            <a:noFill/>
            <a:ln w="15240">
              <a:solidFill>
                <a:srgbClr val="5B6475"/>
              </a:solidFill>
            </a:ln>
          </p:spPr>
        </p:sp>
        <p:sp>
          <p:nvSpPr>
            <p:cNvPr id="41" name="Freeform 41"/>
            <p:cNvSpPr/>
            <p:nvPr/>
          </p:nvSpPr>
          <p:spPr>
            <a:xfrm>
              <a:off x="7223760" y="466058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42" name="Freeform 42"/>
            <p:cNvSpPr/>
            <p:nvPr/>
          </p:nvSpPr>
          <p:spPr>
            <a:xfrm>
              <a:off x="7276148" y="2043112"/>
              <a:ext cx="2921317" cy="110490"/>
            </a:xfrm>
            <a:custGeom>
              <a:avLst/>
              <a:gdLst/>
              <a:ahLst/>
              <a:cxnLst/>
              <a:rect l="l" t="t" r="r" b="b"/>
              <a:pathLst>
                <a:path w="2921317" h="110490">
                  <a:moveTo>
                    <a:pt x="2921317" y="0"/>
                  </a:moveTo>
                  <a:lnTo>
                    <a:pt x="2921317" y="107633"/>
                  </a:lnTo>
                  <a:lnTo>
                    <a:pt x="0" y="107633"/>
                  </a:lnTo>
                  <a:lnTo>
                    <a:pt x="0" y="110490"/>
                  </a:lnTo>
                </a:path>
              </a:pathLst>
            </a:custGeom>
            <a:noFill/>
            <a:ln w="15240">
              <a:solidFill>
                <a:srgbClr val="5B6475"/>
              </a:solidFill>
              <a:custDash>
                <a:ds d="375000" sp="250000"/>
              </a:custDash>
            </a:ln>
          </p:spPr>
        </p:sp>
        <p:sp>
          <p:nvSpPr>
            <p:cNvPr id="43" name="Freeform 43"/>
            <p:cNvSpPr/>
            <p:nvPr/>
          </p:nvSpPr>
          <p:spPr>
            <a:xfrm>
              <a:off x="7223760" y="215360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44" name="Freeform 44"/>
            <p:cNvSpPr/>
            <p:nvPr/>
          </p:nvSpPr>
          <p:spPr>
            <a:xfrm>
              <a:off x="8532495" y="1837372"/>
              <a:ext cx="788670" cy="626745"/>
            </a:xfrm>
            <a:custGeom>
              <a:avLst/>
              <a:gdLst/>
              <a:ahLst/>
              <a:cxnLst/>
              <a:rect l="l" t="t" r="r" b="b"/>
              <a:pathLst>
                <a:path w="788670" h="626745">
                  <a:moveTo>
                    <a:pt x="0" y="626745"/>
                  </a:moveTo>
                  <a:lnTo>
                    <a:pt x="209550" y="626745"/>
                  </a:lnTo>
                  <a:lnTo>
                    <a:pt x="788670" y="626745"/>
                  </a:lnTo>
                  <a:lnTo>
                    <a:pt x="788670" y="363855"/>
                  </a:lnTo>
                  <a:lnTo>
                    <a:pt x="788670" y="0"/>
                  </a:lnTo>
                  <a:lnTo>
                    <a:pt x="209550" y="0"/>
                  </a:lnTo>
                  <a:lnTo>
                    <a:pt x="104775" y="0"/>
                  </a:lnTo>
                </a:path>
              </a:pathLst>
            </a:custGeom>
            <a:noFill/>
            <a:ln w="15240">
              <a:solidFill>
                <a:srgbClr val="5B6475"/>
              </a:solidFill>
              <a:custDash>
                <a:ds d="375000" sp="250000"/>
              </a:custDash>
            </a:ln>
          </p:spPr>
        </p:sp>
        <p:sp>
          <p:nvSpPr>
            <p:cNvPr id="45" name="Freeform 45"/>
            <p:cNvSpPr/>
            <p:nvPr/>
          </p:nvSpPr>
          <p:spPr>
            <a:xfrm>
              <a:off x="8532495" y="1784985"/>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46" name="Freeform 46"/>
            <p:cNvSpPr/>
            <p:nvPr/>
          </p:nvSpPr>
          <p:spPr>
            <a:xfrm>
              <a:off x="8532495" y="2464118"/>
              <a:ext cx="1139190" cy="626745"/>
            </a:xfrm>
            <a:custGeom>
              <a:avLst/>
              <a:gdLst/>
              <a:ahLst/>
              <a:cxnLst/>
              <a:rect l="l" t="t" r="r" b="b"/>
              <a:pathLst>
                <a:path w="1139190" h="626745">
                  <a:moveTo>
                    <a:pt x="0" y="626745"/>
                  </a:moveTo>
                  <a:lnTo>
                    <a:pt x="209550" y="626745"/>
                  </a:lnTo>
                  <a:lnTo>
                    <a:pt x="1139190" y="626745"/>
                  </a:lnTo>
                  <a:lnTo>
                    <a:pt x="1139190" y="376238"/>
                  </a:lnTo>
                  <a:lnTo>
                    <a:pt x="1139190" y="0"/>
                  </a:lnTo>
                  <a:lnTo>
                    <a:pt x="209550" y="0"/>
                  </a:lnTo>
                  <a:lnTo>
                    <a:pt x="104775" y="0"/>
                  </a:lnTo>
                </a:path>
              </a:pathLst>
            </a:custGeom>
            <a:noFill/>
            <a:ln w="15240">
              <a:solidFill>
                <a:srgbClr val="5B6475"/>
              </a:solidFill>
              <a:custDash>
                <a:ds d="375000" sp="250000"/>
              </a:custDash>
            </a:ln>
          </p:spPr>
        </p:sp>
        <p:sp>
          <p:nvSpPr>
            <p:cNvPr id="47" name="Freeform 47"/>
            <p:cNvSpPr/>
            <p:nvPr/>
          </p:nvSpPr>
          <p:spPr>
            <a:xfrm>
              <a:off x="8532495" y="2411730"/>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48" name="Freeform 48"/>
            <p:cNvSpPr/>
            <p:nvPr/>
          </p:nvSpPr>
          <p:spPr>
            <a:xfrm>
              <a:off x="8532495" y="3090862"/>
              <a:ext cx="1489710" cy="626745"/>
            </a:xfrm>
            <a:custGeom>
              <a:avLst/>
              <a:gdLst/>
              <a:ahLst/>
              <a:cxnLst/>
              <a:rect l="l" t="t" r="r" b="b"/>
              <a:pathLst>
                <a:path w="1489710" h="626745">
                  <a:moveTo>
                    <a:pt x="0" y="626745"/>
                  </a:moveTo>
                  <a:lnTo>
                    <a:pt x="209550" y="626745"/>
                  </a:lnTo>
                  <a:lnTo>
                    <a:pt x="1489710" y="626745"/>
                  </a:lnTo>
                  <a:lnTo>
                    <a:pt x="1489710" y="388620"/>
                  </a:lnTo>
                  <a:lnTo>
                    <a:pt x="1489710" y="0"/>
                  </a:lnTo>
                  <a:lnTo>
                    <a:pt x="209550" y="0"/>
                  </a:lnTo>
                  <a:lnTo>
                    <a:pt x="104775" y="0"/>
                  </a:lnTo>
                </a:path>
              </a:pathLst>
            </a:custGeom>
            <a:noFill/>
            <a:ln w="15240">
              <a:solidFill>
                <a:srgbClr val="5B6475"/>
              </a:solidFill>
              <a:custDash>
                <a:ds d="375000" sp="250000"/>
              </a:custDash>
            </a:ln>
          </p:spPr>
        </p:sp>
        <p:sp>
          <p:nvSpPr>
            <p:cNvPr id="49" name="Freeform 49"/>
            <p:cNvSpPr/>
            <p:nvPr/>
          </p:nvSpPr>
          <p:spPr>
            <a:xfrm>
              <a:off x="8532495" y="3038475"/>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50" name="Freeform 50"/>
            <p:cNvSpPr/>
            <p:nvPr/>
          </p:nvSpPr>
          <p:spPr>
            <a:xfrm>
              <a:off x="8532495" y="3717608"/>
              <a:ext cx="1840230" cy="626745"/>
            </a:xfrm>
            <a:custGeom>
              <a:avLst/>
              <a:gdLst/>
              <a:ahLst/>
              <a:cxnLst/>
              <a:rect l="l" t="t" r="r" b="b"/>
              <a:pathLst>
                <a:path w="1840230" h="626745">
                  <a:moveTo>
                    <a:pt x="0" y="626745"/>
                  </a:moveTo>
                  <a:lnTo>
                    <a:pt x="209550" y="626745"/>
                  </a:lnTo>
                  <a:lnTo>
                    <a:pt x="1840230" y="626745"/>
                  </a:lnTo>
                  <a:lnTo>
                    <a:pt x="1840230" y="401002"/>
                  </a:lnTo>
                  <a:lnTo>
                    <a:pt x="1840230" y="0"/>
                  </a:lnTo>
                  <a:lnTo>
                    <a:pt x="209550" y="0"/>
                  </a:lnTo>
                  <a:lnTo>
                    <a:pt x="104775" y="0"/>
                  </a:lnTo>
                </a:path>
              </a:pathLst>
            </a:custGeom>
            <a:noFill/>
            <a:ln w="15240">
              <a:solidFill>
                <a:srgbClr val="5B6475"/>
              </a:solidFill>
              <a:custDash>
                <a:ds d="375000" sp="250000"/>
              </a:custDash>
            </a:ln>
          </p:spPr>
        </p:sp>
        <p:sp>
          <p:nvSpPr>
            <p:cNvPr id="51" name="Freeform 51"/>
            <p:cNvSpPr/>
            <p:nvPr/>
          </p:nvSpPr>
          <p:spPr>
            <a:xfrm>
              <a:off x="8532495" y="3665220"/>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52" name="Freeform 52"/>
            <p:cNvSpPr/>
            <p:nvPr/>
          </p:nvSpPr>
          <p:spPr>
            <a:xfrm>
              <a:off x="8532495" y="4344352"/>
              <a:ext cx="2190750" cy="626745"/>
            </a:xfrm>
            <a:custGeom>
              <a:avLst/>
              <a:gdLst/>
              <a:ahLst/>
              <a:cxnLst/>
              <a:rect l="l" t="t" r="r" b="b"/>
              <a:pathLst>
                <a:path w="2190750" h="626745">
                  <a:moveTo>
                    <a:pt x="0" y="626745"/>
                  </a:moveTo>
                  <a:lnTo>
                    <a:pt x="209550" y="626745"/>
                  </a:lnTo>
                  <a:lnTo>
                    <a:pt x="2190750" y="626745"/>
                  </a:lnTo>
                  <a:lnTo>
                    <a:pt x="2190750" y="413385"/>
                  </a:lnTo>
                  <a:lnTo>
                    <a:pt x="2190750" y="0"/>
                  </a:lnTo>
                  <a:lnTo>
                    <a:pt x="209550" y="0"/>
                  </a:lnTo>
                  <a:lnTo>
                    <a:pt x="104775" y="0"/>
                  </a:lnTo>
                </a:path>
              </a:pathLst>
            </a:custGeom>
            <a:noFill/>
            <a:ln w="15240">
              <a:solidFill>
                <a:srgbClr val="5B6475"/>
              </a:solidFill>
              <a:custDash>
                <a:ds d="375000" sp="250000"/>
              </a:custDash>
            </a:ln>
          </p:spPr>
        </p:sp>
        <p:sp>
          <p:nvSpPr>
            <p:cNvPr id="53" name="Freeform 53"/>
            <p:cNvSpPr/>
            <p:nvPr/>
          </p:nvSpPr>
          <p:spPr>
            <a:xfrm>
              <a:off x="8532495" y="4291965"/>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54" name="Rectangle 54"/>
            <p:cNvSpPr/>
            <p:nvPr/>
          </p:nvSpPr>
          <p:spPr>
            <a:xfrm>
              <a:off x="6019800" y="1631632"/>
              <a:ext cx="2512695" cy="411480"/>
            </a:xfrm>
            <a:prstGeom prst="roundRect">
              <a:avLst>
                <a:gd name="adj" fmla="val 23148"/>
              </a:avLst>
            </a:prstGeom>
            <a:solidFill>
              <a:srgbClr val="FFFFFF"/>
            </a:solidFill>
            <a:ln w="15240">
              <a:solidFill>
                <a:srgbClr val="334E68"/>
              </a:solidFill>
            </a:ln>
          </p:spPr>
        </p:sp>
        <p:sp>
          <p:nvSpPr>
            <p:cNvPr id="55" name="Rectangle 55"/>
            <p:cNvSpPr/>
            <p:nvPr/>
          </p:nvSpPr>
          <p:spPr>
            <a:xfrm>
              <a:off x="8942070" y="1631632"/>
              <a:ext cx="2512695" cy="411480"/>
            </a:xfrm>
            <a:prstGeom prst="roundRect">
              <a:avLst>
                <a:gd name="adj" fmla="val 18519"/>
              </a:avLst>
            </a:prstGeom>
            <a:solidFill>
              <a:srgbClr val="FEF3C7"/>
            </a:solidFill>
            <a:ln>
              <a:noFill/>
            </a:ln>
          </p:spPr>
        </p:sp>
        <p:sp>
          <p:nvSpPr>
            <p:cNvPr id="56" name="Rectangle 56"/>
            <p:cNvSpPr/>
            <p:nvPr/>
          </p:nvSpPr>
          <p:spPr>
            <a:xfrm>
              <a:off x="6019800" y="2258378"/>
              <a:ext cx="2512695" cy="411480"/>
            </a:xfrm>
            <a:prstGeom prst="roundRect">
              <a:avLst>
                <a:gd name="adj" fmla="val 23148"/>
              </a:avLst>
            </a:prstGeom>
            <a:solidFill>
              <a:srgbClr val="FFFFFF"/>
            </a:solidFill>
            <a:ln w="15240">
              <a:solidFill>
                <a:srgbClr val="334E68"/>
              </a:solidFill>
            </a:ln>
          </p:spPr>
        </p:sp>
        <p:sp>
          <p:nvSpPr>
            <p:cNvPr id="57" name="Rectangle 57"/>
            <p:cNvSpPr/>
            <p:nvPr/>
          </p:nvSpPr>
          <p:spPr>
            <a:xfrm>
              <a:off x="6019800" y="2885122"/>
              <a:ext cx="2512695" cy="411480"/>
            </a:xfrm>
            <a:prstGeom prst="roundRect">
              <a:avLst>
                <a:gd name="adj" fmla="val 23148"/>
              </a:avLst>
            </a:prstGeom>
            <a:solidFill>
              <a:srgbClr val="FFFFFF"/>
            </a:solidFill>
            <a:ln w="15240">
              <a:solidFill>
                <a:srgbClr val="334E68"/>
              </a:solidFill>
            </a:ln>
          </p:spPr>
        </p:sp>
        <p:sp>
          <p:nvSpPr>
            <p:cNvPr id="58" name="Rectangle 58"/>
            <p:cNvSpPr/>
            <p:nvPr/>
          </p:nvSpPr>
          <p:spPr>
            <a:xfrm>
              <a:off x="6019800" y="3511868"/>
              <a:ext cx="2512695" cy="411480"/>
            </a:xfrm>
            <a:prstGeom prst="roundRect">
              <a:avLst>
                <a:gd name="adj" fmla="val 23148"/>
              </a:avLst>
            </a:prstGeom>
            <a:solidFill>
              <a:srgbClr val="FFFFFF"/>
            </a:solidFill>
            <a:ln w="15240">
              <a:solidFill>
                <a:srgbClr val="334E68"/>
              </a:solidFill>
            </a:ln>
          </p:spPr>
        </p:sp>
        <p:sp>
          <p:nvSpPr>
            <p:cNvPr id="59" name="Rectangle 59"/>
            <p:cNvSpPr/>
            <p:nvPr/>
          </p:nvSpPr>
          <p:spPr>
            <a:xfrm>
              <a:off x="6019800" y="4138612"/>
              <a:ext cx="2512695" cy="411480"/>
            </a:xfrm>
            <a:prstGeom prst="roundRect">
              <a:avLst>
                <a:gd name="adj" fmla="val 23148"/>
              </a:avLst>
            </a:prstGeom>
            <a:solidFill>
              <a:srgbClr val="FFFFFF"/>
            </a:solidFill>
            <a:ln w="15240">
              <a:solidFill>
                <a:srgbClr val="334E68"/>
              </a:solidFill>
            </a:ln>
          </p:spPr>
        </p:sp>
        <p:sp>
          <p:nvSpPr>
            <p:cNvPr id="60" name="Rectangle 60"/>
            <p:cNvSpPr/>
            <p:nvPr/>
          </p:nvSpPr>
          <p:spPr>
            <a:xfrm>
              <a:off x="6019800" y="4765358"/>
              <a:ext cx="2512695" cy="411480"/>
            </a:xfrm>
            <a:prstGeom prst="roundRect">
              <a:avLst>
                <a:gd name="adj" fmla="val 50000"/>
              </a:avLst>
            </a:prstGeom>
            <a:solidFill>
              <a:srgbClr val="334E68"/>
            </a:solidFill>
            <a:ln>
              <a:noFill/>
            </a:ln>
          </p:spPr>
        </p:sp>
        <p:sp>
          <p:nvSpPr>
            <p:cNvPr id="61" name="TextBox 61"/>
            <p:cNvSpPr txBox="1"/>
            <p:nvPr/>
          </p:nvSpPr>
          <p:spPr>
            <a:xfrm>
              <a:off x="6623876" y="1753552"/>
              <a:ext cx="1304544"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需求分析（验证）</a:t>
              </a:r>
            </a:p>
          </p:txBody>
        </p:sp>
        <p:sp>
          <p:nvSpPr>
            <p:cNvPr id="62" name="TextBox 62"/>
            <p:cNvSpPr txBox="1"/>
            <p:nvPr/>
          </p:nvSpPr>
          <p:spPr>
            <a:xfrm>
              <a:off x="9464421" y="1753552"/>
              <a:ext cx="1466088"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变化的需求（验证）</a:t>
              </a:r>
            </a:p>
          </p:txBody>
        </p:sp>
        <p:sp>
          <p:nvSpPr>
            <p:cNvPr id="63" name="TextBox 63"/>
            <p:cNvSpPr txBox="1"/>
            <p:nvPr/>
          </p:nvSpPr>
          <p:spPr>
            <a:xfrm>
              <a:off x="6623876" y="2380298"/>
              <a:ext cx="1304544"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规格说明（验证）</a:t>
              </a:r>
            </a:p>
          </p:txBody>
        </p:sp>
        <p:sp>
          <p:nvSpPr>
            <p:cNvPr id="64" name="TextBox 64"/>
            <p:cNvSpPr txBox="1"/>
            <p:nvPr/>
          </p:nvSpPr>
          <p:spPr>
            <a:xfrm>
              <a:off x="6785420" y="3007042"/>
              <a:ext cx="981456"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设计（验证）</a:t>
              </a:r>
            </a:p>
          </p:txBody>
        </p:sp>
        <p:sp>
          <p:nvSpPr>
            <p:cNvPr id="65" name="TextBox 65"/>
            <p:cNvSpPr txBox="1"/>
            <p:nvPr/>
          </p:nvSpPr>
          <p:spPr>
            <a:xfrm>
              <a:off x="6785420" y="3633788"/>
              <a:ext cx="981456"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编码（测试）</a:t>
              </a:r>
            </a:p>
          </p:txBody>
        </p:sp>
        <p:sp>
          <p:nvSpPr>
            <p:cNvPr id="66" name="TextBox 66"/>
            <p:cNvSpPr txBox="1"/>
            <p:nvPr/>
          </p:nvSpPr>
          <p:spPr>
            <a:xfrm>
              <a:off x="6946964" y="4260532"/>
              <a:ext cx="658368"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综合测试</a:t>
              </a:r>
            </a:p>
          </p:txBody>
        </p:sp>
        <p:sp>
          <p:nvSpPr>
            <p:cNvPr id="67" name="TextBox 67"/>
            <p:cNvSpPr txBox="1"/>
            <p:nvPr/>
          </p:nvSpPr>
          <p:spPr>
            <a:xfrm>
              <a:off x="7108508" y="488727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维护</a:t>
              </a:r>
            </a:p>
          </p:txBody>
        </p:sp>
      </p:grpSp>
      <p:grpSp>
        <p:nvGrpSpPr>
          <p:cNvPr id="70" name="c2-text-2"/>
          <p:cNvGrpSpPr/>
          <p:nvPr/>
        </p:nvGrpSpPr>
        <p:grpSpPr>
          <a:xfrm>
            <a:off x="5823394" y="5484495"/>
            <a:ext cx="5827776" cy="234696"/>
            <a:chOff x="5823394" y="5484495"/>
            <a:chExt cx="5827776" cy="234696"/>
          </a:xfrm>
        </p:grpSpPr>
        <p:sp>
          <p:nvSpPr>
            <p:cNvPr id="69" name="TextBox 69"/>
            <p:cNvSpPr txBox="1"/>
            <p:nvPr/>
          </p:nvSpPr>
          <p:spPr>
            <a:xfrm>
              <a:off x="5823394" y="5484495"/>
              <a:ext cx="5827776"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实际的瀑布模型：每个阶段都能回到上一阶段，维护阶段的反馈也回到前面各阶段</a:t>
              </a:r>
            </a:p>
          </p:txBody>
        </p:sp>
      </p:grpSp>
      <p:grpSp>
        <p:nvGrpSpPr>
          <p:cNvPr id="76" name="takeaway"/>
          <p:cNvGrpSpPr/>
          <p:nvPr/>
        </p:nvGrpSpPr>
        <p:grpSpPr>
          <a:xfrm>
            <a:off x="533400" y="5858828"/>
            <a:ext cx="11125200" cy="503872"/>
            <a:chOff x="533400" y="5858828"/>
            <a:chExt cx="11125200" cy="503872"/>
          </a:xfrm>
        </p:grpSpPr>
        <p:sp>
          <p:nvSpPr>
            <p:cNvPr id="71" name="Rectangle 71"/>
            <p:cNvSpPr/>
            <p:nvPr/>
          </p:nvSpPr>
          <p:spPr>
            <a:xfrm>
              <a:off x="533400" y="5858828"/>
              <a:ext cx="11125200" cy="503872"/>
            </a:xfrm>
            <a:prstGeom prst="roundRect">
              <a:avLst>
                <a:gd name="adj" fmla="val 22684"/>
              </a:avLst>
            </a:prstGeom>
            <a:solidFill>
              <a:srgbClr val="334E68"/>
            </a:solidFill>
            <a:ln>
              <a:noFill/>
            </a:ln>
          </p:spPr>
        </p:sp>
        <p:grpSp>
          <p:nvGrpSpPr>
            <p:cNvPr id="74" name="Group 74"/>
            <p:cNvGrpSpPr/>
            <p:nvPr/>
          </p:nvGrpSpPr>
          <p:grpSpPr>
            <a:xfrm>
              <a:off x="738188" y="6011230"/>
              <a:ext cx="200023" cy="200023"/>
              <a:chOff x="738188" y="6011230"/>
              <a:chExt cx="200023" cy="200023"/>
            </a:xfrm>
          </p:grpSpPr>
          <p:sp>
            <p:nvSpPr>
              <p:cNvPr id="72" name="Freeform 72"/>
              <p:cNvSpPr/>
              <p:nvPr/>
            </p:nvSpPr>
            <p:spPr>
              <a:xfrm>
                <a:off x="738188" y="601123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3" name="Freeform 73"/>
              <p:cNvSpPr/>
              <p:nvPr/>
            </p:nvSpPr>
            <p:spPr>
              <a:xfrm>
                <a:off x="871538" y="607790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5" name="TextBox 75"/>
            <p:cNvSpPr txBox="1"/>
            <p:nvPr/>
          </p:nvSpPr>
          <p:spPr>
            <a:xfrm>
              <a:off x="1040511" y="6011704"/>
              <a:ext cx="7660894"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两张图的差别只在反馈箭头。真实项目中错误总会被后面的阶段发现，所以必须允许返工。</a:t>
              </a:r>
            </a:p>
          </p:txBody>
        </p:sp>
      </p:grpSp>
      <p:grpSp>
        <p:nvGrpSpPr>
          <p:cNvPr id="79" name="footer"/>
          <p:cNvGrpSpPr/>
          <p:nvPr/>
        </p:nvGrpSpPr>
        <p:grpSpPr>
          <a:xfrm>
            <a:off x="528447" y="6581299"/>
            <a:ext cx="11135106" cy="190690"/>
            <a:chOff x="528447" y="6581299"/>
            <a:chExt cx="11135106" cy="190690"/>
          </a:xfrm>
        </p:grpSpPr>
        <p:sp>
          <p:nvSpPr>
            <p:cNvPr id="77" name="TextBox 77"/>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78" name="TextBox 7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29</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软件过程与传统过程模型</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瀑布模型的三个特点与它的代价</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6" name="c1-card-1"/>
          <p:cNvGrpSpPr/>
          <p:nvPr/>
        </p:nvGrpSpPr>
        <p:grpSpPr>
          <a:xfrm>
            <a:off x="533400" y="1524000"/>
            <a:ext cx="4328160" cy="4775835"/>
            <a:chOff x="533400" y="1524000"/>
            <a:chExt cx="4328160" cy="4775835"/>
          </a:xfrm>
        </p:grpSpPr>
        <p:sp>
          <p:nvSpPr>
            <p:cNvPr id="7" name="Rectangle 7"/>
            <p:cNvSpPr/>
            <p:nvPr/>
          </p:nvSpPr>
          <p:spPr>
            <a:xfrm>
              <a:off x="533400" y="1524000"/>
              <a:ext cx="4328160" cy="4775835"/>
            </a:xfrm>
            <a:prstGeom prst="roundRect">
              <a:avLst>
                <a:gd name="adj" fmla="val 3081"/>
              </a:avLst>
            </a:prstGeom>
            <a:solidFill>
              <a:srgbClr val="334E68"/>
            </a:solidFill>
            <a:ln>
              <a:noFill/>
            </a:ln>
          </p:spPr>
        </p:sp>
        <p:sp>
          <p:nvSpPr>
            <p:cNvPr id="8" name="Rectangle 8"/>
            <p:cNvSpPr/>
            <p:nvPr/>
          </p:nvSpPr>
          <p:spPr>
            <a:xfrm>
              <a:off x="742950" y="1733550"/>
              <a:ext cx="494348" cy="257175"/>
            </a:xfrm>
            <a:prstGeom prst="roundRect">
              <a:avLst>
                <a:gd name="adj" fmla="val 50000"/>
              </a:avLst>
            </a:prstGeom>
            <a:solidFill>
              <a:srgbClr val="243B53"/>
            </a:solidFill>
            <a:ln>
              <a:noFill/>
            </a:ln>
          </p:spPr>
        </p:sp>
        <p:sp>
          <p:nvSpPr>
            <p:cNvPr id="9" name="TextBox 9"/>
            <p:cNvSpPr txBox="1"/>
            <p:nvPr/>
          </p:nvSpPr>
          <p:spPr>
            <a:xfrm>
              <a:off x="833158" y="1769269"/>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特点</a:t>
              </a:r>
            </a:p>
          </p:txBody>
        </p:sp>
        <p:sp>
          <p:nvSpPr>
            <p:cNvPr id="10" name="Ellipse 10"/>
            <p:cNvSpPr/>
            <p:nvPr/>
          </p:nvSpPr>
          <p:spPr>
            <a:xfrm>
              <a:off x="748665" y="2173605"/>
              <a:ext cx="64770" cy="64770"/>
            </a:xfrm>
            <a:prstGeom prst="ellipse">
              <a:avLst/>
            </a:prstGeom>
            <a:solidFill>
              <a:srgbClr val="FFFFFF"/>
            </a:solidFill>
            <a:ln>
              <a:noFill/>
            </a:ln>
          </p:spPr>
        </p:sp>
        <p:sp>
          <p:nvSpPr>
            <p:cNvPr id="11" name="TextBox 11"/>
            <p:cNvSpPr txBox="1"/>
            <p:nvPr/>
          </p:nvSpPr>
          <p:spPr>
            <a:xfrm>
              <a:off x="906780" y="2110740"/>
              <a:ext cx="3444240" cy="864870"/>
            </a:xfrm>
            <a:prstGeom prst="rect">
              <a:avLst/>
            </a:prstGeom>
            <a:noFill/>
            <a:ln>
              <a:noFill/>
            </a:ln>
          </p:spPr>
          <p:txBody>
            <a:bodyPr wrap="none" lIns="0" tIns="0" rIns="0" bIns="0" anchor="t" anchorCtr="0">
              <a:spAutoFit/>
            </a:bodyPr>
            <a:lstStyle/>
            <a:p>
              <a:pPr algn="l">
                <a:lnSpc>
                  <a:spcPts val="2250"/>
                </a:lnSpc>
              </a:pPr>
              <a:r>
                <a:rPr lang="zh-CN" sz="1500" b="1" dirty="0">
                  <a:solidFill>
                    <a:srgbClr val="FFFFFF"/>
                  </a:solidFill>
                  <a:latin typeface="+mn-lt"/>
                  <a:ea typeface="+mn-ea"/>
                  <a:cs typeface="+mn-cs"/>
                </a:rPr>
                <a:t>阶段间具有顺序性和依赖性</a:t>
              </a:r>
              <a:r>
                <a:rPr lang="zh-CN" sz="1500" dirty="0">
                  <a:solidFill>
                    <a:srgbClr val="FFFFFF"/>
                  </a:solidFill>
                  <a:latin typeface="+mn-lt"/>
                  <a:ea typeface="+mn-ea"/>
                  <a:cs typeface="+mn-cs"/>
                </a:rPr>
                <a:t>：必须等前一</a:t>
              </a:r>
              <a:br/>
              <a:r>
                <a:rPr lang="zh-CN" sz="1500" dirty="0">
                  <a:solidFill>
                    <a:srgbClr val="FFFFFF"/>
                  </a:solidFill>
                  <a:latin typeface="+mn-lt"/>
                  <a:ea typeface="+mn-ea"/>
                  <a:cs typeface="+mn-cs"/>
                </a:rPr>
                <a:t>阶段完成才能开始后一阶段；前一阶段的</a:t>
              </a:r>
              <a:br/>
              <a:r>
                <a:rPr lang="zh-CN" sz="1500" dirty="0">
                  <a:solidFill>
                    <a:srgbClr val="FFFFFF"/>
                  </a:solidFill>
                  <a:latin typeface="+mn-lt"/>
                  <a:ea typeface="+mn-ea"/>
                  <a:cs typeface="+mn-cs"/>
                </a:rPr>
                <a:t>输出文档就是后一阶段的输入文档</a:t>
              </a:r>
            </a:p>
          </p:txBody>
        </p:sp>
        <p:sp>
          <p:nvSpPr>
            <p:cNvPr id="12" name="Ellipse 12"/>
            <p:cNvSpPr/>
            <p:nvPr/>
          </p:nvSpPr>
          <p:spPr>
            <a:xfrm>
              <a:off x="748665" y="3080385"/>
              <a:ext cx="64770" cy="64770"/>
            </a:xfrm>
            <a:prstGeom prst="ellipse">
              <a:avLst/>
            </a:prstGeom>
            <a:solidFill>
              <a:srgbClr val="FFFFFF"/>
            </a:solidFill>
            <a:ln>
              <a:noFill/>
            </a:ln>
          </p:spPr>
        </p:sp>
        <p:sp>
          <p:nvSpPr>
            <p:cNvPr id="13" name="TextBox 13"/>
            <p:cNvSpPr txBox="1"/>
            <p:nvPr/>
          </p:nvSpPr>
          <p:spPr>
            <a:xfrm>
              <a:off x="906780" y="3017520"/>
              <a:ext cx="3444240" cy="579120"/>
            </a:xfrm>
            <a:prstGeom prst="rect">
              <a:avLst/>
            </a:prstGeom>
            <a:noFill/>
            <a:ln>
              <a:noFill/>
            </a:ln>
          </p:spPr>
          <p:txBody>
            <a:bodyPr wrap="none" lIns="0" tIns="0" rIns="0" bIns="0" anchor="t" anchorCtr="0">
              <a:spAutoFit/>
            </a:bodyPr>
            <a:lstStyle/>
            <a:p>
              <a:pPr algn="l">
                <a:lnSpc>
                  <a:spcPts val="2250"/>
                </a:lnSpc>
              </a:pPr>
              <a:r>
                <a:rPr lang="zh-CN" sz="1500" b="1" dirty="0">
                  <a:solidFill>
                    <a:srgbClr val="FFFFFF"/>
                  </a:solidFill>
                  <a:latin typeface="+mn-lt"/>
                  <a:ea typeface="+mn-ea"/>
                  <a:cs typeface="+mn-cs"/>
                </a:rPr>
                <a:t>推迟实现的观点</a:t>
              </a:r>
              <a:r>
                <a:rPr lang="zh-CN" sz="1500" dirty="0">
                  <a:solidFill>
                    <a:srgbClr val="FFFFFF"/>
                  </a:solidFill>
                  <a:latin typeface="+mn-lt"/>
                  <a:ea typeface="+mn-ea"/>
                  <a:cs typeface="+mn-cs"/>
                </a:rPr>
                <a:t>：清楚地区分逻辑设计与</a:t>
              </a:r>
              <a:br/>
              <a:r>
                <a:rPr lang="zh-CN" sz="1500" dirty="0">
                  <a:solidFill>
                    <a:srgbClr val="FFFFFF"/>
                  </a:solidFill>
                  <a:latin typeface="+mn-lt"/>
                  <a:ea typeface="+mn-ea"/>
                  <a:cs typeface="+mn-cs"/>
                </a:rPr>
                <a:t>物理设计，尽可能推迟程序的物理实现</a:t>
              </a:r>
            </a:p>
          </p:txBody>
        </p:sp>
        <p:sp>
          <p:nvSpPr>
            <p:cNvPr id="14" name="Ellipse 14"/>
            <p:cNvSpPr/>
            <p:nvPr/>
          </p:nvSpPr>
          <p:spPr>
            <a:xfrm>
              <a:off x="748665" y="3701415"/>
              <a:ext cx="64770" cy="64770"/>
            </a:xfrm>
            <a:prstGeom prst="ellipse">
              <a:avLst/>
            </a:prstGeom>
            <a:solidFill>
              <a:srgbClr val="FFFFFF"/>
            </a:solidFill>
            <a:ln>
              <a:noFill/>
            </a:ln>
          </p:spPr>
        </p:sp>
        <p:sp>
          <p:nvSpPr>
            <p:cNvPr id="15" name="TextBox 15"/>
            <p:cNvSpPr txBox="1"/>
            <p:nvPr/>
          </p:nvSpPr>
          <p:spPr>
            <a:xfrm>
              <a:off x="906780" y="3638550"/>
              <a:ext cx="3444240" cy="864870"/>
            </a:xfrm>
            <a:prstGeom prst="rect">
              <a:avLst/>
            </a:prstGeom>
            <a:noFill/>
            <a:ln>
              <a:noFill/>
            </a:ln>
          </p:spPr>
          <p:txBody>
            <a:bodyPr wrap="none" lIns="0" tIns="0" rIns="0" bIns="0" anchor="t" anchorCtr="0">
              <a:spAutoFit/>
            </a:bodyPr>
            <a:lstStyle/>
            <a:p>
              <a:pPr algn="l">
                <a:lnSpc>
                  <a:spcPts val="2250"/>
                </a:lnSpc>
              </a:pPr>
              <a:r>
                <a:rPr lang="zh-CN" sz="1500" b="1" dirty="0">
                  <a:solidFill>
                    <a:srgbClr val="FFFFFF"/>
                  </a:solidFill>
                  <a:latin typeface="+mn-lt"/>
                  <a:ea typeface="+mn-ea"/>
                  <a:cs typeface="+mn-cs"/>
                </a:rPr>
                <a:t>质量保证的观点</a:t>
              </a:r>
              <a:r>
                <a:rPr lang="zh-CN" sz="1500" dirty="0">
                  <a:solidFill>
                    <a:srgbClr val="FFFFFF"/>
                  </a:solidFill>
                  <a:latin typeface="+mn-lt"/>
                  <a:ea typeface="+mn-ea"/>
                  <a:cs typeface="+mn-cs"/>
                </a:rPr>
                <a:t>：每个阶段都要完成规定</a:t>
              </a:r>
              <a:br/>
              <a:r>
                <a:rPr lang="zh-CN" sz="1500" dirty="0">
                  <a:solidFill>
                    <a:srgbClr val="FFFFFF"/>
                  </a:solidFill>
                  <a:latin typeface="+mn-lt"/>
                  <a:ea typeface="+mn-ea"/>
                  <a:cs typeface="+mn-cs"/>
                </a:rPr>
                <a:t>的文档，交不出合格文档就是没完成该阶</a:t>
              </a:r>
              <a:br/>
              <a:r>
                <a:rPr lang="zh-CN" sz="1500" dirty="0">
                  <a:solidFill>
                    <a:srgbClr val="FFFFFF"/>
                  </a:solidFill>
                  <a:latin typeface="+mn-lt"/>
                  <a:ea typeface="+mn-ea"/>
                  <a:cs typeface="+mn-cs"/>
                </a:rPr>
                <a:t>段；每个阶段结束前都要评审文档</a:t>
              </a:r>
            </a:p>
          </p:txBody>
        </p:sp>
      </p:grpSp>
      <p:grpSp>
        <p:nvGrpSpPr>
          <p:cNvPr id="41" name="c2-compare-1"/>
          <p:cNvGrpSpPr/>
          <p:nvPr/>
        </p:nvGrpSpPr>
        <p:grpSpPr>
          <a:xfrm>
            <a:off x="5166360" y="1524000"/>
            <a:ext cx="6492240" cy="3802380"/>
            <a:chOff x="5166360" y="1524000"/>
            <a:chExt cx="6492240" cy="3802380"/>
          </a:xfrm>
        </p:grpSpPr>
        <p:sp>
          <p:nvSpPr>
            <p:cNvPr id="17" name="Rectangle 17"/>
            <p:cNvSpPr/>
            <p:nvPr/>
          </p:nvSpPr>
          <p:spPr>
            <a:xfrm>
              <a:off x="5166360" y="1524000"/>
              <a:ext cx="3074670" cy="3802380"/>
            </a:xfrm>
            <a:prstGeom prst="roundRect">
              <a:avLst>
                <a:gd name="adj" fmla="val 4337"/>
              </a:avLst>
            </a:prstGeom>
            <a:solidFill>
              <a:srgbClr val="FFFFFF"/>
            </a:solidFill>
            <a:ln w="14288">
              <a:solidFill>
                <a:srgbClr val="D9DFEA"/>
              </a:solidFill>
            </a:ln>
          </p:spPr>
        </p:sp>
        <p:sp>
          <p:nvSpPr>
            <p:cNvPr id="18" name="Rectangle 18"/>
            <p:cNvSpPr/>
            <p:nvPr/>
          </p:nvSpPr>
          <p:spPr>
            <a:xfrm>
              <a:off x="5175885" y="1657350"/>
              <a:ext cx="47625" cy="3535680"/>
            </a:xfrm>
            <a:prstGeom prst="roundRect">
              <a:avLst>
                <a:gd name="adj" fmla="val 50000"/>
              </a:avLst>
            </a:prstGeom>
            <a:solidFill>
              <a:srgbClr val="14A38B"/>
            </a:solidFill>
            <a:ln>
              <a:noFill/>
            </a:ln>
          </p:spPr>
        </p:sp>
        <p:sp>
          <p:nvSpPr>
            <p:cNvPr id="19" name="TextBox 19"/>
            <p:cNvSpPr txBox="1"/>
            <p:nvPr/>
          </p:nvSpPr>
          <p:spPr>
            <a:xfrm>
              <a:off x="5406390" y="1758315"/>
              <a:ext cx="4191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优点</a:t>
              </a:r>
            </a:p>
          </p:txBody>
        </p:sp>
        <p:sp>
          <p:nvSpPr>
            <p:cNvPr id="20" name="Ellipse 20"/>
            <p:cNvSpPr/>
            <p:nvPr/>
          </p:nvSpPr>
          <p:spPr>
            <a:xfrm>
              <a:off x="5419725" y="2175510"/>
              <a:ext cx="64770" cy="64770"/>
            </a:xfrm>
            <a:prstGeom prst="ellipse">
              <a:avLst/>
            </a:prstGeom>
            <a:solidFill>
              <a:srgbClr val="334E68"/>
            </a:solidFill>
            <a:ln>
              <a:noFill/>
            </a:ln>
          </p:spPr>
        </p:sp>
        <p:sp>
          <p:nvSpPr>
            <p:cNvPr id="21" name="TextBox 21"/>
            <p:cNvSpPr txBox="1"/>
            <p:nvPr/>
          </p:nvSpPr>
          <p:spPr>
            <a:xfrm>
              <a:off x="5577840" y="2112645"/>
              <a:ext cx="2301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强迫开发人员采用规范的方</a:t>
              </a:r>
              <a:br/>
              <a:r>
                <a:rPr lang="zh-CN" sz="1500" dirty="0">
                  <a:solidFill>
                    <a:srgbClr val="1F2937"/>
                  </a:solidFill>
                  <a:latin typeface="+mn-lt"/>
                  <a:ea typeface="+mn-ea"/>
                  <a:cs typeface="+mn-cs"/>
                </a:rPr>
                <a:t>法，例如结构化技术</a:t>
              </a:r>
            </a:p>
          </p:txBody>
        </p:sp>
        <p:sp>
          <p:nvSpPr>
            <p:cNvPr id="22" name="Ellipse 22"/>
            <p:cNvSpPr/>
            <p:nvPr/>
          </p:nvSpPr>
          <p:spPr>
            <a:xfrm>
              <a:off x="5419725" y="2796540"/>
              <a:ext cx="64770" cy="64770"/>
            </a:xfrm>
            <a:prstGeom prst="ellipse">
              <a:avLst/>
            </a:prstGeom>
            <a:solidFill>
              <a:srgbClr val="334E68"/>
            </a:solidFill>
            <a:ln>
              <a:noFill/>
            </a:ln>
          </p:spPr>
        </p:sp>
        <p:sp>
          <p:nvSpPr>
            <p:cNvPr id="23" name="TextBox 23"/>
            <p:cNvSpPr txBox="1"/>
            <p:nvPr/>
          </p:nvSpPr>
          <p:spPr>
            <a:xfrm>
              <a:off x="5577840" y="2733675"/>
              <a:ext cx="2301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严格规定了每个阶段必须提</a:t>
              </a:r>
              <a:br/>
              <a:r>
                <a:rPr lang="zh-CN" sz="1500" dirty="0">
                  <a:solidFill>
                    <a:srgbClr val="1F2937"/>
                  </a:solidFill>
                  <a:latin typeface="+mn-lt"/>
                  <a:ea typeface="+mn-ea"/>
                  <a:cs typeface="+mn-cs"/>
                </a:rPr>
                <a:t>交的文档</a:t>
              </a:r>
            </a:p>
          </p:txBody>
        </p:sp>
        <p:sp>
          <p:nvSpPr>
            <p:cNvPr id="24" name="Ellipse 24"/>
            <p:cNvSpPr/>
            <p:nvPr/>
          </p:nvSpPr>
          <p:spPr>
            <a:xfrm>
              <a:off x="5419725" y="3417570"/>
              <a:ext cx="64770" cy="64770"/>
            </a:xfrm>
            <a:prstGeom prst="ellipse">
              <a:avLst/>
            </a:prstGeom>
            <a:solidFill>
              <a:srgbClr val="334E68"/>
            </a:solidFill>
            <a:ln>
              <a:noFill/>
            </a:ln>
          </p:spPr>
        </p:sp>
        <p:sp>
          <p:nvSpPr>
            <p:cNvPr id="25" name="TextBox 25"/>
            <p:cNvSpPr txBox="1"/>
            <p:nvPr/>
          </p:nvSpPr>
          <p:spPr>
            <a:xfrm>
              <a:off x="5577840" y="3354705"/>
              <a:ext cx="2301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每个阶段的产品都要经质量</a:t>
              </a:r>
              <a:br/>
              <a:r>
                <a:rPr lang="zh-CN" sz="1500" dirty="0">
                  <a:solidFill>
                    <a:srgbClr val="1F2937"/>
                  </a:solidFill>
                  <a:latin typeface="+mn-lt"/>
                  <a:ea typeface="+mn-ea"/>
                  <a:cs typeface="+mn-cs"/>
                </a:rPr>
                <a:t>保证小组仔细验证</a:t>
              </a:r>
            </a:p>
          </p:txBody>
        </p:sp>
        <p:sp>
          <p:nvSpPr>
            <p:cNvPr id="26" name="Rectangle 26"/>
            <p:cNvSpPr/>
            <p:nvPr/>
          </p:nvSpPr>
          <p:spPr>
            <a:xfrm>
              <a:off x="8583930" y="1524000"/>
              <a:ext cx="3074670" cy="3802380"/>
            </a:xfrm>
            <a:prstGeom prst="roundRect">
              <a:avLst>
                <a:gd name="adj" fmla="val 4337"/>
              </a:avLst>
            </a:prstGeom>
            <a:solidFill>
              <a:srgbClr val="FFFFFF"/>
            </a:solidFill>
            <a:ln w="14288">
              <a:solidFill>
                <a:srgbClr val="D9DFEA"/>
              </a:solidFill>
            </a:ln>
          </p:spPr>
        </p:sp>
        <p:sp>
          <p:nvSpPr>
            <p:cNvPr id="27" name="Rectangle 27"/>
            <p:cNvSpPr/>
            <p:nvPr/>
          </p:nvSpPr>
          <p:spPr>
            <a:xfrm>
              <a:off x="8593455" y="1657350"/>
              <a:ext cx="47625" cy="3535680"/>
            </a:xfrm>
            <a:prstGeom prst="roundRect">
              <a:avLst>
                <a:gd name="adj" fmla="val 50000"/>
              </a:avLst>
            </a:prstGeom>
            <a:solidFill>
              <a:srgbClr val="B42318"/>
            </a:solidFill>
            <a:ln>
              <a:noFill/>
            </a:ln>
          </p:spPr>
        </p:sp>
        <p:sp>
          <p:nvSpPr>
            <p:cNvPr id="28" name="TextBox 28"/>
            <p:cNvSpPr txBox="1"/>
            <p:nvPr/>
          </p:nvSpPr>
          <p:spPr>
            <a:xfrm>
              <a:off x="8823960" y="1758315"/>
              <a:ext cx="4191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缺点</a:t>
              </a:r>
            </a:p>
          </p:txBody>
        </p:sp>
        <p:sp>
          <p:nvSpPr>
            <p:cNvPr id="29" name="Ellipse 29"/>
            <p:cNvSpPr/>
            <p:nvPr/>
          </p:nvSpPr>
          <p:spPr>
            <a:xfrm>
              <a:off x="8837295" y="2175510"/>
              <a:ext cx="64770" cy="64770"/>
            </a:xfrm>
            <a:prstGeom prst="ellipse">
              <a:avLst/>
            </a:prstGeom>
            <a:solidFill>
              <a:srgbClr val="334E68"/>
            </a:solidFill>
            <a:ln>
              <a:noFill/>
            </a:ln>
          </p:spPr>
        </p:sp>
        <p:sp>
          <p:nvSpPr>
            <p:cNvPr id="30" name="TextBox 30"/>
            <p:cNvSpPr txBox="1"/>
            <p:nvPr/>
          </p:nvSpPr>
          <p:spPr>
            <a:xfrm>
              <a:off x="8995410" y="2112645"/>
              <a:ext cx="2301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要求用户不经实践就提出完</a:t>
              </a:r>
              <a:br/>
              <a:r>
                <a:rPr lang="zh-CN" sz="1500" dirty="0">
                  <a:solidFill>
                    <a:srgbClr val="1F2937"/>
                  </a:solidFill>
                  <a:latin typeface="+mn-lt"/>
                  <a:ea typeface="+mn-ea"/>
                  <a:cs typeface="+mn-cs"/>
                </a:rPr>
                <a:t>整准确的需求</a:t>
              </a:r>
            </a:p>
          </p:txBody>
        </p:sp>
        <p:sp>
          <p:nvSpPr>
            <p:cNvPr id="31" name="Ellipse 31"/>
            <p:cNvSpPr/>
            <p:nvPr/>
          </p:nvSpPr>
          <p:spPr>
            <a:xfrm>
              <a:off x="8837295" y="2796540"/>
              <a:ext cx="64770" cy="64770"/>
            </a:xfrm>
            <a:prstGeom prst="ellipse">
              <a:avLst/>
            </a:prstGeom>
            <a:solidFill>
              <a:srgbClr val="334E68"/>
            </a:solidFill>
            <a:ln>
              <a:noFill/>
            </a:ln>
          </p:spPr>
        </p:sp>
        <p:sp>
          <p:nvSpPr>
            <p:cNvPr id="32" name="TextBox 32"/>
            <p:cNvSpPr txBox="1"/>
            <p:nvPr/>
          </p:nvSpPr>
          <p:spPr>
            <a:xfrm>
              <a:off x="8995410" y="2733675"/>
              <a:ext cx="2301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靠纸面上的静态规格说明难</a:t>
              </a:r>
              <a:br/>
              <a:r>
                <a:rPr lang="zh-CN" sz="1500" dirty="0">
                  <a:solidFill>
                    <a:srgbClr val="1F2937"/>
                  </a:solidFill>
                  <a:latin typeface="+mn-lt"/>
                  <a:ea typeface="+mn-ea"/>
                  <a:cs typeface="+mn-cs"/>
                </a:rPr>
                <a:t>以认识动态的产品</a:t>
              </a:r>
            </a:p>
          </p:txBody>
        </p:sp>
        <p:sp>
          <p:nvSpPr>
            <p:cNvPr id="33" name="Ellipse 33"/>
            <p:cNvSpPr/>
            <p:nvPr/>
          </p:nvSpPr>
          <p:spPr>
            <a:xfrm>
              <a:off x="8837295" y="3417570"/>
              <a:ext cx="64770" cy="64770"/>
            </a:xfrm>
            <a:prstGeom prst="ellipse">
              <a:avLst/>
            </a:prstGeom>
            <a:solidFill>
              <a:srgbClr val="334E68"/>
            </a:solidFill>
            <a:ln>
              <a:noFill/>
            </a:ln>
          </p:spPr>
        </p:sp>
        <p:sp>
          <p:nvSpPr>
            <p:cNvPr id="34" name="TextBox 34"/>
            <p:cNvSpPr txBox="1"/>
            <p:nvPr/>
          </p:nvSpPr>
          <p:spPr>
            <a:xfrm>
              <a:off x="8995410" y="3354705"/>
              <a:ext cx="2301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把非线性的开发过程人为地</a:t>
              </a:r>
              <a:br/>
              <a:r>
                <a:rPr lang="zh-CN" sz="1500" dirty="0">
                  <a:solidFill>
                    <a:srgbClr val="1F2937"/>
                  </a:solidFill>
                  <a:latin typeface="+mn-lt"/>
                  <a:ea typeface="+mn-ea"/>
                  <a:cs typeface="+mn-cs"/>
                </a:rPr>
                <a:t>线性化</a:t>
              </a:r>
            </a:p>
          </p:txBody>
        </p:sp>
        <p:sp>
          <p:nvSpPr>
            <p:cNvPr id="35" name="Ellipse 35"/>
            <p:cNvSpPr/>
            <p:nvPr/>
          </p:nvSpPr>
          <p:spPr>
            <a:xfrm>
              <a:off x="8837295" y="4038600"/>
              <a:ext cx="64770" cy="64770"/>
            </a:xfrm>
            <a:prstGeom prst="ellipse">
              <a:avLst/>
            </a:prstGeom>
            <a:solidFill>
              <a:srgbClr val="334E68"/>
            </a:solidFill>
            <a:ln>
              <a:noFill/>
            </a:ln>
          </p:spPr>
        </p:sp>
        <p:sp>
          <p:nvSpPr>
            <p:cNvPr id="36" name="TextBox 36"/>
            <p:cNvSpPr txBox="1"/>
            <p:nvPr/>
          </p:nvSpPr>
          <p:spPr>
            <a:xfrm>
              <a:off x="8995410" y="3975735"/>
              <a:ext cx="2301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可运行版本要等到项目后期</a:t>
              </a:r>
              <a:br/>
              <a:r>
                <a:rPr lang="zh-CN" sz="1500" dirty="0">
                  <a:solidFill>
                    <a:srgbClr val="1F2937"/>
                  </a:solidFill>
                  <a:latin typeface="+mn-lt"/>
                  <a:ea typeface="+mn-ea"/>
                  <a:cs typeface="+mn-cs"/>
                </a:rPr>
                <a:t>才能得到</a:t>
              </a:r>
            </a:p>
          </p:txBody>
        </p:sp>
        <p:sp>
          <p:nvSpPr>
            <p:cNvPr id="37" name="Ellipse 37"/>
            <p:cNvSpPr/>
            <p:nvPr/>
          </p:nvSpPr>
          <p:spPr>
            <a:xfrm>
              <a:off x="8837295" y="4659630"/>
              <a:ext cx="64770" cy="64770"/>
            </a:xfrm>
            <a:prstGeom prst="ellipse">
              <a:avLst/>
            </a:prstGeom>
            <a:solidFill>
              <a:srgbClr val="334E68"/>
            </a:solidFill>
            <a:ln>
              <a:noFill/>
            </a:ln>
          </p:spPr>
        </p:sp>
        <p:sp>
          <p:nvSpPr>
            <p:cNvPr id="38" name="TextBox 38"/>
            <p:cNvSpPr txBox="1"/>
            <p:nvPr/>
          </p:nvSpPr>
          <p:spPr>
            <a:xfrm>
              <a:off x="8995410" y="4596765"/>
              <a:ext cx="2301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文档驱动可能做出不满足用</a:t>
              </a:r>
              <a:br/>
              <a:r>
                <a:rPr lang="zh-CN" sz="1500" dirty="0">
                  <a:solidFill>
                    <a:srgbClr val="1F2937"/>
                  </a:solidFill>
                  <a:latin typeface="+mn-lt"/>
                  <a:ea typeface="+mn-ea"/>
                  <a:cs typeface="+mn-cs"/>
                </a:rPr>
                <a:t>户需要的产品</a:t>
              </a:r>
            </a:p>
          </p:txBody>
        </p:sp>
        <p:sp>
          <p:nvSpPr>
            <p:cNvPr id="39" name="Ellipse 39"/>
            <p:cNvSpPr/>
            <p:nvPr/>
          </p:nvSpPr>
          <p:spPr>
            <a:xfrm>
              <a:off x="8250555" y="3263265"/>
              <a:ext cx="323850" cy="323850"/>
            </a:xfrm>
            <a:prstGeom prst="ellipse">
              <a:avLst/>
            </a:prstGeom>
            <a:solidFill>
              <a:srgbClr val="F26B3A"/>
            </a:solidFill>
            <a:ln>
              <a:noFill/>
            </a:ln>
          </p:spPr>
        </p:sp>
        <p:sp>
          <p:nvSpPr>
            <p:cNvPr id="40" name="TextBox 40"/>
            <p:cNvSpPr txBox="1"/>
            <p:nvPr/>
          </p:nvSpPr>
          <p:spPr>
            <a:xfrm>
              <a:off x="8320895" y="3359468"/>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48" name="c2-callout-2"/>
          <p:cNvGrpSpPr/>
          <p:nvPr/>
        </p:nvGrpSpPr>
        <p:grpSpPr>
          <a:xfrm>
            <a:off x="5166360" y="5516880"/>
            <a:ext cx="6492240" cy="782955"/>
            <a:chOff x="5166360" y="5516880"/>
            <a:chExt cx="6492240" cy="782955"/>
          </a:xfrm>
        </p:grpSpPr>
        <p:sp>
          <p:nvSpPr>
            <p:cNvPr id="42" name="Rectangle 42"/>
            <p:cNvSpPr/>
            <p:nvPr/>
          </p:nvSpPr>
          <p:spPr>
            <a:xfrm>
              <a:off x="5166360" y="5516880"/>
              <a:ext cx="6492240" cy="782955"/>
            </a:xfrm>
            <a:prstGeom prst="roundRect">
              <a:avLst>
                <a:gd name="adj" fmla="val 14599"/>
              </a:avLst>
            </a:prstGeom>
            <a:solidFill>
              <a:srgbClr val="F4F6FB"/>
            </a:solidFill>
            <a:ln>
              <a:noFill/>
            </a:ln>
          </p:spPr>
        </p:sp>
        <p:grpSp>
          <p:nvGrpSpPr>
            <p:cNvPr id="46" name="Group 46"/>
            <p:cNvGrpSpPr/>
            <p:nvPr/>
          </p:nvGrpSpPr>
          <p:grpSpPr>
            <a:xfrm>
              <a:off x="5371148" y="5808345"/>
              <a:ext cx="200026" cy="200026"/>
              <a:chOff x="5371148" y="5808345"/>
              <a:chExt cx="200026" cy="200026"/>
            </a:xfrm>
          </p:grpSpPr>
          <p:sp>
            <p:nvSpPr>
              <p:cNvPr id="43" name="Freeform 43"/>
              <p:cNvSpPr/>
              <p:nvPr/>
            </p:nvSpPr>
            <p:spPr>
              <a:xfrm>
                <a:off x="5371148" y="580834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4" name="Freeform 44"/>
              <p:cNvSpPr/>
              <p:nvPr/>
            </p:nvSpPr>
            <p:spPr>
              <a:xfrm>
                <a:off x="5471160" y="587502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5" name="Freeform 45"/>
              <p:cNvSpPr/>
              <p:nvPr/>
            </p:nvSpPr>
            <p:spPr>
              <a:xfrm>
                <a:off x="5460048" y="590835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7" name="TextBox 47"/>
            <p:cNvSpPr txBox="1"/>
            <p:nvPr/>
          </p:nvSpPr>
          <p:spPr>
            <a:xfrm>
              <a:off x="5673090" y="5665470"/>
              <a:ext cx="55397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瀑布模型的成功在很大程度上是由于它基本上是一种</a:t>
              </a:r>
              <a:r>
                <a:rPr lang="zh-CN" sz="1500" b="1" dirty="0">
                  <a:solidFill>
                    <a:srgbClr val="C2410C"/>
                  </a:solidFill>
                  <a:latin typeface="+mn-lt"/>
                  <a:ea typeface="+mn-ea"/>
                  <a:cs typeface="+mn-cs"/>
                </a:rPr>
                <a:t>文档驱动</a:t>
              </a:r>
              <a:r>
                <a:rPr lang="zh-CN" sz="1500" dirty="0">
                  <a:solidFill>
                    <a:srgbClr val="1F2937"/>
                  </a:solidFill>
                  <a:latin typeface="+mn-lt"/>
                  <a:ea typeface="+mn-ea"/>
                  <a:cs typeface="+mn-cs"/>
                </a:rPr>
                <a:t>的模</a:t>
              </a:r>
              <a:br/>
              <a:r>
                <a:rPr lang="zh-CN" sz="1500" dirty="0">
                  <a:solidFill>
                    <a:srgbClr val="1F2937"/>
                  </a:solidFill>
                  <a:latin typeface="+mn-lt"/>
                  <a:ea typeface="+mn-ea"/>
                  <a:cs typeface="+mn-cs"/>
                </a:rPr>
                <a:t>型，而这也是它最大的缺点。</a:t>
              </a:r>
            </a:p>
          </p:txBody>
        </p:sp>
      </p:grpSp>
      <p:grpSp>
        <p:nvGrpSpPr>
          <p:cNvPr id="51" name="footer"/>
          <p:cNvGrpSpPr/>
          <p:nvPr/>
        </p:nvGrpSpPr>
        <p:grpSpPr>
          <a:xfrm>
            <a:off x="528447" y="6581299"/>
            <a:ext cx="11135106" cy="190690"/>
            <a:chOff x="528447" y="6581299"/>
            <a:chExt cx="11135106" cy="190690"/>
          </a:xfrm>
        </p:grpSpPr>
        <p:sp>
          <p:nvSpPr>
            <p:cNvPr id="49" name="TextBox 49"/>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50" name="TextBox 5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30</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15248" cy="909257"/>
            <a:chOff x="520446" y="342900"/>
            <a:chExt cx="7215248"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软件过程与传统过程模型</a:t>
              </a:r>
            </a:p>
          </p:txBody>
        </p:sp>
        <p:sp>
          <p:nvSpPr>
            <p:cNvPr id="4" name="TextBox 4"/>
            <p:cNvSpPr txBox="1"/>
            <p:nvPr/>
          </p:nvSpPr>
          <p:spPr>
            <a:xfrm>
              <a:off x="520446" y="753428"/>
              <a:ext cx="721524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V 模型：左边每个活动都有右边的测试与它对应</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5" name="c1-flow-1"/>
          <p:cNvGrpSpPr/>
          <p:nvPr/>
        </p:nvGrpSpPr>
        <p:grpSpPr>
          <a:xfrm>
            <a:off x="666750" y="1600200"/>
            <a:ext cx="10858500" cy="2024062"/>
            <a:chOff x="666750" y="1600200"/>
            <a:chExt cx="10858500" cy="2024062"/>
          </a:xfrm>
        </p:grpSpPr>
        <p:sp>
          <p:nvSpPr>
            <p:cNvPr id="7" name="Freeform 7"/>
            <p:cNvSpPr/>
            <p:nvPr/>
          </p:nvSpPr>
          <p:spPr>
            <a:xfrm>
              <a:off x="1327785" y="1988820"/>
              <a:ext cx="1589722" cy="80010"/>
            </a:xfrm>
            <a:custGeom>
              <a:avLst/>
              <a:gdLst/>
              <a:ahLst/>
              <a:cxnLst/>
              <a:rect l="l" t="t" r="r" b="b"/>
              <a:pathLst>
                <a:path w="1589722" h="80010">
                  <a:moveTo>
                    <a:pt x="0" y="0"/>
                  </a:moveTo>
                  <a:lnTo>
                    <a:pt x="0" y="80010"/>
                  </a:lnTo>
                  <a:lnTo>
                    <a:pt x="1589722" y="80010"/>
                  </a:lnTo>
                  <a:lnTo>
                    <a:pt x="1589722" y="55245"/>
                  </a:lnTo>
                </a:path>
              </a:pathLst>
            </a:custGeom>
            <a:noFill/>
            <a:ln w="15240">
              <a:solidFill>
                <a:srgbClr val="5B6475"/>
              </a:solidFill>
            </a:ln>
          </p:spPr>
        </p:sp>
        <p:sp>
          <p:nvSpPr>
            <p:cNvPr id="8" name="Freeform 8"/>
            <p:cNvSpPr/>
            <p:nvPr/>
          </p:nvSpPr>
          <p:spPr>
            <a:xfrm>
              <a:off x="2865120" y="204406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9" name="Freeform 9"/>
            <p:cNvSpPr/>
            <p:nvPr/>
          </p:nvSpPr>
          <p:spPr>
            <a:xfrm>
              <a:off x="2917508" y="2533650"/>
              <a:ext cx="1588770" cy="80010"/>
            </a:xfrm>
            <a:custGeom>
              <a:avLst/>
              <a:gdLst/>
              <a:ahLst/>
              <a:cxnLst/>
              <a:rect l="l" t="t" r="r" b="b"/>
              <a:pathLst>
                <a:path w="1588770" h="80010">
                  <a:moveTo>
                    <a:pt x="0" y="0"/>
                  </a:moveTo>
                  <a:lnTo>
                    <a:pt x="0" y="80010"/>
                  </a:lnTo>
                  <a:lnTo>
                    <a:pt x="1588770" y="80010"/>
                  </a:lnTo>
                  <a:lnTo>
                    <a:pt x="1588770" y="55245"/>
                  </a:lnTo>
                </a:path>
              </a:pathLst>
            </a:custGeom>
            <a:noFill/>
            <a:ln w="15240">
              <a:solidFill>
                <a:srgbClr val="5B6475"/>
              </a:solidFill>
            </a:ln>
          </p:spPr>
        </p:sp>
        <p:sp>
          <p:nvSpPr>
            <p:cNvPr id="10" name="Freeform 10"/>
            <p:cNvSpPr/>
            <p:nvPr/>
          </p:nvSpPr>
          <p:spPr>
            <a:xfrm>
              <a:off x="4453890" y="258889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1" name="Freeform 11"/>
            <p:cNvSpPr/>
            <p:nvPr/>
          </p:nvSpPr>
          <p:spPr>
            <a:xfrm>
              <a:off x="4506278" y="3078480"/>
              <a:ext cx="1589722" cy="80010"/>
            </a:xfrm>
            <a:custGeom>
              <a:avLst/>
              <a:gdLst/>
              <a:ahLst/>
              <a:cxnLst/>
              <a:rect l="l" t="t" r="r" b="b"/>
              <a:pathLst>
                <a:path w="1589722" h="80010">
                  <a:moveTo>
                    <a:pt x="0" y="0"/>
                  </a:moveTo>
                  <a:lnTo>
                    <a:pt x="0" y="80010"/>
                  </a:lnTo>
                  <a:lnTo>
                    <a:pt x="1589722" y="80010"/>
                  </a:lnTo>
                  <a:lnTo>
                    <a:pt x="1589722" y="55245"/>
                  </a:lnTo>
                </a:path>
              </a:pathLst>
            </a:custGeom>
            <a:noFill/>
            <a:ln w="15240">
              <a:solidFill>
                <a:srgbClr val="5B6475"/>
              </a:solidFill>
            </a:ln>
          </p:spPr>
        </p:sp>
        <p:sp>
          <p:nvSpPr>
            <p:cNvPr id="12" name="Freeform 12"/>
            <p:cNvSpPr/>
            <p:nvPr/>
          </p:nvSpPr>
          <p:spPr>
            <a:xfrm>
              <a:off x="6043612" y="313372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3" name="Freeform 13"/>
            <p:cNvSpPr/>
            <p:nvPr/>
          </p:nvSpPr>
          <p:spPr>
            <a:xfrm>
              <a:off x="6096000" y="3206115"/>
              <a:ext cx="1589722" cy="73342"/>
            </a:xfrm>
            <a:custGeom>
              <a:avLst/>
              <a:gdLst/>
              <a:ahLst/>
              <a:cxnLst/>
              <a:rect l="l" t="t" r="r" b="b"/>
              <a:pathLst>
                <a:path w="1589722" h="73342">
                  <a:moveTo>
                    <a:pt x="0" y="32385"/>
                  </a:moveTo>
                  <a:lnTo>
                    <a:pt x="0" y="0"/>
                  </a:lnTo>
                  <a:lnTo>
                    <a:pt x="1589722" y="0"/>
                  </a:lnTo>
                  <a:lnTo>
                    <a:pt x="1589722" y="73342"/>
                  </a:lnTo>
                </a:path>
              </a:pathLst>
            </a:custGeom>
            <a:noFill/>
            <a:ln w="15240">
              <a:solidFill>
                <a:srgbClr val="5B6475"/>
              </a:solidFill>
            </a:ln>
          </p:spPr>
        </p:sp>
        <p:sp>
          <p:nvSpPr>
            <p:cNvPr id="14" name="Freeform 14"/>
            <p:cNvSpPr/>
            <p:nvPr/>
          </p:nvSpPr>
          <p:spPr>
            <a:xfrm>
              <a:off x="7633335" y="3174682"/>
              <a:ext cx="104775" cy="104775"/>
            </a:xfrm>
            <a:custGeom>
              <a:avLst/>
              <a:gdLst/>
              <a:ahLst/>
              <a:cxnLst/>
              <a:rect l="l" t="t" r="r" b="b"/>
              <a:pathLst>
                <a:path w="104775" h="104775">
                  <a:moveTo>
                    <a:pt x="52388" y="0"/>
                  </a:moveTo>
                  <a:lnTo>
                    <a:pt x="104775" y="104775"/>
                  </a:lnTo>
                  <a:lnTo>
                    <a:pt x="0" y="104775"/>
                  </a:lnTo>
                  <a:close/>
                </a:path>
              </a:pathLst>
            </a:custGeom>
            <a:solidFill>
              <a:srgbClr val="5B6475"/>
            </a:solidFill>
            <a:ln>
              <a:noFill/>
            </a:ln>
          </p:spPr>
        </p:sp>
        <p:sp>
          <p:nvSpPr>
            <p:cNvPr id="15" name="Freeform 15"/>
            <p:cNvSpPr/>
            <p:nvPr/>
          </p:nvSpPr>
          <p:spPr>
            <a:xfrm>
              <a:off x="7685722" y="2566035"/>
              <a:ext cx="1588770" cy="72390"/>
            </a:xfrm>
            <a:custGeom>
              <a:avLst/>
              <a:gdLst/>
              <a:ahLst/>
              <a:cxnLst/>
              <a:rect l="l" t="t" r="r" b="b"/>
              <a:pathLst>
                <a:path w="1588770" h="72390">
                  <a:moveTo>
                    <a:pt x="0" y="31433"/>
                  </a:moveTo>
                  <a:lnTo>
                    <a:pt x="0" y="0"/>
                  </a:lnTo>
                  <a:lnTo>
                    <a:pt x="1588770" y="0"/>
                  </a:lnTo>
                  <a:lnTo>
                    <a:pt x="1588770" y="72390"/>
                  </a:lnTo>
                </a:path>
              </a:pathLst>
            </a:custGeom>
            <a:noFill/>
            <a:ln w="15240">
              <a:solidFill>
                <a:srgbClr val="5B6475"/>
              </a:solidFill>
            </a:ln>
          </p:spPr>
        </p:sp>
        <p:sp>
          <p:nvSpPr>
            <p:cNvPr id="16" name="Freeform 16"/>
            <p:cNvSpPr/>
            <p:nvPr/>
          </p:nvSpPr>
          <p:spPr>
            <a:xfrm>
              <a:off x="9222105" y="2533650"/>
              <a:ext cx="104775" cy="104775"/>
            </a:xfrm>
            <a:custGeom>
              <a:avLst/>
              <a:gdLst/>
              <a:ahLst/>
              <a:cxnLst/>
              <a:rect l="l" t="t" r="r" b="b"/>
              <a:pathLst>
                <a:path w="104775" h="104775">
                  <a:moveTo>
                    <a:pt x="52388" y="0"/>
                  </a:moveTo>
                  <a:lnTo>
                    <a:pt x="104775" y="104775"/>
                  </a:lnTo>
                  <a:lnTo>
                    <a:pt x="0" y="104775"/>
                  </a:lnTo>
                  <a:close/>
                </a:path>
              </a:pathLst>
            </a:custGeom>
            <a:solidFill>
              <a:srgbClr val="5B6475"/>
            </a:solidFill>
            <a:ln>
              <a:noFill/>
            </a:ln>
          </p:spPr>
        </p:sp>
        <p:sp>
          <p:nvSpPr>
            <p:cNvPr id="17" name="Freeform 17"/>
            <p:cNvSpPr/>
            <p:nvPr/>
          </p:nvSpPr>
          <p:spPr>
            <a:xfrm>
              <a:off x="9274492" y="2068830"/>
              <a:ext cx="1589722" cy="80010"/>
            </a:xfrm>
            <a:custGeom>
              <a:avLst/>
              <a:gdLst/>
              <a:ahLst/>
              <a:cxnLst/>
              <a:rect l="l" t="t" r="r" b="b"/>
              <a:pathLst>
                <a:path w="1589722" h="80010">
                  <a:moveTo>
                    <a:pt x="0" y="80010"/>
                  </a:moveTo>
                  <a:lnTo>
                    <a:pt x="0" y="0"/>
                  </a:lnTo>
                  <a:lnTo>
                    <a:pt x="1589722" y="0"/>
                  </a:lnTo>
                  <a:lnTo>
                    <a:pt x="1589722" y="24765"/>
                  </a:lnTo>
                </a:path>
              </a:pathLst>
            </a:custGeom>
            <a:noFill/>
            <a:ln w="15240">
              <a:solidFill>
                <a:srgbClr val="5B6475"/>
              </a:solidFill>
            </a:ln>
          </p:spPr>
        </p:sp>
        <p:sp>
          <p:nvSpPr>
            <p:cNvPr id="18" name="Freeform 18"/>
            <p:cNvSpPr/>
            <p:nvPr/>
          </p:nvSpPr>
          <p:spPr>
            <a:xfrm>
              <a:off x="10811828" y="1988820"/>
              <a:ext cx="104775" cy="104775"/>
            </a:xfrm>
            <a:custGeom>
              <a:avLst/>
              <a:gdLst/>
              <a:ahLst/>
              <a:cxnLst/>
              <a:rect l="l" t="t" r="r" b="b"/>
              <a:pathLst>
                <a:path w="104775" h="104775">
                  <a:moveTo>
                    <a:pt x="52388" y="0"/>
                  </a:moveTo>
                  <a:lnTo>
                    <a:pt x="104775" y="104775"/>
                  </a:lnTo>
                  <a:lnTo>
                    <a:pt x="0" y="104775"/>
                  </a:lnTo>
                  <a:close/>
                </a:path>
              </a:pathLst>
            </a:custGeom>
            <a:solidFill>
              <a:srgbClr val="5B6475"/>
            </a:solidFill>
            <a:ln>
              <a:noFill/>
            </a:ln>
          </p:spPr>
        </p:sp>
        <p:sp>
          <p:nvSpPr>
            <p:cNvPr id="19" name="Freeform 19"/>
            <p:cNvSpPr/>
            <p:nvPr/>
          </p:nvSpPr>
          <p:spPr>
            <a:xfrm>
              <a:off x="1989772" y="1796415"/>
              <a:ext cx="8107680" cy="9525"/>
            </a:xfrm>
            <a:custGeom>
              <a:avLst/>
              <a:gdLst/>
              <a:ahLst/>
              <a:cxnLst/>
              <a:rect l="l" t="t" r="r" b="b"/>
              <a:pathLst>
                <a:path w="8107680" h="9525">
                  <a:moveTo>
                    <a:pt x="0" y="0"/>
                  </a:moveTo>
                  <a:lnTo>
                    <a:pt x="8107680" y="0"/>
                  </a:lnTo>
                </a:path>
              </a:pathLst>
            </a:custGeom>
            <a:noFill/>
            <a:ln w="15240">
              <a:solidFill>
                <a:srgbClr val="5B6475"/>
              </a:solidFill>
              <a:custDash>
                <a:ds d="375000" sp="250000"/>
              </a:custDash>
            </a:ln>
          </p:spPr>
        </p:sp>
        <p:sp>
          <p:nvSpPr>
            <p:cNvPr id="20" name="Freeform 20"/>
            <p:cNvSpPr/>
            <p:nvPr/>
          </p:nvSpPr>
          <p:spPr>
            <a:xfrm>
              <a:off x="10097452" y="174402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21" name="Freeform 21"/>
            <p:cNvSpPr/>
            <p:nvPr/>
          </p:nvSpPr>
          <p:spPr>
            <a:xfrm>
              <a:off x="3578542" y="2341245"/>
              <a:ext cx="4930140" cy="9525"/>
            </a:xfrm>
            <a:custGeom>
              <a:avLst/>
              <a:gdLst/>
              <a:ahLst/>
              <a:cxnLst/>
              <a:rect l="l" t="t" r="r" b="b"/>
              <a:pathLst>
                <a:path w="4930140" h="9525">
                  <a:moveTo>
                    <a:pt x="0" y="0"/>
                  </a:moveTo>
                  <a:lnTo>
                    <a:pt x="4930140" y="0"/>
                  </a:lnTo>
                </a:path>
              </a:pathLst>
            </a:custGeom>
            <a:noFill/>
            <a:ln w="15240">
              <a:solidFill>
                <a:srgbClr val="5B6475"/>
              </a:solidFill>
              <a:custDash>
                <a:ds d="375000" sp="250000"/>
              </a:custDash>
            </a:ln>
          </p:spPr>
        </p:sp>
        <p:sp>
          <p:nvSpPr>
            <p:cNvPr id="22" name="Freeform 22"/>
            <p:cNvSpPr/>
            <p:nvPr/>
          </p:nvSpPr>
          <p:spPr>
            <a:xfrm>
              <a:off x="8508682" y="228885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23" name="Freeform 23"/>
            <p:cNvSpPr/>
            <p:nvPr/>
          </p:nvSpPr>
          <p:spPr>
            <a:xfrm>
              <a:off x="5168265" y="2886075"/>
              <a:ext cx="1750695" cy="9525"/>
            </a:xfrm>
            <a:custGeom>
              <a:avLst/>
              <a:gdLst/>
              <a:ahLst/>
              <a:cxnLst/>
              <a:rect l="l" t="t" r="r" b="b"/>
              <a:pathLst>
                <a:path w="1750695" h="9525">
                  <a:moveTo>
                    <a:pt x="0" y="0"/>
                  </a:moveTo>
                  <a:lnTo>
                    <a:pt x="1750695" y="0"/>
                  </a:lnTo>
                </a:path>
              </a:pathLst>
            </a:custGeom>
            <a:noFill/>
            <a:ln w="15240">
              <a:solidFill>
                <a:srgbClr val="5B6475"/>
              </a:solidFill>
              <a:custDash>
                <a:ds d="375000" sp="250000"/>
              </a:custDash>
            </a:ln>
          </p:spPr>
        </p:sp>
        <p:sp>
          <p:nvSpPr>
            <p:cNvPr id="24" name="Freeform 24"/>
            <p:cNvSpPr/>
            <p:nvPr/>
          </p:nvSpPr>
          <p:spPr>
            <a:xfrm>
              <a:off x="6918960" y="283368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25" name="Rectangle 25"/>
            <p:cNvSpPr/>
            <p:nvPr/>
          </p:nvSpPr>
          <p:spPr>
            <a:xfrm>
              <a:off x="666750" y="1604010"/>
              <a:ext cx="1323022" cy="385762"/>
            </a:xfrm>
            <a:prstGeom prst="roundRect">
              <a:avLst>
                <a:gd name="adj" fmla="val 24691"/>
              </a:avLst>
            </a:prstGeom>
            <a:solidFill>
              <a:srgbClr val="FFFFFF"/>
            </a:solidFill>
            <a:ln w="15240">
              <a:solidFill>
                <a:srgbClr val="334E68"/>
              </a:solidFill>
            </a:ln>
          </p:spPr>
        </p:sp>
        <p:sp>
          <p:nvSpPr>
            <p:cNvPr id="26" name="Rectangle 26"/>
            <p:cNvSpPr/>
            <p:nvPr/>
          </p:nvSpPr>
          <p:spPr>
            <a:xfrm>
              <a:off x="2256472" y="2148840"/>
              <a:ext cx="1323022" cy="385762"/>
            </a:xfrm>
            <a:prstGeom prst="roundRect">
              <a:avLst>
                <a:gd name="adj" fmla="val 24691"/>
              </a:avLst>
            </a:prstGeom>
            <a:solidFill>
              <a:srgbClr val="FFFFFF"/>
            </a:solidFill>
            <a:ln w="15240">
              <a:solidFill>
                <a:srgbClr val="334E68"/>
              </a:solidFill>
            </a:ln>
          </p:spPr>
        </p:sp>
        <p:sp>
          <p:nvSpPr>
            <p:cNvPr id="27" name="Rectangle 27"/>
            <p:cNvSpPr/>
            <p:nvPr/>
          </p:nvSpPr>
          <p:spPr>
            <a:xfrm>
              <a:off x="3845242" y="2693670"/>
              <a:ext cx="1323022" cy="385762"/>
            </a:xfrm>
            <a:prstGeom prst="roundRect">
              <a:avLst>
                <a:gd name="adj" fmla="val 24691"/>
              </a:avLst>
            </a:prstGeom>
            <a:solidFill>
              <a:srgbClr val="FFFFFF"/>
            </a:solidFill>
            <a:ln w="15240">
              <a:solidFill>
                <a:srgbClr val="334E68"/>
              </a:solidFill>
            </a:ln>
          </p:spPr>
        </p:sp>
        <p:sp>
          <p:nvSpPr>
            <p:cNvPr id="28" name="Rectangle 28"/>
            <p:cNvSpPr/>
            <p:nvPr/>
          </p:nvSpPr>
          <p:spPr>
            <a:xfrm>
              <a:off x="5434965" y="3238500"/>
              <a:ext cx="1323022" cy="385762"/>
            </a:xfrm>
            <a:prstGeom prst="roundRect">
              <a:avLst>
                <a:gd name="adj" fmla="val 24691"/>
              </a:avLst>
            </a:prstGeom>
            <a:solidFill>
              <a:srgbClr val="E7EDF3"/>
            </a:solidFill>
            <a:ln w="19050">
              <a:solidFill>
                <a:srgbClr val="334E68"/>
              </a:solidFill>
            </a:ln>
          </p:spPr>
        </p:sp>
        <p:sp>
          <p:nvSpPr>
            <p:cNvPr id="29" name="Rectangle 29"/>
            <p:cNvSpPr/>
            <p:nvPr/>
          </p:nvSpPr>
          <p:spPr>
            <a:xfrm>
              <a:off x="7023735" y="2597468"/>
              <a:ext cx="1323022" cy="578168"/>
            </a:xfrm>
            <a:prstGeom prst="roundRect">
              <a:avLst>
                <a:gd name="adj" fmla="val 16474"/>
              </a:avLst>
            </a:prstGeom>
            <a:solidFill>
              <a:srgbClr val="FFFFFF"/>
            </a:solidFill>
            <a:ln w="15240">
              <a:solidFill>
                <a:srgbClr val="334E68"/>
              </a:solidFill>
            </a:ln>
          </p:spPr>
        </p:sp>
        <p:sp>
          <p:nvSpPr>
            <p:cNvPr id="30" name="Rectangle 30"/>
            <p:cNvSpPr/>
            <p:nvPr/>
          </p:nvSpPr>
          <p:spPr>
            <a:xfrm>
              <a:off x="8613458" y="2148840"/>
              <a:ext cx="1323022" cy="385762"/>
            </a:xfrm>
            <a:prstGeom prst="roundRect">
              <a:avLst>
                <a:gd name="adj" fmla="val 24691"/>
              </a:avLst>
            </a:prstGeom>
            <a:solidFill>
              <a:srgbClr val="FFFFFF"/>
            </a:solidFill>
            <a:ln w="15240">
              <a:solidFill>
                <a:srgbClr val="334E68"/>
              </a:solidFill>
            </a:ln>
          </p:spPr>
        </p:sp>
        <p:sp>
          <p:nvSpPr>
            <p:cNvPr id="31" name="Rectangle 31"/>
            <p:cNvSpPr/>
            <p:nvPr/>
          </p:nvSpPr>
          <p:spPr>
            <a:xfrm>
              <a:off x="10202228" y="1604010"/>
              <a:ext cx="1323022" cy="385762"/>
            </a:xfrm>
            <a:prstGeom prst="roundRect">
              <a:avLst>
                <a:gd name="adj" fmla="val 49877"/>
              </a:avLst>
            </a:prstGeom>
            <a:solidFill>
              <a:srgbClr val="334E68"/>
            </a:solidFill>
            <a:ln>
              <a:noFill/>
            </a:ln>
          </p:spPr>
        </p:sp>
        <p:sp>
          <p:nvSpPr>
            <p:cNvPr id="32" name="TextBox 32"/>
            <p:cNvSpPr txBox="1"/>
            <p:nvPr/>
          </p:nvSpPr>
          <p:spPr>
            <a:xfrm>
              <a:off x="1020521" y="1717834"/>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需求分析</a:t>
              </a:r>
            </a:p>
          </p:txBody>
        </p:sp>
        <p:sp>
          <p:nvSpPr>
            <p:cNvPr id="33" name="TextBox 33"/>
            <p:cNvSpPr txBox="1"/>
            <p:nvPr/>
          </p:nvSpPr>
          <p:spPr>
            <a:xfrm>
              <a:off x="2610244" y="2262664"/>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系统设计</a:t>
              </a:r>
            </a:p>
          </p:txBody>
        </p:sp>
        <p:sp>
          <p:nvSpPr>
            <p:cNvPr id="34" name="TextBox 34"/>
            <p:cNvSpPr txBox="1"/>
            <p:nvPr/>
          </p:nvSpPr>
          <p:spPr>
            <a:xfrm>
              <a:off x="4199014" y="2807494"/>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程序设计</a:t>
              </a:r>
            </a:p>
          </p:txBody>
        </p:sp>
        <p:sp>
          <p:nvSpPr>
            <p:cNvPr id="35" name="TextBox 35"/>
            <p:cNvSpPr txBox="1"/>
            <p:nvPr/>
          </p:nvSpPr>
          <p:spPr>
            <a:xfrm>
              <a:off x="5939511" y="3352324"/>
              <a:ext cx="312979"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编码</a:t>
              </a:r>
            </a:p>
          </p:txBody>
        </p:sp>
        <p:sp>
          <p:nvSpPr>
            <p:cNvPr id="36" name="TextBox 36"/>
            <p:cNvSpPr txBox="1"/>
            <p:nvPr/>
          </p:nvSpPr>
          <p:spPr>
            <a:xfrm>
              <a:off x="7253288" y="2711291"/>
              <a:ext cx="864870" cy="412433"/>
            </a:xfrm>
            <a:prstGeom prst="rect">
              <a:avLst/>
            </a:prstGeom>
            <a:noFill/>
            <a:ln>
              <a:noFill/>
            </a:ln>
          </p:spPr>
          <p:txBody>
            <a:bodyPr wrap="none" lIns="0" tIns="0" rIns="0" bIns="0" anchor="t" anchorCtr="0">
              <a:spAutoFit/>
            </a:bodyPr>
            <a:lstStyle/>
            <a:p>
              <a:pPr algn="ctr">
                <a:lnSpc>
                  <a:spcPts val="1515"/>
                </a:lnSpc>
              </a:pPr>
              <a:r>
                <a:rPr lang="zh-CN" sz="1120" dirty="0">
                  <a:solidFill>
                    <a:srgbClr val="1F2937"/>
                  </a:solidFill>
                  <a:latin typeface="+mn-lt"/>
                  <a:ea typeface="+mn-ea"/>
                  <a:cs typeface="+mn-cs"/>
                </a:rPr>
                <a:t>单元测试和集</a:t>
              </a:r>
              <a:br/>
              <a:r>
                <a:rPr lang="zh-CN" sz="1120" dirty="0">
                  <a:solidFill>
                    <a:srgbClr val="1F2937"/>
                  </a:solidFill>
                  <a:latin typeface="+mn-lt"/>
                  <a:ea typeface="+mn-ea"/>
                  <a:cs typeface="+mn-cs"/>
                </a:rPr>
                <a:t>成测试</a:t>
              </a:r>
            </a:p>
          </p:txBody>
        </p:sp>
        <p:sp>
          <p:nvSpPr>
            <p:cNvPr id="37" name="TextBox 37"/>
            <p:cNvSpPr txBox="1"/>
            <p:nvPr/>
          </p:nvSpPr>
          <p:spPr>
            <a:xfrm>
              <a:off x="8967229" y="2262664"/>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系统测试</a:t>
              </a:r>
            </a:p>
          </p:txBody>
        </p:sp>
        <p:sp>
          <p:nvSpPr>
            <p:cNvPr id="38" name="TextBox 38"/>
            <p:cNvSpPr txBox="1"/>
            <p:nvPr/>
          </p:nvSpPr>
          <p:spPr>
            <a:xfrm>
              <a:off x="10556951" y="1717834"/>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验收测试</a:t>
              </a:r>
            </a:p>
          </p:txBody>
        </p:sp>
        <p:sp>
          <p:nvSpPr>
            <p:cNvPr id="39" name="Rectangle 39"/>
            <p:cNvSpPr/>
            <p:nvPr/>
          </p:nvSpPr>
          <p:spPr>
            <a:xfrm>
              <a:off x="5819775" y="1600200"/>
              <a:ext cx="552450" cy="165735"/>
            </a:xfrm>
            <a:prstGeom prst="roundRect">
              <a:avLst>
                <a:gd name="adj" fmla="val 22989"/>
              </a:avLst>
            </a:prstGeom>
            <a:solidFill>
              <a:srgbClr val="FFFFFF"/>
            </a:solidFill>
            <a:ln>
              <a:noFill/>
            </a:ln>
          </p:spPr>
        </p:sp>
        <p:sp>
          <p:nvSpPr>
            <p:cNvPr id="40" name="TextBox 40"/>
            <p:cNvSpPr txBox="1"/>
            <p:nvPr/>
          </p:nvSpPr>
          <p:spPr>
            <a:xfrm>
              <a:off x="5848921" y="1623060"/>
              <a:ext cx="494157"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确认需求</a:t>
              </a:r>
            </a:p>
          </p:txBody>
        </p:sp>
        <p:sp>
          <p:nvSpPr>
            <p:cNvPr id="41" name="Rectangle 41"/>
            <p:cNvSpPr/>
            <p:nvPr/>
          </p:nvSpPr>
          <p:spPr>
            <a:xfrm>
              <a:off x="5819775" y="2145030"/>
              <a:ext cx="552450" cy="165735"/>
            </a:xfrm>
            <a:prstGeom prst="roundRect">
              <a:avLst>
                <a:gd name="adj" fmla="val 22989"/>
              </a:avLst>
            </a:prstGeom>
            <a:solidFill>
              <a:srgbClr val="FFFFFF"/>
            </a:solidFill>
            <a:ln>
              <a:noFill/>
            </a:ln>
          </p:spPr>
        </p:sp>
        <p:sp>
          <p:nvSpPr>
            <p:cNvPr id="42" name="TextBox 42"/>
            <p:cNvSpPr txBox="1"/>
            <p:nvPr/>
          </p:nvSpPr>
          <p:spPr>
            <a:xfrm>
              <a:off x="5848921" y="2167890"/>
              <a:ext cx="494157"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验证设计</a:t>
              </a:r>
            </a:p>
          </p:txBody>
        </p:sp>
        <p:sp>
          <p:nvSpPr>
            <p:cNvPr id="43" name="Rectangle 43"/>
            <p:cNvSpPr/>
            <p:nvPr/>
          </p:nvSpPr>
          <p:spPr>
            <a:xfrm>
              <a:off x="5705475" y="2689860"/>
              <a:ext cx="781050" cy="165735"/>
            </a:xfrm>
            <a:prstGeom prst="roundRect">
              <a:avLst>
                <a:gd name="adj" fmla="val 22989"/>
              </a:avLst>
            </a:prstGeom>
            <a:solidFill>
              <a:srgbClr val="FFFFFF"/>
            </a:solidFill>
            <a:ln>
              <a:noFill/>
            </a:ln>
          </p:spPr>
        </p:sp>
        <p:sp>
          <p:nvSpPr>
            <p:cNvPr id="44" name="TextBox 44"/>
            <p:cNvSpPr txBox="1"/>
            <p:nvPr/>
          </p:nvSpPr>
          <p:spPr>
            <a:xfrm>
              <a:off x="5727764" y="2712720"/>
              <a:ext cx="736473"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校验程序设计</a:t>
              </a:r>
            </a:p>
          </p:txBody>
        </p:sp>
      </p:grpSp>
      <p:grpSp>
        <p:nvGrpSpPr>
          <p:cNvPr id="65" name="c1-table-2"/>
          <p:cNvGrpSpPr/>
          <p:nvPr/>
        </p:nvGrpSpPr>
        <p:grpSpPr>
          <a:xfrm>
            <a:off x="533400" y="3872865"/>
            <a:ext cx="11125200" cy="1600200"/>
            <a:chOff x="533400" y="3872865"/>
            <a:chExt cx="11125200" cy="1600200"/>
          </a:xfrm>
        </p:grpSpPr>
        <p:sp>
          <p:nvSpPr>
            <p:cNvPr id="46" name="Rectangle 46"/>
            <p:cNvSpPr/>
            <p:nvPr/>
          </p:nvSpPr>
          <p:spPr>
            <a:xfrm>
              <a:off x="533400" y="3872865"/>
              <a:ext cx="11125200" cy="400050"/>
            </a:xfrm>
            <a:prstGeom prst="rect">
              <a:avLst/>
            </a:prstGeom>
            <a:solidFill>
              <a:srgbClr val="334E68"/>
            </a:solidFill>
            <a:ln>
              <a:noFill/>
            </a:ln>
          </p:spPr>
        </p:sp>
        <p:sp>
          <p:nvSpPr>
            <p:cNvPr id="47" name="TextBox 47"/>
            <p:cNvSpPr txBox="1"/>
            <p:nvPr/>
          </p:nvSpPr>
          <p:spPr>
            <a:xfrm>
              <a:off x="1557312" y="3994309"/>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左侧的构造活动</a:t>
              </a:r>
            </a:p>
          </p:txBody>
        </p:sp>
        <p:sp>
          <p:nvSpPr>
            <p:cNvPr id="48" name="TextBox 48"/>
            <p:cNvSpPr txBox="1"/>
            <p:nvPr/>
          </p:nvSpPr>
          <p:spPr>
            <a:xfrm>
              <a:off x="4783430" y="3994309"/>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右侧的验证活动</a:t>
              </a:r>
            </a:p>
          </p:txBody>
        </p:sp>
        <p:sp>
          <p:nvSpPr>
            <p:cNvPr id="49" name="TextBox 49"/>
            <p:cNvSpPr txBox="1"/>
            <p:nvPr/>
          </p:nvSpPr>
          <p:spPr>
            <a:xfrm>
              <a:off x="9014854" y="3994309"/>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对应关系</a:t>
              </a:r>
            </a:p>
          </p:txBody>
        </p:sp>
        <p:sp>
          <p:nvSpPr>
            <p:cNvPr id="50" name="TextBox 50"/>
            <p:cNvSpPr txBox="1"/>
            <p:nvPr/>
          </p:nvSpPr>
          <p:spPr>
            <a:xfrm>
              <a:off x="630555" y="4394359"/>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需求分析</a:t>
              </a:r>
            </a:p>
          </p:txBody>
        </p:sp>
        <p:sp>
          <p:nvSpPr>
            <p:cNvPr id="51" name="TextBox 51"/>
            <p:cNvSpPr txBox="1"/>
            <p:nvPr/>
          </p:nvSpPr>
          <p:spPr>
            <a:xfrm>
              <a:off x="3745230" y="4394359"/>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验收测试</a:t>
              </a:r>
            </a:p>
          </p:txBody>
        </p:sp>
        <p:sp>
          <p:nvSpPr>
            <p:cNvPr id="52" name="TextBox 52"/>
            <p:cNvSpPr txBox="1"/>
            <p:nvPr/>
          </p:nvSpPr>
          <p:spPr>
            <a:xfrm>
              <a:off x="7082790" y="4394359"/>
              <a:ext cx="150409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确认（validate）需求</a:t>
              </a:r>
            </a:p>
          </p:txBody>
        </p:sp>
        <p:sp>
          <p:nvSpPr>
            <p:cNvPr id="53" name="Rectangle 53"/>
            <p:cNvSpPr/>
            <p:nvPr/>
          </p:nvSpPr>
          <p:spPr>
            <a:xfrm>
              <a:off x="533400" y="4668202"/>
              <a:ext cx="11125200" cy="9525"/>
            </a:xfrm>
            <a:prstGeom prst="rect">
              <a:avLst/>
            </a:prstGeom>
            <a:solidFill>
              <a:srgbClr val="D9DFEA"/>
            </a:solidFill>
            <a:ln>
              <a:noFill/>
            </a:ln>
          </p:spPr>
        </p:sp>
        <p:sp>
          <p:nvSpPr>
            <p:cNvPr id="54" name="Rectangle 54"/>
            <p:cNvSpPr/>
            <p:nvPr/>
          </p:nvSpPr>
          <p:spPr>
            <a:xfrm>
              <a:off x="533400" y="4672965"/>
              <a:ext cx="11125200" cy="400050"/>
            </a:xfrm>
            <a:prstGeom prst="rect">
              <a:avLst/>
            </a:prstGeom>
            <a:solidFill>
              <a:srgbClr val="F4F6FB"/>
            </a:solidFill>
            <a:ln>
              <a:noFill/>
            </a:ln>
          </p:spPr>
        </p:sp>
        <p:sp>
          <p:nvSpPr>
            <p:cNvPr id="55" name="TextBox 55"/>
            <p:cNvSpPr txBox="1"/>
            <p:nvPr/>
          </p:nvSpPr>
          <p:spPr>
            <a:xfrm>
              <a:off x="630555" y="4794409"/>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系统设计</a:t>
              </a:r>
            </a:p>
          </p:txBody>
        </p:sp>
        <p:sp>
          <p:nvSpPr>
            <p:cNvPr id="56" name="TextBox 56"/>
            <p:cNvSpPr txBox="1"/>
            <p:nvPr/>
          </p:nvSpPr>
          <p:spPr>
            <a:xfrm>
              <a:off x="3745230" y="4794409"/>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系统测试</a:t>
              </a:r>
            </a:p>
          </p:txBody>
        </p:sp>
        <p:sp>
          <p:nvSpPr>
            <p:cNvPr id="57" name="TextBox 57"/>
            <p:cNvSpPr txBox="1"/>
            <p:nvPr/>
          </p:nvSpPr>
          <p:spPr>
            <a:xfrm>
              <a:off x="7082790" y="4794409"/>
              <a:ext cx="167748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校验（verify）系统设计</a:t>
              </a:r>
            </a:p>
          </p:txBody>
        </p:sp>
        <p:sp>
          <p:nvSpPr>
            <p:cNvPr id="58" name="Rectangle 58"/>
            <p:cNvSpPr/>
            <p:nvPr/>
          </p:nvSpPr>
          <p:spPr>
            <a:xfrm>
              <a:off x="533400" y="5068252"/>
              <a:ext cx="11125200" cy="9525"/>
            </a:xfrm>
            <a:prstGeom prst="rect">
              <a:avLst/>
            </a:prstGeom>
            <a:solidFill>
              <a:srgbClr val="D9DFEA"/>
            </a:solidFill>
            <a:ln>
              <a:noFill/>
            </a:ln>
          </p:spPr>
        </p:sp>
        <p:sp>
          <p:nvSpPr>
            <p:cNvPr id="59" name="TextBox 59"/>
            <p:cNvSpPr txBox="1"/>
            <p:nvPr/>
          </p:nvSpPr>
          <p:spPr>
            <a:xfrm>
              <a:off x="630555" y="5194459"/>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程序设计</a:t>
              </a:r>
            </a:p>
          </p:txBody>
        </p:sp>
        <p:sp>
          <p:nvSpPr>
            <p:cNvPr id="60" name="TextBox 60"/>
            <p:cNvSpPr txBox="1"/>
            <p:nvPr/>
          </p:nvSpPr>
          <p:spPr>
            <a:xfrm>
              <a:off x="3745230" y="5194459"/>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单元测试和集成测试</a:t>
              </a:r>
            </a:p>
          </p:txBody>
        </p:sp>
        <p:sp>
          <p:nvSpPr>
            <p:cNvPr id="61" name="TextBox 61"/>
            <p:cNvSpPr txBox="1"/>
            <p:nvPr/>
          </p:nvSpPr>
          <p:spPr>
            <a:xfrm>
              <a:off x="7082790" y="5194459"/>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校验程序设计</a:t>
              </a:r>
            </a:p>
          </p:txBody>
        </p:sp>
        <p:sp>
          <p:nvSpPr>
            <p:cNvPr id="62" name="Rectangle 62"/>
            <p:cNvSpPr/>
            <p:nvPr/>
          </p:nvSpPr>
          <p:spPr>
            <a:xfrm>
              <a:off x="533400" y="3872865"/>
              <a:ext cx="11125200" cy="1600200"/>
            </a:xfrm>
            <a:prstGeom prst="rect">
              <a:avLst/>
            </a:prstGeom>
            <a:noFill/>
            <a:ln w="14288">
              <a:solidFill>
                <a:srgbClr val="D9DFEA"/>
              </a:solidFill>
            </a:ln>
          </p:spPr>
        </p:sp>
        <p:sp>
          <p:nvSpPr>
            <p:cNvPr id="63" name="Rectangle 63"/>
            <p:cNvSpPr/>
            <p:nvPr/>
          </p:nvSpPr>
          <p:spPr>
            <a:xfrm>
              <a:off x="3643312" y="3872865"/>
              <a:ext cx="9525" cy="1600200"/>
            </a:xfrm>
            <a:prstGeom prst="rect">
              <a:avLst/>
            </a:prstGeom>
            <a:solidFill>
              <a:srgbClr val="D9DFEA"/>
            </a:solidFill>
            <a:ln>
              <a:noFill/>
            </a:ln>
          </p:spPr>
        </p:sp>
        <p:sp>
          <p:nvSpPr>
            <p:cNvPr id="64" name="Rectangle 64"/>
            <p:cNvSpPr/>
            <p:nvPr/>
          </p:nvSpPr>
          <p:spPr>
            <a:xfrm>
              <a:off x="6980872" y="3872865"/>
              <a:ext cx="9525" cy="1600200"/>
            </a:xfrm>
            <a:prstGeom prst="rect">
              <a:avLst/>
            </a:prstGeom>
            <a:solidFill>
              <a:srgbClr val="D9DFEA"/>
            </a:solidFill>
            <a:ln>
              <a:noFill/>
            </a:ln>
          </p:spPr>
        </p:sp>
      </p:grpSp>
      <p:grpSp>
        <p:nvGrpSpPr>
          <p:cNvPr id="71" name="takeaway"/>
          <p:cNvGrpSpPr/>
          <p:nvPr/>
        </p:nvGrpSpPr>
        <p:grpSpPr>
          <a:xfrm>
            <a:off x="533400" y="5881688"/>
            <a:ext cx="11125200" cy="481012"/>
            <a:chOff x="533400" y="5881688"/>
            <a:chExt cx="11125200" cy="481012"/>
          </a:xfrm>
        </p:grpSpPr>
        <p:sp>
          <p:nvSpPr>
            <p:cNvPr id="66" name="Rectangle 66"/>
            <p:cNvSpPr/>
            <p:nvPr/>
          </p:nvSpPr>
          <p:spPr>
            <a:xfrm>
              <a:off x="533400" y="5881688"/>
              <a:ext cx="11125200" cy="481012"/>
            </a:xfrm>
            <a:prstGeom prst="roundRect">
              <a:avLst>
                <a:gd name="adj" fmla="val 23762"/>
              </a:avLst>
            </a:prstGeom>
            <a:solidFill>
              <a:srgbClr val="334E68"/>
            </a:solidFill>
            <a:ln>
              <a:noFill/>
            </a:ln>
          </p:spPr>
        </p:sp>
        <p:grpSp>
          <p:nvGrpSpPr>
            <p:cNvPr id="69" name="Group 69"/>
            <p:cNvGrpSpPr/>
            <p:nvPr/>
          </p:nvGrpSpPr>
          <p:grpSpPr>
            <a:xfrm>
              <a:off x="738188" y="6022660"/>
              <a:ext cx="200023" cy="200023"/>
              <a:chOff x="738188" y="6022660"/>
              <a:chExt cx="200023" cy="200023"/>
            </a:xfrm>
          </p:grpSpPr>
          <p:sp>
            <p:nvSpPr>
              <p:cNvPr id="67" name="Freeform 67"/>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8" name="Freeform 68"/>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0" name="TextBox 70"/>
            <p:cNvSpPr txBox="1"/>
            <p:nvPr/>
          </p:nvSpPr>
          <p:spPr>
            <a:xfrm>
              <a:off x="1040892" y="6028373"/>
              <a:ext cx="803071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瀑布模型关注文档和工作产品，V 模型关注各阶段的活动及其正确性，所以说 V 模型是活动驱动的。</a:t>
              </a:r>
            </a:p>
          </p:txBody>
        </p:sp>
      </p:grpSp>
      <p:grpSp>
        <p:nvGrpSpPr>
          <p:cNvPr id="74" name="footer"/>
          <p:cNvGrpSpPr/>
          <p:nvPr/>
        </p:nvGrpSpPr>
        <p:grpSpPr>
          <a:xfrm>
            <a:off x="528447" y="6581299"/>
            <a:ext cx="11135106" cy="190690"/>
            <a:chOff x="528447" y="6581299"/>
            <a:chExt cx="11135106" cy="190690"/>
          </a:xfrm>
        </p:grpSpPr>
        <p:sp>
          <p:nvSpPr>
            <p:cNvPr id="72" name="TextBox 72"/>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73" name="TextBox 7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31</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42124" cy="909257"/>
            <a:chOff x="520446" y="342900"/>
            <a:chExt cx="5842124"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软件过程与传统过程模型</a:t>
              </a:r>
            </a:p>
          </p:txBody>
        </p:sp>
        <p:sp>
          <p:nvSpPr>
            <p:cNvPr id="4" name="TextBox 4"/>
            <p:cNvSpPr txBox="1"/>
            <p:nvPr/>
          </p:nvSpPr>
          <p:spPr>
            <a:xfrm>
              <a:off x="520446" y="753428"/>
              <a:ext cx="584212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V 模型改良了什么，又留下了什么问题</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5" name="c1-card-1"/>
          <p:cNvGrpSpPr/>
          <p:nvPr/>
        </p:nvGrpSpPr>
        <p:grpSpPr>
          <a:xfrm>
            <a:off x="533400" y="1524000"/>
            <a:ext cx="5626418" cy="1743075"/>
            <a:chOff x="533400" y="1524000"/>
            <a:chExt cx="5626418" cy="1743075"/>
          </a:xfrm>
        </p:grpSpPr>
        <p:sp>
          <p:nvSpPr>
            <p:cNvPr id="7" name="Rectangle 7"/>
            <p:cNvSpPr/>
            <p:nvPr/>
          </p:nvSpPr>
          <p:spPr>
            <a:xfrm>
              <a:off x="533400" y="1524000"/>
              <a:ext cx="5626418" cy="1743075"/>
            </a:xfrm>
            <a:prstGeom prst="roundRect">
              <a:avLst>
                <a:gd name="adj" fmla="val 7650"/>
              </a:avLst>
            </a:prstGeom>
            <a:solidFill>
              <a:srgbClr val="FFFFFF"/>
            </a:solidFill>
            <a:ln w="14288">
              <a:solidFill>
                <a:srgbClr val="D9DFEA"/>
              </a:solidFill>
            </a:ln>
          </p:spPr>
        </p:sp>
        <p:sp>
          <p:nvSpPr>
            <p:cNvPr id="8" name="Rectangle 8"/>
            <p:cNvSpPr/>
            <p:nvPr/>
          </p:nvSpPr>
          <p:spPr>
            <a:xfrm>
              <a:off x="542925" y="1657350"/>
              <a:ext cx="47625" cy="1476375"/>
            </a:xfrm>
            <a:prstGeom prst="roundRect">
              <a:avLst>
                <a:gd name="adj" fmla="val 50000"/>
              </a:avLst>
            </a:prstGeom>
            <a:solidFill>
              <a:srgbClr val="14A38B"/>
            </a:solidFill>
            <a:ln>
              <a:noFill/>
            </a:ln>
          </p:spPr>
        </p:sp>
        <p:sp>
          <p:nvSpPr>
            <p:cNvPr id="9" name="Rectangle 9"/>
            <p:cNvSpPr/>
            <p:nvPr/>
          </p:nvSpPr>
          <p:spPr>
            <a:xfrm>
              <a:off x="758190" y="1710690"/>
              <a:ext cx="707708" cy="238125"/>
            </a:xfrm>
            <a:prstGeom prst="roundRect">
              <a:avLst>
                <a:gd name="adj" fmla="val 50000"/>
              </a:avLst>
            </a:prstGeom>
            <a:solidFill>
              <a:srgbClr val="E3F5F1"/>
            </a:solidFill>
            <a:ln>
              <a:noFill/>
            </a:ln>
          </p:spPr>
        </p:sp>
        <p:sp>
          <p:nvSpPr>
            <p:cNvPr id="10" name="TextBox 10"/>
            <p:cNvSpPr txBox="1"/>
            <p:nvPr/>
          </p:nvSpPr>
          <p:spPr>
            <a:xfrm>
              <a:off x="842759" y="1743551"/>
              <a:ext cx="537616"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改良之处</a:t>
              </a:r>
            </a:p>
          </p:txBody>
        </p:sp>
        <p:sp>
          <p:nvSpPr>
            <p:cNvPr id="11" name="Ellipse 11"/>
            <p:cNvSpPr/>
            <p:nvPr/>
          </p:nvSpPr>
          <p:spPr>
            <a:xfrm>
              <a:off x="766762" y="2110740"/>
              <a:ext cx="59055" cy="59055"/>
            </a:xfrm>
            <a:prstGeom prst="ellipse">
              <a:avLst/>
            </a:prstGeom>
            <a:solidFill>
              <a:srgbClr val="334E68"/>
            </a:solidFill>
            <a:ln>
              <a:noFill/>
            </a:ln>
          </p:spPr>
        </p:sp>
        <p:sp>
          <p:nvSpPr>
            <p:cNvPr id="12" name="TextBox 12"/>
            <p:cNvSpPr txBox="1"/>
            <p:nvPr/>
          </p:nvSpPr>
          <p:spPr>
            <a:xfrm>
              <a:off x="922782" y="2054542"/>
              <a:ext cx="48143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把瀑布模型中一些隐含的迭代过程明确出来，使开发活动和验证</a:t>
              </a:r>
              <a:br/>
              <a:r>
                <a:rPr lang="zh-CN" sz="1350" dirty="0">
                  <a:solidFill>
                    <a:srgbClr val="1F2937"/>
                  </a:solidFill>
                  <a:latin typeface="+mn-lt"/>
                  <a:ea typeface="+mn-ea"/>
                  <a:cs typeface="+mn-cs"/>
                </a:rPr>
                <a:t>活动的相关性更加明显</a:t>
              </a:r>
            </a:p>
          </p:txBody>
        </p:sp>
        <p:sp>
          <p:nvSpPr>
            <p:cNvPr id="13" name="Ellipse 13"/>
            <p:cNvSpPr/>
            <p:nvPr/>
          </p:nvSpPr>
          <p:spPr>
            <a:xfrm>
              <a:off x="766762" y="2668905"/>
              <a:ext cx="59055" cy="59055"/>
            </a:xfrm>
            <a:prstGeom prst="ellipse">
              <a:avLst/>
            </a:prstGeom>
            <a:solidFill>
              <a:srgbClr val="334E68"/>
            </a:solidFill>
            <a:ln>
              <a:noFill/>
            </a:ln>
          </p:spPr>
        </p:sp>
        <p:sp>
          <p:nvSpPr>
            <p:cNvPr id="14" name="TextBox 14"/>
            <p:cNvSpPr txBox="1"/>
            <p:nvPr/>
          </p:nvSpPr>
          <p:spPr>
            <a:xfrm>
              <a:off x="922782" y="2612708"/>
              <a:ext cx="48143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抽象等级的概念更明显：从需求到实现的活动在建立越来越详细</a:t>
              </a:r>
              <a:br/>
              <a:r>
                <a:rPr lang="zh-CN" sz="1350" dirty="0">
                  <a:solidFill>
                    <a:srgbClr val="1F2937"/>
                  </a:solidFill>
                  <a:latin typeface="+mn-lt"/>
                  <a:ea typeface="+mn-ea"/>
                  <a:cs typeface="+mn-cs"/>
                </a:rPr>
                <a:t>的系统表述，从实现到交付运行的活动在对系统做验证和确认</a:t>
              </a:r>
            </a:p>
          </p:txBody>
        </p:sp>
      </p:grpSp>
      <p:grpSp>
        <p:nvGrpSpPr>
          <p:cNvPr id="21" name="c1-card-2"/>
          <p:cNvGrpSpPr/>
          <p:nvPr/>
        </p:nvGrpSpPr>
        <p:grpSpPr>
          <a:xfrm>
            <a:off x="533400" y="3436620"/>
            <a:ext cx="5626418" cy="1185862"/>
            <a:chOff x="533400" y="3436620"/>
            <a:chExt cx="5626418" cy="1185862"/>
          </a:xfrm>
        </p:grpSpPr>
        <p:sp>
          <p:nvSpPr>
            <p:cNvPr id="16" name="Rectangle 16"/>
            <p:cNvSpPr/>
            <p:nvPr/>
          </p:nvSpPr>
          <p:spPr>
            <a:xfrm>
              <a:off x="533400" y="3436620"/>
              <a:ext cx="5626418" cy="1185862"/>
            </a:xfrm>
            <a:prstGeom prst="roundRect">
              <a:avLst>
                <a:gd name="adj" fmla="val 11245"/>
              </a:avLst>
            </a:prstGeom>
            <a:solidFill>
              <a:srgbClr val="FFFFFF"/>
            </a:solidFill>
            <a:ln w="14288">
              <a:solidFill>
                <a:srgbClr val="D9DFEA"/>
              </a:solidFill>
            </a:ln>
          </p:spPr>
        </p:sp>
        <p:sp>
          <p:nvSpPr>
            <p:cNvPr id="17" name="Rectangle 17"/>
            <p:cNvSpPr/>
            <p:nvPr/>
          </p:nvSpPr>
          <p:spPr>
            <a:xfrm>
              <a:off x="542925" y="3569970"/>
              <a:ext cx="47625" cy="919162"/>
            </a:xfrm>
            <a:prstGeom prst="roundRect">
              <a:avLst>
                <a:gd name="adj" fmla="val 50000"/>
              </a:avLst>
            </a:prstGeom>
            <a:solidFill>
              <a:srgbClr val="B42318"/>
            </a:solidFill>
            <a:ln>
              <a:noFill/>
            </a:ln>
          </p:spPr>
        </p:sp>
        <p:sp>
          <p:nvSpPr>
            <p:cNvPr id="18" name="Rectangle 18"/>
            <p:cNvSpPr/>
            <p:nvPr/>
          </p:nvSpPr>
          <p:spPr>
            <a:xfrm>
              <a:off x="758190" y="3623310"/>
              <a:ext cx="831532" cy="238125"/>
            </a:xfrm>
            <a:prstGeom prst="roundRect">
              <a:avLst>
                <a:gd name="adj" fmla="val 50000"/>
              </a:avLst>
            </a:prstGeom>
            <a:solidFill>
              <a:srgbClr val="FDECEA"/>
            </a:solidFill>
            <a:ln>
              <a:noFill/>
            </a:ln>
          </p:spPr>
        </p:sp>
        <p:sp>
          <p:nvSpPr>
            <p:cNvPr id="19" name="TextBox 19"/>
            <p:cNvSpPr txBox="1"/>
            <p:nvPr/>
          </p:nvSpPr>
          <p:spPr>
            <a:xfrm>
              <a:off x="839660" y="3656171"/>
              <a:ext cx="669544"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存在的问题</a:t>
              </a:r>
            </a:p>
          </p:txBody>
        </p:sp>
        <p:sp>
          <p:nvSpPr>
            <p:cNvPr id="20" name="TextBox 20"/>
            <p:cNvSpPr txBox="1"/>
            <p:nvPr/>
          </p:nvSpPr>
          <p:spPr>
            <a:xfrm>
              <a:off x="751332" y="3968115"/>
              <a:ext cx="4985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和瀑布模型一样，都是对软件开发过程过分简单、理想化的抽象，</a:t>
              </a:r>
              <a:br/>
              <a:r>
                <a:rPr lang="zh-CN" sz="1350" dirty="0">
                  <a:solidFill>
                    <a:srgbClr val="1F2937"/>
                  </a:solidFill>
                  <a:latin typeface="+mn-lt"/>
                  <a:ea typeface="+mn-ea"/>
                  <a:cs typeface="+mn-cs"/>
                </a:rPr>
                <a:t>对需求变化的适应性差。</a:t>
              </a:r>
            </a:p>
          </p:txBody>
        </p:sp>
      </p:grpSp>
      <p:grpSp>
        <p:nvGrpSpPr>
          <p:cNvPr id="28" name="c1-callout-3"/>
          <p:cNvGrpSpPr/>
          <p:nvPr/>
        </p:nvGrpSpPr>
        <p:grpSpPr>
          <a:xfrm>
            <a:off x="533400" y="4792980"/>
            <a:ext cx="5626418" cy="1286828"/>
            <a:chOff x="533400" y="4792980"/>
            <a:chExt cx="5626418" cy="1286828"/>
          </a:xfrm>
        </p:grpSpPr>
        <p:sp>
          <p:nvSpPr>
            <p:cNvPr id="22" name="Rectangle 22"/>
            <p:cNvSpPr/>
            <p:nvPr/>
          </p:nvSpPr>
          <p:spPr>
            <a:xfrm>
              <a:off x="533400" y="4792980"/>
              <a:ext cx="5626418" cy="1286828"/>
            </a:xfrm>
            <a:prstGeom prst="roundRect">
              <a:avLst>
                <a:gd name="adj" fmla="val 8882"/>
              </a:avLst>
            </a:prstGeom>
            <a:solidFill>
              <a:srgbClr val="FDEEE7"/>
            </a:solidFill>
            <a:ln>
              <a:noFill/>
            </a:ln>
          </p:spPr>
        </p:sp>
        <p:grpSp>
          <p:nvGrpSpPr>
            <p:cNvPr id="26" name="Group 26"/>
            <p:cNvGrpSpPr/>
            <p:nvPr/>
          </p:nvGrpSpPr>
          <p:grpSpPr>
            <a:xfrm>
              <a:off x="738188" y="5335905"/>
              <a:ext cx="200026" cy="200025"/>
              <a:chOff x="738188" y="5335905"/>
              <a:chExt cx="200026" cy="200025"/>
            </a:xfrm>
          </p:grpSpPr>
          <p:sp>
            <p:nvSpPr>
              <p:cNvPr id="23" name="Freeform 23"/>
              <p:cNvSpPr/>
              <p:nvPr/>
            </p:nvSpPr>
            <p:spPr>
              <a:xfrm>
                <a:off x="738188" y="533590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24" name="Freeform 24"/>
              <p:cNvSpPr/>
              <p:nvPr/>
            </p:nvSpPr>
            <p:spPr>
              <a:xfrm>
                <a:off x="777926" y="538035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25" name="Freeform 25"/>
              <p:cNvSpPr/>
              <p:nvPr/>
            </p:nvSpPr>
            <p:spPr>
              <a:xfrm>
                <a:off x="812642" y="549148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27" name="TextBox 27"/>
            <p:cNvSpPr txBox="1"/>
            <p:nvPr/>
          </p:nvSpPr>
          <p:spPr>
            <a:xfrm>
              <a:off x="1040892" y="5217795"/>
              <a:ext cx="466858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实际用 V 模型时，右侧每一级的测试计划在左侧对应阶段就写</a:t>
              </a:r>
              <a:br/>
              <a:r>
                <a:rPr lang="zh-CN" sz="1350" dirty="0">
                  <a:solidFill>
                    <a:srgbClr val="C2410C"/>
                  </a:solidFill>
                  <a:latin typeface="+mn-lt"/>
                  <a:ea typeface="+mn-ea"/>
                  <a:cs typeface="+mn-cs"/>
                </a:rPr>
                <a:t>好，这样测试依据和设计文档同步产生。</a:t>
              </a:r>
            </a:p>
          </p:txBody>
        </p:sp>
      </p:grpSp>
      <p:grpSp>
        <p:nvGrpSpPr>
          <p:cNvPr id="50" name="c2-table-1"/>
          <p:cNvGrpSpPr/>
          <p:nvPr/>
        </p:nvGrpSpPr>
        <p:grpSpPr>
          <a:xfrm>
            <a:off x="6464618" y="1524000"/>
            <a:ext cx="5193982" cy="2000250"/>
            <a:chOff x="6464618" y="1524000"/>
            <a:chExt cx="5193982" cy="2000250"/>
          </a:xfrm>
        </p:grpSpPr>
        <p:sp>
          <p:nvSpPr>
            <p:cNvPr id="29" name="Rectangle 29"/>
            <p:cNvSpPr/>
            <p:nvPr/>
          </p:nvSpPr>
          <p:spPr>
            <a:xfrm>
              <a:off x="6464618" y="1524000"/>
              <a:ext cx="5193982" cy="400050"/>
            </a:xfrm>
            <a:prstGeom prst="rect">
              <a:avLst/>
            </a:prstGeom>
            <a:solidFill>
              <a:srgbClr val="334E68"/>
            </a:solidFill>
            <a:ln>
              <a:noFill/>
            </a:ln>
          </p:spPr>
        </p:sp>
        <p:sp>
          <p:nvSpPr>
            <p:cNvPr id="30" name="TextBox 30"/>
            <p:cNvSpPr txBox="1"/>
            <p:nvPr/>
          </p:nvSpPr>
          <p:spPr>
            <a:xfrm>
              <a:off x="6770040" y="1645444"/>
              <a:ext cx="324509"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Tips</a:t>
              </a:r>
            </a:p>
          </p:txBody>
        </p:sp>
        <p:sp>
          <p:nvSpPr>
            <p:cNvPr id="31" name="TextBox 31"/>
            <p:cNvSpPr txBox="1"/>
            <p:nvPr/>
          </p:nvSpPr>
          <p:spPr>
            <a:xfrm>
              <a:off x="7819269" y="1645444"/>
              <a:ext cx="1291197"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验证 Verification</a:t>
              </a:r>
            </a:p>
          </p:txBody>
        </p:sp>
        <p:sp>
          <p:nvSpPr>
            <p:cNvPr id="32" name="TextBox 32"/>
            <p:cNvSpPr txBox="1"/>
            <p:nvPr/>
          </p:nvSpPr>
          <p:spPr>
            <a:xfrm>
              <a:off x="10035212" y="1645444"/>
              <a:ext cx="1116985"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确认 Validation</a:t>
              </a:r>
            </a:p>
          </p:txBody>
        </p:sp>
        <p:sp>
          <p:nvSpPr>
            <p:cNvPr id="33" name="TextBox 33"/>
            <p:cNvSpPr txBox="1"/>
            <p:nvPr/>
          </p:nvSpPr>
          <p:spPr>
            <a:xfrm>
              <a:off x="6561772" y="2145506"/>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目标</a:t>
              </a:r>
            </a:p>
          </p:txBody>
        </p:sp>
        <p:sp>
          <p:nvSpPr>
            <p:cNvPr id="34" name="TextBox 34"/>
            <p:cNvSpPr txBox="1"/>
            <p:nvPr/>
          </p:nvSpPr>
          <p:spPr>
            <a:xfrm>
              <a:off x="7497128" y="2045494"/>
              <a:ext cx="171831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确定系统中各项功能可以正</a:t>
              </a:r>
              <a:br/>
              <a:r>
                <a:rPr lang="zh-CN" sz="1120" dirty="0">
                  <a:solidFill>
                    <a:srgbClr val="1F2937"/>
                  </a:solidFill>
                  <a:latin typeface="+mn-lt"/>
                  <a:ea typeface="+mn-ea"/>
                  <a:cs typeface="+mn-cs"/>
                </a:rPr>
                <a:t>常工作</a:t>
              </a:r>
            </a:p>
          </p:txBody>
        </p:sp>
        <p:sp>
          <p:nvSpPr>
            <p:cNvPr id="35" name="TextBox 35"/>
            <p:cNvSpPr txBox="1"/>
            <p:nvPr/>
          </p:nvSpPr>
          <p:spPr>
            <a:xfrm>
              <a:off x="9625965" y="2145506"/>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确定系统实现了全部的需求</a:t>
              </a:r>
            </a:p>
          </p:txBody>
        </p:sp>
        <p:sp>
          <p:nvSpPr>
            <p:cNvPr id="36" name="Rectangle 36"/>
            <p:cNvSpPr/>
            <p:nvPr/>
          </p:nvSpPr>
          <p:spPr>
            <a:xfrm>
              <a:off x="6464618" y="2519362"/>
              <a:ext cx="5193982" cy="9525"/>
            </a:xfrm>
            <a:prstGeom prst="rect">
              <a:avLst/>
            </a:prstGeom>
            <a:solidFill>
              <a:srgbClr val="D9DFEA"/>
            </a:solidFill>
            <a:ln>
              <a:noFill/>
            </a:ln>
          </p:spPr>
        </p:sp>
        <p:sp>
          <p:nvSpPr>
            <p:cNvPr id="37" name="Rectangle 37"/>
            <p:cNvSpPr/>
            <p:nvPr/>
          </p:nvSpPr>
          <p:spPr>
            <a:xfrm>
              <a:off x="6464618" y="2524125"/>
              <a:ext cx="5193982" cy="600075"/>
            </a:xfrm>
            <a:prstGeom prst="rect">
              <a:avLst/>
            </a:prstGeom>
            <a:solidFill>
              <a:srgbClr val="F4F6FB"/>
            </a:solidFill>
            <a:ln>
              <a:noFill/>
            </a:ln>
          </p:spPr>
        </p:sp>
        <p:sp>
          <p:nvSpPr>
            <p:cNvPr id="38" name="TextBox 38"/>
            <p:cNvSpPr txBox="1"/>
            <p:nvPr/>
          </p:nvSpPr>
          <p:spPr>
            <a:xfrm>
              <a:off x="6561772" y="2745581"/>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实质</a:t>
              </a:r>
            </a:p>
          </p:txBody>
        </p:sp>
        <p:sp>
          <p:nvSpPr>
            <p:cNvPr id="39" name="TextBox 39"/>
            <p:cNvSpPr txBox="1"/>
            <p:nvPr/>
          </p:nvSpPr>
          <p:spPr>
            <a:xfrm>
              <a:off x="7497128" y="2745581"/>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检查实现的质量如何</a:t>
              </a:r>
            </a:p>
          </p:txBody>
        </p:sp>
        <p:sp>
          <p:nvSpPr>
            <p:cNvPr id="40" name="TextBox 40"/>
            <p:cNvSpPr txBox="1"/>
            <p:nvPr/>
          </p:nvSpPr>
          <p:spPr>
            <a:xfrm>
              <a:off x="9625965" y="2645569"/>
              <a:ext cx="157607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确保开发方建造的是正确</a:t>
              </a:r>
              <a:br/>
              <a:r>
                <a:rPr lang="zh-CN" sz="1120" dirty="0">
                  <a:solidFill>
                    <a:srgbClr val="1F2937"/>
                  </a:solidFill>
                  <a:latin typeface="+mn-lt"/>
                  <a:ea typeface="+mn-ea"/>
                  <a:cs typeface="+mn-cs"/>
                </a:rPr>
                <a:t>的、用户需要的产品</a:t>
              </a:r>
            </a:p>
          </p:txBody>
        </p:sp>
        <p:sp>
          <p:nvSpPr>
            <p:cNvPr id="41" name="Rectangle 41"/>
            <p:cNvSpPr/>
            <p:nvPr/>
          </p:nvSpPr>
          <p:spPr>
            <a:xfrm>
              <a:off x="6464618" y="3119438"/>
              <a:ext cx="5193982" cy="9525"/>
            </a:xfrm>
            <a:prstGeom prst="rect">
              <a:avLst/>
            </a:prstGeom>
            <a:solidFill>
              <a:srgbClr val="D9DFEA"/>
            </a:solidFill>
            <a:ln>
              <a:noFill/>
            </a:ln>
          </p:spPr>
        </p:sp>
        <p:sp>
          <p:nvSpPr>
            <p:cNvPr id="42" name="TextBox 42"/>
            <p:cNvSpPr txBox="1"/>
            <p:nvPr/>
          </p:nvSpPr>
          <p:spPr>
            <a:xfrm>
              <a:off x="6561772" y="3245644"/>
              <a:ext cx="46375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一句话</a:t>
              </a:r>
            </a:p>
          </p:txBody>
        </p:sp>
        <p:sp>
          <p:nvSpPr>
            <p:cNvPr id="43" name="Rectangle 43"/>
            <p:cNvSpPr/>
            <p:nvPr/>
          </p:nvSpPr>
          <p:spPr>
            <a:xfrm>
              <a:off x="7409498" y="3133725"/>
              <a:ext cx="2110740" cy="381000"/>
            </a:xfrm>
            <a:prstGeom prst="rect">
              <a:avLst/>
            </a:prstGeom>
            <a:solidFill>
              <a:srgbClr val="E7EDF3"/>
            </a:solidFill>
            <a:ln>
              <a:noFill/>
            </a:ln>
          </p:spPr>
        </p:sp>
        <p:sp>
          <p:nvSpPr>
            <p:cNvPr id="44" name="TextBox 44"/>
            <p:cNvSpPr txBox="1"/>
            <p:nvPr/>
          </p:nvSpPr>
          <p:spPr>
            <a:xfrm>
              <a:off x="7497128" y="3245644"/>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是否正确地构造了产品</a:t>
              </a:r>
            </a:p>
          </p:txBody>
        </p:sp>
        <p:sp>
          <p:nvSpPr>
            <p:cNvPr id="45" name="Rectangle 45"/>
            <p:cNvSpPr/>
            <p:nvPr/>
          </p:nvSpPr>
          <p:spPr>
            <a:xfrm>
              <a:off x="9538335" y="3133725"/>
              <a:ext cx="2110740" cy="381000"/>
            </a:xfrm>
            <a:prstGeom prst="rect">
              <a:avLst/>
            </a:prstGeom>
            <a:solidFill>
              <a:srgbClr val="E7EDF3"/>
            </a:solidFill>
            <a:ln>
              <a:noFill/>
            </a:ln>
          </p:spPr>
        </p:sp>
        <p:sp>
          <p:nvSpPr>
            <p:cNvPr id="46" name="TextBox 46"/>
            <p:cNvSpPr txBox="1"/>
            <p:nvPr/>
          </p:nvSpPr>
          <p:spPr>
            <a:xfrm>
              <a:off x="9625965" y="3245644"/>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是否构造了正确的产品</a:t>
              </a:r>
            </a:p>
          </p:txBody>
        </p:sp>
        <p:sp>
          <p:nvSpPr>
            <p:cNvPr id="47" name="Rectangle 47"/>
            <p:cNvSpPr/>
            <p:nvPr/>
          </p:nvSpPr>
          <p:spPr>
            <a:xfrm>
              <a:off x="6464618" y="1524000"/>
              <a:ext cx="5193982" cy="2000250"/>
            </a:xfrm>
            <a:prstGeom prst="rect">
              <a:avLst/>
            </a:prstGeom>
            <a:noFill/>
            <a:ln w="14288">
              <a:solidFill>
                <a:srgbClr val="D9DFEA"/>
              </a:solidFill>
            </a:ln>
          </p:spPr>
        </p:sp>
        <p:sp>
          <p:nvSpPr>
            <p:cNvPr id="48" name="Rectangle 48"/>
            <p:cNvSpPr/>
            <p:nvPr/>
          </p:nvSpPr>
          <p:spPr>
            <a:xfrm>
              <a:off x="7395210" y="1524000"/>
              <a:ext cx="9525" cy="2000250"/>
            </a:xfrm>
            <a:prstGeom prst="rect">
              <a:avLst/>
            </a:prstGeom>
            <a:solidFill>
              <a:srgbClr val="D9DFEA"/>
            </a:solidFill>
            <a:ln>
              <a:noFill/>
            </a:ln>
          </p:spPr>
        </p:sp>
        <p:sp>
          <p:nvSpPr>
            <p:cNvPr id="49" name="Rectangle 49"/>
            <p:cNvSpPr/>
            <p:nvPr/>
          </p:nvSpPr>
          <p:spPr>
            <a:xfrm>
              <a:off x="9524048" y="1524000"/>
              <a:ext cx="9525" cy="2000250"/>
            </a:xfrm>
            <a:prstGeom prst="rect">
              <a:avLst/>
            </a:prstGeom>
            <a:solidFill>
              <a:srgbClr val="D9DFEA"/>
            </a:solidFill>
            <a:ln>
              <a:noFill/>
            </a:ln>
          </p:spPr>
        </p:sp>
      </p:grpSp>
      <p:grpSp>
        <p:nvGrpSpPr>
          <p:cNvPr id="57" name="c2-callout-2"/>
          <p:cNvGrpSpPr/>
          <p:nvPr/>
        </p:nvGrpSpPr>
        <p:grpSpPr>
          <a:xfrm>
            <a:off x="6464618" y="3693795"/>
            <a:ext cx="5193982" cy="729615"/>
            <a:chOff x="6464618" y="3693795"/>
            <a:chExt cx="5193982" cy="729615"/>
          </a:xfrm>
        </p:grpSpPr>
        <p:sp>
          <p:nvSpPr>
            <p:cNvPr id="51" name="Rectangle 51"/>
            <p:cNvSpPr/>
            <p:nvPr/>
          </p:nvSpPr>
          <p:spPr>
            <a:xfrm>
              <a:off x="6464618" y="3693795"/>
              <a:ext cx="5193982" cy="729615"/>
            </a:xfrm>
            <a:prstGeom prst="roundRect">
              <a:avLst>
                <a:gd name="adj" fmla="val 15666"/>
              </a:avLst>
            </a:prstGeom>
            <a:solidFill>
              <a:srgbClr val="FDEEE7"/>
            </a:solidFill>
            <a:ln>
              <a:noFill/>
            </a:ln>
          </p:spPr>
        </p:sp>
        <p:grpSp>
          <p:nvGrpSpPr>
            <p:cNvPr id="55" name="Group 55"/>
            <p:cNvGrpSpPr/>
            <p:nvPr/>
          </p:nvGrpSpPr>
          <p:grpSpPr>
            <a:xfrm>
              <a:off x="6669405" y="3958590"/>
              <a:ext cx="200026" cy="200025"/>
              <a:chOff x="6669405" y="3958590"/>
              <a:chExt cx="200026" cy="200025"/>
            </a:xfrm>
          </p:grpSpPr>
          <p:sp>
            <p:nvSpPr>
              <p:cNvPr id="52" name="Freeform 52"/>
              <p:cNvSpPr/>
              <p:nvPr/>
            </p:nvSpPr>
            <p:spPr>
              <a:xfrm>
                <a:off x="6669405" y="395859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3" name="Freeform 53"/>
              <p:cNvSpPr/>
              <p:nvPr/>
            </p:nvSpPr>
            <p:spPr>
              <a:xfrm>
                <a:off x="6709144" y="400304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4" name="Freeform 54"/>
              <p:cNvSpPr/>
              <p:nvPr/>
            </p:nvSpPr>
            <p:spPr>
              <a:xfrm>
                <a:off x="6743859" y="411416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6" name="TextBox 56"/>
            <p:cNvSpPr txBox="1"/>
            <p:nvPr/>
          </p:nvSpPr>
          <p:spPr>
            <a:xfrm>
              <a:off x="6972110" y="3840480"/>
              <a:ext cx="416280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记法：Verification 对着设计文档查，Validation 对着</a:t>
              </a:r>
              <a:br/>
              <a:r>
                <a:rPr lang="zh-CN" sz="1350" dirty="0">
                  <a:solidFill>
                    <a:srgbClr val="C2410C"/>
                  </a:solidFill>
                  <a:latin typeface="+mn-lt"/>
                  <a:ea typeface="+mn-ea"/>
                  <a:cs typeface="+mn-cs"/>
                </a:rPr>
                <a:t>用户需求查。第三行是工程上常用的说法。</a:t>
              </a:r>
            </a:p>
          </p:txBody>
        </p:sp>
      </p:grpSp>
      <p:grpSp>
        <p:nvGrpSpPr>
          <p:cNvPr id="66" name="c2-card-3"/>
          <p:cNvGrpSpPr/>
          <p:nvPr/>
        </p:nvGrpSpPr>
        <p:grpSpPr>
          <a:xfrm>
            <a:off x="6464618" y="4593908"/>
            <a:ext cx="5193982" cy="1485900"/>
            <a:chOff x="6464618" y="4593908"/>
            <a:chExt cx="5193982" cy="1485900"/>
          </a:xfrm>
        </p:grpSpPr>
        <p:sp>
          <p:nvSpPr>
            <p:cNvPr id="58" name="Rectangle 58"/>
            <p:cNvSpPr/>
            <p:nvPr/>
          </p:nvSpPr>
          <p:spPr>
            <a:xfrm>
              <a:off x="6464618" y="4593908"/>
              <a:ext cx="5193982" cy="1485900"/>
            </a:xfrm>
            <a:prstGeom prst="roundRect">
              <a:avLst>
                <a:gd name="adj" fmla="val 8974"/>
              </a:avLst>
            </a:prstGeom>
            <a:solidFill>
              <a:srgbClr val="FFFFFF"/>
            </a:solidFill>
            <a:ln w="14288">
              <a:solidFill>
                <a:srgbClr val="D9DFEA"/>
              </a:solidFill>
            </a:ln>
          </p:spPr>
        </p:sp>
        <p:sp>
          <p:nvSpPr>
            <p:cNvPr id="59" name="Rectangle 59"/>
            <p:cNvSpPr/>
            <p:nvPr/>
          </p:nvSpPr>
          <p:spPr>
            <a:xfrm>
              <a:off x="6474142" y="4727258"/>
              <a:ext cx="47625" cy="1219200"/>
            </a:xfrm>
            <a:prstGeom prst="roundRect">
              <a:avLst>
                <a:gd name="adj" fmla="val 50000"/>
              </a:avLst>
            </a:prstGeom>
            <a:solidFill>
              <a:srgbClr val="14A38B"/>
            </a:solidFill>
            <a:ln>
              <a:noFill/>
            </a:ln>
          </p:spPr>
        </p:sp>
        <p:sp>
          <p:nvSpPr>
            <p:cNvPr id="60" name="Rectangle 60"/>
            <p:cNvSpPr/>
            <p:nvPr/>
          </p:nvSpPr>
          <p:spPr>
            <a:xfrm>
              <a:off x="6689408" y="4780598"/>
              <a:ext cx="458152" cy="238125"/>
            </a:xfrm>
            <a:prstGeom prst="roundRect">
              <a:avLst>
                <a:gd name="adj" fmla="val 50000"/>
              </a:avLst>
            </a:prstGeom>
            <a:solidFill>
              <a:srgbClr val="E3F5F1"/>
            </a:solidFill>
            <a:ln>
              <a:noFill/>
            </a:ln>
          </p:spPr>
        </p:sp>
        <p:sp>
          <p:nvSpPr>
            <p:cNvPr id="61" name="TextBox 61"/>
            <p:cNvSpPr txBox="1"/>
            <p:nvPr/>
          </p:nvSpPr>
          <p:spPr>
            <a:xfrm>
              <a:off x="6782079" y="4813459"/>
              <a:ext cx="273761"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例子</a:t>
              </a:r>
            </a:p>
          </p:txBody>
        </p:sp>
        <p:sp>
          <p:nvSpPr>
            <p:cNvPr id="62" name="Ellipse 62"/>
            <p:cNvSpPr/>
            <p:nvPr/>
          </p:nvSpPr>
          <p:spPr>
            <a:xfrm>
              <a:off x="6697980" y="5180648"/>
              <a:ext cx="59055" cy="59055"/>
            </a:xfrm>
            <a:prstGeom prst="ellipse">
              <a:avLst/>
            </a:prstGeom>
            <a:solidFill>
              <a:srgbClr val="334E68"/>
            </a:solidFill>
            <a:ln>
              <a:noFill/>
            </a:ln>
          </p:spPr>
        </p:sp>
        <p:sp>
          <p:nvSpPr>
            <p:cNvPr id="63" name="TextBox 63"/>
            <p:cNvSpPr txBox="1"/>
            <p:nvPr/>
          </p:nvSpPr>
          <p:spPr>
            <a:xfrm>
              <a:off x="6853999" y="5124450"/>
              <a:ext cx="455714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验证：对照详细设计检查模块的算法和接口有没有实现对</a:t>
              </a:r>
            </a:p>
          </p:txBody>
        </p:sp>
        <p:sp>
          <p:nvSpPr>
            <p:cNvPr id="64" name="Ellipse 64"/>
            <p:cNvSpPr/>
            <p:nvPr/>
          </p:nvSpPr>
          <p:spPr>
            <a:xfrm>
              <a:off x="6697980" y="5480685"/>
              <a:ext cx="59055" cy="59055"/>
            </a:xfrm>
            <a:prstGeom prst="ellipse">
              <a:avLst/>
            </a:prstGeom>
            <a:solidFill>
              <a:srgbClr val="334E68"/>
            </a:solidFill>
            <a:ln>
              <a:noFill/>
            </a:ln>
          </p:spPr>
        </p:sp>
        <p:sp>
          <p:nvSpPr>
            <p:cNvPr id="65" name="TextBox 65"/>
            <p:cNvSpPr txBox="1"/>
            <p:nvPr/>
          </p:nvSpPr>
          <p:spPr>
            <a:xfrm>
              <a:off x="6853999" y="5424488"/>
              <a:ext cx="42999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确认：请用户按实际业务跑一遍，看它是不是用户要的东</a:t>
              </a:r>
              <a:br/>
              <a:r>
                <a:rPr lang="zh-CN" sz="1350" dirty="0">
                  <a:solidFill>
                    <a:srgbClr val="1F2937"/>
                  </a:solidFill>
                  <a:latin typeface="+mn-lt"/>
                  <a:ea typeface="+mn-ea"/>
                  <a:cs typeface="+mn-cs"/>
                </a:rPr>
                <a:t>西</a:t>
              </a:r>
            </a:p>
          </p:txBody>
        </p:sp>
      </p:grpSp>
      <p:grpSp>
        <p:nvGrpSpPr>
          <p:cNvPr id="69" name="footer"/>
          <p:cNvGrpSpPr/>
          <p:nvPr/>
        </p:nvGrpSpPr>
        <p:grpSpPr>
          <a:xfrm>
            <a:off x="528447" y="6581299"/>
            <a:ext cx="11135106" cy="190690"/>
            <a:chOff x="528447" y="6581299"/>
            <a:chExt cx="11135106" cy="190690"/>
          </a:xfrm>
        </p:grpSpPr>
        <p:sp>
          <p:nvSpPr>
            <p:cNvPr id="67" name="TextBox 67"/>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8" name="TextBox 6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32</a:t>
              </a:r>
            </a:p>
          </p:txBody>
        </p:sp>
      </p:gr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34809" cy="909257"/>
            <a:chOff x="520446" y="342900"/>
            <a:chExt cx="7234809"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软件过程与传统过程模型</a:t>
              </a:r>
            </a:p>
          </p:txBody>
        </p:sp>
        <p:sp>
          <p:nvSpPr>
            <p:cNvPr id="4" name="TextBox 4"/>
            <p:cNvSpPr txBox="1"/>
            <p:nvPr/>
          </p:nvSpPr>
          <p:spPr>
            <a:xfrm>
              <a:off x="520446" y="753428"/>
              <a:ext cx="723480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快速原型：先做一个能跑的模型，把需求问清楚</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4" name="c1-card-1"/>
          <p:cNvGrpSpPr/>
          <p:nvPr/>
        </p:nvGrpSpPr>
        <p:grpSpPr>
          <a:xfrm>
            <a:off x="533400" y="1524000"/>
            <a:ext cx="5193982" cy="1768792"/>
            <a:chOff x="533400" y="1524000"/>
            <a:chExt cx="5193982" cy="1768792"/>
          </a:xfrm>
        </p:grpSpPr>
        <p:sp>
          <p:nvSpPr>
            <p:cNvPr id="7" name="Rectangle 7"/>
            <p:cNvSpPr/>
            <p:nvPr/>
          </p:nvSpPr>
          <p:spPr>
            <a:xfrm>
              <a:off x="533400" y="1524000"/>
              <a:ext cx="5193982" cy="1768792"/>
            </a:xfrm>
            <a:prstGeom prst="roundRect">
              <a:avLst>
                <a:gd name="adj" fmla="val 7539"/>
              </a:avLst>
            </a:prstGeom>
            <a:solidFill>
              <a:srgbClr val="FFFFFF"/>
            </a:solidFill>
            <a:ln w="14288">
              <a:solidFill>
                <a:srgbClr val="D9DFEA"/>
              </a:solidFill>
            </a:ln>
          </p:spPr>
        </p:sp>
        <p:sp>
          <p:nvSpPr>
            <p:cNvPr id="8" name="Rectangle 8"/>
            <p:cNvSpPr/>
            <p:nvPr/>
          </p:nvSpPr>
          <p:spPr>
            <a:xfrm>
              <a:off x="542925" y="1657350"/>
              <a:ext cx="47625" cy="1502092"/>
            </a:xfrm>
            <a:prstGeom prst="roundRect">
              <a:avLst>
                <a:gd name="adj" fmla="val 50000"/>
              </a:avLst>
            </a:prstGeom>
            <a:solidFill>
              <a:srgbClr val="334E68"/>
            </a:solidFill>
            <a:ln>
              <a:noFill/>
            </a:ln>
          </p:spPr>
        </p:sp>
        <p:sp>
          <p:nvSpPr>
            <p:cNvPr id="9" name="Rectangle 9"/>
            <p:cNvSpPr/>
            <p:nvPr/>
          </p:nvSpPr>
          <p:spPr>
            <a:xfrm>
              <a:off x="769620" y="1722120"/>
              <a:ext cx="476250" cy="247650"/>
            </a:xfrm>
            <a:prstGeom prst="roundRect">
              <a:avLst>
                <a:gd name="adj" fmla="val 50000"/>
              </a:avLst>
            </a:prstGeom>
            <a:solidFill>
              <a:srgbClr val="E7EDF3"/>
            </a:solidFill>
            <a:ln>
              <a:noFill/>
            </a:ln>
          </p:spPr>
        </p:sp>
        <p:sp>
          <p:nvSpPr>
            <p:cNvPr id="10" name="TextBox 10"/>
            <p:cNvSpPr txBox="1"/>
            <p:nvPr/>
          </p:nvSpPr>
          <p:spPr>
            <a:xfrm>
              <a:off x="861060" y="1756410"/>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定义</a:t>
              </a:r>
            </a:p>
          </p:txBody>
        </p:sp>
        <p:sp>
          <p:nvSpPr>
            <p:cNvPr id="11" name="TextBox 11"/>
            <p:cNvSpPr txBox="1"/>
            <p:nvPr/>
          </p:nvSpPr>
          <p:spPr>
            <a:xfrm>
              <a:off x="1352931" y="1756886"/>
              <a:ext cx="1778925"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原型（Prototype）</a:t>
              </a:r>
            </a:p>
          </p:txBody>
        </p:sp>
        <p:sp>
          <p:nvSpPr>
            <p:cNvPr id="12" name="TextBox 12"/>
            <p:cNvSpPr txBox="1"/>
            <p:nvPr/>
          </p:nvSpPr>
          <p:spPr>
            <a:xfrm>
              <a:off x="762381" y="2100739"/>
              <a:ext cx="452297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原型是一个可以实际运行的模型，在功能上可以看作是最</a:t>
              </a:r>
              <a:br/>
              <a:r>
                <a:rPr lang="zh-CN" sz="1420" dirty="0">
                  <a:solidFill>
                    <a:srgbClr val="1F2937"/>
                  </a:solidFill>
                  <a:latin typeface="+mn-lt"/>
                  <a:ea typeface="+mn-ea"/>
                  <a:cs typeface="+mn-cs"/>
                </a:rPr>
                <a:t>终产品的一个子集，它展示了目标系统的关键功能。</a:t>
              </a:r>
            </a:p>
          </p:txBody>
        </p:sp>
        <p:sp>
          <p:nvSpPr>
            <p:cNvPr id="13" name="TextBox 13"/>
            <p:cNvSpPr txBox="1"/>
            <p:nvPr/>
          </p:nvSpPr>
          <p:spPr>
            <a:xfrm>
              <a:off x="763524" y="2686050"/>
              <a:ext cx="458419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快速原型是快速建立起来的、可以在计算机上运行的程序，完成的功</a:t>
              </a:r>
              <a:br/>
              <a:r>
                <a:rPr lang="zh-CN" sz="1200" dirty="0">
                  <a:solidFill>
                    <a:srgbClr val="5B6475"/>
                  </a:solidFill>
                  <a:latin typeface="+mn-lt"/>
                  <a:ea typeface="+mn-ea"/>
                  <a:cs typeface="+mn-cs"/>
                </a:rPr>
                <a:t>能往往是最终产品的一个子集。</a:t>
              </a:r>
            </a:p>
          </p:txBody>
        </p:sp>
      </p:grpSp>
      <p:grpSp>
        <p:nvGrpSpPr>
          <p:cNvPr id="27" name="c1-card-2"/>
          <p:cNvGrpSpPr/>
          <p:nvPr/>
        </p:nvGrpSpPr>
        <p:grpSpPr>
          <a:xfrm>
            <a:off x="533400" y="3472815"/>
            <a:ext cx="5193982" cy="2204085"/>
            <a:chOff x="533400" y="3472815"/>
            <a:chExt cx="5193982" cy="2204085"/>
          </a:xfrm>
        </p:grpSpPr>
        <p:sp>
          <p:nvSpPr>
            <p:cNvPr id="15" name="Rectangle 15"/>
            <p:cNvSpPr/>
            <p:nvPr/>
          </p:nvSpPr>
          <p:spPr>
            <a:xfrm>
              <a:off x="533400" y="3472815"/>
              <a:ext cx="5193982" cy="2204085"/>
            </a:xfrm>
            <a:prstGeom prst="roundRect">
              <a:avLst>
                <a:gd name="adj" fmla="val 6050"/>
              </a:avLst>
            </a:prstGeom>
            <a:solidFill>
              <a:srgbClr val="FFFFFF"/>
            </a:solidFill>
            <a:ln w="14288">
              <a:solidFill>
                <a:srgbClr val="D9DFEA"/>
              </a:solidFill>
            </a:ln>
          </p:spPr>
        </p:sp>
        <p:sp>
          <p:nvSpPr>
            <p:cNvPr id="16" name="Rectangle 16"/>
            <p:cNvSpPr/>
            <p:nvPr/>
          </p:nvSpPr>
          <p:spPr>
            <a:xfrm>
              <a:off x="542925" y="3606165"/>
              <a:ext cx="47625" cy="1937385"/>
            </a:xfrm>
            <a:prstGeom prst="roundRect">
              <a:avLst>
                <a:gd name="adj" fmla="val 50000"/>
              </a:avLst>
            </a:prstGeom>
            <a:solidFill>
              <a:srgbClr val="B42318"/>
            </a:solidFill>
            <a:ln>
              <a:noFill/>
            </a:ln>
          </p:spPr>
        </p:sp>
        <p:sp>
          <p:nvSpPr>
            <p:cNvPr id="17" name="Rectangle 17"/>
            <p:cNvSpPr/>
            <p:nvPr/>
          </p:nvSpPr>
          <p:spPr>
            <a:xfrm>
              <a:off x="769620" y="3670935"/>
              <a:ext cx="1276350" cy="247650"/>
            </a:xfrm>
            <a:prstGeom prst="roundRect">
              <a:avLst>
                <a:gd name="adj" fmla="val 50000"/>
              </a:avLst>
            </a:prstGeom>
            <a:solidFill>
              <a:srgbClr val="FDECEA"/>
            </a:solidFill>
            <a:ln>
              <a:noFill/>
            </a:ln>
          </p:spPr>
        </p:sp>
        <p:sp>
          <p:nvSpPr>
            <p:cNvPr id="18" name="TextBox 18"/>
            <p:cNvSpPr txBox="1"/>
            <p:nvPr/>
          </p:nvSpPr>
          <p:spPr>
            <a:xfrm>
              <a:off x="837057" y="3705225"/>
              <a:ext cx="1141476"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使用原型必须注意</a:t>
              </a:r>
            </a:p>
          </p:txBody>
        </p:sp>
        <p:sp>
          <p:nvSpPr>
            <p:cNvPr id="19" name="Ellipse 19"/>
            <p:cNvSpPr/>
            <p:nvPr/>
          </p:nvSpPr>
          <p:spPr>
            <a:xfrm>
              <a:off x="777240" y="4091940"/>
              <a:ext cx="60960" cy="60960"/>
            </a:xfrm>
            <a:prstGeom prst="ellipse">
              <a:avLst/>
            </a:prstGeom>
            <a:solidFill>
              <a:srgbClr val="334E68"/>
            </a:solidFill>
            <a:ln>
              <a:noFill/>
            </a:ln>
          </p:spPr>
        </p:sp>
        <p:sp>
          <p:nvSpPr>
            <p:cNvPr id="20" name="TextBox 20"/>
            <p:cNvSpPr txBox="1"/>
            <p:nvPr/>
          </p:nvSpPr>
          <p:spPr>
            <a:xfrm>
              <a:off x="933831" y="4031456"/>
              <a:ext cx="4602328"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要求能快速建成，原型不可能像最终产品一样面面俱到</a:t>
              </a:r>
            </a:p>
          </p:txBody>
        </p:sp>
        <p:sp>
          <p:nvSpPr>
            <p:cNvPr id="21" name="Ellipse 21"/>
            <p:cNvSpPr/>
            <p:nvPr/>
          </p:nvSpPr>
          <p:spPr>
            <a:xfrm>
              <a:off x="777240" y="4410075"/>
              <a:ext cx="60960" cy="60960"/>
            </a:xfrm>
            <a:prstGeom prst="ellipse">
              <a:avLst/>
            </a:prstGeom>
            <a:solidFill>
              <a:srgbClr val="334E68"/>
            </a:solidFill>
            <a:ln>
              <a:noFill/>
            </a:ln>
          </p:spPr>
        </p:sp>
        <p:sp>
          <p:nvSpPr>
            <p:cNvPr id="22" name="TextBox 22"/>
            <p:cNvSpPr txBox="1"/>
            <p:nvPr/>
          </p:nvSpPr>
          <p:spPr>
            <a:xfrm>
              <a:off x="933831" y="4349591"/>
              <a:ext cx="345536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客户不能把原型当作软件的正式运行版本</a:t>
              </a:r>
            </a:p>
          </p:txBody>
        </p:sp>
        <p:sp>
          <p:nvSpPr>
            <p:cNvPr id="23" name="Ellipse 23"/>
            <p:cNvSpPr/>
            <p:nvPr/>
          </p:nvSpPr>
          <p:spPr>
            <a:xfrm>
              <a:off x="777240" y="4727258"/>
              <a:ext cx="60960" cy="60960"/>
            </a:xfrm>
            <a:prstGeom prst="ellipse">
              <a:avLst/>
            </a:prstGeom>
            <a:solidFill>
              <a:srgbClr val="334E68"/>
            </a:solidFill>
            <a:ln>
              <a:noFill/>
            </a:ln>
          </p:spPr>
        </p:sp>
        <p:sp>
          <p:nvSpPr>
            <p:cNvPr id="24" name="TextBox 24"/>
            <p:cNvSpPr txBox="1"/>
            <p:nvPr/>
          </p:nvSpPr>
          <p:spPr>
            <a:xfrm>
              <a:off x="933831" y="4667726"/>
              <a:ext cx="434263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开发人员同样如此，还必须牢记原型中没有考虑质量因</a:t>
              </a:r>
              <a:br/>
              <a:r>
                <a:rPr lang="zh-CN" sz="1420" dirty="0">
                  <a:solidFill>
                    <a:srgbClr val="1F2937"/>
                  </a:solidFill>
                  <a:latin typeface="+mn-lt"/>
                  <a:ea typeface="+mn-ea"/>
                  <a:cs typeface="+mn-cs"/>
                </a:rPr>
                <a:t>素的部分</a:t>
              </a:r>
            </a:p>
          </p:txBody>
        </p:sp>
        <p:sp>
          <p:nvSpPr>
            <p:cNvPr id="25" name="Ellipse 25"/>
            <p:cNvSpPr/>
            <p:nvPr/>
          </p:nvSpPr>
          <p:spPr>
            <a:xfrm>
              <a:off x="777240" y="5316855"/>
              <a:ext cx="60960" cy="60960"/>
            </a:xfrm>
            <a:prstGeom prst="ellipse">
              <a:avLst/>
            </a:prstGeom>
            <a:solidFill>
              <a:srgbClr val="334E68"/>
            </a:solidFill>
            <a:ln>
              <a:noFill/>
            </a:ln>
          </p:spPr>
        </p:sp>
        <p:sp>
          <p:nvSpPr>
            <p:cNvPr id="26" name="TextBox 26"/>
            <p:cNvSpPr txBox="1"/>
            <p:nvPr/>
          </p:nvSpPr>
          <p:spPr>
            <a:xfrm>
              <a:off x="933831" y="5256371"/>
              <a:ext cx="345536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使用前要与用户达成一致：原型只是模型</a:t>
              </a:r>
            </a:p>
          </p:txBody>
        </p:sp>
      </p:grpSp>
      <p:grpSp>
        <p:nvGrpSpPr>
          <p:cNvPr id="56" name="c2-flow-1"/>
          <p:cNvGrpSpPr/>
          <p:nvPr/>
        </p:nvGrpSpPr>
        <p:grpSpPr>
          <a:xfrm>
            <a:off x="6229350" y="1613535"/>
            <a:ext cx="5232082" cy="2775585"/>
            <a:chOff x="6229350" y="1613535"/>
            <a:chExt cx="5232082" cy="2775585"/>
          </a:xfrm>
        </p:grpSpPr>
        <p:sp>
          <p:nvSpPr>
            <p:cNvPr id="28" name="Freeform 28"/>
            <p:cNvSpPr/>
            <p:nvPr/>
          </p:nvSpPr>
          <p:spPr>
            <a:xfrm>
              <a:off x="7439025" y="2025015"/>
              <a:ext cx="9525" cy="74295"/>
            </a:xfrm>
            <a:custGeom>
              <a:avLst/>
              <a:gdLst/>
              <a:ahLst/>
              <a:cxnLst/>
              <a:rect l="l" t="t" r="r" b="b"/>
              <a:pathLst>
                <a:path w="9525" h="74295">
                  <a:moveTo>
                    <a:pt x="0" y="0"/>
                  </a:moveTo>
                  <a:lnTo>
                    <a:pt x="0" y="74295"/>
                  </a:lnTo>
                </a:path>
              </a:pathLst>
            </a:custGeom>
            <a:noFill/>
            <a:ln w="15240">
              <a:solidFill>
                <a:srgbClr val="5B6475"/>
              </a:solidFill>
            </a:ln>
          </p:spPr>
        </p:sp>
        <p:sp>
          <p:nvSpPr>
            <p:cNvPr id="29" name="Freeform 29"/>
            <p:cNvSpPr/>
            <p:nvPr/>
          </p:nvSpPr>
          <p:spPr>
            <a:xfrm>
              <a:off x="7386638" y="209931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0" name="Freeform 30"/>
            <p:cNvSpPr/>
            <p:nvPr/>
          </p:nvSpPr>
          <p:spPr>
            <a:xfrm>
              <a:off x="7439025" y="2616518"/>
              <a:ext cx="9525" cy="74295"/>
            </a:xfrm>
            <a:custGeom>
              <a:avLst/>
              <a:gdLst/>
              <a:ahLst/>
              <a:cxnLst/>
              <a:rect l="l" t="t" r="r" b="b"/>
              <a:pathLst>
                <a:path w="9525" h="74295">
                  <a:moveTo>
                    <a:pt x="0" y="0"/>
                  </a:moveTo>
                  <a:lnTo>
                    <a:pt x="0" y="74295"/>
                  </a:lnTo>
                </a:path>
              </a:pathLst>
            </a:custGeom>
            <a:noFill/>
            <a:ln w="15240">
              <a:solidFill>
                <a:srgbClr val="5B6475"/>
              </a:solidFill>
            </a:ln>
          </p:spPr>
        </p:sp>
        <p:sp>
          <p:nvSpPr>
            <p:cNvPr id="31" name="Freeform 31"/>
            <p:cNvSpPr/>
            <p:nvPr/>
          </p:nvSpPr>
          <p:spPr>
            <a:xfrm>
              <a:off x="7386638" y="269081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2" name="Freeform 32"/>
            <p:cNvSpPr/>
            <p:nvPr/>
          </p:nvSpPr>
          <p:spPr>
            <a:xfrm>
              <a:off x="7439025" y="3193732"/>
              <a:ext cx="9525" cy="13335"/>
            </a:xfrm>
            <a:custGeom>
              <a:avLst/>
              <a:gdLst/>
              <a:ahLst/>
              <a:cxnLst/>
              <a:rect l="l" t="t" r="r" b="b"/>
              <a:pathLst>
                <a:path w="9525" h="13335">
                  <a:moveTo>
                    <a:pt x="0" y="13335"/>
                  </a:moveTo>
                  <a:lnTo>
                    <a:pt x="0" y="0"/>
                  </a:lnTo>
                </a:path>
              </a:pathLst>
            </a:custGeom>
            <a:noFill/>
            <a:ln w="15240">
              <a:solidFill>
                <a:srgbClr val="5B6475"/>
              </a:solidFill>
            </a:ln>
          </p:spPr>
        </p:sp>
        <p:sp>
          <p:nvSpPr>
            <p:cNvPr id="33" name="Freeform 33"/>
            <p:cNvSpPr/>
            <p:nvPr/>
          </p:nvSpPr>
          <p:spPr>
            <a:xfrm>
              <a:off x="7386638" y="319373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4" name="Freeform 34"/>
            <p:cNvSpPr/>
            <p:nvPr/>
          </p:nvSpPr>
          <p:spPr>
            <a:xfrm>
              <a:off x="8648700" y="3591878"/>
              <a:ext cx="288607" cy="9525"/>
            </a:xfrm>
            <a:custGeom>
              <a:avLst/>
              <a:gdLst/>
              <a:ahLst/>
              <a:cxnLst/>
              <a:rect l="l" t="t" r="r" b="b"/>
              <a:pathLst>
                <a:path w="288607" h="9525">
                  <a:moveTo>
                    <a:pt x="0" y="0"/>
                  </a:moveTo>
                  <a:lnTo>
                    <a:pt x="288607" y="0"/>
                  </a:lnTo>
                </a:path>
              </a:pathLst>
            </a:custGeom>
            <a:noFill/>
            <a:ln w="15240">
              <a:solidFill>
                <a:srgbClr val="5B6475"/>
              </a:solidFill>
            </a:ln>
          </p:spPr>
        </p:sp>
        <p:sp>
          <p:nvSpPr>
            <p:cNvPr id="35" name="Freeform 35"/>
            <p:cNvSpPr/>
            <p:nvPr/>
          </p:nvSpPr>
          <p:spPr>
            <a:xfrm>
              <a:off x="8937308" y="353949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36" name="Freeform 36"/>
            <p:cNvSpPr/>
            <p:nvPr/>
          </p:nvSpPr>
          <p:spPr>
            <a:xfrm>
              <a:off x="8753475" y="2912745"/>
              <a:ext cx="1498282" cy="473392"/>
            </a:xfrm>
            <a:custGeom>
              <a:avLst/>
              <a:gdLst/>
              <a:ahLst/>
              <a:cxnLst/>
              <a:rect l="l" t="t" r="r" b="b"/>
              <a:pathLst>
                <a:path w="1498282" h="473392">
                  <a:moveTo>
                    <a:pt x="1498282" y="473392"/>
                  </a:moveTo>
                  <a:lnTo>
                    <a:pt x="1498282" y="263842"/>
                  </a:lnTo>
                  <a:lnTo>
                    <a:pt x="1498282" y="0"/>
                  </a:lnTo>
                  <a:lnTo>
                    <a:pt x="1329690" y="0"/>
                  </a:lnTo>
                  <a:lnTo>
                    <a:pt x="104775" y="0"/>
                  </a:lnTo>
                  <a:lnTo>
                    <a:pt x="104775" y="88583"/>
                  </a:lnTo>
                  <a:lnTo>
                    <a:pt x="0" y="88583"/>
                  </a:lnTo>
                </a:path>
              </a:pathLst>
            </a:custGeom>
            <a:noFill/>
            <a:ln w="15240">
              <a:solidFill>
                <a:srgbClr val="5B6475"/>
              </a:solidFill>
            </a:ln>
          </p:spPr>
        </p:sp>
        <p:sp>
          <p:nvSpPr>
            <p:cNvPr id="37" name="Freeform 37"/>
            <p:cNvSpPr/>
            <p:nvPr/>
          </p:nvSpPr>
          <p:spPr>
            <a:xfrm>
              <a:off x="8648700" y="2948940"/>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38" name="Freeform 38"/>
            <p:cNvSpPr/>
            <p:nvPr/>
          </p:nvSpPr>
          <p:spPr>
            <a:xfrm>
              <a:off x="7439025" y="3872865"/>
              <a:ext cx="9525" cy="13335"/>
            </a:xfrm>
            <a:custGeom>
              <a:avLst/>
              <a:gdLst/>
              <a:ahLst/>
              <a:cxnLst/>
              <a:rect l="l" t="t" r="r" b="b"/>
              <a:pathLst>
                <a:path w="9525" h="13335">
                  <a:moveTo>
                    <a:pt x="0" y="13335"/>
                  </a:moveTo>
                  <a:lnTo>
                    <a:pt x="0" y="0"/>
                  </a:lnTo>
                </a:path>
              </a:pathLst>
            </a:custGeom>
            <a:noFill/>
            <a:ln w="15240">
              <a:solidFill>
                <a:srgbClr val="5B6475"/>
              </a:solidFill>
            </a:ln>
          </p:spPr>
        </p:sp>
        <p:sp>
          <p:nvSpPr>
            <p:cNvPr id="39" name="Freeform 39"/>
            <p:cNvSpPr/>
            <p:nvPr/>
          </p:nvSpPr>
          <p:spPr>
            <a:xfrm>
              <a:off x="7386638" y="387286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40" name="Rectangle 40"/>
            <p:cNvSpPr/>
            <p:nvPr/>
          </p:nvSpPr>
          <p:spPr>
            <a:xfrm>
              <a:off x="6229350" y="1613535"/>
              <a:ext cx="2419350" cy="411480"/>
            </a:xfrm>
            <a:prstGeom prst="roundRect">
              <a:avLst>
                <a:gd name="adj" fmla="val 50000"/>
              </a:avLst>
            </a:prstGeom>
            <a:solidFill>
              <a:srgbClr val="334E68"/>
            </a:solidFill>
            <a:ln>
              <a:noFill/>
            </a:ln>
          </p:spPr>
        </p:sp>
        <p:sp>
          <p:nvSpPr>
            <p:cNvPr id="41" name="Rectangle 41"/>
            <p:cNvSpPr/>
            <p:nvPr/>
          </p:nvSpPr>
          <p:spPr>
            <a:xfrm>
              <a:off x="6229350" y="2204085"/>
              <a:ext cx="2419350" cy="411480"/>
            </a:xfrm>
            <a:prstGeom prst="roundRect">
              <a:avLst>
                <a:gd name="adj" fmla="val 23148"/>
              </a:avLst>
            </a:prstGeom>
            <a:solidFill>
              <a:srgbClr val="FFFFFF"/>
            </a:solidFill>
            <a:ln w="15240">
              <a:solidFill>
                <a:srgbClr val="334E68"/>
              </a:solidFill>
            </a:ln>
          </p:spPr>
        </p:sp>
        <p:sp>
          <p:nvSpPr>
            <p:cNvPr id="42" name="Rectangle 42"/>
            <p:cNvSpPr/>
            <p:nvPr/>
          </p:nvSpPr>
          <p:spPr>
            <a:xfrm>
              <a:off x="6229350" y="2795588"/>
              <a:ext cx="2419350" cy="411480"/>
            </a:xfrm>
            <a:prstGeom prst="roundRect">
              <a:avLst>
                <a:gd name="adj" fmla="val 23148"/>
              </a:avLst>
            </a:prstGeom>
            <a:solidFill>
              <a:srgbClr val="FFFFFF"/>
            </a:solidFill>
            <a:ln w="15240">
              <a:solidFill>
                <a:srgbClr val="334E68"/>
              </a:solidFill>
            </a:ln>
          </p:spPr>
        </p:sp>
        <p:sp>
          <p:nvSpPr>
            <p:cNvPr id="43" name="Freeform 43"/>
            <p:cNvSpPr/>
            <p:nvPr/>
          </p:nvSpPr>
          <p:spPr>
            <a:xfrm>
              <a:off x="6229350" y="3298508"/>
              <a:ext cx="2419350" cy="587692"/>
            </a:xfrm>
            <a:custGeom>
              <a:avLst/>
              <a:gdLst/>
              <a:ahLst/>
              <a:cxnLst/>
              <a:rect l="l" t="t" r="r" b="b"/>
              <a:pathLst>
                <a:path w="2419350" h="587692">
                  <a:moveTo>
                    <a:pt x="1209675" y="0"/>
                  </a:moveTo>
                  <a:lnTo>
                    <a:pt x="2419350" y="293370"/>
                  </a:lnTo>
                  <a:lnTo>
                    <a:pt x="1209675" y="587692"/>
                  </a:lnTo>
                  <a:lnTo>
                    <a:pt x="0" y="293370"/>
                  </a:lnTo>
                  <a:close/>
                </a:path>
              </a:pathLst>
            </a:custGeom>
            <a:solidFill>
              <a:srgbClr val="FDEEE7"/>
            </a:solidFill>
            <a:ln w="15240">
              <a:solidFill>
                <a:srgbClr val="F26B3A"/>
              </a:solidFill>
            </a:ln>
          </p:spPr>
        </p:sp>
        <p:sp>
          <p:nvSpPr>
            <p:cNvPr id="44" name="Rectangle 44"/>
            <p:cNvSpPr/>
            <p:nvPr/>
          </p:nvSpPr>
          <p:spPr>
            <a:xfrm>
              <a:off x="9042082" y="3386138"/>
              <a:ext cx="2419350" cy="411480"/>
            </a:xfrm>
            <a:prstGeom prst="roundRect">
              <a:avLst>
                <a:gd name="adj" fmla="val 23148"/>
              </a:avLst>
            </a:prstGeom>
            <a:solidFill>
              <a:srgbClr val="E7EDF3"/>
            </a:solidFill>
            <a:ln w="19050">
              <a:solidFill>
                <a:srgbClr val="334E68"/>
              </a:solidFill>
            </a:ln>
          </p:spPr>
        </p:sp>
        <p:sp>
          <p:nvSpPr>
            <p:cNvPr id="45" name="Rectangle 45"/>
            <p:cNvSpPr/>
            <p:nvPr/>
          </p:nvSpPr>
          <p:spPr>
            <a:xfrm>
              <a:off x="6229350" y="3977640"/>
              <a:ext cx="2419350" cy="411480"/>
            </a:xfrm>
            <a:prstGeom prst="roundRect">
              <a:avLst>
                <a:gd name="adj" fmla="val 50000"/>
              </a:avLst>
            </a:prstGeom>
            <a:solidFill>
              <a:srgbClr val="334E68"/>
            </a:solidFill>
            <a:ln>
              <a:noFill/>
            </a:ln>
          </p:spPr>
        </p:sp>
        <p:sp>
          <p:nvSpPr>
            <p:cNvPr id="46" name="TextBox 46"/>
            <p:cNvSpPr txBox="1"/>
            <p:nvPr/>
          </p:nvSpPr>
          <p:spPr>
            <a:xfrm>
              <a:off x="7109841" y="1735455"/>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快速分析</a:t>
              </a:r>
            </a:p>
          </p:txBody>
        </p:sp>
        <p:sp>
          <p:nvSpPr>
            <p:cNvPr id="47" name="TextBox 47"/>
            <p:cNvSpPr txBox="1"/>
            <p:nvPr/>
          </p:nvSpPr>
          <p:spPr>
            <a:xfrm>
              <a:off x="6948297" y="2326958"/>
              <a:ext cx="981456"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快速构造原型</a:t>
              </a:r>
            </a:p>
          </p:txBody>
        </p:sp>
        <p:sp>
          <p:nvSpPr>
            <p:cNvPr id="48" name="TextBox 48"/>
            <p:cNvSpPr txBox="1"/>
            <p:nvPr/>
          </p:nvSpPr>
          <p:spPr>
            <a:xfrm>
              <a:off x="7109841" y="2917507"/>
              <a:ext cx="658368"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运行原型</a:t>
              </a:r>
            </a:p>
          </p:txBody>
        </p:sp>
        <p:sp>
          <p:nvSpPr>
            <p:cNvPr id="49" name="TextBox 49"/>
            <p:cNvSpPr txBox="1"/>
            <p:nvPr/>
          </p:nvSpPr>
          <p:spPr>
            <a:xfrm>
              <a:off x="7109841" y="3508057"/>
              <a:ext cx="658368"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评价原型</a:t>
              </a:r>
            </a:p>
          </p:txBody>
        </p:sp>
        <p:sp>
          <p:nvSpPr>
            <p:cNvPr id="50" name="TextBox 50"/>
            <p:cNvSpPr txBox="1"/>
            <p:nvPr/>
          </p:nvSpPr>
          <p:spPr>
            <a:xfrm>
              <a:off x="9761029" y="3508057"/>
              <a:ext cx="981456"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快速修改原型</a:t>
              </a:r>
            </a:p>
          </p:txBody>
        </p:sp>
        <p:sp>
          <p:nvSpPr>
            <p:cNvPr id="51" name="TextBox 51"/>
            <p:cNvSpPr txBox="1"/>
            <p:nvPr/>
          </p:nvSpPr>
          <p:spPr>
            <a:xfrm>
              <a:off x="6948297" y="4099560"/>
              <a:ext cx="98145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形成最终系统</a:t>
              </a:r>
            </a:p>
          </p:txBody>
        </p:sp>
        <p:sp>
          <p:nvSpPr>
            <p:cNvPr id="52" name="Rectangle 52"/>
            <p:cNvSpPr/>
            <p:nvPr/>
          </p:nvSpPr>
          <p:spPr>
            <a:xfrm>
              <a:off x="8610600" y="3386138"/>
              <a:ext cx="468630" cy="179070"/>
            </a:xfrm>
            <a:prstGeom prst="roundRect">
              <a:avLst>
                <a:gd name="adj" fmla="val 21277"/>
              </a:avLst>
            </a:prstGeom>
            <a:solidFill>
              <a:srgbClr val="FFFFFF"/>
            </a:solidFill>
            <a:ln>
              <a:noFill/>
            </a:ln>
          </p:spPr>
        </p:sp>
        <p:sp>
          <p:nvSpPr>
            <p:cNvPr id="53" name="TextBox 53"/>
            <p:cNvSpPr txBox="1"/>
            <p:nvPr/>
          </p:nvSpPr>
          <p:spPr>
            <a:xfrm>
              <a:off x="8642071" y="3410426"/>
              <a:ext cx="405689"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不满意</a:t>
              </a:r>
            </a:p>
          </p:txBody>
        </p:sp>
        <p:sp>
          <p:nvSpPr>
            <p:cNvPr id="54" name="Rectangle 54"/>
            <p:cNvSpPr/>
            <p:nvPr/>
          </p:nvSpPr>
          <p:spPr>
            <a:xfrm>
              <a:off x="7467600" y="3846195"/>
              <a:ext cx="343852" cy="179070"/>
            </a:xfrm>
            <a:prstGeom prst="roundRect">
              <a:avLst>
                <a:gd name="adj" fmla="val 21277"/>
              </a:avLst>
            </a:prstGeom>
            <a:solidFill>
              <a:srgbClr val="FFFFFF"/>
            </a:solidFill>
            <a:ln>
              <a:noFill/>
            </a:ln>
          </p:spPr>
        </p:sp>
        <p:sp>
          <p:nvSpPr>
            <p:cNvPr id="55" name="TextBox 55"/>
            <p:cNvSpPr txBox="1"/>
            <p:nvPr/>
          </p:nvSpPr>
          <p:spPr>
            <a:xfrm>
              <a:off x="7491222" y="3871436"/>
              <a:ext cx="273761"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满意</a:t>
              </a:r>
            </a:p>
          </p:txBody>
        </p:sp>
      </p:grpSp>
      <p:grpSp>
        <p:nvGrpSpPr>
          <p:cNvPr id="63" name="takeaway"/>
          <p:cNvGrpSpPr/>
          <p:nvPr/>
        </p:nvGrpSpPr>
        <p:grpSpPr>
          <a:xfrm>
            <a:off x="533400" y="5858828"/>
            <a:ext cx="11125200" cy="503872"/>
            <a:chOff x="533400" y="5858828"/>
            <a:chExt cx="11125200" cy="503872"/>
          </a:xfrm>
        </p:grpSpPr>
        <p:sp>
          <p:nvSpPr>
            <p:cNvPr id="57" name="Rectangle 57"/>
            <p:cNvSpPr/>
            <p:nvPr/>
          </p:nvSpPr>
          <p:spPr>
            <a:xfrm>
              <a:off x="533400" y="5858828"/>
              <a:ext cx="11125200" cy="503872"/>
            </a:xfrm>
            <a:prstGeom prst="roundRect">
              <a:avLst>
                <a:gd name="adj" fmla="val 22684"/>
              </a:avLst>
            </a:prstGeom>
            <a:solidFill>
              <a:srgbClr val="FDEEE7"/>
            </a:solidFill>
            <a:ln>
              <a:noFill/>
            </a:ln>
          </p:spPr>
        </p:sp>
        <p:grpSp>
          <p:nvGrpSpPr>
            <p:cNvPr id="61" name="Group 61"/>
            <p:cNvGrpSpPr/>
            <p:nvPr/>
          </p:nvGrpSpPr>
          <p:grpSpPr>
            <a:xfrm>
              <a:off x="738188" y="6011228"/>
              <a:ext cx="200026" cy="200025"/>
              <a:chOff x="738188" y="6011228"/>
              <a:chExt cx="200026" cy="200025"/>
            </a:xfrm>
          </p:grpSpPr>
          <p:sp>
            <p:nvSpPr>
              <p:cNvPr id="58" name="Freeform 58"/>
              <p:cNvSpPr/>
              <p:nvPr/>
            </p:nvSpPr>
            <p:spPr>
              <a:xfrm>
                <a:off x="738188" y="601122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9" name="Freeform 59"/>
              <p:cNvSpPr/>
              <p:nvPr/>
            </p:nvSpPr>
            <p:spPr>
              <a:xfrm>
                <a:off x="777926" y="605567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0" name="Freeform 60"/>
              <p:cNvSpPr/>
              <p:nvPr/>
            </p:nvSpPr>
            <p:spPr>
              <a:xfrm>
                <a:off x="812642" y="616680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2" name="TextBox 62"/>
            <p:cNvSpPr txBox="1"/>
            <p:nvPr/>
          </p:nvSpPr>
          <p:spPr>
            <a:xfrm>
              <a:off x="1040511" y="6011704"/>
              <a:ext cx="8043215" cy="278702"/>
            </a:xfrm>
            <a:prstGeom prst="rect">
              <a:avLst/>
            </a:prstGeom>
            <a:noFill/>
            <a:ln>
              <a:noFill/>
            </a:ln>
          </p:spPr>
          <p:txBody>
            <a:bodyPr wrap="none" lIns="0" tIns="0" rIns="0" bIns="0" anchor="t" anchorCtr="0">
              <a:spAutoFit/>
            </a:bodyPr>
            <a:lstStyle/>
            <a:p>
              <a:pPr algn="l"/>
              <a:r>
                <a:rPr lang="zh-CN" sz="1420" dirty="0">
                  <a:solidFill>
                    <a:srgbClr val="C2410C"/>
                  </a:solidFill>
                  <a:latin typeface="+mn-lt"/>
                  <a:ea typeface="+mn-ea"/>
                  <a:cs typeface="+mn-cs"/>
                </a:rPr>
                <a:t>原型的目的是问清需求，不是攒出产品。谈妥之后原型可以扔掉，也可以作为瀑布模型的输入。</a:t>
              </a:r>
            </a:p>
          </p:txBody>
        </p:sp>
      </p:grpSp>
      <p:grpSp>
        <p:nvGrpSpPr>
          <p:cNvPr id="66" name="footer"/>
          <p:cNvGrpSpPr/>
          <p:nvPr/>
        </p:nvGrpSpPr>
        <p:grpSpPr>
          <a:xfrm>
            <a:off x="528447" y="6581299"/>
            <a:ext cx="11135106" cy="190690"/>
            <a:chOff x="528447" y="6581299"/>
            <a:chExt cx="11135106" cy="190690"/>
          </a:xfrm>
        </p:grpSpPr>
        <p:sp>
          <p:nvSpPr>
            <p:cNvPr id="64" name="TextBox 64"/>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5" name="TextBox 6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33</a:t>
              </a:r>
            </a:p>
          </p:txBody>
        </p:sp>
      </p:gr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软件过程与传统过程模型</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快速原型模型：主干基本不带反馈环</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5" name="c1-flow-1"/>
          <p:cNvGrpSpPr/>
          <p:nvPr/>
        </p:nvGrpSpPr>
        <p:grpSpPr>
          <a:xfrm>
            <a:off x="700088" y="1610678"/>
            <a:ext cx="4427219" cy="3179444"/>
            <a:chOff x="700088" y="1610678"/>
            <a:chExt cx="4427219" cy="3179444"/>
          </a:xfrm>
        </p:grpSpPr>
        <p:sp>
          <p:nvSpPr>
            <p:cNvPr id="7" name="Freeform 7"/>
            <p:cNvSpPr/>
            <p:nvPr/>
          </p:nvSpPr>
          <p:spPr>
            <a:xfrm>
              <a:off x="1724025" y="1996440"/>
              <a:ext cx="9525" cy="68580"/>
            </a:xfrm>
            <a:custGeom>
              <a:avLst/>
              <a:gdLst/>
              <a:ahLst/>
              <a:cxnLst/>
              <a:rect l="l" t="t" r="r" b="b"/>
              <a:pathLst>
                <a:path w="9525" h="68580">
                  <a:moveTo>
                    <a:pt x="0" y="0"/>
                  </a:moveTo>
                  <a:lnTo>
                    <a:pt x="0" y="68580"/>
                  </a:lnTo>
                </a:path>
              </a:pathLst>
            </a:custGeom>
            <a:noFill/>
            <a:ln w="15240">
              <a:solidFill>
                <a:srgbClr val="5B6475"/>
              </a:solidFill>
            </a:ln>
          </p:spPr>
        </p:sp>
        <p:sp>
          <p:nvSpPr>
            <p:cNvPr id="8" name="Freeform 8"/>
            <p:cNvSpPr/>
            <p:nvPr/>
          </p:nvSpPr>
          <p:spPr>
            <a:xfrm>
              <a:off x="1671638" y="206502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9" name="Freeform 9"/>
            <p:cNvSpPr/>
            <p:nvPr/>
          </p:nvSpPr>
          <p:spPr>
            <a:xfrm>
              <a:off x="1724025" y="2554605"/>
              <a:ext cx="9525" cy="68580"/>
            </a:xfrm>
            <a:custGeom>
              <a:avLst/>
              <a:gdLst/>
              <a:ahLst/>
              <a:cxnLst/>
              <a:rect l="l" t="t" r="r" b="b"/>
              <a:pathLst>
                <a:path w="9525" h="68580">
                  <a:moveTo>
                    <a:pt x="0" y="0"/>
                  </a:moveTo>
                  <a:lnTo>
                    <a:pt x="0" y="68580"/>
                  </a:lnTo>
                </a:path>
              </a:pathLst>
            </a:custGeom>
            <a:noFill/>
            <a:ln w="15240">
              <a:solidFill>
                <a:srgbClr val="5B6475"/>
              </a:solidFill>
            </a:ln>
          </p:spPr>
        </p:sp>
        <p:sp>
          <p:nvSpPr>
            <p:cNvPr id="10" name="Freeform 10"/>
            <p:cNvSpPr/>
            <p:nvPr/>
          </p:nvSpPr>
          <p:spPr>
            <a:xfrm>
              <a:off x="1671638" y="262318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1" name="Freeform 11"/>
            <p:cNvSpPr/>
            <p:nvPr/>
          </p:nvSpPr>
          <p:spPr>
            <a:xfrm>
              <a:off x="1724025" y="3113722"/>
              <a:ext cx="9525" cy="68580"/>
            </a:xfrm>
            <a:custGeom>
              <a:avLst/>
              <a:gdLst/>
              <a:ahLst/>
              <a:cxnLst/>
              <a:rect l="l" t="t" r="r" b="b"/>
              <a:pathLst>
                <a:path w="9525" h="68580">
                  <a:moveTo>
                    <a:pt x="0" y="0"/>
                  </a:moveTo>
                  <a:lnTo>
                    <a:pt x="0" y="68580"/>
                  </a:lnTo>
                </a:path>
              </a:pathLst>
            </a:custGeom>
            <a:noFill/>
            <a:ln w="15240">
              <a:solidFill>
                <a:srgbClr val="5B6475"/>
              </a:solidFill>
            </a:ln>
          </p:spPr>
        </p:sp>
        <p:sp>
          <p:nvSpPr>
            <p:cNvPr id="12" name="Freeform 12"/>
            <p:cNvSpPr/>
            <p:nvPr/>
          </p:nvSpPr>
          <p:spPr>
            <a:xfrm>
              <a:off x="1671638" y="318230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3" name="Freeform 13"/>
            <p:cNvSpPr/>
            <p:nvPr/>
          </p:nvSpPr>
          <p:spPr>
            <a:xfrm>
              <a:off x="1724025" y="3672840"/>
              <a:ext cx="9525" cy="68580"/>
            </a:xfrm>
            <a:custGeom>
              <a:avLst/>
              <a:gdLst/>
              <a:ahLst/>
              <a:cxnLst/>
              <a:rect l="l" t="t" r="r" b="b"/>
              <a:pathLst>
                <a:path w="9525" h="68580">
                  <a:moveTo>
                    <a:pt x="0" y="0"/>
                  </a:moveTo>
                  <a:lnTo>
                    <a:pt x="0" y="68580"/>
                  </a:lnTo>
                </a:path>
              </a:pathLst>
            </a:custGeom>
            <a:noFill/>
            <a:ln w="15240">
              <a:solidFill>
                <a:srgbClr val="5B6475"/>
              </a:solidFill>
            </a:ln>
          </p:spPr>
        </p:sp>
        <p:sp>
          <p:nvSpPr>
            <p:cNvPr id="14" name="Freeform 14"/>
            <p:cNvSpPr/>
            <p:nvPr/>
          </p:nvSpPr>
          <p:spPr>
            <a:xfrm>
              <a:off x="1671638" y="374142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5" name="Freeform 15"/>
            <p:cNvSpPr/>
            <p:nvPr/>
          </p:nvSpPr>
          <p:spPr>
            <a:xfrm>
              <a:off x="1724025" y="4231005"/>
              <a:ext cx="9525" cy="68580"/>
            </a:xfrm>
            <a:custGeom>
              <a:avLst/>
              <a:gdLst/>
              <a:ahLst/>
              <a:cxnLst/>
              <a:rect l="l" t="t" r="r" b="b"/>
              <a:pathLst>
                <a:path w="9525" h="68580">
                  <a:moveTo>
                    <a:pt x="0" y="0"/>
                  </a:moveTo>
                  <a:lnTo>
                    <a:pt x="0" y="68580"/>
                  </a:lnTo>
                </a:path>
              </a:pathLst>
            </a:custGeom>
            <a:noFill/>
            <a:ln w="15240">
              <a:solidFill>
                <a:srgbClr val="5B6475"/>
              </a:solidFill>
            </a:ln>
          </p:spPr>
        </p:sp>
        <p:sp>
          <p:nvSpPr>
            <p:cNvPr id="16" name="Freeform 16"/>
            <p:cNvSpPr/>
            <p:nvPr/>
          </p:nvSpPr>
          <p:spPr>
            <a:xfrm>
              <a:off x="1671638" y="429958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7" name="Freeform 17"/>
            <p:cNvSpPr/>
            <p:nvPr/>
          </p:nvSpPr>
          <p:spPr>
            <a:xfrm>
              <a:off x="1724025" y="1996440"/>
              <a:ext cx="2380298" cy="86677"/>
            </a:xfrm>
            <a:custGeom>
              <a:avLst/>
              <a:gdLst/>
              <a:ahLst/>
              <a:cxnLst/>
              <a:rect l="l" t="t" r="r" b="b"/>
              <a:pathLst>
                <a:path w="2380298" h="86677">
                  <a:moveTo>
                    <a:pt x="2380298" y="0"/>
                  </a:moveTo>
                  <a:lnTo>
                    <a:pt x="2380298" y="86677"/>
                  </a:lnTo>
                  <a:lnTo>
                    <a:pt x="0" y="86677"/>
                  </a:lnTo>
                  <a:lnTo>
                    <a:pt x="0" y="68580"/>
                  </a:lnTo>
                </a:path>
              </a:pathLst>
            </a:custGeom>
            <a:noFill/>
            <a:ln w="15240">
              <a:solidFill>
                <a:srgbClr val="5B6475"/>
              </a:solidFill>
              <a:custDash>
                <a:ds d="375000" sp="250000"/>
              </a:custDash>
            </a:ln>
          </p:spPr>
        </p:sp>
        <p:sp>
          <p:nvSpPr>
            <p:cNvPr id="18" name="Freeform 18"/>
            <p:cNvSpPr/>
            <p:nvPr/>
          </p:nvSpPr>
          <p:spPr>
            <a:xfrm>
              <a:off x="1671638" y="206502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9" name="Freeform 19"/>
            <p:cNvSpPr/>
            <p:nvPr/>
          </p:nvSpPr>
          <p:spPr>
            <a:xfrm>
              <a:off x="2747010" y="2921318"/>
              <a:ext cx="1785938" cy="1676400"/>
            </a:xfrm>
            <a:custGeom>
              <a:avLst/>
              <a:gdLst/>
              <a:ahLst/>
              <a:cxnLst/>
              <a:rect l="l" t="t" r="r" b="b"/>
              <a:pathLst>
                <a:path w="1785938" h="1676400">
                  <a:moveTo>
                    <a:pt x="0" y="1676400"/>
                  </a:moveTo>
                  <a:lnTo>
                    <a:pt x="209550" y="1676400"/>
                  </a:lnTo>
                  <a:lnTo>
                    <a:pt x="1785938" y="1676400"/>
                  </a:lnTo>
                  <a:lnTo>
                    <a:pt x="1785938" y="1485900"/>
                  </a:lnTo>
                  <a:lnTo>
                    <a:pt x="1785938" y="111442"/>
                  </a:lnTo>
                  <a:lnTo>
                    <a:pt x="1785938" y="0"/>
                  </a:lnTo>
                  <a:lnTo>
                    <a:pt x="209550" y="0"/>
                  </a:lnTo>
                  <a:lnTo>
                    <a:pt x="104775" y="0"/>
                  </a:lnTo>
                </a:path>
              </a:pathLst>
            </a:custGeom>
            <a:noFill/>
            <a:ln w="15240">
              <a:solidFill>
                <a:srgbClr val="5B6475"/>
              </a:solidFill>
              <a:custDash>
                <a:ds d="375000" sp="250000"/>
              </a:custDash>
            </a:ln>
          </p:spPr>
        </p:sp>
        <p:sp>
          <p:nvSpPr>
            <p:cNvPr id="20" name="Freeform 20"/>
            <p:cNvSpPr/>
            <p:nvPr/>
          </p:nvSpPr>
          <p:spPr>
            <a:xfrm>
              <a:off x="2747010" y="2868930"/>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21" name="Rectangle 21"/>
            <p:cNvSpPr/>
            <p:nvPr/>
          </p:nvSpPr>
          <p:spPr>
            <a:xfrm>
              <a:off x="700088" y="1610678"/>
              <a:ext cx="2046922" cy="385762"/>
            </a:xfrm>
            <a:prstGeom prst="roundRect">
              <a:avLst>
                <a:gd name="adj" fmla="val 24691"/>
              </a:avLst>
            </a:prstGeom>
            <a:solidFill>
              <a:srgbClr val="E7EDF3"/>
            </a:solidFill>
            <a:ln w="19050">
              <a:solidFill>
                <a:srgbClr val="334E68"/>
              </a:solidFill>
            </a:ln>
          </p:spPr>
        </p:sp>
        <p:sp>
          <p:nvSpPr>
            <p:cNvPr id="22" name="Rectangle 22"/>
            <p:cNvSpPr/>
            <p:nvPr/>
          </p:nvSpPr>
          <p:spPr>
            <a:xfrm>
              <a:off x="3080385" y="1610678"/>
              <a:ext cx="2046922" cy="385762"/>
            </a:xfrm>
            <a:prstGeom prst="roundRect">
              <a:avLst>
                <a:gd name="adj" fmla="val 19753"/>
              </a:avLst>
            </a:prstGeom>
            <a:solidFill>
              <a:srgbClr val="FEF3C7"/>
            </a:solidFill>
            <a:ln>
              <a:noFill/>
            </a:ln>
          </p:spPr>
        </p:sp>
        <p:sp>
          <p:nvSpPr>
            <p:cNvPr id="23" name="Rectangle 23"/>
            <p:cNvSpPr/>
            <p:nvPr/>
          </p:nvSpPr>
          <p:spPr>
            <a:xfrm>
              <a:off x="700088" y="2169795"/>
              <a:ext cx="2046922" cy="385762"/>
            </a:xfrm>
            <a:prstGeom prst="roundRect">
              <a:avLst>
                <a:gd name="adj" fmla="val 24691"/>
              </a:avLst>
            </a:prstGeom>
            <a:solidFill>
              <a:srgbClr val="FFFFFF"/>
            </a:solidFill>
            <a:ln w="15240">
              <a:solidFill>
                <a:srgbClr val="334E68"/>
              </a:solidFill>
            </a:ln>
          </p:spPr>
        </p:sp>
        <p:sp>
          <p:nvSpPr>
            <p:cNvPr id="24" name="Rectangle 24"/>
            <p:cNvSpPr/>
            <p:nvPr/>
          </p:nvSpPr>
          <p:spPr>
            <a:xfrm>
              <a:off x="700088" y="2727960"/>
              <a:ext cx="2046922" cy="385762"/>
            </a:xfrm>
            <a:prstGeom prst="roundRect">
              <a:avLst>
                <a:gd name="adj" fmla="val 24691"/>
              </a:avLst>
            </a:prstGeom>
            <a:solidFill>
              <a:srgbClr val="FFFFFF"/>
            </a:solidFill>
            <a:ln w="15240">
              <a:solidFill>
                <a:srgbClr val="334E68"/>
              </a:solidFill>
            </a:ln>
          </p:spPr>
        </p:sp>
        <p:sp>
          <p:nvSpPr>
            <p:cNvPr id="25" name="Rectangle 25"/>
            <p:cNvSpPr/>
            <p:nvPr/>
          </p:nvSpPr>
          <p:spPr>
            <a:xfrm>
              <a:off x="700088" y="3287078"/>
              <a:ext cx="2046922" cy="385762"/>
            </a:xfrm>
            <a:prstGeom prst="roundRect">
              <a:avLst>
                <a:gd name="adj" fmla="val 24691"/>
              </a:avLst>
            </a:prstGeom>
            <a:solidFill>
              <a:srgbClr val="FFFFFF"/>
            </a:solidFill>
            <a:ln w="15240">
              <a:solidFill>
                <a:srgbClr val="334E68"/>
              </a:solidFill>
            </a:ln>
          </p:spPr>
        </p:sp>
        <p:sp>
          <p:nvSpPr>
            <p:cNvPr id="26" name="Rectangle 26"/>
            <p:cNvSpPr/>
            <p:nvPr/>
          </p:nvSpPr>
          <p:spPr>
            <a:xfrm>
              <a:off x="700088" y="3846195"/>
              <a:ext cx="2046922" cy="385762"/>
            </a:xfrm>
            <a:prstGeom prst="roundRect">
              <a:avLst>
                <a:gd name="adj" fmla="val 24691"/>
              </a:avLst>
            </a:prstGeom>
            <a:solidFill>
              <a:srgbClr val="FFFFFF"/>
            </a:solidFill>
            <a:ln w="15240">
              <a:solidFill>
                <a:srgbClr val="334E68"/>
              </a:solidFill>
            </a:ln>
          </p:spPr>
        </p:sp>
        <p:sp>
          <p:nvSpPr>
            <p:cNvPr id="27" name="Rectangle 27"/>
            <p:cNvSpPr/>
            <p:nvPr/>
          </p:nvSpPr>
          <p:spPr>
            <a:xfrm>
              <a:off x="700088" y="4404360"/>
              <a:ext cx="2046922" cy="385762"/>
            </a:xfrm>
            <a:prstGeom prst="roundRect">
              <a:avLst>
                <a:gd name="adj" fmla="val 49877"/>
              </a:avLst>
            </a:prstGeom>
            <a:solidFill>
              <a:srgbClr val="334E68"/>
            </a:solidFill>
            <a:ln>
              <a:noFill/>
            </a:ln>
          </p:spPr>
        </p:sp>
        <p:sp>
          <p:nvSpPr>
            <p:cNvPr id="28" name="TextBox 28"/>
            <p:cNvSpPr txBox="1"/>
            <p:nvPr/>
          </p:nvSpPr>
          <p:spPr>
            <a:xfrm>
              <a:off x="1115212" y="1724501"/>
              <a:ext cx="1217625"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快速原型（验证）</a:t>
              </a:r>
            </a:p>
          </p:txBody>
        </p:sp>
        <p:sp>
          <p:nvSpPr>
            <p:cNvPr id="29" name="TextBox 29"/>
            <p:cNvSpPr txBox="1"/>
            <p:nvPr/>
          </p:nvSpPr>
          <p:spPr>
            <a:xfrm>
              <a:off x="3420123" y="1724501"/>
              <a:ext cx="1368400"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变化的需求（验证）</a:t>
              </a:r>
            </a:p>
          </p:txBody>
        </p:sp>
        <p:sp>
          <p:nvSpPr>
            <p:cNvPr id="30" name="TextBox 30"/>
            <p:cNvSpPr txBox="1"/>
            <p:nvPr/>
          </p:nvSpPr>
          <p:spPr>
            <a:xfrm>
              <a:off x="1115212" y="2283619"/>
              <a:ext cx="1217625"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规格说明（验证）</a:t>
              </a:r>
            </a:p>
          </p:txBody>
        </p:sp>
        <p:sp>
          <p:nvSpPr>
            <p:cNvPr id="31" name="TextBox 31"/>
            <p:cNvSpPr txBox="1"/>
            <p:nvPr/>
          </p:nvSpPr>
          <p:spPr>
            <a:xfrm>
              <a:off x="1265987" y="2842736"/>
              <a:ext cx="91607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设计（验证）</a:t>
              </a:r>
            </a:p>
          </p:txBody>
        </p:sp>
        <p:sp>
          <p:nvSpPr>
            <p:cNvPr id="32" name="TextBox 32"/>
            <p:cNvSpPr txBox="1"/>
            <p:nvPr/>
          </p:nvSpPr>
          <p:spPr>
            <a:xfrm>
              <a:off x="1265987" y="3400901"/>
              <a:ext cx="91607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编码（测试）</a:t>
              </a:r>
            </a:p>
          </p:txBody>
        </p:sp>
        <p:sp>
          <p:nvSpPr>
            <p:cNvPr id="33" name="TextBox 33"/>
            <p:cNvSpPr txBox="1"/>
            <p:nvPr/>
          </p:nvSpPr>
          <p:spPr>
            <a:xfrm>
              <a:off x="1416761" y="3960019"/>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综合测试</a:t>
              </a:r>
            </a:p>
          </p:txBody>
        </p:sp>
        <p:sp>
          <p:nvSpPr>
            <p:cNvPr id="34" name="TextBox 34"/>
            <p:cNvSpPr txBox="1"/>
            <p:nvPr/>
          </p:nvSpPr>
          <p:spPr>
            <a:xfrm>
              <a:off x="1567536" y="451913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维护</a:t>
              </a:r>
            </a:p>
          </p:txBody>
        </p:sp>
      </p:grpSp>
      <p:grpSp>
        <p:nvGrpSpPr>
          <p:cNvPr id="44" name="c2-card-1"/>
          <p:cNvGrpSpPr/>
          <p:nvPr/>
        </p:nvGrpSpPr>
        <p:grpSpPr>
          <a:xfrm>
            <a:off x="5598795" y="1524000"/>
            <a:ext cx="6059805" cy="1489710"/>
            <a:chOff x="5598795" y="1524000"/>
            <a:chExt cx="6059805" cy="1489710"/>
          </a:xfrm>
        </p:grpSpPr>
        <p:sp>
          <p:nvSpPr>
            <p:cNvPr id="36" name="Rectangle 36"/>
            <p:cNvSpPr/>
            <p:nvPr/>
          </p:nvSpPr>
          <p:spPr>
            <a:xfrm>
              <a:off x="5598795" y="1524000"/>
              <a:ext cx="6059805" cy="1489710"/>
            </a:xfrm>
            <a:prstGeom prst="roundRect">
              <a:avLst>
                <a:gd name="adj" fmla="val 8951"/>
              </a:avLst>
            </a:prstGeom>
            <a:solidFill>
              <a:srgbClr val="334E68"/>
            </a:solidFill>
            <a:ln>
              <a:noFill/>
            </a:ln>
          </p:spPr>
        </p:sp>
        <p:sp>
          <p:nvSpPr>
            <p:cNvPr id="37" name="Rectangle 37"/>
            <p:cNvSpPr/>
            <p:nvPr/>
          </p:nvSpPr>
          <p:spPr>
            <a:xfrm>
              <a:off x="5785485" y="1710690"/>
              <a:ext cx="1454468" cy="238125"/>
            </a:xfrm>
            <a:prstGeom prst="roundRect">
              <a:avLst>
                <a:gd name="adj" fmla="val 50000"/>
              </a:avLst>
            </a:prstGeom>
            <a:solidFill>
              <a:srgbClr val="243B53"/>
            </a:solidFill>
            <a:ln>
              <a:noFill/>
            </a:ln>
          </p:spPr>
        </p:sp>
        <p:sp>
          <p:nvSpPr>
            <p:cNvPr id="38" name="TextBox 38"/>
            <p:cNvSpPr txBox="1"/>
            <p:nvPr/>
          </p:nvSpPr>
          <p:spPr>
            <a:xfrm>
              <a:off x="5848604" y="1743551"/>
              <a:ext cx="1329182"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为什么可以不带反馈环</a:t>
              </a:r>
            </a:p>
          </p:txBody>
        </p:sp>
        <p:sp>
          <p:nvSpPr>
            <p:cNvPr id="39" name="Ellipse 39"/>
            <p:cNvSpPr/>
            <p:nvPr/>
          </p:nvSpPr>
          <p:spPr>
            <a:xfrm>
              <a:off x="5794058" y="2110740"/>
              <a:ext cx="59055" cy="59055"/>
            </a:xfrm>
            <a:prstGeom prst="ellipse">
              <a:avLst/>
            </a:prstGeom>
            <a:solidFill>
              <a:srgbClr val="FFFFFF"/>
            </a:solidFill>
            <a:ln>
              <a:noFill/>
            </a:ln>
          </p:spPr>
        </p:sp>
        <p:sp>
          <p:nvSpPr>
            <p:cNvPr id="40" name="TextBox 40"/>
            <p:cNvSpPr txBox="1"/>
            <p:nvPr/>
          </p:nvSpPr>
          <p:spPr>
            <a:xfrm>
              <a:off x="5950077" y="2054542"/>
              <a:ext cx="473887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原型已经通过与用户交互得到验证，需求在开发前基本稳定</a:t>
              </a:r>
            </a:p>
          </p:txBody>
        </p:sp>
        <p:sp>
          <p:nvSpPr>
            <p:cNvPr id="41" name="Ellipse 41"/>
            <p:cNvSpPr/>
            <p:nvPr/>
          </p:nvSpPr>
          <p:spPr>
            <a:xfrm>
              <a:off x="5794058" y="2411730"/>
              <a:ext cx="59055" cy="59055"/>
            </a:xfrm>
            <a:prstGeom prst="ellipse">
              <a:avLst/>
            </a:prstGeom>
            <a:solidFill>
              <a:srgbClr val="FFFFFF"/>
            </a:solidFill>
            <a:ln>
              <a:noFill/>
            </a:ln>
          </p:spPr>
        </p:sp>
        <p:sp>
          <p:nvSpPr>
            <p:cNvPr id="42" name="TextBox 42"/>
            <p:cNvSpPr txBox="1"/>
            <p:nvPr/>
          </p:nvSpPr>
          <p:spPr>
            <a:xfrm>
              <a:off x="5950077" y="2355532"/>
              <a:ext cx="492061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开发人员建原型时已经学到很多，后面的设计和编码风险变小</a:t>
              </a:r>
            </a:p>
          </p:txBody>
        </p:sp>
        <p:sp>
          <p:nvSpPr>
            <p:cNvPr id="43" name="TextBox 43"/>
            <p:cNvSpPr txBox="1"/>
            <p:nvPr/>
          </p:nvSpPr>
          <p:spPr>
            <a:xfrm>
              <a:off x="5779770" y="2651284"/>
              <a:ext cx="4233113" cy="220028"/>
            </a:xfrm>
            <a:prstGeom prst="rect">
              <a:avLst/>
            </a:prstGeom>
            <a:noFill/>
            <a:ln>
              <a:noFill/>
            </a:ln>
          </p:spPr>
          <p:txBody>
            <a:bodyPr wrap="none" lIns="0" tIns="0" rIns="0" bIns="0" anchor="t" anchorCtr="0">
              <a:spAutoFit/>
            </a:bodyPr>
            <a:lstStyle/>
            <a:p>
              <a:pPr algn="l"/>
              <a:r>
                <a:rPr lang="zh-CN" sz="1120" dirty="0">
                  <a:solidFill>
                    <a:srgbClr val="FFFFFF"/>
                  </a:solidFill>
                  <a:latin typeface="+mn-lt"/>
                  <a:ea typeface="+mn-ea"/>
                  <a:cs typeface="+mn-cs"/>
                </a:rPr>
                <a:t>开发基本按线性顺序进行，只有维护阶段的虚线箭头回到前面。</a:t>
              </a:r>
            </a:p>
          </p:txBody>
        </p:sp>
      </p:grpSp>
      <p:grpSp>
        <p:nvGrpSpPr>
          <p:cNvPr id="50" name="c2-bullets-2"/>
          <p:cNvGrpSpPr/>
          <p:nvPr/>
        </p:nvGrpSpPr>
        <p:grpSpPr>
          <a:xfrm>
            <a:off x="5591937" y="3206115"/>
            <a:ext cx="5891403" cy="1147001"/>
            <a:chOff x="5591937" y="3206115"/>
            <a:chExt cx="5891403" cy="1147001"/>
          </a:xfrm>
        </p:grpSpPr>
        <p:sp>
          <p:nvSpPr>
            <p:cNvPr id="45" name="TextBox 45"/>
            <p:cNvSpPr txBox="1"/>
            <p:nvPr/>
          </p:nvSpPr>
          <p:spPr>
            <a:xfrm>
              <a:off x="5591937" y="3206115"/>
              <a:ext cx="1285875"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原型模型的优势</a:t>
              </a:r>
            </a:p>
          </p:txBody>
        </p:sp>
        <p:sp>
          <p:nvSpPr>
            <p:cNvPr id="46" name="Freeform 46"/>
            <p:cNvSpPr/>
            <p:nvPr/>
          </p:nvSpPr>
          <p:spPr>
            <a:xfrm>
              <a:off x="5598795" y="3551872"/>
              <a:ext cx="129540" cy="104775"/>
            </a:xfrm>
            <a:custGeom>
              <a:avLst/>
              <a:gdLst/>
              <a:ahLst/>
              <a:cxnLst/>
              <a:rect l="l" t="t" r="r" b="b"/>
              <a:pathLst>
                <a:path w="129540" h="104775">
                  <a:moveTo>
                    <a:pt x="0" y="55245"/>
                  </a:moveTo>
                  <a:lnTo>
                    <a:pt x="49530" y="104775"/>
                  </a:lnTo>
                  <a:lnTo>
                    <a:pt x="129540" y="0"/>
                  </a:lnTo>
                </a:path>
              </a:pathLst>
            </a:custGeom>
            <a:noFill/>
            <a:ln w="24765" cap="rnd">
              <a:solidFill>
                <a:srgbClr val="14A38B"/>
              </a:solidFill>
              <a:round/>
            </a:ln>
          </p:spPr>
        </p:sp>
        <p:sp>
          <p:nvSpPr>
            <p:cNvPr id="47" name="TextBox 47"/>
            <p:cNvSpPr txBox="1"/>
            <p:nvPr/>
          </p:nvSpPr>
          <p:spPr>
            <a:xfrm>
              <a:off x="5835777" y="3523298"/>
              <a:ext cx="564756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统一客户和开发人员对软件项目需求的理解，有助于需求的定义和确认</a:t>
              </a:r>
            </a:p>
          </p:txBody>
        </p:sp>
        <p:sp>
          <p:nvSpPr>
            <p:cNvPr id="48" name="Freeform 48"/>
            <p:cNvSpPr/>
            <p:nvPr/>
          </p:nvSpPr>
          <p:spPr>
            <a:xfrm>
              <a:off x="5598795" y="3860482"/>
              <a:ext cx="129540" cy="104775"/>
            </a:xfrm>
            <a:custGeom>
              <a:avLst/>
              <a:gdLst/>
              <a:ahLst/>
              <a:cxnLst/>
              <a:rect l="l" t="t" r="r" b="b"/>
              <a:pathLst>
                <a:path w="129540" h="104775">
                  <a:moveTo>
                    <a:pt x="0" y="55245"/>
                  </a:moveTo>
                  <a:lnTo>
                    <a:pt x="49530" y="104775"/>
                  </a:lnTo>
                  <a:lnTo>
                    <a:pt x="129540" y="0"/>
                  </a:lnTo>
                </a:path>
              </a:pathLst>
            </a:custGeom>
            <a:noFill/>
            <a:ln w="24765" cap="rnd">
              <a:solidFill>
                <a:srgbClr val="14A38B"/>
              </a:solidFill>
              <a:round/>
            </a:ln>
          </p:spPr>
        </p:sp>
        <p:sp>
          <p:nvSpPr>
            <p:cNvPr id="49" name="TextBox 49"/>
            <p:cNvSpPr txBox="1"/>
            <p:nvPr/>
          </p:nvSpPr>
          <p:spPr>
            <a:xfrm>
              <a:off x="5835777" y="3831908"/>
              <a:ext cx="55001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可以与瀑布模型结合：用原型收集真实需求，再把客户满意的原型作为瀑</a:t>
              </a:r>
              <a:br/>
              <a:r>
                <a:rPr lang="zh-CN" sz="1350" dirty="0">
                  <a:solidFill>
                    <a:srgbClr val="1F2937"/>
                  </a:solidFill>
                  <a:latin typeface="+mn-lt"/>
                  <a:ea typeface="+mn-ea"/>
                  <a:cs typeface="+mn-cs"/>
                </a:rPr>
                <a:t>布模型的输入</a:t>
              </a:r>
            </a:p>
          </p:txBody>
        </p:sp>
      </p:grpSp>
      <p:grpSp>
        <p:nvGrpSpPr>
          <p:cNvPr id="60" name="c2-card-3"/>
          <p:cNvGrpSpPr/>
          <p:nvPr/>
        </p:nvGrpSpPr>
        <p:grpSpPr>
          <a:xfrm>
            <a:off x="5598795" y="4470082"/>
            <a:ext cx="6059805" cy="1746885"/>
            <a:chOff x="5598795" y="4470082"/>
            <a:chExt cx="6059805" cy="1746885"/>
          </a:xfrm>
        </p:grpSpPr>
        <p:sp>
          <p:nvSpPr>
            <p:cNvPr id="51" name="Rectangle 51"/>
            <p:cNvSpPr/>
            <p:nvPr/>
          </p:nvSpPr>
          <p:spPr>
            <a:xfrm>
              <a:off x="5598795" y="4470082"/>
              <a:ext cx="6059805" cy="1746885"/>
            </a:xfrm>
            <a:prstGeom prst="roundRect">
              <a:avLst>
                <a:gd name="adj" fmla="val 7634"/>
              </a:avLst>
            </a:prstGeom>
            <a:solidFill>
              <a:srgbClr val="FFFFFF"/>
            </a:solidFill>
            <a:ln w="14288">
              <a:solidFill>
                <a:srgbClr val="D9DFEA"/>
              </a:solidFill>
            </a:ln>
          </p:spPr>
        </p:sp>
        <p:sp>
          <p:nvSpPr>
            <p:cNvPr id="52" name="Rectangle 52"/>
            <p:cNvSpPr/>
            <p:nvPr/>
          </p:nvSpPr>
          <p:spPr>
            <a:xfrm>
              <a:off x="5608320" y="4603432"/>
              <a:ext cx="47625" cy="1480185"/>
            </a:xfrm>
            <a:prstGeom prst="roundRect">
              <a:avLst>
                <a:gd name="adj" fmla="val 50000"/>
              </a:avLst>
            </a:prstGeom>
            <a:solidFill>
              <a:srgbClr val="5B6475"/>
            </a:solidFill>
            <a:ln>
              <a:noFill/>
            </a:ln>
          </p:spPr>
        </p:sp>
        <p:sp>
          <p:nvSpPr>
            <p:cNvPr id="53" name="Rectangle 53"/>
            <p:cNvSpPr/>
            <p:nvPr/>
          </p:nvSpPr>
          <p:spPr>
            <a:xfrm>
              <a:off x="5823585" y="4656772"/>
              <a:ext cx="1081088" cy="238125"/>
            </a:xfrm>
            <a:prstGeom prst="roundRect">
              <a:avLst>
                <a:gd name="adj" fmla="val 50000"/>
              </a:avLst>
            </a:prstGeom>
            <a:solidFill>
              <a:srgbClr val="F4F6FB"/>
            </a:solidFill>
            <a:ln>
              <a:noFill/>
            </a:ln>
          </p:spPr>
        </p:sp>
        <p:sp>
          <p:nvSpPr>
            <p:cNvPr id="54" name="TextBox 54"/>
            <p:cNvSpPr txBox="1"/>
            <p:nvPr/>
          </p:nvSpPr>
          <p:spPr>
            <a:xfrm>
              <a:off x="5897905" y="4689634"/>
              <a:ext cx="933399"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原型的两种用法</a:t>
              </a:r>
            </a:p>
          </p:txBody>
        </p:sp>
        <p:sp>
          <p:nvSpPr>
            <p:cNvPr id="55" name="Ellipse 55"/>
            <p:cNvSpPr/>
            <p:nvPr/>
          </p:nvSpPr>
          <p:spPr>
            <a:xfrm>
              <a:off x="5832158" y="5056822"/>
              <a:ext cx="59055" cy="59055"/>
            </a:xfrm>
            <a:prstGeom prst="ellipse">
              <a:avLst/>
            </a:prstGeom>
            <a:solidFill>
              <a:srgbClr val="334E68"/>
            </a:solidFill>
            <a:ln>
              <a:noFill/>
            </a:ln>
          </p:spPr>
        </p:sp>
        <p:sp>
          <p:nvSpPr>
            <p:cNvPr id="56" name="TextBox 56"/>
            <p:cNvSpPr txBox="1"/>
            <p:nvPr/>
          </p:nvSpPr>
          <p:spPr>
            <a:xfrm>
              <a:off x="5988177" y="5000625"/>
              <a:ext cx="437540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抛弃型</a:t>
              </a:r>
              <a:r>
                <a:rPr lang="zh-CN" sz="1350" dirty="0">
                  <a:solidFill>
                    <a:srgbClr val="1F2937"/>
                  </a:solidFill>
                  <a:latin typeface="+mn-lt"/>
                  <a:ea typeface="+mn-ea"/>
                  <a:cs typeface="+mn-cs"/>
                </a:rPr>
                <a:t>：只用来澄清需求，谈妥后丢掉，产品重新开发</a:t>
              </a:r>
            </a:p>
          </p:txBody>
        </p:sp>
        <p:sp>
          <p:nvSpPr>
            <p:cNvPr id="57" name="Ellipse 57"/>
            <p:cNvSpPr/>
            <p:nvPr/>
          </p:nvSpPr>
          <p:spPr>
            <a:xfrm>
              <a:off x="5832158" y="5356860"/>
              <a:ext cx="59055" cy="59055"/>
            </a:xfrm>
            <a:prstGeom prst="ellipse">
              <a:avLst/>
            </a:prstGeom>
            <a:solidFill>
              <a:srgbClr val="334E68"/>
            </a:solidFill>
            <a:ln>
              <a:noFill/>
            </a:ln>
          </p:spPr>
        </p:sp>
        <p:sp>
          <p:nvSpPr>
            <p:cNvPr id="58" name="TextBox 58"/>
            <p:cNvSpPr txBox="1"/>
            <p:nvPr/>
          </p:nvSpPr>
          <p:spPr>
            <a:xfrm>
              <a:off x="5988177" y="5300662"/>
              <a:ext cx="515721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演化型</a:t>
              </a:r>
              <a:r>
                <a:rPr lang="zh-CN" sz="1350" dirty="0">
                  <a:solidFill>
                    <a:srgbClr val="1F2937"/>
                  </a:solidFill>
                  <a:latin typeface="+mn-lt"/>
                  <a:ea typeface="+mn-ea"/>
                  <a:cs typeface="+mn-cs"/>
                </a:rPr>
                <a:t>：在原型上不断完善，最后演化成产品，质量要从一开始就控</a:t>
              </a:r>
              <a:br/>
              <a:r>
                <a:rPr lang="zh-CN" sz="1350" dirty="0">
                  <a:solidFill>
                    <a:srgbClr val="1F2937"/>
                  </a:solidFill>
                  <a:latin typeface="+mn-lt"/>
                  <a:ea typeface="+mn-ea"/>
                  <a:cs typeface="+mn-cs"/>
                </a:rPr>
                <a:t>制</a:t>
              </a:r>
            </a:p>
          </p:txBody>
        </p:sp>
        <p:sp>
          <p:nvSpPr>
            <p:cNvPr id="59" name="TextBox 59"/>
            <p:cNvSpPr txBox="1"/>
            <p:nvPr/>
          </p:nvSpPr>
          <p:spPr>
            <a:xfrm>
              <a:off x="5817870" y="5854541"/>
              <a:ext cx="4383888"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适用场合：用户说不清要什么，或者界面和交互占比较大的系统。</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2" name="TextBox 6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34</a:t>
              </a:r>
            </a:p>
          </p:txBody>
        </p:sp>
      </p:gr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软件过程与传统过程模型</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阶段式开发：软件是随时间演化出来的</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3" name="c1-card-1"/>
          <p:cNvGrpSpPr/>
          <p:nvPr/>
        </p:nvGrpSpPr>
        <p:grpSpPr>
          <a:xfrm>
            <a:off x="533400" y="1524000"/>
            <a:ext cx="5626418" cy="2133600"/>
            <a:chOff x="533400" y="1524000"/>
            <a:chExt cx="5626418" cy="2133600"/>
          </a:xfrm>
        </p:grpSpPr>
        <p:sp>
          <p:nvSpPr>
            <p:cNvPr id="7" name="Rectangle 7"/>
            <p:cNvSpPr/>
            <p:nvPr/>
          </p:nvSpPr>
          <p:spPr>
            <a:xfrm>
              <a:off x="533400" y="1524000"/>
              <a:ext cx="5626418" cy="2133600"/>
            </a:xfrm>
            <a:prstGeom prst="roundRect">
              <a:avLst>
                <a:gd name="adj" fmla="val 6250"/>
              </a:avLst>
            </a:prstGeom>
            <a:solidFill>
              <a:srgbClr val="FFFFFF"/>
            </a:solidFill>
            <a:ln w="14288">
              <a:solidFill>
                <a:srgbClr val="D9DFEA"/>
              </a:solidFill>
            </a:ln>
          </p:spPr>
        </p:sp>
        <p:sp>
          <p:nvSpPr>
            <p:cNvPr id="8" name="Rectangle 8"/>
            <p:cNvSpPr/>
            <p:nvPr/>
          </p:nvSpPr>
          <p:spPr>
            <a:xfrm>
              <a:off x="542925" y="1657350"/>
              <a:ext cx="47625" cy="1866900"/>
            </a:xfrm>
            <a:prstGeom prst="roundRect">
              <a:avLst>
                <a:gd name="adj" fmla="val 50000"/>
              </a:avLst>
            </a:prstGeom>
            <a:solidFill>
              <a:srgbClr val="334E68"/>
            </a:solidFill>
            <a:ln>
              <a:noFill/>
            </a:ln>
          </p:spPr>
        </p:sp>
        <p:sp>
          <p:nvSpPr>
            <p:cNvPr id="9" name="Rectangle 9"/>
            <p:cNvSpPr/>
            <p:nvPr/>
          </p:nvSpPr>
          <p:spPr>
            <a:xfrm>
              <a:off x="781050" y="1733550"/>
              <a:ext cx="1062990" cy="257175"/>
            </a:xfrm>
            <a:prstGeom prst="roundRect">
              <a:avLst>
                <a:gd name="adj" fmla="val 50000"/>
              </a:avLst>
            </a:prstGeom>
            <a:solidFill>
              <a:srgbClr val="E7EDF3"/>
            </a:solidFill>
            <a:ln>
              <a:noFill/>
            </a:ln>
          </p:spPr>
        </p:sp>
        <p:sp>
          <p:nvSpPr>
            <p:cNvPr id="10" name="TextBox 10"/>
            <p:cNvSpPr txBox="1"/>
            <p:nvPr/>
          </p:nvSpPr>
          <p:spPr>
            <a:xfrm>
              <a:off x="854507" y="1769269"/>
              <a:ext cx="916076"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为什么要演化</a:t>
              </a:r>
            </a:p>
          </p:txBody>
        </p:sp>
        <p:sp>
          <p:nvSpPr>
            <p:cNvPr id="11" name="TextBox 11"/>
            <p:cNvSpPr txBox="1"/>
            <p:nvPr/>
          </p:nvSpPr>
          <p:spPr>
            <a:xfrm>
              <a:off x="773430" y="2110740"/>
              <a:ext cx="4968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软件系统和其他所有复杂系统一样，是随着时间不断演化</a:t>
              </a:r>
              <a:br/>
              <a:r>
                <a:rPr lang="zh-CN" sz="1500" dirty="0">
                  <a:solidFill>
                    <a:srgbClr val="1F2937"/>
                  </a:solidFill>
                  <a:latin typeface="+mn-lt"/>
                  <a:ea typeface="+mn-ea"/>
                  <a:cs typeface="+mn-cs"/>
                </a:rPr>
                <a:t>的。业务需求和产品需求随着开发向前推进经常发生改变，</a:t>
              </a:r>
              <a:br/>
              <a:r>
                <a:rPr lang="zh-CN" sz="1500" dirty="0">
                  <a:solidFill>
                    <a:srgbClr val="1F2937"/>
                  </a:solidFill>
                  <a:latin typeface="+mn-lt"/>
                  <a:ea typeface="+mn-ea"/>
                  <a:cs typeface="+mn-cs"/>
                </a:rPr>
                <a:t>这使得直线式的开发模型不切实际。</a:t>
              </a:r>
            </a:p>
          </p:txBody>
        </p:sp>
        <p:sp>
          <p:nvSpPr>
            <p:cNvPr id="12" name="TextBox 12"/>
            <p:cNvSpPr txBox="1"/>
            <p:nvPr/>
          </p:nvSpPr>
          <p:spPr>
            <a:xfrm>
              <a:off x="774573" y="3014186"/>
              <a:ext cx="488975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5B6475"/>
                  </a:solidFill>
                  <a:latin typeface="+mn-lt"/>
                  <a:ea typeface="+mn-ea"/>
                  <a:cs typeface="+mn-cs"/>
                </a:rPr>
                <a:t>来自时间、成本、人力以及技术等方面的压力，往往使演化成为软件</a:t>
              </a:r>
              <a:br/>
              <a:r>
                <a:rPr lang="zh-CN" sz="1280" dirty="0">
                  <a:solidFill>
                    <a:srgbClr val="5B6475"/>
                  </a:solidFill>
                  <a:latin typeface="+mn-lt"/>
                  <a:ea typeface="+mn-ea"/>
                  <a:cs typeface="+mn-cs"/>
                </a:rPr>
                <a:t>开发的必经之路。</a:t>
              </a:r>
            </a:p>
          </p:txBody>
        </p:sp>
      </p:grpSp>
      <p:grpSp>
        <p:nvGrpSpPr>
          <p:cNvPr id="35" name="c1-graph-2"/>
          <p:cNvGrpSpPr/>
          <p:nvPr/>
        </p:nvGrpSpPr>
        <p:grpSpPr>
          <a:xfrm>
            <a:off x="697040" y="4089082"/>
            <a:ext cx="5969508" cy="1384935"/>
            <a:chOff x="697040" y="4089082"/>
            <a:chExt cx="5969508" cy="1384935"/>
          </a:xfrm>
        </p:grpSpPr>
        <p:sp>
          <p:nvSpPr>
            <p:cNvPr id="14" name="Freeform 14"/>
            <p:cNvSpPr/>
            <p:nvPr/>
          </p:nvSpPr>
          <p:spPr>
            <a:xfrm>
              <a:off x="1660208" y="4369118"/>
              <a:ext cx="612457" cy="750570"/>
            </a:xfrm>
            <a:custGeom>
              <a:avLst/>
              <a:gdLst/>
              <a:ahLst/>
              <a:cxnLst/>
              <a:rect l="l" t="t" r="r" b="b"/>
              <a:pathLst>
                <a:path w="612457" h="750570">
                  <a:moveTo>
                    <a:pt x="0" y="0"/>
                  </a:moveTo>
                  <a:lnTo>
                    <a:pt x="612457" y="750570"/>
                  </a:lnTo>
                </a:path>
              </a:pathLst>
            </a:custGeom>
            <a:noFill/>
            <a:ln w="17145">
              <a:solidFill>
                <a:srgbClr val="1F2937"/>
              </a:solidFill>
            </a:ln>
          </p:spPr>
        </p:sp>
        <p:sp>
          <p:nvSpPr>
            <p:cNvPr id="15" name="Freeform 15"/>
            <p:cNvSpPr/>
            <p:nvPr/>
          </p:nvSpPr>
          <p:spPr>
            <a:xfrm>
              <a:off x="2235518" y="5090160"/>
              <a:ext cx="97155" cy="103822"/>
            </a:xfrm>
            <a:custGeom>
              <a:avLst/>
              <a:gdLst/>
              <a:ahLst/>
              <a:cxnLst/>
              <a:rect l="l" t="t" r="r" b="b"/>
              <a:pathLst>
                <a:path w="97155" h="103822">
                  <a:moveTo>
                    <a:pt x="97155" y="103822"/>
                  </a:moveTo>
                  <a:lnTo>
                    <a:pt x="0" y="60008"/>
                  </a:lnTo>
                  <a:lnTo>
                    <a:pt x="73343" y="0"/>
                  </a:lnTo>
                  <a:close/>
                </a:path>
              </a:pathLst>
            </a:custGeom>
            <a:solidFill>
              <a:srgbClr val="1F2937"/>
            </a:solidFill>
            <a:ln>
              <a:noFill/>
            </a:ln>
          </p:spPr>
        </p:sp>
        <p:sp>
          <p:nvSpPr>
            <p:cNvPr id="16" name="Freeform 16"/>
            <p:cNvSpPr/>
            <p:nvPr/>
          </p:nvSpPr>
          <p:spPr>
            <a:xfrm>
              <a:off x="3460432" y="4369118"/>
              <a:ext cx="612458" cy="750570"/>
            </a:xfrm>
            <a:custGeom>
              <a:avLst/>
              <a:gdLst/>
              <a:ahLst/>
              <a:cxnLst/>
              <a:rect l="l" t="t" r="r" b="b"/>
              <a:pathLst>
                <a:path w="612458" h="750570">
                  <a:moveTo>
                    <a:pt x="0" y="0"/>
                  </a:moveTo>
                  <a:lnTo>
                    <a:pt x="612458" y="750570"/>
                  </a:lnTo>
                </a:path>
              </a:pathLst>
            </a:custGeom>
            <a:noFill/>
            <a:ln w="17145">
              <a:solidFill>
                <a:srgbClr val="1F2937"/>
              </a:solidFill>
            </a:ln>
          </p:spPr>
        </p:sp>
        <p:sp>
          <p:nvSpPr>
            <p:cNvPr id="17" name="Freeform 17"/>
            <p:cNvSpPr/>
            <p:nvPr/>
          </p:nvSpPr>
          <p:spPr>
            <a:xfrm>
              <a:off x="4035742" y="5090160"/>
              <a:ext cx="97155" cy="103822"/>
            </a:xfrm>
            <a:custGeom>
              <a:avLst/>
              <a:gdLst/>
              <a:ahLst/>
              <a:cxnLst/>
              <a:rect l="l" t="t" r="r" b="b"/>
              <a:pathLst>
                <a:path w="97155" h="103822">
                  <a:moveTo>
                    <a:pt x="97155" y="103822"/>
                  </a:moveTo>
                  <a:lnTo>
                    <a:pt x="0" y="60008"/>
                  </a:lnTo>
                  <a:lnTo>
                    <a:pt x="74295" y="0"/>
                  </a:lnTo>
                  <a:close/>
                </a:path>
              </a:pathLst>
            </a:custGeom>
            <a:solidFill>
              <a:srgbClr val="1F2937"/>
            </a:solidFill>
            <a:ln>
              <a:noFill/>
            </a:ln>
          </p:spPr>
        </p:sp>
        <p:sp>
          <p:nvSpPr>
            <p:cNvPr id="18" name="Freeform 18"/>
            <p:cNvSpPr/>
            <p:nvPr/>
          </p:nvSpPr>
          <p:spPr>
            <a:xfrm>
              <a:off x="5261610" y="4369118"/>
              <a:ext cx="611505" cy="750570"/>
            </a:xfrm>
            <a:custGeom>
              <a:avLst/>
              <a:gdLst/>
              <a:ahLst/>
              <a:cxnLst/>
              <a:rect l="l" t="t" r="r" b="b"/>
              <a:pathLst>
                <a:path w="611505" h="750570">
                  <a:moveTo>
                    <a:pt x="0" y="0"/>
                  </a:moveTo>
                  <a:lnTo>
                    <a:pt x="611505" y="750570"/>
                  </a:lnTo>
                </a:path>
              </a:pathLst>
            </a:custGeom>
            <a:noFill/>
            <a:ln w="17145">
              <a:solidFill>
                <a:srgbClr val="1F2937"/>
              </a:solidFill>
            </a:ln>
          </p:spPr>
        </p:sp>
        <p:sp>
          <p:nvSpPr>
            <p:cNvPr id="19" name="Freeform 19"/>
            <p:cNvSpPr/>
            <p:nvPr/>
          </p:nvSpPr>
          <p:spPr>
            <a:xfrm>
              <a:off x="5835968" y="5090160"/>
              <a:ext cx="97155" cy="103822"/>
            </a:xfrm>
            <a:custGeom>
              <a:avLst/>
              <a:gdLst/>
              <a:ahLst/>
              <a:cxnLst/>
              <a:rect l="l" t="t" r="r" b="b"/>
              <a:pathLst>
                <a:path w="97155" h="103822">
                  <a:moveTo>
                    <a:pt x="97155" y="103822"/>
                  </a:moveTo>
                  <a:lnTo>
                    <a:pt x="0" y="60008"/>
                  </a:lnTo>
                  <a:lnTo>
                    <a:pt x="74295" y="0"/>
                  </a:lnTo>
                  <a:close/>
                </a:path>
              </a:pathLst>
            </a:custGeom>
            <a:solidFill>
              <a:srgbClr val="1F2937"/>
            </a:solidFill>
            <a:ln>
              <a:noFill/>
            </a:ln>
          </p:spPr>
        </p:sp>
        <p:sp>
          <p:nvSpPr>
            <p:cNvPr id="20" name="Rectangle 20"/>
            <p:cNvSpPr/>
            <p:nvPr/>
          </p:nvSpPr>
          <p:spPr>
            <a:xfrm>
              <a:off x="926782" y="4089082"/>
              <a:ext cx="1238250" cy="280035"/>
            </a:xfrm>
            <a:prstGeom prst="roundRect">
              <a:avLst>
                <a:gd name="adj" fmla="val 34014"/>
              </a:avLst>
            </a:prstGeom>
            <a:solidFill>
              <a:srgbClr val="FFFFFF"/>
            </a:solidFill>
            <a:ln w="17145">
              <a:solidFill>
                <a:srgbClr val="334E68"/>
              </a:solidFill>
            </a:ln>
          </p:spPr>
        </p:sp>
        <p:sp>
          <p:nvSpPr>
            <p:cNvPr id="21" name="Rectangle 21"/>
            <p:cNvSpPr/>
            <p:nvPr/>
          </p:nvSpPr>
          <p:spPr>
            <a:xfrm>
              <a:off x="2727960" y="4089082"/>
              <a:ext cx="1238250" cy="280035"/>
            </a:xfrm>
            <a:prstGeom prst="roundRect">
              <a:avLst>
                <a:gd name="adj" fmla="val 34014"/>
              </a:avLst>
            </a:prstGeom>
            <a:solidFill>
              <a:srgbClr val="FFFFFF"/>
            </a:solidFill>
            <a:ln w="17145">
              <a:solidFill>
                <a:srgbClr val="334E68"/>
              </a:solidFill>
            </a:ln>
          </p:spPr>
        </p:sp>
        <p:sp>
          <p:nvSpPr>
            <p:cNvPr id="22" name="Rectangle 22"/>
            <p:cNvSpPr/>
            <p:nvPr/>
          </p:nvSpPr>
          <p:spPr>
            <a:xfrm>
              <a:off x="4528185" y="4089082"/>
              <a:ext cx="1238250" cy="280035"/>
            </a:xfrm>
            <a:prstGeom prst="roundRect">
              <a:avLst>
                <a:gd name="adj" fmla="val 34014"/>
              </a:avLst>
            </a:prstGeom>
            <a:solidFill>
              <a:srgbClr val="FFFFFF"/>
            </a:solidFill>
            <a:ln w="17145">
              <a:solidFill>
                <a:srgbClr val="334E68"/>
              </a:solidFill>
            </a:ln>
          </p:spPr>
        </p:sp>
        <p:sp>
          <p:nvSpPr>
            <p:cNvPr id="23" name="Rectangle 23"/>
            <p:cNvSpPr/>
            <p:nvPr/>
          </p:nvSpPr>
          <p:spPr>
            <a:xfrm>
              <a:off x="1826895" y="5193982"/>
              <a:ext cx="1238250" cy="280035"/>
            </a:xfrm>
            <a:prstGeom prst="roundRect">
              <a:avLst>
                <a:gd name="adj" fmla="val 34014"/>
              </a:avLst>
            </a:prstGeom>
            <a:solidFill>
              <a:srgbClr val="FDEEE7"/>
            </a:solidFill>
            <a:ln w="17145">
              <a:solidFill>
                <a:srgbClr val="F26B3A"/>
              </a:solidFill>
            </a:ln>
          </p:spPr>
        </p:sp>
        <p:sp>
          <p:nvSpPr>
            <p:cNvPr id="24" name="Rectangle 24"/>
            <p:cNvSpPr/>
            <p:nvPr/>
          </p:nvSpPr>
          <p:spPr>
            <a:xfrm>
              <a:off x="3628072" y="5193982"/>
              <a:ext cx="1238250" cy="280035"/>
            </a:xfrm>
            <a:prstGeom prst="roundRect">
              <a:avLst>
                <a:gd name="adj" fmla="val 34014"/>
              </a:avLst>
            </a:prstGeom>
            <a:solidFill>
              <a:srgbClr val="FDEEE7"/>
            </a:solidFill>
            <a:ln w="17145">
              <a:solidFill>
                <a:srgbClr val="F26B3A"/>
              </a:solidFill>
            </a:ln>
          </p:spPr>
        </p:sp>
        <p:sp>
          <p:nvSpPr>
            <p:cNvPr id="25" name="Rectangle 25"/>
            <p:cNvSpPr/>
            <p:nvPr/>
          </p:nvSpPr>
          <p:spPr>
            <a:xfrm>
              <a:off x="5428298" y="5193982"/>
              <a:ext cx="1238250" cy="280035"/>
            </a:xfrm>
            <a:prstGeom prst="roundRect">
              <a:avLst>
                <a:gd name="adj" fmla="val 34014"/>
              </a:avLst>
            </a:prstGeom>
            <a:solidFill>
              <a:srgbClr val="FDEEE7"/>
            </a:solidFill>
            <a:ln w="17145">
              <a:solidFill>
                <a:srgbClr val="F26B3A"/>
              </a:solidFill>
            </a:ln>
          </p:spPr>
        </p:sp>
        <p:sp>
          <p:nvSpPr>
            <p:cNvPr id="26" name="TextBox 26"/>
            <p:cNvSpPr txBox="1"/>
            <p:nvPr/>
          </p:nvSpPr>
          <p:spPr>
            <a:xfrm>
              <a:off x="1217056" y="4163378"/>
              <a:ext cx="657702"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构建版本1</a:t>
              </a:r>
            </a:p>
          </p:txBody>
        </p:sp>
        <p:sp>
          <p:nvSpPr>
            <p:cNvPr id="27" name="TextBox 27"/>
            <p:cNvSpPr txBox="1"/>
            <p:nvPr/>
          </p:nvSpPr>
          <p:spPr>
            <a:xfrm>
              <a:off x="3018234" y="4163378"/>
              <a:ext cx="657702"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构建版本2</a:t>
              </a:r>
            </a:p>
          </p:txBody>
        </p:sp>
        <p:sp>
          <p:nvSpPr>
            <p:cNvPr id="28" name="TextBox 28"/>
            <p:cNvSpPr txBox="1"/>
            <p:nvPr/>
          </p:nvSpPr>
          <p:spPr>
            <a:xfrm>
              <a:off x="4818459" y="4163378"/>
              <a:ext cx="657702"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构建版本3</a:t>
              </a:r>
            </a:p>
          </p:txBody>
        </p:sp>
        <p:sp>
          <p:nvSpPr>
            <p:cNvPr id="29" name="TextBox 29"/>
            <p:cNvSpPr txBox="1"/>
            <p:nvPr/>
          </p:nvSpPr>
          <p:spPr>
            <a:xfrm>
              <a:off x="2117169" y="5268278"/>
              <a:ext cx="657702"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使用版本1</a:t>
              </a:r>
            </a:p>
          </p:txBody>
        </p:sp>
        <p:sp>
          <p:nvSpPr>
            <p:cNvPr id="30" name="TextBox 30"/>
            <p:cNvSpPr txBox="1"/>
            <p:nvPr/>
          </p:nvSpPr>
          <p:spPr>
            <a:xfrm>
              <a:off x="3918346" y="5268278"/>
              <a:ext cx="657702"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使用版本2</a:t>
              </a:r>
            </a:p>
          </p:txBody>
        </p:sp>
        <p:sp>
          <p:nvSpPr>
            <p:cNvPr id="31" name="TextBox 31"/>
            <p:cNvSpPr txBox="1"/>
            <p:nvPr/>
          </p:nvSpPr>
          <p:spPr>
            <a:xfrm>
              <a:off x="5718571" y="5268278"/>
              <a:ext cx="657702"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使用版本3</a:t>
              </a:r>
            </a:p>
          </p:txBody>
        </p:sp>
        <p:sp>
          <p:nvSpPr>
            <p:cNvPr id="32" name="TextBox 32"/>
            <p:cNvSpPr txBox="1"/>
            <p:nvPr/>
          </p:nvSpPr>
          <p:spPr>
            <a:xfrm>
              <a:off x="697040" y="4123849"/>
              <a:ext cx="537616"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开发人员</a:t>
              </a:r>
            </a:p>
          </p:txBody>
        </p:sp>
        <p:sp>
          <p:nvSpPr>
            <p:cNvPr id="33" name="TextBox 33"/>
            <p:cNvSpPr txBox="1"/>
            <p:nvPr/>
          </p:nvSpPr>
          <p:spPr>
            <a:xfrm>
              <a:off x="697040" y="5228749"/>
              <a:ext cx="273761"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用户</a:t>
              </a:r>
            </a:p>
          </p:txBody>
        </p:sp>
        <p:sp>
          <p:nvSpPr>
            <p:cNvPr id="34" name="TextBox 34"/>
            <p:cNvSpPr txBox="1"/>
            <p:nvPr/>
          </p:nvSpPr>
          <p:spPr>
            <a:xfrm>
              <a:off x="5573357" y="4695349"/>
              <a:ext cx="273761"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时间</a:t>
              </a:r>
            </a:p>
          </p:txBody>
        </p:sp>
      </p:grpSp>
      <p:grpSp>
        <p:nvGrpSpPr>
          <p:cNvPr id="56" name="c2-compare-1"/>
          <p:cNvGrpSpPr/>
          <p:nvPr/>
        </p:nvGrpSpPr>
        <p:grpSpPr>
          <a:xfrm>
            <a:off x="6464618" y="1524000"/>
            <a:ext cx="5193982" cy="2817495"/>
            <a:chOff x="6464618" y="1524000"/>
            <a:chExt cx="5193982" cy="2817495"/>
          </a:xfrm>
        </p:grpSpPr>
        <p:sp>
          <p:nvSpPr>
            <p:cNvPr id="36" name="Rectangle 36"/>
            <p:cNvSpPr/>
            <p:nvPr/>
          </p:nvSpPr>
          <p:spPr>
            <a:xfrm>
              <a:off x="6464618" y="1524000"/>
              <a:ext cx="2425065" cy="2817495"/>
            </a:xfrm>
            <a:prstGeom prst="roundRect">
              <a:avLst>
                <a:gd name="adj" fmla="val 5499"/>
              </a:avLst>
            </a:prstGeom>
            <a:solidFill>
              <a:srgbClr val="FFFFFF"/>
            </a:solidFill>
            <a:ln w="14288">
              <a:solidFill>
                <a:srgbClr val="D9DFEA"/>
              </a:solidFill>
            </a:ln>
          </p:spPr>
        </p:sp>
        <p:sp>
          <p:nvSpPr>
            <p:cNvPr id="37" name="Rectangle 37"/>
            <p:cNvSpPr/>
            <p:nvPr/>
          </p:nvSpPr>
          <p:spPr>
            <a:xfrm>
              <a:off x="6474142" y="1657350"/>
              <a:ext cx="47625" cy="2550795"/>
            </a:xfrm>
            <a:prstGeom prst="roundRect">
              <a:avLst>
                <a:gd name="adj" fmla="val 50000"/>
              </a:avLst>
            </a:prstGeom>
            <a:solidFill>
              <a:srgbClr val="14A38B"/>
            </a:solidFill>
            <a:ln>
              <a:noFill/>
            </a:ln>
          </p:spPr>
        </p:sp>
        <p:sp>
          <p:nvSpPr>
            <p:cNvPr id="38" name="TextBox 38"/>
            <p:cNvSpPr txBox="1"/>
            <p:nvPr/>
          </p:nvSpPr>
          <p:spPr>
            <a:xfrm>
              <a:off x="6704648" y="1758315"/>
              <a:ext cx="183261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渐增式开发（增量）</a:t>
              </a:r>
            </a:p>
          </p:txBody>
        </p:sp>
        <p:sp>
          <p:nvSpPr>
            <p:cNvPr id="39" name="Ellipse 39"/>
            <p:cNvSpPr/>
            <p:nvPr/>
          </p:nvSpPr>
          <p:spPr>
            <a:xfrm>
              <a:off x="6717983" y="2175510"/>
              <a:ext cx="64770" cy="64770"/>
            </a:xfrm>
            <a:prstGeom prst="ellipse">
              <a:avLst/>
            </a:prstGeom>
            <a:solidFill>
              <a:srgbClr val="334E68"/>
            </a:solidFill>
            <a:ln>
              <a:noFill/>
            </a:ln>
          </p:spPr>
        </p:sp>
        <p:sp>
          <p:nvSpPr>
            <p:cNvPr id="40" name="TextBox 40"/>
            <p:cNvSpPr txBox="1"/>
            <p:nvPr/>
          </p:nvSpPr>
          <p:spPr>
            <a:xfrm>
              <a:off x="6876098" y="2112645"/>
              <a:ext cx="1729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每次增加一块完整的</a:t>
              </a:r>
              <a:br/>
              <a:r>
                <a:rPr lang="zh-CN" sz="1500" dirty="0">
                  <a:solidFill>
                    <a:srgbClr val="1F2937"/>
                  </a:solidFill>
                  <a:latin typeface="+mn-lt"/>
                  <a:ea typeface="+mn-ea"/>
                  <a:cs typeface="+mn-cs"/>
                </a:rPr>
                <a:t>功能</a:t>
              </a:r>
            </a:p>
          </p:txBody>
        </p:sp>
        <p:sp>
          <p:nvSpPr>
            <p:cNvPr id="41" name="Ellipse 41"/>
            <p:cNvSpPr/>
            <p:nvPr/>
          </p:nvSpPr>
          <p:spPr>
            <a:xfrm>
              <a:off x="6717983" y="2796540"/>
              <a:ext cx="64770" cy="64770"/>
            </a:xfrm>
            <a:prstGeom prst="ellipse">
              <a:avLst/>
            </a:prstGeom>
            <a:solidFill>
              <a:srgbClr val="334E68"/>
            </a:solidFill>
            <a:ln>
              <a:noFill/>
            </a:ln>
          </p:spPr>
        </p:sp>
        <p:sp>
          <p:nvSpPr>
            <p:cNvPr id="42" name="TextBox 42"/>
            <p:cNvSpPr txBox="1"/>
            <p:nvPr/>
          </p:nvSpPr>
          <p:spPr>
            <a:xfrm>
              <a:off x="6876098" y="2733675"/>
              <a:ext cx="1729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先做出来的部分已经</a:t>
              </a:r>
              <a:br/>
              <a:r>
                <a:rPr lang="zh-CN" sz="1500" dirty="0">
                  <a:solidFill>
                    <a:srgbClr val="1F2937"/>
                  </a:solidFill>
                  <a:latin typeface="+mn-lt"/>
                  <a:ea typeface="+mn-ea"/>
                  <a:cs typeface="+mn-cs"/>
                </a:rPr>
                <a:t>能用</a:t>
              </a:r>
            </a:p>
          </p:txBody>
        </p:sp>
        <p:sp>
          <p:nvSpPr>
            <p:cNvPr id="43" name="Ellipse 43"/>
            <p:cNvSpPr/>
            <p:nvPr/>
          </p:nvSpPr>
          <p:spPr>
            <a:xfrm>
              <a:off x="6717983" y="3417570"/>
              <a:ext cx="64770" cy="64770"/>
            </a:xfrm>
            <a:prstGeom prst="ellipse">
              <a:avLst/>
            </a:prstGeom>
            <a:solidFill>
              <a:srgbClr val="334E68"/>
            </a:solidFill>
            <a:ln>
              <a:noFill/>
            </a:ln>
          </p:spPr>
        </p:sp>
        <p:sp>
          <p:nvSpPr>
            <p:cNvPr id="44" name="TextBox 44"/>
            <p:cNvSpPr txBox="1"/>
            <p:nvPr/>
          </p:nvSpPr>
          <p:spPr>
            <a:xfrm>
              <a:off x="6876098" y="3354705"/>
              <a:ext cx="16440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关注“功能一块块补</a:t>
              </a:r>
              <a:br/>
              <a:r>
                <a:rPr lang="zh-CN" sz="1500" dirty="0">
                  <a:solidFill>
                    <a:srgbClr val="1F2937"/>
                  </a:solidFill>
                  <a:latin typeface="+mn-lt"/>
                  <a:ea typeface="+mn-ea"/>
                  <a:cs typeface="+mn-cs"/>
                </a:rPr>
                <a:t>齐”</a:t>
              </a:r>
            </a:p>
          </p:txBody>
        </p:sp>
        <p:sp>
          <p:nvSpPr>
            <p:cNvPr id="45" name="Rectangle 45"/>
            <p:cNvSpPr/>
            <p:nvPr/>
          </p:nvSpPr>
          <p:spPr>
            <a:xfrm>
              <a:off x="9233535" y="1524000"/>
              <a:ext cx="2425065" cy="2817495"/>
            </a:xfrm>
            <a:prstGeom prst="roundRect">
              <a:avLst>
                <a:gd name="adj" fmla="val 5499"/>
              </a:avLst>
            </a:prstGeom>
            <a:solidFill>
              <a:srgbClr val="FFFFFF"/>
            </a:solidFill>
            <a:ln w="14288">
              <a:solidFill>
                <a:srgbClr val="D9DFEA"/>
              </a:solidFill>
            </a:ln>
          </p:spPr>
        </p:sp>
        <p:sp>
          <p:nvSpPr>
            <p:cNvPr id="46" name="Rectangle 46"/>
            <p:cNvSpPr/>
            <p:nvPr/>
          </p:nvSpPr>
          <p:spPr>
            <a:xfrm>
              <a:off x="9243060" y="1657350"/>
              <a:ext cx="47625" cy="2550795"/>
            </a:xfrm>
            <a:prstGeom prst="roundRect">
              <a:avLst>
                <a:gd name="adj" fmla="val 50000"/>
              </a:avLst>
            </a:prstGeom>
            <a:solidFill>
              <a:srgbClr val="14A38B"/>
            </a:solidFill>
            <a:ln>
              <a:noFill/>
            </a:ln>
          </p:spPr>
        </p:sp>
        <p:sp>
          <p:nvSpPr>
            <p:cNvPr id="47" name="TextBox 47"/>
            <p:cNvSpPr txBox="1"/>
            <p:nvPr/>
          </p:nvSpPr>
          <p:spPr>
            <a:xfrm>
              <a:off x="9473565" y="1758315"/>
              <a:ext cx="1539240" cy="550545"/>
            </a:xfrm>
            <a:prstGeom prst="rect">
              <a:avLst/>
            </a:prstGeom>
            <a:noFill/>
            <a:ln>
              <a:noFill/>
            </a:ln>
          </p:spPr>
          <p:txBody>
            <a:bodyPr wrap="none" lIns="0" tIns="0" rIns="0" bIns="0" anchor="t" anchorCtr="0">
              <a:spAutoFit/>
            </a:bodyPr>
            <a:lstStyle/>
            <a:p>
              <a:pPr algn="l">
                <a:lnSpc>
                  <a:spcPts val="2025"/>
                </a:lnSpc>
              </a:pPr>
              <a:r>
                <a:rPr lang="zh-CN" sz="1500" b="1" dirty="0">
                  <a:solidFill>
                    <a:srgbClr val="1F2937"/>
                  </a:solidFill>
                  <a:latin typeface="+mn-lt"/>
                  <a:ea typeface="+mn-ea"/>
                  <a:cs typeface="+mn-cs"/>
                </a:rPr>
                <a:t>迭代式开发（螺旋</a:t>
              </a:r>
              <a:br/>
              <a:r>
                <a:rPr lang="zh-CN" sz="1500" b="1" dirty="0">
                  <a:solidFill>
                    <a:srgbClr val="1F2937"/>
                  </a:solidFill>
                  <a:latin typeface="+mn-lt"/>
                  <a:ea typeface="+mn-ea"/>
                  <a:cs typeface="+mn-cs"/>
                </a:rPr>
                <a:t>式）</a:t>
              </a:r>
            </a:p>
          </p:txBody>
        </p:sp>
        <p:sp>
          <p:nvSpPr>
            <p:cNvPr id="48" name="Ellipse 48"/>
            <p:cNvSpPr/>
            <p:nvPr/>
          </p:nvSpPr>
          <p:spPr>
            <a:xfrm>
              <a:off x="9486900" y="2432685"/>
              <a:ext cx="64770" cy="64770"/>
            </a:xfrm>
            <a:prstGeom prst="ellipse">
              <a:avLst/>
            </a:prstGeom>
            <a:solidFill>
              <a:srgbClr val="334E68"/>
            </a:solidFill>
            <a:ln>
              <a:noFill/>
            </a:ln>
          </p:spPr>
        </p:sp>
        <p:sp>
          <p:nvSpPr>
            <p:cNvPr id="49" name="TextBox 49"/>
            <p:cNvSpPr txBox="1"/>
            <p:nvPr/>
          </p:nvSpPr>
          <p:spPr>
            <a:xfrm>
              <a:off x="9645015" y="2369820"/>
              <a:ext cx="1729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一开始各部分都有，</a:t>
              </a:r>
              <a:br/>
              <a:r>
                <a:rPr lang="zh-CN" sz="1500" dirty="0">
                  <a:solidFill>
                    <a:srgbClr val="1F2937"/>
                  </a:solidFill>
                  <a:latin typeface="+mn-lt"/>
                  <a:ea typeface="+mn-ea"/>
                  <a:cs typeface="+mn-cs"/>
                </a:rPr>
                <a:t>但都不完善</a:t>
              </a:r>
            </a:p>
          </p:txBody>
        </p:sp>
        <p:sp>
          <p:nvSpPr>
            <p:cNvPr id="50" name="Ellipse 50"/>
            <p:cNvSpPr/>
            <p:nvPr/>
          </p:nvSpPr>
          <p:spPr>
            <a:xfrm>
              <a:off x="9486900" y="3053715"/>
              <a:ext cx="64770" cy="64770"/>
            </a:xfrm>
            <a:prstGeom prst="ellipse">
              <a:avLst/>
            </a:prstGeom>
            <a:solidFill>
              <a:srgbClr val="334E68"/>
            </a:solidFill>
            <a:ln>
              <a:noFill/>
            </a:ln>
          </p:spPr>
        </p:sp>
        <p:sp>
          <p:nvSpPr>
            <p:cNvPr id="51" name="TextBox 51"/>
            <p:cNvSpPr txBox="1"/>
            <p:nvPr/>
          </p:nvSpPr>
          <p:spPr>
            <a:xfrm>
              <a:off x="9645015" y="2990850"/>
              <a:ext cx="1729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每轮迭代把各部分同</a:t>
              </a:r>
              <a:br/>
              <a:r>
                <a:rPr lang="zh-CN" sz="1500" dirty="0">
                  <a:solidFill>
                    <a:srgbClr val="1F2937"/>
                  </a:solidFill>
                  <a:latin typeface="+mn-lt"/>
                  <a:ea typeface="+mn-ea"/>
                  <a:cs typeface="+mn-cs"/>
                </a:rPr>
                <a:t>时加深</a:t>
              </a:r>
            </a:p>
          </p:txBody>
        </p:sp>
        <p:sp>
          <p:nvSpPr>
            <p:cNvPr id="52" name="Ellipse 52"/>
            <p:cNvSpPr/>
            <p:nvPr/>
          </p:nvSpPr>
          <p:spPr>
            <a:xfrm>
              <a:off x="9486900" y="3674745"/>
              <a:ext cx="64770" cy="64770"/>
            </a:xfrm>
            <a:prstGeom prst="ellipse">
              <a:avLst/>
            </a:prstGeom>
            <a:solidFill>
              <a:srgbClr val="334E68"/>
            </a:solidFill>
            <a:ln>
              <a:noFill/>
            </a:ln>
          </p:spPr>
        </p:sp>
        <p:sp>
          <p:nvSpPr>
            <p:cNvPr id="53" name="TextBox 53"/>
            <p:cNvSpPr txBox="1"/>
            <p:nvPr/>
          </p:nvSpPr>
          <p:spPr>
            <a:xfrm>
              <a:off x="9645015" y="3611880"/>
              <a:ext cx="16440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关注“整体一轮轮变</a:t>
              </a:r>
              <a:br/>
              <a:r>
                <a:rPr lang="zh-CN" sz="1500" dirty="0">
                  <a:solidFill>
                    <a:srgbClr val="1F2937"/>
                  </a:solidFill>
                  <a:latin typeface="+mn-lt"/>
                  <a:ea typeface="+mn-ea"/>
                  <a:cs typeface="+mn-cs"/>
                </a:rPr>
                <a:t>精”</a:t>
              </a:r>
            </a:p>
          </p:txBody>
        </p:sp>
        <p:sp>
          <p:nvSpPr>
            <p:cNvPr id="54" name="Ellipse 54"/>
            <p:cNvSpPr/>
            <p:nvPr/>
          </p:nvSpPr>
          <p:spPr>
            <a:xfrm>
              <a:off x="8900160" y="2770822"/>
              <a:ext cx="323850" cy="323850"/>
            </a:xfrm>
            <a:prstGeom prst="ellipse">
              <a:avLst/>
            </a:prstGeom>
            <a:solidFill>
              <a:srgbClr val="F26B3A"/>
            </a:solidFill>
            <a:ln>
              <a:noFill/>
            </a:ln>
          </p:spPr>
        </p:sp>
        <p:sp>
          <p:nvSpPr>
            <p:cNvPr id="55" name="TextBox 55"/>
            <p:cNvSpPr txBox="1"/>
            <p:nvPr/>
          </p:nvSpPr>
          <p:spPr>
            <a:xfrm>
              <a:off x="8970500" y="2867025"/>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62" name="c2-callout-2"/>
          <p:cNvGrpSpPr/>
          <p:nvPr/>
        </p:nvGrpSpPr>
        <p:grpSpPr>
          <a:xfrm>
            <a:off x="6464618" y="4531995"/>
            <a:ext cx="5193982" cy="1221105"/>
            <a:chOff x="6464618" y="4531995"/>
            <a:chExt cx="5193982" cy="1221105"/>
          </a:xfrm>
        </p:grpSpPr>
        <p:sp>
          <p:nvSpPr>
            <p:cNvPr id="57" name="Rectangle 57"/>
            <p:cNvSpPr/>
            <p:nvPr/>
          </p:nvSpPr>
          <p:spPr>
            <a:xfrm>
              <a:off x="6464618" y="4531995"/>
              <a:ext cx="5193982" cy="1221105"/>
            </a:xfrm>
            <a:prstGeom prst="roundRect">
              <a:avLst>
                <a:gd name="adj" fmla="val 9360"/>
              </a:avLst>
            </a:prstGeom>
            <a:solidFill>
              <a:srgbClr val="334E68"/>
            </a:solidFill>
            <a:ln>
              <a:noFill/>
            </a:ln>
          </p:spPr>
        </p:sp>
        <p:grpSp>
          <p:nvGrpSpPr>
            <p:cNvPr id="60" name="Group 60"/>
            <p:cNvGrpSpPr/>
            <p:nvPr/>
          </p:nvGrpSpPr>
          <p:grpSpPr>
            <a:xfrm>
              <a:off x="6669405" y="5042537"/>
              <a:ext cx="200023" cy="200023"/>
              <a:chOff x="6669405" y="5042537"/>
              <a:chExt cx="200023" cy="200023"/>
            </a:xfrm>
          </p:grpSpPr>
          <p:sp>
            <p:nvSpPr>
              <p:cNvPr id="58" name="Freeform 58"/>
              <p:cNvSpPr/>
              <p:nvPr/>
            </p:nvSpPr>
            <p:spPr>
              <a:xfrm>
                <a:off x="6669405" y="504253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9" name="Freeform 59"/>
              <p:cNvSpPr/>
              <p:nvPr/>
            </p:nvSpPr>
            <p:spPr>
              <a:xfrm>
                <a:off x="6802755" y="510921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1" name="TextBox 61"/>
            <p:cNvSpPr txBox="1"/>
            <p:nvPr/>
          </p:nvSpPr>
          <p:spPr>
            <a:xfrm>
              <a:off x="6971348" y="4899660"/>
              <a:ext cx="4206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两者都可以多次交付可运行版本，区别在于每次交</a:t>
              </a:r>
              <a:br/>
              <a:r>
                <a:rPr lang="zh-CN" sz="1500" dirty="0">
                  <a:solidFill>
                    <a:srgbClr val="FFFFFF"/>
                  </a:solidFill>
                  <a:latin typeface="+mn-lt"/>
                  <a:ea typeface="+mn-ea"/>
                  <a:cs typeface="+mn-cs"/>
                </a:rPr>
                <a:t>付的是“新的一块”还是“更好的一版”。</a:t>
              </a:r>
            </a:p>
          </p:txBody>
        </p:sp>
      </p:grpSp>
      <p:grpSp>
        <p:nvGrpSpPr>
          <p:cNvPr id="65" name="footer"/>
          <p:cNvGrpSpPr/>
          <p:nvPr/>
        </p:nvGrpSpPr>
        <p:grpSpPr>
          <a:xfrm>
            <a:off x="528447" y="6581299"/>
            <a:ext cx="11135106" cy="190690"/>
            <a:chOff x="528447" y="6581299"/>
            <a:chExt cx="11135106" cy="190690"/>
          </a:xfrm>
        </p:grpSpPr>
        <p:sp>
          <p:nvSpPr>
            <p:cNvPr id="63" name="TextBox 63"/>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4" name="TextBox 6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35</a:t>
              </a:r>
            </a:p>
          </p:txBody>
        </p:sp>
      </p:gr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软件过程与传统过程模型</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增量模型：把产品拆成一系列增量构件</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4" name="c1-card-1"/>
          <p:cNvGrpSpPr/>
          <p:nvPr/>
        </p:nvGrpSpPr>
        <p:grpSpPr>
          <a:xfrm>
            <a:off x="533400" y="1524000"/>
            <a:ext cx="4760595" cy="2152650"/>
            <a:chOff x="533400" y="1524000"/>
            <a:chExt cx="4760595" cy="2152650"/>
          </a:xfrm>
        </p:grpSpPr>
        <p:sp>
          <p:nvSpPr>
            <p:cNvPr id="7" name="Rectangle 7"/>
            <p:cNvSpPr/>
            <p:nvPr/>
          </p:nvSpPr>
          <p:spPr>
            <a:xfrm>
              <a:off x="533400" y="1524000"/>
              <a:ext cx="4760595" cy="2152650"/>
            </a:xfrm>
            <a:prstGeom prst="roundRect">
              <a:avLst>
                <a:gd name="adj" fmla="val 6195"/>
              </a:avLst>
            </a:prstGeom>
            <a:solidFill>
              <a:srgbClr val="FFFFFF"/>
            </a:solidFill>
            <a:ln w="14288">
              <a:solidFill>
                <a:srgbClr val="D9DFEA"/>
              </a:solidFill>
            </a:ln>
          </p:spPr>
        </p:sp>
        <p:sp>
          <p:nvSpPr>
            <p:cNvPr id="8" name="Rectangle 8"/>
            <p:cNvSpPr/>
            <p:nvPr/>
          </p:nvSpPr>
          <p:spPr>
            <a:xfrm>
              <a:off x="542925" y="1657350"/>
              <a:ext cx="47625" cy="1885950"/>
            </a:xfrm>
            <a:prstGeom prst="roundRect">
              <a:avLst>
                <a:gd name="adj" fmla="val 50000"/>
              </a:avLst>
            </a:prstGeom>
            <a:solidFill>
              <a:srgbClr val="334E68"/>
            </a:solidFill>
            <a:ln>
              <a:noFill/>
            </a:ln>
          </p:spPr>
        </p:sp>
        <p:sp>
          <p:nvSpPr>
            <p:cNvPr id="9" name="Rectangle 9"/>
            <p:cNvSpPr/>
            <p:nvPr/>
          </p:nvSpPr>
          <p:spPr>
            <a:xfrm>
              <a:off x="781050" y="1733550"/>
              <a:ext cx="494348" cy="257175"/>
            </a:xfrm>
            <a:prstGeom prst="roundRect">
              <a:avLst>
                <a:gd name="adj" fmla="val 50000"/>
              </a:avLst>
            </a:prstGeom>
            <a:solidFill>
              <a:srgbClr val="E7EDF3"/>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定义</a:t>
              </a:r>
            </a:p>
          </p:txBody>
        </p:sp>
        <p:sp>
          <p:nvSpPr>
            <p:cNvPr id="11" name="TextBox 11"/>
            <p:cNvSpPr txBox="1"/>
            <p:nvPr/>
          </p:nvSpPr>
          <p:spPr>
            <a:xfrm>
              <a:off x="1382078" y="1768792"/>
              <a:ext cx="203454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增量模型（渐增模型）</a:t>
              </a:r>
            </a:p>
          </p:txBody>
        </p:sp>
        <p:sp>
          <p:nvSpPr>
            <p:cNvPr id="12" name="TextBox 12"/>
            <p:cNvSpPr txBox="1"/>
            <p:nvPr/>
          </p:nvSpPr>
          <p:spPr>
            <a:xfrm>
              <a:off x="773430" y="2129790"/>
              <a:ext cx="40157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增量模型把软件产品作为一系列的增量构件来设</a:t>
              </a:r>
              <a:br/>
              <a:r>
                <a:rPr lang="zh-CN" sz="1500" dirty="0">
                  <a:solidFill>
                    <a:srgbClr val="1F2937"/>
                  </a:solidFill>
                  <a:latin typeface="+mn-lt"/>
                  <a:ea typeface="+mn-ea"/>
                  <a:cs typeface="+mn-cs"/>
                </a:rPr>
                <a:t>计、编码、集成和测试。每个构件由多个相互作</a:t>
              </a:r>
              <a:br/>
              <a:r>
                <a:rPr lang="zh-CN" sz="1500" dirty="0">
                  <a:solidFill>
                    <a:srgbClr val="1F2937"/>
                  </a:solidFill>
                  <a:latin typeface="+mn-lt"/>
                  <a:ea typeface="+mn-ea"/>
                  <a:cs typeface="+mn-cs"/>
                </a:rPr>
                <a:t>用的模块构成，并且能够完成特定的功能。</a:t>
              </a:r>
            </a:p>
          </p:txBody>
        </p:sp>
        <p:sp>
          <p:nvSpPr>
            <p:cNvPr id="13" name="TextBox 13"/>
            <p:cNvSpPr txBox="1"/>
            <p:nvPr/>
          </p:nvSpPr>
          <p:spPr>
            <a:xfrm>
              <a:off x="774573" y="3033236"/>
              <a:ext cx="407695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5B6475"/>
                  </a:solidFill>
                  <a:latin typeface="+mn-lt"/>
                  <a:ea typeface="+mn-ea"/>
                  <a:cs typeface="+mn-cs"/>
                </a:rPr>
                <a:t>第一个增量构件往往实现软件的基本需求，提供最核心的</a:t>
              </a:r>
              <a:br/>
              <a:r>
                <a:rPr lang="zh-CN" sz="1280" dirty="0">
                  <a:solidFill>
                    <a:srgbClr val="5B6475"/>
                  </a:solidFill>
                  <a:latin typeface="+mn-lt"/>
                  <a:ea typeface="+mn-ea"/>
                  <a:cs typeface="+mn-cs"/>
                </a:rPr>
                <a:t>功能。</a:t>
              </a:r>
            </a:p>
          </p:txBody>
        </p:sp>
      </p:grpSp>
      <p:grpSp>
        <p:nvGrpSpPr>
          <p:cNvPr id="21" name="c1-callout-2"/>
          <p:cNvGrpSpPr/>
          <p:nvPr/>
        </p:nvGrpSpPr>
        <p:grpSpPr>
          <a:xfrm>
            <a:off x="533400" y="3867150"/>
            <a:ext cx="4760595" cy="1276350"/>
            <a:chOff x="533400" y="3867150"/>
            <a:chExt cx="4760595" cy="1276350"/>
          </a:xfrm>
        </p:grpSpPr>
        <p:sp>
          <p:nvSpPr>
            <p:cNvPr id="15" name="Rectangle 15"/>
            <p:cNvSpPr/>
            <p:nvPr/>
          </p:nvSpPr>
          <p:spPr>
            <a:xfrm>
              <a:off x="533400" y="3867150"/>
              <a:ext cx="4760595" cy="1276350"/>
            </a:xfrm>
            <a:prstGeom prst="roundRect">
              <a:avLst>
                <a:gd name="adj" fmla="val 8955"/>
              </a:avLst>
            </a:prstGeom>
            <a:solidFill>
              <a:srgbClr val="FDEEE7"/>
            </a:solidFill>
            <a:ln>
              <a:noFill/>
            </a:ln>
          </p:spPr>
        </p:sp>
        <p:grpSp>
          <p:nvGrpSpPr>
            <p:cNvPr id="19" name="Group 19"/>
            <p:cNvGrpSpPr/>
            <p:nvPr/>
          </p:nvGrpSpPr>
          <p:grpSpPr>
            <a:xfrm>
              <a:off x="738188" y="4405313"/>
              <a:ext cx="200026" cy="200025"/>
              <a:chOff x="738188" y="4405313"/>
              <a:chExt cx="200026" cy="200025"/>
            </a:xfrm>
          </p:grpSpPr>
          <p:sp>
            <p:nvSpPr>
              <p:cNvPr id="16" name="Freeform 16"/>
              <p:cNvSpPr/>
              <p:nvPr/>
            </p:nvSpPr>
            <p:spPr>
              <a:xfrm>
                <a:off x="738188" y="440531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17" name="Freeform 17"/>
              <p:cNvSpPr/>
              <p:nvPr/>
            </p:nvSpPr>
            <p:spPr>
              <a:xfrm>
                <a:off x="777926" y="444976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18" name="Freeform 18"/>
              <p:cNvSpPr/>
              <p:nvPr/>
            </p:nvSpPr>
            <p:spPr>
              <a:xfrm>
                <a:off x="812642" y="456088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20" name="TextBox 20"/>
            <p:cNvSpPr txBox="1"/>
            <p:nvPr/>
          </p:nvSpPr>
          <p:spPr>
            <a:xfrm>
              <a:off x="1040130" y="4262438"/>
              <a:ext cx="3825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用户从第一个构件交付起就开始用，剩下的构</a:t>
              </a:r>
              <a:br/>
              <a:r>
                <a:rPr lang="zh-CN" sz="1500" dirty="0">
                  <a:solidFill>
                    <a:srgbClr val="C2410C"/>
                  </a:solidFill>
                  <a:latin typeface="+mn-lt"/>
                  <a:ea typeface="+mn-ea"/>
                  <a:cs typeface="+mn-cs"/>
                </a:rPr>
                <a:t>件在使用中逐个补齐。</a:t>
              </a:r>
            </a:p>
          </p:txBody>
        </p:sp>
      </p:grpSp>
      <p:grpSp>
        <p:nvGrpSpPr>
          <p:cNvPr id="46" name="c2-flow-1"/>
          <p:cNvGrpSpPr/>
          <p:nvPr/>
        </p:nvGrpSpPr>
        <p:grpSpPr>
          <a:xfrm>
            <a:off x="5814060" y="1666875"/>
            <a:ext cx="5420678" cy="3333750"/>
            <a:chOff x="5814060" y="1666875"/>
            <a:chExt cx="5420678" cy="3333750"/>
          </a:xfrm>
        </p:grpSpPr>
        <p:sp>
          <p:nvSpPr>
            <p:cNvPr id="22" name="Freeform 22"/>
            <p:cNvSpPr/>
            <p:nvPr/>
          </p:nvSpPr>
          <p:spPr>
            <a:xfrm>
              <a:off x="8628698" y="2105025"/>
              <a:ext cx="9525" cy="180975"/>
            </a:xfrm>
            <a:custGeom>
              <a:avLst/>
              <a:gdLst/>
              <a:ahLst/>
              <a:cxnLst/>
              <a:rect l="l" t="t" r="r" b="b"/>
              <a:pathLst>
                <a:path w="9525" h="180975">
                  <a:moveTo>
                    <a:pt x="0" y="0"/>
                  </a:moveTo>
                  <a:lnTo>
                    <a:pt x="0" y="180975"/>
                  </a:lnTo>
                </a:path>
              </a:pathLst>
            </a:custGeom>
            <a:noFill/>
            <a:ln w="15240">
              <a:solidFill>
                <a:srgbClr val="5B6475"/>
              </a:solidFill>
            </a:ln>
          </p:spPr>
        </p:sp>
        <p:sp>
          <p:nvSpPr>
            <p:cNvPr id="23" name="Freeform 23"/>
            <p:cNvSpPr/>
            <p:nvPr/>
          </p:nvSpPr>
          <p:spPr>
            <a:xfrm>
              <a:off x="8576310" y="228600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4" name="Freeform 24"/>
            <p:cNvSpPr/>
            <p:nvPr/>
          </p:nvSpPr>
          <p:spPr>
            <a:xfrm>
              <a:off x="8628698" y="2828925"/>
              <a:ext cx="9525" cy="180975"/>
            </a:xfrm>
            <a:custGeom>
              <a:avLst/>
              <a:gdLst/>
              <a:ahLst/>
              <a:cxnLst/>
              <a:rect l="l" t="t" r="r" b="b"/>
              <a:pathLst>
                <a:path w="9525" h="180975">
                  <a:moveTo>
                    <a:pt x="0" y="0"/>
                  </a:moveTo>
                  <a:lnTo>
                    <a:pt x="0" y="180975"/>
                  </a:lnTo>
                </a:path>
              </a:pathLst>
            </a:custGeom>
            <a:noFill/>
            <a:ln w="15240">
              <a:solidFill>
                <a:srgbClr val="5B6475"/>
              </a:solidFill>
            </a:ln>
          </p:spPr>
        </p:sp>
        <p:sp>
          <p:nvSpPr>
            <p:cNvPr id="25" name="Freeform 25"/>
            <p:cNvSpPr/>
            <p:nvPr/>
          </p:nvSpPr>
          <p:spPr>
            <a:xfrm>
              <a:off x="8576310" y="300990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6" name="Freeform 26"/>
            <p:cNvSpPr/>
            <p:nvPr/>
          </p:nvSpPr>
          <p:spPr>
            <a:xfrm>
              <a:off x="8628698" y="3552825"/>
              <a:ext cx="9525" cy="180975"/>
            </a:xfrm>
            <a:custGeom>
              <a:avLst/>
              <a:gdLst/>
              <a:ahLst/>
              <a:cxnLst/>
              <a:rect l="l" t="t" r="r" b="b"/>
              <a:pathLst>
                <a:path w="9525" h="180975">
                  <a:moveTo>
                    <a:pt x="0" y="0"/>
                  </a:moveTo>
                  <a:lnTo>
                    <a:pt x="0" y="180975"/>
                  </a:lnTo>
                </a:path>
              </a:pathLst>
            </a:custGeom>
            <a:noFill/>
            <a:ln w="15240">
              <a:solidFill>
                <a:srgbClr val="5B6475"/>
              </a:solidFill>
            </a:ln>
          </p:spPr>
        </p:sp>
        <p:sp>
          <p:nvSpPr>
            <p:cNvPr id="27" name="Freeform 27"/>
            <p:cNvSpPr/>
            <p:nvPr/>
          </p:nvSpPr>
          <p:spPr>
            <a:xfrm>
              <a:off x="8576310" y="373380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8" name="Freeform 28"/>
            <p:cNvSpPr/>
            <p:nvPr/>
          </p:nvSpPr>
          <p:spPr>
            <a:xfrm>
              <a:off x="8628698" y="4276725"/>
              <a:ext cx="9525" cy="180975"/>
            </a:xfrm>
            <a:custGeom>
              <a:avLst/>
              <a:gdLst/>
              <a:ahLst/>
              <a:cxnLst/>
              <a:rect l="l" t="t" r="r" b="b"/>
              <a:pathLst>
                <a:path w="9525" h="180975">
                  <a:moveTo>
                    <a:pt x="0" y="0"/>
                  </a:moveTo>
                  <a:lnTo>
                    <a:pt x="0" y="180975"/>
                  </a:lnTo>
                </a:path>
              </a:pathLst>
            </a:custGeom>
            <a:noFill/>
            <a:ln w="15240">
              <a:solidFill>
                <a:srgbClr val="5B6475"/>
              </a:solidFill>
            </a:ln>
          </p:spPr>
        </p:sp>
        <p:sp>
          <p:nvSpPr>
            <p:cNvPr id="29" name="Freeform 29"/>
            <p:cNvSpPr/>
            <p:nvPr/>
          </p:nvSpPr>
          <p:spPr>
            <a:xfrm>
              <a:off x="8576310" y="445770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0" name="Freeform 30"/>
            <p:cNvSpPr/>
            <p:nvPr/>
          </p:nvSpPr>
          <p:spPr>
            <a:xfrm>
              <a:off x="6023610" y="4057650"/>
              <a:ext cx="5106352" cy="9525"/>
            </a:xfrm>
            <a:custGeom>
              <a:avLst/>
              <a:gdLst/>
              <a:ahLst/>
              <a:cxnLst/>
              <a:rect l="l" t="t" r="r" b="b"/>
              <a:pathLst>
                <a:path w="5106352" h="9525">
                  <a:moveTo>
                    <a:pt x="0" y="0"/>
                  </a:moveTo>
                  <a:lnTo>
                    <a:pt x="5106352" y="0"/>
                  </a:lnTo>
                </a:path>
              </a:pathLst>
            </a:custGeom>
            <a:noFill/>
            <a:ln w="15240">
              <a:solidFill>
                <a:srgbClr val="5B6475"/>
              </a:solidFill>
              <a:custDash>
                <a:ds d="375000" sp="250000"/>
              </a:custDash>
            </a:ln>
          </p:spPr>
        </p:sp>
        <p:sp>
          <p:nvSpPr>
            <p:cNvPr id="31" name="Freeform 31"/>
            <p:cNvSpPr/>
            <p:nvPr/>
          </p:nvSpPr>
          <p:spPr>
            <a:xfrm>
              <a:off x="11129962" y="400526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32" name="Freeform 32"/>
            <p:cNvSpPr/>
            <p:nvPr/>
          </p:nvSpPr>
          <p:spPr>
            <a:xfrm>
              <a:off x="5814060" y="4057650"/>
              <a:ext cx="209550" cy="723900"/>
            </a:xfrm>
            <a:custGeom>
              <a:avLst/>
              <a:gdLst/>
              <a:ahLst/>
              <a:cxnLst/>
              <a:rect l="l" t="t" r="r" b="b"/>
              <a:pathLst>
                <a:path w="209550" h="723900">
                  <a:moveTo>
                    <a:pt x="209550" y="723900"/>
                  </a:moveTo>
                  <a:lnTo>
                    <a:pt x="0" y="723900"/>
                  </a:lnTo>
                  <a:lnTo>
                    <a:pt x="0" y="651510"/>
                  </a:lnTo>
                  <a:lnTo>
                    <a:pt x="0" y="0"/>
                  </a:lnTo>
                  <a:lnTo>
                    <a:pt x="104775" y="0"/>
                  </a:lnTo>
                </a:path>
              </a:pathLst>
            </a:custGeom>
            <a:noFill/>
            <a:ln w="15240">
              <a:solidFill>
                <a:srgbClr val="5B6475"/>
              </a:solidFill>
              <a:custDash>
                <a:ds d="375000" sp="250000"/>
              </a:custDash>
            </a:ln>
          </p:spPr>
        </p:sp>
        <p:sp>
          <p:nvSpPr>
            <p:cNvPr id="33" name="Freeform 33"/>
            <p:cNvSpPr/>
            <p:nvPr/>
          </p:nvSpPr>
          <p:spPr>
            <a:xfrm>
              <a:off x="5918835" y="400526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34" name="Rectangle 34"/>
            <p:cNvSpPr/>
            <p:nvPr/>
          </p:nvSpPr>
          <p:spPr>
            <a:xfrm>
              <a:off x="6023610" y="1666875"/>
              <a:ext cx="5211128" cy="438150"/>
            </a:xfrm>
            <a:prstGeom prst="roundRect">
              <a:avLst>
                <a:gd name="adj" fmla="val 21739"/>
              </a:avLst>
            </a:prstGeom>
            <a:solidFill>
              <a:srgbClr val="FFFFFF"/>
            </a:solidFill>
            <a:ln w="15240">
              <a:solidFill>
                <a:srgbClr val="334E68"/>
              </a:solidFill>
            </a:ln>
          </p:spPr>
        </p:sp>
        <p:sp>
          <p:nvSpPr>
            <p:cNvPr id="35" name="Rectangle 35"/>
            <p:cNvSpPr/>
            <p:nvPr/>
          </p:nvSpPr>
          <p:spPr>
            <a:xfrm>
              <a:off x="6023610" y="2390775"/>
              <a:ext cx="5211128" cy="438150"/>
            </a:xfrm>
            <a:prstGeom prst="roundRect">
              <a:avLst>
                <a:gd name="adj" fmla="val 21739"/>
              </a:avLst>
            </a:prstGeom>
            <a:solidFill>
              <a:srgbClr val="FFFFFF"/>
            </a:solidFill>
            <a:ln w="15240">
              <a:solidFill>
                <a:srgbClr val="334E68"/>
              </a:solidFill>
            </a:ln>
          </p:spPr>
        </p:sp>
        <p:sp>
          <p:nvSpPr>
            <p:cNvPr id="36" name="Rectangle 36"/>
            <p:cNvSpPr/>
            <p:nvPr/>
          </p:nvSpPr>
          <p:spPr>
            <a:xfrm>
              <a:off x="6023610" y="3114675"/>
              <a:ext cx="5211128" cy="438150"/>
            </a:xfrm>
            <a:prstGeom prst="roundRect">
              <a:avLst>
                <a:gd name="adj" fmla="val 21739"/>
              </a:avLst>
            </a:prstGeom>
            <a:solidFill>
              <a:srgbClr val="FFFFFF"/>
            </a:solidFill>
            <a:ln w="15240">
              <a:solidFill>
                <a:srgbClr val="334E68"/>
              </a:solidFill>
            </a:ln>
          </p:spPr>
        </p:sp>
        <p:sp>
          <p:nvSpPr>
            <p:cNvPr id="37" name="Rectangle 37"/>
            <p:cNvSpPr/>
            <p:nvPr/>
          </p:nvSpPr>
          <p:spPr>
            <a:xfrm>
              <a:off x="6023610" y="3838575"/>
              <a:ext cx="5211128" cy="438150"/>
            </a:xfrm>
            <a:prstGeom prst="roundRect">
              <a:avLst>
                <a:gd name="adj" fmla="val 21739"/>
              </a:avLst>
            </a:prstGeom>
            <a:solidFill>
              <a:srgbClr val="E7EDF3"/>
            </a:solidFill>
            <a:ln w="19050">
              <a:solidFill>
                <a:srgbClr val="334E68"/>
              </a:solidFill>
            </a:ln>
          </p:spPr>
        </p:sp>
        <p:sp>
          <p:nvSpPr>
            <p:cNvPr id="38" name="Rectangle 38"/>
            <p:cNvSpPr/>
            <p:nvPr/>
          </p:nvSpPr>
          <p:spPr>
            <a:xfrm>
              <a:off x="6023610" y="4562475"/>
              <a:ext cx="5211128" cy="438150"/>
            </a:xfrm>
            <a:prstGeom prst="roundRect">
              <a:avLst>
                <a:gd name="adj" fmla="val 50000"/>
              </a:avLst>
            </a:prstGeom>
            <a:solidFill>
              <a:srgbClr val="334E68"/>
            </a:solidFill>
            <a:ln>
              <a:noFill/>
            </a:ln>
          </p:spPr>
        </p:sp>
        <p:sp>
          <p:nvSpPr>
            <p:cNvPr id="39" name="TextBox 39"/>
            <p:cNvSpPr txBox="1"/>
            <p:nvPr/>
          </p:nvSpPr>
          <p:spPr>
            <a:xfrm>
              <a:off x="7932966" y="1796891"/>
              <a:ext cx="1391463"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需求分析（验证）</a:t>
              </a:r>
            </a:p>
          </p:txBody>
        </p:sp>
        <p:sp>
          <p:nvSpPr>
            <p:cNvPr id="40" name="TextBox 40"/>
            <p:cNvSpPr txBox="1"/>
            <p:nvPr/>
          </p:nvSpPr>
          <p:spPr>
            <a:xfrm>
              <a:off x="7932966" y="2520791"/>
              <a:ext cx="1391463"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规格说明（验证）</a:t>
              </a:r>
            </a:p>
          </p:txBody>
        </p:sp>
        <p:sp>
          <p:nvSpPr>
            <p:cNvPr id="41" name="TextBox 41"/>
            <p:cNvSpPr txBox="1"/>
            <p:nvPr/>
          </p:nvSpPr>
          <p:spPr>
            <a:xfrm>
              <a:off x="7932966" y="3244691"/>
              <a:ext cx="1391463"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概要设计（验证）</a:t>
              </a:r>
            </a:p>
          </p:txBody>
        </p:sp>
        <p:sp>
          <p:nvSpPr>
            <p:cNvPr id="42" name="TextBox 42"/>
            <p:cNvSpPr txBox="1"/>
            <p:nvPr/>
          </p:nvSpPr>
          <p:spPr>
            <a:xfrm>
              <a:off x="6295987" y="3968591"/>
              <a:ext cx="4665421"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针对每个构件：详细设计、编码和集成，经测试后交付给用户</a:t>
              </a:r>
            </a:p>
          </p:txBody>
        </p:sp>
        <p:sp>
          <p:nvSpPr>
            <p:cNvPr id="43" name="TextBox 43"/>
            <p:cNvSpPr txBox="1"/>
            <p:nvPr/>
          </p:nvSpPr>
          <p:spPr>
            <a:xfrm>
              <a:off x="8449907" y="469249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维护</a:t>
              </a:r>
            </a:p>
          </p:txBody>
        </p:sp>
        <p:sp>
          <p:nvSpPr>
            <p:cNvPr id="44" name="Rectangle 44"/>
            <p:cNvSpPr/>
            <p:nvPr/>
          </p:nvSpPr>
          <p:spPr>
            <a:xfrm>
              <a:off x="8247698" y="3841432"/>
              <a:ext cx="762000" cy="193358"/>
            </a:xfrm>
            <a:prstGeom prst="roundRect">
              <a:avLst>
                <a:gd name="adj" fmla="val 19704"/>
              </a:avLst>
            </a:prstGeom>
            <a:solidFill>
              <a:srgbClr val="FFFFFF"/>
            </a:solidFill>
            <a:ln>
              <a:noFill/>
            </a:ln>
          </p:spPr>
        </p:sp>
        <p:sp>
          <p:nvSpPr>
            <p:cNvPr id="45" name="TextBox 45"/>
            <p:cNvSpPr txBox="1"/>
            <p:nvPr/>
          </p:nvSpPr>
          <p:spPr>
            <a:xfrm>
              <a:off x="8269986" y="3868102"/>
              <a:ext cx="717423"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下一个构件</a:t>
              </a:r>
            </a:p>
          </p:txBody>
        </p:sp>
      </p:grpSp>
      <p:grpSp>
        <p:nvGrpSpPr>
          <p:cNvPr id="52" name="takeaway"/>
          <p:cNvGrpSpPr/>
          <p:nvPr/>
        </p:nvGrpSpPr>
        <p:grpSpPr>
          <a:xfrm>
            <a:off x="533400" y="5829300"/>
            <a:ext cx="11125200" cy="533400"/>
            <a:chOff x="533400" y="5829300"/>
            <a:chExt cx="11125200" cy="533400"/>
          </a:xfrm>
        </p:grpSpPr>
        <p:sp>
          <p:nvSpPr>
            <p:cNvPr id="47" name="Rectangle 47"/>
            <p:cNvSpPr/>
            <p:nvPr/>
          </p:nvSpPr>
          <p:spPr>
            <a:xfrm>
              <a:off x="533400" y="5829300"/>
              <a:ext cx="11125200" cy="533400"/>
            </a:xfrm>
            <a:prstGeom prst="roundRect">
              <a:avLst>
                <a:gd name="adj" fmla="val 21429"/>
              </a:avLst>
            </a:prstGeom>
            <a:solidFill>
              <a:srgbClr val="334E68"/>
            </a:solidFill>
            <a:ln>
              <a:noFill/>
            </a:ln>
          </p:spPr>
        </p:sp>
        <p:grpSp>
          <p:nvGrpSpPr>
            <p:cNvPr id="50" name="Group 50"/>
            <p:cNvGrpSpPr/>
            <p:nvPr/>
          </p:nvGrpSpPr>
          <p:grpSpPr>
            <a:xfrm>
              <a:off x="738188" y="5995990"/>
              <a:ext cx="200023" cy="200023"/>
              <a:chOff x="738188" y="5995990"/>
              <a:chExt cx="200023" cy="200023"/>
            </a:xfrm>
          </p:grpSpPr>
          <p:sp>
            <p:nvSpPr>
              <p:cNvPr id="48" name="Freeform 48"/>
              <p:cNvSpPr/>
              <p:nvPr/>
            </p:nvSpPr>
            <p:spPr>
              <a:xfrm>
                <a:off x="738188" y="599599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9" name="Freeform 49"/>
              <p:cNvSpPr/>
              <p:nvPr/>
            </p:nvSpPr>
            <p:spPr>
              <a:xfrm>
                <a:off x="871538" y="606266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1" name="TextBox 51"/>
            <p:cNvSpPr txBox="1"/>
            <p:nvPr/>
          </p:nvSpPr>
          <p:spPr>
            <a:xfrm>
              <a:off x="1040130" y="5991225"/>
              <a:ext cx="748665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需求分析、规格说明和概要设计只做一次，构件循环里做的是详细设计以后的工作。</a:t>
              </a:r>
            </a:p>
          </p:txBody>
        </p:sp>
      </p:grpSp>
      <p:grpSp>
        <p:nvGrpSpPr>
          <p:cNvPr id="55" name="footer"/>
          <p:cNvGrpSpPr/>
          <p:nvPr/>
        </p:nvGrpSpPr>
        <p:grpSpPr>
          <a:xfrm>
            <a:off x="528447" y="6581299"/>
            <a:ext cx="11135106" cy="190690"/>
            <a:chOff x="528447" y="6581299"/>
            <a:chExt cx="11135106" cy="190690"/>
          </a:xfrm>
        </p:grpSpPr>
        <p:sp>
          <p:nvSpPr>
            <p:cNvPr id="53" name="TextBox 53"/>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54" name="TextBox 5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36</a:t>
              </a:r>
            </a:p>
          </p:txBody>
        </p:sp>
      </p:gr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软件过程与传统过程模型</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增量模型的得失，以及风险更大的变体</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6" name="c1-bullets-1"/>
          <p:cNvGrpSpPr/>
          <p:nvPr/>
        </p:nvGrpSpPr>
        <p:grpSpPr>
          <a:xfrm>
            <a:off x="525780" y="1548765"/>
            <a:ext cx="5119688" cy="2253615"/>
            <a:chOff x="525780" y="1548765"/>
            <a:chExt cx="5119688" cy="2253615"/>
          </a:xfrm>
        </p:grpSpPr>
        <p:sp>
          <p:nvSpPr>
            <p:cNvPr id="7" name="TextBox 7"/>
            <p:cNvSpPr txBox="1"/>
            <p:nvPr/>
          </p:nvSpPr>
          <p:spPr>
            <a:xfrm>
              <a:off x="525780" y="1548765"/>
              <a:ext cx="41910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优点</a:t>
              </a:r>
            </a:p>
          </p:txBody>
        </p:sp>
        <p:sp>
          <p:nvSpPr>
            <p:cNvPr id="8" name="Freeform 8"/>
            <p:cNvSpPr/>
            <p:nvPr/>
          </p:nvSpPr>
          <p:spPr>
            <a:xfrm>
              <a:off x="533400" y="1934528"/>
              <a:ext cx="143827" cy="117158"/>
            </a:xfrm>
            <a:custGeom>
              <a:avLst/>
              <a:gdLst/>
              <a:ahLst/>
              <a:cxnLst/>
              <a:rect l="l" t="t" r="r" b="b"/>
              <a:pathLst>
                <a:path w="143827" h="117158">
                  <a:moveTo>
                    <a:pt x="0" y="61912"/>
                  </a:moveTo>
                  <a:lnTo>
                    <a:pt x="55245" y="117158"/>
                  </a:lnTo>
                  <a:lnTo>
                    <a:pt x="143827" y="0"/>
                  </a:lnTo>
                </a:path>
              </a:pathLst>
            </a:custGeom>
            <a:noFill/>
            <a:ln w="24765" cap="rnd">
              <a:solidFill>
                <a:srgbClr val="14A38B"/>
              </a:solidFill>
              <a:round/>
            </a:ln>
          </p:spPr>
        </p:sp>
        <p:sp>
          <p:nvSpPr>
            <p:cNvPr id="9" name="TextBox 9"/>
            <p:cNvSpPr txBox="1"/>
            <p:nvPr/>
          </p:nvSpPr>
          <p:spPr>
            <a:xfrm>
              <a:off x="783908" y="1903095"/>
              <a:ext cx="4777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适用于人员配备不充裕、不能在期限前实现完整版本的情</a:t>
              </a:r>
              <a:br/>
              <a:r>
                <a:rPr lang="zh-CN" sz="1500" dirty="0">
                  <a:solidFill>
                    <a:srgbClr val="1F2937"/>
                  </a:solidFill>
                  <a:latin typeface="+mn-lt"/>
                  <a:ea typeface="+mn-ea"/>
                  <a:cs typeface="+mn-cs"/>
                </a:rPr>
                <a:t>况</a:t>
              </a:r>
            </a:p>
          </p:txBody>
        </p:sp>
        <p:sp>
          <p:nvSpPr>
            <p:cNvPr id="10" name="Freeform 10"/>
            <p:cNvSpPr/>
            <p:nvPr/>
          </p:nvSpPr>
          <p:spPr>
            <a:xfrm>
              <a:off x="533400" y="2565082"/>
              <a:ext cx="143827" cy="117158"/>
            </a:xfrm>
            <a:custGeom>
              <a:avLst/>
              <a:gdLst/>
              <a:ahLst/>
              <a:cxnLst/>
              <a:rect l="l" t="t" r="r" b="b"/>
              <a:pathLst>
                <a:path w="143827" h="117158">
                  <a:moveTo>
                    <a:pt x="0" y="61912"/>
                  </a:moveTo>
                  <a:lnTo>
                    <a:pt x="55245" y="117158"/>
                  </a:lnTo>
                  <a:lnTo>
                    <a:pt x="143827" y="0"/>
                  </a:lnTo>
                </a:path>
              </a:pathLst>
            </a:custGeom>
            <a:noFill/>
            <a:ln w="24765" cap="rnd">
              <a:solidFill>
                <a:srgbClr val="14A38B"/>
              </a:solidFill>
              <a:round/>
            </a:ln>
          </p:spPr>
        </p:sp>
        <p:sp>
          <p:nvSpPr>
            <p:cNvPr id="11" name="TextBox 11"/>
            <p:cNvSpPr txBox="1"/>
            <p:nvPr/>
          </p:nvSpPr>
          <p:spPr>
            <a:xfrm>
              <a:off x="783908" y="2533650"/>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能有计划地管理技术风险</a:t>
              </a:r>
            </a:p>
          </p:txBody>
        </p:sp>
        <p:sp>
          <p:nvSpPr>
            <p:cNvPr id="12" name="Freeform 12"/>
            <p:cNvSpPr/>
            <p:nvPr/>
          </p:nvSpPr>
          <p:spPr>
            <a:xfrm>
              <a:off x="533400" y="2909888"/>
              <a:ext cx="143827" cy="117158"/>
            </a:xfrm>
            <a:custGeom>
              <a:avLst/>
              <a:gdLst/>
              <a:ahLst/>
              <a:cxnLst/>
              <a:rect l="l" t="t" r="r" b="b"/>
              <a:pathLst>
                <a:path w="143827" h="117158">
                  <a:moveTo>
                    <a:pt x="0" y="61912"/>
                  </a:moveTo>
                  <a:lnTo>
                    <a:pt x="55245" y="117158"/>
                  </a:lnTo>
                  <a:lnTo>
                    <a:pt x="143827" y="0"/>
                  </a:lnTo>
                </a:path>
              </a:pathLst>
            </a:custGeom>
            <a:noFill/>
            <a:ln w="24765" cap="rnd">
              <a:solidFill>
                <a:srgbClr val="14A38B"/>
              </a:solidFill>
              <a:round/>
            </a:ln>
          </p:spPr>
        </p:sp>
        <p:sp>
          <p:nvSpPr>
            <p:cNvPr id="13" name="TextBox 13"/>
            <p:cNvSpPr txBox="1"/>
            <p:nvPr/>
          </p:nvSpPr>
          <p:spPr>
            <a:xfrm>
              <a:off x="783908" y="2878455"/>
              <a:ext cx="4777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每个增量都发布一个高质量的可操作版本，用户较短时间</a:t>
              </a:r>
              <a:br/>
              <a:r>
                <a:rPr lang="zh-CN" sz="1500" dirty="0">
                  <a:solidFill>
                    <a:srgbClr val="1F2937"/>
                  </a:solidFill>
                  <a:latin typeface="+mn-lt"/>
                  <a:ea typeface="+mn-ea"/>
                  <a:cs typeface="+mn-cs"/>
                </a:rPr>
                <a:t>内就能用上部分功能</a:t>
              </a:r>
            </a:p>
          </p:txBody>
        </p:sp>
        <p:sp>
          <p:nvSpPr>
            <p:cNvPr id="14" name="Freeform 14"/>
            <p:cNvSpPr/>
            <p:nvPr/>
          </p:nvSpPr>
          <p:spPr>
            <a:xfrm>
              <a:off x="533400" y="3540442"/>
              <a:ext cx="143827" cy="117158"/>
            </a:xfrm>
            <a:custGeom>
              <a:avLst/>
              <a:gdLst/>
              <a:ahLst/>
              <a:cxnLst/>
              <a:rect l="l" t="t" r="r" b="b"/>
              <a:pathLst>
                <a:path w="143827" h="117158">
                  <a:moveTo>
                    <a:pt x="0" y="61912"/>
                  </a:moveTo>
                  <a:lnTo>
                    <a:pt x="55245" y="117158"/>
                  </a:lnTo>
                  <a:lnTo>
                    <a:pt x="143827" y="0"/>
                  </a:lnTo>
                </a:path>
              </a:pathLst>
            </a:custGeom>
            <a:noFill/>
            <a:ln w="24765" cap="rnd">
              <a:solidFill>
                <a:srgbClr val="14A38B"/>
              </a:solidFill>
              <a:round/>
            </a:ln>
          </p:spPr>
        </p:sp>
        <p:sp>
          <p:nvSpPr>
            <p:cNvPr id="15" name="TextBox 15"/>
            <p:cNvSpPr txBox="1"/>
            <p:nvPr/>
          </p:nvSpPr>
          <p:spPr>
            <a:xfrm>
              <a:off x="783908" y="3509010"/>
              <a:ext cx="48615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功能逐步增加，用户有较充裕的时间学习和适应新产品</a:t>
              </a:r>
            </a:p>
          </p:txBody>
        </p:sp>
      </p:grpSp>
      <p:grpSp>
        <p:nvGrpSpPr>
          <p:cNvPr id="24" name="c1-bullets-2"/>
          <p:cNvGrpSpPr/>
          <p:nvPr/>
        </p:nvGrpSpPr>
        <p:grpSpPr>
          <a:xfrm>
            <a:off x="525780" y="3958590"/>
            <a:ext cx="5215890" cy="1908810"/>
            <a:chOff x="525780" y="3958590"/>
            <a:chExt cx="5215890" cy="1908810"/>
          </a:xfrm>
        </p:grpSpPr>
        <p:sp>
          <p:nvSpPr>
            <p:cNvPr id="17" name="TextBox 17"/>
            <p:cNvSpPr txBox="1"/>
            <p:nvPr/>
          </p:nvSpPr>
          <p:spPr>
            <a:xfrm>
              <a:off x="525780" y="3958590"/>
              <a:ext cx="102489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存在的困难</a:t>
              </a:r>
            </a:p>
          </p:txBody>
        </p:sp>
        <p:sp>
          <p:nvSpPr>
            <p:cNvPr id="18" name="Freeform 18"/>
            <p:cNvSpPr/>
            <p:nvPr/>
          </p:nvSpPr>
          <p:spPr>
            <a:xfrm>
              <a:off x="533400" y="4349115"/>
              <a:ext cx="114300" cy="114300"/>
            </a:xfrm>
            <a:custGeom>
              <a:avLst/>
              <a:gdLst/>
              <a:ahLst/>
              <a:cxnLst/>
              <a:rect l="l" t="t" r="r" b="b"/>
              <a:pathLst>
                <a:path w="114300" h="114300">
                  <a:moveTo>
                    <a:pt x="0" y="0"/>
                  </a:moveTo>
                  <a:lnTo>
                    <a:pt x="114300" y="114300"/>
                  </a:lnTo>
                  <a:moveTo>
                    <a:pt x="114300" y="0"/>
                  </a:moveTo>
                  <a:lnTo>
                    <a:pt x="0" y="114300"/>
                  </a:lnTo>
                </a:path>
              </a:pathLst>
            </a:custGeom>
            <a:noFill/>
            <a:ln w="24765" cap="rnd">
              <a:solidFill>
                <a:srgbClr val="B42318"/>
              </a:solidFill>
            </a:ln>
          </p:spPr>
        </p:sp>
        <p:sp>
          <p:nvSpPr>
            <p:cNvPr id="19" name="TextBox 19"/>
            <p:cNvSpPr txBox="1"/>
            <p:nvPr/>
          </p:nvSpPr>
          <p:spPr>
            <a:xfrm>
              <a:off x="773430" y="4312920"/>
              <a:ext cx="4968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每个新构件都要无缝集成到现有体系结构中，不能破坏已开</a:t>
              </a:r>
              <a:br/>
              <a:r>
                <a:rPr lang="zh-CN" sz="1500" dirty="0">
                  <a:solidFill>
                    <a:srgbClr val="1F2937"/>
                  </a:solidFill>
                  <a:latin typeface="+mn-lt"/>
                  <a:ea typeface="+mn-ea"/>
                  <a:cs typeface="+mn-cs"/>
                </a:rPr>
                <a:t>发的产品</a:t>
              </a:r>
            </a:p>
          </p:txBody>
        </p:sp>
        <p:sp>
          <p:nvSpPr>
            <p:cNvPr id="20" name="Freeform 20"/>
            <p:cNvSpPr/>
            <p:nvPr/>
          </p:nvSpPr>
          <p:spPr>
            <a:xfrm>
              <a:off x="533400" y="4979670"/>
              <a:ext cx="114300" cy="114300"/>
            </a:xfrm>
            <a:custGeom>
              <a:avLst/>
              <a:gdLst/>
              <a:ahLst/>
              <a:cxnLst/>
              <a:rect l="l" t="t" r="r" b="b"/>
              <a:pathLst>
                <a:path w="114300" h="114300">
                  <a:moveTo>
                    <a:pt x="0" y="0"/>
                  </a:moveTo>
                  <a:lnTo>
                    <a:pt x="114300" y="114300"/>
                  </a:lnTo>
                  <a:moveTo>
                    <a:pt x="114300" y="0"/>
                  </a:moveTo>
                  <a:lnTo>
                    <a:pt x="0" y="114300"/>
                  </a:lnTo>
                </a:path>
              </a:pathLst>
            </a:custGeom>
            <a:noFill/>
            <a:ln w="24765" cap="rnd">
              <a:solidFill>
                <a:srgbClr val="B42318"/>
              </a:solidFill>
            </a:ln>
          </p:spPr>
        </p:sp>
        <p:sp>
          <p:nvSpPr>
            <p:cNvPr id="21" name="TextBox 21"/>
            <p:cNvSpPr txBox="1"/>
            <p:nvPr/>
          </p:nvSpPr>
          <p:spPr>
            <a:xfrm>
              <a:off x="773430" y="4943475"/>
              <a:ext cx="44577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体系结构必须是开放的，设计阶段的投入因此增加</a:t>
              </a:r>
            </a:p>
          </p:txBody>
        </p:sp>
        <p:sp>
          <p:nvSpPr>
            <p:cNvPr id="22" name="Freeform 22"/>
            <p:cNvSpPr/>
            <p:nvPr/>
          </p:nvSpPr>
          <p:spPr>
            <a:xfrm>
              <a:off x="533400" y="5324475"/>
              <a:ext cx="114300" cy="114300"/>
            </a:xfrm>
            <a:custGeom>
              <a:avLst/>
              <a:gdLst/>
              <a:ahLst/>
              <a:cxnLst/>
              <a:rect l="l" t="t" r="r" b="b"/>
              <a:pathLst>
                <a:path w="114300" h="114300">
                  <a:moveTo>
                    <a:pt x="0" y="0"/>
                  </a:moveTo>
                  <a:lnTo>
                    <a:pt x="114300" y="114300"/>
                  </a:lnTo>
                  <a:moveTo>
                    <a:pt x="114300" y="0"/>
                  </a:moveTo>
                  <a:lnTo>
                    <a:pt x="0" y="114300"/>
                  </a:lnTo>
                </a:path>
              </a:pathLst>
            </a:custGeom>
            <a:noFill/>
            <a:ln w="24765" cap="rnd">
              <a:solidFill>
                <a:srgbClr val="B42318"/>
              </a:solidFill>
            </a:ln>
          </p:spPr>
        </p:sp>
        <p:sp>
          <p:nvSpPr>
            <p:cNvPr id="23" name="TextBox 23"/>
            <p:cNvSpPr txBox="1"/>
            <p:nvPr/>
          </p:nvSpPr>
          <p:spPr>
            <a:xfrm>
              <a:off x="773430" y="5288280"/>
              <a:ext cx="4968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既要把软件看作整体，又要把它看作彼此独立的构件序列，</a:t>
              </a:r>
              <a:br/>
              <a:r>
                <a:rPr lang="zh-CN" sz="1500" dirty="0">
                  <a:solidFill>
                    <a:srgbClr val="1F2937"/>
                  </a:solidFill>
                  <a:latin typeface="+mn-lt"/>
                  <a:ea typeface="+mn-ea"/>
                  <a:cs typeface="+mn-cs"/>
                </a:rPr>
                <a:t>需要开发人员协调这一矛盾</a:t>
              </a:r>
            </a:p>
          </p:txBody>
        </p:sp>
      </p:grpSp>
      <p:grpSp>
        <p:nvGrpSpPr>
          <p:cNvPr id="78" name="c2-graph-1"/>
          <p:cNvGrpSpPr/>
          <p:nvPr/>
        </p:nvGrpSpPr>
        <p:grpSpPr>
          <a:xfrm>
            <a:off x="6517005" y="1818799"/>
            <a:ext cx="4927283" cy="2407443"/>
            <a:chOff x="6517005" y="1818799"/>
            <a:chExt cx="4927283" cy="2407443"/>
          </a:xfrm>
        </p:grpSpPr>
        <p:sp>
          <p:nvSpPr>
            <p:cNvPr id="25" name="Freeform 25"/>
            <p:cNvSpPr/>
            <p:nvPr/>
          </p:nvSpPr>
          <p:spPr>
            <a:xfrm>
              <a:off x="7279005" y="2095500"/>
              <a:ext cx="437197" cy="9525"/>
            </a:xfrm>
            <a:custGeom>
              <a:avLst/>
              <a:gdLst/>
              <a:ahLst/>
              <a:cxnLst/>
              <a:rect l="l" t="t" r="r" b="b"/>
              <a:pathLst>
                <a:path w="437197" h="9525">
                  <a:moveTo>
                    <a:pt x="0" y="0"/>
                  </a:moveTo>
                  <a:lnTo>
                    <a:pt x="437197" y="0"/>
                  </a:lnTo>
                </a:path>
              </a:pathLst>
            </a:custGeom>
            <a:noFill/>
            <a:ln w="17145">
              <a:solidFill>
                <a:srgbClr val="1F2937"/>
              </a:solidFill>
            </a:ln>
          </p:spPr>
        </p:sp>
        <p:sp>
          <p:nvSpPr>
            <p:cNvPr id="26" name="Freeform 26"/>
            <p:cNvSpPr/>
            <p:nvPr/>
          </p:nvSpPr>
          <p:spPr>
            <a:xfrm>
              <a:off x="7716202" y="204787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27" name="Freeform 27"/>
            <p:cNvSpPr/>
            <p:nvPr/>
          </p:nvSpPr>
          <p:spPr>
            <a:xfrm>
              <a:off x="8363902" y="2095500"/>
              <a:ext cx="488632" cy="9525"/>
            </a:xfrm>
            <a:custGeom>
              <a:avLst/>
              <a:gdLst/>
              <a:ahLst/>
              <a:cxnLst/>
              <a:rect l="l" t="t" r="r" b="b"/>
              <a:pathLst>
                <a:path w="488632" h="9525">
                  <a:moveTo>
                    <a:pt x="0" y="0"/>
                  </a:moveTo>
                  <a:lnTo>
                    <a:pt x="488632" y="0"/>
                  </a:lnTo>
                </a:path>
              </a:pathLst>
            </a:custGeom>
            <a:noFill/>
            <a:ln w="17145">
              <a:solidFill>
                <a:srgbClr val="1F2937"/>
              </a:solidFill>
            </a:ln>
          </p:spPr>
        </p:sp>
        <p:sp>
          <p:nvSpPr>
            <p:cNvPr id="28" name="Freeform 28"/>
            <p:cNvSpPr/>
            <p:nvPr/>
          </p:nvSpPr>
          <p:spPr>
            <a:xfrm>
              <a:off x="8852535" y="204787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29" name="Freeform 29"/>
            <p:cNvSpPr/>
            <p:nvPr/>
          </p:nvSpPr>
          <p:spPr>
            <a:xfrm>
              <a:off x="9824085" y="2095500"/>
              <a:ext cx="384810" cy="9525"/>
            </a:xfrm>
            <a:custGeom>
              <a:avLst/>
              <a:gdLst/>
              <a:ahLst/>
              <a:cxnLst/>
              <a:rect l="l" t="t" r="r" b="b"/>
              <a:pathLst>
                <a:path w="384810" h="9525">
                  <a:moveTo>
                    <a:pt x="0" y="0"/>
                  </a:moveTo>
                  <a:lnTo>
                    <a:pt x="384810" y="0"/>
                  </a:lnTo>
                </a:path>
              </a:pathLst>
            </a:custGeom>
            <a:noFill/>
            <a:ln w="17145">
              <a:solidFill>
                <a:srgbClr val="1F2937"/>
              </a:solidFill>
            </a:ln>
          </p:spPr>
        </p:sp>
        <p:sp>
          <p:nvSpPr>
            <p:cNvPr id="30" name="Freeform 30"/>
            <p:cNvSpPr/>
            <p:nvPr/>
          </p:nvSpPr>
          <p:spPr>
            <a:xfrm>
              <a:off x="10208895" y="204787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1" name="Freeform 31"/>
            <p:cNvSpPr/>
            <p:nvPr/>
          </p:nvSpPr>
          <p:spPr>
            <a:xfrm>
              <a:off x="7657148" y="3095625"/>
              <a:ext cx="438150" cy="9525"/>
            </a:xfrm>
            <a:custGeom>
              <a:avLst/>
              <a:gdLst/>
              <a:ahLst/>
              <a:cxnLst/>
              <a:rect l="l" t="t" r="r" b="b"/>
              <a:pathLst>
                <a:path w="438150" h="9525">
                  <a:moveTo>
                    <a:pt x="0" y="0"/>
                  </a:moveTo>
                  <a:lnTo>
                    <a:pt x="438150" y="0"/>
                  </a:lnTo>
                </a:path>
              </a:pathLst>
            </a:custGeom>
            <a:noFill/>
            <a:ln w="17145">
              <a:solidFill>
                <a:srgbClr val="1F2937"/>
              </a:solidFill>
            </a:ln>
          </p:spPr>
        </p:sp>
        <p:sp>
          <p:nvSpPr>
            <p:cNvPr id="32" name="Freeform 32"/>
            <p:cNvSpPr/>
            <p:nvPr/>
          </p:nvSpPr>
          <p:spPr>
            <a:xfrm>
              <a:off x="8095298" y="304800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3" name="Freeform 33"/>
            <p:cNvSpPr/>
            <p:nvPr/>
          </p:nvSpPr>
          <p:spPr>
            <a:xfrm>
              <a:off x="8742998" y="3095625"/>
              <a:ext cx="488633" cy="9525"/>
            </a:xfrm>
            <a:custGeom>
              <a:avLst/>
              <a:gdLst/>
              <a:ahLst/>
              <a:cxnLst/>
              <a:rect l="l" t="t" r="r" b="b"/>
              <a:pathLst>
                <a:path w="488633" h="9525">
                  <a:moveTo>
                    <a:pt x="0" y="0"/>
                  </a:moveTo>
                  <a:lnTo>
                    <a:pt x="488633" y="0"/>
                  </a:lnTo>
                </a:path>
              </a:pathLst>
            </a:custGeom>
            <a:noFill/>
            <a:ln w="17145">
              <a:solidFill>
                <a:srgbClr val="1F2937"/>
              </a:solidFill>
            </a:ln>
          </p:spPr>
        </p:sp>
        <p:sp>
          <p:nvSpPr>
            <p:cNvPr id="34" name="Freeform 34"/>
            <p:cNvSpPr/>
            <p:nvPr/>
          </p:nvSpPr>
          <p:spPr>
            <a:xfrm>
              <a:off x="9231630" y="304800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5" name="Freeform 35"/>
            <p:cNvSpPr/>
            <p:nvPr/>
          </p:nvSpPr>
          <p:spPr>
            <a:xfrm>
              <a:off x="10203180" y="3095625"/>
              <a:ext cx="383857" cy="9525"/>
            </a:xfrm>
            <a:custGeom>
              <a:avLst/>
              <a:gdLst/>
              <a:ahLst/>
              <a:cxnLst/>
              <a:rect l="l" t="t" r="r" b="b"/>
              <a:pathLst>
                <a:path w="383857" h="9525">
                  <a:moveTo>
                    <a:pt x="0" y="0"/>
                  </a:moveTo>
                  <a:lnTo>
                    <a:pt x="383857" y="0"/>
                  </a:lnTo>
                </a:path>
              </a:pathLst>
            </a:custGeom>
            <a:noFill/>
            <a:ln w="17145">
              <a:solidFill>
                <a:srgbClr val="1F2937"/>
              </a:solidFill>
            </a:ln>
          </p:spPr>
        </p:sp>
        <p:sp>
          <p:nvSpPr>
            <p:cNvPr id="36" name="Freeform 36"/>
            <p:cNvSpPr/>
            <p:nvPr/>
          </p:nvSpPr>
          <p:spPr>
            <a:xfrm>
              <a:off x="10587038" y="304800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7" name="Freeform 37"/>
            <p:cNvSpPr/>
            <p:nvPr/>
          </p:nvSpPr>
          <p:spPr>
            <a:xfrm>
              <a:off x="8036242" y="4095750"/>
              <a:ext cx="437197" cy="9525"/>
            </a:xfrm>
            <a:custGeom>
              <a:avLst/>
              <a:gdLst/>
              <a:ahLst/>
              <a:cxnLst/>
              <a:rect l="l" t="t" r="r" b="b"/>
              <a:pathLst>
                <a:path w="437197" h="9525">
                  <a:moveTo>
                    <a:pt x="0" y="0"/>
                  </a:moveTo>
                  <a:lnTo>
                    <a:pt x="437197" y="0"/>
                  </a:lnTo>
                </a:path>
              </a:pathLst>
            </a:custGeom>
            <a:noFill/>
            <a:ln w="17145">
              <a:solidFill>
                <a:srgbClr val="1F2937"/>
              </a:solidFill>
            </a:ln>
          </p:spPr>
        </p:sp>
        <p:sp>
          <p:nvSpPr>
            <p:cNvPr id="38" name="Freeform 38"/>
            <p:cNvSpPr/>
            <p:nvPr/>
          </p:nvSpPr>
          <p:spPr>
            <a:xfrm>
              <a:off x="8473440" y="404812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9" name="Freeform 39"/>
            <p:cNvSpPr/>
            <p:nvPr/>
          </p:nvSpPr>
          <p:spPr>
            <a:xfrm>
              <a:off x="9121140" y="4095750"/>
              <a:ext cx="489585" cy="9525"/>
            </a:xfrm>
            <a:custGeom>
              <a:avLst/>
              <a:gdLst/>
              <a:ahLst/>
              <a:cxnLst/>
              <a:rect l="l" t="t" r="r" b="b"/>
              <a:pathLst>
                <a:path w="489585" h="9525">
                  <a:moveTo>
                    <a:pt x="0" y="0"/>
                  </a:moveTo>
                  <a:lnTo>
                    <a:pt x="489585" y="0"/>
                  </a:lnTo>
                </a:path>
              </a:pathLst>
            </a:custGeom>
            <a:noFill/>
            <a:ln w="17145">
              <a:solidFill>
                <a:srgbClr val="1F2937"/>
              </a:solidFill>
            </a:ln>
          </p:spPr>
        </p:sp>
        <p:sp>
          <p:nvSpPr>
            <p:cNvPr id="40" name="Freeform 40"/>
            <p:cNvSpPr/>
            <p:nvPr/>
          </p:nvSpPr>
          <p:spPr>
            <a:xfrm>
              <a:off x="9610725" y="404812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1" name="Freeform 41"/>
            <p:cNvSpPr/>
            <p:nvPr/>
          </p:nvSpPr>
          <p:spPr>
            <a:xfrm>
              <a:off x="6946582" y="2225992"/>
              <a:ext cx="246698" cy="650558"/>
            </a:xfrm>
            <a:custGeom>
              <a:avLst/>
              <a:gdLst/>
              <a:ahLst/>
              <a:cxnLst/>
              <a:rect l="l" t="t" r="r" b="b"/>
              <a:pathLst>
                <a:path w="246698" h="650558">
                  <a:moveTo>
                    <a:pt x="0" y="0"/>
                  </a:moveTo>
                  <a:lnTo>
                    <a:pt x="246698" y="650558"/>
                  </a:lnTo>
                </a:path>
              </a:pathLst>
            </a:custGeom>
            <a:noFill/>
            <a:ln w="17145">
              <a:solidFill>
                <a:srgbClr val="1F2937"/>
              </a:solidFill>
              <a:custDash>
                <a:ds d="333333" sp="222222"/>
              </a:custDash>
            </a:ln>
          </p:spPr>
        </p:sp>
        <p:sp>
          <p:nvSpPr>
            <p:cNvPr id="42" name="Freeform 42"/>
            <p:cNvSpPr/>
            <p:nvPr/>
          </p:nvSpPr>
          <p:spPr>
            <a:xfrm>
              <a:off x="7148512" y="2859405"/>
              <a:ext cx="89535" cy="106680"/>
            </a:xfrm>
            <a:custGeom>
              <a:avLst/>
              <a:gdLst/>
              <a:ahLst/>
              <a:cxnLst/>
              <a:rect l="l" t="t" r="r" b="b"/>
              <a:pathLst>
                <a:path w="89535" h="106680">
                  <a:moveTo>
                    <a:pt x="79057" y="106680"/>
                  </a:moveTo>
                  <a:lnTo>
                    <a:pt x="0" y="34290"/>
                  </a:lnTo>
                  <a:lnTo>
                    <a:pt x="89535" y="0"/>
                  </a:lnTo>
                  <a:close/>
                </a:path>
              </a:pathLst>
            </a:custGeom>
            <a:solidFill>
              <a:srgbClr val="1F2937"/>
            </a:solidFill>
            <a:ln>
              <a:noFill/>
            </a:ln>
          </p:spPr>
        </p:sp>
        <p:sp>
          <p:nvSpPr>
            <p:cNvPr id="43" name="Freeform 43"/>
            <p:cNvSpPr/>
            <p:nvPr/>
          </p:nvSpPr>
          <p:spPr>
            <a:xfrm>
              <a:off x="8137208" y="2225992"/>
              <a:ext cx="246698" cy="650558"/>
            </a:xfrm>
            <a:custGeom>
              <a:avLst/>
              <a:gdLst/>
              <a:ahLst/>
              <a:cxnLst/>
              <a:rect l="l" t="t" r="r" b="b"/>
              <a:pathLst>
                <a:path w="246698" h="650558">
                  <a:moveTo>
                    <a:pt x="0" y="0"/>
                  </a:moveTo>
                  <a:lnTo>
                    <a:pt x="246698" y="650558"/>
                  </a:lnTo>
                </a:path>
              </a:pathLst>
            </a:custGeom>
            <a:noFill/>
            <a:ln w="17145">
              <a:solidFill>
                <a:srgbClr val="1F2937"/>
              </a:solidFill>
              <a:custDash>
                <a:ds d="333333" sp="222222"/>
              </a:custDash>
            </a:ln>
          </p:spPr>
        </p:sp>
        <p:sp>
          <p:nvSpPr>
            <p:cNvPr id="44" name="Freeform 44"/>
            <p:cNvSpPr/>
            <p:nvPr/>
          </p:nvSpPr>
          <p:spPr>
            <a:xfrm>
              <a:off x="8339138" y="2859405"/>
              <a:ext cx="88582" cy="106680"/>
            </a:xfrm>
            <a:custGeom>
              <a:avLst/>
              <a:gdLst/>
              <a:ahLst/>
              <a:cxnLst/>
              <a:rect l="l" t="t" r="r" b="b"/>
              <a:pathLst>
                <a:path w="88582" h="106680">
                  <a:moveTo>
                    <a:pt x="78105" y="106680"/>
                  </a:moveTo>
                  <a:lnTo>
                    <a:pt x="0" y="34290"/>
                  </a:lnTo>
                  <a:lnTo>
                    <a:pt x="88582" y="0"/>
                  </a:lnTo>
                  <a:close/>
                </a:path>
              </a:pathLst>
            </a:custGeom>
            <a:solidFill>
              <a:srgbClr val="1F2937"/>
            </a:solidFill>
            <a:ln>
              <a:noFill/>
            </a:ln>
          </p:spPr>
        </p:sp>
        <p:sp>
          <p:nvSpPr>
            <p:cNvPr id="45" name="Freeform 45"/>
            <p:cNvSpPr/>
            <p:nvPr/>
          </p:nvSpPr>
          <p:spPr>
            <a:xfrm>
              <a:off x="9435465" y="2225992"/>
              <a:ext cx="246697" cy="650558"/>
            </a:xfrm>
            <a:custGeom>
              <a:avLst/>
              <a:gdLst/>
              <a:ahLst/>
              <a:cxnLst/>
              <a:rect l="l" t="t" r="r" b="b"/>
              <a:pathLst>
                <a:path w="246697" h="650558">
                  <a:moveTo>
                    <a:pt x="0" y="0"/>
                  </a:moveTo>
                  <a:lnTo>
                    <a:pt x="246697" y="650558"/>
                  </a:lnTo>
                </a:path>
              </a:pathLst>
            </a:custGeom>
            <a:noFill/>
            <a:ln w="17145">
              <a:solidFill>
                <a:srgbClr val="1F2937"/>
              </a:solidFill>
              <a:custDash>
                <a:ds d="333333" sp="222222"/>
              </a:custDash>
            </a:ln>
          </p:spPr>
        </p:sp>
        <p:sp>
          <p:nvSpPr>
            <p:cNvPr id="46" name="Freeform 46"/>
            <p:cNvSpPr/>
            <p:nvPr/>
          </p:nvSpPr>
          <p:spPr>
            <a:xfrm>
              <a:off x="9637395" y="2859405"/>
              <a:ext cx="89535" cy="106680"/>
            </a:xfrm>
            <a:custGeom>
              <a:avLst/>
              <a:gdLst/>
              <a:ahLst/>
              <a:cxnLst/>
              <a:rect l="l" t="t" r="r" b="b"/>
              <a:pathLst>
                <a:path w="89535" h="106680">
                  <a:moveTo>
                    <a:pt x="78105" y="106680"/>
                  </a:moveTo>
                  <a:lnTo>
                    <a:pt x="0" y="34290"/>
                  </a:lnTo>
                  <a:lnTo>
                    <a:pt x="89535" y="0"/>
                  </a:lnTo>
                  <a:close/>
                </a:path>
              </a:pathLst>
            </a:custGeom>
            <a:solidFill>
              <a:srgbClr val="1F2937"/>
            </a:solidFill>
            <a:ln>
              <a:noFill/>
            </a:ln>
          </p:spPr>
        </p:sp>
        <p:sp>
          <p:nvSpPr>
            <p:cNvPr id="47" name="Freeform 47"/>
            <p:cNvSpPr/>
            <p:nvPr/>
          </p:nvSpPr>
          <p:spPr>
            <a:xfrm>
              <a:off x="7325678" y="3225165"/>
              <a:ext cx="246697" cy="651510"/>
            </a:xfrm>
            <a:custGeom>
              <a:avLst/>
              <a:gdLst/>
              <a:ahLst/>
              <a:cxnLst/>
              <a:rect l="l" t="t" r="r" b="b"/>
              <a:pathLst>
                <a:path w="246697" h="651510">
                  <a:moveTo>
                    <a:pt x="0" y="0"/>
                  </a:moveTo>
                  <a:lnTo>
                    <a:pt x="246697" y="651510"/>
                  </a:lnTo>
                </a:path>
              </a:pathLst>
            </a:custGeom>
            <a:noFill/>
            <a:ln w="17145">
              <a:solidFill>
                <a:srgbClr val="1F2937"/>
              </a:solidFill>
              <a:custDash>
                <a:ds d="333333" sp="222222"/>
              </a:custDash>
            </a:ln>
          </p:spPr>
        </p:sp>
        <p:sp>
          <p:nvSpPr>
            <p:cNvPr id="48" name="Freeform 48"/>
            <p:cNvSpPr/>
            <p:nvPr/>
          </p:nvSpPr>
          <p:spPr>
            <a:xfrm>
              <a:off x="7527608" y="3859530"/>
              <a:ext cx="88583" cy="106680"/>
            </a:xfrm>
            <a:custGeom>
              <a:avLst/>
              <a:gdLst/>
              <a:ahLst/>
              <a:cxnLst/>
              <a:rect l="l" t="t" r="r" b="b"/>
              <a:pathLst>
                <a:path w="88583" h="106680">
                  <a:moveTo>
                    <a:pt x="78105" y="106680"/>
                  </a:moveTo>
                  <a:lnTo>
                    <a:pt x="0" y="34290"/>
                  </a:lnTo>
                  <a:lnTo>
                    <a:pt x="88583" y="0"/>
                  </a:lnTo>
                  <a:close/>
                </a:path>
              </a:pathLst>
            </a:custGeom>
            <a:solidFill>
              <a:srgbClr val="1F2937"/>
            </a:solidFill>
            <a:ln>
              <a:noFill/>
            </a:ln>
          </p:spPr>
        </p:sp>
        <p:sp>
          <p:nvSpPr>
            <p:cNvPr id="49" name="Freeform 49"/>
            <p:cNvSpPr/>
            <p:nvPr/>
          </p:nvSpPr>
          <p:spPr>
            <a:xfrm>
              <a:off x="8515350" y="3225165"/>
              <a:ext cx="246697" cy="651510"/>
            </a:xfrm>
            <a:custGeom>
              <a:avLst/>
              <a:gdLst/>
              <a:ahLst/>
              <a:cxnLst/>
              <a:rect l="l" t="t" r="r" b="b"/>
              <a:pathLst>
                <a:path w="246697" h="651510">
                  <a:moveTo>
                    <a:pt x="0" y="0"/>
                  </a:moveTo>
                  <a:lnTo>
                    <a:pt x="246697" y="651510"/>
                  </a:lnTo>
                </a:path>
              </a:pathLst>
            </a:custGeom>
            <a:noFill/>
            <a:ln w="17145">
              <a:solidFill>
                <a:srgbClr val="1F2937"/>
              </a:solidFill>
              <a:custDash>
                <a:ds d="333333" sp="222222"/>
              </a:custDash>
            </a:ln>
          </p:spPr>
        </p:sp>
        <p:sp>
          <p:nvSpPr>
            <p:cNvPr id="50" name="Freeform 50"/>
            <p:cNvSpPr/>
            <p:nvPr/>
          </p:nvSpPr>
          <p:spPr>
            <a:xfrm>
              <a:off x="8718232" y="3859530"/>
              <a:ext cx="88583" cy="106680"/>
            </a:xfrm>
            <a:custGeom>
              <a:avLst/>
              <a:gdLst/>
              <a:ahLst/>
              <a:cxnLst/>
              <a:rect l="l" t="t" r="r" b="b"/>
              <a:pathLst>
                <a:path w="88583" h="106680">
                  <a:moveTo>
                    <a:pt x="78105" y="106680"/>
                  </a:moveTo>
                  <a:lnTo>
                    <a:pt x="0" y="34290"/>
                  </a:lnTo>
                  <a:lnTo>
                    <a:pt x="88583" y="0"/>
                  </a:lnTo>
                  <a:close/>
                </a:path>
              </a:pathLst>
            </a:custGeom>
            <a:solidFill>
              <a:srgbClr val="1F2937"/>
            </a:solidFill>
            <a:ln>
              <a:noFill/>
            </a:ln>
          </p:spPr>
        </p:sp>
        <p:sp>
          <p:nvSpPr>
            <p:cNvPr id="51" name="Freeform 51"/>
            <p:cNvSpPr/>
            <p:nvPr/>
          </p:nvSpPr>
          <p:spPr>
            <a:xfrm>
              <a:off x="9814560" y="3225165"/>
              <a:ext cx="245745" cy="651510"/>
            </a:xfrm>
            <a:custGeom>
              <a:avLst/>
              <a:gdLst/>
              <a:ahLst/>
              <a:cxnLst/>
              <a:rect l="l" t="t" r="r" b="b"/>
              <a:pathLst>
                <a:path w="245745" h="651510">
                  <a:moveTo>
                    <a:pt x="0" y="0"/>
                  </a:moveTo>
                  <a:lnTo>
                    <a:pt x="245745" y="651510"/>
                  </a:lnTo>
                </a:path>
              </a:pathLst>
            </a:custGeom>
            <a:noFill/>
            <a:ln w="17145">
              <a:solidFill>
                <a:srgbClr val="1F2937"/>
              </a:solidFill>
              <a:custDash>
                <a:ds d="333333" sp="222222"/>
              </a:custDash>
            </a:ln>
          </p:spPr>
        </p:sp>
        <p:sp>
          <p:nvSpPr>
            <p:cNvPr id="52" name="Freeform 52"/>
            <p:cNvSpPr/>
            <p:nvPr/>
          </p:nvSpPr>
          <p:spPr>
            <a:xfrm>
              <a:off x="10016490" y="3859530"/>
              <a:ext cx="88583" cy="106680"/>
            </a:xfrm>
            <a:custGeom>
              <a:avLst/>
              <a:gdLst/>
              <a:ahLst/>
              <a:cxnLst/>
              <a:rect l="l" t="t" r="r" b="b"/>
              <a:pathLst>
                <a:path w="88583" h="106680">
                  <a:moveTo>
                    <a:pt x="78105" y="106680"/>
                  </a:moveTo>
                  <a:lnTo>
                    <a:pt x="0" y="34290"/>
                  </a:lnTo>
                  <a:lnTo>
                    <a:pt x="88583" y="0"/>
                  </a:lnTo>
                  <a:close/>
                </a:path>
              </a:pathLst>
            </a:custGeom>
            <a:solidFill>
              <a:srgbClr val="1F2937"/>
            </a:solidFill>
            <a:ln>
              <a:noFill/>
            </a:ln>
          </p:spPr>
        </p:sp>
        <p:sp>
          <p:nvSpPr>
            <p:cNvPr id="53" name="Rectangle 53"/>
            <p:cNvSpPr/>
            <p:nvPr/>
          </p:nvSpPr>
          <p:spPr>
            <a:xfrm>
              <a:off x="6517005" y="1965008"/>
              <a:ext cx="762000" cy="260032"/>
            </a:xfrm>
            <a:prstGeom prst="roundRect">
              <a:avLst>
                <a:gd name="adj" fmla="val 36630"/>
              </a:avLst>
            </a:prstGeom>
            <a:solidFill>
              <a:srgbClr val="FFFFFF"/>
            </a:solidFill>
            <a:ln w="17145">
              <a:solidFill>
                <a:srgbClr val="334E68"/>
              </a:solidFill>
            </a:ln>
          </p:spPr>
        </p:sp>
        <p:sp>
          <p:nvSpPr>
            <p:cNvPr id="54" name="Rectangle 54"/>
            <p:cNvSpPr/>
            <p:nvPr/>
          </p:nvSpPr>
          <p:spPr>
            <a:xfrm>
              <a:off x="7811452" y="1965008"/>
              <a:ext cx="552450" cy="260032"/>
            </a:xfrm>
            <a:prstGeom prst="roundRect">
              <a:avLst>
                <a:gd name="adj" fmla="val 36630"/>
              </a:avLst>
            </a:prstGeom>
            <a:solidFill>
              <a:srgbClr val="FFFFFF"/>
            </a:solidFill>
            <a:ln w="17145">
              <a:solidFill>
                <a:srgbClr val="334E68"/>
              </a:solidFill>
            </a:ln>
          </p:spPr>
        </p:sp>
        <p:sp>
          <p:nvSpPr>
            <p:cNvPr id="55" name="Rectangle 55"/>
            <p:cNvSpPr/>
            <p:nvPr/>
          </p:nvSpPr>
          <p:spPr>
            <a:xfrm>
              <a:off x="8947785" y="1965008"/>
              <a:ext cx="876300" cy="260032"/>
            </a:xfrm>
            <a:prstGeom prst="roundRect">
              <a:avLst>
                <a:gd name="adj" fmla="val 36630"/>
              </a:avLst>
            </a:prstGeom>
            <a:solidFill>
              <a:srgbClr val="FFFFFF"/>
            </a:solidFill>
            <a:ln w="17145">
              <a:solidFill>
                <a:srgbClr val="334E68"/>
              </a:solidFill>
            </a:ln>
          </p:spPr>
        </p:sp>
        <p:sp>
          <p:nvSpPr>
            <p:cNvPr id="56" name="Rectangle 56"/>
            <p:cNvSpPr/>
            <p:nvPr/>
          </p:nvSpPr>
          <p:spPr>
            <a:xfrm>
              <a:off x="10304145" y="1965008"/>
              <a:ext cx="762000" cy="260032"/>
            </a:xfrm>
            <a:prstGeom prst="roundRect">
              <a:avLst>
                <a:gd name="adj" fmla="val 36630"/>
              </a:avLst>
            </a:prstGeom>
            <a:solidFill>
              <a:srgbClr val="FDEEE7"/>
            </a:solidFill>
            <a:ln w="17145">
              <a:solidFill>
                <a:srgbClr val="F26B3A"/>
              </a:solidFill>
            </a:ln>
          </p:spPr>
        </p:sp>
        <p:sp>
          <p:nvSpPr>
            <p:cNvPr id="57" name="Rectangle 57"/>
            <p:cNvSpPr/>
            <p:nvPr/>
          </p:nvSpPr>
          <p:spPr>
            <a:xfrm>
              <a:off x="6895148" y="2966085"/>
              <a:ext cx="762000" cy="260032"/>
            </a:xfrm>
            <a:prstGeom prst="roundRect">
              <a:avLst>
                <a:gd name="adj" fmla="val 36630"/>
              </a:avLst>
            </a:prstGeom>
            <a:solidFill>
              <a:srgbClr val="FFFFFF"/>
            </a:solidFill>
            <a:ln w="17145">
              <a:solidFill>
                <a:srgbClr val="334E68"/>
              </a:solidFill>
            </a:ln>
          </p:spPr>
        </p:sp>
        <p:sp>
          <p:nvSpPr>
            <p:cNvPr id="58" name="Rectangle 58"/>
            <p:cNvSpPr/>
            <p:nvPr/>
          </p:nvSpPr>
          <p:spPr>
            <a:xfrm>
              <a:off x="8190548" y="2966085"/>
              <a:ext cx="552450" cy="260032"/>
            </a:xfrm>
            <a:prstGeom prst="roundRect">
              <a:avLst>
                <a:gd name="adj" fmla="val 36630"/>
              </a:avLst>
            </a:prstGeom>
            <a:solidFill>
              <a:srgbClr val="FFFFFF"/>
            </a:solidFill>
            <a:ln w="17145">
              <a:solidFill>
                <a:srgbClr val="334E68"/>
              </a:solidFill>
            </a:ln>
          </p:spPr>
        </p:sp>
        <p:sp>
          <p:nvSpPr>
            <p:cNvPr id="59" name="Rectangle 59"/>
            <p:cNvSpPr/>
            <p:nvPr/>
          </p:nvSpPr>
          <p:spPr>
            <a:xfrm>
              <a:off x="9326880" y="2966085"/>
              <a:ext cx="876300" cy="260032"/>
            </a:xfrm>
            <a:prstGeom prst="roundRect">
              <a:avLst>
                <a:gd name="adj" fmla="val 36630"/>
              </a:avLst>
            </a:prstGeom>
            <a:solidFill>
              <a:srgbClr val="FFFFFF"/>
            </a:solidFill>
            <a:ln w="17145">
              <a:solidFill>
                <a:srgbClr val="334E68"/>
              </a:solidFill>
            </a:ln>
          </p:spPr>
        </p:sp>
        <p:sp>
          <p:nvSpPr>
            <p:cNvPr id="60" name="Rectangle 60"/>
            <p:cNvSpPr/>
            <p:nvPr/>
          </p:nvSpPr>
          <p:spPr>
            <a:xfrm>
              <a:off x="10682288" y="2966085"/>
              <a:ext cx="762000" cy="260032"/>
            </a:xfrm>
            <a:prstGeom prst="roundRect">
              <a:avLst>
                <a:gd name="adj" fmla="val 36630"/>
              </a:avLst>
            </a:prstGeom>
            <a:solidFill>
              <a:srgbClr val="FDEEE7"/>
            </a:solidFill>
            <a:ln w="17145">
              <a:solidFill>
                <a:srgbClr val="F26B3A"/>
              </a:solidFill>
            </a:ln>
          </p:spPr>
        </p:sp>
        <p:sp>
          <p:nvSpPr>
            <p:cNvPr id="61" name="Rectangle 61"/>
            <p:cNvSpPr/>
            <p:nvPr/>
          </p:nvSpPr>
          <p:spPr>
            <a:xfrm>
              <a:off x="7274242" y="3966210"/>
              <a:ext cx="762000" cy="260032"/>
            </a:xfrm>
            <a:prstGeom prst="roundRect">
              <a:avLst>
                <a:gd name="adj" fmla="val 36630"/>
              </a:avLst>
            </a:prstGeom>
            <a:solidFill>
              <a:srgbClr val="FFFFFF"/>
            </a:solidFill>
            <a:ln w="17145">
              <a:solidFill>
                <a:srgbClr val="334E68"/>
              </a:solidFill>
            </a:ln>
          </p:spPr>
        </p:sp>
        <p:sp>
          <p:nvSpPr>
            <p:cNvPr id="62" name="Rectangle 62"/>
            <p:cNvSpPr/>
            <p:nvPr/>
          </p:nvSpPr>
          <p:spPr>
            <a:xfrm>
              <a:off x="8568690" y="3966210"/>
              <a:ext cx="552450" cy="260032"/>
            </a:xfrm>
            <a:prstGeom prst="roundRect">
              <a:avLst>
                <a:gd name="adj" fmla="val 36630"/>
              </a:avLst>
            </a:prstGeom>
            <a:solidFill>
              <a:srgbClr val="FFFFFF"/>
            </a:solidFill>
            <a:ln w="17145">
              <a:solidFill>
                <a:srgbClr val="334E68"/>
              </a:solidFill>
            </a:ln>
          </p:spPr>
        </p:sp>
        <p:sp>
          <p:nvSpPr>
            <p:cNvPr id="63" name="Rectangle 63"/>
            <p:cNvSpPr/>
            <p:nvPr/>
          </p:nvSpPr>
          <p:spPr>
            <a:xfrm>
              <a:off x="9705975" y="3966210"/>
              <a:ext cx="876300" cy="260032"/>
            </a:xfrm>
            <a:prstGeom prst="roundRect">
              <a:avLst>
                <a:gd name="adj" fmla="val 36630"/>
              </a:avLst>
            </a:prstGeom>
            <a:solidFill>
              <a:srgbClr val="FFFFFF"/>
            </a:solidFill>
            <a:ln w="17145">
              <a:solidFill>
                <a:srgbClr val="334E68"/>
              </a:solidFill>
            </a:ln>
          </p:spPr>
        </p:sp>
        <p:sp>
          <p:nvSpPr>
            <p:cNvPr id="64" name="TextBox 64"/>
            <p:cNvSpPr txBox="1"/>
            <p:nvPr/>
          </p:nvSpPr>
          <p:spPr>
            <a:xfrm>
              <a:off x="6629197" y="2035016"/>
              <a:ext cx="537616"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规格说明</a:t>
              </a:r>
            </a:p>
          </p:txBody>
        </p:sp>
        <p:sp>
          <p:nvSpPr>
            <p:cNvPr id="65" name="TextBox 65"/>
            <p:cNvSpPr txBox="1"/>
            <p:nvPr/>
          </p:nvSpPr>
          <p:spPr>
            <a:xfrm>
              <a:off x="6735939" y="1818799"/>
              <a:ext cx="324132"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构件 1</a:t>
              </a:r>
            </a:p>
          </p:txBody>
        </p:sp>
        <p:sp>
          <p:nvSpPr>
            <p:cNvPr id="66" name="TextBox 66"/>
            <p:cNvSpPr txBox="1"/>
            <p:nvPr/>
          </p:nvSpPr>
          <p:spPr>
            <a:xfrm>
              <a:off x="7950797" y="2035016"/>
              <a:ext cx="273761"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设计</a:t>
              </a:r>
            </a:p>
          </p:txBody>
        </p:sp>
        <p:sp>
          <p:nvSpPr>
            <p:cNvPr id="67" name="TextBox 67"/>
            <p:cNvSpPr txBox="1"/>
            <p:nvPr/>
          </p:nvSpPr>
          <p:spPr>
            <a:xfrm>
              <a:off x="9051163" y="2035016"/>
              <a:ext cx="66954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编码和集成</a:t>
              </a:r>
            </a:p>
          </p:txBody>
        </p:sp>
        <p:sp>
          <p:nvSpPr>
            <p:cNvPr id="68" name="TextBox 68"/>
            <p:cNvSpPr txBox="1"/>
            <p:nvPr/>
          </p:nvSpPr>
          <p:spPr>
            <a:xfrm>
              <a:off x="10416337" y="2035016"/>
              <a:ext cx="537616"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交付客户</a:t>
              </a:r>
            </a:p>
          </p:txBody>
        </p:sp>
        <p:sp>
          <p:nvSpPr>
            <p:cNvPr id="69" name="TextBox 69"/>
            <p:cNvSpPr txBox="1"/>
            <p:nvPr/>
          </p:nvSpPr>
          <p:spPr>
            <a:xfrm>
              <a:off x="7007339" y="3035141"/>
              <a:ext cx="537616"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规格说明</a:t>
              </a:r>
            </a:p>
          </p:txBody>
        </p:sp>
        <p:sp>
          <p:nvSpPr>
            <p:cNvPr id="70" name="TextBox 70"/>
            <p:cNvSpPr txBox="1"/>
            <p:nvPr/>
          </p:nvSpPr>
          <p:spPr>
            <a:xfrm>
              <a:off x="7114082" y="2819876"/>
              <a:ext cx="324132"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构件 2</a:t>
              </a:r>
            </a:p>
          </p:txBody>
        </p:sp>
        <p:sp>
          <p:nvSpPr>
            <p:cNvPr id="71" name="TextBox 71"/>
            <p:cNvSpPr txBox="1"/>
            <p:nvPr/>
          </p:nvSpPr>
          <p:spPr>
            <a:xfrm>
              <a:off x="8329892" y="3035141"/>
              <a:ext cx="273761"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设计</a:t>
              </a:r>
            </a:p>
          </p:txBody>
        </p:sp>
        <p:sp>
          <p:nvSpPr>
            <p:cNvPr id="72" name="TextBox 72"/>
            <p:cNvSpPr txBox="1"/>
            <p:nvPr/>
          </p:nvSpPr>
          <p:spPr>
            <a:xfrm>
              <a:off x="9430258" y="3035141"/>
              <a:ext cx="66954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编码和集成</a:t>
              </a:r>
            </a:p>
          </p:txBody>
        </p:sp>
        <p:sp>
          <p:nvSpPr>
            <p:cNvPr id="73" name="TextBox 73"/>
            <p:cNvSpPr txBox="1"/>
            <p:nvPr/>
          </p:nvSpPr>
          <p:spPr>
            <a:xfrm>
              <a:off x="10794479" y="3035141"/>
              <a:ext cx="537616"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交付客户</a:t>
              </a:r>
            </a:p>
          </p:txBody>
        </p:sp>
        <p:sp>
          <p:nvSpPr>
            <p:cNvPr id="74" name="TextBox 74"/>
            <p:cNvSpPr txBox="1"/>
            <p:nvPr/>
          </p:nvSpPr>
          <p:spPr>
            <a:xfrm>
              <a:off x="7386434" y="4035266"/>
              <a:ext cx="537616"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规格说明</a:t>
              </a:r>
            </a:p>
          </p:txBody>
        </p:sp>
        <p:sp>
          <p:nvSpPr>
            <p:cNvPr id="75" name="TextBox 75"/>
            <p:cNvSpPr txBox="1"/>
            <p:nvPr/>
          </p:nvSpPr>
          <p:spPr>
            <a:xfrm>
              <a:off x="7493177" y="3820001"/>
              <a:ext cx="324132" cy="161925"/>
            </a:xfrm>
            <a:prstGeom prst="rect">
              <a:avLst/>
            </a:prstGeom>
            <a:noFill/>
            <a:ln>
              <a:noFill/>
            </a:ln>
          </p:spPr>
          <p:txBody>
            <a:bodyPr wrap="none" lIns="0" tIns="0" rIns="0" bIns="0" anchor="t" anchorCtr="0">
              <a:spAutoFit/>
            </a:bodyPr>
            <a:lstStyle/>
            <a:p>
              <a:pPr algn="ctr"/>
              <a:r>
                <a:rPr lang="zh-CN" sz="820" dirty="0">
                  <a:solidFill>
                    <a:srgbClr val="5B6475"/>
                  </a:solidFill>
                  <a:latin typeface="+mn-lt"/>
                  <a:ea typeface="+mn-ea"/>
                  <a:cs typeface="+mn-cs"/>
                </a:rPr>
                <a:t>构件 n</a:t>
              </a:r>
            </a:p>
          </p:txBody>
        </p:sp>
        <p:sp>
          <p:nvSpPr>
            <p:cNvPr id="76" name="TextBox 76"/>
            <p:cNvSpPr txBox="1"/>
            <p:nvPr/>
          </p:nvSpPr>
          <p:spPr>
            <a:xfrm>
              <a:off x="8708034" y="4035266"/>
              <a:ext cx="273761"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设计</a:t>
              </a:r>
            </a:p>
          </p:txBody>
        </p:sp>
        <p:sp>
          <p:nvSpPr>
            <p:cNvPr id="77" name="TextBox 77"/>
            <p:cNvSpPr txBox="1"/>
            <p:nvPr/>
          </p:nvSpPr>
          <p:spPr>
            <a:xfrm>
              <a:off x="9809353" y="4035266"/>
              <a:ext cx="66954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编码和集成</a:t>
              </a:r>
            </a:p>
          </p:txBody>
        </p:sp>
      </p:grpSp>
      <p:grpSp>
        <p:nvGrpSpPr>
          <p:cNvPr id="85" name="c2-callout-2"/>
          <p:cNvGrpSpPr/>
          <p:nvPr/>
        </p:nvGrpSpPr>
        <p:grpSpPr>
          <a:xfrm>
            <a:off x="6248400" y="4572000"/>
            <a:ext cx="5410200" cy="1236345"/>
            <a:chOff x="6248400" y="4572000"/>
            <a:chExt cx="5410200" cy="1236345"/>
          </a:xfrm>
        </p:grpSpPr>
        <p:sp>
          <p:nvSpPr>
            <p:cNvPr id="79" name="Rectangle 79"/>
            <p:cNvSpPr/>
            <p:nvPr/>
          </p:nvSpPr>
          <p:spPr>
            <a:xfrm>
              <a:off x="6248400" y="4572000"/>
              <a:ext cx="5410200" cy="1236345"/>
            </a:xfrm>
            <a:prstGeom prst="roundRect">
              <a:avLst>
                <a:gd name="adj" fmla="val 9245"/>
              </a:avLst>
            </a:prstGeom>
            <a:solidFill>
              <a:srgbClr val="FDECEA"/>
            </a:solidFill>
            <a:ln>
              <a:noFill/>
            </a:ln>
          </p:spPr>
        </p:sp>
        <p:grpSp>
          <p:nvGrpSpPr>
            <p:cNvPr id="83" name="Group 83"/>
            <p:cNvGrpSpPr/>
            <p:nvPr/>
          </p:nvGrpSpPr>
          <p:grpSpPr>
            <a:xfrm>
              <a:off x="6441129" y="5086468"/>
              <a:ext cx="224134" cy="192560"/>
              <a:chOff x="6441129" y="5086468"/>
              <a:chExt cx="224134" cy="192560"/>
            </a:xfrm>
          </p:grpSpPr>
          <p:sp>
            <p:nvSpPr>
              <p:cNvPr id="80" name="Freeform 80"/>
              <p:cNvSpPr/>
              <p:nvPr/>
            </p:nvSpPr>
            <p:spPr>
              <a:xfrm>
                <a:off x="6553200" y="5156835"/>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81" name="Freeform 81"/>
              <p:cNvSpPr/>
              <p:nvPr/>
            </p:nvSpPr>
            <p:spPr>
              <a:xfrm>
                <a:off x="6441129" y="5086468"/>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82" name="Freeform 82"/>
              <p:cNvSpPr/>
              <p:nvPr/>
            </p:nvSpPr>
            <p:spPr>
              <a:xfrm>
                <a:off x="6553200" y="5234623"/>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84" name="TextBox 84"/>
            <p:cNvSpPr txBox="1"/>
            <p:nvPr/>
          </p:nvSpPr>
          <p:spPr>
            <a:xfrm>
              <a:off x="6755130" y="4947285"/>
              <a:ext cx="43967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B42318"/>
                  </a:solidFill>
                  <a:latin typeface="+mn-lt"/>
                  <a:ea typeface="+mn-ea"/>
                  <a:cs typeface="+mn-cs"/>
                </a:rPr>
                <a:t>风险更大的增量模型：前一个构件还没交付，后面的</a:t>
              </a:r>
              <a:br/>
              <a:r>
                <a:rPr lang="zh-CN" sz="1500" dirty="0">
                  <a:solidFill>
                    <a:srgbClr val="B42318"/>
                  </a:solidFill>
                  <a:latin typeface="+mn-lt"/>
                  <a:ea typeface="+mn-ea"/>
                  <a:cs typeface="+mn-cs"/>
                </a:rPr>
                <a:t>构件就已经开工，集成冲突的代价更高。</a:t>
              </a:r>
            </a:p>
          </p:txBody>
        </p:sp>
      </p:grpSp>
      <p:grpSp>
        <p:nvGrpSpPr>
          <p:cNvPr id="88" name="footer"/>
          <p:cNvGrpSpPr/>
          <p:nvPr/>
        </p:nvGrpSpPr>
        <p:grpSpPr>
          <a:xfrm>
            <a:off x="528447" y="6581299"/>
            <a:ext cx="11135106" cy="190690"/>
            <a:chOff x="528447" y="6581299"/>
            <a:chExt cx="11135106" cy="190690"/>
          </a:xfrm>
        </p:grpSpPr>
        <p:sp>
          <p:nvSpPr>
            <p:cNvPr id="86" name="TextBox 86"/>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87" name="TextBox 8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37</a:t>
              </a:r>
            </a:p>
          </p:txBody>
        </p:sp>
      </p:grpSp>
    </p:spTree>
  </p:cSld>
  <p:clrMapOvr>
    <a:masterClrMapping/>
  </p:clrMapOvr>
  <p:transition xmlns:p14="http://schemas.microsoft.com/office/powerpoint/2010/main" p14:dur="400">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软件过程与传统过程模型</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螺旋模型：每个阶段之前先做风险分析</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card-1"/>
          <p:cNvGrpSpPr/>
          <p:nvPr/>
        </p:nvGrpSpPr>
        <p:grpSpPr>
          <a:xfrm>
            <a:off x="533400" y="1524000"/>
            <a:ext cx="4977765" cy="1602105"/>
            <a:chOff x="533400" y="1524000"/>
            <a:chExt cx="4977765" cy="1602105"/>
          </a:xfrm>
        </p:grpSpPr>
        <p:sp>
          <p:nvSpPr>
            <p:cNvPr id="7" name="Rectangle 7"/>
            <p:cNvSpPr/>
            <p:nvPr/>
          </p:nvSpPr>
          <p:spPr>
            <a:xfrm>
              <a:off x="533400" y="1524000"/>
              <a:ext cx="4977765" cy="1602105"/>
            </a:xfrm>
            <a:prstGeom prst="roundRect">
              <a:avLst>
                <a:gd name="adj" fmla="val 8323"/>
              </a:avLst>
            </a:prstGeom>
            <a:solidFill>
              <a:srgbClr val="FFFFFF"/>
            </a:solidFill>
            <a:ln w="14288">
              <a:solidFill>
                <a:srgbClr val="D9DFEA"/>
              </a:solidFill>
            </a:ln>
          </p:spPr>
        </p:sp>
        <p:sp>
          <p:nvSpPr>
            <p:cNvPr id="8" name="Rectangle 8"/>
            <p:cNvSpPr/>
            <p:nvPr/>
          </p:nvSpPr>
          <p:spPr>
            <a:xfrm>
              <a:off x="542925" y="1657350"/>
              <a:ext cx="47625" cy="1335405"/>
            </a:xfrm>
            <a:prstGeom prst="roundRect">
              <a:avLst>
                <a:gd name="adj" fmla="val 50000"/>
              </a:avLst>
            </a:prstGeom>
            <a:solidFill>
              <a:srgbClr val="334E68"/>
            </a:solidFill>
            <a:ln>
              <a:noFill/>
            </a:ln>
          </p:spPr>
        </p:sp>
        <p:sp>
          <p:nvSpPr>
            <p:cNvPr id="9" name="Rectangle 9"/>
            <p:cNvSpPr/>
            <p:nvPr/>
          </p:nvSpPr>
          <p:spPr>
            <a:xfrm>
              <a:off x="781050" y="1733550"/>
              <a:ext cx="778192" cy="257175"/>
            </a:xfrm>
            <a:prstGeom prst="roundRect">
              <a:avLst>
                <a:gd name="adj" fmla="val 50000"/>
              </a:avLst>
            </a:prstGeom>
            <a:solidFill>
              <a:srgbClr val="E7EDF3"/>
            </a:solidFill>
            <a:ln>
              <a:noFill/>
            </a:ln>
          </p:spPr>
        </p:sp>
        <p:sp>
          <p:nvSpPr>
            <p:cNvPr id="10" name="TextBox 10"/>
            <p:cNvSpPr txBox="1"/>
            <p:nvPr/>
          </p:nvSpPr>
          <p:spPr>
            <a:xfrm>
              <a:off x="863359" y="1769269"/>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基本思想</a:t>
              </a:r>
            </a:p>
          </p:txBody>
        </p:sp>
        <p:sp>
          <p:nvSpPr>
            <p:cNvPr id="11" name="TextBox 11"/>
            <p:cNvSpPr txBox="1"/>
            <p:nvPr/>
          </p:nvSpPr>
          <p:spPr>
            <a:xfrm>
              <a:off x="773430" y="2110740"/>
              <a:ext cx="4206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使用原型及其他方法来尽量降低风险。理解这种模</a:t>
              </a:r>
              <a:br/>
              <a:r>
                <a:rPr lang="zh-CN" sz="1500" dirty="0">
                  <a:solidFill>
                    <a:srgbClr val="1F2937"/>
                  </a:solidFill>
                  <a:latin typeface="+mn-lt"/>
                  <a:ea typeface="+mn-ea"/>
                  <a:cs typeface="+mn-cs"/>
                </a:rPr>
                <a:t>型的一个简便方法，是把它看作</a:t>
              </a:r>
              <a:r>
                <a:rPr lang="zh-CN" sz="1500" b="1" dirty="0">
                  <a:solidFill>
                    <a:srgbClr val="C2410C"/>
                  </a:solidFill>
                  <a:latin typeface="+mn-lt"/>
                  <a:ea typeface="+mn-ea"/>
                  <a:cs typeface="+mn-cs"/>
                </a:rPr>
                <a:t>在每个阶段之前都</a:t>
              </a:r>
              <a:br/>
              <a:r>
                <a:rPr lang="zh-CN" sz="1500" b="1" dirty="0">
                  <a:solidFill>
                    <a:srgbClr val="C2410C"/>
                  </a:solidFill>
                  <a:latin typeface="+mn-lt"/>
                  <a:ea typeface="+mn-ea"/>
                  <a:cs typeface="+mn-cs"/>
                </a:rPr>
                <a:t>增加了风险分析过程的快速原型模型</a:t>
              </a:r>
              <a:r>
                <a:rPr lang="zh-CN" sz="1500" dirty="0">
                  <a:solidFill>
                    <a:srgbClr val="1F2937"/>
                  </a:solidFill>
                  <a:latin typeface="+mn-lt"/>
                  <a:ea typeface="+mn-ea"/>
                  <a:cs typeface="+mn-cs"/>
                </a:rPr>
                <a:t>。</a:t>
              </a:r>
            </a:p>
          </p:txBody>
        </p:sp>
      </p:grpSp>
      <p:grpSp>
        <p:nvGrpSpPr>
          <p:cNvPr id="18" name="c1-kv-2"/>
          <p:cNvGrpSpPr/>
          <p:nvPr/>
        </p:nvGrpSpPr>
        <p:grpSpPr>
          <a:xfrm>
            <a:off x="525780" y="3341370"/>
            <a:ext cx="4985385" cy="1297305"/>
            <a:chOff x="525780" y="3341370"/>
            <a:chExt cx="4985385" cy="1297305"/>
          </a:xfrm>
        </p:grpSpPr>
        <p:sp>
          <p:nvSpPr>
            <p:cNvPr id="13" name="TextBox 13"/>
            <p:cNvSpPr txBox="1"/>
            <p:nvPr/>
          </p:nvSpPr>
          <p:spPr>
            <a:xfrm>
              <a:off x="525780" y="3341370"/>
              <a:ext cx="163068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软件项目中的风险</a:t>
              </a:r>
            </a:p>
          </p:txBody>
        </p:sp>
        <p:sp>
          <p:nvSpPr>
            <p:cNvPr id="14" name="TextBox 14"/>
            <p:cNvSpPr txBox="1"/>
            <p:nvPr/>
          </p:nvSpPr>
          <p:spPr>
            <a:xfrm>
              <a:off x="2361248" y="3341370"/>
              <a:ext cx="287274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人员、硬件设备、项目的生存能力</a:t>
              </a:r>
              <a:br/>
              <a:r>
                <a:rPr lang="zh-CN" sz="1500" dirty="0">
                  <a:solidFill>
                    <a:srgbClr val="1F2937"/>
                  </a:solidFill>
                  <a:latin typeface="+mn-lt"/>
                  <a:ea typeface="+mn-ea"/>
                  <a:cs typeface="+mn-cs"/>
                </a:rPr>
                <a:t>等</a:t>
              </a:r>
            </a:p>
          </p:txBody>
        </p:sp>
        <p:sp>
          <p:nvSpPr>
            <p:cNvPr id="15" name="Rectangle 15"/>
            <p:cNvSpPr/>
            <p:nvPr/>
          </p:nvSpPr>
          <p:spPr>
            <a:xfrm>
              <a:off x="533400" y="3943350"/>
              <a:ext cx="4977765" cy="9525"/>
            </a:xfrm>
            <a:prstGeom prst="rect">
              <a:avLst/>
            </a:prstGeom>
            <a:solidFill>
              <a:srgbClr val="D9DFEA"/>
            </a:solidFill>
            <a:ln>
              <a:noFill/>
            </a:ln>
          </p:spPr>
        </p:sp>
        <p:sp>
          <p:nvSpPr>
            <p:cNvPr id="16" name="TextBox 16"/>
            <p:cNvSpPr txBox="1"/>
            <p:nvPr/>
          </p:nvSpPr>
          <p:spPr>
            <a:xfrm>
              <a:off x="525780" y="4063365"/>
              <a:ext cx="142875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对付风险的手段</a:t>
              </a:r>
            </a:p>
          </p:txBody>
        </p:sp>
        <p:sp>
          <p:nvSpPr>
            <p:cNvPr id="17" name="TextBox 17"/>
            <p:cNvSpPr txBox="1"/>
            <p:nvPr/>
          </p:nvSpPr>
          <p:spPr>
            <a:xfrm>
              <a:off x="2361248" y="4063365"/>
              <a:ext cx="287274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先做原型试探，识别并消除风险后</a:t>
              </a:r>
              <a:br/>
              <a:r>
                <a:rPr lang="zh-CN" sz="1500" dirty="0">
                  <a:solidFill>
                    <a:srgbClr val="1F2937"/>
                  </a:solidFill>
                  <a:latin typeface="+mn-lt"/>
                  <a:ea typeface="+mn-ea"/>
                  <a:cs typeface="+mn-cs"/>
                </a:rPr>
                <a:t>再往下做</a:t>
              </a:r>
            </a:p>
          </p:txBody>
        </p:sp>
      </p:grpSp>
      <p:grpSp>
        <p:nvGrpSpPr>
          <p:cNvPr id="25" name="c1-callout-3"/>
          <p:cNvGrpSpPr/>
          <p:nvPr/>
        </p:nvGrpSpPr>
        <p:grpSpPr>
          <a:xfrm>
            <a:off x="533400" y="4770120"/>
            <a:ext cx="4977765" cy="1537335"/>
            <a:chOff x="533400" y="4770120"/>
            <a:chExt cx="4977765" cy="1537335"/>
          </a:xfrm>
        </p:grpSpPr>
        <p:sp>
          <p:nvSpPr>
            <p:cNvPr id="19" name="Rectangle 19"/>
            <p:cNvSpPr/>
            <p:nvPr/>
          </p:nvSpPr>
          <p:spPr>
            <a:xfrm>
              <a:off x="533400" y="4770120"/>
              <a:ext cx="4977765" cy="1537335"/>
            </a:xfrm>
            <a:prstGeom prst="roundRect">
              <a:avLst>
                <a:gd name="adj" fmla="val 7435"/>
              </a:avLst>
            </a:prstGeom>
            <a:solidFill>
              <a:srgbClr val="F4F6FB"/>
            </a:solidFill>
            <a:ln>
              <a:noFill/>
            </a:ln>
          </p:spPr>
        </p:sp>
        <p:grpSp>
          <p:nvGrpSpPr>
            <p:cNvPr id="23" name="Group 23"/>
            <p:cNvGrpSpPr/>
            <p:nvPr/>
          </p:nvGrpSpPr>
          <p:grpSpPr>
            <a:xfrm>
              <a:off x="738188" y="5438775"/>
              <a:ext cx="200026" cy="200026"/>
              <a:chOff x="738188" y="5438775"/>
              <a:chExt cx="200026" cy="200026"/>
            </a:xfrm>
          </p:grpSpPr>
          <p:sp>
            <p:nvSpPr>
              <p:cNvPr id="20" name="Freeform 20"/>
              <p:cNvSpPr/>
              <p:nvPr/>
            </p:nvSpPr>
            <p:spPr>
              <a:xfrm>
                <a:off x="738188" y="543877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21" name="Freeform 21"/>
              <p:cNvSpPr/>
              <p:nvPr/>
            </p:nvSpPr>
            <p:spPr>
              <a:xfrm>
                <a:off x="838200" y="550545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22" name="Freeform 22"/>
              <p:cNvSpPr/>
              <p:nvPr/>
            </p:nvSpPr>
            <p:spPr>
              <a:xfrm>
                <a:off x="827088" y="553878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24" name="TextBox 24"/>
            <p:cNvSpPr txBox="1"/>
            <p:nvPr/>
          </p:nvSpPr>
          <p:spPr>
            <a:xfrm>
              <a:off x="1040130" y="5295900"/>
              <a:ext cx="403479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风险分析的结果可能是“这条路不通”，这时改方</a:t>
              </a:r>
              <a:br/>
              <a:r>
                <a:rPr lang="zh-CN" sz="1500" dirty="0">
                  <a:solidFill>
                    <a:srgbClr val="1F2937"/>
                  </a:solidFill>
                  <a:latin typeface="+mn-lt"/>
                  <a:ea typeface="+mn-ea"/>
                  <a:cs typeface="+mn-cs"/>
                </a:rPr>
                <a:t>案比硬着头皮做下去便宜得多。</a:t>
              </a:r>
            </a:p>
          </p:txBody>
        </p:sp>
      </p:grpSp>
      <p:grpSp>
        <p:nvGrpSpPr>
          <p:cNvPr id="54" name="c2-flow-1"/>
          <p:cNvGrpSpPr/>
          <p:nvPr/>
        </p:nvGrpSpPr>
        <p:grpSpPr>
          <a:xfrm>
            <a:off x="6019800" y="1526858"/>
            <a:ext cx="5434965" cy="3709034"/>
            <a:chOff x="6019800" y="1526858"/>
            <a:chExt cx="5434965" cy="3709034"/>
          </a:xfrm>
        </p:grpSpPr>
        <p:sp>
          <p:nvSpPr>
            <p:cNvPr id="26" name="Freeform 26"/>
            <p:cNvSpPr/>
            <p:nvPr/>
          </p:nvSpPr>
          <p:spPr>
            <a:xfrm>
              <a:off x="7276148" y="2057400"/>
              <a:ext cx="9525" cy="99060"/>
            </a:xfrm>
            <a:custGeom>
              <a:avLst/>
              <a:gdLst/>
              <a:ahLst/>
              <a:cxnLst/>
              <a:rect l="l" t="t" r="r" b="b"/>
              <a:pathLst>
                <a:path w="9525" h="99060">
                  <a:moveTo>
                    <a:pt x="0" y="99060"/>
                  </a:moveTo>
                  <a:lnTo>
                    <a:pt x="0" y="0"/>
                  </a:lnTo>
                </a:path>
              </a:pathLst>
            </a:custGeom>
            <a:noFill/>
            <a:ln w="15240">
              <a:solidFill>
                <a:srgbClr val="5B6475"/>
              </a:solidFill>
            </a:ln>
          </p:spPr>
        </p:sp>
        <p:sp>
          <p:nvSpPr>
            <p:cNvPr id="27" name="Freeform 27"/>
            <p:cNvSpPr/>
            <p:nvPr/>
          </p:nvSpPr>
          <p:spPr>
            <a:xfrm>
              <a:off x="7223760" y="205740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8" name="Freeform 28"/>
            <p:cNvSpPr/>
            <p:nvPr/>
          </p:nvSpPr>
          <p:spPr>
            <a:xfrm>
              <a:off x="7276148" y="2787968"/>
              <a:ext cx="9525" cy="9525"/>
            </a:xfrm>
            <a:custGeom>
              <a:avLst/>
              <a:gdLst/>
              <a:ahLst/>
              <a:cxnLst/>
              <a:rect l="l" t="t" r="r" b="b"/>
              <a:pathLst>
                <a:path w="9525" h="9525">
                  <a:moveTo>
                    <a:pt x="0" y="2858"/>
                  </a:moveTo>
                  <a:lnTo>
                    <a:pt x="0" y="0"/>
                  </a:lnTo>
                </a:path>
              </a:pathLst>
            </a:custGeom>
            <a:noFill/>
            <a:ln w="15240">
              <a:solidFill>
                <a:srgbClr val="5B6475"/>
              </a:solidFill>
            </a:ln>
          </p:spPr>
        </p:sp>
        <p:sp>
          <p:nvSpPr>
            <p:cNvPr id="29" name="Freeform 29"/>
            <p:cNvSpPr/>
            <p:nvPr/>
          </p:nvSpPr>
          <p:spPr>
            <a:xfrm>
              <a:off x="7223760" y="278796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0" name="Freeform 30"/>
            <p:cNvSpPr/>
            <p:nvPr/>
          </p:nvSpPr>
          <p:spPr>
            <a:xfrm>
              <a:off x="7276148" y="3330892"/>
              <a:ext cx="9525" cy="91440"/>
            </a:xfrm>
            <a:custGeom>
              <a:avLst/>
              <a:gdLst/>
              <a:ahLst/>
              <a:cxnLst/>
              <a:rect l="l" t="t" r="r" b="b"/>
              <a:pathLst>
                <a:path w="9525" h="91440">
                  <a:moveTo>
                    <a:pt x="0" y="0"/>
                  </a:moveTo>
                  <a:lnTo>
                    <a:pt x="0" y="91440"/>
                  </a:lnTo>
                </a:path>
              </a:pathLst>
            </a:custGeom>
            <a:noFill/>
            <a:ln w="15240">
              <a:solidFill>
                <a:srgbClr val="5B6475"/>
              </a:solidFill>
            </a:ln>
          </p:spPr>
        </p:sp>
        <p:sp>
          <p:nvSpPr>
            <p:cNvPr id="31" name="Freeform 31"/>
            <p:cNvSpPr/>
            <p:nvPr/>
          </p:nvSpPr>
          <p:spPr>
            <a:xfrm>
              <a:off x="7223760" y="342233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2" name="Freeform 32"/>
            <p:cNvSpPr/>
            <p:nvPr/>
          </p:nvSpPr>
          <p:spPr>
            <a:xfrm>
              <a:off x="7276148" y="3965258"/>
              <a:ext cx="9525" cy="92392"/>
            </a:xfrm>
            <a:custGeom>
              <a:avLst/>
              <a:gdLst/>
              <a:ahLst/>
              <a:cxnLst/>
              <a:rect l="l" t="t" r="r" b="b"/>
              <a:pathLst>
                <a:path w="9525" h="92392">
                  <a:moveTo>
                    <a:pt x="0" y="0"/>
                  </a:moveTo>
                  <a:lnTo>
                    <a:pt x="0" y="92392"/>
                  </a:lnTo>
                </a:path>
              </a:pathLst>
            </a:custGeom>
            <a:noFill/>
            <a:ln w="15240">
              <a:solidFill>
                <a:srgbClr val="5B6475"/>
              </a:solidFill>
            </a:ln>
          </p:spPr>
        </p:sp>
        <p:sp>
          <p:nvSpPr>
            <p:cNvPr id="33" name="Freeform 33"/>
            <p:cNvSpPr/>
            <p:nvPr/>
          </p:nvSpPr>
          <p:spPr>
            <a:xfrm>
              <a:off x="7223760" y="405765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4" name="Freeform 34"/>
            <p:cNvSpPr/>
            <p:nvPr/>
          </p:nvSpPr>
          <p:spPr>
            <a:xfrm>
              <a:off x="7276148" y="4600575"/>
              <a:ext cx="9525" cy="92392"/>
            </a:xfrm>
            <a:custGeom>
              <a:avLst/>
              <a:gdLst/>
              <a:ahLst/>
              <a:cxnLst/>
              <a:rect l="l" t="t" r="r" b="b"/>
              <a:pathLst>
                <a:path w="9525" h="92392">
                  <a:moveTo>
                    <a:pt x="0" y="0"/>
                  </a:moveTo>
                  <a:lnTo>
                    <a:pt x="0" y="92392"/>
                  </a:lnTo>
                </a:path>
              </a:pathLst>
            </a:custGeom>
            <a:noFill/>
            <a:ln w="15240">
              <a:solidFill>
                <a:srgbClr val="5B6475"/>
              </a:solidFill>
            </a:ln>
          </p:spPr>
        </p:sp>
        <p:sp>
          <p:nvSpPr>
            <p:cNvPr id="35" name="Freeform 35"/>
            <p:cNvSpPr/>
            <p:nvPr/>
          </p:nvSpPr>
          <p:spPr>
            <a:xfrm>
              <a:off x="7223760" y="469296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6" name="Freeform 36"/>
            <p:cNvSpPr/>
            <p:nvPr/>
          </p:nvSpPr>
          <p:spPr>
            <a:xfrm>
              <a:off x="7276148" y="2057400"/>
              <a:ext cx="2921317" cy="101917"/>
            </a:xfrm>
            <a:custGeom>
              <a:avLst/>
              <a:gdLst/>
              <a:ahLst/>
              <a:cxnLst/>
              <a:rect l="l" t="t" r="r" b="b"/>
              <a:pathLst>
                <a:path w="2921317" h="101917">
                  <a:moveTo>
                    <a:pt x="2921317" y="99060"/>
                  </a:moveTo>
                  <a:lnTo>
                    <a:pt x="2921317" y="101917"/>
                  </a:lnTo>
                  <a:lnTo>
                    <a:pt x="0" y="101917"/>
                  </a:lnTo>
                  <a:lnTo>
                    <a:pt x="0" y="0"/>
                  </a:lnTo>
                </a:path>
              </a:pathLst>
            </a:custGeom>
            <a:noFill/>
            <a:ln w="15240">
              <a:solidFill>
                <a:srgbClr val="5B6475"/>
              </a:solidFill>
              <a:custDash>
                <a:ds d="375000" sp="250000"/>
              </a:custDash>
            </a:ln>
          </p:spPr>
        </p:sp>
        <p:sp>
          <p:nvSpPr>
            <p:cNvPr id="37" name="Freeform 37"/>
            <p:cNvSpPr/>
            <p:nvPr/>
          </p:nvSpPr>
          <p:spPr>
            <a:xfrm>
              <a:off x="7223760" y="205740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8" name="Freeform 38"/>
            <p:cNvSpPr/>
            <p:nvPr/>
          </p:nvSpPr>
          <p:spPr>
            <a:xfrm>
              <a:off x="8532495" y="3111818"/>
              <a:ext cx="2425065" cy="1905000"/>
            </a:xfrm>
            <a:custGeom>
              <a:avLst/>
              <a:gdLst/>
              <a:ahLst/>
              <a:cxnLst/>
              <a:rect l="l" t="t" r="r" b="b"/>
              <a:pathLst>
                <a:path w="2425065" h="1905000">
                  <a:moveTo>
                    <a:pt x="0" y="1905000"/>
                  </a:moveTo>
                  <a:lnTo>
                    <a:pt x="209550" y="1905000"/>
                  </a:lnTo>
                  <a:lnTo>
                    <a:pt x="2425065" y="1905000"/>
                  </a:lnTo>
                  <a:lnTo>
                    <a:pt x="2425065" y="1764982"/>
                  </a:lnTo>
                  <a:lnTo>
                    <a:pt x="2425065" y="126683"/>
                  </a:lnTo>
                  <a:lnTo>
                    <a:pt x="2425065" y="0"/>
                  </a:lnTo>
                  <a:lnTo>
                    <a:pt x="209550" y="0"/>
                  </a:lnTo>
                  <a:lnTo>
                    <a:pt x="104775" y="0"/>
                  </a:lnTo>
                </a:path>
              </a:pathLst>
            </a:custGeom>
            <a:noFill/>
            <a:ln w="15240">
              <a:solidFill>
                <a:srgbClr val="5B6475"/>
              </a:solidFill>
              <a:custDash>
                <a:ds d="375000" sp="250000"/>
              </a:custDash>
            </a:ln>
          </p:spPr>
        </p:sp>
        <p:sp>
          <p:nvSpPr>
            <p:cNvPr id="39" name="Freeform 39"/>
            <p:cNvSpPr/>
            <p:nvPr/>
          </p:nvSpPr>
          <p:spPr>
            <a:xfrm>
              <a:off x="8532495" y="3059430"/>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40" name="Rectangle 40"/>
            <p:cNvSpPr/>
            <p:nvPr/>
          </p:nvSpPr>
          <p:spPr>
            <a:xfrm>
              <a:off x="6019800" y="1526858"/>
              <a:ext cx="2512695" cy="629602"/>
            </a:xfrm>
            <a:prstGeom prst="roundRect">
              <a:avLst>
                <a:gd name="adj" fmla="val 15129"/>
              </a:avLst>
            </a:prstGeom>
            <a:solidFill>
              <a:srgbClr val="E7EDF3"/>
            </a:solidFill>
            <a:ln w="19050">
              <a:solidFill>
                <a:srgbClr val="334E68"/>
              </a:solidFill>
            </a:ln>
          </p:spPr>
        </p:sp>
        <p:sp>
          <p:nvSpPr>
            <p:cNvPr id="41" name="Rectangle 41"/>
            <p:cNvSpPr/>
            <p:nvPr/>
          </p:nvSpPr>
          <p:spPr>
            <a:xfrm>
              <a:off x="8942070" y="1526858"/>
              <a:ext cx="2512695" cy="629602"/>
            </a:xfrm>
            <a:prstGeom prst="roundRect">
              <a:avLst>
                <a:gd name="adj" fmla="val 12103"/>
              </a:avLst>
            </a:prstGeom>
            <a:solidFill>
              <a:srgbClr val="FEF3C7"/>
            </a:solidFill>
            <a:ln>
              <a:noFill/>
            </a:ln>
          </p:spPr>
        </p:sp>
        <p:sp>
          <p:nvSpPr>
            <p:cNvPr id="42" name="Rectangle 42"/>
            <p:cNvSpPr/>
            <p:nvPr/>
          </p:nvSpPr>
          <p:spPr>
            <a:xfrm>
              <a:off x="6019800" y="2162175"/>
              <a:ext cx="2512695" cy="629602"/>
            </a:xfrm>
            <a:prstGeom prst="roundRect">
              <a:avLst>
                <a:gd name="adj" fmla="val 15129"/>
              </a:avLst>
            </a:prstGeom>
            <a:solidFill>
              <a:srgbClr val="FFFFFF"/>
            </a:solidFill>
            <a:ln w="15240">
              <a:solidFill>
                <a:srgbClr val="334E68"/>
              </a:solidFill>
            </a:ln>
          </p:spPr>
        </p:sp>
        <p:sp>
          <p:nvSpPr>
            <p:cNvPr id="43" name="Rectangle 43"/>
            <p:cNvSpPr/>
            <p:nvPr/>
          </p:nvSpPr>
          <p:spPr>
            <a:xfrm>
              <a:off x="6019800" y="2892742"/>
              <a:ext cx="2512695" cy="438150"/>
            </a:xfrm>
            <a:prstGeom prst="roundRect">
              <a:avLst>
                <a:gd name="adj" fmla="val 21739"/>
              </a:avLst>
            </a:prstGeom>
            <a:solidFill>
              <a:srgbClr val="FFFFFF"/>
            </a:solidFill>
            <a:ln w="15240">
              <a:solidFill>
                <a:srgbClr val="334E68"/>
              </a:solidFill>
            </a:ln>
          </p:spPr>
        </p:sp>
        <p:sp>
          <p:nvSpPr>
            <p:cNvPr id="44" name="Rectangle 44"/>
            <p:cNvSpPr/>
            <p:nvPr/>
          </p:nvSpPr>
          <p:spPr>
            <a:xfrm>
              <a:off x="6019800" y="3527108"/>
              <a:ext cx="2512695" cy="438150"/>
            </a:xfrm>
            <a:prstGeom prst="roundRect">
              <a:avLst>
                <a:gd name="adj" fmla="val 21739"/>
              </a:avLst>
            </a:prstGeom>
            <a:solidFill>
              <a:srgbClr val="FFFFFF"/>
            </a:solidFill>
            <a:ln w="15240">
              <a:solidFill>
                <a:srgbClr val="334E68"/>
              </a:solidFill>
            </a:ln>
          </p:spPr>
        </p:sp>
        <p:sp>
          <p:nvSpPr>
            <p:cNvPr id="45" name="Rectangle 45"/>
            <p:cNvSpPr/>
            <p:nvPr/>
          </p:nvSpPr>
          <p:spPr>
            <a:xfrm>
              <a:off x="6019800" y="4162425"/>
              <a:ext cx="2512695" cy="438150"/>
            </a:xfrm>
            <a:prstGeom prst="roundRect">
              <a:avLst>
                <a:gd name="adj" fmla="val 21739"/>
              </a:avLst>
            </a:prstGeom>
            <a:solidFill>
              <a:srgbClr val="FFFFFF"/>
            </a:solidFill>
            <a:ln w="15240">
              <a:solidFill>
                <a:srgbClr val="334E68"/>
              </a:solidFill>
            </a:ln>
          </p:spPr>
        </p:sp>
        <p:sp>
          <p:nvSpPr>
            <p:cNvPr id="46" name="Rectangle 46"/>
            <p:cNvSpPr/>
            <p:nvPr/>
          </p:nvSpPr>
          <p:spPr>
            <a:xfrm>
              <a:off x="6019800" y="4797742"/>
              <a:ext cx="2512695" cy="438150"/>
            </a:xfrm>
            <a:prstGeom prst="roundRect">
              <a:avLst>
                <a:gd name="adj" fmla="val 50000"/>
              </a:avLst>
            </a:prstGeom>
            <a:solidFill>
              <a:srgbClr val="334E68"/>
            </a:solidFill>
            <a:ln>
              <a:noFill/>
            </a:ln>
          </p:spPr>
        </p:sp>
        <p:sp>
          <p:nvSpPr>
            <p:cNvPr id="47" name="TextBox 47"/>
            <p:cNvSpPr txBox="1"/>
            <p:nvPr/>
          </p:nvSpPr>
          <p:spPr>
            <a:xfrm>
              <a:off x="6363398" y="1643539"/>
              <a:ext cx="1825498" cy="468440"/>
            </a:xfrm>
            <a:prstGeom prst="rect">
              <a:avLst/>
            </a:prstGeom>
            <a:noFill/>
            <a:ln>
              <a:noFill/>
            </a:ln>
          </p:spPr>
          <p:txBody>
            <a:bodyPr wrap="none" lIns="0" tIns="0" rIns="0" bIns="0" anchor="t" anchorCtr="0">
              <a:spAutoFit/>
            </a:bodyPr>
            <a:lstStyle/>
            <a:p>
              <a:pPr algn="ctr">
                <a:lnSpc>
                  <a:spcPts val="1725"/>
                </a:lnSpc>
              </a:pPr>
              <a:r>
                <a:rPr lang="zh-CN" sz="1280" dirty="0">
                  <a:solidFill>
                    <a:srgbClr val="1F2937"/>
                  </a:solidFill>
                  <a:latin typeface="+mn-lt"/>
                  <a:ea typeface="+mn-ea"/>
                  <a:cs typeface="+mn-cs"/>
                </a:rPr>
                <a:t>风险分析 / 快速原型（验</a:t>
              </a:r>
              <a:br/>
              <a:r>
                <a:rPr lang="zh-CN" sz="1280" dirty="0">
                  <a:solidFill>
                    <a:srgbClr val="1F2937"/>
                  </a:solidFill>
                  <a:latin typeface="+mn-lt"/>
                  <a:ea typeface="+mn-ea"/>
                  <a:cs typeface="+mn-cs"/>
                </a:rPr>
                <a:t>证）</a:t>
              </a:r>
            </a:p>
          </p:txBody>
        </p:sp>
        <p:sp>
          <p:nvSpPr>
            <p:cNvPr id="48" name="TextBox 48"/>
            <p:cNvSpPr txBox="1"/>
            <p:nvPr/>
          </p:nvSpPr>
          <p:spPr>
            <a:xfrm>
              <a:off x="9203436" y="1643539"/>
              <a:ext cx="1988058" cy="468440"/>
            </a:xfrm>
            <a:prstGeom prst="rect">
              <a:avLst/>
            </a:prstGeom>
            <a:noFill/>
            <a:ln>
              <a:noFill/>
            </a:ln>
          </p:spPr>
          <p:txBody>
            <a:bodyPr wrap="none" lIns="0" tIns="0" rIns="0" bIns="0" anchor="t" anchorCtr="0">
              <a:spAutoFit/>
            </a:bodyPr>
            <a:lstStyle/>
            <a:p>
              <a:pPr algn="ctr">
                <a:lnSpc>
                  <a:spcPts val="1725"/>
                </a:lnSpc>
              </a:pPr>
              <a:r>
                <a:rPr lang="zh-CN" sz="1280" dirty="0">
                  <a:solidFill>
                    <a:srgbClr val="1F2937"/>
                  </a:solidFill>
                  <a:latin typeface="+mn-lt"/>
                  <a:ea typeface="+mn-ea"/>
                  <a:cs typeface="+mn-cs"/>
                </a:rPr>
                <a:t>风险分析 / 变化的需求（验</a:t>
              </a:r>
              <a:br/>
              <a:r>
                <a:rPr lang="zh-CN" sz="1280" dirty="0">
                  <a:solidFill>
                    <a:srgbClr val="1F2937"/>
                  </a:solidFill>
                  <a:latin typeface="+mn-lt"/>
                  <a:ea typeface="+mn-ea"/>
                  <a:cs typeface="+mn-cs"/>
                </a:rPr>
                <a:t>证）</a:t>
              </a:r>
            </a:p>
          </p:txBody>
        </p:sp>
        <p:sp>
          <p:nvSpPr>
            <p:cNvPr id="49" name="TextBox 49"/>
            <p:cNvSpPr txBox="1"/>
            <p:nvPr/>
          </p:nvSpPr>
          <p:spPr>
            <a:xfrm>
              <a:off x="6363398" y="2277904"/>
              <a:ext cx="1825498" cy="468440"/>
            </a:xfrm>
            <a:prstGeom prst="rect">
              <a:avLst/>
            </a:prstGeom>
            <a:noFill/>
            <a:ln>
              <a:noFill/>
            </a:ln>
          </p:spPr>
          <p:txBody>
            <a:bodyPr wrap="none" lIns="0" tIns="0" rIns="0" bIns="0" anchor="t" anchorCtr="0">
              <a:spAutoFit/>
            </a:bodyPr>
            <a:lstStyle/>
            <a:p>
              <a:pPr algn="ctr">
                <a:lnSpc>
                  <a:spcPts val="1725"/>
                </a:lnSpc>
              </a:pPr>
              <a:r>
                <a:rPr lang="zh-CN" sz="1280" dirty="0">
                  <a:solidFill>
                    <a:srgbClr val="1F2937"/>
                  </a:solidFill>
                  <a:latin typeface="+mn-lt"/>
                  <a:ea typeface="+mn-ea"/>
                  <a:cs typeface="+mn-cs"/>
                </a:rPr>
                <a:t>风险分析 / 规格说明（验</a:t>
              </a:r>
              <a:br/>
              <a:r>
                <a:rPr lang="zh-CN" sz="1280" dirty="0">
                  <a:solidFill>
                    <a:srgbClr val="1F2937"/>
                  </a:solidFill>
                  <a:latin typeface="+mn-lt"/>
                  <a:ea typeface="+mn-ea"/>
                  <a:cs typeface="+mn-cs"/>
                </a:rPr>
                <a:t>证）</a:t>
              </a:r>
            </a:p>
          </p:txBody>
        </p:sp>
        <p:sp>
          <p:nvSpPr>
            <p:cNvPr id="50" name="TextBox 50"/>
            <p:cNvSpPr txBox="1"/>
            <p:nvPr/>
          </p:nvSpPr>
          <p:spPr>
            <a:xfrm>
              <a:off x="6309022" y="3022759"/>
              <a:ext cx="1934251"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风险分析 / 设计（验证）</a:t>
              </a:r>
            </a:p>
          </p:txBody>
        </p:sp>
        <p:sp>
          <p:nvSpPr>
            <p:cNvPr id="51" name="TextBox 51"/>
            <p:cNvSpPr txBox="1"/>
            <p:nvPr/>
          </p:nvSpPr>
          <p:spPr>
            <a:xfrm>
              <a:off x="6309022" y="3657124"/>
              <a:ext cx="1934251"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风险分析 / 编码（测试）</a:t>
              </a:r>
            </a:p>
          </p:txBody>
        </p:sp>
        <p:sp>
          <p:nvSpPr>
            <p:cNvPr id="52" name="TextBox 52"/>
            <p:cNvSpPr txBox="1"/>
            <p:nvPr/>
          </p:nvSpPr>
          <p:spPr>
            <a:xfrm>
              <a:off x="6481336" y="4292441"/>
              <a:ext cx="1589623"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风险分析 / 综合测试</a:t>
              </a:r>
            </a:p>
          </p:txBody>
        </p:sp>
        <p:sp>
          <p:nvSpPr>
            <p:cNvPr id="53" name="TextBox 53"/>
            <p:cNvSpPr txBox="1"/>
            <p:nvPr/>
          </p:nvSpPr>
          <p:spPr>
            <a:xfrm>
              <a:off x="7097357" y="4927759"/>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维护</a:t>
              </a:r>
            </a:p>
          </p:txBody>
        </p:sp>
      </p:grpSp>
      <p:grpSp>
        <p:nvGrpSpPr>
          <p:cNvPr id="60" name="c2-callout-2"/>
          <p:cNvGrpSpPr/>
          <p:nvPr/>
        </p:nvGrpSpPr>
        <p:grpSpPr>
          <a:xfrm>
            <a:off x="5815965" y="5524500"/>
            <a:ext cx="5842635" cy="782955"/>
            <a:chOff x="5815965" y="5524500"/>
            <a:chExt cx="5842635" cy="782955"/>
          </a:xfrm>
        </p:grpSpPr>
        <p:sp>
          <p:nvSpPr>
            <p:cNvPr id="55" name="Rectangle 55"/>
            <p:cNvSpPr/>
            <p:nvPr/>
          </p:nvSpPr>
          <p:spPr>
            <a:xfrm>
              <a:off x="5815965" y="5524500"/>
              <a:ext cx="5842635" cy="782955"/>
            </a:xfrm>
            <a:prstGeom prst="roundRect">
              <a:avLst>
                <a:gd name="adj" fmla="val 14599"/>
              </a:avLst>
            </a:prstGeom>
            <a:solidFill>
              <a:srgbClr val="334E68"/>
            </a:solidFill>
            <a:ln>
              <a:noFill/>
            </a:ln>
          </p:spPr>
        </p:sp>
        <p:grpSp>
          <p:nvGrpSpPr>
            <p:cNvPr id="58" name="Group 58"/>
            <p:cNvGrpSpPr/>
            <p:nvPr/>
          </p:nvGrpSpPr>
          <p:grpSpPr>
            <a:xfrm>
              <a:off x="6020753" y="5815967"/>
              <a:ext cx="200023" cy="200023"/>
              <a:chOff x="6020753" y="5815967"/>
              <a:chExt cx="200023" cy="200023"/>
            </a:xfrm>
          </p:grpSpPr>
          <p:sp>
            <p:nvSpPr>
              <p:cNvPr id="56" name="Freeform 56"/>
              <p:cNvSpPr/>
              <p:nvPr/>
            </p:nvSpPr>
            <p:spPr>
              <a:xfrm>
                <a:off x="6020753" y="581596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7" name="Freeform 57"/>
              <p:cNvSpPr/>
              <p:nvPr/>
            </p:nvSpPr>
            <p:spPr>
              <a:xfrm>
                <a:off x="6154103" y="588264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9" name="TextBox 59"/>
            <p:cNvSpPr txBox="1"/>
            <p:nvPr/>
          </p:nvSpPr>
          <p:spPr>
            <a:xfrm>
              <a:off x="6322695" y="5673090"/>
              <a:ext cx="488251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与快速原型模型的差别只在每个方框上多出的那一格“风险</a:t>
              </a:r>
              <a:br/>
              <a:r>
                <a:rPr lang="zh-CN" sz="1500" dirty="0">
                  <a:solidFill>
                    <a:srgbClr val="FFFFFF"/>
                  </a:solidFill>
                  <a:latin typeface="+mn-lt"/>
                  <a:ea typeface="+mn-ea"/>
                  <a:cs typeface="+mn-cs"/>
                </a:rPr>
                <a:t>分析”。</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2" name="TextBox 6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38</a:t>
              </a:r>
            </a:p>
          </p:txBody>
        </p:sp>
      </p:grpSp>
    </p:spTree>
  </p:cSld>
  <p:clrMapOvr>
    <a:masterClrMapping/>
  </p:clrMapOvr>
  <p:transition xmlns:p14="http://schemas.microsoft.com/office/powerpoint/2010/main" p14:dur="400">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软件过程与传统过程模型</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螺旋模型的四个象限：转一圈做出一个原型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6" name="c1-graph-1"/>
          <p:cNvGrpSpPr/>
          <p:nvPr/>
        </p:nvGrpSpPr>
        <p:grpSpPr>
          <a:xfrm>
            <a:off x="796290" y="1545431"/>
            <a:ext cx="5100638" cy="2377630"/>
            <a:chOff x="796290" y="1545431"/>
            <a:chExt cx="5100638" cy="2377630"/>
          </a:xfrm>
        </p:grpSpPr>
        <p:sp>
          <p:nvSpPr>
            <p:cNvPr id="7" name="Freeform 7"/>
            <p:cNvSpPr/>
            <p:nvPr/>
          </p:nvSpPr>
          <p:spPr>
            <a:xfrm>
              <a:off x="796290" y="2781300"/>
              <a:ext cx="5100638" cy="9525"/>
            </a:xfrm>
            <a:custGeom>
              <a:avLst/>
              <a:gdLst/>
              <a:ahLst/>
              <a:cxnLst/>
              <a:rect l="l" t="t" r="r" b="b"/>
              <a:pathLst>
                <a:path w="5100638" h="9525">
                  <a:moveTo>
                    <a:pt x="0" y="0"/>
                  </a:moveTo>
                  <a:lnTo>
                    <a:pt x="5100638" y="0"/>
                  </a:lnTo>
                </a:path>
              </a:pathLst>
            </a:custGeom>
            <a:noFill/>
            <a:ln w="13335">
              <a:solidFill>
                <a:srgbClr val="5B6475"/>
              </a:solidFill>
            </a:ln>
          </p:spPr>
        </p:sp>
        <p:sp>
          <p:nvSpPr>
            <p:cNvPr id="8" name="Freeform 8"/>
            <p:cNvSpPr/>
            <p:nvPr/>
          </p:nvSpPr>
          <p:spPr>
            <a:xfrm>
              <a:off x="3347085" y="1741170"/>
              <a:ext cx="9525" cy="2080260"/>
            </a:xfrm>
            <a:custGeom>
              <a:avLst/>
              <a:gdLst/>
              <a:ahLst/>
              <a:cxnLst/>
              <a:rect l="l" t="t" r="r" b="b"/>
              <a:pathLst>
                <a:path w="9525" h="2080260">
                  <a:moveTo>
                    <a:pt x="0" y="0"/>
                  </a:moveTo>
                  <a:lnTo>
                    <a:pt x="0" y="2080260"/>
                  </a:lnTo>
                </a:path>
              </a:pathLst>
            </a:custGeom>
            <a:noFill/>
            <a:ln w="13335">
              <a:solidFill>
                <a:srgbClr val="5B6475"/>
              </a:solidFill>
            </a:ln>
          </p:spPr>
        </p:sp>
        <p:sp>
          <p:nvSpPr>
            <p:cNvPr id="9" name="Freeform 9"/>
            <p:cNvSpPr/>
            <p:nvPr/>
          </p:nvSpPr>
          <p:spPr>
            <a:xfrm>
              <a:off x="1163955" y="2153602"/>
              <a:ext cx="3848100" cy="1455420"/>
            </a:xfrm>
            <a:custGeom>
              <a:avLst/>
              <a:gdLst/>
              <a:ahLst/>
              <a:cxnLst/>
              <a:rect l="l" t="t" r="r" b="b"/>
              <a:pathLst>
                <a:path w="3848100" h="1455420">
                  <a:moveTo>
                    <a:pt x="2063115" y="516255"/>
                  </a:moveTo>
                  <a:lnTo>
                    <a:pt x="2065020" y="514350"/>
                  </a:lnTo>
                  <a:lnTo>
                    <a:pt x="2154555" y="477202"/>
                  </a:lnTo>
                  <a:lnTo>
                    <a:pt x="2284095" y="456248"/>
                  </a:lnTo>
                  <a:lnTo>
                    <a:pt x="2446973" y="461963"/>
                  </a:lnTo>
                  <a:lnTo>
                    <a:pt x="2605088" y="497205"/>
                  </a:lnTo>
                  <a:lnTo>
                    <a:pt x="2734628" y="561975"/>
                  </a:lnTo>
                  <a:lnTo>
                    <a:pt x="2812732" y="652463"/>
                  </a:lnTo>
                  <a:lnTo>
                    <a:pt x="2807018" y="756285"/>
                  </a:lnTo>
                  <a:lnTo>
                    <a:pt x="2711768" y="859155"/>
                  </a:lnTo>
                  <a:lnTo>
                    <a:pt x="2520315" y="946785"/>
                  </a:lnTo>
                  <a:lnTo>
                    <a:pt x="2255520" y="1002030"/>
                  </a:lnTo>
                  <a:lnTo>
                    <a:pt x="1945958" y="1017270"/>
                  </a:lnTo>
                  <a:lnTo>
                    <a:pt x="1620203" y="977265"/>
                  </a:lnTo>
                  <a:lnTo>
                    <a:pt x="1333500" y="886778"/>
                  </a:lnTo>
                  <a:lnTo>
                    <a:pt x="1124902" y="750570"/>
                  </a:lnTo>
                  <a:lnTo>
                    <a:pt x="1035368" y="584835"/>
                  </a:lnTo>
                  <a:lnTo>
                    <a:pt x="1085850" y="403860"/>
                  </a:lnTo>
                  <a:lnTo>
                    <a:pt x="1287780" y="235268"/>
                  </a:lnTo>
                  <a:lnTo>
                    <a:pt x="1625918" y="104775"/>
                  </a:lnTo>
                  <a:lnTo>
                    <a:pt x="2065020" y="26670"/>
                  </a:lnTo>
                  <a:lnTo>
                    <a:pt x="2553652" y="21908"/>
                  </a:lnTo>
                  <a:lnTo>
                    <a:pt x="3043238" y="92393"/>
                  </a:lnTo>
                  <a:lnTo>
                    <a:pt x="3454718" y="238125"/>
                  </a:lnTo>
                  <a:lnTo>
                    <a:pt x="3741420" y="446723"/>
                  </a:lnTo>
                  <a:lnTo>
                    <a:pt x="3848100" y="690563"/>
                  </a:lnTo>
                  <a:lnTo>
                    <a:pt x="3747135" y="946785"/>
                  </a:lnTo>
                  <a:lnTo>
                    <a:pt x="3449002" y="1178243"/>
                  </a:lnTo>
                  <a:lnTo>
                    <a:pt x="2965132" y="1357313"/>
                  </a:lnTo>
                  <a:lnTo>
                    <a:pt x="2346008" y="1455420"/>
                  </a:lnTo>
                  <a:lnTo>
                    <a:pt x="1676400" y="1452563"/>
                  </a:lnTo>
                  <a:lnTo>
                    <a:pt x="1023937" y="1349693"/>
                  </a:lnTo>
                  <a:lnTo>
                    <a:pt x="483870" y="1145857"/>
                  </a:lnTo>
                  <a:lnTo>
                    <a:pt x="123825" y="868680"/>
                  </a:lnTo>
                  <a:lnTo>
                    <a:pt x="0" y="544830"/>
                  </a:lnTo>
                  <a:lnTo>
                    <a:pt x="145732" y="212408"/>
                  </a:lnTo>
                  <a:lnTo>
                    <a:pt x="436245" y="0"/>
                  </a:lnTo>
                </a:path>
              </a:pathLst>
            </a:custGeom>
            <a:noFill/>
            <a:ln w="17145">
              <a:solidFill>
                <a:srgbClr val="334E68"/>
              </a:solidFill>
            </a:ln>
          </p:spPr>
        </p:sp>
        <p:sp>
          <p:nvSpPr>
            <p:cNvPr id="10" name="Freeform 10"/>
            <p:cNvSpPr/>
            <p:nvPr/>
          </p:nvSpPr>
          <p:spPr>
            <a:xfrm>
              <a:off x="1571625" y="2097405"/>
              <a:ext cx="105727" cy="95250"/>
            </a:xfrm>
            <a:custGeom>
              <a:avLst/>
              <a:gdLst/>
              <a:ahLst/>
              <a:cxnLst/>
              <a:rect l="l" t="t" r="r" b="b"/>
              <a:pathLst>
                <a:path w="105727" h="95250">
                  <a:moveTo>
                    <a:pt x="105727" y="0"/>
                  </a:moveTo>
                  <a:lnTo>
                    <a:pt x="56198" y="95250"/>
                  </a:lnTo>
                  <a:lnTo>
                    <a:pt x="0" y="18098"/>
                  </a:lnTo>
                  <a:close/>
                </a:path>
              </a:pathLst>
            </a:custGeom>
            <a:solidFill>
              <a:srgbClr val="334E68"/>
            </a:solidFill>
            <a:ln>
              <a:noFill/>
            </a:ln>
          </p:spPr>
        </p:sp>
        <p:sp>
          <p:nvSpPr>
            <p:cNvPr id="11" name="TextBox 11"/>
            <p:cNvSpPr txBox="1"/>
            <p:nvPr/>
          </p:nvSpPr>
          <p:spPr>
            <a:xfrm>
              <a:off x="1164704" y="1670209"/>
              <a:ext cx="537616" cy="190690"/>
            </a:xfrm>
            <a:prstGeom prst="rect">
              <a:avLst/>
            </a:prstGeom>
            <a:noFill/>
            <a:ln>
              <a:noFill/>
            </a:ln>
          </p:spPr>
          <p:txBody>
            <a:bodyPr wrap="none" lIns="0" tIns="0" rIns="0" bIns="0" anchor="t" anchorCtr="0">
              <a:spAutoFit/>
            </a:bodyPr>
            <a:lstStyle/>
            <a:p>
              <a:pPr algn="ctr"/>
              <a:r>
                <a:rPr lang="zh-CN" sz="980" b="1" dirty="0">
                  <a:solidFill>
                    <a:srgbClr val="C2410C"/>
                  </a:solidFill>
                  <a:latin typeface="+mn-lt"/>
                  <a:ea typeface="+mn-ea"/>
                  <a:cs typeface="+mn-cs"/>
                </a:rPr>
                <a:t>制定计划</a:t>
              </a:r>
            </a:p>
          </p:txBody>
        </p:sp>
        <p:sp>
          <p:nvSpPr>
            <p:cNvPr id="12" name="TextBox 12"/>
            <p:cNvSpPr txBox="1"/>
            <p:nvPr/>
          </p:nvSpPr>
          <p:spPr>
            <a:xfrm>
              <a:off x="4990897" y="1670209"/>
              <a:ext cx="537616" cy="190690"/>
            </a:xfrm>
            <a:prstGeom prst="rect">
              <a:avLst/>
            </a:prstGeom>
            <a:noFill/>
            <a:ln>
              <a:noFill/>
            </a:ln>
          </p:spPr>
          <p:txBody>
            <a:bodyPr wrap="none" lIns="0" tIns="0" rIns="0" bIns="0" anchor="t" anchorCtr="0">
              <a:spAutoFit/>
            </a:bodyPr>
            <a:lstStyle/>
            <a:p>
              <a:pPr algn="ctr"/>
              <a:r>
                <a:rPr lang="zh-CN" sz="980" b="1" dirty="0">
                  <a:solidFill>
                    <a:srgbClr val="C2410C"/>
                  </a:solidFill>
                  <a:latin typeface="+mn-lt"/>
                  <a:ea typeface="+mn-ea"/>
                  <a:cs typeface="+mn-cs"/>
                </a:rPr>
                <a:t>风险分析</a:t>
              </a:r>
            </a:p>
          </p:txBody>
        </p:sp>
        <p:sp>
          <p:nvSpPr>
            <p:cNvPr id="13" name="TextBox 13"/>
            <p:cNvSpPr txBox="1"/>
            <p:nvPr/>
          </p:nvSpPr>
          <p:spPr>
            <a:xfrm>
              <a:off x="1164704" y="3732371"/>
              <a:ext cx="537616" cy="190690"/>
            </a:xfrm>
            <a:prstGeom prst="rect">
              <a:avLst/>
            </a:prstGeom>
            <a:noFill/>
            <a:ln>
              <a:noFill/>
            </a:ln>
          </p:spPr>
          <p:txBody>
            <a:bodyPr wrap="none" lIns="0" tIns="0" rIns="0" bIns="0" anchor="t" anchorCtr="0">
              <a:spAutoFit/>
            </a:bodyPr>
            <a:lstStyle/>
            <a:p>
              <a:pPr algn="ctr"/>
              <a:r>
                <a:rPr lang="zh-CN" sz="980" b="1" dirty="0">
                  <a:solidFill>
                    <a:srgbClr val="C2410C"/>
                  </a:solidFill>
                  <a:latin typeface="+mn-lt"/>
                  <a:ea typeface="+mn-ea"/>
                  <a:cs typeface="+mn-cs"/>
                </a:rPr>
                <a:t>客户评估</a:t>
              </a:r>
            </a:p>
          </p:txBody>
        </p:sp>
        <p:sp>
          <p:nvSpPr>
            <p:cNvPr id="14" name="TextBox 14"/>
            <p:cNvSpPr txBox="1"/>
            <p:nvPr/>
          </p:nvSpPr>
          <p:spPr>
            <a:xfrm>
              <a:off x="4990897" y="3732371"/>
              <a:ext cx="537616" cy="190690"/>
            </a:xfrm>
            <a:prstGeom prst="rect">
              <a:avLst/>
            </a:prstGeom>
            <a:noFill/>
            <a:ln>
              <a:noFill/>
            </a:ln>
          </p:spPr>
          <p:txBody>
            <a:bodyPr wrap="none" lIns="0" tIns="0" rIns="0" bIns="0" anchor="t" anchorCtr="0">
              <a:spAutoFit/>
            </a:bodyPr>
            <a:lstStyle/>
            <a:p>
              <a:pPr algn="ctr"/>
              <a:r>
                <a:rPr lang="zh-CN" sz="980" b="1" dirty="0">
                  <a:solidFill>
                    <a:srgbClr val="C2410C"/>
                  </a:solidFill>
                  <a:latin typeface="+mn-lt"/>
                  <a:ea typeface="+mn-ea"/>
                  <a:cs typeface="+mn-cs"/>
                </a:rPr>
                <a:t>实施工程</a:t>
              </a:r>
            </a:p>
          </p:txBody>
        </p:sp>
        <p:sp>
          <p:nvSpPr>
            <p:cNvPr id="15" name="TextBox 15"/>
            <p:cNvSpPr txBox="1"/>
            <p:nvPr/>
          </p:nvSpPr>
          <p:spPr>
            <a:xfrm>
              <a:off x="3510915" y="1545431"/>
              <a:ext cx="451079" cy="161925"/>
            </a:xfrm>
            <a:prstGeom prst="rect">
              <a:avLst/>
            </a:prstGeom>
            <a:noFill/>
            <a:ln>
              <a:noFill/>
            </a:ln>
          </p:spPr>
          <p:txBody>
            <a:bodyPr wrap="none" lIns="0" tIns="0" rIns="0" bIns="0" anchor="t" anchorCtr="0">
              <a:spAutoFit/>
            </a:bodyPr>
            <a:lstStyle/>
            <a:p>
              <a:pPr algn="l"/>
              <a:r>
                <a:rPr lang="zh-CN" sz="820" dirty="0">
                  <a:solidFill>
                    <a:srgbClr val="5B6475"/>
                  </a:solidFill>
                  <a:latin typeface="+mn-lt"/>
                  <a:ea typeface="+mn-ea"/>
                  <a:cs typeface="+mn-cs"/>
                </a:rPr>
                <a:t>累计成本</a:t>
              </a:r>
            </a:p>
          </p:txBody>
        </p:sp>
      </p:grpSp>
      <p:grpSp>
        <p:nvGrpSpPr>
          <p:cNvPr id="37" name="c1-compare-2"/>
          <p:cNvGrpSpPr/>
          <p:nvPr/>
        </p:nvGrpSpPr>
        <p:grpSpPr>
          <a:xfrm>
            <a:off x="533400" y="4208145"/>
            <a:ext cx="5627370" cy="2038350"/>
            <a:chOff x="533400" y="4208145"/>
            <a:chExt cx="5627370" cy="2038350"/>
          </a:xfrm>
        </p:grpSpPr>
        <p:sp>
          <p:nvSpPr>
            <p:cNvPr id="17" name="Rectangle 17"/>
            <p:cNvSpPr/>
            <p:nvPr/>
          </p:nvSpPr>
          <p:spPr>
            <a:xfrm>
              <a:off x="533400" y="4208145"/>
              <a:ext cx="2642235" cy="2038350"/>
            </a:xfrm>
            <a:prstGeom prst="roundRect">
              <a:avLst>
                <a:gd name="adj" fmla="val 6542"/>
              </a:avLst>
            </a:prstGeom>
            <a:solidFill>
              <a:srgbClr val="FFFFFF"/>
            </a:solidFill>
            <a:ln w="14288">
              <a:solidFill>
                <a:srgbClr val="D9DFEA"/>
              </a:solidFill>
            </a:ln>
          </p:spPr>
        </p:sp>
        <p:sp>
          <p:nvSpPr>
            <p:cNvPr id="18" name="Rectangle 18"/>
            <p:cNvSpPr/>
            <p:nvPr/>
          </p:nvSpPr>
          <p:spPr>
            <a:xfrm>
              <a:off x="542925" y="4341495"/>
              <a:ext cx="47625" cy="1771650"/>
            </a:xfrm>
            <a:prstGeom prst="roundRect">
              <a:avLst>
                <a:gd name="adj" fmla="val 50000"/>
              </a:avLst>
            </a:prstGeom>
            <a:solidFill>
              <a:srgbClr val="14A38B"/>
            </a:solidFill>
            <a:ln>
              <a:noFill/>
            </a:ln>
          </p:spPr>
        </p:sp>
        <p:sp>
          <p:nvSpPr>
            <p:cNvPr id="19" name="TextBox 19"/>
            <p:cNvSpPr txBox="1"/>
            <p:nvPr/>
          </p:nvSpPr>
          <p:spPr>
            <a:xfrm>
              <a:off x="751332" y="4417695"/>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优点</a:t>
              </a:r>
            </a:p>
          </p:txBody>
        </p:sp>
        <p:sp>
          <p:nvSpPr>
            <p:cNvPr id="20" name="Ellipse 20"/>
            <p:cNvSpPr/>
            <p:nvPr/>
          </p:nvSpPr>
          <p:spPr>
            <a:xfrm>
              <a:off x="766762" y="4791075"/>
              <a:ext cx="59055" cy="59055"/>
            </a:xfrm>
            <a:prstGeom prst="ellipse">
              <a:avLst/>
            </a:prstGeom>
            <a:solidFill>
              <a:srgbClr val="334E68"/>
            </a:solidFill>
            <a:ln>
              <a:noFill/>
            </a:ln>
          </p:spPr>
        </p:sp>
        <p:sp>
          <p:nvSpPr>
            <p:cNvPr id="21" name="TextBox 21"/>
            <p:cNvSpPr txBox="1"/>
            <p:nvPr/>
          </p:nvSpPr>
          <p:spPr>
            <a:xfrm>
              <a:off x="922782" y="4734878"/>
              <a:ext cx="18996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每阶段前做风险分析，客</a:t>
              </a:r>
              <a:br/>
              <a:r>
                <a:rPr lang="zh-CN" sz="1350" dirty="0">
                  <a:solidFill>
                    <a:srgbClr val="1F2937"/>
                  </a:solidFill>
                  <a:latin typeface="+mn-lt"/>
                  <a:ea typeface="+mn-ea"/>
                  <a:cs typeface="+mn-cs"/>
                </a:rPr>
                <a:t>户评审产品</a:t>
              </a:r>
            </a:p>
          </p:txBody>
        </p:sp>
        <p:sp>
          <p:nvSpPr>
            <p:cNvPr id="22" name="Ellipse 22"/>
            <p:cNvSpPr/>
            <p:nvPr/>
          </p:nvSpPr>
          <p:spPr>
            <a:xfrm>
              <a:off x="766762" y="5348288"/>
              <a:ext cx="59055" cy="59055"/>
            </a:xfrm>
            <a:prstGeom prst="ellipse">
              <a:avLst/>
            </a:prstGeom>
            <a:solidFill>
              <a:srgbClr val="334E68"/>
            </a:solidFill>
            <a:ln>
              <a:noFill/>
            </a:ln>
          </p:spPr>
        </p:sp>
        <p:sp>
          <p:nvSpPr>
            <p:cNvPr id="23" name="TextBox 23"/>
            <p:cNvSpPr txBox="1"/>
            <p:nvPr/>
          </p:nvSpPr>
          <p:spPr>
            <a:xfrm>
              <a:off x="922782" y="5292090"/>
              <a:ext cx="183108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测试活动的确定性增强</a:t>
              </a:r>
            </a:p>
          </p:txBody>
        </p:sp>
        <p:sp>
          <p:nvSpPr>
            <p:cNvPr id="24" name="Ellipse 24"/>
            <p:cNvSpPr/>
            <p:nvPr/>
          </p:nvSpPr>
          <p:spPr>
            <a:xfrm>
              <a:off x="766762" y="5648325"/>
              <a:ext cx="59055" cy="59055"/>
            </a:xfrm>
            <a:prstGeom prst="ellipse">
              <a:avLst/>
            </a:prstGeom>
            <a:solidFill>
              <a:srgbClr val="334E68"/>
            </a:solidFill>
            <a:ln>
              <a:noFill/>
            </a:ln>
          </p:spPr>
        </p:sp>
        <p:sp>
          <p:nvSpPr>
            <p:cNvPr id="25" name="TextBox 25"/>
            <p:cNvSpPr txBox="1"/>
            <p:nvPr/>
          </p:nvSpPr>
          <p:spPr>
            <a:xfrm>
              <a:off x="922782" y="5592128"/>
              <a:ext cx="18996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最外层是维护，维护与开</a:t>
              </a:r>
              <a:br/>
              <a:r>
                <a:rPr lang="zh-CN" sz="1350" dirty="0">
                  <a:solidFill>
                    <a:srgbClr val="1F2937"/>
                  </a:solidFill>
                  <a:latin typeface="+mn-lt"/>
                  <a:ea typeface="+mn-ea"/>
                  <a:cs typeface="+mn-cs"/>
                </a:rPr>
                <a:t>发同样受重视</a:t>
              </a:r>
            </a:p>
          </p:txBody>
        </p:sp>
        <p:sp>
          <p:nvSpPr>
            <p:cNvPr id="26" name="Rectangle 26"/>
            <p:cNvSpPr/>
            <p:nvPr/>
          </p:nvSpPr>
          <p:spPr>
            <a:xfrm>
              <a:off x="3518535" y="4208145"/>
              <a:ext cx="2642235" cy="2038350"/>
            </a:xfrm>
            <a:prstGeom prst="roundRect">
              <a:avLst>
                <a:gd name="adj" fmla="val 6542"/>
              </a:avLst>
            </a:prstGeom>
            <a:solidFill>
              <a:srgbClr val="FFFFFF"/>
            </a:solidFill>
            <a:ln w="14288">
              <a:solidFill>
                <a:srgbClr val="D9DFEA"/>
              </a:solidFill>
            </a:ln>
          </p:spPr>
        </p:sp>
        <p:sp>
          <p:nvSpPr>
            <p:cNvPr id="27" name="Rectangle 27"/>
            <p:cNvSpPr/>
            <p:nvPr/>
          </p:nvSpPr>
          <p:spPr>
            <a:xfrm>
              <a:off x="3528060" y="4341495"/>
              <a:ext cx="47625" cy="1771650"/>
            </a:xfrm>
            <a:prstGeom prst="roundRect">
              <a:avLst>
                <a:gd name="adj" fmla="val 50000"/>
              </a:avLst>
            </a:prstGeom>
            <a:solidFill>
              <a:srgbClr val="B42318"/>
            </a:solidFill>
            <a:ln>
              <a:noFill/>
            </a:ln>
          </p:spPr>
        </p:sp>
        <p:sp>
          <p:nvSpPr>
            <p:cNvPr id="28" name="TextBox 28"/>
            <p:cNvSpPr txBox="1"/>
            <p:nvPr/>
          </p:nvSpPr>
          <p:spPr>
            <a:xfrm>
              <a:off x="3736467" y="4417695"/>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缺点</a:t>
              </a:r>
            </a:p>
          </p:txBody>
        </p:sp>
        <p:sp>
          <p:nvSpPr>
            <p:cNvPr id="29" name="Ellipse 29"/>
            <p:cNvSpPr/>
            <p:nvPr/>
          </p:nvSpPr>
          <p:spPr>
            <a:xfrm>
              <a:off x="3751898" y="4791075"/>
              <a:ext cx="59055" cy="59055"/>
            </a:xfrm>
            <a:prstGeom prst="ellipse">
              <a:avLst/>
            </a:prstGeom>
            <a:solidFill>
              <a:srgbClr val="334E68"/>
            </a:solidFill>
            <a:ln>
              <a:noFill/>
            </a:ln>
          </p:spPr>
        </p:sp>
        <p:sp>
          <p:nvSpPr>
            <p:cNvPr id="30" name="TextBox 30"/>
            <p:cNvSpPr txBox="1"/>
            <p:nvPr/>
          </p:nvSpPr>
          <p:spPr>
            <a:xfrm>
              <a:off x="3907917" y="4734878"/>
              <a:ext cx="146761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主要适合内部开发</a:t>
              </a:r>
            </a:p>
          </p:txBody>
        </p:sp>
        <p:sp>
          <p:nvSpPr>
            <p:cNvPr id="31" name="Ellipse 31"/>
            <p:cNvSpPr/>
            <p:nvPr/>
          </p:nvSpPr>
          <p:spPr>
            <a:xfrm>
              <a:off x="3751898" y="5091112"/>
              <a:ext cx="59055" cy="59055"/>
            </a:xfrm>
            <a:prstGeom prst="ellipse">
              <a:avLst/>
            </a:prstGeom>
            <a:solidFill>
              <a:srgbClr val="334E68"/>
            </a:solidFill>
            <a:ln>
              <a:noFill/>
            </a:ln>
          </p:spPr>
        </p:sp>
        <p:sp>
          <p:nvSpPr>
            <p:cNvPr id="32" name="TextBox 32"/>
            <p:cNvSpPr txBox="1"/>
            <p:nvPr/>
          </p:nvSpPr>
          <p:spPr>
            <a:xfrm>
              <a:off x="3907917" y="5034915"/>
              <a:ext cx="128587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只适合大型项目</a:t>
              </a:r>
            </a:p>
          </p:txBody>
        </p:sp>
        <p:sp>
          <p:nvSpPr>
            <p:cNvPr id="33" name="Ellipse 33"/>
            <p:cNvSpPr/>
            <p:nvPr/>
          </p:nvSpPr>
          <p:spPr>
            <a:xfrm>
              <a:off x="3751898" y="5391150"/>
              <a:ext cx="59055" cy="59055"/>
            </a:xfrm>
            <a:prstGeom prst="ellipse">
              <a:avLst/>
            </a:prstGeom>
            <a:solidFill>
              <a:srgbClr val="334E68"/>
            </a:solidFill>
            <a:ln>
              <a:noFill/>
            </a:ln>
          </p:spPr>
        </p:sp>
        <p:sp>
          <p:nvSpPr>
            <p:cNvPr id="34" name="TextBox 34"/>
            <p:cNvSpPr txBox="1"/>
            <p:nvPr/>
          </p:nvSpPr>
          <p:spPr>
            <a:xfrm>
              <a:off x="3907917" y="5334952"/>
              <a:ext cx="18996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考验开发人员的风险分析</a:t>
              </a:r>
              <a:br/>
              <a:r>
                <a:rPr lang="zh-CN" sz="1350" dirty="0">
                  <a:solidFill>
                    <a:srgbClr val="1F2937"/>
                  </a:solidFill>
                  <a:latin typeface="+mn-lt"/>
                  <a:ea typeface="+mn-ea"/>
                  <a:cs typeface="+mn-cs"/>
                </a:rPr>
                <a:t>能力</a:t>
              </a:r>
            </a:p>
          </p:txBody>
        </p:sp>
        <p:sp>
          <p:nvSpPr>
            <p:cNvPr id="35" name="Ellipse 35"/>
            <p:cNvSpPr/>
            <p:nvPr/>
          </p:nvSpPr>
          <p:spPr>
            <a:xfrm>
              <a:off x="3185160" y="5065395"/>
              <a:ext cx="323850" cy="323850"/>
            </a:xfrm>
            <a:prstGeom prst="ellipse">
              <a:avLst/>
            </a:prstGeom>
            <a:solidFill>
              <a:srgbClr val="F26B3A"/>
            </a:solidFill>
            <a:ln>
              <a:noFill/>
            </a:ln>
          </p:spPr>
        </p:sp>
        <p:sp>
          <p:nvSpPr>
            <p:cNvPr id="36" name="TextBox 36"/>
            <p:cNvSpPr txBox="1"/>
            <p:nvPr/>
          </p:nvSpPr>
          <p:spPr>
            <a:xfrm>
              <a:off x="3255500" y="5161598"/>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62" name="c2-table-1"/>
          <p:cNvGrpSpPr/>
          <p:nvPr/>
        </p:nvGrpSpPr>
        <p:grpSpPr>
          <a:xfrm>
            <a:off x="6464618" y="1524000"/>
            <a:ext cx="5193982" cy="2914650"/>
            <a:chOff x="6464618" y="1524000"/>
            <a:chExt cx="5193982" cy="2914650"/>
          </a:xfrm>
        </p:grpSpPr>
        <p:sp>
          <p:nvSpPr>
            <p:cNvPr id="38" name="Rectangle 38"/>
            <p:cNvSpPr/>
            <p:nvPr/>
          </p:nvSpPr>
          <p:spPr>
            <a:xfrm>
              <a:off x="6464618" y="1524000"/>
              <a:ext cx="5193982" cy="439102"/>
            </a:xfrm>
            <a:prstGeom prst="rect">
              <a:avLst/>
            </a:prstGeom>
            <a:solidFill>
              <a:srgbClr val="334E68"/>
            </a:solidFill>
            <a:ln>
              <a:noFill/>
            </a:ln>
          </p:spPr>
        </p:sp>
        <p:sp>
          <p:nvSpPr>
            <p:cNvPr id="39" name="TextBox 39"/>
            <p:cNvSpPr txBox="1"/>
            <p:nvPr/>
          </p:nvSpPr>
          <p:spPr>
            <a:xfrm>
              <a:off x="6691312" y="164877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象限</a:t>
              </a:r>
            </a:p>
          </p:txBody>
        </p:sp>
        <p:sp>
          <p:nvSpPr>
            <p:cNvPr id="40" name="TextBox 40"/>
            <p:cNvSpPr txBox="1"/>
            <p:nvPr/>
          </p:nvSpPr>
          <p:spPr>
            <a:xfrm>
              <a:off x="7548753" y="1648778"/>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任务区域</a:t>
              </a:r>
            </a:p>
          </p:txBody>
        </p:sp>
        <p:sp>
          <p:nvSpPr>
            <p:cNvPr id="41" name="TextBox 41"/>
            <p:cNvSpPr txBox="1"/>
            <p:nvPr/>
          </p:nvSpPr>
          <p:spPr>
            <a:xfrm>
              <a:off x="9820847" y="1648778"/>
              <a:ext cx="55892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做什么</a:t>
              </a:r>
            </a:p>
          </p:txBody>
        </p:sp>
        <p:sp>
          <p:nvSpPr>
            <p:cNvPr id="42" name="TextBox 42"/>
            <p:cNvSpPr txBox="1"/>
            <p:nvPr/>
          </p:nvSpPr>
          <p:spPr>
            <a:xfrm>
              <a:off x="6560630" y="2207895"/>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左上</a:t>
              </a:r>
            </a:p>
          </p:txBody>
        </p:sp>
        <p:sp>
          <p:nvSpPr>
            <p:cNvPr id="43" name="TextBox 43"/>
            <p:cNvSpPr txBox="1"/>
            <p:nvPr/>
          </p:nvSpPr>
          <p:spPr>
            <a:xfrm>
              <a:off x="7392162" y="2207895"/>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制定计划</a:t>
              </a:r>
            </a:p>
          </p:txBody>
        </p:sp>
        <p:sp>
          <p:nvSpPr>
            <p:cNvPr id="44" name="TextBox 44"/>
            <p:cNvSpPr txBox="1"/>
            <p:nvPr/>
          </p:nvSpPr>
          <p:spPr>
            <a:xfrm>
              <a:off x="8638032" y="2087880"/>
              <a:ext cx="27569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确定软件目标，选定实施方案，弄清</a:t>
              </a:r>
              <a:br/>
              <a:r>
                <a:rPr lang="zh-CN" sz="1350" dirty="0">
                  <a:solidFill>
                    <a:srgbClr val="1F2937"/>
                  </a:solidFill>
                  <a:latin typeface="+mn-lt"/>
                  <a:ea typeface="+mn-ea"/>
                  <a:cs typeface="+mn-cs"/>
                </a:rPr>
                <a:t>开发的限制</a:t>
              </a:r>
            </a:p>
          </p:txBody>
        </p:sp>
        <p:sp>
          <p:nvSpPr>
            <p:cNvPr id="45" name="Rectangle 45"/>
            <p:cNvSpPr/>
            <p:nvPr/>
          </p:nvSpPr>
          <p:spPr>
            <a:xfrm>
              <a:off x="6464618" y="2637472"/>
              <a:ext cx="5193982" cy="9525"/>
            </a:xfrm>
            <a:prstGeom prst="rect">
              <a:avLst/>
            </a:prstGeom>
            <a:solidFill>
              <a:srgbClr val="D9DFEA"/>
            </a:solidFill>
            <a:ln>
              <a:noFill/>
            </a:ln>
          </p:spPr>
        </p:sp>
        <p:sp>
          <p:nvSpPr>
            <p:cNvPr id="46" name="Rectangle 46"/>
            <p:cNvSpPr/>
            <p:nvPr/>
          </p:nvSpPr>
          <p:spPr>
            <a:xfrm>
              <a:off x="6464618" y="2642235"/>
              <a:ext cx="5193982" cy="679132"/>
            </a:xfrm>
            <a:prstGeom prst="rect">
              <a:avLst/>
            </a:prstGeom>
            <a:solidFill>
              <a:srgbClr val="F4F6FB"/>
            </a:solidFill>
            <a:ln>
              <a:noFill/>
            </a:ln>
          </p:spPr>
        </p:sp>
        <p:sp>
          <p:nvSpPr>
            <p:cNvPr id="47" name="TextBox 47"/>
            <p:cNvSpPr txBox="1"/>
            <p:nvPr/>
          </p:nvSpPr>
          <p:spPr>
            <a:xfrm>
              <a:off x="6560630" y="2887027"/>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右上</a:t>
              </a:r>
            </a:p>
          </p:txBody>
        </p:sp>
        <p:sp>
          <p:nvSpPr>
            <p:cNvPr id="48" name="TextBox 48"/>
            <p:cNvSpPr txBox="1"/>
            <p:nvPr/>
          </p:nvSpPr>
          <p:spPr>
            <a:xfrm>
              <a:off x="7392162" y="2887027"/>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风险分析</a:t>
              </a:r>
            </a:p>
          </p:txBody>
        </p:sp>
        <p:sp>
          <p:nvSpPr>
            <p:cNvPr id="49" name="TextBox 49"/>
            <p:cNvSpPr txBox="1"/>
            <p:nvPr/>
          </p:nvSpPr>
          <p:spPr>
            <a:xfrm>
              <a:off x="8638032" y="2767012"/>
              <a:ext cx="27569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分析所选方案，考虑如何识别和消除</a:t>
              </a:r>
              <a:br/>
              <a:r>
                <a:rPr lang="zh-CN" sz="1350" dirty="0">
                  <a:solidFill>
                    <a:srgbClr val="1F2937"/>
                  </a:solidFill>
                  <a:latin typeface="+mn-lt"/>
                  <a:ea typeface="+mn-ea"/>
                  <a:cs typeface="+mn-cs"/>
                </a:rPr>
                <a:t>风险</a:t>
              </a:r>
            </a:p>
          </p:txBody>
        </p:sp>
        <p:sp>
          <p:nvSpPr>
            <p:cNvPr id="50" name="Rectangle 50"/>
            <p:cNvSpPr/>
            <p:nvPr/>
          </p:nvSpPr>
          <p:spPr>
            <a:xfrm>
              <a:off x="6464618" y="3315652"/>
              <a:ext cx="5193982" cy="9525"/>
            </a:xfrm>
            <a:prstGeom prst="rect">
              <a:avLst/>
            </a:prstGeom>
            <a:solidFill>
              <a:srgbClr val="D9DFEA"/>
            </a:solidFill>
            <a:ln>
              <a:noFill/>
            </a:ln>
          </p:spPr>
        </p:sp>
        <p:sp>
          <p:nvSpPr>
            <p:cNvPr id="51" name="TextBox 51"/>
            <p:cNvSpPr txBox="1"/>
            <p:nvPr/>
          </p:nvSpPr>
          <p:spPr>
            <a:xfrm>
              <a:off x="6560630" y="3446145"/>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右下</a:t>
              </a:r>
            </a:p>
          </p:txBody>
        </p:sp>
        <p:sp>
          <p:nvSpPr>
            <p:cNvPr id="52" name="TextBox 52"/>
            <p:cNvSpPr txBox="1"/>
            <p:nvPr/>
          </p:nvSpPr>
          <p:spPr>
            <a:xfrm>
              <a:off x="7392162" y="3446145"/>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实施工程</a:t>
              </a:r>
            </a:p>
          </p:txBody>
        </p:sp>
        <p:sp>
          <p:nvSpPr>
            <p:cNvPr id="53" name="TextBox 53"/>
            <p:cNvSpPr txBox="1"/>
            <p:nvPr/>
          </p:nvSpPr>
          <p:spPr>
            <a:xfrm>
              <a:off x="8638032" y="3446145"/>
              <a:ext cx="255803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实施软件开发，验证下一级产品</a:t>
              </a:r>
            </a:p>
          </p:txBody>
        </p:sp>
        <p:sp>
          <p:nvSpPr>
            <p:cNvPr id="54" name="Rectangle 54"/>
            <p:cNvSpPr/>
            <p:nvPr/>
          </p:nvSpPr>
          <p:spPr>
            <a:xfrm>
              <a:off x="6464618" y="3754755"/>
              <a:ext cx="5193982" cy="9525"/>
            </a:xfrm>
            <a:prstGeom prst="rect">
              <a:avLst/>
            </a:prstGeom>
            <a:solidFill>
              <a:srgbClr val="D9DFEA"/>
            </a:solidFill>
            <a:ln>
              <a:noFill/>
            </a:ln>
          </p:spPr>
        </p:sp>
        <p:sp>
          <p:nvSpPr>
            <p:cNvPr id="55" name="Rectangle 55"/>
            <p:cNvSpPr/>
            <p:nvPr/>
          </p:nvSpPr>
          <p:spPr>
            <a:xfrm>
              <a:off x="6464618" y="3759518"/>
              <a:ext cx="5193982" cy="679132"/>
            </a:xfrm>
            <a:prstGeom prst="rect">
              <a:avLst/>
            </a:prstGeom>
            <a:solidFill>
              <a:srgbClr val="F4F6FB"/>
            </a:solidFill>
            <a:ln>
              <a:noFill/>
            </a:ln>
          </p:spPr>
        </p:sp>
        <p:sp>
          <p:nvSpPr>
            <p:cNvPr id="56" name="TextBox 56"/>
            <p:cNvSpPr txBox="1"/>
            <p:nvPr/>
          </p:nvSpPr>
          <p:spPr>
            <a:xfrm>
              <a:off x="6560630" y="4005262"/>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左下</a:t>
              </a:r>
            </a:p>
          </p:txBody>
        </p:sp>
        <p:sp>
          <p:nvSpPr>
            <p:cNvPr id="57" name="TextBox 57"/>
            <p:cNvSpPr txBox="1"/>
            <p:nvPr/>
          </p:nvSpPr>
          <p:spPr>
            <a:xfrm>
              <a:off x="7392162" y="4005262"/>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客户评估</a:t>
              </a:r>
            </a:p>
          </p:txBody>
        </p:sp>
        <p:sp>
          <p:nvSpPr>
            <p:cNvPr id="58" name="TextBox 58"/>
            <p:cNvSpPr txBox="1"/>
            <p:nvPr/>
          </p:nvSpPr>
          <p:spPr>
            <a:xfrm>
              <a:off x="8638032" y="3885248"/>
              <a:ext cx="27569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评价开发工作，提出修正建议，计划</a:t>
              </a:r>
              <a:br/>
              <a:r>
                <a:rPr lang="zh-CN" sz="1350" dirty="0">
                  <a:solidFill>
                    <a:srgbClr val="1F2937"/>
                  </a:solidFill>
                  <a:latin typeface="+mn-lt"/>
                  <a:ea typeface="+mn-ea"/>
                  <a:cs typeface="+mn-cs"/>
                </a:rPr>
                <a:t>下一阶段任务</a:t>
              </a:r>
            </a:p>
          </p:txBody>
        </p:sp>
        <p:sp>
          <p:nvSpPr>
            <p:cNvPr id="59" name="Rectangle 59"/>
            <p:cNvSpPr/>
            <p:nvPr/>
          </p:nvSpPr>
          <p:spPr>
            <a:xfrm>
              <a:off x="6464618" y="1524000"/>
              <a:ext cx="5193982" cy="2914650"/>
            </a:xfrm>
            <a:prstGeom prst="rect">
              <a:avLst/>
            </a:prstGeom>
            <a:noFill/>
            <a:ln w="14288">
              <a:solidFill>
                <a:srgbClr val="D9DFEA"/>
              </a:solidFill>
            </a:ln>
          </p:spPr>
        </p:sp>
        <p:sp>
          <p:nvSpPr>
            <p:cNvPr id="60" name="Rectangle 60"/>
            <p:cNvSpPr/>
            <p:nvPr/>
          </p:nvSpPr>
          <p:spPr>
            <a:xfrm>
              <a:off x="7291388" y="1524000"/>
              <a:ext cx="9525" cy="2914650"/>
            </a:xfrm>
            <a:prstGeom prst="rect">
              <a:avLst/>
            </a:prstGeom>
            <a:solidFill>
              <a:srgbClr val="D9DFEA"/>
            </a:solidFill>
            <a:ln>
              <a:noFill/>
            </a:ln>
          </p:spPr>
        </p:sp>
        <p:sp>
          <p:nvSpPr>
            <p:cNvPr id="61" name="Rectangle 61"/>
            <p:cNvSpPr/>
            <p:nvPr/>
          </p:nvSpPr>
          <p:spPr>
            <a:xfrm>
              <a:off x="8537258" y="1524000"/>
              <a:ext cx="9525" cy="2914650"/>
            </a:xfrm>
            <a:prstGeom prst="rect">
              <a:avLst/>
            </a:prstGeom>
            <a:solidFill>
              <a:srgbClr val="D9DFEA"/>
            </a:solidFill>
            <a:ln>
              <a:noFill/>
            </a:ln>
          </p:spPr>
        </p:sp>
      </p:grpSp>
      <p:grpSp>
        <p:nvGrpSpPr>
          <p:cNvPr id="68" name="c2-card-2"/>
          <p:cNvGrpSpPr/>
          <p:nvPr/>
        </p:nvGrpSpPr>
        <p:grpSpPr>
          <a:xfrm>
            <a:off x="6464618" y="4608195"/>
            <a:ext cx="5193982" cy="1638300"/>
            <a:chOff x="6464618" y="4608195"/>
            <a:chExt cx="5193982" cy="1638300"/>
          </a:xfrm>
        </p:grpSpPr>
        <p:sp>
          <p:nvSpPr>
            <p:cNvPr id="63" name="Rectangle 63"/>
            <p:cNvSpPr/>
            <p:nvPr/>
          </p:nvSpPr>
          <p:spPr>
            <a:xfrm>
              <a:off x="6464618" y="4608195"/>
              <a:ext cx="5193982" cy="1638300"/>
            </a:xfrm>
            <a:prstGeom prst="roundRect">
              <a:avLst>
                <a:gd name="adj" fmla="val 8140"/>
              </a:avLst>
            </a:prstGeom>
            <a:solidFill>
              <a:srgbClr val="334E68"/>
            </a:solidFill>
            <a:ln>
              <a:noFill/>
            </a:ln>
          </p:spPr>
        </p:sp>
        <p:sp>
          <p:nvSpPr>
            <p:cNvPr id="64" name="Rectangle 64"/>
            <p:cNvSpPr/>
            <p:nvPr/>
          </p:nvSpPr>
          <p:spPr>
            <a:xfrm>
              <a:off x="6651308" y="4794885"/>
              <a:ext cx="831532" cy="238125"/>
            </a:xfrm>
            <a:prstGeom prst="roundRect">
              <a:avLst>
                <a:gd name="adj" fmla="val 50000"/>
              </a:avLst>
            </a:prstGeom>
            <a:solidFill>
              <a:srgbClr val="243B53"/>
            </a:solidFill>
            <a:ln>
              <a:noFill/>
            </a:ln>
          </p:spPr>
        </p:sp>
        <p:sp>
          <p:nvSpPr>
            <p:cNvPr id="65" name="TextBox 65"/>
            <p:cNvSpPr txBox="1"/>
            <p:nvPr/>
          </p:nvSpPr>
          <p:spPr>
            <a:xfrm>
              <a:off x="6732778" y="4827746"/>
              <a:ext cx="669544"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转圈的含义</a:t>
              </a:r>
            </a:p>
          </p:txBody>
        </p:sp>
        <p:sp>
          <p:nvSpPr>
            <p:cNvPr id="66" name="TextBox 66"/>
            <p:cNvSpPr txBox="1"/>
            <p:nvPr/>
          </p:nvSpPr>
          <p:spPr>
            <a:xfrm>
              <a:off x="6644449" y="5139690"/>
              <a:ext cx="456571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每转一圈都经过“定计划 → 分析风险 → 实施工程 → 客户评</a:t>
              </a:r>
              <a:br/>
              <a:r>
                <a:rPr lang="zh-CN" sz="1350" dirty="0">
                  <a:solidFill>
                    <a:srgbClr val="FFFFFF"/>
                  </a:solidFill>
                  <a:latin typeface="+mn-lt"/>
                  <a:ea typeface="+mn-ea"/>
                  <a:cs typeface="+mn-cs"/>
                </a:rPr>
                <a:t>估”四步，做出一个更完整的原型，纵轴向上表示累计成本。</a:t>
              </a:r>
            </a:p>
          </p:txBody>
        </p:sp>
        <p:sp>
          <p:nvSpPr>
            <p:cNvPr id="67" name="TextBox 67"/>
            <p:cNvSpPr txBox="1"/>
            <p:nvPr/>
          </p:nvSpPr>
          <p:spPr>
            <a:xfrm>
              <a:off x="6645592" y="5693569"/>
              <a:ext cx="3479241" cy="220028"/>
            </a:xfrm>
            <a:prstGeom prst="rect">
              <a:avLst/>
            </a:prstGeom>
            <a:noFill/>
            <a:ln>
              <a:noFill/>
            </a:ln>
          </p:spPr>
          <p:txBody>
            <a:bodyPr wrap="none" lIns="0" tIns="0" rIns="0" bIns="0" anchor="t" anchorCtr="0">
              <a:spAutoFit/>
            </a:bodyPr>
            <a:lstStyle/>
            <a:p>
              <a:pPr algn="l"/>
              <a:r>
                <a:rPr lang="zh-CN" sz="1120" dirty="0">
                  <a:solidFill>
                    <a:srgbClr val="FFFFFF"/>
                  </a:solidFill>
                  <a:latin typeface="+mn-lt"/>
                  <a:ea typeface="+mn-ea"/>
                  <a:cs typeface="+mn-cs"/>
                </a:rPr>
                <a:t>最外层代表维护，所以维护得到与开发同样的重视。</a:t>
              </a:r>
            </a:p>
          </p:txBody>
        </p:sp>
      </p:grpSp>
      <p:grpSp>
        <p:nvGrpSpPr>
          <p:cNvPr id="71" name="footer"/>
          <p:cNvGrpSpPr/>
          <p:nvPr/>
        </p:nvGrpSpPr>
        <p:grpSpPr>
          <a:xfrm>
            <a:off x="528447" y="6581299"/>
            <a:ext cx="11135106" cy="190690"/>
            <a:chOff x="528447" y="6581299"/>
            <a:chExt cx="11135106" cy="190690"/>
          </a:xfrm>
        </p:grpSpPr>
        <p:sp>
          <p:nvSpPr>
            <p:cNvPr id="69" name="TextBox 69"/>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70" name="TextBox 7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39</a:t>
              </a:r>
            </a:p>
          </p:txBody>
        </p:sp>
      </p:grpSp>
    </p:spTree>
  </p:cSld>
  <p:clrMapOvr>
    <a:masterClrMapping/>
  </p:clrMapOvr>
  <p:transition xmlns:p14="http://schemas.microsoft.com/office/powerpoint/2010/main" p14:dur="400">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软件过程与传统过程模型</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喷泉模型：面向对象开发的迭代与无缝</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3" name="c1-graph-1"/>
          <p:cNvGrpSpPr/>
          <p:nvPr/>
        </p:nvGrpSpPr>
        <p:grpSpPr>
          <a:xfrm>
            <a:off x="717499" y="1386840"/>
            <a:ext cx="3077007" cy="3310890"/>
            <a:chOff x="717499" y="1386840"/>
            <a:chExt cx="3077007" cy="3310890"/>
          </a:xfrm>
        </p:grpSpPr>
        <p:sp>
          <p:nvSpPr>
            <p:cNvPr id="7" name="Ellipse 7"/>
            <p:cNvSpPr/>
            <p:nvPr/>
          </p:nvSpPr>
          <p:spPr>
            <a:xfrm>
              <a:off x="1664018" y="4050030"/>
              <a:ext cx="647700" cy="647700"/>
            </a:xfrm>
            <a:prstGeom prst="ellipse">
              <a:avLst/>
            </a:prstGeom>
            <a:solidFill>
              <a:srgbClr val="FFFFFF"/>
            </a:solidFill>
            <a:ln w="17145">
              <a:solidFill>
                <a:srgbClr val="334E68"/>
              </a:solidFill>
            </a:ln>
          </p:spPr>
        </p:sp>
        <p:sp>
          <p:nvSpPr>
            <p:cNvPr id="8" name="Ellipse 8"/>
            <p:cNvSpPr/>
            <p:nvPr/>
          </p:nvSpPr>
          <p:spPr>
            <a:xfrm>
              <a:off x="1664018" y="3564255"/>
              <a:ext cx="647700" cy="647700"/>
            </a:xfrm>
            <a:prstGeom prst="ellipse">
              <a:avLst/>
            </a:prstGeom>
            <a:solidFill>
              <a:srgbClr val="FFFFFF"/>
            </a:solidFill>
            <a:ln w="17145">
              <a:solidFill>
                <a:srgbClr val="334E68"/>
              </a:solidFill>
            </a:ln>
          </p:spPr>
        </p:sp>
        <p:sp>
          <p:nvSpPr>
            <p:cNvPr id="9" name="Ellipse 9"/>
            <p:cNvSpPr/>
            <p:nvPr/>
          </p:nvSpPr>
          <p:spPr>
            <a:xfrm>
              <a:off x="1664018" y="3078480"/>
              <a:ext cx="647700" cy="647700"/>
            </a:xfrm>
            <a:prstGeom prst="ellipse">
              <a:avLst/>
            </a:prstGeom>
            <a:solidFill>
              <a:srgbClr val="FFFFFF"/>
            </a:solidFill>
            <a:ln w="17145">
              <a:solidFill>
                <a:srgbClr val="334E68"/>
              </a:solidFill>
            </a:ln>
          </p:spPr>
        </p:sp>
        <p:sp>
          <p:nvSpPr>
            <p:cNvPr id="10" name="Ellipse 10"/>
            <p:cNvSpPr/>
            <p:nvPr/>
          </p:nvSpPr>
          <p:spPr>
            <a:xfrm>
              <a:off x="1664018" y="2592705"/>
              <a:ext cx="647700" cy="647700"/>
            </a:xfrm>
            <a:prstGeom prst="ellipse">
              <a:avLst/>
            </a:prstGeom>
            <a:solidFill>
              <a:srgbClr val="FFFFFF"/>
            </a:solidFill>
            <a:ln w="17145">
              <a:solidFill>
                <a:srgbClr val="334E68"/>
              </a:solidFill>
            </a:ln>
          </p:spPr>
        </p:sp>
        <p:sp>
          <p:nvSpPr>
            <p:cNvPr id="11" name="Ellipse 11"/>
            <p:cNvSpPr/>
            <p:nvPr/>
          </p:nvSpPr>
          <p:spPr>
            <a:xfrm>
              <a:off x="1664018" y="2106930"/>
              <a:ext cx="647700" cy="647700"/>
            </a:xfrm>
            <a:prstGeom prst="ellipse">
              <a:avLst/>
            </a:prstGeom>
            <a:solidFill>
              <a:srgbClr val="FFFFFF"/>
            </a:solidFill>
            <a:ln w="17145">
              <a:solidFill>
                <a:srgbClr val="334E68"/>
              </a:solidFill>
            </a:ln>
          </p:spPr>
        </p:sp>
        <p:sp>
          <p:nvSpPr>
            <p:cNvPr id="12" name="Ellipse 12"/>
            <p:cNvSpPr/>
            <p:nvPr/>
          </p:nvSpPr>
          <p:spPr>
            <a:xfrm>
              <a:off x="1664018" y="1653540"/>
              <a:ext cx="647700" cy="647700"/>
            </a:xfrm>
            <a:prstGeom prst="ellipse">
              <a:avLst/>
            </a:prstGeom>
            <a:solidFill>
              <a:srgbClr val="FFFFFF"/>
            </a:solidFill>
            <a:ln w="17145">
              <a:solidFill>
                <a:srgbClr val="334E68"/>
              </a:solidFill>
            </a:ln>
          </p:spPr>
        </p:sp>
        <p:sp>
          <p:nvSpPr>
            <p:cNvPr id="13" name="Ellipse 13"/>
            <p:cNvSpPr/>
            <p:nvPr/>
          </p:nvSpPr>
          <p:spPr>
            <a:xfrm>
              <a:off x="1175385" y="1386840"/>
              <a:ext cx="533400" cy="533400"/>
            </a:xfrm>
            <a:prstGeom prst="ellipse">
              <a:avLst/>
            </a:prstGeom>
            <a:solidFill>
              <a:srgbClr val="F4F6FB"/>
            </a:solidFill>
            <a:ln w="17145">
              <a:solidFill>
                <a:srgbClr val="D9DFEA"/>
              </a:solidFill>
            </a:ln>
          </p:spPr>
        </p:sp>
        <p:sp>
          <p:nvSpPr>
            <p:cNvPr id="14" name="Ellipse 14"/>
            <p:cNvSpPr/>
            <p:nvPr/>
          </p:nvSpPr>
          <p:spPr>
            <a:xfrm>
              <a:off x="2539365" y="1386840"/>
              <a:ext cx="533400" cy="533400"/>
            </a:xfrm>
            <a:prstGeom prst="ellipse">
              <a:avLst/>
            </a:prstGeom>
            <a:solidFill>
              <a:srgbClr val="FDEEE7"/>
            </a:solidFill>
            <a:ln w="17145">
              <a:solidFill>
                <a:srgbClr val="F26B3A"/>
              </a:solidFill>
            </a:ln>
          </p:spPr>
        </p:sp>
        <p:sp>
          <p:nvSpPr>
            <p:cNvPr id="15" name="TextBox 15"/>
            <p:cNvSpPr txBox="1"/>
            <p:nvPr/>
          </p:nvSpPr>
          <p:spPr>
            <a:xfrm>
              <a:off x="2363914" y="4313396"/>
              <a:ext cx="537616"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需求阶段</a:t>
              </a:r>
            </a:p>
          </p:txBody>
        </p:sp>
        <p:sp>
          <p:nvSpPr>
            <p:cNvPr id="16" name="TextBox 16"/>
            <p:cNvSpPr txBox="1"/>
            <p:nvPr/>
          </p:nvSpPr>
          <p:spPr>
            <a:xfrm>
              <a:off x="2363914" y="3827621"/>
              <a:ext cx="106532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面向对象分析阶段</a:t>
              </a:r>
            </a:p>
          </p:txBody>
        </p:sp>
        <p:sp>
          <p:nvSpPr>
            <p:cNvPr id="17" name="TextBox 17"/>
            <p:cNvSpPr txBox="1"/>
            <p:nvPr/>
          </p:nvSpPr>
          <p:spPr>
            <a:xfrm>
              <a:off x="2363914" y="3341846"/>
              <a:ext cx="106532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面向对象设计阶段</a:t>
              </a:r>
            </a:p>
          </p:txBody>
        </p:sp>
        <p:sp>
          <p:nvSpPr>
            <p:cNvPr id="18" name="TextBox 18"/>
            <p:cNvSpPr txBox="1"/>
            <p:nvPr/>
          </p:nvSpPr>
          <p:spPr>
            <a:xfrm>
              <a:off x="2363914" y="2856071"/>
              <a:ext cx="537616"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编码阶段</a:t>
              </a:r>
            </a:p>
          </p:txBody>
        </p:sp>
        <p:sp>
          <p:nvSpPr>
            <p:cNvPr id="19" name="TextBox 19"/>
            <p:cNvSpPr txBox="1"/>
            <p:nvPr/>
          </p:nvSpPr>
          <p:spPr>
            <a:xfrm>
              <a:off x="2363914" y="2370296"/>
              <a:ext cx="933399"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集成和测试阶段</a:t>
              </a:r>
            </a:p>
          </p:txBody>
        </p:sp>
        <p:sp>
          <p:nvSpPr>
            <p:cNvPr id="20" name="TextBox 20"/>
            <p:cNvSpPr txBox="1"/>
            <p:nvPr/>
          </p:nvSpPr>
          <p:spPr>
            <a:xfrm>
              <a:off x="2363914" y="1916906"/>
              <a:ext cx="537616"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运行状态</a:t>
              </a:r>
            </a:p>
          </p:txBody>
        </p:sp>
        <p:sp>
          <p:nvSpPr>
            <p:cNvPr id="21" name="TextBox 21"/>
            <p:cNvSpPr txBox="1"/>
            <p:nvPr/>
          </p:nvSpPr>
          <p:spPr>
            <a:xfrm>
              <a:off x="717499" y="1593056"/>
              <a:ext cx="405689"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维护期</a:t>
              </a:r>
            </a:p>
          </p:txBody>
        </p:sp>
        <p:sp>
          <p:nvSpPr>
            <p:cNvPr id="22" name="TextBox 22"/>
            <p:cNvSpPr txBox="1"/>
            <p:nvPr/>
          </p:nvSpPr>
          <p:spPr>
            <a:xfrm>
              <a:off x="3124962" y="1593056"/>
              <a:ext cx="66954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进一步开发</a:t>
              </a:r>
            </a:p>
          </p:txBody>
        </p:sp>
      </p:grpSp>
      <p:grpSp>
        <p:nvGrpSpPr>
          <p:cNvPr id="33" name="c2-card-1"/>
          <p:cNvGrpSpPr/>
          <p:nvPr/>
        </p:nvGrpSpPr>
        <p:grpSpPr>
          <a:xfrm>
            <a:off x="5382578" y="1524000"/>
            <a:ext cx="6276022" cy="2272665"/>
            <a:chOff x="5382578" y="1524000"/>
            <a:chExt cx="6276022" cy="2272665"/>
          </a:xfrm>
        </p:grpSpPr>
        <p:sp>
          <p:nvSpPr>
            <p:cNvPr id="24" name="Rectangle 24"/>
            <p:cNvSpPr/>
            <p:nvPr/>
          </p:nvSpPr>
          <p:spPr>
            <a:xfrm>
              <a:off x="5382578" y="1524000"/>
              <a:ext cx="6276022" cy="2272665"/>
            </a:xfrm>
            <a:prstGeom prst="roundRect">
              <a:avLst>
                <a:gd name="adj" fmla="val 5868"/>
              </a:avLst>
            </a:prstGeom>
            <a:solidFill>
              <a:srgbClr val="334E68"/>
            </a:solidFill>
            <a:ln>
              <a:noFill/>
            </a:ln>
          </p:spPr>
        </p:sp>
        <p:sp>
          <p:nvSpPr>
            <p:cNvPr id="25" name="Rectangle 25"/>
            <p:cNvSpPr/>
            <p:nvPr/>
          </p:nvSpPr>
          <p:spPr>
            <a:xfrm>
              <a:off x="5592128" y="1733550"/>
              <a:ext cx="778192" cy="257175"/>
            </a:xfrm>
            <a:prstGeom prst="roundRect">
              <a:avLst>
                <a:gd name="adj" fmla="val 50000"/>
              </a:avLst>
            </a:prstGeom>
            <a:solidFill>
              <a:srgbClr val="243B53"/>
            </a:solidFill>
            <a:ln>
              <a:noFill/>
            </a:ln>
          </p:spPr>
        </p:sp>
        <p:sp>
          <p:nvSpPr>
            <p:cNvPr id="26" name="TextBox 26"/>
            <p:cNvSpPr txBox="1"/>
            <p:nvPr/>
          </p:nvSpPr>
          <p:spPr>
            <a:xfrm>
              <a:off x="5674436" y="1769269"/>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图怎么读</a:t>
              </a:r>
            </a:p>
          </p:txBody>
        </p:sp>
        <p:sp>
          <p:nvSpPr>
            <p:cNvPr id="27" name="Ellipse 27"/>
            <p:cNvSpPr/>
            <p:nvPr/>
          </p:nvSpPr>
          <p:spPr>
            <a:xfrm>
              <a:off x="5597842" y="2173605"/>
              <a:ext cx="64770" cy="64770"/>
            </a:xfrm>
            <a:prstGeom prst="ellipse">
              <a:avLst/>
            </a:prstGeom>
            <a:solidFill>
              <a:srgbClr val="FFFFFF"/>
            </a:solidFill>
            <a:ln>
              <a:noFill/>
            </a:ln>
          </p:spPr>
        </p:sp>
        <p:sp>
          <p:nvSpPr>
            <p:cNvPr id="28" name="TextBox 28"/>
            <p:cNvSpPr txBox="1"/>
            <p:nvPr/>
          </p:nvSpPr>
          <p:spPr>
            <a:xfrm>
              <a:off x="5755958" y="2110740"/>
              <a:ext cx="5349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圆圈</a:t>
              </a:r>
              <a:r>
                <a:rPr lang="zh-CN" sz="1500" b="1" dirty="0">
                  <a:solidFill>
                    <a:srgbClr val="FFD58A"/>
                  </a:solidFill>
                  <a:latin typeface="+mn-lt"/>
                  <a:ea typeface="+mn-ea"/>
                  <a:cs typeface="+mn-cs"/>
                </a:rPr>
                <a:t>上下重叠</a:t>
              </a:r>
              <a:r>
                <a:rPr lang="zh-CN" sz="1500" dirty="0">
                  <a:solidFill>
                    <a:srgbClr val="FFFFFF"/>
                  </a:solidFill>
                  <a:latin typeface="+mn-lt"/>
                  <a:ea typeface="+mn-ea"/>
                  <a:cs typeface="+mn-cs"/>
                </a:rPr>
                <a:t>：相邻阶段之间没有明显的界限，可以平滑过渡，</a:t>
              </a:r>
              <a:br/>
              <a:r>
                <a:rPr lang="zh-CN" sz="1500" dirty="0">
                  <a:solidFill>
                    <a:srgbClr val="FFFFFF"/>
                  </a:solidFill>
                  <a:latin typeface="+mn-lt"/>
                  <a:ea typeface="+mn-ea"/>
                  <a:cs typeface="+mn-cs"/>
                </a:rPr>
                <a:t>这就是“无缝”</a:t>
              </a:r>
            </a:p>
          </p:txBody>
        </p:sp>
        <p:sp>
          <p:nvSpPr>
            <p:cNvPr id="29" name="Ellipse 29"/>
            <p:cNvSpPr/>
            <p:nvPr/>
          </p:nvSpPr>
          <p:spPr>
            <a:xfrm>
              <a:off x="5597842" y="2794635"/>
              <a:ext cx="64770" cy="64770"/>
            </a:xfrm>
            <a:prstGeom prst="ellipse">
              <a:avLst/>
            </a:prstGeom>
            <a:solidFill>
              <a:srgbClr val="FFFFFF"/>
            </a:solidFill>
            <a:ln>
              <a:noFill/>
            </a:ln>
          </p:spPr>
        </p:sp>
        <p:sp>
          <p:nvSpPr>
            <p:cNvPr id="30" name="TextBox 30"/>
            <p:cNvSpPr txBox="1"/>
            <p:nvPr/>
          </p:nvSpPr>
          <p:spPr>
            <a:xfrm>
              <a:off x="5755958" y="2731770"/>
              <a:ext cx="5349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圆圈里向下回落的水花：随时可以回到前面的阶段求精，这就是</a:t>
              </a:r>
              <a:br/>
              <a:r>
                <a:rPr lang="zh-CN" sz="1500" dirty="0">
                  <a:solidFill>
                    <a:srgbClr val="FFFFFF"/>
                  </a:solidFill>
                  <a:latin typeface="+mn-lt"/>
                  <a:ea typeface="+mn-ea"/>
                  <a:cs typeface="+mn-cs"/>
                </a:rPr>
                <a:t>“迭代”</a:t>
              </a:r>
            </a:p>
          </p:txBody>
        </p:sp>
        <p:sp>
          <p:nvSpPr>
            <p:cNvPr id="31" name="Ellipse 31"/>
            <p:cNvSpPr/>
            <p:nvPr/>
          </p:nvSpPr>
          <p:spPr>
            <a:xfrm>
              <a:off x="5597842" y="3415665"/>
              <a:ext cx="64770" cy="64770"/>
            </a:xfrm>
            <a:prstGeom prst="ellipse">
              <a:avLst/>
            </a:prstGeom>
            <a:solidFill>
              <a:srgbClr val="FFFFFF"/>
            </a:solidFill>
            <a:ln>
              <a:noFill/>
            </a:ln>
          </p:spPr>
        </p:sp>
        <p:sp>
          <p:nvSpPr>
            <p:cNvPr id="32" name="TextBox 32"/>
            <p:cNvSpPr txBox="1"/>
            <p:nvPr/>
          </p:nvSpPr>
          <p:spPr>
            <a:xfrm>
              <a:off x="5755958" y="3352800"/>
              <a:ext cx="546735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顶端分出维护期与进一步开发：运行之后仍然回到同一套活动</a:t>
              </a:r>
            </a:p>
          </p:txBody>
        </p:sp>
      </p:grpSp>
      <p:grpSp>
        <p:nvGrpSpPr>
          <p:cNvPr id="42" name="c2-card-2"/>
          <p:cNvGrpSpPr/>
          <p:nvPr/>
        </p:nvGrpSpPr>
        <p:grpSpPr>
          <a:xfrm>
            <a:off x="5382578" y="3987165"/>
            <a:ext cx="6276022" cy="1365885"/>
            <a:chOff x="5382578" y="3987165"/>
            <a:chExt cx="6276022" cy="1365885"/>
          </a:xfrm>
        </p:grpSpPr>
        <p:sp>
          <p:nvSpPr>
            <p:cNvPr id="34" name="Rectangle 34"/>
            <p:cNvSpPr/>
            <p:nvPr/>
          </p:nvSpPr>
          <p:spPr>
            <a:xfrm>
              <a:off x="5382578" y="3987165"/>
              <a:ext cx="6276022" cy="1365885"/>
            </a:xfrm>
            <a:prstGeom prst="roundRect">
              <a:avLst>
                <a:gd name="adj" fmla="val 9763"/>
              </a:avLst>
            </a:prstGeom>
            <a:solidFill>
              <a:srgbClr val="FFFFFF"/>
            </a:solidFill>
            <a:ln w="14288">
              <a:solidFill>
                <a:srgbClr val="D9DFEA"/>
              </a:solidFill>
            </a:ln>
          </p:spPr>
        </p:sp>
        <p:sp>
          <p:nvSpPr>
            <p:cNvPr id="35" name="Rectangle 35"/>
            <p:cNvSpPr/>
            <p:nvPr/>
          </p:nvSpPr>
          <p:spPr>
            <a:xfrm>
              <a:off x="5392102" y="4120515"/>
              <a:ext cx="47625" cy="1099185"/>
            </a:xfrm>
            <a:prstGeom prst="roundRect">
              <a:avLst>
                <a:gd name="adj" fmla="val 50000"/>
              </a:avLst>
            </a:prstGeom>
            <a:solidFill>
              <a:srgbClr val="B42318"/>
            </a:solidFill>
            <a:ln>
              <a:noFill/>
            </a:ln>
          </p:spPr>
        </p:sp>
        <p:sp>
          <p:nvSpPr>
            <p:cNvPr id="36" name="Rectangle 36"/>
            <p:cNvSpPr/>
            <p:nvPr/>
          </p:nvSpPr>
          <p:spPr>
            <a:xfrm>
              <a:off x="5630228" y="4196715"/>
              <a:ext cx="778192" cy="257175"/>
            </a:xfrm>
            <a:prstGeom prst="roundRect">
              <a:avLst>
                <a:gd name="adj" fmla="val 50000"/>
              </a:avLst>
            </a:prstGeom>
            <a:solidFill>
              <a:srgbClr val="FDECEA"/>
            </a:solidFill>
            <a:ln>
              <a:noFill/>
            </a:ln>
          </p:spPr>
        </p:sp>
        <p:sp>
          <p:nvSpPr>
            <p:cNvPr id="37" name="TextBox 37"/>
            <p:cNvSpPr txBox="1"/>
            <p:nvPr/>
          </p:nvSpPr>
          <p:spPr>
            <a:xfrm>
              <a:off x="5712536" y="4232434"/>
              <a:ext cx="614528"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注意事项</a:t>
              </a:r>
            </a:p>
          </p:txBody>
        </p:sp>
        <p:sp>
          <p:nvSpPr>
            <p:cNvPr id="38" name="Ellipse 38"/>
            <p:cNvSpPr/>
            <p:nvPr/>
          </p:nvSpPr>
          <p:spPr>
            <a:xfrm>
              <a:off x="5635942" y="4636770"/>
              <a:ext cx="64770" cy="64770"/>
            </a:xfrm>
            <a:prstGeom prst="ellipse">
              <a:avLst/>
            </a:prstGeom>
            <a:solidFill>
              <a:srgbClr val="334E68"/>
            </a:solidFill>
            <a:ln>
              <a:noFill/>
            </a:ln>
          </p:spPr>
        </p:sp>
        <p:sp>
          <p:nvSpPr>
            <p:cNvPr id="39" name="TextBox 39"/>
            <p:cNvSpPr txBox="1"/>
            <p:nvPr/>
          </p:nvSpPr>
          <p:spPr>
            <a:xfrm>
              <a:off x="5794058" y="4573905"/>
              <a:ext cx="52654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为避免开发过程过于无序，应该把一个线形过程作为总目标</a:t>
              </a:r>
            </a:p>
          </p:txBody>
        </p:sp>
        <p:sp>
          <p:nvSpPr>
            <p:cNvPr id="40" name="Ellipse 40"/>
            <p:cNvSpPr/>
            <p:nvPr/>
          </p:nvSpPr>
          <p:spPr>
            <a:xfrm>
              <a:off x="5635942" y="4972050"/>
              <a:ext cx="64770" cy="64770"/>
            </a:xfrm>
            <a:prstGeom prst="ellipse">
              <a:avLst/>
            </a:prstGeom>
            <a:solidFill>
              <a:srgbClr val="334E68"/>
            </a:solidFill>
            <a:ln>
              <a:noFill/>
            </a:ln>
          </p:spPr>
        </p:sp>
        <p:sp>
          <p:nvSpPr>
            <p:cNvPr id="41" name="TextBox 41"/>
            <p:cNvSpPr txBox="1"/>
            <p:nvPr/>
          </p:nvSpPr>
          <p:spPr>
            <a:xfrm>
              <a:off x="5794058" y="4909185"/>
              <a:ext cx="48615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面向对象范型本身要求经常对开发活动进行迭代或求精</a:t>
              </a:r>
            </a:p>
          </p:txBody>
        </p:sp>
      </p:grpSp>
      <p:grpSp>
        <p:nvGrpSpPr>
          <p:cNvPr id="49" name="c2-callout-3"/>
          <p:cNvGrpSpPr/>
          <p:nvPr/>
        </p:nvGrpSpPr>
        <p:grpSpPr>
          <a:xfrm>
            <a:off x="5382578" y="5543550"/>
            <a:ext cx="6276022" cy="782955"/>
            <a:chOff x="5382578" y="5543550"/>
            <a:chExt cx="6276022" cy="782955"/>
          </a:xfrm>
        </p:grpSpPr>
        <p:sp>
          <p:nvSpPr>
            <p:cNvPr id="43" name="Rectangle 43"/>
            <p:cNvSpPr/>
            <p:nvPr/>
          </p:nvSpPr>
          <p:spPr>
            <a:xfrm>
              <a:off x="5382578" y="5543550"/>
              <a:ext cx="6276022" cy="782955"/>
            </a:xfrm>
            <a:prstGeom prst="roundRect">
              <a:avLst>
                <a:gd name="adj" fmla="val 14599"/>
              </a:avLst>
            </a:prstGeom>
            <a:solidFill>
              <a:srgbClr val="F4F6FB"/>
            </a:solidFill>
            <a:ln>
              <a:noFill/>
            </a:ln>
          </p:spPr>
        </p:sp>
        <p:grpSp>
          <p:nvGrpSpPr>
            <p:cNvPr id="47" name="Group 47"/>
            <p:cNvGrpSpPr/>
            <p:nvPr/>
          </p:nvGrpSpPr>
          <p:grpSpPr>
            <a:xfrm>
              <a:off x="5587365" y="5835015"/>
              <a:ext cx="200026" cy="200026"/>
              <a:chOff x="5587365" y="5835015"/>
              <a:chExt cx="200026" cy="200026"/>
            </a:xfrm>
          </p:grpSpPr>
          <p:sp>
            <p:nvSpPr>
              <p:cNvPr id="44" name="Freeform 44"/>
              <p:cNvSpPr/>
              <p:nvPr/>
            </p:nvSpPr>
            <p:spPr>
              <a:xfrm>
                <a:off x="5587365" y="583501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5" name="Freeform 45"/>
              <p:cNvSpPr/>
              <p:nvPr/>
            </p:nvSpPr>
            <p:spPr>
              <a:xfrm>
                <a:off x="5687378" y="590169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6" name="Freeform 46"/>
              <p:cNvSpPr/>
              <p:nvPr/>
            </p:nvSpPr>
            <p:spPr>
              <a:xfrm>
                <a:off x="5676265" y="593502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8" name="TextBox 48"/>
            <p:cNvSpPr txBox="1"/>
            <p:nvPr/>
          </p:nvSpPr>
          <p:spPr>
            <a:xfrm>
              <a:off x="5889308" y="5692140"/>
              <a:ext cx="5349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喷泉模型配合的是面向对象方法学，传统方法学里的严格阶段划</a:t>
              </a:r>
              <a:br/>
              <a:r>
                <a:rPr lang="zh-CN" sz="1500" dirty="0">
                  <a:solidFill>
                    <a:srgbClr val="1F2937"/>
                  </a:solidFill>
                  <a:latin typeface="+mn-lt"/>
                  <a:ea typeface="+mn-ea"/>
                  <a:cs typeface="+mn-cs"/>
                </a:rPr>
                <a:t>分在这里被放宽了。</a:t>
              </a:r>
            </a:p>
          </p:txBody>
        </p:sp>
      </p:grpSp>
      <p:grpSp>
        <p:nvGrpSpPr>
          <p:cNvPr id="52" name="footer"/>
          <p:cNvGrpSpPr/>
          <p:nvPr/>
        </p:nvGrpSpPr>
        <p:grpSpPr>
          <a:xfrm>
            <a:off x="528447" y="6581299"/>
            <a:ext cx="11135106" cy="190690"/>
            <a:chOff x="528447" y="6581299"/>
            <a:chExt cx="11135106" cy="190690"/>
          </a:xfrm>
        </p:grpSpPr>
        <p:sp>
          <p:nvSpPr>
            <p:cNvPr id="50" name="TextBox 50"/>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51" name="TextBox 5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40</a:t>
              </a:r>
            </a:p>
          </p:txBody>
        </p:sp>
      </p:grpSp>
    </p:spTree>
  </p:cSld>
  <p:clrMapOvr>
    <a:masterClrMapping/>
  </p:clrMapOvr>
  <p:transition xmlns:p14="http://schemas.microsoft.com/office/powerpoint/2010/main" p14:dur="400">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05</a:t>
              </a:r>
            </a:p>
          </p:txBody>
        </p:sp>
      </p:grpSp>
      <p:grpSp>
        <p:nvGrpSpPr>
          <p:cNvPr id="20" name="section-title"/>
          <p:cNvGrpSpPr/>
          <p:nvPr/>
        </p:nvGrpSpPr>
        <p:grpSpPr>
          <a:xfrm>
            <a:off x="667512" y="1835468"/>
            <a:ext cx="6246114" cy="3706177"/>
            <a:chOff x="667512" y="1835468"/>
            <a:chExt cx="6246114" cy="370617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第五部分</a:t>
              </a:r>
            </a:p>
          </p:txBody>
        </p:sp>
        <p:sp>
          <p:nvSpPr>
            <p:cNvPr id="7" name="TextBox 7"/>
            <p:cNvSpPr txBox="1"/>
            <p:nvPr/>
          </p:nvSpPr>
          <p:spPr>
            <a:xfrm>
              <a:off x="667512" y="2240280"/>
              <a:ext cx="3023555"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RUP 统一过程</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6236208"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一个可裁剪的过程框架：六大实践、二维生命周期、九个工作流</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103708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RUP 是什么</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六大最佳实践</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24686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二维生命周期与 9 个工作流</a:t>
              </a:r>
            </a:p>
          </p:txBody>
        </p:sp>
        <p:sp>
          <p:nvSpPr>
            <p:cNvPr id="16" name="Ellipse 16"/>
            <p:cNvSpPr/>
            <p:nvPr/>
          </p:nvSpPr>
          <p:spPr>
            <a:xfrm>
              <a:off x="723900" y="4951095"/>
              <a:ext cx="76200" cy="76200"/>
            </a:xfrm>
            <a:prstGeom prst="ellipse">
              <a:avLst/>
            </a:prstGeom>
            <a:solidFill>
              <a:srgbClr val="334E68"/>
            </a:solidFill>
            <a:ln>
              <a:noFill/>
            </a:ln>
          </p:spPr>
        </p:sp>
        <p:sp>
          <p:nvSpPr>
            <p:cNvPr id="17" name="TextBox 17"/>
            <p:cNvSpPr txBox="1"/>
            <p:nvPr/>
          </p:nvSpPr>
          <p:spPr>
            <a:xfrm>
              <a:off x="906780" y="4893945"/>
              <a:ext cx="13984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4 个阶段与迭代</a:t>
              </a:r>
            </a:p>
          </p:txBody>
        </p:sp>
        <p:sp>
          <p:nvSpPr>
            <p:cNvPr id="18" name="Ellipse 18"/>
            <p:cNvSpPr/>
            <p:nvPr/>
          </p:nvSpPr>
          <p:spPr>
            <a:xfrm>
              <a:off x="723900" y="5305425"/>
              <a:ext cx="76200" cy="76200"/>
            </a:xfrm>
            <a:prstGeom prst="ellipse">
              <a:avLst/>
            </a:prstGeom>
            <a:solidFill>
              <a:srgbClr val="334E68"/>
            </a:solidFill>
            <a:ln>
              <a:noFill/>
            </a:ln>
          </p:spPr>
        </p:sp>
        <p:sp>
          <p:nvSpPr>
            <p:cNvPr id="19" name="TextBox 19"/>
            <p:cNvSpPr txBox="1"/>
            <p:nvPr/>
          </p:nvSpPr>
          <p:spPr>
            <a:xfrm>
              <a:off x="906780" y="5248275"/>
              <a:ext cx="83515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RUP 术语</a:t>
              </a:r>
            </a:p>
          </p:txBody>
        </p:sp>
      </p:grpSp>
      <p:grpSp>
        <p:nvGrpSpPr>
          <p:cNvPr id="23" name="footer"/>
          <p:cNvGrpSpPr/>
          <p:nvPr/>
        </p:nvGrpSpPr>
        <p:grpSpPr>
          <a:xfrm>
            <a:off x="528447" y="6581299"/>
            <a:ext cx="11135106" cy="190690"/>
            <a:chOff x="528447" y="6581299"/>
            <a:chExt cx="11135106" cy="190690"/>
          </a:xfrm>
        </p:grpSpPr>
        <p:sp>
          <p:nvSpPr>
            <p:cNvPr id="21" name="TextBox 21"/>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22" name="TextBox 2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41</a:t>
              </a:r>
            </a:p>
          </p:txBody>
        </p:sp>
      </p:grpSp>
    </p:spTree>
  </p:cSld>
  <p:clrMapOvr>
    <a:masterClrMapping/>
  </p:clrMapOvr>
  <p:transition xmlns:p14="http://schemas.microsoft.com/office/powerpoint/2010/main" p14:dur="400">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19927" cy="909257"/>
            <a:chOff x="520446" y="342900"/>
            <a:chExt cx="7519927" cy="909257"/>
          </a:xfrm>
        </p:grpSpPr>
        <p:sp>
          <p:nvSpPr>
            <p:cNvPr id="2" name="Rectangle 2"/>
            <p:cNvSpPr/>
            <p:nvPr/>
          </p:nvSpPr>
          <p:spPr>
            <a:xfrm>
              <a:off x="533400" y="342900"/>
              <a:ext cx="1994535" cy="266700"/>
            </a:xfrm>
            <a:prstGeom prst="roundRect">
              <a:avLst>
                <a:gd name="adj" fmla="val 50000"/>
              </a:avLst>
            </a:prstGeom>
            <a:solidFill>
              <a:srgbClr val="E7EDF3"/>
            </a:solidFill>
            <a:ln>
              <a:noFill/>
            </a:ln>
          </p:spPr>
        </p:sp>
        <p:sp>
          <p:nvSpPr>
            <p:cNvPr id="3" name="TextBox 3"/>
            <p:cNvSpPr txBox="1"/>
            <p:nvPr/>
          </p:nvSpPr>
          <p:spPr>
            <a:xfrm>
              <a:off x="595297" y="407194"/>
              <a:ext cx="187074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RUP 统一过程</a:t>
              </a:r>
            </a:p>
          </p:txBody>
        </p:sp>
        <p:sp>
          <p:nvSpPr>
            <p:cNvPr id="4" name="TextBox 4"/>
            <p:cNvSpPr txBox="1"/>
            <p:nvPr/>
          </p:nvSpPr>
          <p:spPr>
            <a:xfrm>
              <a:off x="520446" y="753428"/>
              <a:ext cx="751992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RUP：可以裁剪的过程框架，而不是一套固定步骤</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2" name="c1-card-1"/>
          <p:cNvGrpSpPr/>
          <p:nvPr/>
        </p:nvGrpSpPr>
        <p:grpSpPr>
          <a:xfrm>
            <a:off x="533400" y="1524000"/>
            <a:ext cx="5193982" cy="4074795"/>
            <a:chOff x="533400" y="1524000"/>
            <a:chExt cx="5193982" cy="4074795"/>
          </a:xfrm>
        </p:grpSpPr>
        <p:sp>
          <p:nvSpPr>
            <p:cNvPr id="7" name="Rectangle 7"/>
            <p:cNvSpPr/>
            <p:nvPr/>
          </p:nvSpPr>
          <p:spPr>
            <a:xfrm>
              <a:off x="533400" y="1524000"/>
              <a:ext cx="5193982" cy="4074795"/>
            </a:xfrm>
            <a:prstGeom prst="roundRect">
              <a:avLst>
                <a:gd name="adj" fmla="val 3273"/>
              </a:avLst>
            </a:prstGeom>
            <a:solidFill>
              <a:srgbClr val="FFFFFF"/>
            </a:solidFill>
            <a:ln w="14288">
              <a:solidFill>
                <a:srgbClr val="D9DFEA"/>
              </a:solidFill>
            </a:ln>
          </p:spPr>
        </p:sp>
        <p:sp>
          <p:nvSpPr>
            <p:cNvPr id="8" name="Rectangle 8"/>
            <p:cNvSpPr/>
            <p:nvPr/>
          </p:nvSpPr>
          <p:spPr>
            <a:xfrm>
              <a:off x="542925" y="1657350"/>
              <a:ext cx="47625" cy="3808095"/>
            </a:xfrm>
            <a:prstGeom prst="roundRect">
              <a:avLst>
                <a:gd name="adj" fmla="val 50000"/>
              </a:avLst>
            </a:prstGeom>
            <a:solidFill>
              <a:srgbClr val="334E68"/>
            </a:solidFill>
            <a:ln>
              <a:noFill/>
            </a:ln>
          </p:spPr>
        </p:sp>
        <p:sp>
          <p:nvSpPr>
            <p:cNvPr id="9" name="Rectangle 9"/>
            <p:cNvSpPr/>
            <p:nvPr/>
          </p:nvSpPr>
          <p:spPr>
            <a:xfrm>
              <a:off x="769620" y="1722120"/>
              <a:ext cx="980122" cy="247650"/>
            </a:xfrm>
            <a:prstGeom prst="roundRect">
              <a:avLst>
                <a:gd name="adj" fmla="val 50000"/>
              </a:avLst>
            </a:prstGeom>
            <a:solidFill>
              <a:srgbClr val="E7EDF3"/>
            </a:solidFill>
            <a:ln>
              <a:noFill/>
            </a:ln>
          </p:spPr>
        </p:sp>
        <p:sp>
          <p:nvSpPr>
            <p:cNvPr id="10" name="TextBox 10"/>
            <p:cNvSpPr txBox="1"/>
            <p:nvPr/>
          </p:nvSpPr>
          <p:spPr>
            <a:xfrm>
              <a:off x="835452" y="1756410"/>
              <a:ext cx="847506"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What is RUP</a:t>
              </a:r>
            </a:p>
          </p:txBody>
        </p:sp>
        <p:sp>
          <p:nvSpPr>
            <p:cNvPr id="11" name="TextBox 11"/>
            <p:cNvSpPr txBox="1"/>
            <p:nvPr/>
          </p:nvSpPr>
          <p:spPr>
            <a:xfrm>
              <a:off x="1856804" y="1756886"/>
              <a:ext cx="2381010" cy="278702"/>
            </a:xfrm>
            <a:prstGeom prst="rect">
              <a:avLst/>
            </a:prstGeom>
            <a:noFill/>
            <a:ln>
              <a:noFill/>
            </a:ln>
          </p:spPr>
          <p:txBody>
            <a:bodyPr wrap="none" lIns="0" tIns="0" rIns="0" bIns="0" anchor="t" anchorCtr="0">
              <a:spAutoFit/>
            </a:bodyPr>
            <a:lstStyle/>
            <a:p>
              <a:pPr algn="l"/>
              <a:r>
                <a:rPr lang="en-US" sz="1420" b="1" dirty="0">
                  <a:solidFill>
                    <a:srgbClr val="1F2937"/>
                  </a:solidFill>
                  <a:latin typeface="+mn-lt"/>
                  <a:ea typeface="+mn-ea"/>
                  <a:cs typeface="+mn-cs"/>
                </a:rPr>
                <a:t>Rational Unified Process</a:t>
              </a:r>
            </a:p>
          </p:txBody>
        </p:sp>
        <p:sp>
          <p:nvSpPr>
            <p:cNvPr id="12" name="Ellipse 12"/>
            <p:cNvSpPr/>
            <p:nvPr/>
          </p:nvSpPr>
          <p:spPr>
            <a:xfrm>
              <a:off x="777240" y="2161222"/>
              <a:ext cx="60960" cy="60960"/>
            </a:xfrm>
            <a:prstGeom prst="ellipse">
              <a:avLst/>
            </a:prstGeom>
            <a:solidFill>
              <a:srgbClr val="334E68"/>
            </a:solidFill>
            <a:ln>
              <a:noFill/>
            </a:ln>
          </p:spPr>
        </p:sp>
        <p:sp>
          <p:nvSpPr>
            <p:cNvPr id="13" name="TextBox 13"/>
            <p:cNvSpPr txBox="1"/>
            <p:nvPr/>
          </p:nvSpPr>
          <p:spPr>
            <a:xfrm>
              <a:off x="933831" y="2100739"/>
              <a:ext cx="4144264" cy="821626"/>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过程框架</a:t>
              </a:r>
              <a:r>
                <a:rPr lang="zh-CN" sz="1420" dirty="0">
                  <a:solidFill>
                    <a:srgbClr val="1F2937"/>
                  </a:solidFill>
                  <a:latin typeface="+mn-lt"/>
                  <a:ea typeface="+mn-ea"/>
                  <a:cs typeface="+mn-cs"/>
                </a:rPr>
                <a:t>加一个详细的规定性过程模型（process</a:t>
              </a:r>
              <a:br/>
              <a:r>
                <a:rPr lang="en-US" sz="1420" dirty="0">
                  <a:solidFill>
                    <a:srgbClr val="1F2937"/>
                  </a:solidFill>
                  <a:latin typeface="+mn-lt"/>
                  <a:ea typeface="+mn-ea"/>
                  <a:cs typeface="+mn-cs"/>
                </a:rPr>
                <a:t>framework and a detailed prescriptive process</a:t>
              </a:r>
              <a:br/>
              <a:r>
                <a:rPr lang="zh-CN" sz="1420" dirty="0">
                  <a:solidFill>
                    <a:srgbClr val="1F2937"/>
                  </a:solidFill>
                  <a:latin typeface="+mn-lt"/>
                  <a:ea typeface="+mn-ea"/>
                  <a:cs typeface="+mn-cs"/>
                </a:rPr>
                <a:t>model）</a:t>
              </a:r>
            </a:p>
          </p:txBody>
        </p:sp>
        <p:sp>
          <p:nvSpPr>
            <p:cNvPr id="14" name="Ellipse 14"/>
            <p:cNvSpPr/>
            <p:nvPr/>
          </p:nvSpPr>
          <p:spPr>
            <a:xfrm>
              <a:off x="777240" y="3021330"/>
              <a:ext cx="60960" cy="60960"/>
            </a:xfrm>
            <a:prstGeom prst="ellipse">
              <a:avLst/>
            </a:prstGeom>
            <a:solidFill>
              <a:srgbClr val="334E68"/>
            </a:solidFill>
            <a:ln>
              <a:noFill/>
            </a:ln>
          </p:spPr>
        </p:sp>
        <p:sp>
          <p:nvSpPr>
            <p:cNvPr id="15" name="TextBox 15"/>
            <p:cNvSpPr txBox="1"/>
            <p:nvPr/>
          </p:nvSpPr>
          <p:spPr>
            <a:xfrm>
              <a:off x="933831" y="2961799"/>
              <a:ext cx="4261485"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它是元过程（meta process），用之前必须按项目裁</a:t>
              </a:r>
              <a:br/>
              <a:r>
                <a:rPr lang="zh-CN" sz="1420" dirty="0">
                  <a:solidFill>
                    <a:srgbClr val="1F2937"/>
                  </a:solidFill>
                  <a:latin typeface="+mn-lt"/>
                  <a:ea typeface="+mn-ea"/>
                  <a:cs typeface="+mn-cs"/>
                </a:rPr>
                <a:t>剪</a:t>
              </a:r>
            </a:p>
          </p:txBody>
        </p:sp>
        <p:sp>
          <p:nvSpPr>
            <p:cNvPr id="16" name="Ellipse 16"/>
            <p:cNvSpPr/>
            <p:nvPr/>
          </p:nvSpPr>
          <p:spPr>
            <a:xfrm>
              <a:off x="777240" y="3610928"/>
              <a:ext cx="60960" cy="60960"/>
            </a:xfrm>
            <a:prstGeom prst="ellipse">
              <a:avLst/>
            </a:prstGeom>
            <a:solidFill>
              <a:srgbClr val="334E68"/>
            </a:solidFill>
            <a:ln>
              <a:noFill/>
            </a:ln>
          </p:spPr>
        </p:sp>
        <p:sp>
          <p:nvSpPr>
            <p:cNvPr id="17" name="TextBox 17"/>
            <p:cNvSpPr txBox="1"/>
            <p:nvPr/>
          </p:nvSpPr>
          <p:spPr>
            <a:xfrm>
              <a:off x="933831" y="3550444"/>
              <a:ext cx="434263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相当于一个软件工程知识库，几乎覆盖软件开发的所有</a:t>
              </a:r>
              <a:br/>
              <a:r>
                <a:rPr lang="zh-CN" sz="1420" dirty="0">
                  <a:solidFill>
                    <a:srgbClr val="1F2937"/>
                  </a:solidFill>
                  <a:latin typeface="+mn-lt"/>
                  <a:ea typeface="+mn-ea"/>
                  <a:cs typeface="+mn-cs"/>
                </a:rPr>
                <a:t>活动</a:t>
              </a:r>
            </a:p>
          </p:txBody>
        </p:sp>
        <p:sp>
          <p:nvSpPr>
            <p:cNvPr id="18" name="Ellipse 18"/>
            <p:cNvSpPr/>
            <p:nvPr/>
          </p:nvSpPr>
          <p:spPr>
            <a:xfrm>
              <a:off x="777240" y="4199572"/>
              <a:ext cx="60960" cy="60960"/>
            </a:xfrm>
            <a:prstGeom prst="ellipse">
              <a:avLst/>
            </a:prstGeom>
            <a:solidFill>
              <a:srgbClr val="334E68"/>
            </a:solidFill>
            <a:ln>
              <a:noFill/>
            </a:ln>
          </p:spPr>
        </p:sp>
        <p:sp>
          <p:nvSpPr>
            <p:cNvPr id="19" name="TextBox 19"/>
            <p:cNvSpPr txBox="1"/>
            <p:nvPr/>
          </p:nvSpPr>
          <p:spPr>
            <a:xfrm>
              <a:off x="933831" y="4140041"/>
              <a:ext cx="434263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为面向对象的设计和开发提供了定义良好的结构，基于</a:t>
              </a:r>
              <a:br/>
              <a:r>
                <a:rPr lang="zh-CN" sz="1420" dirty="0">
                  <a:solidFill>
                    <a:srgbClr val="1F2937"/>
                  </a:solidFill>
                  <a:latin typeface="+mn-lt"/>
                  <a:ea typeface="+mn-ea"/>
                  <a:cs typeface="+mn-cs"/>
                </a:rPr>
                <a:t>OO 与 UML</a:t>
              </a:r>
            </a:p>
          </p:txBody>
        </p:sp>
        <p:sp>
          <p:nvSpPr>
            <p:cNvPr id="20" name="Ellipse 20"/>
            <p:cNvSpPr/>
            <p:nvPr/>
          </p:nvSpPr>
          <p:spPr>
            <a:xfrm>
              <a:off x="777240" y="4789170"/>
              <a:ext cx="60960" cy="60960"/>
            </a:xfrm>
            <a:prstGeom prst="ellipse">
              <a:avLst/>
            </a:prstGeom>
            <a:solidFill>
              <a:srgbClr val="334E68"/>
            </a:solidFill>
            <a:ln>
              <a:noFill/>
            </a:ln>
          </p:spPr>
        </p:sp>
        <p:sp>
          <p:nvSpPr>
            <p:cNvPr id="21" name="TextBox 21"/>
            <p:cNvSpPr txBox="1"/>
            <p:nvPr/>
          </p:nvSpPr>
          <p:spPr>
            <a:xfrm>
              <a:off x="933831" y="4728686"/>
              <a:ext cx="4414774"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像软件产品一样，RUP 自身也用 UML 设计并编写文档，</a:t>
              </a:r>
              <a:br/>
              <a:r>
                <a:rPr lang="zh-CN" sz="1420" dirty="0">
                  <a:solidFill>
                    <a:srgbClr val="1F2937"/>
                  </a:solidFill>
                  <a:latin typeface="+mn-lt"/>
                  <a:ea typeface="+mn-ea"/>
                  <a:cs typeface="+mn-cs"/>
                </a:rPr>
                <a:t>文档齐全</a:t>
              </a:r>
            </a:p>
          </p:txBody>
        </p:sp>
      </p:grpSp>
      <p:grpSp>
        <p:nvGrpSpPr>
          <p:cNvPr id="49" name="c2-table-1"/>
          <p:cNvGrpSpPr/>
          <p:nvPr/>
        </p:nvGrpSpPr>
        <p:grpSpPr>
          <a:xfrm>
            <a:off x="6026848" y="1524000"/>
            <a:ext cx="5631752" cy="4116324"/>
            <a:chOff x="6026848" y="1524000"/>
            <a:chExt cx="5631752" cy="4116324"/>
          </a:xfrm>
        </p:grpSpPr>
        <p:sp>
          <p:nvSpPr>
            <p:cNvPr id="23" name="Rectangle 23"/>
            <p:cNvSpPr/>
            <p:nvPr/>
          </p:nvSpPr>
          <p:spPr>
            <a:xfrm>
              <a:off x="6032182" y="1524000"/>
              <a:ext cx="5626418" cy="462915"/>
            </a:xfrm>
            <a:prstGeom prst="rect">
              <a:avLst/>
            </a:prstGeom>
            <a:solidFill>
              <a:srgbClr val="334E68"/>
            </a:solidFill>
            <a:ln>
              <a:noFill/>
            </a:ln>
          </p:spPr>
        </p:sp>
        <p:sp>
          <p:nvSpPr>
            <p:cNvPr id="24" name="TextBox 24"/>
            <p:cNvSpPr txBox="1"/>
            <p:nvPr/>
          </p:nvSpPr>
          <p:spPr>
            <a:xfrm>
              <a:off x="6170968" y="1655921"/>
              <a:ext cx="396799"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年份</a:t>
              </a:r>
            </a:p>
          </p:txBody>
        </p:sp>
        <p:sp>
          <p:nvSpPr>
            <p:cNvPr id="25" name="TextBox 25"/>
            <p:cNvSpPr txBox="1"/>
            <p:nvPr/>
          </p:nvSpPr>
          <p:spPr>
            <a:xfrm>
              <a:off x="7577811" y="1655921"/>
              <a:ext cx="396799"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版本</a:t>
              </a:r>
            </a:p>
          </p:txBody>
        </p:sp>
        <p:sp>
          <p:nvSpPr>
            <p:cNvPr id="26" name="TextBox 26"/>
            <p:cNvSpPr txBox="1"/>
            <p:nvPr/>
          </p:nvSpPr>
          <p:spPr>
            <a:xfrm>
              <a:off x="9766617" y="1655921"/>
              <a:ext cx="970280"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并入的内容</a:t>
              </a:r>
            </a:p>
          </p:txBody>
        </p:sp>
        <p:sp>
          <p:nvSpPr>
            <p:cNvPr id="27" name="TextBox 27"/>
            <p:cNvSpPr txBox="1"/>
            <p:nvPr/>
          </p:nvSpPr>
          <p:spPr>
            <a:xfrm>
              <a:off x="6133529" y="2373154"/>
              <a:ext cx="45605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1995</a:t>
              </a:r>
            </a:p>
          </p:txBody>
        </p:sp>
        <p:sp>
          <p:nvSpPr>
            <p:cNvPr id="28" name="TextBox 28"/>
            <p:cNvSpPr txBox="1"/>
            <p:nvPr/>
          </p:nvSpPr>
          <p:spPr>
            <a:xfrm>
              <a:off x="6808851" y="2119789"/>
              <a:ext cx="1745742" cy="785432"/>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Rational Approach、</a:t>
              </a:r>
              <a:br/>
              <a:r>
                <a:rPr lang="en-US" sz="1420" dirty="0">
                  <a:solidFill>
                    <a:srgbClr val="1F2937"/>
                  </a:solidFill>
                  <a:latin typeface="+mn-lt"/>
                  <a:ea typeface="+mn-ea"/>
                  <a:cs typeface="+mn-cs"/>
                </a:rPr>
                <a:t>Objectory Process</a:t>
              </a:r>
              <a:br/>
              <a:r>
                <a:rPr lang="zh-CN" sz="1420" dirty="0">
                  <a:solidFill>
                    <a:srgbClr val="1F2937"/>
                  </a:solidFill>
                  <a:latin typeface="+mn-lt"/>
                  <a:ea typeface="+mn-ea"/>
                  <a:cs typeface="+mn-cs"/>
                </a:rPr>
                <a:t>3.8</a:t>
              </a:r>
            </a:p>
          </p:txBody>
        </p:sp>
        <p:sp>
          <p:nvSpPr>
            <p:cNvPr id="29" name="TextBox 29"/>
            <p:cNvSpPr txBox="1"/>
            <p:nvPr/>
          </p:nvSpPr>
          <p:spPr>
            <a:xfrm>
              <a:off x="8946261" y="2373154"/>
              <a:ext cx="154376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两条线索开始合流</a:t>
              </a:r>
            </a:p>
          </p:txBody>
        </p:sp>
        <p:sp>
          <p:nvSpPr>
            <p:cNvPr id="30" name="Rectangle 30"/>
            <p:cNvSpPr/>
            <p:nvPr/>
          </p:nvSpPr>
          <p:spPr>
            <a:xfrm>
              <a:off x="6032182" y="2952750"/>
              <a:ext cx="5626418" cy="9525"/>
            </a:xfrm>
            <a:prstGeom prst="rect">
              <a:avLst/>
            </a:prstGeom>
            <a:solidFill>
              <a:srgbClr val="D9DFEA"/>
            </a:solidFill>
            <a:ln>
              <a:noFill/>
            </a:ln>
          </p:spPr>
        </p:sp>
        <p:sp>
          <p:nvSpPr>
            <p:cNvPr id="31" name="Rectangle 31"/>
            <p:cNvSpPr/>
            <p:nvPr/>
          </p:nvSpPr>
          <p:spPr>
            <a:xfrm>
              <a:off x="6032182" y="2957512"/>
              <a:ext cx="5626418" cy="716280"/>
            </a:xfrm>
            <a:prstGeom prst="rect">
              <a:avLst/>
            </a:prstGeom>
            <a:solidFill>
              <a:srgbClr val="F4F6FB"/>
            </a:solidFill>
            <a:ln>
              <a:noFill/>
            </a:ln>
          </p:spPr>
        </p:sp>
        <p:sp>
          <p:nvSpPr>
            <p:cNvPr id="32" name="TextBox 32"/>
            <p:cNvSpPr txBox="1"/>
            <p:nvPr/>
          </p:nvSpPr>
          <p:spPr>
            <a:xfrm>
              <a:off x="6133529" y="3216116"/>
              <a:ext cx="45605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1996</a:t>
              </a:r>
            </a:p>
          </p:txBody>
        </p:sp>
        <p:sp>
          <p:nvSpPr>
            <p:cNvPr id="33" name="TextBox 33"/>
            <p:cNvSpPr txBox="1"/>
            <p:nvPr/>
          </p:nvSpPr>
          <p:spPr>
            <a:xfrm>
              <a:off x="6808851" y="3089434"/>
              <a:ext cx="1655572" cy="532066"/>
            </a:xfrm>
            <a:prstGeom prst="rect">
              <a:avLst/>
            </a:prstGeom>
            <a:noFill/>
            <a:ln>
              <a:noFill/>
            </a:ln>
          </p:spPr>
          <p:txBody>
            <a:bodyPr wrap="none" lIns="0" tIns="0" rIns="0" bIns="0" anchor="t" anchorCtr="0">
              <a:spAutoFit/>
            </a:bodyPr>
            <a:lstStyle/>
            <a:p>
              <a:pPr algn="l">
                <a:lnSpc>
                  <a:spcPts val="1995"/>
                </a:lnSpc>
              </a:pPr>
              <a:r>
                <a:rPr lang="en-US" sz="1420" dirty="0">
                  <a:solidFill>
                    <a:srgbClr val="1F2937"/>
                  </a:solidFill>
                  <a:latin typeface="+mn-lt"/>
                  <a:ea typeface="+mn-ea"/>
                  <a:cs typeface="+mn-cs"/>
                </a:rPr>
                <a:t>Rational Objectory</a:t>
              </a:r>
              <a:br/>
              <a:r>
                <a:rPr lang="en-US" sz="1420" dirty="0">
                  <a:solidFill>
                    <a:srgbClr val="1F2937"/>
                  </a:solidFill>
                  <a:latin typeface="+mn-lt"/>
                  <a:ea typeface="+mn-ea"/>
                  <a:cs typeface="+mn-cs"/>
                </a:rPr>
                <a:t>Process 4.0</a:t>
              </a:r>
            </a:p>
          </p:txBody>
        </p:sp>
        <p:sp>
          <p:nvSpPr>
            <p:cNvPr id="34" name="TextBox 34"/>
            <p:cNvSpPr txBox="1"/>
            <p:nvPr/>
          </p:nvSpPr>
          <p:spPr>
            <a:xfrm>
              <a:off x="8946261" y="3089434"/>
              <a:ext cx="2403983"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OMT、Booch 方法；对应 UML</a:t>
              </a:r>
              <a:br/>
              <a:r>
                <a:rPr lang="zh-CN" sz="1420" dirty="0">
                  <a:solidFill>
                    <a:srgbClr val="1F2937"/>
                  </a:solidFill>
                  <a:latin typeface="+mn-lt"/>
                  <a:ea typeface="+mn-ea"/>
                  <a:cs typeface="+mn-cs"/>
                </a:rPr>
                <a:t>0.8</a:t>
              </a:r>
            </a:p>
          </p:txBody>
        </p:sp>
        <p:sp>
          <p:nvSpPr>
            <p:cNvPr id="35" name="Rectangle 35"/>
            <p:cNvSpPr/>
            <p:nvPr/>
          </p:nvSpPr>
          <p:spPr>
            <a:xfrm>
              <a:off x="6032182" y="3669030"/>
              <a:ext cx="5626418" cy="9525"/>
            </a:xfrm>
            <a:prstGeom prst="rect">
              <a:avLst/>
            </a:prstGeom>
            <a:solidFill>
              <a:srgbClr val="D9DFEA"/>
            </a:solidFill>
            <a:ln>
              <a:noFill/>
            </a:ln>
          </p:spPr>
        </p:sp>
        <p:sp>
          <p:nvSpPr>
            <p:cNvPr id="36" name="TextBox 36"/>
            <p:cNvSpPr txBox="1"/>
            <p:nvPr/>
          </p:nvSpPr>
          <p:spPr>
            <a:xfrm>
              <a:off x="6133529" y="3932396"/>
              <a:ext cx="45605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1997</a:t>
              </a:r>
            </a:p>
          </p:txBody>
        </p:sp>
        <p:sp>
          <p:nvSpPr>
            <p:cNvPr id="37" name="TextBox 37"/>
            <p:cNvSpPr txBox="1"/>
            <p:nvPr/>
          </p:nvSpPr>
          <p:spPr>
            <a:xfrm>
              <a:off x="6808851" y="3805714"/>
              <a:ext cx="1655572" cy="532066"/>
            </a:xfrm>
            <a:prstGeom prst="rect">
              <a:avLst/>
            </a:prstGeom>
            <a:noFill/>
            <a:ln>
              <a:noFill/>
            </a:ln>
          </p:spPr>
          <p:txBody>
            <a:bodyPr wrap="none" lIns="0" tIns="0" rIns="0" bIns="0" anchor="t" anchorCtr="0">
              <a:spAutoFit/>
            </a:bodyPr>
            <a:lstStyle/>
            <a:p>
              <a:pPr algn="l">
                <a:lnSpc>
                  <a:spcPts val="1995"/>
                </a:lnSpc>
              </a:pPr>
              <a:r>
                <a:rPr lang="en-US" sz="1420" dirty="0">
                  <a:solidFill>
                    <a:srgbClr val="1F2937"/>
                  </a:solidFill>
                  <a:latin typeface="+mn-lt"/>
                  <a:ea typeface="+mn-ea"/>
                  <a:cs typeface="+mn-cs"/>
                </a:rPr>
                <a:t>Rational Objectory</a:t>
              </a:r>
              <a:br/>
              <a:r>
                <a:rPr lang="en-US" sz="1420" dirty="0">
                  <a:solidFill>
                    <a:srgbClr val="1F2937"/>
                  </a:solidFill>
                  <a:latin typeface="+mn-lt"/>
                  <a:ea typeface="+mn-ea"/>
                  <a:cs typeface="+mn-cs"/>
                </a:rPr>
                <a:t>Process 4.1</a:t>
              </a:r>
            </a:p>
          </p:txBody>
        </p:sp>
        <p:sp>
          <p:nvSpPr>
            <p:cNvPr id="38" name="TextBox 38"/>
            <p:cNvSpPr txBox="1"/>
            <p:nvPr/>
          </p:nvSpPr>
          <p:spPr>
            <a:xfrm>
              <a:off x="8946261" y="3805714"/>
              <a:ext cx="2385949"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需求学院的做法、SQA 过程；</a:t>
              </a:r>
              <a:br/>
              <a:r>
                <a:rPr lang="zh-CN" sz="1420" dirty="0">
                  <a:solidFill>
                    <a:srgbClr val="1F2937"/>
                  </a:solidFill>
                  <a:latin typeface="+mn-lt"/>
                  <a:ea typeface="+mn-ea"/>
                  <a:cs typeface="+mn-cs"/>
                </a:rPr>
                <a:t>对应 UML 1.0</a:t>
              </a:r>
            </a:p>
          </p:txBody>
        </p:sp>
        <p:sp>
          <p:nvSpPr>
            <p:cNvPr id="39" name="Rectangle 39"/>
            <p:cNvSpPr/>
            <p:nvPr/>
          </p:nvSpPr>
          <p:spPr>
            <a:xfrm>
              <a:off x="6032182" y="4386262"/>
              <a:ext cx="5626418" cy="9525"/>
            </a:xfrm>
            <a:prstGeom prst="rect">
              <a:avLst/>
            </a:prstGeom>
            <a:solidFill>
              <a:srgbClr val="D9DFEA"/>
            </a:solidFill>
            <a:ln>
              <a:noFill/>
            </a:ln>
          </p:spPr>
        </p:sp>
        <p:sp>
          <p:nvSpPr>
            <p:cNvPr id="40" name="Rectangle 40"/>
            <p:cNvSpPr/>
            <p:nvPr/>
          </p:nvSpPr>
          <p:spPr>
            <a:xfrm>
              <a:off x="6032182" y="4391025"/>
              <a:ext cx="5626418" cy="969645"/>
            </a:xfrm>
            <a:prstGeom prst="rect">
              <a:avLst/>
            </a:prstGeom>
            <a:solidFill>
              <a:srgbClr val="F4F6FB"/>
            </a:solidFill>
            <a:ln>
              <a:noFill/>
            </a:ln>
          </p:spPr>
        </p:sp>
        <p:sp>
          <p:nvSpPr>
            <p:cNvPr id="41" name="TextBox 41"/>
            <p:cNvSpPr txBox="1"/>
            <p:nvPr/>
          </p:nvSpPr>
          <p:spPr>
            <a:xfrm>
              <a:off x="6133529" y="4776311"/>
              <a:ext cx="45605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1998</a:t>
              </a:r>
            </a:p>
          </p:txBody>
        </p:sp>
        <p:sp>
          <p:nvSpPr>
            <p:cNvPr id="42" name="Rectangle 42"/>
            <p:cNvSpPr/>
            <p:nvPr/>
          </p:nvSpPr>
          <p:spPr>
            <a:xfrm>
              <a:off x="6717030" y="4400550"/>
              <a:ext cx="2119312" cy="950595"/>
            </a:xfrm>
            <a:prstGeom prst="rect">
              <a:avLst/>
            </a:prstGeom>
            <a:solidFill>
              <a:srgbClr val="FDEEE7"/>
            </a:solidFill>
            <a:ln>
              <a:noFill/>
            </a:ln>
          </p:spPr>
        </p:sp>
        <p:sp>
          <p:nvSpPr>
            <p:cNvPr id="43" name="TextBox 43"/>
            <p:cNvSpPr txBox="1"/>
            <p:nvPr/>
          </p:nvSpPr>
          <p:spPr>
            <a:xfrm>
              <a:off x="6808851" y="4649629"/>
              <a:ext cx="1376045" cy="532066"/>
            </a:xfrm>
            <a:prstGeom prst="rect">
              <a:avLst/>
            </a:prstGeom>
            <a:noFill/>
            <a:ln>
              <a:noFill/>
            </a:ln>
          </p:spPr>
          <p:txBody>
            <a:bodyPr wrap="none" lIns="0" tIns="0" rIns="0" bIns="0" anchor="t" anchorCtr="0">
              <a:spAutoFit/>
            </a:bodyPr>
            <a:lstStyle/>
            <a:p>
              <a:pPr algn="l">
                <a:lnSpc>
                  <a:spcPts val="1995"/>
                </a:lnSpc>
              </a:pPr>
              <a:r>
                <a:rPr lang="en-US" sz="1420" dirty="0">
                  <a:solidFill>
                    <a:srgbClr val="1F2937"/>
                  </a:solidFill>
                  <a:latin typeface="+mn-lt"/>
                  <a:ea typeface="+mn-ea"/>
                  <a:cs typeface="+mn-cs"/>
                </a:rPr>
                <a:t>Rational Unified</a:t>
              </a:r>
              <a:br/>
              <a:r>
                <a:rPr lang="en-US" sz="1420" dirty="0">
                  <a:solidFill>
                    <a:srgbClr val="1F2937"/>
                  </a:solidFill>
                  <a:latin typeface="+mn-lt"/>
                  <a:ea typeface="+mn-ea"/>
                  <a:cs typeface="+mn-cs"/>
                </a:rPr>
                <a:t>Process 5.0</a:t>
              </a:r>
            </a:p>
          </p:txBody>
        </p:sp>
        <p:sp>
          <p:nvSpPr>
            <p:cNvPr id="44" name="TextBox 44"/>
            <p:cNvSpPr txBox="1"/>
            <p:nvPr/>
          </p:nvSpPr>
          <p:spPr>
            <a:xfrm>
              <a:off x="8946261" y="4522946"/>
              <a:ext cx="2358898" cy="785432"/>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性能测试、业务工程、配置与</a:t>
              </a:r>
              <a:br/>
              <a:r>
                <a:rPr lang="zh-CN" sz="1420" dirty="0">
                  <a:solidFill>
                    <a:srgbClr val="1F2937"/>
                  </a:solidFill>
                  <a:latin typeface="+mn-lt"/>
                  <a:ea typeface="+mn-ea"/>
                  <a:cs typeface="+mn-cs"/>
                </a:rPr>
                <a:t>变更管理、UI 设计、数据工</a:t>
              </a:r>
              <a:br/>
              <a:r>
                <a:rPr lang="zh-CN" sz="1420" dirty="0">
                  <a:solidFill>
                    <a:srgbClr val="1F2937"/>
                  </a:solidFill>
                  <a:latin typeface="+mn-lt"/>
                  <a:ea typeface="+mn-ea"/>
                  <a:cs typeface="+mn-cs"/>
                </a:rPr>
                <a:t>程；对应 UML 1.2</a:t>
              </a:r>
            </a:p>
          </p:txBody>
        </p:sp>
        <p:sp>
          <p:nvSpPr>
            <p:cNvPr id="45" name="Rectangle 45"/>
            <p:cNvSpPr/>
            <p:nvPr/>
          </p:nvSpPr>
          <p:spPr>
            <a:xfrm>
              <a:off x="6032182" y="1524000"/>
              <a:ext cx="5626418" cy="3836670"/>
            </a:xfrm>
            <a:prstGeom prst="rect">
              <a:avLst/>
            </a:prstGeom>
            <a:noFill/>
            <a:ln w="14288">
              <a:solidFill>
                <a:srgbClr val="D9DFEA"/>
              </a:solidFill>
            </a:ln>
          </p:spPr>
        </p:sp>
        <p:sp>
          <p:nvSpPr>
            <p:cNvPr id="46" name="Rectangle 46"/>
            <p:cNvSpPr/>
            <p:nvPr/>
          </p:nvSpPr>
          <p:spPr>
            <a:xfrm>
              <a:off x="6702742" y="1524000"/>
              <a:ext cx="9525" cy="3836670"/>
            </a:xfrm>
            <a:prstGeom prst="rect">
              <a:avLst/>
            </a:prstGeom>
            <a:solidFill>
              <a:srgbClr val="D9DFEA"/>
            </a:solidFill>
            <a:ln>
              <a:noFill/>
            </a:ln>
          </p:spPr>
        </p:sp>
        <p:sp>
          <p:nvSpPr>
            <p:cNvPr id="47" name="Rectangle 47"/>
            <p:cNvSpPr/>
            <p:nvPr/>
          </p:nvSpPr>
          <p:spPr>
            <a:xfrm>
              <a:off x="8840152" y="1524000"/>
              <a:ext cx="9525" cy="3836670"/>
            </a:xfrm>
            <a:prstGeom prst="rect">
              <a:avLst/>
            </a:prstGeom>
            <a:solidFill>
              <a:srgbClr val="D9DFEA"/>
            </a:solidFill>
            <a:ln>
              <a:noFill/>
            </a:ln>
          </p:spPr>
        </p:sp>
        <p:sp>
          <p:nvSpPr>
            <p:cNvPr id="48" name="TextBox 48"/>
            <p:cNvSpPr txBox="1"/>
            <p:nvPr/>
          </p:nvSpPr>
          <p:spPr>
            <a:xfrm>
              <a:off x="6026848" y="5434965"/>
              <a:ext cx="2987573"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RUP 的由来：把若干条成熟做法并进同一个框架</a:t>
              </a:r>
            </a:p>
          </p:txBody>
        </p:sp>
      </p:grpSp>
      <p:grpSp>
        <p:nvGrpSpPr>
          <p:cNvPr id="55" name="takeaway"/>
          <p:cNvGrpSpPr/>
          <p:nvPr/>
        </p:nvGrpSpPr>
        <p:grpSpPr>
          <a:xfrm>
            <a:off x="533400" y="5858828"/>
            <a:ext cx="11125200" cy="503872"/>
            <a:chOff x="533400" y="5858828"/>
            <a:chExt cx="11125200" cy="503872"/>
          </a:xfrm>
        </p:grpSpPr>
        <p:sp>
          <p:nvSpPr>
            <p:cNvPr id="50" name="Rectangle 50"/>
            <p:cNvSpPr/>
            <p:nvPr/>
          </p:nvSpPr>
          <p:spPr>
            <a:xfrm>
              <a:off x="533400" y="5858828"/>
              <a:ext cx="11125200" cy="503872"/>
            </a:xfrm>
            <a:prstGeom prst="roundRect">
              <a:avLst>
                <a:gd name="adj" fmla="val 22684"/>
              </a:avLst>
            </a:prstGeom>
            <a:solidFill>
              <a:srgbClr val="334E68"/>
            </a:solidFill>
            <a:ln>
              <a:noFill/>
            </a:ln>
          </p:spPr>
        </p:sp>
        <p:grpSp>
          <p:nvGrpSpPr>
            <p:cNvPr id="53" name="Group 53"/>
            <p:cNvGrpSpPr/>
            <p:nvPr/>
          </p:nvGrpSpPr>
          <p:grpSpPr>
            <a:xfrm>
              <a:off x="738188" y="6011230"/>
              <a:ext cx="200023" cy="200023"/>
              <a:chOff x="738188" y="6011230"/>
              <a:chExt cx="200023" cy="200023"/>
            </a:xfrm>
          </p:grpSpPr>
          <p:sp>
            <p:nvSpPr>
              <p:cNvPr id="51" name="Freeform 51"/>
              <p:cNvSpPr/>
              <p:nvPr/>
            </p:nvSpPr>
            <p:spPr>
              <a:xfrm>
                <a:off x="738188" y="601123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2" name="Freeform 52"/>
              <p:cNvSpPr/>
              <p:nvPr/>
            </p:nvSpPr>
            <p:spPr>
              <a:xfrm>
                <a:off x="871538" y="607790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4" name="TextBox 54"/>
            <p:cNvSpPr txBox="1"/>
            <p:nvPr/>
          </p:nvSpPr>
          <p:spPr>
            <a:xfrm>
              <a:off x="1040511" y="6011704"/>
              <a:ext cx="7020326"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记住两点：RUP 是框架不是现成流程；它与 UML 同源，所以图形化建模贯穿始终。</a:t>
              </a:r>
            </a:p>
          </p:txBody>
        </p:sp>
      </p:grpSp>
      <p:grpSp>
        <p:nvGrpSpPr>
          <p:cNvPr id="58" name="footer"/>
          <p:cNvGrpSpPr/>
          <p:nvPr/>
        </p:nvGrpSpPr>
        <p:grpSpPr>
          <a:xfrm>
            <a:off x="528447" y="6581299"/>
            <a:ext cx="11135106" cy="190690"/>
            <a:chOff x="528447" y="6581299"/>
            <a:chExt cx="11135106" cy="190690"/>
          </a:xfrm>
        </p:grpSpPr>
        <p:sp>
          <p:nvSpPr>
            <p:cNvPr id="56" name="TextBox 56"/>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57" name="TextBox 5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42</a:t>
              </a:r>
            </a:p>
          </p:txBody>
        </p:sp>
      </p:grpSp>
    </p:spTree>
  </p:cSld>
  <p:clrMapOvr>
    <a:masterClrMapping/>
  </p:clrMapOvr>
  <p:transition xmlns:p14="http://schemas.microsoft.com/office/powerpoint/2010/main" p14:dur="400">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1994535" cy="266700"/>
            </a:xfrm>
            <a:prstGeom prst="roundRect">
              <a:avLst>
                <a:gd name="adj" fmla="val 50000"/>
              </a:avLst>
            </a:prstGeom>
            <a:solidFill>
              <a:srgbClr val="E7EDF3"/>
            </a:solidFill>
            <a:ln>
              <a:noFill/>
            </a:ln>
          </p:spPr>
        </p:sp>
        <p:sp>
          <p:nvSpPr>
            <p:cNvPr id="3" name="TextBox 3"/>
            <p:cNvSpPr txBox="1"/>
            <p:nvPr/>
          </p:nvSpPr>
          <p:spPr>
            <a:xfrm>
              <a:off x="595297" y="407194"/>
              <a:ext cx="187074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RUP 统一过程</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六大最佳实践，第一条是迭代式开发</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4" name="c1-kv-1"/>
          <p:cNvGrpSpPr/>
          <p:nvPr/>
        </p:nvGrpSpPr>
        <p:grpSpPr>
          <a:xfrm>
            <a:off x="525780" y="1548765"/>
            <a:ext cx="5417820" cy="3057525"/>
            <a:chOff x="525780" y="1548765"/>
            <a:chExt cx="5417820" cy="3057525"/>
          </a:xfrm>
        </p:grpSpPr>
        <p:sp>
          <p:nvSpPr>
            <p:cNvPr id="7" name="TextBox 7"/>
            <p:cNvSpPr txBox="1"/>
            <p:nvPr/>
          </p:nvSpPr>
          <p:spPr>
            <a:xfrm>
              <a:off x="525780" y="1548765"/>
              <a:ext cx="102489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迭代式开发</a:t>
              </a:r>
            </a:p>
          </p:txBody>
        </p:sp>
        <p:sp>
          <p:nvSpPr>
            <p:cNvPr id="8" name="TextBox 8"/>
            <p:cNvSpPr txBox="1"/>
            <p:nvPr/>
          </p:nvSpPr>
          <p:spPr>
            <a:xfrm>
              <a:off x="2956560" y="154876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容纳需求变更，减少风险</a:t>
              </a:r>
            </a:p>
          </p:txBody>
        </p:sp>
        <p:sp>
          <p:nvSpPr>
            <p:cNvPr id="9" name="Rectangle 9"/>
            <p:cNvSpPr/>
            <p:nvPr/>
          </p:nvSpPr>
          <p:spPr>
            <a:xfrm>
              <a:off x="533400" y="1868805"/>
              <a:ext cx="5410200" cy="9525"/>
            </a:xfrm>
            <a:prstGeom prst="rect">
              <a:avLst/>
            </a:prstGeom>
            <a:solidFill>
              <a:srgbClr val="D9DFEA"/>
            </a:solidFill>
            <a:ln>
              <a:noFill/>
            </a:ln>
          </p:spPr>
        </p:sp>
        <p:sp>
          <p:nvSpPr>
            <p:cNvPr id="10" name="TextBox 10"/>
            <p:cNvSpPr txBox="1"/>
            <p:nvPr/>
          </p:nvSpPr>
          <p:spPr>
            <a:xfrm>
              <a:off x="525780" y="1988820"/>
              <a:ext cx="82296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管理需求</a:t>
              </a:r>
            </a:p>
          </p:txBody>
        </p:sp>
        <p:sp>
          <p:nvSpPr>
            <p:cNvPr id="11" name="TextBox 11"/>
            <p:cNvSpPr txBox="1"/>
            <p:nvPr/>
          </p:nvSpPr>
          <p:spPr>
            <a:xfrm>
              <a:off x="2956560" y="1988820"/>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使用用例和脚本</a:t>
              </a:r>
            </a:p>
          </p:txBody>
        </p:sp>
        <p:sp>
          <p:nvSpPr>
            <p:cNvPr id="12" name="Rectangle 12"/>
            <p:cNvSpPr/>
            <p:nvPr/>
          </p:nvSpPr>
          <p:spPr>
            <a:xfrm>
              <a:off x="533400" y="2308860"/>
              <a:ext cx="5410200" cy="9525"/>
            </a:xfrm>
            <a:prstGeom prst="rect">
              <a:avLst/>
            </a:prstGeom>
            <a:solidFill>
              <a:srgbClr val="D9DFEA"/>
            </a:solidFill>
            <a:ln>
              <a:noFill/>
            </a:ln>
          </p:spPr>
        </p:sp>
        <p:sp>
          <p:nvSpPr>
            <p:cNvPr id="13" name="TextBox 13"/>
            <p:cNvSpPr txBox="1"/>
            <p:nvPr/>
          </p:nvSpPr>
          <p:spPr>
            <a:xfrm>
              <a:off x="525780" y="2428875"/>
              <a:ext cx="223647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使用基于构件的体系结构</a:t>
              </a:r>
            </a:p>
          </p:txBody>
        </p:sp>
        <p:sp>
          <p:nvSpPr>
            <p:cNvPr id="14" name="TextBox 14"/>
            <p:cNvSpPr txBox="1"/>
            <p:nvPr/>
          </p:nvSpPr>
          <p:spPr>
            <a:xfrm>
              <a:off x="2956560" y="2428875"/>
              <a:ext cx="24384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接口定义良好，构件可复用</a:t>
              </a:r>
            </a:p>
          </p:txBody>
        </p:sp>
        <p:sp>
          <p:nvSpPr>
            <p:cNvPr id="15" name="Rectangle 15"/>
            <p:cNvSpPr/>
            <p:nvPr/>
          </p:nvSpPr>
          <p:spPr>
            <a:xfrm>
              <a:off x="533400" y="2748915"/>
              <a:ext cx="5410200" cy="9525"/>
            </a:xfrm>
            <a:prstGeom prst="rect">
              <a:avLst/>
            </a:prstGeom>
            <a:solidFill>
              <a:srgbClr val="D9DFEA"/>
            </a:solidFill>
            <a:ln>
              <a:noFill/>
            </a:ln>
          </p:spPr>
        </p:sp>
        <p:sp>
          <p:nvSpPr>
            <p:cNvPr id="16" name="TextBox 16"/>
            <p:cNvSpPr txBox="1"/>
            <p:nvPr/>
          </p:nvSpPr>
          <p:spPr>
            <a:xfrm>
              <a:off x="525780" y="2868930"/>
              <a:ext cx="102489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可视化建模</a:t>
              </a:r>
            </a:p>
          </p:txBody>
        </p:sp>
        <p:sp>
          <p:nvSpPr>
            <p:cNvPr id="17" name="TextBox 17"/>
            <p:cNvSpPr txBox="1"/>
            <p:nvPr/>
          </p:nvSpPr>
          <p:spPr>
            <a:xfrm>
              <a:off x="2956560" y="2868930"/>
              <a:ext cx="215341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用 UML 表达结构与行为</a:t>
              </a:r>
            </a:p>
          </p:txBody>
        </p:sp>
        <p:sp>
          <p:nvSpPr>
            <p:cNvPr id="18" name="Rectangle 18"/>
            <p:cNvSpPr/>
            <p:nvPr/>
          </p:nvSpPr>
          <p:spPr>
            <a:xfrm>
              <a:off x="533400" y="3188970"/>
              <a:ext cx="5410200" cy="9525"/>
            </a:xfrm>
            <a:prstGeom prst="rect">
              <a:avLst/>
            </a:prstGeom>
            <a:solidFill>
              <a:srgbClr val="D9DFEA"/>
            </a:solidFill>
            <a:ln>
              <a:noFill/>
            </a:ln>
          </p:spPr>
        </p:sp>
        <p:sp>
          <p:nvSpPr>
            <p:cNvPr id="19" name="TextBox 19"/>
            <p:cNvSpPr txBox="1"/>
            <p:nvPr/>
          </p:nvSpPr>
          <p:spPr>
            <a:xfrm>
              <a:off x="525780" y="3308985"/>
              <a:ext cx="122682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验证软件质量</a:t>
              </a:r>
            </a:p>
          </p:txBody>
        </p:sp>
        <p:sp>
          <p:nvSpPr>
            <p:cNvPr id="20" name="TextBox 20"/>
            <p:cNvSpPr txBox="1"/>
            <p:nvPr/>
          </p:nvSpPr>
          <p:spPr>
            <a:xfrm>
              <a:off x="2956560" y="3308985"/>
              <a:ext cx="2682240" cy="85725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质量评估内建在贯穿整个开发过</a:t>
              </a:r>
              <a:br/>
              <a:r>
                <a:rPr lang="zh-CN" sz="1500" dirty="0">
                  <a:solidFill>
                    <a:srgbClr val="1F2937"/>
                  </a:solidFill>
                  <a:latin typeface="+mn-lt"/>
                  <a:ea typeface="+mn-ea"/>
                  <a:cs typeface="+mn-cs"/>
                </a:rPr>
                <a:t>程、由全体成员参与的所有活动</a:t>
              </a:r>
              <a:br/>
              <a:r>
                <a:rPr lang="zh-CN" sz="1500" dirty="0">
                  <a:solidFill>
                    <a:srgbClr val="1F2937"/>
                  </a:solidFill>
                  <a:latin typeface="+mn-lt"/>
                  <a:ea typeface="+mn-ea"/>
                  <a:cs typeface="+mn-cs"/>
                </a:rPr>
                <a:t>中</a:t>
              </a:r>
            </a:p>
          </p:txBody>
        </p:sp>
        <p:sp>
          <p:nvSpPr>
            <p:cNvPr id="21" name="Rectangle 21"/>
            <p:cNvSpPr/>
            <p:nvPr/>
          </p:nvSpPr>
          <p:spPr>
            <a:xfrm>
              <a:off x="533400" y="4192905"/>
              <a:ext cx="5410200" cy="9525"/>
            </a:xfrm>
            <a:prstGeom prst="rect">
              <a:avLst/>
            </a:prstGeom>
            <a:solidFill>
              <a:srgbClr val="D9DFEA"/>
            </a:solidFill>
            <a:ln>
              <a:noFill/>
            </a:ln>
          </p:spPr>
        </p:sp>
        <p:sp>
          <p:nvSpPr>
            <p:cNvPr id="22" name="TextBox 22"/>
            <p:cNvSpPr txBox="1"/>
            <p:nvPr/>
          </p:nvSpPr>
          <p:spPr>
            <a:xfrm>
              <a:off x="525780" y="4312920"/>
              <a:ext cx="122682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控制软件变更</a:t>
              </a:r>
            </a:p>
          </p:txBody>
        </p:sp>
        <p:sp>
          <p:nvSpPr>
            <p:cNvPr id="23" name="TextBox 23"/>
            <p:cNvSpPr txBox="1"/>
            <p:nvPr/>
          </p:nvSpPr>
          <p:spPr>
            <a:xfrm>
              <a:off x="2956560" y="4312920"/>
              <a:ext cx="16306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变更可控、可追踪</a:t>
              </a:r>
            </a:p>
          </p:txBody>
        </p:sp>
      </p:grpSp>
      <p:grpSp>
        <p:nvGrpSpPr>
          <p:cNvPr id="30" name="c1-card-2"/>
          <p:cNvGrpSpPr/>
          <p:nvPr/>
        </p:nvGrpSpPr>
        <p:grpSpPr>
          <a:xfrm>
            <a:off x="533400" y="4737735"/>
            <a:ext cx="5410200" cy="1602105"/>
            <a:chOff x="533400" y="4737735"/>
            <a:chExt cx="5410200" cy="1602105"/>
          </a:xfrm>
        </p:grpSpPr>
        <p:sp>
          <p:nvSpPr>
            <p:cNvPr id="25" name="Rectangle 25"/>
            <p:cNvSpPr/>
            <p:nvPr/>
          </p:nvSpPr>
          <p:spPr>
            <a:xfrm>
              <a:off x="533400" y="4737735"/>
              <a:ext cx="5410200" cy="1602105"/>
            </a:xfrm>
            <a:prstGeom prst="roundRect">
              <a:avLst>
                <a:gd name="adj" fmla="val 8323"/>
              </a:avLst>
            </a:prstGeom>
            <a:solidFill>
              <a:srgbClr val="FFFFFF"/>
            </a:solidFill>
            <a:ln w="14288">
              <a:solidFill>
                <a:srgbClr val="D9DFEA"/>
              </a:solidFill>
            </a:ln>
          </p:spPr>
        </p:sp>
        <p:sp>
          <p:nvSpPr>
            <p:cNvPr id="26" name="Rectangle 26"/>
            <p:cNvSpPr/>
            <p:nvPr/>
          </p:nvSpPr>
          <p:spPr>
            <a:xfrm>
              <a:off x="542925" y="4871085"/>
              <a:ext cx="47625" cy="1335405"/>
            </a:xfrm>
            <a:prstGeom prst="roundRect">
              <a:avLst>
                <a:gd name="adj" fmla="val 50000"/>
              </a:avLst>
            </a:prstGeom>
            <a:solidFill>
              <a:srgbClr val="B42318"/>
            </a:solidFill>
            <a:ln>
              <a:noFill/>
            </a:ln>
          </p:spPr>
        </p:sp>
        <p:sp>
          <p:nvSpPr>
            <p:cNvPr id="27" name="Rectangle 27"/>
            <p:cNvSpPr/>
            <p:nvPr/>
          </p:nvSpPr>
          <p:spPr>
            <a:xfrm>
              <a:off x="781050" y="4947285"/>
              <a:ext cx="1062990" cy="257175"/>
            </a:xfrm>
            <a:prstGeom prst="roundRect">
              <a:avLst>
                <a:gd name="adj" fmla="val 50000"/>
              </a:avLst>
            </a:prstGeom>
            <a:solidFill>
              <a:srgbClr val="FDECEA"/>
            </a:solidFill>
            <a:ln>
              <a:noFill/>
            </a:ln>
          </p:spPr>
        </p:sp>
        <p:sp>
          <p:nvSpPr>
            <p:cNvPr id="28" name="TextBox 28"/>
            <p:cNvSpPr txBox="1"/>
            <p:nvPr/>
          </p:nvSpPr>
          <p:spPr>
            <a:xfrm>
              <a:off x="854507" y="4983004"/>
              <a:ext cx="916076"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为什么要迭代</a:t>
              </a:r>
            </a:p>
          </p:txBody>
        </p:sp>
        <p:sp>
          <p:nvSpPr>
            <p:cNvPr id="29" name="TextBox 29"/>
            <p:cNvSpPr txBox="1"/>
            <p:nvPr/>
          </p:nvSpPr>
          <p:spPr>
            <a:xfrm>
              <a:off x="773430" y="5324475"/>
              <a:ext cx="4587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最初的设计对着关键需求多半是有缺陷的；到后期才发</a:t>
              </a:r>
              <a:br/>
              <a:r>
                <a:rPr lang="zh-CN" sz="1500" dirty="0">
                  <a:solidFill>
                    <a:srgbClr val="1F2937"/>
                  </a:solidFill>
                  <a:latin typeface="+mn-lt"/>
                  <a:ea typeface="+mn-ea"/>
                  <a:cs typeface="+mn-cs"/>
                </a:rPr>
                <a:t>现设计缺陷，会带来高昂的超支甚至项目取消。实现一</a:t>
              </a:r>
              <a:br/>
              <a:r>
                <a:rPr lang="zh-CN" sz="1500" dirty="0">
                  <a:solidFill>
                    <a:srgbClr val="1F2937"/>
                  </a:solidFill>
                  <a:latin typeface="+mn-lt"/>
                  <a:ea typeface="+mn-ea"/>
                  <a:cs typeface="+mn-cs"/>
                </a:rPr>
                <a:t>个错误设计所花的时间和金钱收不回来。</a:t>
              </a:r>
            </a:p>
          </p:txBody>
        </p:sp>
      </p:grpSp>
      <p:grpSp>
        <p:nvGrpSpPr>
          <p:cNvPr id="40" name="c2-graph-1"/>
          <p:cNvGrpSpPr/>
          <p:nvPr/>
        </p:nvGrpSpPr>
        <p:grpSpPr>
          <a:xfrm>
            <a:off x="6730174" y="1549241"/>
            <a:ext cx="4740504" cy="2871312"/>
            <a:chOff x="6730174" y="1549241"/>
            <a:chExt cx="4740504" cy="2871312"/>
          </a:xfrm>
        </p:grpSpPr>
        <p:sp>
          <p:nvSpPr>
            <p:cNvPr id="31" name="Freeform 31"/>
            <p:cNvSpPr/>
            <p:nvPr/>
          </p:nvSpPr>
          <p:spPr>
            <a:xfrm>
              <a:off x="6789420" y="1794510"/>
              <a:ext cx="9525" cy="1973580"/>
            </a:xfrm>
            <a:custGeom>
              <a:avLst/>
              <a:gdLst/>
              <a:ahLst/>
              <a:cxnLst/>
              <a:rect l="l" t="t" r="r" b="b"/>
              <a:pathLst>
                <a:path w="9525" h="1973580">
                  <a:moveTo>
                    <a:pt x="0" y="0"/>
                  </a:moveTo>
                  <a:lnTo>
                    <a:pt x="0" y="1973580"/>
                  </a:lnTo>
                </a:path>
              </a:pathLst>
            </a:custGeom>
            <a:noFill/>
            <a:ln w="13335">
              <a:solidFill>
                <a:srgbClr val="5B6475"/>
              </a:solidFill>
            </a:ln>
          </p:spPr>
        </p:sp>
        <p:sp>
          <p:nvSpPr>
            <p:cNvPr id="32" name="Freeform 32"/>
            <p:cNvSpPr/>
            <p:nvPr/>
          </p:nvSpPr>
          <p:spPr>
            <a:xfrm>
              <a:off x="6827520" y="3867150"/>
              <a:ext cx="4576762" cy="9525"/>
            </a:xfrm>
            <a:custGeom>
              <a:avLst/>
              <a:gdLst/>
              <a:ahLst/>
              <a:cxnLst/>
              <a:rect l="l" t="t" r="r" b="b"/>
              <a:pathLst>
                <a:path w="4576762" h="9525">
                  <a:moveTo>
                    <a:pt x="0" y="0"/>
                  </a:moveTo>
                  <a:lnTo>
                    <a:pt x="4576762" y="0"/>
                  </a:lnTo>
                </a:path>
              </a:pathLst>
            </a:custGeom>
            <a:noFill/>
            <a:ln w="13335">
              <a:solidFill>
                <a:srgbClr val="5B6475"/>
              </a:solidFill>
            </a:ln>
          </p:spPr>
        </p:sp>
        <p:sp>
          <p:nvSpPr>
            <p:cNvPr id="33" name="Freeform 33"/>
            <p:cNvSpPr/>
            <p:nvPr/>
          </p:nvSpPr>
          <p:spPr>
            <a:xfrm>
              <a:off x="6989445" y="1925955"/>
              <a:ext cx="4198620" cy="1685925"/>
            </a:xfrm>
            <a:custGeom>
              <a:avLst/>
              <a:gdLst/>
              <a:ahLst/>
              <a:cxnLst/>
              <a:rect l="l" t="t" r="r" b="b"/>
              <a:pathLst>
                <a:path w="4198620" h="1685925">
                  <a:moveTo>
                    <a:pt x="0" y="0"/>
                  </a:moveTo>
                  <a:lnTo>
                    <a:pt x="1423035" y="55245"/>
                  </a:lnTo>
                  <a:lnTo>
                    <a:pt x="2613660" y="226695"/>
                  </a:lnTo>
                  <a:lnTo>
                    <a:pt x="3370898" y="855345"/>
                  </a:lnTo>
                  <a:lnTo>
                    <a:pt x="3911918" y="1483995"/>
                  </a:lnTo>
                  <a:lnTo>
                    <a:pt x="4198620" y="1685925"/>
                  </a:lnTo>
                </a:path>
              </a:pathLst>
            </a:custGeom>
            <a:noFill/>
            <a:ln w="17145">
              <a:solidFill>
                <a:srgbClr val="5B6475"/>
              </a:solidFill>
            </a:ln>
          </p:spPr>
        </p:sp>
        <p:sp>
          <p:nvSpPr>
            <p:cNvPr id="34" name="Freeform 34"/>
            <p:cNvSpPr/>
            <p:nvPr/>
          </p:nvSpPr>
          <p:spPr>
            <a:xfrm>
              <a:off x="6989445" y="1960245"/>
              <a:ext cx="4198620" cy="1730692"/>
            </a:xfrm>
            <a:custGeom>
              <a:avLst/>
              <a:gdLst/>
              <a:ahLst/>
              <a:cxnLst/>
              <a:rect l="l" t="t" r="r" b="b"/>
              <a:pathLst>
                <a:path w="4198620" h="1730692">
                  <a:moveTo>
                    <a:pt x="0" y="0"/>
                  </a:moveTo>
                  <a:lnTo>
                    <a:pt x="557212" y="535305"/>
                  </a:lnTo>
                  <a:lnTo>
                    <a:pt x="1098233" y="706755"/>
                  </a:lnTo>
                  <a:lnTo>
                    <a:pt x="1639253" y="1163955"/>
                  </a:lnTo>
                  <a:lnTo>
                    <a:pt x="2288858" y="1278255"/>
                  </a:lnTo>
                  <a:lnTo>
                    <a:pt x="2937510" y="1564005"/>
                  </a:lnTo>
                  <a:lnTo>
                    <a:pt x="3587115" y="1649730"/>
                  </a:lnTo>
                  <a:lnTo>
                    <a:pt x="4198620" y="1730692"/>
                  </a:lnTo>
                </a:path>
              </a:pathLst>
            </a:custGeom>
            <a:noFill/>
            <a:ln w="17145">
              <a:solidFill>
                <a:srgbClr val="334E68"/>
              </a:solidFill>
            </a:ln>
          </p:spPr>
        </p:sp>
        <p:sp>
          <p:nvSpPr>
            <p:cNvPr id="35" name="TextBox 35"/>
            <p:cNvSpPr txBox="1"/>
            <p:nvPr/>
          </p:nvSpPr>
          <p:spPr>
            <a:xfrm>
              <a:off x="6730174" y="1549241"/>
              <a:ext cx="273761"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风险</a:t>
              </a:r>
            </a:p>
          </p:txBody>
        </p:sp>
        <p:sp>
          <p:nvSpPr>
            <p:cNvPr id="36" name="TextBox 36"/>
            <p:cNvSpPr txBox="1"/>
            <p:nvPr/>
          </p:nvSpPr>
          <p:spPr>
            <a:xfrm>
              <a:off x="11196917" y="3990499"/>
              <a:ext cx="273761"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时间</a:t>
              </a:r>
            </a:p>
          </p:txBody>
        </p:sp>
        <p:sp>
          <p:nvSpPr>
            <p:cNvPr id="37" name="TextBox 37"/>
            <p:cNvSpPr txBox="1"/>
            <p:nvPr/>
          </p:nvSpPr>
          <p:spPr>
            <a:xfrm>
              <a:off x="9321673" y="1761649"/>
              <a:ext cx="669544"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瀑布式开发</a:t>
              </a:r>
            </a:p>
          </p:txBody>
        </p:sp>
        <p:sp>
          <p:nvSpPr>
            <p:cNvPr id="38" name="TextBox 38"/>
            <p:cNvSpPr txBox="1"/>
            <p:nvPr/>
          </p:nvSpPr>
          <p:spPr>
            <a:xfrm>
              <a:off x="7861490" y="3304699"/>
              <a:ext cx="669544" cy="190690"/>
            </a:xfrm>
            <a:prstGeom prst="rect">
              <a:avLst/>
            </a:prstGeom>
            <a:noFill/>
            <a:ln>
              <a:noFill/>
            </a:ln>
          </p:spPr>
          <p:txBody>
            <a:bodyPr wrap="none" lIns="0" tIns="0" rIns="0" bIns="0" anchor="t" anchorCtr="0">
              <a:spAutoFit/>
            </a:bodyPr>
            <a:lstStyle/>
            <a:p>
              <a:pPr algn="ctr"/>
              <a:r>
                <a:rPr lang="zh-CN" sz="980" b="1" dirty="0">
                  <a:solidFill>
                    <a:srgbClr val="C2410C"/>
                  </a:solidFill>
                  <a:latin typeface="+mn-lt"/>
                  <a:ea typeface="+mn-ea"/>
                  <a:cs typeface="+mn-cs"/>
                </a:rPr>
                <a:t>迭代式开发</a:t>
              </a:r>
            </a:p>
          </p:txBody>
        </p:sp>
        <p:sp>
          <p:nvSpPr>
            <p:cNvPr id="39" name="TextBox 39"/>
            <p:cNvSpPr txBox="1"/>
            <p:nvPr/>
          </p:nvSpPr>
          <p:spPr>
            <a:xfrm>
              <a:off x="7920038" y="4090035"/>
              <a:ext cx="2066925" cy="330518"/>
            </a:xfrm>
            <a:prstGeom prst="rect">
              <a:avLst/>
            </a:prstGeom>
            <a:noFill/>
            <a:ln>
              <a:noFill/>
            </a:ln>
          </p:spPr>
          <p:txBody>
            <a:bodyPr wrap="none" lIns="0" tIns="0" rIns="0" bIns="0" anchor="t" anchorCtr="0">
              <a:spAutoFit/>
            </a:bodyPr>
            <a:lstStyle/>
            <a:p>
              <a:pPr algn="ctr">
                <a:lnSpc>
                  <a:spcPts val="1215"/>
                </a:lnSpc>
              </a:pPr>
              <a:r>
                <a:rPr lang="zh-CN" sz="900" dirty="0">
                  <a:solidFill>
                    <a:srgbClr val="5B6475"/>
                  </a:solidFill>
                  <a:latin typeface="+mn-lt"/>
                  <a:ea typeface="+mn-ea"/>
                  <a:cs typeface="+mn-cs"/>
                </a:rPr>
                <a:t>风险来自过程、技术、团队、客户和业务</a:t>
              </a:r>
              <a:br/>
              <a:r>
                <a:rPr lang="zh-CN" sz="900" dirty="0">
                  <a:solidFill>
                    <a:srgbClr val="5B6475"/>
                  </a:solidFill>
                  <a:latin typeface="+mn-lt"/>
                  <a:ea typeface="+mn-ea"/>
                  <a:cs typeface="+mn-cs"/>
                </a:rPr>
                <a:t>领域</a:t>
              </a:r>
            </a:p>
          </p:txBody>
        </p:sp>
      </p:grpSp>
      <p:grpSp>
        <p:nvGrpSpPr>
          <p:cNvPr id="46" name="c2-callout-2"/>
          <p:cNvGrpSpPr/>
          <p:nvPr/>
        </p:nvGrpSpPr>
        <p:grpSpPr>
          <a:xfrm>
            <a:off x="6248400" y="4572000"/>
            <a:ext cx="5410200" cy="1767840"/>
            <a:chOff x="6248400" y="4572000"/>
            <a:chExt cx="5410200" cy="1767840"/>
          </a:xfrm>
        </p:grpSpPr>
        <p:sp>
          <p:nvSpPr>
            <p:cNvPr id="41" name="Rectangle 41"/>
            <p:cNvSpPr/>
            <p:nvPr/>
          </p:nvSpPr>
          <p:spPr>
            <a:xfrm>
              <a:off x="6248400" y="4572000"/>
              <a:ext cx="5410200" cy="1767840"/>
            </a:xfrm>
            <a:prstGeom prst="roundRect">
              <a:avLst>
                <a:gd name="adj" fmla="val 6466"/>
              </a:avLst>
            </a:prstGeom>
            <a:solidFill>
              <a:srgbClr val="334E68"/>
            </a:solidFill>
            <a:ln>
              <a:noFill/>
            </a:ln>
          </p:spPr>
        </p:sp>
        <p:grpSp>
          <p:nvGrpSpPr>
            <p:cNvPr id="44" name="Group 44"/>
            <p:cNvGrpSpPr/>
            <p:nvPr/>
          </p:nvGrpSpPr>
          <p:grpSpPr>
            <a:xfrm>
              <a:off x="6453188" y="5355910"/>
              <a:ext cx="200023" cy="200023"/>
              <a:chOff x="6453188" y="5355910"/>
              <a:chExt cx="200023" cy="200023"/>
            </a:xfrm>
          </p:grpSpPr>
          <p:sp>
            <p:nvSpPr>
              <p:cNvPr id="42" name="Freeform 42"/>
              <p:cNvSpPr/>
              <p:nvPr/>
            </p:nvSpPr>
            <p:spPr>
              <a:xfrm>
                <a:off x="6453188" y="53559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3" name="Freeform 43"/>
              <p:cNvSpPr/>
              <p:nvPr/>
            </p:nvSpPr>
            <p:spPr>
              <a:xfrm>
                <a:off x="6586538" y="54225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5" name="TextBox 45"/>
            <p:cNvSpPr txBox="1"/>
            <p:nvPr/>
          </p:nvSpPr>
          <p:spPr>
            <a:xfrm>
              <a:off x="6755130" y="5213032"/>
              <a:ext cx="43967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瀑布式开发的风险要到系统测试才真正下降；迭代式</a:t>
              </a:r>
              <a:br/>
              <a:r>
                <a:rPr lang="zh-CN" sz="1500" dirty="0">
                  <a:solidFill>
                    <a:srgbClr val="FFFFFF"/>
                  </a:solidFill>
                  <a:latin typeface="+mn-lt"/>
                  <a:ea typeface="+mn-ea"/>
                  <a:cs typeface="+mn-cs"/>
                </a:rPr>
                <a:t>开发把关键风险放在前几次迭代里解决。</a:t>
              </a:r>
            </a:p>
          </p:txBody>
        </p:sp>
      </p:grpSp>
      <p:grpSp>
        <p:nvGrpSpPr>
          <p:cNvPr id="49" name="footer"/>
          <p:cNvGrpSpPr/>
          <p:nvPr/>
        </p:nvGrpSpPr>
        <p:grpSpPr>
          <a:xfrm>
            <a:off x="528447" y="6581299"/>
            <a:ext cx="11135106" cy="190690"/>
            <a:chOff x="528447" y="6581299"/>
            <a:chExt cx="11135106" cy="190690"/>
          </a:xfrm>
        </p:grpSpPr>
        <p:sp>
          <p:nvSpPr>
            <p:cNvPr id="47" name="TextBox 47"/>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48" name="TextBox 4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43</a:t>
              </a:r>
            </a:p>
          </p:txBody>
        </p:sp>
      </p:grpSp>
    </p:spTree>
  </p:cSld>
  <p:clrMapOvr>
    <a:masterClrMapping/>
  </p:clrMapOvr>
  <p:transition xmlns:p14="http://schemas.microsoft.com/office/powerpoint/2010/main" p14:dur="400">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1994535" cy="266700"/>
            </a:xfrm>
            <a:prstGeom prst="roundRect">
              <a:avLst>
                <a:gd name="adj" fmla="val 50000"/>
              </a:avLst>
            </a:prstGeom>
            <a:solidFill>
              <a:srgbClr val="E7EDF3"/>
            </a:solidFill>
            <a:ln>
              <a:noFill/>
            </a:ln>
          </p:spPr>
        </p:sp>
        <p:sp>
          <p:nvSpPr>
            <p:cNvPr id="3" name="TextBox 3"/>
            <p:cNvSpPr txBox="1"/>
            <p:nvPr/>
          </p:nvSpPr>
          <p:spPr>
            <a:xfrm>
              <a:off x="595297" y="407194"/>
              <a:ext cx="187074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RUP 统一过程</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一次迭代就是一个完整的小开发周期</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7" name="c1-flow-1"/>
          <p:cNvGrpSpPr/>
          <p:nvPr/>
        </p:nvGrpSpPr>
        <p:grpSpPr>
          <a:xfrm>
            <a:off x="669608" y="1828800"/>
            <a:ext cx="5571172" cy="2533650"/>
            <a:chOff x="669608" y="1828800"/>
            <a:chExt cx="5571172" cy="2533650"/>
          </a:xfrm>
        </p:grpSpPr>
        <p:sp>
          <p:nvSpPr>
            <p:cNvPr id="7" name="Freeform 7"/>
            <p:cNvSpPr/>
            <p:nvPr/>
          </p:nvSpPr>
          <p:spPr>
            <a:xfrm>
              <a:off x="2345055" y="2047875"/>
              <a:ext cx="167640" cy="9525"/>
            </a:xfrm>
            <a:custGeom>
              <a:avLst/>
              <a:gdLst/>
              <a:ahLst/>
              <a:cxnLst/>
              <a:rect l="l" t="t" r="r" b="b"/>
              <a:pathLst>
                <a:path w="167640" h="9525">
                  <a:moveTo>
                    <a:pt x="0" y="0"/>
                  </a:moveTo>
                  <a:lnTo>
                    <a:pt x="167640" y="0"/>
                  </a:lnTo>
                </a:path>
              </a:pathLst>
            </a:custGeom>
            <a:noFill/>
            <a:ln w="15240">
              <a:solidFill>
                <a:srgbClr val="5B6475"/>
              </a:solidFill>
            </a:ln>
          </p:spPr>
        </p:sp>
        <p:sp>
          <p:nvSpPr>
            <p:cNvPr id="8" name="Freeform 8"/>
            <p:cNvSpPr/>
            <p:nvPr/>
          </p:nvSpPr>
          <p:spPr>
            <a:xfrm>
              <a:off x="2512695" y="199548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9" name="Freeform 9"/>
            <p:cNvSpPr/>
            <p:nvPr/>
          </p:nvSpPr>
          <p:spPr>
            <a:xfrm>
              <a:off x="4291965" y="2047875"/>
              <a:ext cx="168592" cy="9525"/>
            </a:xfrm>
            <a:custGeom>
              <a:avLst/>
              <a:gdLst/>
              <a:ahLst/>
              <a:cxnLst/>
              <a:rect l="l" t="t" r="r" b="b"/>
              <a:pathLst>
                <a:path w="168592" h="9525">
                  <a:moveTo>
                    <a:pt x="0" y="0"/>
                  </a:moveTo>
                  <a:lnTo>
                    <a:pt x="168592" y="0"/>
                  </a:lnTo>
                </a:path>
              </a:pathLst>
            </a:custGeom>
            <a:noFill/>
            <a:ln w="15240">
              <a:solidFill>
                <a:srgbClr val="5B6475"/>
              </a:solidFill>
            </a:ln>
          </p:spPr>
        </p:sp>
        <p:sp>
          <p:nvSpPr>
            <p:cNvPr id="10" name="Freeform 10"/>
            <p:cNvSpPr/>
            <p:nvPr/>
          </p:nvSpPr>
          <p:spPr>
            <a:xfrm>
              <a:off x="4460558" y="199548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1" name="Freeform 11"/>
            <p:cNvSpPr/>
            <p:nvPr/>
          </p:nvSpPr>
          <p:spPr>
            <a:xfrm>
              <a:off x="5402580" y="2266950"/>
              <a:ext cx="9525" cy="504825"/>
            </a:xfrm>
            <a:custGeom>
              <a:avLst/>
              <a:gdLst/>
              <a:ahLst/>
              <a:cxnLst/>
              <a:rect l="l" t="t" r="r" b="b"/>
              <a:pathLst>
                <a:path w="9525" h="504825">
                  <a:moveTo>
                    <a:pt x="0" y="0"/>
                  </a:moveTo>
                  <a:lnTo>
                    <a:pt x="0" y="504825"/>
                  </a:lnTo>
                </a:path>
              </a:pathLst>
            </a:custGeom>
            <a:noFill/>
            <a:ln w="15240">
              <a:solidFill>
                <a:srgbClr val="5B6475"/>
              </a:solidFill>
            </a:ln>
          </p:spPr>
        </p:sp>
        <p:sp>
          <p:nvSpPr>
            <p:cNvPr id="12" name="Freeform 12"/>
            <p:cNvSpPr/>
            <p:nvPr/>
          </p:nvSpPr>
          <p:spPr>
            <a:xfrm>
              <a:off x="5350192" y="277177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3" name="Freeform 13"/>
            <p:cNvSpPr/>
            <p:nvPr/>
          </p:nvSpPr>
          <p:spPr>
            <a:xfrm>
              <a:off x="5402580" y="3314700"/>
              <a:ext cx="9525" cy="504825"/>
            </a:xfrm>
            <a:custGeom>
              <a:avLst/>
              <a:gdLst/>
              <a:ahLst/>
              <a:cxnLst/>
              <a:rect l="l" t="t" r="r" b="b"/>
              <a:pathLst>
                <a:path w="9525" h="504825">
                  <a:moveTo>
                    <a:pt x="0" y="0"/>
                  </a:moveTo>
                  <a:lnTo>
                    <a:pt x="0" y="504825"/>
                  </a:lnTo>
                </a:path>
              </a:pathLst>
            </a:custGeom>
            <a:noFill/>
            <a:ln w="15240">
              <a:solidFill>
                <a:srgbClr val="5B6475"/>
              </a:solidFill>
            </a:ln>
          </p:spPr>
        </p:sp>
        <p:sp>
          <p:nvSpPr>
            <p:cNvPr id="14" name="Freeform 14"/>
            <p:cNvSpPr/>
            <p:nvPr/>
          </p:nvSpPr>
          <p:spPr>
            <a:xfrm>
              <a:off x="5350192" y="381952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5" name="Freeform 15"/>
            <p:cNvSpPr/>
            <p:nvPr/>
          </p:nvSpPr>
          <p:spPr>
            <a:xfrm>
              <a:off x="4396740" y="4143375"/>
              <a:ext cx="168592" cy="9525"/>
            </a:xfrm>
            <a:custGeom>
              <a:avLst/>
              <a:gdLst/>
              <a:ahLst/>
              <a:cxnLst/>
              <a:rect l="l" t="t" r="r" b="b"/>
              <a:pathLst>
                <a:path w="168592" h="9525">
                  <a:moveTo>
                    <a:pt x="168592" y="0"/>
                  </a:moveTo>
                  <a:lnTo>
                    <a:pt x="0" y="0"/>
                  </a:lnTo>
                </a:path>
              </a:pathLst>
            </a:custGeom>
            <a:noFill/>
            <a:ln w="15240">
              <a:solidFill>
                <a:srgbClr val="5B6475"/>
              </a:solidFill>
            </a:ln>
          </p:spPr>
        </p:sp>
        <p:sp>
          <p:nvSpPr>
            <p:cNvPr id="16" name="Freeform 16"/>
            <p:cNvSpPr/>
            <p:nvPr/>
          </p:nvSpPr>
          <p:spPr>
            <a:xfrm>
              <a:off x="4291965" y="4090988"/>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17" name="Freeform 17"/>
            <p:cNvSpPr/>
            <p:nvPr/>
          </p:nvSpPr>
          <p:spPr>
            <a:xfrm>
              <a:off x="2449830" y="4143375"/>
              <a:ext cx="167640" cy="9525"/>
            </a:xfrm>
            <a:custGeom>
              <a:avLst/>
              <a:gdLst/>
              <a:ahLst/>
              <a:cxnLst/>
              <a:rect l="l" t="t" r="r" b="b"/>
              <a:pathLst>
                <a:path w="167640" h="9525">
                  <a:moveTo>
                    <a:pt x="167640" y="0"/>
                  </a:moveTo>
                  <a:lnTo>
                    <a:pt x="0" y="0"/>
                  </a:lnTo>
                </a:path>
              </a:pathLst>
            </a:custGeom>
            <a:noFill/>
            <a:ln w="15240">
              <a:solidFill>
                <a:srgbClr val="5B6475"/>
              </a:solidFill>
            </a:ln>
          </p:spPr>
        </p:sp>
        <p:sp>
          <p:nvSpPr>
            <p:cNvPr id="18" name="Freeform 18"/>
            <p:cNvSpPr/>
            <p:nvPr/>
          </p:nvSpPr>
          <p:spPr>
            <a:xfrm>
              <a:off x="2345055" y="4090988"/>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19" name="Freeform 19"/>
            <p:cNvSpPr/>
            <p:nvPr/>
          </p:nvSpPr>
          <p:spPr>
            <a:xfrm>
              <a:off x="1001078" y="2047875"/>
              <a:ext cx="1511618" cy="1876425"/>
            </a:xfrm>
            <a:custGeom>
              <a:avLst/>
              <a:gdLst/>
              <a:ahLst/>
              <a:cxnLst/>
              <a:rect l="l" t="t" r="r" b="b"/>
              <a:pathLst>
                <a:path w="1511618" h="1876425">
                  <a:moveTo>
                    <a:pt x="505777" y="1876425"/>
                  </a:moveTo>
                  <a:lnTo>
                    <a:pt x="505777" y="1666875"/>
                  </a:lnTo>
                  <a:lnTo>
                    <a:pt x="505777" y="324802"/>
                  </a:lnTo>
                  <a:lnTo>
                    <a:pt x="0" y="324802"/>
                  </a:lnTo>
                  <a:lnTo>
                    <a:pt x="1406843" y="324802"/>
                  </a:lnTo>
                  <a:lnTo>
                    <a:pt x="1406843" y="0"/>
                  </a:lnTo>
                  <a:lnTo>
                    <a:pt x="1511618" y="0"/>
                  </a:lnTo>
                </a:path>
              </a:pathLst>
            </a:custGeom>
            <a:noFill/>
            <a:ln w="15240">
              <a:solidFill>
                <a:srgbClr val="5B6475"/>
              </a:solidFill>
            </a:ln>
          </p:spPr>
        </p:sp>
        <p:sp>
          <p:nvSpPr>
            <p:cNvPr id="20" name="Freeform 20"/>
            <p:cNvSpPr/>
            <p:nvPr/>
          </p:nvSpPr>
          <p:spPr>
            <a:xfrm>
              <a:off x="2512695" y="199548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21" name="Rectangle 21"/>
            <p:cNvSpPr/>
            <p:nvPr/>
          </p:nvSpPr>
          <p:spPr>
            <a:xfrm>
              <a:off x="669608" y="1828800"/>
              <a:ext cx="1675448" cy="438150"/>
            </a:xfrm>
            <a:prstGeom prst="roundRect">
              <a:avLst>
                <a:gd name="adj" fmla="val 50000"/>
              </a:avLst>
            </a:prstGeom>
            <a:solidFill>
              <a:srgbClr val="334E68"/>
            </a:solidFill>
            <a:ln>
              <a:noFill/>
            </a:ln>
          </p:spPr>
        </p:sp>
        <p:sp>
          <p:nvSpPr>
            <p:cNvPr id="22" name="Rectangle 22"/>
            <p:cNvSpPr/>
            <p:nvPr/>
          </p:nvSpPr>
          <p:spPr>
            <a:xfrm>
              <a:off x="2617470" y="1828800"/>
              <a:ext cx="1675448" cy="438150"/>
            </a:xfrm>
            <a:prstGeom prst="roundRect">
              <a:avLst>
                <a:gd name="adj" fmla="val 21739"/>
              </a:avLst>
            </a:prstGeom>
            <a:solidFill>
              <a:srgbClr val="FFFFFF"/>
            </a:solidFill>
            <a:ln w="15240">
              <a:solidFill>
                <a:srgbClr val="334E68"/>
              </a:solidFill>
            </a:ln>
          </p:spPr>
        </p:sp>
        <p:sp>
          <p:nvSpPr>
            <p:cNvPr id="23" name="Rectangle 23"/>
            <p:cNvSpPr/>
            <p:nvPr/>
          </p:nvSpPr>
          <p:spPr>
            <a:xfrm>
              <a:off x="4565332" y="1828800"/>
              <a:ext cx="1675448" cy="438150"/>
            </a:xfrm>
            <a:prstGeom prst="roundRect">
              <a:avLst>
                <a:gd name="adj" fmla="val 21739"/>
              </a:avLst>
            </a:prstGeom>
            <a:solidFill>
              <a:srgbClr val="FFFFFF"/>
            </a:solidFill>
            <a:ln w="15240">
              <a:solidFill>
                <a:srgbClr val="334E68"/>
              </a:solidFill>
            </a:ln>
          </p:spPr>
        </p:sp>
        <p:sp>
          <p:nvSpPr>
            <p:cNvPr id="24" name="Rectangle 24"/>
            <p:cNvSpPr/>
            <p:nvPr/>
          </p:nvSpPr>
          <p:spPr>
            <a:xfrm>
              <a:off x="2617470" y="2876550"/>
              <a:ext cx="1675448" cy="438150"/>
            </a:xfrm>
            <a:prstGeom prst="roundRect">
              <a:avLst>
                <a:gd name="adj" fmla="val 17391"/>
              </a:avLst>
            </a:prstGeom>
            <a:solidFill>
              <a:srgbClr val="FEF3C7"/>
            </a:solidFill>
            <a:ln>
              <a:noFill/>
            </a:ln>
          </p:spPr>
        </p:sp>
        <p:sp>
          <p:nvSpPr>
            <p:cNvPr id="25" name="Rectangle 25"/>
            <p:cNvSpPr/>
            <p:nvPr/>
          </p:nvSpPr>
          <p:spPr>
            <a:xfrm>
              <a:off x="4565332" y="2876550"/>
              <a:ext cx="1675448" cy="438150"/>
            </a:xfrm>
            <a:prstGeom prst="roundRect">
              <a:avLst>
                <a:gd name="adj" fmla="val 21739"/>
              </a:avLst>
            </a:prstGeom>
            <a:solidFill>
              <a:srgbClr val="FFFFFF"/>
            </a:solidFill>
            <a:ln w="15240">
              <a:solidFill>
                <a:srgbClr val="334E68"/>
              </a:solidFill>
            </a:ln>
          </p:spPr>
        </p:sp>
        <p:sp>
          <p:nvSpPr>
            <p:cNvPr id="26" name="Rectangle 26"/>
            <p:cNvSpPr/>
            <p:nvPr/>
          </p:nvSpPr>
          <p:spPr>
            <a:xfrm>
              <a:off x="669608" y="3924300"/>
              <a:ext cx="1675448" cy="438150"/>
            </a:xfrm>
            <a:prstGeom prst="roundRect">
              <a:avLst>
                <a:gd name="adj" fmla="val 21739"/>
              </a:avLst>
            </a:prstGeom>
            <a:solidFill>
              <a:srgbClr val="FFFFFF"/>
            </a:solidFill>
            <a:ln w="15240">
              <a:solidFill>
                <a:srgbClr val="334E68"/>
              </a:solidFill>
            </a:ln>
          </p:spPr>
        </p:sp>
        <p:sp>
          <p:nvSpPr>
            <p:cNvPr id="27" name="Rectangle 27"/>
            <p:cNvSpPr/>
            <p:nvPr/>
          </p:nvSpPr>
          <p:spPr>
            <a:xfrm>
              <a:off x="2617470" y="3924300"/>
              <a:ext cx="1675448" cy="438150"/>
            </a:xfrm>
            <a:prstGeom prst="roundRect">
              <a:avLst>
                <a:gd name="adj" fmla="val 21739"/>
              </a:avLst>
            </a:prstGeom>
            <a:solidFill>
              <a:srgbClr val="FFFFFF"/>
            </a:solidFill>
            <a:ln w="15240">
              <a:solidFill>
                <a:srgbClr val="334E68"/>
              </a:solidFill>
            </a:ln>
          </p:spPr>
        </p:sp>
        <p:sp>
          <p:nvSpPr>
            <p:cNvPr id="28" name="Rectangle 28"/>
            <p:cNvSpPr/>
            <p:nvPr/>
          </p:nvSpPr>
          <p:spPr>
            <a:xfrm>
              <a:off x="4565332" y="3924300"/>
              <a:ext cx="1675448" cy="438150"/>
            </a:xfrm>
            <a:prstGeom prst="roundRect">
              <a:avLst>
                <a:gd name="adj" fmla="val 21739"/>
              </a:avLst>
            </a:prstGeom>
            <a:solidFill>
              <a:srgbClr val="FFFFFF"/>
            </a:solidFill>
            <a:ln w="15240">
              <a:solidFill>
                <a:srgbClr val="334E68"/>
              </a:solidFill>
            </a:ln>
          </p:spPr>
        </p:sp>
        <p:sp>
          <p:nvSpPr>
            <p:cNvPr id="29" name="TextBox 29"/>
            <p:cNvSpPr txBox="1"/>
            <p:nvPr/>
          </p:nvSpPr>
          <p:spPr>
            <a:xfrm>
              <a:off x="1155751" y="1958816"/>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初始计划</a:t>
              </a:r>
            </a:p>
          </p:txBody>
        </p:sp>
        <p:sp>
          <p:nvSpPr>
            <p:cNvPr id="30" name="TextBox 30"/>
            <p:cNvSpPr txBox="1"/>
            <p:nvPr/>
          </p:nvSpPr>
          <p:spPr>
            <a:xfrm>
              <a:off x="3275927" y="1958816"/>
              <a:ext cx="357581"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计划</a:t>
              </a:r>
            </a:p>
          </p:txBody>
        </p:sp>
        <p:sp>
          <p:nvSpPr>
            <p:cNvPr id="31" name="TextBox 31"/>
            <p:cNvSpPr txBox="1"/>
            <p:nvPr/>
          </p:nvSpPr>
          <p:spPr>
            <a:xfrm>
              <a:off x="5223789" y="1958816"/>
              <a:ext cx="357581"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需求</a:t>
              </a:r>
            </a:p>
          </p:txBody>
        </p:sp>
        <p:sp>
          <p:nvSpPr>
            <p:cNvPr id="32" name="TextBox 32"/>
            <p:cNvSpPr txBox="1"/>
            <p:nvPr/>
          </p:nvSpPr>
          <p:spPr>
            <a:xfrm>
              <a:off x="3017456" y="3006566"/>
              <a:ext cx="874522"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管理与环境</a:t>
              </a:r>
            </a:p>
          </p:txBody>
        </p:sp>
        <p:sp>
          <p:nvSpPr>
            <p:cNvPr id="33" name="TextBox 33"/>
            <p:cNvSpPr txBox="1"/>
            <p:nvPr/>
          </p:nvSpPr>
          <p:spPr>
            <a:xfrm>
              <a:off x="4965319" y="3006566"/>
              <a:ext cx="874522"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分析与设计</a:t>
              </a:r>
            </a:p>
          </p:txBody>
        </p:sp>
        <p:sp>
          <p:nvSpPr>
            <p:cNvPr id="34" name="TextBox 34"/>
            <p:cNvSpPr txBox="1"/>
            <p:nvPr/>
          </p:nvSpPr>
          <p:spPr>
            <a:xfrm>
              <a:off x="1328064" y="4054316"/>
              <a:ext cx="357581"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评估</a:t>
              </a:r>
            </a:p>
          </p:txBody>
        </p:sp>
        <p:sp>
          <p:nvSpPr>
            <p:cNvPr id="35" name="TextBox 35"/>
            <p:cNvSpPr txBox="1"/>
            <p:nvPr/>
          </p:nvSpPr>
          <p:spPr>
            <a:xfrm>
              <a:off x="3275927" y="4054316"/>
              <a:ext cx="357581"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测试</a:t>
              </a:r>
            </a:p>
          </p:txBody>
        </p:sp>
        <p:sp>
          <p:nvSpPr>
            <p:cNvPr id="36" name="TextBox 36"/>
            <p:cNvSpPr txBox="1"/>
            <p:nvPr/>
          </p:nvSpPr>
          <p:spPr>
            <a:xfrm>
              <a:off x="5223789" y="4054316"/>
              <a:ext cx="357581"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实现</a:t>
              </a:r>
            </a:p>
          </p:txBody>
        </p:sp>
      </p:grpSp>
      <p:grpSp>
        <p:nvGrpSpPr>
          <p:cNvPr id="43" name="c1-callout-2"/>
          <p:cNvGrpSpPr/>
          <p:nvPr/>
        </p:nvGrpSpPr>
        <p:grpSpPr>
          <a:xfrm>
            <a:off x="533400" y="4857750"/>
            <a:ext cx="5842635" cy="782955"/>
            <a:chOff x="533400" y="4857750"/>
            <a:chExt cx="5842635" cy="782955"/>
          </a:xfrm>
        </p:grpSpPr>
        <p:sp>
          <p:nvSpPr>
            <p:cNvPr id="38" name="Rectangle 38"/>
            <p:cNvSpPr/>
            <p:nvPr/>
          </p:nvSpPr>
          <p:spPr>
            <a:xfrm>
              <a:off x="533400" y="4857750"/>
              <a:ext cx="5842635" cy="782955"/>
            </a:xfrm>
            <a:prstGeom prst="roundRect">
              <a:avLst>
                <a:gd name="adj" fmla="val 14599"/>
              </a:avLst>
            </a:prstGeom>
            <a:solidFill>
              <a:srgbClr val="334E68"/>
            </a:solidFill>
            <a:ln>
              <a:noFill/>
            </a:ln>
          </p:spPr>
        </p:sp>
        <p:grpSp>
          <p:nvGrpSpPr>
            <p:cNvPr id="41" name="Group 41"/>
            <p:cNvGrpSpPr/>
            <p:nvPr/>
          </p:nvGrpSpPr>
          <p:grpSpPr>
            <a:xfrm>
              <a:off x="738188" y="5149217"/>
              <a:ext cx="200023" cy="200023"/>
              <a:chOff x="738188" y="5149217"/>
              <a:chExt cx="200023" cy="200023"/>
            </a:xfrm>
          </p:grpSpPr>
          <p:sp>
            <p:nvSpPr>
              <p:cNvPr id="39" name="Freeform 39"/>
              <p:cNvSpPr/>
              <p:nvPr/>
            </p:nvSpPr>
            <p:spPr>
              <a:xfrm>
                <a:off x="738188" y="514921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0" name="Freeform 40"/>
              <p:cNvSpPr/>
              <p:nvPr/>
            </p:nvSpPr>
            <p:spPr>
              <a:xfrm>
                <a:off x="871538" y="521589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2" name="TextBox 42"/>
            <p:cNvSpPr txBox="1"/>
            <p:nvPr/>
          </p:nvSpPr>
          <p:spPr>
            <a:xfrm>
              <a:off x="1040130" y="5006340"/>
              <a:ext cx="47777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每次迭代都产生一个可执行的发布版本，部署之后进入下</a:t>
              </a:r>
              <a:br/>
              <a:r>
                <a:rPr lang="zh-CN" sz="1500" dirty="0">
                  <a:solidFill>
                    <a:srgbClr val="FFFFFF"/>
                  </a:solidFill>
                  <a:latin typeface="+mn-lt"/>
                  <a:ea typeface="+mn-ea"/>
                  <a:cs typeface="+mn-cs"/>
                </a:rPr>
                <a:t>一轮。</a:t>
              </a:r>
            </a:p>
          </p:txBody>
        </p:sp>
      </p:grpSp>
      <p:grpSp>
        <p:nvGrpSpPr>
          <p:cNvPr id="57" name="c2-bullets-1"/>
          <p:cNvGrpSpPr/>
          <p:nvPr/>
        </p:nvGrpSpPr>
        <p:grpSpPr>
          <a:xfrm>
            <a:off x="6673215" y="1548765"/>
            <a:ext cx="4535043" cy="2371725"/>
            <a:chOff x="6673215" y="1548765"/>
            <a:chExt cx="4535043" cy="2371725"/>
          </a:xfrm>
        </p:grpSpPr>
        <p:sp>
          <p:nvSpPr>
            <p:cNvPr id="44" name="TextBox 44"/>
            <p:cNvSpPr txBox="1"/>
            <p:nvPr/>
          </p:nvSpPr>
          <p:spPr>
            <a:xfrm>
              <a:off x="6673215" y="1548765"/>
              <a:ext cx="163068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迭代式开发的特征</a:t>
              </a:r>
            </a:p>
          </p:txBody>
        </p:sp>
        <p:sp>
          <p:nvSpPr>
            <p:cNvPr id="45" name="Freeform 45"/>
            <p:cNvSpPr/>
            <p:nvPr/>
          </p:nvSpPr>
          <p:spPr>
            <a:xfrm>
              <a:off x="6680835" y="1934528"/>
              <a:ext cx="144780" cy="117158"/>
            </a:xfrm>
            <a:custGeom>
              <a:avLst/>
              <a:gdLst/>
              <a:ahLst/>
              <a:cxnLst/>
              <a:rect l="l" t="t" r="r" b="b"/>
              <a:pathLst>
                <a:path w="144780" h="117158">
                  <a:moveTo>
                    <a:pt x="0" y="61912"/>
                  </a:moveTo>
                  <a:lnTo>
                    <a:pt x="55245" y="117158"/>
                  </a:lnTo>
                  <a:lnTo>
                    <a:pt x="144780" y="0"/>
                  </a:lnTo>
                </a:path>
              </a:pathLst>
            </a:custGeom>
            <a:noFill/>
            <a:ln w="24765" cap="rnd">
              <a:solidFill>
                <a:srgbClr val="14A38B"/>
              </a:solidFill>
              <a:round/>
            </a:ln>
          </p:spPr>
        </p:sp>
        <p:sp>
          <p:nvSpPr>
            <p:cNvPr id="46" name="TextBox 46"/>
            <p:cNvSpPr txBox="1"/>
            <p:nvPr/>
          </p:nvSpPr>
          <p:spPr>
            <a:xfrm>
              <a:off x="6932295" y="1903095"/>
              <a:ext cx="30441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关键风险在大笔投入之前就被解决</a:t>
              </a:r>
            </a:p>
          </p:txBody>
        </p:sp>
        <p:sp>
          <p:nvSpPr>
            <p:cNvPr id="47" name="Freeform 47"/>
            <p:cNvSpPr/>
            <p:nvPr/>
          </p:nvSpPr>
          <p:spPr>
            <a:xfrm>
              <a:off x="6680835" y="2279332"/>
              <a:ext cx="144780" cy="117157"/>
            </a:xfrm>
            <a:custGeom>
              <a:avLst/>
              <a:gdLst/>
              <a:ahLst/>
              <a:cxnLst/>
              <a:rect l="l" t="t" r="r" b="b"/>
              <a:pathLst>
                <a:path w="144780" h="117157">
                  <a:moveTo>
                    <a:pt x="0" y="61912"/>
                  </a:moveTo>
                  <a:lnTo>
                    <a:pt x="55245" y="117157"/>
                  </a:lnTo>
                  <a:lnTo>
                    <a:pt x="144780" y="0"/>
                  </a:lnTo>
                </a:path>
              </a:pathLst>
            </a:custGeom>
            <a:noFill/>
            <a:ln w="24765" cap="rnd">
              <a:solidFill>
                <a:srgbClr val="14A38B"/>
              </a:solidFill>
              <a:round/>
            </a:ln>
          </p:spPr>
        </p:sp>
        <p:sp>
          <p:nvSpPr>
            <p:cNvPr id="48" name="TextBox 48"/>
            <p:cNvSpPr txBox="1"/>
            <p:nvPr/>
          </p:nvSpPr>
          <p:spPr>
            <a:xfrm>
              <a:off x="6932295" y="2247900"/>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最初几次迭代就能得到用户反馈</a:t>
              </a:r>
            </a:p>
          </p:txBody>
        </p:sp>
        <p:sp>
          <p:nvSpPr>
            <p:cNvPr id="49" name="Freeform 49"/>
            <p:cNvSpPr/>
            <p:nvPr/>
          </p:nvSpPr>
          <p:spPr>
            <a:xfrm>
              <a:off x="6680835" y="2624138"/>
              <a:ext cx="144780" cy="117158"/>
            </a:xfrm>
            <a:custGeom>
              <a:avLst/>
              <a:gdLst/>
              <a:ahLst/>
              <a:cxnLst/>
              <a:rect l="l" t="t" r="r" b="b"/>
              <a:pathLst>
                <a:path w="144780" h="117158">
                  <a:moveTo>
                    <a:pt x="0" y="61912"/>
                  </a:moveTo>
                  <a:lnTo>
                    <a:pt x="55245" y="117158"/>
                  </a:lnTo>
                  <a:lnTo>
                    <a:pt x="144780" y="0"/>
                  </a:lnTo>
                </a:path>
              </a:pathLst>
            </a:custGeom>
            <a:noFill/>
            <a:ln w="24765" cap="rnd">
              <a:solidFill>
                <a:srgbClr val="14A38B"/>
              </a:solidFill>
              <a:round/>
            </a:ln>
          </p:spPr>
        </p:sp>
        <p:sp>
          <p:nvSpPr>
            <p:cNvPr id="50" name="TextBox 50"/>
            <p:cNvSpPr txBox="1"/>
            <p:nvPr/>
          </p:nvSpPr>
          <p:spPr>
            <a:xfrm>
              <a:off x="6932295" y="259270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测试和集成是连续进行的</a:t>
              </a:r>
            </a:p>
          </p:txBody>
        </p:sp>
        <p:sp>
          <p:nvSpPr>
            <p:cNvPr id="51" name="Freeform 51"/>
            <p:cNvSpPr/>
            <p:nvPr/>
          </p:nvSpPr>
          <p:spPr>
            <a:xfrm>
              <a:off x="6680835" y="2968942"/>
              <a:ext cx="144780" cy="117158"/>
            </a:xfrm>
            <a:custGeom>
              <a:avLst/>
              <a:gdLst/>
              <a:ahLst/>
              <a:cxnLst/>
              <a:rect l="l" t="t" r="r" b="b"/>
              <a:pathLst>
                <a:path w="144780" h="117158">
                  <a:moveTo>
                    <a:pt x="0" y="61912"/>
                  </a:moveTo>
                  <a:lnTo>
                    <a:pt x="55245" y="117158"/>
                  </a:lnTo>
                  <a:lnTo>
                    <a:pt x="144780" y="0"/>
                  </a:lnTo>
                </a:path>
              </a:pathLst>
            </a:custGeom>
            <a:noFill/>
            <a:ln w="24765" cap="rnd">
              <a:solidFill>
                <a:srgbClr val="14A38B"/>
              </a:solidFill>
              <a:round/>
            </a:ln>
          </p:spPr>
        </p:sp>
        <p:sp>
          <p:nvSpPr>
            <p:cNvPr id="52" name="TextBox 52"/>
            <p:cNvSpPr txBox="1"/>
            <p:nvPr/>
          </p:nvSpPr>
          <p:spPr>
            <a:xfrm>
              <a:off x="6932295" y="2937510"/>
              <a:ext cx="24384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客观的里程碑提供短期目标</a:t>
              </a:r>
            </a:p>
          </p:txBody>
        </p:sp>
        <p:sp>
          <p:nvSpPr>
            <p:cNvPr id="53" name="Freeform 53"/>
            <p:cNvSpPr/>
            <p:nvPr/>
          </p:nvSpPr>
          <p:spPr>
            <a:xfrm>
              <a:off x="6680835" y="3313748"/>
              <a:ext cx="144780" cy="117158"/>
            </a:xfrm>
            <a:custGeom>
              <a:avLst/>
              <a:gdLst/>
              <a:ahLst/>
              <a:cxnLst/>
              <a:rect l="l" t="t" r="r" b="b"/>
              <a:pathLst>
                <a:path w="144780" h="117158">
                  <a:moveTo>
                    <a:pt x="0" y="61912"/>
                  </a:moveTo>
                  <a:lnTo>
                    <a:pt x="55245" y="117158"/>
                  </a:lnTo>
                  <a:lnTo>
                    <a:pt x="144780" y="0"/>
                  </a:lnTo>
                </a:path>
              </a:pathLst>
            </a:custGeom>
            <a:noFill/>
            <a:ln w="24765" cap="rnd">
              <a:solidFill>
                <a:srgbClr val="14A38B"/>
              </a:solidFill>
              <a:round/>
            </a:ln>
          </p:spPr>
        </p:sp>
        <p:sp>
          <p:nvSpPr>
            <p:cNvPr id="54" name="TextBox 54"/>
            <p:cNvSpPr txBox="1"/>
            <p:nvPr/>
          </p:nvSpPr>
          <p:spPr>
            <a:xfrm>
              <a:off x="6932295" y="3282315"/>
              <a:ext cx="4275963"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进度用“做出了什么”来衡量，而不是用文档页数</a:t>
              </a:r>
            </a:p>
          </p:txBody>
        </p:sp>
        <p:sp>
          <p:nvSpPr>
            <p:cNvPr id="55" name="Freeform 55"/>
            <p:cNvSpPr/>
            <p:nvPr/>
          </p:nvSpPr>
          <p:spPr>
            <a:xfrm>
              <a:off x="6680835" y="3658552"/>
              <a:ext cx="144780" cy="117157"/>
            </a:xfrm>
            <a:custGeom>
              <a:avLst/>
              <a:gdLst/>
              <a:ahLst/>
              <a:cxnLst/>
              <a:rect l="l" t="t" r="r" b="b"/>
              <a:pathLst>
                <a:path w="144780" h="117157">
                  <a:moveTo>
                    <a:pt x="0" y="61912"/>
                  </a:moveTo>
                  <a:lnTo>
                    <a:pt x="55245" y="117157"/>
                  </a:lnTo>
                  <a:lnTo>
                    <a:pt x="144780" y="0"/>
                  </a:lnTo>
                </a:path>
              </a:pathLst>
            </a:custGeom>
            <a:noFill/>
            <a:ln w="24765" cap="rnd">
              <a:solidFill>
                <a:srgbClr val="14A38B"/>
              </a:solidFill>
              <a:round/>
            </a:ln>
          </p:spPr>
        </p:sp>
        <p:sp>
          <p:nvSpPr>
            <p:cNvPr id="56" name="TextBox 56"/>
            <p:cNvSpPr txBox="1"/>
            <p:nvPr/>
          </p:nvSpPr>
          <p:spPr>
            <a:xfrm>
              <a:off x="6932295" y="3627120"/>
              <a:ext cx="24384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部分实现的系统就可以部署</a:t>
              </a:r>
            </a:p>
          </p:txBody>
        </p:sp>
      </p:grpSp>
      <p:grpSp>
        <p:nvGrpSpPr>
          <p:cNvPr id="64" name="takeaway"/>
          <p:cNvGrpSpPr/>
          <p:nvPr/>
        </p:nvGrpSpPr>
        <p:grpSpPr>
          <a:xfrm>
            <a:off x="533400" y="5829300"/>
            <a:ext cx="11125200" cy="533400"/>
            <a:chOff x="533400" y="5829300"/>
            <a:chExt cx="11125200" cy="533400"/>
          </a:xfrm>
        </p:grpSpPr>
        <p:sp>
          <p:nvSpPr>
            <p:cNvPr id="58" name="Rectangle 58"/>
            <p:cNvSpPr/>
            <p:nvPr/>
          </p:nvSpPr>
          <p:spPr>
            <a:xfrm>
              <a:off x="533400" y="5829300"/>
              <a:ext cx="11125200" cy="533400"/>
            </a:xfrm>
            <a:prstGeom prst="roundRect">
              <a:avLst>
                <a:gd name="adj" fmla="val 21429"/>
              </a:avLst>
            </a:prstGeom>
            <a:solidFill>
              <a:srgbClr val="F4F6FB"/>
            </a:solidFill>
            <a:ln>
              <a:noFill/>
            </a:ln>
          </p:spPr>
        </p:sp>
        <p:grpSp>
          <p:nvGrpSpPr>
            <p:cNvPr id="62" name="Group 62"/>
            <p:cNvGrpSpPr/>
            <p:nvPr/>
          </p:nvGrpSpPr>
          <p:grpSpPr>
            <a:xfrm>
              <a:off x="738188" y="5995988"/>
              <a:ext cx="200026" cy="200026"/>
              <a:chOff x="738188" y="5995988"/>
              <a:chExt cx="200026" cy="200026"/>
            </a:xfrm>
          </p:grpSpPr>
          <p:sp>
            <p:nvSpPr>
              <p:cNvPr id="59" name="Freeform 59"/>
              <p:cNvSpPr/>
              <p:nvPr/>
            </p:nvSpPr>
            <p:spPr>
              <a:xfrm>
                <a:off x="738188" y="599598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0" name="Freeform 60"/>
              <p:cNvSpPr/>
              <p:nvPr/>
            </p:nvSpPr>
            <p:spPr>
              <a:xfrm>
                <a:off x="838200" y="606266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1" name="Freeform 61"/>
              <p:cNvSpPr/>
              <p:nvPr/>
            </p:nvSpPr>
            <p:spPr>
              <a:xfrm>
                <a:off x="827088" y="609600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3" name="TextBox 63"/>
            <p:cNvSpPr txBox="1"/>
            <p:nvPr/>
          </p:nvSpPr>
          <p:spPr>
            <a:xfrm>
              <a:off x="1040130" y="5991225"/>
              <a:ext cx="70827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图中的评估结果回到计划，构成下一次迭代；管理与环境两类活动贯穿每一轮。</a:t>
              </a:r>
            </a:p>
          </p:txBody>
        </p:sp>
      </p:grpSp>
      <p:grpSp>
        <p:nvGrpSpPr>
          <p:cNvPr id="67" name="footer"/>
          <p:cNvGrpSpPr/>
          <p:nvPr/>
        </p:nvGrpSpPr>
        <p:grpSpPr>
          <a:xfrm>
            <a:off x="528447" y="6581299"/>
            <a:ext cx="11135106" cy="190690"/>
            <a:chOff x="528447" y="6581299"/>
            <a:chExt cx="11135106" cy="190690"/>
          </a:xfrm>
        </p:grpSpPr>
        <p:sp>
          <p:nvSpPr>
            <p:cNvPr id="65" name="TextBox 65"/>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6" name="TextBox 6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44</a:t>
              </a:r>
            </a:p>
          </p:txBody>
        </p:sp>
      </p:grpSp>
    </p:spTree>
  </p:cSld>
  <p:clrMapOvr>
    <a:masterClrMapping/>
  </p:clrMapOvr>
  <p:transition xmlns:p14="http://schemas.microsoft.com/office/powerpoint/2010/main" p14:dur="400">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1994535" cy="266700"/>
            </a:xfrm>
            <a:prstGeom prst="roundRect">
              <a:avLst>
                <a:gd name="adj" fmla="val 50000"/>
              </a:avLst>
            </a:prstGeom>
            <a:solidFill>
              <a:srgbClr val="E7EDF3"/>
            </a:solidFill>
            <a:ln>
              <a:noFill/>
            </a:ln>
          </p:spPr>
        </p:sp>
        <p:sp>
          <p:nvSpPr>
            <p:cNvPr id="3" name="TextBox 3"/>
            <p:cNvSpPr txBox="1"/>
            <p:nvPr/>
          </p:nvSpPr>
          <p:spPr>
            <a:xfrm>
              <a:off x="595297" y="407194"/>
              <a:ext cx="187074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RUP 统一过程</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其余五条最佳实践各自解决什么问题</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9" name="c1-table-1"/>
          <p:cNvGrpSpPr/>
          <p:nvPr/>
        </p:nvGrpSpPr>
        <p:grpSpPr>
          <a:xfrm>
            <a:off x="533400" y="1524000"/>
            <a:ext cx="7141845" cy="4046220"/>
            <a:chOff x="533400" y="1524000"/>
            <a:chExt cx="7141845" cy="4046220"/>
          </a:xfrm>
        </p:grpSpPr>
        <p:sp>
          <p:nvSpPr>
            <p:cNvPr id="7" name="Rectangle 7"/>
            <p:cNvSpPr/>
            <p:nvPr/>
          </p:nvSpPr>
          <p:spPr>
            <a:xfrm>
              <a:off x="533400" y="1524000"/>
              <a:ext cx="7141845" cy="462915"/>
            </a:xfrm>
            <a:prstGeom prst="rect">
              <a:avLst/>
            </a:prstGeom>
            <a:solidFill>
              <a:srgbClr val="334E68"/>
            </a:solidFill>
            <a:ln>
              <a:noFill/>
            </a:ln>
          </p:spPr>
        </p:sp>
        <p:sp>
          <p:nvSpPr>
            <p:cNvPr id="8" name="TextBox 8"/>
            <p:cNvSpPr txBox="1"/>
            <p:nvPr/>
          </p:nvSpPr>
          <p:spPr>
            <a:xfrm>
              <a:off x="1072528" y="1655921"/>
              <a:ext cx="779120"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最佳实践</a:t>
              </a:r>
            </a:p>
          </p:txBody>
        </p:sp>
        <p:sp>
          <p:nvSpPr>
            <p:cNvPr id="9" name="TextBox 9"/>
            <p:cNvSpPr txBox="1"/>
            <p:nvPr/>
          </p:nvSpPr>
          <p:spPr>
            <a:xfrm>
              <a:off x="4642498" y="1655921"/>
              <a:ext cx="779120"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具体做法</a:t>
              </a:r>
            </a:p>
          </p:txBody>
        </p:sp>
        <p:sp>
          <p:nvSpPr>
            <p:cNvPr id="10" name="Rectangle 10"/>
            <p:cNvSpPr/>
            <p:nvPr/>
          </p:nvSpPr>
          <p:spPr>
            <a:xfrm>
              <a:off x="542925" y="1996440"/>
              <a:ext cx="1837372" cy="697230"/>
            </a:xfrm>
            <a:prstGeom prst="rect">
              <a:avLst/>
            </a:prstGeom>
            <a:solidFill>
              <a:srgbClr val="FDEEE7"/>
            </a:solidFill>
            <a:ln>
              <a:noFill/>
            </a:ln>
          </p:spPr>
        </p:sp>
        <p:sp>
          <p:nvSpPr>
            <p:cNvPr id="11" name="TextBox 11"/>
            <p:cNvSpPr txBox="1"/>
            <p:nvPr/>
          </p:nvSpPr>
          <p:spPr>
            <a:xfrm>
              <a:off x="634746" y="2246471"/>
              <a:ext cx="77912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管理需求</a:t>
              </a:r>
            </a:p>
          </p:txBody>
        </p:sp>
        <p:sp>
          <p:nvSpPr>
            <p:cNvPr id="12" name="TextBox 12"/>
            <p:cNvSpPr txBox="1"/>
            <p:nvPr/>
          </p:nvSpPr>
          <p:spPr>
            <a:xfrm>
              <a:off x="2491168" y="2119789"/>
              <a:ext cx="488365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获取、组织并记录需要的功能和约束；跟踪权衡与决策；业务</a:t>
              </a:r>
              <a:br/>
              <a:r>
                <a:rPr lang="zh-CN" sz="1420" dirty="0">
                  <a:solidFill>
                    <a:srgbClr val="1F2937"/>
                  </a:solidFill>
                  <a:latin typeface="+mn-lt"/>
                  <a:ea typeface="+mn-ea"/>
                  <a:cs typeface="+mn-cs"/>
                </a:rPr>
                <a:t>需求用</a:t>
              </a:r>
              <a:r>
                <a:rPr lang="zh-CN" sz="1420" b="1" dirty="0">
                  <a:solidFill>
                    <a:srgbClr val="C2410C"/>
                  </a:solidFill>
                  <a:latin typeface="+mn-lt"/>
                  <a:ea typeface="+mn-ea"/>
                  <a:cs typeface="+mn-cs"/>
                </a:rPr>
                <a:t>用例</a:t>
              </a:r>
              <a:r>
                <a:rPr lang="zh-CN" sz="1420" dirty="0">
                  <a:solidFill>
                    <a:srgbClr val="1F2937"/>
                  </a:solidFill>
                  <a:latin typeface="+mn-lt"/>
                  <a:ea typeface="+mn-ea"/>
                  <a:cs typeface="+mn-cs"/>
                </a:rPr>
                <a:t>表达，用例也是重要的计划工具</a:t>
              </a:r>
            </a:p>
          </p:txBody>
        </p:sp>
        <p:sp>
          <p:nvSpPr>
            <p:cNvPr id="13" name="Rectangle 13"/>
            <p:cNvSpPr/>
            <p:nvPr/>
          </p:nvSpPr>
          <p:spPr>
            <a:xfrm>
              <a:off x="533400" y="2699385"/>
              <a:ext cx="7141845" cy="9525"/>
            </a:xfrm>
            <a:prstGeom prst="rect">
              <a:avLst/>
            </a:prstGeom>
            <a:solidFill>
              <a:srgbClr val="D9DFEA"/>
            </a:solidFill>
            <a:ln>
              <a:noFill/>
            </a:ln>
          </p:spPr>
        </p:sp>
        <p:sp>
          <p:nvSpPr>
            <p:cNvPr id="14" name="Rectangle 14"/>
            <p:cNvSpPr/>
            <p:nvPr/>
          </p:nvSpPr>
          <p:spPr>
            <a:xfrm>
              <a:off x="533400" y="2704148"/>
              <a:ext cx="7141845" cy="716280"/>
            </a:xfrm>
            <a:prstGeom prst="rect">
              <a:avLst/>
            </a:prstGeom>
            <a:solidFill>
              <a:srgbClr val="F4F6FB"/>
            </a:solidFill>
            <a:ln>
              <a:noFill/>
            </a:ln>
          </p:spPr>
        </p:sp>
        <p:sp>
          <p:nvSpPr>
            <p:cNvPr id="15" name="TextBox 15"/>
            <p:cNvSpPr txBox="1"/>
            <p:nvPr/>
          </p:nvSpPr>
          <p:spPr>
            <a:xfrm>
              <a:off x="634746" y="2836069"/>
              <a:ext cx="1457198" cy="532066"/>
            </a:xfrm>
            <a:prstGeom prst="rect">
              <a:avLst/>
            </a:prstGeom>
            <a:noFill/>
            <a:ln>
              <a:noFill/>
            </a:ln>
          </p:spPr>
          <p:txBody>
            <a:bodyPr wrap="none" lIns="0" tIns="0" rIns="0" bIns="0" anchor="t" anchorCtr="0">
              <a:spAutoFit/>
            </a:bodyPr>
            <a:lstStyle/>
            <a:p>
              <a:pPr algn="l">
                <a:lnSpc>
                  <a:spcPts val="1995"/>
                </a:lnSpc>
              </a:pPr>
              <a:r>
                <a:rPr lang="zh-CN" sz="1420" b="1" dirty="0">
                  <a:solidFill>
                    <a:srgbClr val="1F2937"/>
                  </a:solidFill>
                  <a:latin typeface="+mn-lt"/>
                  <a:ea typeface="+mn-ea"/>
                  <a:cs typeface="+mn-cs"/>
                </a:rPr>
                <a:t>使用基于构件的体</a:t>
              </a:r>
              <a:br/>
              <a:r>
                <a:rPr lang="zh-CN" sz="1420" b="1" dirty="0">
                  <a:solidFill>
                    <a:srgbClr val="1F2937"/>
                  </a:solidFill>
                  <a:latin typeface="+mn-lt"/>
                  <a:ea typeface="+mn-ea"/>
                  <a:cs typeface="+mn-cs"/>
                </a:rPr>
                <a:t>系结构</a:t>
              </a:r>
            </a:p>
          </p:txBody>
        </p:sp>
        <p:sp>
          <p:nvSpPr>
            <p:cNvPr id="16" name="TextBox 16"/>
            <p:cNvSpPr txBox="1"/>
            <p:nvPr/>
          </p:nvSpPr>
          <p:spPr>
            <a:xfrm>
              <a:off x="2491168" y="2836069"/>
              <a:ext cx="488365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体系结构先设计、实现并测试；接口定义良好以抵抗变化，可</a:t>
              </a:r>
              <a:br/>
              <a:r>
                <a:rPr lang="zh-CN" sz="1420" dirty="0">
                  <a:solidFill>
                    <a:srgbClr val="1F2937"/>
                  </a:solidFill>
                  <a:latin typeface="+mn-lt"/>
                  <a:ea typeface="+mn-ea"/>
                  <a:cs typeface="+mn-cs"/>
                </a:rPr>
                <a:t>复用已有构件，由最重要的用例导出</a:t>
              </a:r>
            </a:p>
          </p:txBody>
        </p:sp>
        <p:sp>
          <p:nvSpPr>
            <p:cNvPr id="17" name="Rectangle 17"/>
            <p:cNvSpPr/>
            <p:nvPr/>
          </p:nvSpPr>
          <p:spPr>
            <a:xfrm>
              <a:off x="533400" y="3415665"/>
              <a:ext cx="7141845" cy="9525"/>
            </a:xfrm>
            <a:prstGeom prst="rect">
              <a:avLst/>
            </a:prstGeom>
            <a:solidFill>
              <a:srgbClr val="D9DFEA"/>
            </a:solidFill>
            <a:ln>
              <a:noFill/>
            </a:ln>
          </p:spPr>
        </p:sp>
        <p:sp>
          <p:nvSpPr>
            <p:cNvPr id="18" name="TextBox 18"/>
            <p:cNvSpPr txBox="1"/>
            <p:nvPr/>
          </p:nvSpPr>
          <p:spPr>
            <a:xfrm>
              <a:off x="634746" y="3679031"/>
              <a:ext cx="97028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可视化建模</a:t>
              </a:r>
            </a:p>
          </p:txBody>
        </p:sp>
        <p:sp>
          <p:nvSpPr>
            <p:cNvPr id="19" name="TextBox 19"/>
            <p:cNvSpPr txBox="1"/>
            <p:nvPr/>
          </p:nvSpPr>
          <p:spPr>
            <a:xfrm>
              <a:off x="2491168" y="3552349"/>
              <a:ext cx="4784471"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用 UML 表达结构与行为，显示各元素如何配合，保持设计与</a:t>
              </a:r>
              <a:br/>
              <a:r>
                <a:rPr lang="zh-CN" sz="1420" dirty="0">
                  <a:solidFill>
                    <a:srgbClr val="1F2937"/>
                  </a:solidFill>
                  <a:latin typeface="+mn-lt"/>
                  <a:ea typeface="+mn-ea"/>
                  <a:cs typeface="+mn-cs"/>
                </a:rPr>
                <a:t>实现一致；抽象层次从代码提高到类和子系统</a:t>
              </a:r>
            </a:p>
          </p:txBody>
        </p:sp>
        <p:sp>
          <p:nvSpPr>
            <p:cNvPr id="20" name="Rectangle 20"/>
            <p:cNvSpPr/>
            <p:nvPr/>
          </p:nvSpPr>
          <p:spPr>
            <a:xfrm>
              <a:off x="533400" y="4132898"/>
              <a:ext cx="7141845" cy="9525"/>
            </a:xfrm>
            <a:prstGeom prst="rect">
              <a:avLst/>
            </a:prstGeom>
            <a:solidFill>
              <a:srgbClr val="D9DFEA"/>
            </a:solidFill>
            <a:ln>
              <a:noFill/>
            </a:ln>
          </p:spPr>
        </p:sp>
        <p:sp>
          <p:nvSpPr>
            <p:cNvPr id="21" name="Rectangle 21"/>
            <p:cNvSpPr/>
            <p:nvPr/>
          </p:nvSpPr>
          <p:spPr>
            <a:xfrm>
              <a:off x="533400" y="4137660"/>
              <a:ext cx="7141845" cy="716280"/>
            </a:xfrm>
            <a:prstGeom prst="rect">
              <a:avLst/>
            </a:prstGeom>
            <a:solidFill>
              <a:srgbClr val="F4F6FB"/>
            </a:solidFill>
            <a:ln>
              <a:noFill/>
            </a:ln>
          </p:spPr>
        </p:sp>
        <p:sp>
          <p:nvSpPr>
            <p:cNvPr id="22" name="TextBox 22"/>
            <p:cNvSpPr txBox="1"/>
            <p:nvPr/>
          </p:nvSpPr>
          <p:spPr>
            <a:xfrm>
              <a:off x="634746" y="4396264"/>
              <a:ext cx="116144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验证软件质量</a:t>
              </a:r>
            </a:p>
          </p:txBody>
        </p:sp>
        <p:sp>
          <p:nvSpPr>
            <p:cNvPr id="23" name="TextBox 23"/>
            <p:cNvSpPr txBox="1"/>
            <p:nvPr/>
          </p:nvSpPr>
          <p:spPr>
            <a:xfrm>
              <a:off x="2491168" y="4269581"/>
              <a:ext cx="488365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为每个关键场景建立测试；性能不达标和可靠性不达标一样糟</a:t>
              </a:r>
              <a:br/>
              <a:r>
                <a:rPr lang="zh-CN" sz="1420" dirty="0">
                  <a:solidFill>
                    <a:srgbClr val="1F2937"/>
                  </a:solidFill>
                  <a:latin typeface="+mn-lt"/>
                  <a:ea typeface="+mn-ea"/>
                  <a:cs typeface="+mn-cs"/>
                </a:rPr>
                <a:t>糕；每次迭代都测试并尽量自动化</a:t>
              </a:r>
            </a:p>
          </p:txBody>
        </p:sp>
        <p:sp>
          <p:nvSpPr>
            <p:cNvPr id="24" name="Rectangle 24"/>
            <p:cNvSpPr/>
            <p:nvPr/>
          </p:nvSpPr>
          <p:spPr>
            <a:xfrm>
              <a:off x="533400" y="4849178"/>
              <a:ext cx="7141845" cy="9525"/>
            </a:xfrm>
            <a:prstGeom prst="rect">
              <a:avLst/>
            </a:prstGeom>
            <a:solidFill>
              <a:srgbClr val="D9DFEA"/>
            </a:solidFill>
            <a:ln>
              <a:noFill/>
            </a:ln>
          </p:spPr>
        </p:sp>
        <p:sp>
          <p:nvSpPr>
            <p:cNvPr id="25" name="TextBox 25"/>
            <p:cNvSpPr txBox="1"/>
            <p:nvPr/>
          </p:nvSpPr>
          <p:spPr>
            <a:xfrm>
              <a:off x="634746" y="5112544"/>
              <a:ext cx="116144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控制软件变更</a:t>
              </a:r>
            </a:p>
          </p:txBody>
        </p:sp>
        <p:sp>
          <p:nvSpPr>
            <p:cNvPr id="26" name="TextBox 26"/>
            <p:cNvSpPr txBox="1"/>
            <p:nvPr/>
          </p:nvSpPr>
          <p:spPr>
            <a:xfrm>
              <a:off x="2491168" y="4985861"/>
              <a:ext cx="488365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控制、跟踪和监控变更；每个开发人员有隔离的工作空间；集</a:t>
              </a:r>
              <a:br/>
              <a:r>
                <a:rPr lang="zh-CN" sz="1420" dirty="0">
                  <a:solidFill>
                    <a:srgbClr val="1F2937"/>
                  </a:solidFill>
                  <a:latin typeface="+mn-lt"/>
                  <a:ea typeface="+mn-ea"/>
                  <a:cs typeface="+mn-cs"/>
                </a:rPr>
                <a:t>成与构建自动化</a:t>
              </a:r>
            </a:p>
          </p:txBody>
        </p:sp>
        <p:sp>
          <p:nvSpPr>
            <p:cNvPr id="27" name="Rectangle 27"/>
            <p:cNvSpPr/>
            <p:nvPr/>
          </p:nvSpPr>
          <p:spPr>
            <a:xfrm>
              <a:off x="533400" y="1524000"/>
              <a:ext cx="7141845" cy="4046220"/>
            </a:xfrm>
            <a:prstGeom prst="rect">
              <a:avLst/>
            </a:prstGeom>
            <a:noFill/>
            <a:ln w="14288">
              <a:solidFill>
                <a:srgbClr val="D9DFEA"/>
              </a:solidFill>
            </a:ln>
          </p:spPr>
        </p:sp>
        <p:sp>
          <p:nvSpPr>
            <p:cNvPr id="28" name="Rectangle 28"/>
            <p:cNvSpPr/>
            <p:nvPr/>
          </p:nvSpPr>
          <p:spPr>
            <a:xfrm>
              <a:off x="2385060" y="1524000"/>
              <a:ext cx="9525" cy="4046220"/>
            </a:xfrm>
            <a:prstGeom prst="rect">
              <a:avLst/>
            </a:prstGeom>
            <a:solidFill>
              <a:srgbClr val="D9DFEA"/>
            </a:solidFill>
            <a:ln>
              <a:noFill/>
            </a:ln>
          </p:spPr>
        </p:sp>
      </p:grpSp>
      <p:grpSp>
        <p:nvGrpSpPr>
          <p:cNvPr id="38" name="c2-flow-1"/>
          <p:cNvGrpSpPr/>
          <p:nvPr/>
        </p:nvGrpSpPr>
        <p:grpSpPr>
          <a:xfrm>
            <a:off x="8237220" y="1553528"/>
            <a:ext cx="3164205" cy="1821180"/>
            <a:chOff x="8237220" y="1553528"/>
            <a:chExt cx="3164205" cy="1821180"/>
          </a:xfrm>
        </p:grpSpPr>
        <p:sp>
          <p:nvSpPr>
            <p:cNvPr id="30" name="Rectangle 30"/>
            <p:cNvSpPr/>
            <p:nvPr/>
          </p:nvSpPr>
          <p:spPr>
            <a:xfrm>
              <a:off x="8237220" y="1553528"/>
              <a:ext cx="3164205" cy="411480"/>
            </a:xfrm>
            <a:prstGeom prst="roundRect">
              <a:avLst>
                <a:gd name="adj" fmla="val 23148"/>
              </a:avLst>
            </a:prstGeom>
            <a:solidFill>
              <a:srgbClr val="E7EDF3"/>
            </a:solidFill>
            <a:ln w="19050">
              <a:solidFill>
                <a:srgbClr val="334E68"/>
              </a:solidFill>
            </a:ln>
          </p:spPr>
        </p:sp>
        <p:sp>
          <p:nvSpPr>
            <p:cNvPr id="31" name="Rectangle 31"/>
            <p:cNvSpPr/>
            <p:nvPr/>
          </p:nvSpPr>
          <p:spPr>
            <a:xfrm>
              <a:off x="8237220" y="2023110"/>
              <a:ext cx="3164205" cy="411480"/>
            </a:xfrm>
            <a:prstGeom prst="roundRect">
              <a:avLst>
                <a:gd name="adj" fmla="val 23148"/>
              </a:avLst>
            </a:prstGeom>
            <a:solidFill>
              <a:srgbClr val="FFFFFF"/>
            </a:solidFill>
            <a:ln w="15240">
              <a:solidFill>
                <a:srgbClr val="334E68"/>
              </a:solidFill>
            </a:ln>
          </p:spPr>
        </p:sp>
        <p:sp>
          <p:nvSpPr>
            <p:cNvPr id="32" name="Rectangle 32"/>
            <p:cNvSpPr/>
            <p:nvPr/>
          </p:nvSpPr>
          <p:spPr>
            <a:xfrm>
              <a:off x="8237220" y="2493645"/>
              <a:ext cx="3164205" cy="411480"/>
            </a:xfrm>
            <a:prstGeom prst="roundRect">
              <a:avLst>
                <a:gd name="adj" fmla="val 23148"/>
              </a:avLst>
            </a:prstGeom>
            <a:solidFill>
              <a:srgbClr val="FFFFFF"/>
            </a:solidFill>
            <a:ln w="15240">
              <a:solidFill>
                <a:srgbClr val="334E68"/>
              </a:solidFill>
            </a:ln>
          </p:spPr>
        </p:sp>
        <p:sp>
          <p:nvSpPr>
            <p:cNvPr id="33" name="Rectangle 33"/>
            <p:cNvSpPr/>
            <p:nvPr/>
          </p:nvSpPr>
          <p:spPr>
            <a:xfrm>
              <a:off x="8237220" y="2963228"/>
              <a:ext cx="3164205" cy="411480"/>
            </a:xfrm>
            <a:prstGeom prst="roundRect">
              <a:avLst>
                <a:gd name="adj" fmla="val 23148"/>
              </a:avLst>
            </a:prstGeom>
            <a:solidFill>
              <a:srgbClr val="FFFFFF"/>
            </a:solidFill>
            <a:ln w="15240">
              <a:solidFill>
                <a:srgbClr val="334E68"/>
              </a:solidFill>
            </a:ln>
          </p:spPr>
        </p:sp>
        <p:sp>
          <p:nvSpPr>
            <p:cNvPr id="34" name="TextBox 34"/>
            <p:cNvSpPr txBox="1"/>
            <p:nvPr/>
          </p:nvSpPr>
          <p:spPr>
            <a:xfrm>
              <a:off x="9409367" y="1675448"/>
              <a:ext cx="819912"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应用专用层</a:t>
              </a:r>
            </a:p>
          </p:txBody>
        </p:sp>
        <p:sp>
          <p:nvSpPr>
            <p:cNvPr id="35" name="TextBox 35"/>
            <p:cNvSpPr txBox="1"/>
            <p:nvPr/>
          </p:nvSpPr>
          <p:spPr>
            <a:xfrm>
              <a:off x="9409367" y="2145030"/>
              <a:ext cx="819912"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业务专用层</a:t>
              </a:r>
            </a:p>
          </p:txBody>
        </p:sp>
        <p:sp>
          <p:nvSpPr>
            <p:cNvPr id="36" name="TextBox 36"/>
            <p:cNvSpPr txBox="1"/>
            <p:nvPr/>
          </p:nvSpPr>
          <p:spPr>
            <a:xfrm>
              <a:off x="9570910" y="2615565"/>
              <a:ext cx="496824"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中间件</a:t>
              </a:r>
            </a:p>
          </p:txBody>
        </p:sp>
        <p:sp>
          <p:nvSpPr>
            <p:cNvPr id="37" name="TextBox 37"/>
            <p:cNvSpPr txBox="1"/>
            <p:nvPr/>
          </p:nvSpPr>
          <p:spPr>
            <a:xfrm>
              <a:off x="9490139" y="3085148"/>
              <a:ext cx="658368"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系统软件</a:t>
              </a:r>
            </a:p>
          </p:txBody>
        </p:sp>
      </p:grpSp>
      <p:grpSp>
        <p:nvGrpSpPr>
          <p:cNvPr id="45" name="c2-callout-2"/>
          <p:cNvGrpSpPr/>
          <p:nvPr/>
        </p:nvGrpSpPr>
        <p:grpSpPr>
          <a:xfrm>
            <a:off x="7980045" y="3584258"/>
            <a:ext cx="3678555" cy="1985962"/>
            <a:chOff x="7980045" y="3584258"/>
            <a:chExt cx="3678555" cy="1985962"/>
          </a:xfrm>
        </p:grpSpPr>
        <p:sp>
          <p:nvSpPr>
            <p:cNvPr id="39" name="Rectangle 39"/>
            <p:cNvSpPr/>
            <p:nvPr/>
          </p:nvSpPr>
          <p:spPr>
            <a:xfrm>
              <a:off x="7980045" y="3584258"/>
              <a:ext cx="3678555" cy="1985962"/>
            </a:xfrm>
            <a:prstGeom prst="roundRect">
              <a:avLst>
                <a:gd name="adj" fmla="val 5755"/>
              </a:avLst>
            </a:prstGeom>
            <a:solidFill>
              <a:srgbClr val="F4F6FB"/>
            </a:solidFill>
            <a:ln>
              <a:noFill/>
            </a:ln>
          </p:spPr>
        </p:sp>
        <p:grpSp>
          <p:nvGrpSpPr>
            <p:cNvPr id="43" name="Group 43"/>
            <p:cNvGrpSpPr/>
            <p:nvPr/>
          </p:nvGrpSpPr>
          <p:grpSpPr>
            <a:xfrm>
              <a:off x="8184833" y="4477703"/>
              <a:ext cx="200026" cy="200026"/>
              <a:chOff x="8184833" y="4477703"/>
              <a:chExt cx="200026" cy="200026"/>
            </a:xfrm>
          </p:grpSpPr>
          <p:sp>
            <p:nvSpPr>
              <p:cNvPr id="40" name="Freeform 40"/>
              <p:cNvSpPr/>
              <p:nvPr/>
            </p:nvSpPr>
            <p:spPr>
              <a:xfrm>
                <a:off x="8184833" y="447770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1" name="Freeform 41"/>
              <p:cNvSpPr/>
              <p:nvPr/>
            </p:nvSpPr>
            <p:spPr>
              <a:xfrm>
                <a:off x="8284845" y="454437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2" name="Freeform 42"/>
              <p:cNvSpPr/>
              <p:nvPr/>
            </p:nvSpPr>
            <p:spPr>
              <a:xfrm>
                <a:off x="8273733" y="457771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4" name="TextBox 44"/>
            <p:cNvSpPr txBox="1"/>
            <p:nvPr/>
          </p:nvSpPr>
          <p:spPr>
            <a:xfrm>
              <a:off x="8487156" y="4215289"/>
              <a:ext cx="2719578" cy="80448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分层的基于构件的体系结构：越往</a:t>
              </a:r>
              <a:br/>
              <a:r>
                <a:rPr lang="zh-CN" sz="1420" dirty="0">
                  <a:solidFill>
                    <a:srgbClr val="1F2937"/>
                  </a:solidFill>
                  <a:latin typeface="+mn-lt"/>
                  <a:ea typeface="+mn-ea"/>
                  <a:cs typeface="+mn-cs"/>
                </a:rPr>
                <a:t>下越通用，越往上越贴近具体应</a:t>
              </a:r>
              <a:br/>
              <a:r>
                <a:rPr lang="zh-CN" sz="1420" dirty="0">
                  <a:solidFill>
                    <a:srgbClr val="1F2937"/>
                  </a:solidFill>
                  <a:latin typeface="+mn-lt"/>
                  <a:ea typeface="+mn-ea"/>
                  <a:cs typeface="+mn-cs"/>
                </a:rPr>
                <a:t>用。</a:t>
              </a:r>
            </a:p>
          </p:txBody>
        </p:sp>
      </p:grpSp>
      <p:grpSp>
        <p:nvGrpSpPr>
          <p:cNvPr id="52" name="takeaway"/>
          <p:cNvGrpSpPr/>
          <p:nvPr/>
        </p:nvGrpSpPr>
        <p:grpSpPr>
          <a:xfrm>
            <a:off x="533400" y="5858828"/>
            <a:ext cx="11125200" cy="503872"/>
            <a:chOff x="533400" y="5858828"/>
            <a:chExt cx="11125200" cy="503872"/>
          </a:xfrm>
        </p:grpSpPr>
        <p:sp>
          <p:nvSpPr>
            <p:cNvPr id="46" name="Rectangle 46"/>
            <p:cNvSpPr/>
            <p:nvPr/>
          </p:nvSpPr>
          <p:spPr>
            <a:xfrm>
              <a:off x="533400" y="5858828"/>
              <a:ext cx="11125200" cy="503872"/>
            </a:xfrm>
            <a:prstGeom prst="roundRect">
              <a:avLst>
                <a:gd name="adj" fmla="val 22684"/>
              </a:avLst>
            </a:prstGeom>
            <a:solidFill>
              <a:srgbClr val="FDECEA"/>
            </a:solidFill>
            <a:ln>
              <a:noFill/>
            </a:ln>
          </p:spPr>
        </p:sp>
        <p:grpSp>
          <p:nvGrpSpPr>
            <p:cNvPr id="50" name="Group 50"/>
            <p:cNvGrpSpPr/>
            <p:nvPr/>
          </p:nvGrpSpPr>
          <p:grpSpPr>
            <a:xfrm>
              <a:off x="726129" y="6007536"/>
              <a:ext cx="224134" cy="192560"/>
              <a:chOff x="726129" y="6007536"/>
              <a:chExt cx="224134" cy="192560"/>
            </a:xfrm>
          </p:grpSpPr>
          <p:sp>
            <p:nvSpPr>
              <p:cNvPr id="47" name="Freeform 47"/>
              <p:cNvSpPr/>
              <p:nvPr/>
            </p:nvSpPr>
            <p:spPr>
              <a:xfrm>
                <a:off x="838200" y="607790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48" name="Freeform 48"/>
              <p:cNvSpPr/>
              <p:nvPr/>
            </p:nvSpPr>
            <p:spPr>
              <a:xfrm>
                <a:off x="726129" y="600753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49" name="Freeform 49"/>
              <p:cNvSpPr/>
              <p:nvPr/>
            </p:nvSpPr>
            <p:spPr>
              <a:xfrm>
                <a:off x="838200" y="615569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51" name="TextBox 51"/>
            <p:cNvSpPr txBox="1"/>
            <p:nvPr/>
          </p:nvSpPr>
          <p:spPr>
            <a:xfrm>
              <a:off x="1040511" y="6011704"/>
              <a:ext cx="9218851" cy="278702"/>
            </a:xfrm>
            <a:prstGeom prst="rect">
              <a:avLst/>
            </a:prstGeom>
            <a:noFill/>
            <a:ln>
              <a:noFill/>
            </a:ln>
          </p:spPr>
          <p:txBody>
            <a:bodyPr wrap="none" lIns="0" tIns="0" rIns="0" bIns="0" anchor="t" anchorCtr="0">
              <a:spAutoFit/>
            </a:bodyPr>
            <a:lstStyle/>
            <a:p>
              <a:pPr algn="l"/>
              <a:r>
                <a:rPr lang="zh-CN" sz="1420" dirty="0">
                  <a:solidFill>
                    <a:srgbClr val="B42318"/>
                  </a:solidFill>
                  <a:latin typeface="+mn-lt"/>
                  <a:ea typeface="+mn-ea"/>
                  <a:cs typeface="+mn-cs"/>
                </a:rPr>
                <a:t>软件问题在部署之后才发现和修复，代价是开发期间的 100 到 1000 倍，这是“每次迭代都验证质量”的理由。</a:t>
              </a:r>
            </a:p>
          </p:txBody>
        </p:sp>
      </p:grpSp>
      <p:grpSp>
        <p:nvGrpSpPr>
          <p:cNvPr id="55" name="footer"/>
          <p:cNvGrpSpPr/>
          <p:nvPr/>
        </p:nvGrpSpPr>
        <p:grpSpPr>
          <a:xfrm>
            <a:off x="528447" y="6581299"/>
            <a:ext cx="11135106" cy="190690"/>
            <a:chOff x="528447" y="6581299"/>
            <a:chExt cx="11135106" cy="190690"/>
          </a:xfrm>
        </p:grpSpPr>
        <p:sp>
          <p:nvSpPr>
            <p:cNvPr id="53" name="TextBox 53"/>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54" name="TextBox 5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45</a:t>
              </a:r>
            </a:p>
          </p:txBody>
        </p:sp>
      </p:grpSp>
    </p:spTree>
  </p:cSld>
  <p:clrMapOvr>
    <a:masterClrMapping/>
  </p:clrMapOvr>
  <p:transition xmlns:p14="http://schemas.microsoft.com/office/powerpoint/2010/main" p14:dur="400">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90900" cy="909257"/>
            <a:chOff x="520446" y="342900"/>
            <a:chExt cx="7290900" cy="909257"/>
          </a:xfrm>
        </p:grpSpPr>
        <p:sp>
          <p:nvSpPr>
            <p:cNvPr id="2" name="Rectangle 2"/>
            <p:cNvSpPr/>
            <p:nvPr/>
          </p:nvSpPr>
          <p:spPr>
            <a:xfrm>
              <a:off x="533400" y="342900"/>
              <a:ext cx="1994535" cy="266700"/>
            </a:xfrm>
            <a:prstGeom prst="roundRect">
              <a:avLst>
                <a:gd name="adj" fmla="val 50000"/>
              </a:avLst>
            </a:prstGeom>
            <a:solidFill>
              <a:srgbClr val="E7EDF3"/>
            </a:solidFill>
            <a:ln>
              <a:noFill/>
            </a:ln>
          </p:spPr>
        </p:sp>
        <p:sp>
          <p:nvSpPr>
            <p:cNvPr id="3" name="TextBox 3"/>
            <p:cNvSpPr txBox="1"/>
            <p:nvPr/>
          </p:nvSpPr>
          <p:spPr>
            <a:xfrm>
              <a:off x="595297" y="407194"/>
              <a:ext cx="187074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RUP 统一过程</a:t>
              </a:r>
            </a:p>
          </p:txBody>
        </p:sp>
        <p:sp>
          <p:nvSpPr>
            <p:cNvPr id="4" name="TextBox 4"/>
            <p:cNvSpPr txBox="1"/>
            <p:nvPr/>
          </p:nvSpPr>
          <p:spPr>
            <a:xfrm>
              <a:off x="520446" y="753428"/>
              <a:ext cx="729090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RUP 的二维生命周期：横轴是时间，纵轴是内容</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75" name="c1-table-1"/>
          <p:cNvGrpSpPr/>
          <p:nvPr/>
        </p:nvGrpSpPr>
        <p:grpSpPr>
          <a:xfrm>
            <a:off x="533400" y="1524000"/>
            <a:ext cx="11125200" cy="4000500"/>
            <a:chOff x="533400" y="1524000"/>
            <a:chExt cx="11125200" cy="4000500"/>
          </a:xfrm>
        </p:grpSpPr>
        <p:sp>
          <p:nvSpPr>
            <p:cNvPr id="7" name="Rectangle 7"/>
            <p:cNvSpPr/>
            <p:nvPr/>
          </p:nvSpPr>
          <p:spPr>
            <a:xfrm>
              <a:off x="533400" y="1524000"/>
              <a:ext cx="11125200" cy="400050"/>
            </a:xfrm>
            <a:prstGeom prst="rect">
              <a:avLst/>
            </a:prstGeom>
            <a:solidFill>
              <a:srgbClr val="334E68"/>
            </a:solidFill>
            <a:ln>
              <a:noFill/>
            </a:ln>
          </p:spPr>
        </p:sp>
        <p:sp>
          <p:nvSpPr>
            <p:cNvPr id="8" name="TextBox 8"/>
            <p:cNvSpPr txBox="1"/>
            <p:nvPr/>
          </p:nvSpPr>
          <p:spPr>
            <a:xfrm>
              <a:off x="1636928" y="1645444"/>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工作流</a:t>
              </a:r>
            </a:p>
          </p:txBody>
        </p:sp>
        <p:sp>
          <p:nvSpPr>
            <p:cNvPr id="9" name="TextBox 9"/>
            <p:cNvSpPr txBox="1"/>
            <p:nvPr/>
          </p:nvSpPr>
          <p:spPr>
            <a:xfrm>
              <a:off x="3725685" y="1645444"/>
              <a:ext cx="106969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初始 Inception</a:t>
              </a:r>
            </a:p>
          </p:txBody>
        </p:sp>
        <p:sp>
          <p:nvSpPr>
            <p:cNvPr id="10" name="TextBox 10"/>
            <p:cNvSpPr txBox="1"/>
            <p:nvPr/>
          </p:nvSpPr>
          <p:spPr>
            <a:xfrm>
              <a:off x="5752192" y="1645444"/>
              <a:ext cx="124387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细化 Elaboration</a:t>
              </a:r>
            </a:p>
          </p:txBody>
        </p:sp>
        <p:sp>
          <p:nvSpPr>
            <p:cNvPr id="11" name="TextBox 11"/>
            <p:cNvSpPr txBox="1"/>
            <p:nvPr/>
          </p:nvSpPr>
          <p:spPr>
            <a:xfrm>
              <a:off x="7802364" y="1645444"/>
              <a:ext cx="1370727"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构造 Construction</a:t>
              </a:r>
            </a:p>
          </p:txBody>
        </p:sp>
        <p:sp>
          <p:nvSpPr>
            <p:cNvPr id="12" name="TextBox 12"/>
            <p:cNvSpPr txBox="1"/>
            <p:nvPr/>
          </p:nvSpPr>
          <p:spPr>
            <a:xfrm>
              <a:off x="10022931" y="1645444"/>
              <a:ext cx="115678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移交 Transition</a:t>
              </a:r>
            </a:p>
          </p:txBody>
        </p:sp>
        <p:sp>
          <p:nvSpPr>
            <p:cNvPr id="13" name="TextBox 13"/>
            <p:cNvSpPr txBox="1"/>
            <p:nvPr/>
          </p:nvSpPr>
          <p:spPr>
            <a:xfrm>
              <a:off x="630555" y="2045494"/>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业务建模</a:t>
              </a:r>
            </a:p>
          </p:txBody>
        </p:sp>
        <p:sp>
          <p:nvSpPr>
            <p:cNvPr id="14" name="TextBox 14"/>
            <p:cNvSpPr txBox="1"/>
            <p:nvPr/>
          </p:nvSpPr>
          <p:spPr>
            <a:xfrm>
              <a:off x="4111440" y="2045494"/>
              <a:ext cx="298186"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15" name="TextBox 15"/>
            <p:cNvSpPr txBox="1"/>
            <p:nvPr/>
          </p:nvSpPr>
          <p:spPr>
            <a:xfrm>
              <a:off x="6266500" y="2045494"/>
              <a:ext cx="215260"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16" name="TextBox 16"/>
            <p:cNvSpPr txBox="1"/>
            <p:nvPr/>
          </p:nvSpPr>
          <p:spPr>
            <a:xfrm>
              <a:off x="8440550" y="20454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7" name="TextBox 17"/>
            <p:cNvSpPr txBox="1"/>
            <p:nvPr/>
          </p:nvSpPr>
          <p:spPr>
            <a:xfrm>
              <a:off x="10554147" y="20454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8" name="Rectangle 18"/>
            <p:cNvSpPr/>
            <p:nvPr/>
          </p:nvSpPr>
          <p:spPr>
            <a:xfrm>
              <a:off x="533400" y="2319338"/>
              <a:ext cx="11125200" cy="9525"/>
            </a:xfrm>
            <a:prstGeom prst="rect">
              <a:avLst/>
            </a:prstGeom>
            <a:solidFill>
              <a:srgbClr val="D9DFEA"/>
            </a:solidFill>
            <a:ln>
              <a:noFill/>
            </a:ln>
          </p:spPr>
        </p:sp>
        <p:sp>
          <p:nvSpPr>
            <p:cNvPr id="19" name="Rectangle 19"/>
            <p:cNvSpPr/>
            <p:nvPr/>
          </p:nvSpPr>
          <p:spPr>
            <a:xfrm>
              <a:off x="533400" y="2324100"/>
              <a:ext cx="11125200" cy="400050"/>
            </a:xfrm>
            <a:prstGeom prst="rect">
              <a:avLst/>
            </a:prstGeom>
            <a:solidFill>
              <a:srgbClr val="F4F6FB"/>
            </a:solidFill>
            <a:ln>
              <a:noFill/>
            </a:ln>
          </p:spPr>
        </p:sp>
        <p:sp>
          <p:nvSpPr>
            <p:cNvPr id="20" name="TextBox 20"/>
            <p:cNvSpPr txBox="1"/>
            <p:nvPr/>
          </p:nvSpPr>
          <p:spPr>
            <a:xfrm>
              <a:off x="630555" y="2445544"/>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需求</a:t>
              </a:r>
            </a:p>
          </p:txBody>
        </p:sp>
        <p:sp>
          <p:nvSpPr>
            <p:cNvPr id="21" name="TextBox 21"/>
            <p:cNvSpPr txBox="1"/>
            <p:nvPr/>
          </p:nvSpPr>
          <p:spPr>
            <a:xfrm>
              <a:off x="4152903" y="2445544"/>
              <a:ext cx="215260"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22" name="TextBox 22"/>
            <p:cNvSpPr txBox="1"/>
            <p:nvPr/>
          </p:nvSpPr>
          <p:spPr>
            <a:xfrm>
              <a:off x="6225037" y="2445544"/>
              <a:ext cx="298186"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23" name="TextBox 23"/>
            <p:cNvSpPr txBox="1"/>
            <p:nvPr/>
          </p:nvSpPr>
          <p:spPr>
            <a:xfrm>
              <a:off x="8440550"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24" name="TextBox 24"/>
            <p:cNvSpPr txBox="1"/>
            <p:nvPr/>
          </p:nvSpPr>
          <p:spPr>
            <a:xfrm>
              <a:off x="10554147"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25" name="Rectangle 25"/>
            <p:cNvSpPr/>
            <p:nvPr/>
          </p:nvSpPr>
          <p:spPr>
            <a:xfrm>
              <a:off x="533400" y="2719388"/>
              <a:ext cx="11125200" cy="9525"/>
            </a:xfrm>
            <a:prstGeom prst="rect">
              <a:avLst/>
            </a:prstGeom>
            <a:solidFill>
              <a:srgbClr val="D9DFEA"/>
            </a:solidFill>
            <a:ln>
              <a:noFill/>
            </a:ln>
          </p:spPr>
        </p:sp>
        <p:sp>
          <p:nvSpPr>
            <p:cNvPr id="26" name="TextBox 26"/>
            <p:cNvSpPr txBox="1"/>
            <p:nvPr/>
          </p:nvSpPr>
          <p:spPr>
            <a:xfrm>
              <a:off x="630555" y="2845594"/>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分析与设计</a:t>
              </a:r>
            </a:p>
          </p:txBody>
        </p:sp>
        <p:sp>
          <p:nvSpPr>
            <p:cNvPr id="27" name="TextBox 27"/>
            <p:cNvSpPr txBox="1"/>
            <p:nvPr/>
          </p:nvSpPr>
          <p:spPr>
            <a:xfrm>
              <a:off x="4213355"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28" name="TextBox 28"/>
            <p:cNvSpPr txBox="1"/>
            <p:nvPr/>
          </p:nvSpPr>
          <p:spPr>
            <a:xfrm>
              <a:off x="6225037" y="2845594"/>
              <a:ext cx="298186"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29" name="TextBox 29"/>
            <p:cNvSpPr txBox="1"/>
            <p:nvPr/>
          </p:nvSpPr>
          <p:spPr>
            <a:xfrm>
              <a:off x="8380098" y="2845594"/>
              <a:ext cx="215260"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30" name="TextBox 30"/>
            <p:cNvSpPr txBox="1"/>
            <p:nvPr/>
          </p:nvSpPr>
          <p:spPr>
            <a:xfrm>
              <a:off x="10554147"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31" name="Rectangle 31"/>
            <p:cNvSpPr/>
            <p:nvPr/>
          </p:nvSpPr>
          <p:spPr>
            <a:xfrm>
              <a:off x="533400" y="3119438"/>
              <a:ext cx="11125200" cy="9525"/>
            </a:xfrm>
            <a:prstGeom prst="rect">
              <a:avLst/>
            </a:prstGeom>
            <a:solidFill>
              <a:srgbClr val="D9DFEA"/>
            </a:solidFill>
            <a:ln>
              <a:noFill/>
            </a:ln>
          </p:spPr>
        </p:sp>
        <p:sp>
          <p:nvSpPr>
            <p:cNvPr id="32" name="Rectangle 32"/>
            <p:cNvSpPr/>
            <p:nvPr/>
          </p:nvSpPr>
          <p:spPr>
            <a:xfrm>
              <a:off x="533400" y="3124200"/>
              <a:ext cx="11125200" cy="400050"/>
            </a:xfrm>
            <a:prstGeom prst="rect">
              <a:avLst/>
            </a:prstGeom>
            <a:solidFill>
              <a:srgbClr val="F4F6FB"/>
            </a:solidFill>
            <a:ln>
              <a:noFill/>
            </a:ln>
          </p:spPr>
        </p:sp>
        <p:sp>
          <p:nvSpPr>
            <p:cNvPr id="33" name="TextBox 33"/>
            <p:cNvSpPr txBox="1"/>
            <p:nvPr/>
          </p:nvSpPr>
          <p:spPr>
            <a:xfrm>
              <a:off x="630555" y="3245644"/>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实现</a:t>
              </a:r>
            </a:p>
          </p:txBody>
        </p:sp>
        <p:sp>
          <p:nvSpPr>
            <p:cNvPr id="34" name="TextBox 34"/>
            <p:cNvSpPr txBox="1"/>
            <p:nvPr/>
          </p:nvSpPr>
          <p:spPr>
            <a:xfrm>
              <a:off x="4213355"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35" name="TextBox 35"/>
            <p:cNvSpPr txBox="1"/>
            <p:nvPr/>
          </p:nvSpPr>
          <p:spPr>
            <a:xfrm>
              <a:off x="6326952"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36" name="TextBox 36"/>
            <p:cNvSpPr txBox="1"/>
            <p:nvPr/>
          </p:nvSpPr>
          <p:spPr>
            <a:xfrm>
              <a:off x="8338635" y="3245644"/>
              <a:ext cx="298186"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37" name="TextBox 37"/>
            <p:cNvSpPr txBox="1"/>
            <p:nvPr/>
          </p:nvSpPr>
          <p:spPr>
            <a:xfrm>
              <a:off x="10554147"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38" name="Rectangle 38"/>
            <p:cNvSpPr/>
            <p:nvPr/>
          </p:nvSpPr>
          <p:spPr>
            <a:xfrm>
              <a:off x="533400" y="3519488"/>
              <a:ext cx="11125200" cy="9525"/>
            </a:xfrm>
            <a:prstGeom prst="rect">
              <a:avLst/>
            </a:prstGeom>
            <a:solidFill>
              <a:srgbClr val="D9DFEA"/>
            </a:solidFill>
            <a:ln>
              <a:noFill/>
            </a:ln>
          </p:spPr>
        </p:sp>
        <p:sp>
          <p:nvSpPr>
            <p:cNvPr id="39" name="TextBox 39"/>
            <p:cNvSpPr txBox="1"/>
            <p:nvPr/>
          </p:nvSpPr>
          <p:spPr>
            <a:xfrm>
              <a:off x="630555" y="3645694"/>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测试</a:t>
              </a:r>
            </a:p>
          </p:txBody>
        </p:sp>
        <p:sp>
          <p:nvSpPr>
            <p:cNvPr id="40" name="TextBox 40"/>
            <p:cNvSpPr txBox="1"/>
            <p:nvPr/>
          </p:nvSpPr>
          <p:spPr>
            <a:xfrm>
              <a:off x="4213355" y="36456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1" name="TextBox 41"/>
            <p:cNvSpPr txBox="1"/>
            <p:nvPr/>
          </p:nvSpPr>
          <p:spPr>
            <a:xfrm>
              <a:off x="6326952" y="36456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2" name="TextBox 42"/>
            <p:cNvSpPr txBox="1"/>
            <p:nvPr/>
          </p:nvSpPr>
          <p:spPr>
            <a:xfrm>
              <a:off x="8338635" y="3645694"/>
              <a:ext cx="298186"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43" name="TextBox 43"/>
            <p:cNvSpPr txBox="1"/>
            <p:nvPr/>
          </p:nvSpPr>
          <p:spPr>
            <a:xfrm>
              <a:off x="10493695" y="3645694"/>
              <a:ext cx="215260"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44" name="Rectangle 44"/>
            <p:cNvSpPr/>
            <p:nvPr/>
          </p:nvSpPr>
          <p:spPr>
            <a:xfrm>
              <a:off x="533400" y="3919538"/>
              <a:ext cx="11125200" cy="9525"/>
            </a:xfrm>
            <a:prstGeom prst="rect">
              <a:avLst/>
            </a:prstGeom>
            <a:solidFill>
              <a:srgbClr val="D9DFEA"/>
            </a:solidFill>
            <a:ln>
              <a:noFill/>
            </a:ln>
          </p:spPr>
        </p:sp>
        <p:sp>
          <p:nvSpPr>
            <p:cNvPr id="45" name="Rectangle 45"/>
            <p:cNvSpPr/>
            <p:nvPr/>
          </p:nvSpPr>
          <p:spPr>
            <a:xfrm>
              <a:off x="533400" y="3924300"/>
              <a:ext cx="11125200" cy="400050"/>
            </a:xfrm>
            <a:prstGeom prst="rect">
              <a:avLst/>
            </a:prstGeom>
            <a:solidFill>
              <a:srgbClr val="F4F6FB"/>
            </a:solidFill>
            <a:ln>
              <a:noFill/>
            </a:ln>
          </p:spPr>
        </p:sp>
        <p:sp>
          <p:nvSpPr>
            <p:cNvPr id="46" name="TextBox 46"/>
            <p:cNvSpPr txBox="1"/>
            <p:nvPr/>
          </p:nvSpPr>
          <p:spPr>
            <a:xfrm>
              <a:off x="630555" y="4045744"/>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部署</a:t>
              </a:r>
            </a:p>
          </p:txBody>
        </p:sp>
        <p:sp>
          <p:nvSpPr>
            <p:cNvPr id="47" name="TextBox 47"/>
            <p:cNvSpPr txBox="1"/>
            <p:nvPr/>
          </p:nvSpPr>
          <p:spPr>
            <a:xfrm>
              <a:off x="4213355"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8" name="TextBox 48"/>
            <p:cNvSpPr txBox="1"/>
            <p:nvPr/>
          </p:nvSpPr>
          <p:spPr>
            <a:xfrm>
              <a:off x="6326952"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9" name="TextBox 49"/>
            <p:cNvSpPr txBox="1"/>
            <p:nvPr/>
          </p:nvSpPr>
          <p:spPr>
            <a:xfrm>
              <a:off x="8440550"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50" name="TextBox 50"/>
            <p:cNvSpPr txBox="1"/>
            <p:nvPr/>
          </p:nvSpPr>
          <p:spPr>
            <a:xfrm>
              <a:off x="10452232" y="4045744"/>
              <a:ext cx="298186"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51" name="Rectangle 51"/>
            <p:cNvSpPr/>
            <p:nvPr/>
          </p:nvSpPr>
          <p:spPr>
            <a:xfrm>
              <a:off x="533400" y="4319588"/>
              <a:ext cx="11125200" cy="9525"/>
            </a:xfrm>
            <a:prstGeom prst="rect">
              <a:avLst/>
            </a:prstGeom>
            <a:solidFill>
              <a:srgbClr val="D9DFEA"/>
            </a:solidFill>
            <a:ln>
              <a:noFill/>
            </a:ln>
          </p:spPr>
        </p:sp>
        <p:sp>
          <p:nvSpPr>
            <p:cNvPr id="52" name="TextBox 52"/>
            <p:cNvSpPr txBox="1"/>
            <p:nvPr/>
          </p:nvSpPr>
          <p:spPr>
            <a:xfrm>
              <a:off x="630555" y="4445794"/>
              <a:ext cx="1066851"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配置与变更管理</a:t>
              </a:r>
            </a:p>
          </p:txBody>
        </p:sp>
        <p:sp>
          <p:nvSpPr>
            <p:cNvPr id="53" name="TextBox 53"/>
            <p:cNvSpPr txBox="1"/>
            <p:nvPr/>
          </p:nvSpPr>
          <p:spPr>
            <a:xfrm>
              <a:off x="4213355" y="44457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54" name="TextBox 54"/>
            <p:cNvSpPr txBox="1"/>
            <p:nvPr/>
          </p:nvSpPr>
          <p:spPr>
            <a:xfrm>
              <a:off x="6266500" y="4445794"/>
              <a:ext cx="215260"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55" name="TextBox 55"/>
            <p:cNvSpPr txBox="1"/>
            <p:nvPr/>
          </p:nvSpPr>
          <p:spPr>
            <a:xfrm>
              <a:off x="8338635" y="4445794"/>
              <a:ext cx="298186"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56" name="TextBox 56"/>
            <p:cNvSpPr txBox="1"/>
            <p:nvPr/>
          </p:nvSpPr>
          <p:spPr>
            <a:xfrm>
              <a:off x="10493695" y="4445794"/>
              <a:ext cx="215260"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57" name="Rectangle 57"/>
            <p:cNvSpPr/>
            <p:nvPr/>
          </p:nvSpPr>
          <p:spPr>
            <a:xfrm>
              <a:off x="533400" y="4719638"/>
              <a:ext cx="11125200" cy="9525"/>
            </a:xfrm>
            <a:prstGeom prst="rect">
              <a:avLst/>
            </a:prstGeom>
            <a:solidFill>
              <a:srgbClr val="D9DFEA"/>
            </a:solidFill>
            <a:ln>
              <a:noFill/>
            </a:ln>
          </p:spPr>
        </p:sp>
        <p:sp>
          <p:nvSpPr>
            <p:cNvPr id="58" name="Rectangle 58"/>
            <p:cNvSpPr/>
            <p:nvPr/>
          </p:nvSpPr>
          <p:spPr>
            <a:xfrm>
              <a:off x="533400" y="4724400"/>
              <a:ext cx="11125200" cy="400050"/>
            </a:xfrm>
            <a:prstGeom prst="rect">
              <a:avLst/>
            </a:prstGeom>
            <a:solidFill>
              <a:srgbClr val="F4F6FB"/>
            </a:solidFill>
            <a:ln>
              <a:noFill/>
            </a:ln>
          </p:spPr>
        </p:sp>
        <p:sp>
          <p:nvSpPr>
            <p:cNvPr id="59" name="TextBox 59"/>
            <p:cNvSpPr txBox="1"/>
            <p:nvPr/>
          </p:nvSpPr>
          <p:spPr>
            <a:xfrm>
              <a:off x="630555" y="4845844"/>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项目管理</a:t>
              </a:r>
            </a:p>
          </p:txBody>
        </p:sp>
        <p:sp>
          <p:nvSpPr>
            <p:cNvPr id="60" name="TextBox 60"/>
            <p:cNvSpPr txBox="1"/>
            <p:nvPr/>
          </p:nvSpPr>
          <p:spPr>
            <a:xfrm>
              <a:off x="4152903" y="4845844"/>
              <a:ext cx="215260"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61" name="TextBox 61"/>
            <p:cNvSpPr txBox="1"/>
            <p:nvPr/>
          </p:nvSpPr>
          <p:spPr>
            <a:xfrm>
              <a:off x="6266500" y="4845844"/>
              <a:ext cx="215260"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62" name="TextBox 62"/>
            <p:cNvSpPr txBox="1"/>
            <p:nvPr/>
          </p:nvSpPr>
          <p:spPr>
            <a:xfrm>
              <a:off x="8380098" y="4845844"/>
              <a:ext cx="215260"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63" name="TextBox 63"/>
            <p:cNvSpPr txBox="1"/>
            <p:nvPr/>
          </p:nvSpPr>
          <p:spPr>
            <a:xfrm>
              <a:off x="10493695" y="4845844"/>
              <a:ext cx="215260"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64" name="Rectangle 64"/>
            <p:cNvSpPr/>
            <p:nvPr/>
          </p:nvSpPr>
          <p:spPr>
            <a:xfrm>
              <a:off x="533400" y="5119688"/>
              <a:ext cx="11125200" cy="9525"/>
            </a:xfrm>
            <a:prstGeom prst="rect">
              <a:avLst/>
            </a:prstGeom>
            <a:solidFill>
              <a:srgbClr val="D9DFEA"/>
            </a:solidFill>
            <a:ln>
              <a:noFill/>
            </a:ln>
          </p:spPr>
        </p:sp>
        <p:sp>
          <p:nvSpPr>
            <p:cNvPr id="65" name="TextBox 65"/>
            <p:cNvSpPr txBox="1"/>
            <p:nvPr/>
          </p:nvSpPr>
          <p:spPr>
            <a:xfrm>
              <a:off x="630555" y="5245894"/>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环境</a:t>
              </a:r>
            </a:p>
          </p:txBody>
        </p:sp>
        <p:sp>
          <p:nvSpPr>
            <p:cNvPr id="66" name="TextBox 66"/>
            <p:cNvSpPr txBox="1"/>
            <p:nvPr/>
          </p:nvSpPr>
          <p:spPr>
            <a:xfrm>
              <a:off x="4152903" y="5245894"/>
              <a:ext cx="215260" cy="220028"/>
            </a:xfrm>
            <a:prstGeom prst="rect">
              <a:avLst/>
            </a:prstGeom>
            <a:noFill/>
            <a:ln>
              <a:noFill/>
            </a:ln>
          </p:spPr>
          <p:txBody>
            <a:bodyPr wrap="none" lIns="0" tIns="0" rIns="0" bIns="0" anchor="t" anchorCtr="0">
              <a:spAutoFit/>
            </a:bodyPr>
            <a:lstStyle/>
            <a:p>
              <a:pPr algn="ctr" marL="120904" indent="-120904">
                <a:buClr>
                  <a:srgbClr val="1F2937"/>
                </a:buClr>
                <a:buSzTx/>
                <a:buFontTx/>
                <a:buChar char="●"/>
              </a:pPr>
              <a:r>
                <a:rPr lang="zh-CN" sz="1120" dirty="0">
                  <a:solidFill>
                    <a:srgbClr val="1F2937"/>
                  </a:solidFill>
                  <a:latin typeface="+mn-lt"/>
                  <a:ea typeface="+mn-ea"/>
                  <a:cs typeface="+mn-cs"/>
                </a:rPr>
                <a:t>●</a:t>
              </a:r>
            </a:p>
          </p:txBody>
        </p:sp>
        <p:sp>
          <p:nvSpPr>
            <p:cNvPr id="67" name="TextBox 67"/>
            <p:cNvSpPr txBox="1"/>
            <p:nvPr/>
          </p:nvSpPr>
          <p:spPr>
            <a:xfrm>
              <a:off x="6326952" y="52458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8" name="TextBox 68"/>
            <p:cNvSpPr txBox="1"/>
            <p:nvPr/>
          </p:nvSpPr>
          <p:spPr>
            <a:xfrm>
              <a:off x="8440550" y="52458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9" name="TextBox 69"/>
            <p:cNvSpPr txBox="1"/>
            <p:nvPr/>
          </p:nvSpPr>
          <p:spPr>
            <a:xfrm>
              <a:off x="10554147" y="52458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70" name="Rectangle 70"/>
            <p:cNvSpPr/>
            <p:nvPr/>
          </p:nvSpPr>
          <p:spPr>
            <a:xfrm>
              <a:off x="533400" y="1524000"/>
              <a:ext cx="11125200" cy="4000500"/>
            </a:xfrm>
            <a:prstGeom prst="rect">
              <a:avLst/>
            </a:prstGeom>
            <a:noFill/>
            <a:ln w="14288">
              <a:solidFill>
                <a:srgbClr val="D9DFEA"/>
              </a:solidFill>
            </a:ln>
          </p:spPr>
        </p:sp>
        <p:sp>
          <p:nvSpPr>
            <p:cNvPr id="71" name="Rectangle 71"/>
            <p:cNvSpPr/>
            <p:nvPr/>
          </p:nvSpPr>
          <p:spPr>
            <a:xfrm>
              <a:off x="3198495" y="1524000"/>
              <a:ext cx="9525" cy="4000500"/>
            </a:xfrm>
            <a:prstGeom prst="rect">
              <a:avLst/>
            </a:prstGeom>
            <a:solidFill>
              <a:srgbClr val="D9DFEA"/>
            </a:solidFill>
            <a:ln>
              <a:noFill/>
            </a:ln>
          </p:spPr>
        </p:sp>
        <p:sp>
          <p:nvSpPr>
            <p:cNvPr id="72" name="Rectangle 72"/>
            <p:cNvSpPr/>
            <p:nvPr/>
          </p:nvSpPr>
          <p:spPr>
            <a:xfrm>
              <a:off x="5312092" y="1524000"/>
              <a:ext cx="9525" cy="4000500"/>
            </a:xfrm>
            <a:prstGeom prst="rect">
              <a:avLst/>
            </a:prstGeom>
            <a:solidFill>
              <a:srgbClr val="D9DFEA"/>
            </a:solidFill>
            <a:ln>
              <a:noFill/>
            </a:ln>
          </p:spPr>
        </p:sp>
        <p:sp>
          <p:nvSpPr>
            <p:cNvPr id="73" name="Rectangle 73"/>
            <p:cNvSpPr/>
            <p:nvPr/>
          </p:nvSpPr>
          <p:spPr>
            <a:xfrm>
              <a:off x="7426642" y="1524000"/>
              <a:ext cx="9525" cy="4000500"/>
            </a:xfrm>
            <a:prstGeom prst="rect">
              <a:avLst/>
            </a:prstGeom>
            <a:solidFill>
              <a:srgbClr val="D9DFEA"/>
            </a:solidFill>
            <a:ln>
              <a:noFill/>
            </a:ln>
          </p:spPr>
        </p:sp>
        <p:sp>
          <p:nvSpPr>
            <p:cNvPr id="74" name="Rectangle 74"/>
            <p:cNvSpPr/>
            <p:nvPr/>
          </p:nvSpPr>
          <p:spPr>
            <a:xfrm>
              <a:off x="9540240" y="1524000"/>
              <a:ext cx="9525" cy="4000500"/>
            </a:xfrm>
            <a:prstGeom prst="rect">
              <a:avLst/>
            </a:prstGeom>
            <a:solidFill>
              <a:srgbClr val="D9DFEA"/>
            </a:solidFill>
            <a:ln>
              <a:noFill/>
            </a:ln>
          </p:spPr>
        </p:sp>
      </p:grpSp>
      <p:grpSp>
        <p:nvGrpSpPr>
          <p:cNvPr id="81" name="takeaway"/>
          <p:cNvGrpSpPr/>
          <p:nvPr/>
        </p:nvGrpSpPr>
        <p:grpSpPr>
          <a:xfrm>
            <a:off x="533400" y="5881688"/>
            <a:ext cx="11125200" cy="481012"/>
            <a:chOff x="533400" y="5881688"/>
            <a:chExt cx="11125200" cy="481012"/>
          </a:xfrm>
        </p:grpSpPr>
        <p:sp>
          <p:nvSpPr>
            <p:cNvPr id="76" name="Rectangle 76"/>
            <p:cNvSpPr/>
            <p:nvPr/>
          </p:nvSpPr>
          <p:spPr>
            <a:xfrm>
              <a:off x="533400" y="5881688"/>
              <a:ext cx="11125200" cy="481012"/>
            </a:xfrm>
            <a:prstGeom prst="roundRect">
              <a:avLst>
                <a:gd name="adj" fmla="val 23762"/>
              </a:avLst>
            </a:prstGeom>
            <a:solidFill>
              <a:srgbClr val="334E68"/>
            </a:solidFill>
            <a:ln>
              <a:noFill/>
            </a:ln>
          </p:spPr>
        </p:sp>
        <p:grpSp>
          <p:nvGrpSpPr>
            <p:cNvPr id="79" name="Group 79"/>
            <p:cNvGrpSpPr/>
            <p:nvPr/>
          </p:nvGrpSpPr>
          <p:grpSpPr>
            <a:xfrm>
              <a:off x="738188" y="6022660"/>
              <a:ext cx="200023" cy="200023"/>
              <a:chOff x="738188" y="6022660"/>
              <a:chExt cx="200023" cy="200023"/>
            </a:xfrm>
          </p:grpSpPr>
          <p:sp>
            <p:nvSpPr>
              <p:cNvPr id="77" name="Freeform 77"/>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8" name="Freeform 78"/>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80" name="TextBox 80"/>
            <p:cNvSpPr txBox="1"/>
            <p:nvPr/>
          </p:nvSpPr>
          <p:spPr>
            <a:xfrm>
              <a:off x="1040892" y="6028373"/>
              <a:ext cx="6956069"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读图方法：竖着看是“这一阶段主要在做什么”，横着看是“这个工作流什么时候最忙”。</a:t>
              </a:r>
            </a:p>
          </p:txBody>
        </p:sp>
      </p:grpSp>
      <p:grpSp>
        <p:nvGrpSpPr>
          <p:cNvPr id="84" name="footer"/>
          <p:cNvGrpSpPr/>
          <p:nvPr/>
        </p:nvGrpSpPr>
        <p:grpSpPr>
          <a:xfrm>
            <a:off x="528447" y="6581299"/>
            <a:ext cx="11135106" cy="190690"/>
            <a:chOff x="528447" y="6581299"/>
            <a:chExt cx="11135106" cy="190690"/>
          </a:xfrm>
        </p:grpSpPr>
        <p:sp>
          <p:nvSpPr>
            <p:cNvPr id="82" name="TextBox 82"/>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83" name="TextBox 8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46</a:t>
              </a:r>
            </a:p>
          </p:txBody>
        </p:sp>
      </p:grpSp>
    </p:spTree>
  </p:cSld>
  <p:clrMapOvr>
    <a:masterClrMapping/>
  </p:clrMapOvr>
  <p:transition xmlns:p14="http://schemas.microsoft.com/office/powerpoint/2010/main" p14:dur="400">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1994535" cy="266700"/>
            </a:xfrm>
            <a:prstGeom prst="roundRect">
              <a:avLst>
                <a:gd name="adj" fmla="val 50000"/>
              </a:avLst>
            </a:prstGeom>
            <a:solidFill>
              <a:srgbClr val="E7EDF3"/>
            </a:solidFill>
            <a:ln>
              <a:noFill/>
            </a:ln>
          </p:spPr>
        </p:sp>
        <p:sp>
          <p:nvSpPr>
            <p:cNvPr id="3" name="TextBox 3"/>
            <p:cNvSpPr txBox="1"/>
            <p:nvPr/>
          </p:nvSpPr>
          <p:spPr>
            <a:xfrm>
              <a:off x="595297" y="407194"/>
              <a:ext cx="187074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RUP 统一过程</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九个核心工作流：六个过程加三个支撑</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3" name="c1-table-1"/>
          <p:cNvGrpSpPr/>
          <p:nvPr/>
        </p:nvGrpSpPr>
        <p:grpSpPr>
          <a:xfrm>
            <a:off x="533400" y="1524000"/>
            <a:ext cx="6276022" cy="4000500"/>
            <a:chOff x="533400" y="1524000"/>
            <a:chExt cx="6276022" cy="4000500"/>
          </a:xfrm>
        </p:grpSpPr>
        <p:sp>
          <p:nvSpPr>
            <p:cNvPr id="7" name="Rectangle 7"/>
            <p:cNvSpPr/>
            <p:nvPr/>
          </p:nvSpPr>
          <p:spPr>
            <a:xfrm>
              <a:off x="533400" y="1524000"/>
              <a:ext cx="6276022" cy="400050"/>
            </a:xfrm>
            <a:prstGeom prst="rect">
              <a:avLst/>
            </a:prstGeom>
            <a:solidFill>
              <a:srgbClr val="334E68"/>
            </a:solidFill>
            <a:ln>
              <a:noFill/>
            </a:ln>
          </p:spPr>
        </p:sp>
        <p:sp>
          <p:nvSpPr>
            <p:cNvPr id="8" name="TextBox 8"/>
            <p:cNvSpPr txBox="1"/>
            <p:nvPr/>
          </p:nvSpPr>
          <p:spPr>
            <a:xfrm>
              <a:off x="878878" y="1645444"/>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类别</a:t>
              </a:r>
            </a:p>
          </p:txBody>
        </p:sp>
        <p:sp>
          <p:nvSpPr>
            <p:cNvPr id="9" name="TextBox 9"/>
            <p:cNvSpPr txBox="1"/>
            <p:nvPr/>
          </p:nvSpPr>
          <p:spPr>
            <a:xfrm>
              <a:off x="1996021" y="1645444"/>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工作流</a:t>
              </a:r>
            </a:p>
          </p:txBody>
        </p:sp>
        <p:sp>
          <p:nvSpPr>
            <p:cNvPr id="10" name="TextBox 10"/>
            <p:cNvSpPr txBox="1"/>
            <p:nvPr/>
          </p:nvSpPr>
          <p:spPr>
            <a:xfrm>
              <a:off x="4706976" y="1645444"/>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说明</a:t>
              </a:r>
            </a:p>
          </p:txBody>
        </p:sp>
        <p:sp>
          <p:nvSpPr>
            <p:cNvPr id="11" name="TextBox 11"/>
            <p:cNvSpPr txBox="1"/>
            <p:nvPr/>
          </p:nvSpPr>
          <p:spPr>
            <a:xfrm>
              <a:off x="630555" y="2045494"/>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过程</a:t>
              </a:r>
            </a:p>
          </p:txBody>
        </p:sp>
        <p:sp>
          <p:nvSpPr>
            <p:cNvPr id="12" name="TextBox 12"/>
            <p:cNvSpPr txBox="1"/>
            <p:nvPr/>
          </p:nvSpPr>
          <p:spPr>
            <a:xfrm>
              <a:off x="1634490" y="2045494"/>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业务建模</a:t>
              </a:r>
            </a:p>
          </p:txBody>
        </p:sp>
        <p:sp>
          <p:nvSpPr>
            <p:cNvPr id="13" name="TextBox 13"/>
            <p:cNvSpPr txBox="1"/>
            <p:nvPr/>
          </p:nvSpPr>
          <p:spPr>
            <a:xfrm>
              <a:off x="3015615" y="2045494"/>
              <a:ext cx="197149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理解业务流程，建立业务模型</a:t>
              </a:r>
            </a:p>
          </p:txBody>
        </p:sp>
        <p:sp>
          <p:nvSpPr>
            <p:cNvPr id="14" name="Rectangle 14"/>
            <p:cNvSpPr/>
            <p:nvPr/>
          </p:nvSpPr>
          <p:spPr>
            <a:xfrm>
              <a:off x="533400" y="2319338"/>
              <a:ext cx="6276022" cy="9525"/>
            </a:xfrm>
            <a:prstGeom prst="rect">
              <a:avLst/>
            </a:prstGeom>
            <a:solidFill>
              <a:srgbClr val="D9DFEA"/>
            </a:solidFill>
            <a:ln>
              <a:noFill/>
            </a:ln>
          </p:spPr>
        </p:sp>
        <p:sp>
          <p:nvSpPr>
            <p:cNvPr id="15" name="Rectangle 15"/>
            <p:cNvSpPr/>
            <p:nvPr/>
          </p:nvSpPr>
          <p:spPr>
            <a:xfrm>
              <a:off x="533400" y="2324100"/>
              <a:ext cx="6276022" cy="400050"/>
            </a:xfrm>
            <a:prstGeom prst="rect">
              <a:avLst/>
            </a:prstGeom>
            <a:solidFill>
              <a:srgbClr val="F4F6FB"/>
            </a:solidFill>
            <a:ln>
              <a:noFill/>
            </a:ln>
          </p:spPr>
        </p:sp>
        <p:sp>
          <p:nvSpPr>
            <p:cNvPr id="16" name="TextBox 16"/>
            <p:cNvSpPr txBox="1"/>
            <p:nvPr/>
          </p:nvSpPr>
          <p:spPr>
            <a:xfrm>
              <a:off x="630555" y="2445544"/>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过程</a:t>
              </a:r>
            </a:p>
          </p:txBody>
        </p:sp>
        <p:sp>
          <p:nvSpPr>
            <p:cNvPr id="17" name="TextBox 17"/>
            <p:cNvSpPr txBox="1"/>
            <p:nvPr/>
          </p:nvSpPr>
          <p:spPr>
            <a:xfrm>
              <a:off x="1634490" y="2445544"/>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需求</a:t>
              </a:r>
            </a:p>
          </p:txBody>
        </p:sp>
        <p:sp>
          <p:nvSpPr>
            <p:cNvPr id="18" name="TextBox 18"/>
            <p:cNvSpPr txBox="1"/>
            <p:nvPr/>
          </p:nvSpPr>
          <p:spPr>
            <a:xfrm>
              <a:off x="3015615" y="2445544"/>
              <a:ext cx="166994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用用例描述系统要做什么</a:t>
              </a:r>
            </a:p>
          </p:txBody>
        </p:sp>
        <p:sp>
          <p:nvSpPr>
            <p:cNvPr id="19" name="Rectangle 19"/>
            <p:cNvSpPr/>
            <p:nvPr/>
          </p:nvSpPr>
          <p:spPr>
            <a:xfrm>
              <a:off x="533400" y="2719388"/>
              <a:ext cx="6276022" cy="9525"/>
            </a:xfrm>
            <a:prstGeom prst="rect">
              <a:avLst/>
            </a:prstGeom>
            <a:solidFill>
              <a:srgbClr val="D9DFEA"/>
            </a:solidFill>
            <a:ln>
              <a:noFill/>
            </a:ln>
          </p:spPr>
        </p:sp>
        <p:sp>
          <p:nvSpPr>
            <p:cNvPr id="20" name="TextBox 20"/>
            <p:cNvSpPr txBox="1"/>
            <p:nvPr/>
          </p:nvSpPr>
          <p:spPr>
            <a:xfrm>
              <a:off x="630555" y="2845594"/>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过程</a:t>
              </a:r>
            </a:p>
          </p:txBody>
        </p:sp>
        <p:sp>
          <p:nvSpPr>
            <p:cNvPr id="21" name="TextBox 21"/>
            <p:cNvSpPr txBox="1"/>
            <p:nvPr/>
          </p:nvSpPr>
          <p:spPr>
            <a:xfrm>
              <a:off x="1634490" y="2845594"/>
              <a:ext cx="76530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分析与设计</a:t>
              </a:r>
            </a:p>
          </p:txBody>
        </p:sp>
        <p:sp>
          <p:nvSpPr>
            <p:cNvPr id="22" name="TextBox 22"/>
            <p:cNvSpPr txBox="1"/>
            <p:nvPr/>
          </p:nvSpPr>
          <p:spPr>
            <a:xfrm>
              <a:off x="3015615" y="2845594"/>
              <a:ext cx="166994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把需求转换成系统的设计</a:t>
              </a:r>
            </a:p>
          </p:txBody>
        </p:sp>
        <p:sp>
          <p:nvSpPr>
            <p:cNvPr id="23" name="Rectangle 23"/>
            <p:cNvSpPr/>
            <p:nvPr/>
          </p:nvSpPr>
          <p:spPr>
            <a:xfrm>
              <a:off x="533400" y="3119438"/>
              <a:ext cx="6276022" cy="9525"/>
            </a:xfrm>
            <a:prstGeom prst="rect">
              <a:avLst/>
            </a:prstGeom>
            <a:solidFill>
              <a:srgbClr val="D9DFEA"/>
            </a:solidFill>
            <a:ln>
              <a:noFill/>
            </a:ln>
          </p:spPr>
        </p:sp>
        <p:sp>
          <p:nvSpPr>
            <p:cNvPr id="24" name="Rectangle 24"/>
            <p:cNvSpPr/>
            <p:nvPr/>
          </p:nvSpPr>
          <p:spPr>
            <a:xfrm>
              <a:off x="533400" y="3124200"/>
              <a:ext cx="6276022" cy="400050"/>
            </a:xfrm>
            <a:prstGeom prst="rect">
              <a:avLst/>
            </a:prstGeom>
            <a:solidFill>
              <a:srgbClr val="F4F6FB"/>
            </a:solidFill>
            <a:ln>
              <a:noFill/>
            </a:ln>
          </p:spPr>
        </p:sp>
        <p:sp>
          <p:nvSpPr>
            <p:cNvPr id="25" name="TextBox 25"/>
            <p:cNvSpPr txBox="1"/>
            <p:nvPr/>
          </p:nvSpPr>
          <p:spPr>
            <a:xfrm>
              <a:off x="630555" y="3245644"/>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过程</a:t>
              </a:r>
            </a:p>
          </p:txBody>
        </p:sp>
        <p:sp>
          <p:nvSpPr>
            <p:cNvPr id="26" name="TextBox 26"/>
            <p:cNvSpPr txBox="1"/>
            <p:nvPr/>
          </p:nvSpPr>
          <p:spPr>
            <a:xfrm>
              <a:off x="1634490" y="3245644"/>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实现</a:t>
              </a:r>
            </a:p>
          </p:txBody>
        </p:sp>
        <p:sp>
          <p:nvSpPr>
            <p:cNvPr id="27" name="TextBox 27"/>
            <p:cNvSpPr txBox="1"/>
            <p:nvPr/>
          </p:nvSpPr>
          <p:spPr>
            <a:xfrm>
              <a:off x="3015615" y="3245644"/>
              <a:ext cx="197149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编写代码，构造可执行的构件</a:t>
              </a:r>
            </a:p>
          </p:txBody>
        </p:sp>
        <p:sp>
          <p:nvSpPr>
            <p:cNvPr id="28" name="Rectangle 28"/>
            <p:cNvSpPr/>
            <p:nvPr/>
          </p:nvSpPr>
          <p:spPr>
            <a:xfrm>
              <a:off x="533400" y="3519488"/>
              <a:ext cx="6276022" cy="9525"/>
            </a:xfrm>
            <a:prstGeom prst="rect">
              <a:avLst/>
            </a:prstGeom>
            <a:solidFill>
              <a:srgbClr val="D9DFEA"/>
            </a:solidFill>
            <a:ln>
              <a:noFill/>
            </a:ln>
          </p:spPr>
        </p:sp>
        <p:sp>
          <p:nvSpPr>
            <p:cNvPr id="29" name="TextBox 29"/>
            <p:cNvSpPr txBox="1"/>
            <p:nvPr/>
          </p:nvSpPr>
          <p:spPr>
            <a:xfrm>
              <a:off x="630555" y="3645694"/>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过程</a:t>
              </a:r>
            </a:p>
          </p:txBody>
        </p:sp>
        <p:sp>
          <p:nvSpPr>
            <p:cNvPr id="30" name="TextBox 30"/>
            <p:cNvSpPr txBox="1"/>
            <p:nvPr/>
          </p:nvSpPr>
          <p:spPr>
            <a:xfrm>
              <a:off x="1634490" y="3645694"/>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测试</a:t>
              </a:r>
            </a:p>
          </p:txBody>
        </p:sp>
        <p:sp>
          <p:nvSpPr>
            <p:cNvPr id="31" name="TextBox 31"/>
            <p:cNvSpPr txBox="1"/>
            <p:nvPr/>
          </p:nvSpPr>
          <p:spPr>
            <a:xfrm>
              <a:off x="3015615" y="3645694"/>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验证各构件与整个系统</a:t>
              </a:r>
            </a:p>
          </p:txBody>
        </p:sp>
        <p:sp>
          <p:nvSpPr>
            <p:cNvPr id="32" name="Rectangle 32"/>
            <p:cNvSpPr/>
            <p:nvPr/>
          </p:nvSpPr>
          <p:spPr>
            <a:xfrm>
              <a:off x="533400" y="3919538"/>
              <a:ext cx="6276022" cy="9525"/>
            </a:xfrm>
            <a:prstGeom prst="rect">
              <a:avLst/>
            </a:prstGeom>
            <a:solidFill>
              <a:srgbClr val="D9DFEA"/>
            </a:solidFill>
            <a:ln>
              <a:noFill/>
            </a:ln>
          </p:spPr>
        </p:sp>
        <p:sp>
          <p:nvSpPr>
            <p:cNvPr id="33" name="Rectangle 33"/>
            <p:cNvSpPr/>
            <p:nvPr/>
          </p:nvSpPr>
          <p:spPr>
            <a:xfrm>
              <a:off x="533400" y="3924300"/>
              <a:ext cx="6276022" cy="400050"/>
            </a:xfrm>
            <a:prstGeom prst="rect">
              <a:avLst/>
            </a:prstGeom>
            <a:solidFill>
              <a:srgbClr val="F4F6FB"/>
            </a:solidFill>
            <a:ln>
              <a:noFill/>
            </a:ln>
          </p:spPr>
        </p:sp>
        <p:sp>
          <p:nvSpPr>
            <p:cNvPr id="34" name="TextBox 34"/>
            <p:cNvSpPr txBox="1"/>
            <p:nvPr/>
          </p:nvSpPr>
          <p:spPr>
            <a:xfrm>
              <a:off x="630555" y="4045744"/>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过程</a:t>
              </a:r>
            </a:p>
          </p:txBody>
        </p:sp>
        <p:sp>
          <p:nvSpPr>
            <p:cNvPr id="35" name="TextBox 35"/>
            <p:cNvSpPr txBox="1"/>
            <p:nvPr/>
          </p:nvSpPr>
          <p:spPr>
            <a:xfrm>
              <a:off x="1634490" y="4045744"/>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部署</a:t>
              </a:r>
            </a:p>
          </p:txBody>
        </p:sp>
        <p:sp>
          <p:nvSpPr>
            <p:cNvPr id="36" name="TextBox 36"/>
            <p:cNvSpPr txBox="1"/>
            <p:nvPr/>
          </p:nvSpPr>
          <p:spPr>
            <a:xfrm>
              <a:off x="3015615" y="4045744"/>
              <a:ext cx="272536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生成目标系统的可运行版本，移交给用户</a:t>
              </a:r>
            </a:p>
          </p:txBody>
        </p:sp>
        <p:sp>
          <p:nvSpPr>
            <p:cNvPr id="37" name="Rectangle 37"/>
            <p:cNvSpPr/>
            <p:nvPr/>
          </p:nvSpPr>
          <p:spPr>
            <a:xfrm>
              <a:off x="533400" y="4319588"/>
              <a:ext cx="6276022" cy="9525"/>
            </a:xfrm>
            <a:prstGeom prst="rect">
              <a:avLst/>
            </a:prstGeom>
            <a:solidFill>
              <a:srgbClr val="D9DFEA"/>
            </a:solidFill>
            <a:ln>
              <a:noFill/>
            </a:ln>
          </p:spPr>
        </p:sp>
        <p:sp>
          <p:nvSpPr>
            <p:cNvPr id="38" name="TextBox 38"/>
            <p:cNvSpPr txBox="1"/>
            <p:nvPr/>
          </p:nvSpPr>
          <p:spPr>
            <a:xfrm>
              <a:off x="630555" y="4445794"/>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支撑</a:t>
              </a:r>
            </a:p>
          </p:txBody>
        </p:sp>
        <p:sp>
          <p:nvSpPr>
            <p:cNvPr id="39" name="TextBox 39"/>
            <p:cNvSpPr txBox="1"/>
            <p:nvPr/>
          </p:nvSpPr>
          <p:spPr>
            <a:xfrm>
              <a:off x="1634490" y="4445794"/>
              <a:ext cx="10668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配置与变更管理</a:t>
              </a:r>
            </a:p>
          </p:txBody>
        </p:sp>
        <p:sp>
          <p:nvSpPr>
            <p:cNvPr id="40" name="TextBox 40"/>
            <p:cNvSpPr txBox="1"/>
            <p:nvPr/>
          </p:nvSpPr>
          <p:spPr>
            <a:xfrm>
              <a:off x="3015615" y="4445794"/>
              <a:ext cx="21222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跟踪维护工件的完整性和一致性</a:t>
              </a:r>
            </a:p>
          </p:txBody>
        </p:sp>
        <p:sp>
          <p:nvSpPr>
            <p:cNvPr id="41" name="Rectangle 41"/>
            <p:cNvSpPr/>
            <p:nvPr/>
          </p:nvSpPr>
          <p:spPr>
            <a:xfrm>
              <a:off x="533400" y="4719638"/>
              <a:ext cx="6276022" cy="9525"/>
            </a:xfrm>
            <a:prstGeom prst="rect">
              <a:avLst/>
            </a:prstGeom>
            <a:solidFill>
              <a:srgbClr val="D9DFEA"/>
            </a:solidFill>
            <a:ln>
              <a:noFill/>
            </a:ln>
          </p:spPr>
        </p:sp>
        <p:sp>
          <p:nvSpPr>
            <p:cNvPr id="42" name="Rectangle 42"/>
            <p:cNvSpPr/>
            <p:nvPr/>
          </p:nvSpPr>
          <p:spPr>
            <a:xfrm>
              <a:off x="533400" y="4724400"/>
              <a:ext cx="6276022" cy="400050"/>
            </a:xfrm>
            <a:prstGeom prst="rect">
              <a:avLst/>
            </a:prstGeom>
            <a:solidFill>
              <a:srgbClr val="F4F6FB"/>
            </a:solidFill>
            <a:ln>
              <a:noFill/>
            </a:ln>
          </p:spPr>
        </p:sp>
        <p:sp>
          <p:nvSpPr>
            <p:cNvPr id="43" name="TextBox 43"/>
            <p:cNvSpPr txBox="1"/>
            <p:nvPr/>
          </p:nvSpPr>
          <p:spPr>
            <a:xfrm>
              <a:off x="630555" y="4845844"/>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支撑</a:t>
              </a:r>
            </a:p>
          </p:txBody>
        </p:sp>
        <p:sp>
          <p:nvSpPr>
            <p:cNvPr id="44" name="TextBox 44"/>
            <p:cNvSpPr txBox="1"/>
            <p:nvPr/>
          </p:nvSpPr>
          <p:spPr>
            <a:xfrm>
              <a:off x="1634490" y="4845844"/>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项目管理</a:t>
              </a:r>
            </a:p>
          </p:txBody>
        </p:sp>
        <p:sp>
          <p:nvSpPr>
            <p:cNvPr id="45" name="TextBox 45"/>
            <p:cNvSpPr txBox="1"/>
            <p:nvPr/>
          </p:nvSpPr>
          <p:spPr>
            <a:xfrm>
              <a:off x="3015615" y="4845844"/>
              <a:ext cx="332846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提供计划、人员配备、执行监控的准则和风险框架</a:t>
              </a:r>
            </a:p>
          </p:txBody>
        </p:sp>
        <p:sp>
          <p:nvSpPr>
            <p:cNvPr id="46" name="Rectangle 46"/>
            <p:cNvSpPr/>
            <p:nvPr/>
          </p:nvSpPr>
          <p:spPr>
            <a:xfrm>
              <a:off x="533400" y="5119688"/>
              <a:ext cx="6276022" cy="9525"/>
            </a:xfrm>
            <a:prstGeom prst="rect">
              <a:avLst/>
            </a:prstGeom>
            <a:solidFill>
              <a:srgbClr val="D9DFEA"/>
            </a:solidFill>
            <a:ln>
              <a:noFill/>
            </a:ln>
          </p:spPr>
        </p:sp>
        <p:sp>
          <p:nvSpPr>
            <p:cNvPr id="47" name="TextBox 47"/>
            <p:cNvSpPr txBox="1"/>
            <p:nvPr/>
          </p:nvSpPr>
          <p:spPr>
            <a:xfrm>
              <a:off x="630555" y="5245894"/>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支撑</a:t>
              </a:r>
            </a:p>
          </p:txBody>
        </p:sp>
        <p:sp>
          <p:nvSpPr>
            <p:cNvPr id="48" name="TextBox 48"/>
            <p:cNvSpPr txBox="1"/>
            <p:nvPr/>
          </p:nvSpPr>
          <p:spPr>
            <a:xfrm>
              <a:off x="1634490" y="5245894"/>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环境</a:t>
              </a:r>
            </a:p>
          </p:txBody>
        </p:sp>
        <p:sp>
          <p:nvSpPr>
            <p:cNvPr id="49" name="TextBox 49"/>
            <p:cNvSpPr txBox="1"/>
            <p:nvPr/>
          </p:nvSpPr>
          <p:spPr>
            <a:xfrm>
              <a:off x="3015615" y="5245894"/>
              <a:ext cx="302691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提供软件开发环境，包括过程管理和工具支持</a:t>
              </a:r>
            </a:p>
          </p:txBody>
        </p:sp>
        <p:sp>
          <p:nvSpPr>
            <p:cNvPr id="50" name="Rectangle 50"/>
            <p:cNvSpPr/>
            <p:nvPr/>
          </p:nvSpPr>
          <p:spPr>
            <a:xfrm>
              <a:off x="533400" y="1524000"/>
              <a:ext cx="6276022" cy="4000500"/>
            </a:xfrm>
            <a:prstGeom prst="rect">
              <a:avLst/>
            </a:prstGeom>
            <a:noFill/>
            <a:ln w="14288">
              <a:solidFill>
                <a:srgbClr val="D9DFEA"/>
              </a:solidFill>
            </a:ln>
          </p:spPr>
        </p:sp>
        <p:sp>
          <p:nvSpPr>
            <p:cNvPr id="51" name="Rectangle 51"/>
            <p:cNvSpPr/>
            <p:nvPr/>
          </p:nvSpPr>
          <p:spPr>
            <a:xfrm>
              <a:off x="1532572" y="1524000"/>
              <a:ext cx="9525" cy="4000500"/>
            </a:xfrm>
            <a:prstGeom prst="rect">
              <a:avLst/>
            </a:prstGeom>
            <a:solidFill>
              <a:srgbClr val="D9DFEA"/>
            </a:solidFill>
            <a:ln>
              <a:noFill/>
            </a:ln>
          </p:spPr>
        </p:sp>
        <p:sp>
          <p:nvSpPr>
            <p:cNvPr id="52" name="Rectangle 52"/>
            <p:cNvSpPr/>
            <p:nvPr/>
          </p:nvSpPr>
          <p:spPr>
            <a:xfrm>
              <a:off x="2913698" y="1524000"/>
              <a:ext cx="9525" cy="4000500"/>
            </a:xfrm>
            <a:prstGeom prst="rect">
              <a:avLst/>
            </a:prstGeom>
            <a:solidFill>
              <a:srgbClr val="D9DFEA"/>
            </a:solidFill>
            <a:ln>
              <a:noFill/>
            </a:ln>
          </p:spPr>
        </p:sp>
      </p:grpSp>
      <p:grpSp>
        <p:nvGrpSpPr>
          <p:cNvPr id="80" name="c2-flow-1"/>
          <p:cNvGrpSpPr/>
          <p:nvPr/>
        </p:nvGrpSpPr>
        <p:grpSpPr>
          <a:xfrm>
            <a:off x="7432358" y="1511618"/>
            <a:ext cx="3908108" cy="1826894"/>
            <a:chOff x="7432358" y="1511618"/>
            <a:chExt cx="3908108" cy="1826894"/>
          </a:xfrm>
        </p:grpSpPr>
        <p:sp>
          <p:nvSpPr>
            <p:cNvPr id="54" name="Freeform 54"/>
            <p:cNvSpPr/>
            <p:nvPr/>
          </p:nvSpPr>
          <p:spPr>
            <a:xfrm>
              <a:off x="7432358" y="1704022"/>
              <a:ext cx="3803332" cy="360998"/>
            </a:xfrm>
            <a:custGeom>
              <a:avLst/>
              <a:gdLst/>
              <a:ahLst/>
              <a:cxnLst/>
              <a:rect l="l" t="t" r="r" b="b"/>
              <a:pathLst>
                <a:path w="3803332" h="360998">
                  <a:moveTo>
                    <a:pt x="0" y="0"/>
                  </a:moveTo>
                  <a:lnTo>
                    <a:pt x="1953578" y="0"/>
                  </a:lnTo>
                  <a:lnTo>
                    <a:pt x="1953578" y="360998"/>
                  </a:lnTo>
                  <a:lnTo>
                    <a:pt x="3803332" y="360998"/>
                  </a:lnTo>
                </a:path>
              </a:pathLst>
            </a:custGeom>
            <a:noFill/>
            <a:ln w="15240">
              <a:solidFill>
                <a:srgbClr val="5B6475"/>
              </a:solidFill>
            </a:ln>
          </p:spPr>
        </p:sp>
        <p:sp>
          <p:nvSpPr>
            <p:cNvPr id="55" name="Freeform 55"/>
            <p:cNvSpPr/>
            <p:nvPr/>
          </p:nvSpPr>
          <p:spPr>
            <a:xfrm>
              <a:off x="11235690" y="201263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56" name="Freeform 56"/>
            <p:cNvSpPr/>
            <p:nvPr/>
          </p:nvSpPr>
          <p:spPr>
            <a:xfrm>
              <a:off x="7432358" y="2065020"/>
              <a:ext cx="3803332" cy="360045"/>
            </a:xfrm>
            <a:custGeom>
              <a:avLst/>
              <a:gdLst/>
              <a:ahLst/>
              <a:cxnLst/>
              <a:rect l="l" t="t" r="r" b="b"/>
              <a:pathLst>
                <a:path w="3803332" h="360045">
                  <a:moveTo>
                    <a:pt x="0" y="0"/>
                  </a:moveTo>
                  <a:lnTo>
                    <a:pt x="1953578" y="0"/>
                  </a:lnTo>
                  <a:lnTo>
                    <a:pt x="1953578" y="360045"/>
                  </a:lnTo>
                  <a:lnTo>
                    <a:pt x="3803332" y="360045"/>
                  </a:lnTo>
                </a:path>
              </a:pathLst>
            </a:custGeom>
            <a:noFill/>
            <a:ln w="15240">
              <a:solidFill>
                <a:srgbClr val="5B6475"/>
              </a:solidFill>
            </a:ln>
          </p:spPr>
        </p:sp>
        <p:sp>
          <p:nvSpPr>
            <p:cNvPr id="57" name="Freeform 57"/>
            <p:cNvSpPr/>
            <p:nvPr/>
          </p:nvSpPr>
          <p:spPr>
            <a:xfrm>
              <a:off x="11235690" y="237267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58" name="Freeform 58"/>
            <p:cNvSpPr/>
            <p:nvPr/>
          </p:nvSpPr>
          <p:spPr>
            <a:xfrm>
              <a:off x="7432358" y="2425065"/>
              <a:ext cx="3803332" cy="360045"/>
            </a:xfrm>
            <a:custGeom>
              <a:avLst/>
              <a:gdLst/>
              <a:ahLst/>
              <a:cxnLst/>
              <a:rect l="l" t="t" r="r" b="b"/>
              <a:pathLst>
                <a:path w="3803332" h="360045">
                  <a:moveTo>
                    <a:pt x="0" y="0"/>
                  </a:moveTo>
                  <a:lnTo>
                    <a:pt x="1953578" y="0"/>
                  </a:lnTo>
                  <a:lnTo>
                    <a:pt x="1953578" y="360045"/>
                  </a:lnTo>
                  <a:lnTo>
                    <a:pt x="3803332" y="360045"/>
                  </a:lnTo>
                </a:path>
              </a:pathLst>
            </a:custGeom>
            <a:noFill/>
            <a:ln w="15240">
              <a:solidFill>
                <a:srgbClr val="5B6475"/>
              </a:solidFill>
            </a:ln>
          </p:spPr>
        </p:sp>
        <p:sp>
          <p:nvSpPr>
            <p:cNvPr id="59" name="Freeform 59"/>
            <p:cNvSpPr/>
            <p:nvPr/>
          </p:nvSpPr>
          <p:spPr>
            <a:xfrm>
              <a:off x="11235690" y="273272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60" name="Freeform 60"/>
            <p:cNvSpPr/>
            <p:nvPr/>
          </p:nvSpPr>
          <p:spPr>
            <a:xfrm>
              <a:off x="7432358" y="2785110"/>
              <a:ext cx="3803332" cy="360998"/>
            </a:xfrm>
            <a:custGeom>
              <a:avLst/>
              <a:gdLst/>
              <a:ahLst/>
              <a:cxnLst/>
              <a:rect l="l" t="t" r="r" b="b"/>
              <a:pathLst>
                <a:path w="3803332" h="360998">
                  <a:moveTo>
                    <a:pt x="0" y="0"/>
                  </a:moveTo>
                  <a:lnTo>
                    <a:pt x="1953578" y="0"/>
                  </a:lnTo>
                  <a:lnTo>
                    <a:pt x="1953578" y="360998"/>
                  </a:lnTo>
                  <a:lnTo>
                    <a:pt x="3803332" y="360998"/>
                  </a:lnTo>
                </a:path>
              </a:pathLst>
            </a:custGeom>
            <a:noFill/>
            <a:ln w="15240">
              <a:solidFill>
                <a:srgbClr val="5B6475"/>
              </a:solidFill>
            </a:ln>
          </p:spPr>
        </p:sp>
        <p:sp>
          <p:nvSpPr>
            <p:cNvPr id="61" name="Freeform 61"/>
            <p:cNvSpPr/>
            <p:nvPr/>
          </p:nvSpPr>
          <p:spPr>
            <a:xfrm>
              <a:off x="11235690" y="309372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62" name="Rectangle 62"/>
            <p:cNvSpPr/>
            <p:nvPr/>
          </p:nvSpPr>
          <p:spPr>
            <a:xfrm>
              <a:off x="7432358" y="1511618"/>
              <a:ext cx="3908108" cy="385762"/>
            </a:xfrm>
            <a:prstGeom prst="roundRect">
              <a:avLst>
                <a:gd name="adj" fmla="val 24691"/>
              </a:avLst>
            </a:prstGeom>
            <a:solidFill>
              <a:srgbClr val="FFFFFF"/>
            </a:solidFill>
            <a:ln w="15240">
              <a:solidFill>
                <a:srgbClr val="334E68"/>
              </a:solidFill>
            </a:ln>
          </p:spPr>
        </p:sp>
        <p:sp>
          <p:nvSpPr>
            <p:cNvPr id="63" name="Rectangle 63"/>
            <p:cNvSpPr/>
            <p:nvPr/>
          </p:nvSpPr>
          <p:spPr>
            <a:xfrm>
              <a:off x="7432358" y="1871662"/>
              <a:ext cx="3908108" cy="385762"/>
            </a:xfrm>
            <a:prstGeom prst="roundRect">
              <a:avLst>
                <a:gd name="adj" fmla="val 24691"/>
              </a:avLst>
            </a:prstGeom>
            <a:solidFill>
              <a:srgbClr val="E7EDF3"/>
            </a:solidFill>
            <a:ln w="19050">
              <a:solidFill>
                <a:srgbClr val="334E68"/>
              </a:solidFill>
            </a:ln>
          </p:spPr>
        </p:sp>
        <p:sp>
          <p:nvSpPr>
            <p:cNvPr id="64" name="Rectangle 64"/>
            <p:cNvSpPr/>
            <p:nvPr/>
          </p:nvSpPr>
          <p:spPr>
            <a:xfrm>
              <a:off x="7432358" y="2232660"/>
              <a:ext cx="3908108" cy="385762"/>
            </a:xfrm>
            <a:prstGeom prst="roundRect">
              <a:avLst>
                <a:gd name="adj" fmla="val 24691"/>
              </a:avLst>
            </a:prstGeom>
            <a:solidFill>
              <a:srgbClr val="FFFFFF"/>
            </a:solidFill>
            <a:ln w="15240">
              <a:solidFill>
                <a:srgbClr val="334E68"/>
              </a:solidFill>
            </a:ln>
          </p:spPr>
        </p:sp>
        <p:sp>
          <p:nvSpPr>
            <p:cNvPr id="65" name="Rectangle 65"/>
            <p:cNvSpPr/>
            <p:nvPr/>
          </p:nvSpPr>
          <p:spPr>
            <a:xfrm>
              <a:off x="7432358" y="2592705"/>
              <a:ext cx="3908108" cy="385762"/>
            </a:xfrm>
            <a:prstGeom prst="roundRect">
              <a:avLst>
                <a:gd name="adj" fmla="val 24691"/>
              </a:avLst>
            </a:prstGeom>
            <a:solidFill>
              <a:srgbClr val="FFFFFF"/>
            </a:solidFill>
            <a:ln w="15240">
              <a:solidFill>
                <a:srgbClr val="334E68"/>
              </a:solidFill>
            </a:ln>
          </p:spPr>
        </p:sp>
        <p:sp>
          <p:nvSpPr>
            <p:cNvPr id="66" name="Rectangle 66"/>
            <p:cNvSpPr/>
            <p:nvPr/>
          </p:nvSpPr>
          <p:spPr>
            <a:xfrm>
              <a:off x="7432358" y="2952750"/>
              <a:ext cx="3908108" cy="385762"/>
            </a:xfrm>
            <a:prstGeom prst="roundRect">
              <a:avLst>
                <a:gd name="adj" fmla="val 24691"/>
              </a:avLst>
            </a:prstGeom>
            <a:solidFill>
              <a:srgbClr val="FFFFFF"/>
            </a:solidFill>
            <a:ln w="15240">
              <a:solidFill>
                <a:srgbClr val="334E68"/>
              </a:solidFill>
            </a:ln>
          </p:spPr>
        </p:sp>
        <p:sp>
          <p:nvSpPr>
            <p:cNvPr id="67" name="TextBox 67"/>
            <p:cNvSpPr txBox="1"/>
            <p:nvPr/>
          </p:nvSpPr>
          <p:spPr>
            <a:xfrm>
              <a:off x="9078671" y="1625441"/>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业务模型</a:t>
              </a:r>
            </a:p>
          </p:txBody>
        </p:sp>
        <p:sp>
          <p:nvSpPr>
            <p:cNvPr id="68" name="TextBox 68"/>
            <p:cNvSpPr txBox="1"/>
            <p:nvPr/>
          </p:nvSpPr>
          <p:spPr>
            <a:xfrm>
              <a:off x="9078671" y="1986439"/>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用例模型</a:t>
              </a:r>
            </a:p>
          </p:txBody>
        </p:sp>
        <p:sp>
          <p:nvSpPr>
            <p:cNvPr id="69" name="TextBox 69"/>
            <p:cNvSpPr txBox="1"/>
            <p:nvPr/>
          </p:nvSpPr>
          <p:spPr>
            <a:xfrm>
              <a:off x="9078671" y="2346484"/>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设计模型</a:t>
              </a:r>
            </a:p>
          </p:txBody>
        </p:sp>
        <p:sp>
          <p:nvSpPr>
            <p:cNvPr id="70" name="TextBox 70"/>
            <p:cNvSpPr txBox="1"/>
            <p:nvPr/>
          </p:nvSpPr>
          <p:spPr>
            <a:xfrm>
              <a:off x="9078671" y="2706529"/>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实现模型</a:t>
              </a:r>
            </a:p>
          </p:txBody>
        </p:sp>
        <p:sp>
          <p:nvSpPr>
            <p:cNvPr id="71" name="TextBox 71"/>
            <p:cNvSpPr txBox="1"/>
            <p:nvPr/>
          </p:nvSpPr>
          <p:spPr>
            <a:xfrm>
              <a:off x="9078671" y="3067526"/>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测试模型</a:t>
              </a:r>
            </a:p>
          </p:txBody>
        </p:sp>
        <p:sp>
          <p:nvSpPr>
            <p:cNvPr id="72" name="Rectangle 72"/>
            <p:cNvSpPr/>
            <p:nvPr/>
          </p:nvSpPr>
          <p:spPr>
            <a:xfrm>
              <a:off x="8247698" y="1732598"/>
              <a:ext cx="323850" cy="165735"/>
            </a:xfrm>
            <a:prstGeom prst="roundRect">
              <a:avLst>
                <a:gd name="adj" fmla="val 22989"/>
              </a:avLst>
            </a:prstGeom>
            <a:solidFill>
              <a:srgbClr val="FFFFFF"/>
            </a:solidFill>
            <a:ln>
              <a:noFill/>
            </a:ln>
          </p:spPr>
        </p:sp>
        <p:sp>
          <p:nvSpPr>
            <p:cNvPr id="73" name="TextBox 73"/>
            <p:cNvSpPr txBox="1"/>
            <p:nvPr/>
          </p:nvSpPr>
          <p:spPr>
            <a:xfrm>
              <a:off x="8283702" y="1755458"/>
              <a:ext cx="251841"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导出</a:t>
              </a:r>
            </a:p>
          </p:txBody>
        </p:sp>
        <p:sp>
          <p:nvSpPr>
            <p:cNvPr id="74" name="Rectangle 74"/>
            <p:cNvSpPr/>
            <p:nvPr/>
          </p:nvSpPr>
          <p:spPr>
            <a:xfrm>
              <a:off x="8247698" y="1868805"/>
              <a:ext cx="323850" cy="165735"/>
            </a:xfrm>
            <a:prstGeom prst="roundRect">
              <a:avLst>
                <a:gd name="adj" fmla="val 22989"/>
              </a:avLst>
            </a:prstGeom>
            <a:solidFill>
              <a:srgbClr val="FFFFFF"/>
            </a:solidFill>
            <a:ln>
              <a:noFill/>
            </a:ln>
          </p:spPr>
        </p:sp>
        <p:sp>
          <p:nvSpPr>
            <p:cNvPr id="75" name="TextBox 75"/>
            <p:cNvSpPr txBox="1"/>
            <p:nvPr/>
          </p:nvSpPr>
          <p:spPr>
            <a:xfrm>
              <a:off x="8283702" y="1891665"/>
              <a:ext cx="251841"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实现</a:t>
              </a:r>
            </a:p>
          </p:txBody>
        </p:sp>
        <p:sp>
          <p:nvSpPr>
            <p:cNvPr id="76" name="Rectangle 76"/>
            <p:cNvSpPr/>
            <p:nvPr/>
          </p:nvSpPr>
          <p:spPr>
            <a:xfrm>
              <a:off x="8247698" y="2228850"/>
              <a:ext cx="323850" cy="165735"/>
            </a:xfrm>
            <a:prstGeom prst="roundRect">
              <a:avLst>
                <a:gd name="adj" fmla="val 22989"/>
              </a:avLst>
            </a:prstGeom>
            <a:solidFill>
              <a:srgbClr val="FFFFFF"/>
            </a:solidFill>
            <a:ln>
              <a:noFill/>
            </a:ln>
          </p:spPr>
        </p:sp>
        <p:sp>
          <p:nvSpPr>
            <p:cNvPr id="77" name="TextBox 77"/>
            <p:cNvSpPr txBox="1"/>
            <p:nvPr/>
          </p:nvSpPr>
          <p:spPr>
            <a:xfrm>
              <a:off x="8283702" y="2251710"/>
              <a:ext cx="251841"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实现</a:t>
              </a:r>
            </a:p>
          </p:txBody>
        </p:sp>
        <p:sp>
          <p:nvSpPr>
            <p:cNvPr id="78" name="Rectangle 78"/>
            <p:cNvSpPr/>
            <p:nvPr/>
          </p:nvSpPr>
          <p:spPr>
            <a:xfrm>
              <a:off x="8247698" y="2588895"/>
              <a:ext cx="323850" cy="165735"/>
            </a:xfrm>
            <a:prstGeom prst="roundRect">
              <a:avLst>
                <a:gd name="adj" fmla="val 22989"/>
              </a:avLst>
            </a:prstGeom>
            <a:solidFill>
              <a:srgbClr val="FFFFFF"/>
            </a:solidFill>
            <a:ln>
              <a:noFill/>
            </a:ln>
          </p:spPr>
        </p:sp>
        <p:sp>
          <p:nvSpPr>
            <p:cNvPr id="79" name="TextBox 79"/>
            <p:cNvSpPr txBox="1"/>
            <p:nvPr/>
          </p:nvSpPr>
          <p:spPr>
            <a:xfrm>
              <a:off x="8283702" y="2611755"/>
              <a:ext cx="251841"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验证</a:t>
              </a:r>
            </a:p>
          </p:txBody>
        </p:sp>
      </p:grpSp>
      <p:grpSp>
        <p:nvGrpSpPr>
          <p:cNvPr id="86" name="c2-card-2"/>
          <p:cNvGrpSpPr/>
          <p:nvPr/>
        </p:nvGrpSpPr>
        <p:grpSpPr>
          <a:xfrm>
            <a:off x="7114222" y="3495675"/>
            <a:ext cx="4544378" cy="2028825"/>
            <a:chOff x="7114222" y="3495675"/>
            <a:chExt cx="4544378" cy="2028825"/>
          </a:xfrm>
        </p:grpSpPr>
        <p:sp>
          <p:nvSpPr>
            <p:cNvPr id="81" name="Rectangle 81"/>
            <p:cNvSpPr/>
            <p:nvPr/>
          </p:nvSpPr>
          <p:spPr>
            <a:xfrm>
              <a:off x="7114222" y="3495675"/>
              <a:ext cx="4544378" cy="2028825"/>
            </a:xfrm>
            <a:prstGeom prst="roundRect">
              <a:avLst>
                <a:gd name="adj" fmla="val 6573"/>
              </a:avLst>
            </a:prstGeom>
            <a:solidFill>
              <a:srgbClr val="FFFFFF"/>
            </a:solidFill>
            <a:ln w="14288">
              <a:solidFill>
                <a:srgbClr val="D9DFEA"/>
              </a:solidFill>
            </a:ln>
          </p:spPr>
        </p:sp>
        <p:sp>
          <p:nvSpPr>
            <p:cNvPr id="82" name="Rectangle 82"/>
            <p:cNvSpPr/>
            <p:nvPr/>
          </p:nvSpPr>
          <p:spPr>
            <a:xfrm>
              <a:off x="7123748" y="3629025"/>
              <a:ext cx="47625" cy="1762125"/>
            </a:xfrm>
            <a:prstGeom prst="roundRect">
              <a:avLst>
                <a:gd name="adj" fmla="val 50000"/>
              </a:avLst>
            </a:prstGeom>
            <a:solidFill>
              <a:srgbClr val="5B6475"/>
            </a:solidFill>
            <a:ln>
              <a:noFill/>
            </a:ln>
          </p:spPr>
        </p:sp>
        <p:sp>
          <p:nvSpPr>
            <p:cNvPr id="83" name="Rectangle 83"/>
            <p:cNvSpPr/>
            <p:nvPr/>
          </p:nvSpPr>
          <p:spPr>
            <a:xfrm>
              <a:off x="7339012" y="3682365"/>
              <a:ext cx="458152" cy="238125"/>
            </a:xfrm>
            <a:prstGeom prst="roundRect">
              <a:avLst>
                <a:gd name="adj" fmla="val 50000"/>
              </a:avLst>
            </a:prstGeom>
            <a:solidFill>
              <a:srgbClr val="F4F6FB"/>
            </a:solidFill>
            <a:ln>
              <a:noFill/>
            </a:ln>
          </p:spPr>
        </p:sp>
        <p:sp>
          <p:nvSpPr>
            <p:cNvPr id="84" name="TextBox 84"/>
            <p:cNvSpPr txBox="1"/>
            <p:nvPr/>
          </p:nvSpPr>
          <p:spPr>
            <a:xfrm>
              <a:off x="7430732" y="3715226"/>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85" name="TextBox 85"/>
            <p:cNvSpPr txBox="1"/>
            <p:nvPr/>
          </p:nvSpPr>
          <p:spPr>
            <a:xfrm>
              <a:off x="7332154" y="4027170"/>
              <a:ext cx="3939921"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原课件把第 3 个工作流写作 </a:t>
              </a:r>
              <a:r>
                <a:rPr lang="en-US" sz="1350" b="1" dirty="0">
                  <a:solidFill>
                    <a:srgbClr val="B42318"/>
                  </a:solidFill>
                  <a:latin typeface="+mn-lt"/>
                  <a:ea typeface="+mn-ea"/>
                  <a:cs typeface="+mn-cs"/>
                </a:rPr>
                <a:t>Development &amp;</a:t>
              </a:r>
              <a:br/>
              <a:r>
                <a:rPr lang="en-US" sz="1350" b="1" dirty="0">
                  <a:solidFill>
                    <a:srgbClr val="B42318"/>
                  </a:solidFill>
                  <a:latin typeface="+mn-lt"/>
                  <a:ea typeface="+mn-ea"/>
                  <a:cs typeface="+mn-cs"/>
                </a:rPr>
                <a:t>Analysis</a:t>
              </a:r>
              <a:r>
                <a:rPr lang="zh-CN" sz="1350" dirty="0">
                  <a:solidFill>
                    <a:srgbClr val="1F2937"/>
                  </a:solidFill>
                  <a:latin typeface="+mn-lt"/>
                  <a:ea typeface="+mn-ea"/>
                  <a:cs typeface="+mn-cs"/>
                </a:rPr>
                <a:t xml:space="preserve">，标准名称是 </a:t>
              </a:r>
              <a:r>
                <a:rPr lang="zh-CN" sz="1350" b="1" dirty="0">
                  <a:solidFill>
                    <a:srgbClr val="0F7A68"/>
                  </a:solidFill>
                  <a:latin typeface="+mn-lt"/>
                  <a:ea typeface="+mn-ea"/>
                  <a:cs typeface="+mn-cs"/>
                </a:rPr>
                <a:t>Analysis &amp; Design（分析与</a:t>
              </a:r>
              <a:br/>
              <a:r>
                <a:rPr lang="zh-CN" sz="1350" b="1" dirty="0">
                  <a:solidFill>
                    <a:srgbClr val="0F7A68"/>
                  </a:solidFill>
                  <a:latin typeface="+mn-lt"/>
                  <a:ea typeface="+mn-ea"/>
                  <a:cs typeface="+mn-cs"/>
                </a:rPr>
                <a:t>设计）</a:t>
              </a:r>
              <a:r>
                <a:rPr lang="zh-CN" sz="1350" dirty="0">
                  <a:solidFill>
                    <a:srgbClr val="1F2937"/>
                  </a:solidFill>
                  <a:latin typeface="+mn-lt"/>
                  <a:ea typeface="+mn-ea"/>
                  <a:cs typeface="+mn-cs"/>
                </a:rPr>
                <a:t>。</a:t>
              </a:r>
            </a:p>
          </p:txBody>
        </p:sp>
      </p:grpSp>
      <p:grpSp>
        <p:nvGrpSpPr>
          <p:cNvPr id="93" name="takeaway"/>
          <p:cNvGrpSpPr/>
          <p:nvPr/>
        </p:nvGrpSpPr>
        <p:grpSpPr>
          <a:xfrm>
            <a:off x="533400" y="5881688"/>
            <a:ext cx="11125200" cy="481012"/>
            <a:chOff x="533400" y="5881688"/>
            <a:chExt cx="11125200" cy="481012"/>
          </a:xfrm>
        </p:grpSpPr>
        <p:sp>
          <p:nvSpPr>
            <p:cNvPr id="87" name="Rectangle 87"/>
            <p:cNvSpPr/>
            <p:nvPr/>
          </p:nvSpPr>
          <p:spPr>
            <a:xfrm>
              <a:off x="533400" y="5881688"/>
              <a:ext cx="11125200" cy="481012"/>
            </a:xfrm>
            <a:prstGeom prst="roundRect">
              <a:avLst>
                <a:gd name="adj" fmla="val 23762"/>
              </a:avLst>
            </a:prstGeom>
            <a:solidFill>
              <a:srgbClr val="FDEEE7"/>
            </a:solidFill>
            <a:ln>
              <a:noFill/>
            </a:ln>
          </p:spPr>
        </p:sp>
        <p:grpSp>
          <p:nvGrpSpPr>
            <p:cNvPr id="91" name="Group 91"/>
            <p:cNvGrpSpPr/>
            <p:nvPr/>
          </p:nvGrpSpPr>
          <p:grpSpPr>
            <a:xfrm>
              <a:off x="738188" y="6022658"/>
              <a:ext cx="200026" cy="200025"/>
              <a:chOff x="738188" y="6022658"/>
              <a:chExt cx="200026" cy="200025"/>
            </a:xfrm>
          </p:grpSpPr>
          <p:sp>
            <p:nvSpPr>
              <p:cNvPr id="88" name="Freeform 88"/>
              <p:cNvSpPr/>
              <p:nvPr/>
            </p:nvSpPr>
            <p:spPr>
              <a:xfrm>
                <a:off x="738188" y="602265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89" name="Freeform 89"/>
              <p:cNvSpPr/>
              <p:nvPr/>
            </p:nvSpPr>
            <p:spPr>
              <a:xfrm>
                <a:off x="777926" y="606710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90" name="Freeform 90"/>
              <p:cNvSpPr/>
              <p:nvPr/>
            </p:nvSpPr>
            <p:spPr>
              <a:xfrm>
                <a:off x="812642" y="617823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92" name="TextBox 92"/>
            <p:cNvSpPr txBox="1"/>
            <p:nvPr/>
          </p:nvSpPr>
          <p:spPr>
            <a:xfrm>
              <a:off x="1040892" y="6028373"/>
              <a:ext cx="6737985"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每个主要工作流负责创建并维护一个模型，用例模型是把需求一路带到测试的主线。</a:t>
              </a:r>
            </a:p>
          </p:txBody>
        </p:sp>
      </p:grpSp>
      <p:grpSp>
        <p:nvGrpSpPr>
          <p:cNvPr id="96" name="footer"/>
          <p:cNvGrpSpPr/>
          <p:nvPr/>
        </p:nvGrpSpPr>
        <p:grpSpPr>
          <a:xfrm>
            <a:off x="528447" y="6581299"/>
            <a:ext cx="11135106" cy="190690"/>
            <a:chOff x="528447" y="6581299"/>
            <a:chExt cx="11135106" cy="190690"/>
          </a:xfrm>
        </p:grpSpPr>
        <p:sp>
          <p:nvSpPr>
            <p:cNvPr id="94" name="TextBox 94"/>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95" name="TextBox 9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47</a:t>
              </a:r>
            </a:p>
          </p:txBody>
        </p:sp>
      </p:grpSp>
    </p:spTree>
  </p:cSld>
  <p:clrMapOvr>
    <a:masterClrMapping/>
  </p:clrMapOvr>
  <p:transition xmlns:p14="http://schemas.microsoft.com/office/powerpoint/2010/main" p14:dur="400">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1994535" cy="266700"/>
            </a:xfrm>
            <a:prstGeom prst="roundRect">
              <a:avLst>
                <a:gd name="adj" fmla="val 50000"/>
              </a:avLst>
            </a:prstGeom>
            <a:solidFill>
              <a:srgbClr val="E7EDF3"/>
            </a:solidFill>
            <a:ln>
              <a:noFill/>
            </a:ln>
          </p:spPr>
        </p:sp>
        <p:sp>
          <p:nvSpPr>
            <p:cNvPr id="3" name="TextBox 3"/>
            <p:cNvSpPr txBox="1"/>
            <p:nvPr/>
          </p:nvSpPr>
          <p:spPr>
            <a:xfrm>
              <a:off x="595297" y="407194"/>
              <a:ext cx="187074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RUP 统一过程</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四个阶段、四个里程碑，以及阶段内部的迭代</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5" name="c1-table-1"/>
          <p:cNvGrpSpPr/>
          <p:nvPr/>
        </p:nvGrpSpPr>
        <p:grpSpPr>
          <a:xfrm>
            <a:off x="528447" y="1524000"/>
            <a:ext cx="6713411" cy="4138326"/>
            <a:chOff x="528447" y="1524000"/>
            <a:chExt cx="6713411" cy="4138326"/>
          </a:xfrm>
        </p:grpSpPr>
        <p:sp>
          <p:nvSpPr>
            <p:cNvPr id="7" name="Rectangle 7"/>
            <p:cNvSpPr/>
            <p:nvPr/>
          </p:nvSpPr>
          <p:spPr>
            <a:xfrm>
              <a:off x="533400" y="1524000"/>
              <a:ext cx="6708458" cy="679132"/>
            </a:xfrm>
            <a:prstGeom prst="rect">
              <a:avLst/>
            </a:prstGeom>
            <a:solidFill>
              <a:srgbClr val="334E68"/>
            </a:solidFill>
            <a:ln>
              <a:noFill/>
            </a:ln>
          </p:spPr>
        </p:sp>
        <p:sp>
          <p:nvSpPr>
            <p:cNvPr id="8" name="TextBox 8"/>
            <p:cNvSpPr txBox="1"/>
            <p:nvPr/>
          </p:nvSpPr>
          <p:spPr>
            <a:xfrm>
              <a:off x="1082992" y="1768792"/>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阶段</a:t>
              </a:r>
            </a:p>
          </p:txBody>
        </p:sp>
        <p:sp>
          <p:nvSpPr>
            <p:cNvPr id="9" name="TextBox 9"/>
            <p:cNvSpPr txBox="1"/>
            <p:nvPr/>
          </p:nvSpPr>
          <p:spPr>
            <a:xfrm>
              <a:off x="2192464" y="1648778"/>
              <a:ext cx="1042416" cy="504063"/>
            </a:xfrm>
            <a:prstGeom prst="rect">
              <a:avLst/>
            </a:prstGeom>
            <a:noFill/>
            <a:ln>
              <a:noFill/>
            </a:ln>
          </p:spPr>
          <p:txBody>
            <a:bodyPr wrap="none" lIns="0" tIns="0" rIns="0" bIns="0" anchor="t" anchorCtr="0">
              <a:spAutoFit/>
            </a:bodyPr>
            <a:lstStyle/>
            <a:p>
              <a:pPr algn="ctr">
                <a:lnSpc>
                  <a:spcPts val="1890"/>
                </a:lnSpc>
              </a:pPr>
              <a:r>
                <a:rPr lang="zh-CN" sz="1350" b="1" dirty="0">
                  <a:solidFill>
                    <a:srgbClr val="FFFFFF"/>
                  </a:solidFill>
                  <a:latin typeface="+mn-lt"/>
                  <a:ea typeface="+mn-ea"/>
                  <a:cs typeface="+mn-cs"/>
                </a:rPr>
                <a:t>结束时的里程</a:t>
              </a:r>
              <a:br/>
              <a:r>
                <a:rPr lang="zh-CN" sz="1350" b="1" dirty="0">
                  <a:solidFill>
                    <a:srgbClr val="FFFFFF"/>
                  </a:solidFill>
                  <a:latin typeface="+mn-lt"/>
                  <a:ea typeface="+mn-ea"/>
                  <a:cs typeface="+mn-cs"/>
                </a:rPr>
                <a:t>碑</a:t>
              </a:r>
            </a:p>
          </p:txBody>
        </p:sp>
        <p:sp>
          <p:nvSpPr>
            <p:cNvPr id="10" name="TextBox 10"/>
            <p:cNvSpPr txBox="1"/>
            <p:nvPr/>
          </p:nvSpPr>
          <p:spPr>
            <a:xfrm>
              <a:off x="4255008" y="1768792"/>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主要任务</a:t>
              </a:r>
            </a:p>
          </p:txBody>
        </p:sp>
        <p:sp>
          <p:nvSpPr>
            <p:cNvPr id="11" name="TextBox 11"/>
            <p:cNvSpPr txBox="1"/>
            <p:nvPr/>
          </p:nvSpPr>
          <p:spPr>
            <a:xfrm>
              <a:off x="5946458" y="1768792"/>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时间</a:t>
              </a:r>
            </a:p>
          </p:txBody>
        </p:sp>
        <p:sp>
          <p:nvSpPr>
            <p:cNvPr id="12" name="TextBox 12"/>
            <p:cNvSpPr txBox="1"/>
            <p:nvPr/>
          </p:nvSpPr>
          <p:spPr>
            <a:xfrm>
              <a:off x="6560439" y="1768792"/>
              <a:ext cx="55892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工作量</a:t>
              </a:r>
            </a:p>
          </p:txBody>
        </p:sp>
        <p:sp>
          <p:nvSpPr>
            <p:cNvPr id="13" name="TextBox 13"/>
            <p:cNvSpPr txBox="1"/>
            <p:nvPr/>
          </p:nvSpPr>
          <p:spPr>
            <a:xfrm>
              <a:off x="629412" y="2447925"/>
              <a:ext cx="128930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初始 Inception</a:t>
              </a:r>
            </a:p>
          </p:txBody>
        </p:sp>
        <p:sp>
          <p:nvSpPr>
            <p:cNvPr id="14" name="TextBox 14"/>
            <p:cNvSpPr txBox="1"/>
            <p:nvPr/>
          </p:nvSpPr>
          <p:spPr>
            <a:xfrm>
              <a:off x="2105787" y="2447925"/>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生命周期目标</a:t>
              </a:r>
            </a:p>
          </p:txBody>
        </p:sp>
        <p:sp>
          <p:nvSpPr>
            <p:cNvPr id="15" name="TextBox 15"/>
            <p:cNvSpPr txBox="1"/>
            <p:nvPr/>
          </p:nvSpPr>
          <p:spPr>
            <a:xfrm>
              <a:off x="3514534" y="2327910"/>
              <a:ext cx="20711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建立业务模型，定义最终产</a:t>
              </a:r>
              <a:br/>
              <a:r>
                <a:rPr lang="zh-CN" sz="1350" dirty="0">
                  <a:solidFill>
                    <a:srgbClr val="1F2937"/>
                  </a:solidFill>
                  <a:latin typeface="+mn-lt"/>
                  <a:ea typeface="+mn-ea"/>
                  <a:cs typeface="+mn-cs"/>
                </a:rPr>
                <a:t>品视图，确定项目的范围</a:t>
              </a:r>
            </a:p>
          </p:txBody>
        </p:sp>
        <p:sp>
          <p:nvSpPr>
            <p:cNvPr id="16" name="TextBox 16"/>
            <p:cNvSpPr txBox="1"/>
            <p:nvPr/>
          </p:nvSpPr>
          <p:spPr>
            <a:xfrm>
              <a:off x="5960088" y="2447925"/>
              <a:ext cx="349929"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10%</a:t>
              </a:r>
            </a:p>
          </p:txBody>
        </p:sp>
        <p:sp>
          <p:nvSpPr>
            <p:cNvPr id="17" name="TextBox 17"/>
            <p:cNvSpPr txBox="1"/>
            <p:nvPr/>
          </p:nvSpPr>
          <p:spPr>
            <a:xfrm>
              <a:off x="6714915" y="2447925"/>
              <a:ext cx="249974"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5%</a:t>
              </a:r>
            </a:p>
          </p:txBody>
        </p:sp>
        <p:sp>
          <p:nvSpPr>
            <p:cNvPr id="18" name="Rectangle 18"/>
            <p:cNvSpPr/>
            <p:nvPr/>
          </p:nvSpPr>
          <p:spPr>
            <a:xfrm>
              <a:off x="533400" y="2877502"/>
              <a:ext cx="6708458" cy="9525"/>
            </a:xfrm>
            <a:prstGeom prst="rect">
              <a:avLst/>
            </a:prstGeom>
            <a:solidFill>
              <a:srgbClr val="D9DFEA"/>
            </a:solidFill>
            <a:ln>
              <a:noFill/>
            </a:ln>
          </p:spPr>
        </p:sp>
        <p:sp>
          <p:nvSpPr>
            <p:cNvPr id="19" name="Rectangle 19"/>
            <p:cNvSpPr/>
            <p:nvPr/>
          </p:nvSpPr>
          <p:spPr>
            <a:xfrm>
              <a:off x="533400" y="2882265"/>
              <a:ext cx="6708458" cy="919162"/>
            </a:xfrm>
            <a:prstGeom prst="rect">
              <a:avLst/>
            </a:prstGeom>
            <a:solidFill>
              <a:srgbClr val="F4F6FB"/>
            </a:solidFill>
            <a:ln>
              <a:noFill/>
            </a:ln>
          </p:spPr>
        </p:sp>
        <p:sp>
          <p:nvSpPr>
            <p:cNvPr id="20" name="TextBox 20"/>
            <p:cNvSpPr txBox="1"/>
            <p:nvPr/>
          </p:nvSpPr>
          <p:spPr>
            <a:xfrm>
              <a:off x="629412" y="3127058"/>
              <a:ext cx="1012841" cy="50406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细化</a:t>
              </a:r>
              <a:br/>
              <a:r>
                <a:rPr lang="en-US" sz="1350" b="1" dirty="0">
                  <a:solidFill>
                    <a:srgbClr val="1F2937"/>
                  </a:solidFill>
                  <a:latin typeface="+mn-lt"/>
                  <a:ea typeface="+mn-ea"/>
                  <a:cs typeface="+mn-cs"/>
                </a:rPr>
                <a:t>Elaboration</a:t>
              </a:r>
            </a:p>
          </p:txBody>
        </p:sp>
        <p:sp>
          <p:nvSpPr>
            <p:cNvPr id="21" name="TextBox 21"/>
            <p:cNvSpPr txBox="1"/>
            <p:nvPr/>
          </p:nvSpPr>
          <p:spPr>
            <a:xfrm>
              <a:off x="2105787" y="3127058"/>
              <a:ext cx="10424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生命周期体系</a:t>
              </a:r>
              <a:br/>
              <a:r>
                <a:rPr lang="zh-CN" sz="1350" dirty="0">
                  <a:solidFill>
                    <a:srgbClr val="1F2937"/>
                  </a:solidFill>
                  <a:latin typeface="+mn-lt"/>
                  <a:ea typeface="+mn-ea"/>
                  <a:cs typeface="+mn-cs"/>
                </a:rPr>
                <a:t>结构</a:t>
              </a:r>
            </a:p>
          </p:txBody>
        </p:sp>
        <p:sp>
          <p:nvSpPr>
            <p:cNvPr id="22" name="TextBox 22"/>
            <p:cNvSpPr txBox="1"/>
            <p:nvPr/>
          </p:nvSpPr>
          <p:spPr>
            <a:xfrm>
              <a:off x="3514534" y="3007042"/>
              <a:ext cx="2071116" cy="74409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设计并确定系统的体系结</a:t>
              </a:r>
              <a:br/>
              <a:r>
                <a:rPr lang="zh-CN" sz="1350" dirty="0">
                  <a:solidFill>
                    <a:srgbClr val="1F2937"/>
                  </a:solidFill>
                  <a:latin typeface="+mn-lt"/>
                  <a:ea typeface="+mn-ea"/>
                  <a:cs typeface="+mn-cs"/>
                </a:rPr>
                <a:t>构，制定项目计划，确定资</a:t>
              </a:r>
              <a:br/>
              <a:r>
                <a:rPr lang="zh-CN" sz="1350" dirty="0">
                  <a:solidFill>
                    <a:srgbClr val="1F2937"/>
                  </a:solidFill>
                  <a:latin typeface="+mn-lt"/>
                  <a:ea typeface="+mn-ea"/>
                  <a:cs typeface="+mn-cs"/>
                </a:rPr>
                <a:t>源需求</a:t>
              </a:r>
            </a:p>
          </p:txBody>
        </p:sp>
        <p:sp>
          <p:nvSpPr>
            <p:cNvPr id="23" name="TextBox 23"/>
            <p:cNvSpPr txBox="1"/>
            <p:nvPr/>
          </p:nvSpPr>
          <p:spPr>
            <a:xfrm>
              <a:off x="5960088" y="3247072"/>
              <a:ext cx="349929"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30%</a:t>
              </a:r>
            </a:p>
          </p:txBody>
        </p:sp>
        <p:sp>
          <p:nvSpPr>
            <p:cNvPr id="24" name="TextBox 24"/>
            <p:cNvSpPr txBox="1"/>
            <p:nvPr/>
          </p:nvSpPr>
          <p:spPr>
            <a:xfrm>
              <a:off x="6664938" y="3247072"/>
              <a:ext cx="349929"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20%</a:t>
              </a:r>
            </a:p>
          </p:txBody>
        </p:sp>
        <p:sp>
          <p:nvSpPr>
            <p:cNvPr id="25" name="Rectangle 25"/>
            <p:cNvSpPr/>
            <p:nvPr/>
          </p:nvSpPr>
          <p:spPr>
            <a:xfrm>
              <a:off x="533400" y="3795712"/>
              <a:ext cx="6708458" cy="9525"/>
            </a:xfrm>
            <a:prstGeom prst="rect">
              <a:avLst/>
            </a:prstGeom>
            <a:solidFill>
              <a:srgbClr val="D9DFEA"/>
            </a:solidFill>
            <a:ln>
              <a:noFill/>
            </a:ln>
          </p:spPr>
        </p:sp>
        <p:sp>
          <p:nvSpPr>
            <p:cNvPr id="26" name="TextBox 26"/>
            <p:cNvSpPr txBox="1"/>
            <p:nvPr/>
          </p:nvSpPr>
          <p:spPr>
            <a:xfrm>
              <a:off x="629412" y="4046220"/>
              <a:ext cx="1156859" cy="50406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构造</a:t>
              </a:r>
              <a:br/>
              <a:r>
                <a:rPr lang="en-US" sz="1350" b="1" dirty="0">
                  <a:solidFill>
                    <a:srgbClr val="1F2937"/>
                  </a:solidFill>
                  <a:latin typeface="+mn-lt"/>
                  <a:ea typeface="+mn-ea"/>
                  <a:cs typeface="+mn-cs"/>
                </a:rPr>
                <a:t>Construction</a:t>
              </a:r>
            </a:p>
          </p:txBody>
        </p:sp>
        <p:sp>
          <p:nvSpPr>
            <p:cNvPr id="27" name="TextBox 27"/>
            <p:cNvSpPr txBox="1"/>
            <p:nvPr/>
          </p:nvSpPr>
          <p:spPr>
            <a:xfrm>
              <a:off x="2105787" y="4166235"/>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初始运作能力</a:t>
              </a:r>
            </a:p>
          </p:txBody>
        </p:sp>
        <p:sp>
          <p:nvSpPr>
            <p:cNvPr id="28" name="TextBox 28"/>
            <p:cNvSpPr txBox="1"/>
            <p:nvPr/>
          </p:nvSpPr>
          <p:spPr>
            <a:xfrm>
              <a:off x="3514534" y="3926205"/>
              <a:ext cx="2071116" cy="74409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开发所有构件和程序，集成</a:t>
              </a:r>
              <a:br/>
              <a:r>
                <a:rPr lang="zh-CN" sz="1350" dirty="0">
                  <a:solidFill>
                    <a:srgbClr val="1F2937"/>
                  </a:solidFill>
                  <a:latin typeface="+mn-lt"/>
                  <a:ea typeface="+mn-ea"/>
                  <a:cs typeface="+mn-cs"/>
                </a:rPr>
                <a:t>为客户需要的产品，测试所</a:t>
              </a:r>
              <a:br/>
              <a:r>
                <a:rPr lang="zh-CN" sz="1350" dirty="0">
                  <a:solidFill>
                    <a:srgbClr val="1F2937"/>
                  </a:solidFill>
                  <a:latin typeface="+mn-lt"/>
                  <a:ea typeface="+mn-ea"/>
                  <a:cs typeface="+mn-cs"/>
                </a:rPr>
                <a:t>有功能</a:t>
              </a:r>
            </a:p>
          </p:txBody>
        </p:sp>
        <p:sp>
          <p:nvSpPr>
            <p:cNvPr id="29" name="TextBox 29"/>
            <p:cNvSpPr txBox="1"/>
            <p:nvPr/>
          </p:nvSpPr>
          <p:spPr>
            <a:xfrm>
              <a:off x="5960088" y="4166235"/>
              <a:ext cx="349929"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50%</a:t>
              </a:r>
            </a:p>
          </p:txBody>
        </p:sp>
        <p:sp>
          <p:nvSpPr>
            <p:cNvPr id="30" name="Rectangle 30"/>
            <p:cNvSpPr/>
            <p:nvPr/>
          </p:nvSpPr>
          <p:spPr>
            <a:xfrm>
              <a:off x="6446520" y="3810000"/>
              <a:ext cx="785812" cy="900112"/>
            </a:xfrm>
            <a:prstGeom prst="rect">
              <a:avLst/>
            </a:prstGeom>
            <a:solidFill>
              <a:srgbClr val="FDEEE7"/>
            </a:solidFill>
            <a:ln>
              <a:noFill/>
            </a:ln>
          </p:spPr>
        </p:sp>
        <p:sp>
          <p:nvSpPr>
            <p:cNvPr id="31" name="TextBox 31"/>
            <p:cNvSpPr txBox="1"/>
            <p:nvPr/>
          </p:nvSpPr>
          <p:spPr>
            <a:xfrm>
              <a:off x="6664938" y="4166235"/>
              <a:ext cx="349929"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65%</a:t>
              </a:r>
            </a:p>
          </p:txBody>
        </p:sp>
        <p:sp>
          <p:nvSpPr>
            <p:cNvPr id="32" name="Rectangle 32"/>
            <p:cNvSpPr/>
            <p:nvPr/>
          </p:nvSpPr>
          <p:spPr>
            <a:xfrm>
              <a:off x="533400" y="4714875"/>
              <a:ext cx="6708458" cy="9525"/>
            </a:xfrm>
            <a:prstGeom prst="rect">
              <a:avLst/>
            </a:prstGeom>
            <a:solidFill>
              <a:srgbClr val="D9DFEA"/>
            </a:solidFill>
            <a:ln>
              <a:noFill/>
            </a:ln>
          </p:spPr>
        </p:sp>
        <p:sp>
          <p:nvSpPr>
            <p:cNvPr id="33" name="Rectangle 33"/>
            <p:cNvSpPr/>
            <p:nvPr/>
          </p:nvSpPr>
          <p:spPr>
            <a:xfrm>
              <a:off x="533400" y="4719638"/>
              <a:ext cx="6708458" cy="679132"/>
            </a:xfrm>
            <a:prstGeom prst="rect">
              <a:avLst/>
            </a:prstGeom>
            <a:solidFill>
              <a:srgbClr val="F4F6FB"/>
            </a:solidFill>
            <a:ln>
              <a:noFill/>
            </a:ln>
          </p:spPr>
        </p:sp>
        <p:sp>
          <p:nvSpPr>
            <p:cNvPr id="34" name="TextBox 34"/>
            <p:cNvSpPr txBox="1"/>
            <p:nvPr/>
          </p:nvSpPr>
          <p:spPr>
            <a:xfrm>
              <a:off x="629412" y="4845368"/>
              <a:ext cx="913829" cy="50406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移交</a:t>
              </a:r>
              <a:br/>
              <a:r>
                <a:rPr lang="en-US" sz="1350" b="1" dirty="0">
                  <a:solidFill>
                    <a:srgbClr val="1F2937"/>
                  </a:solidFill>
                  <a:latin typeface="+mn-lt"/>
                  <a:ea typeface="+mn-ea"/>
                  <a:cs typeface="+mn-cs"/>
                </a:rPr>
                <a:t>Transition</a:t>
              </a:r>
            </a:p>
          </p:txBody>
        </p:sp>
        <p:sp>
          <p:nvSpPr>
            <p:cNvPr id="35" name="TextBox 35"/>
            <p:cNvSpPr txBox="1"/>
            <p:nvPr/>
          </p:nvSpPr>
          <p:spPr>
            <a:xfrm>
              <a:off x="2105787" y="4965383"/>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产品发布</a:t>
              </a:r>
            </a:p>
          </p:txBody>
        </p:sp>
        <p:sp>
          <p:nvSpPr>
            <p:cNvPr id="36" name="TextBox 36"/>
            <p:cNvSpPr txBox="1"/>
            <p:nvPr/>
          </p:nvSpPr>
          <p:spPr>
            <a:xfrm>
              <a:off x="3514534" y="4845368"/>
              <a:ext cx="20711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把开发出的产品提交给用户</a:t>
              </a:r>
              <a:br/>
              <a:r>
                <a:rPr lang="zh-CN" sz="1350" dirty="0">
                  <a:solidFill>
                    <a:srgbClr val="1F2937"/>
                  </a:solidFill>
                  <a:latin typeface="+mn-lt"/>
                  <a:ea typeface="+mn-ea"/>
                  <a:cs typeface="+mn-cs"/>
                </a:rPr>
                <a:t>使用</a:t>
              </a:r>
            </a:p>
          </p:txBody>
        </p:sp>
        <p:sp>
          <p:nvSpPr>
            <p:cNvPr id="37" name="TextBox 37"/>
            <p:cNvSpPr txBox="1"/>
            <p:nvPr/>
          </p:nvSpPr>
          <p:spPr>
            <a:xfrm>
              <a:off x="5960088" y="4965383"/>
              <a:ext cx="349929"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10%</a:t>
              </a:r>
            </a:p>
          </p:txBody>
        </p:sp>
        <p:sp>
          <p:nvSpPr>
            <p:cNvPr id="38" name="TextBox 38"/>
            <p:cNvSpPr txBox="1"/>
            <p:nvPr/>
          </p:nvSpPr>
          <p:spPr>
            <a:xfrm>
              <a:off x="6664938" y="4965383"/>
              <a:ext cx="349929"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10%</a:t>
              </a:r>
            </a:p>
          </p:txBody>
        </p:sp>
        <p:sp>
          <p:nvSpPr>
            <p:cNvPr id="39" name="Rectangle 39"/>
            <p:cNvSpPr/>
            <p:nvPr/>
          </p:nvSpPr>
          <p:spPr>
            <a:xfrm>
              <a:off x="533400" y="1524000"/>
              <a:ext cx="6708458" cy="3874770"/>
            </a:xfrm>
            <a:prstGeom prst="rect">
              <a:avLst/>
            </a:prstGeom>
            <a:noFill/>
            <a:ln w="14288">
              <a:solidFill>
                <a:srgbClr val="D9DFEA"/>
              </a:solidFill>
            </a:ln>
          </p:spPr>
        </p:sp>
        <p:sp>
          <p:nvSpPr>
            <p:cNvPr id="40" name="Rectangle 40"/>
            <p:cNvSpPr/>
            <p:nvPr/>
          </p:nvSpPr>
          <p:spPr>
            <a:xfrm>
              <a:off x="2005012" y="1524000"/>
              <a:ext cx="9525" cy="3874770"/>
            </a:xfrm>
            <a:prstGeom prst="rect">
              <a:avLst/>
            </a:prstGeom>
            <a:solidFill>
              <a:srgbClr val="D9DFEA"/>
            </a:solidFill>
            <a:ln>
              <a:noFill/>
            </a:ln>
          </p:spPr>
        </p:sp>
        <p:sp>
          <p:nvSpPr>
            <p:cNvPr id="41" name="Rectangle 41"/>
            <p:cNvSpPr/>
            <p:nvPr/>
          </p:nvSpPr>
          <p:spPr>
            <a:xfrm>
              <a:off x="3413760" y="1524000"/>
              <a:ext cx="9525" cy="3874770"/>
            </a:xfrm>
            <a:prstGeom prst="rect">
              <a:avLst/>
            </a:prstGeom>
            <a:solidFill>
              <a:srgbClr val="D9DFEA"/>
            </a:solidFill>
            <a:ln>
              <a:noFill/>
            </a:ln>
          </p:spPr>
        </p:sp>
        <p:sp>
          <p:nvSpPr>
            <p:cNvPr id="42" name="Rectangle 42"/>
            <p:cNvSpPr/>
            <p:nvPr/>
          </p:nvSpPr>
          <p:spPr>
            <a:xfrm>
              <a:off x="5828348" y="1524000"/>
              <a:ext cx="9525" cy="3874770"/>
            </a:xfrm>
            <a:prstGeom prst="rect">
              <a:avLst/>
            </a:prstGeom>
            <a:solidFill>
              <a:srgbClr val="D9DFEA"/>
            </a:solidFill>
            <a:ln>
              <a:noFill/>
            </a:ln>
          </p:spPr>
        </p:sp>
        <p:sp>
          <p:nvSpPr>
            <p:cNvPr id="43" name="Rectangle 43"/>
            <p:cNvSpPr/>
            <p:nvPr/>
          </p:nvSpPr>
          <p:spPr>
            <a:xfrm>
              <a:off x="6432232" y="1524000"/>
              <a:ext cx="9525" cy="3874770"/>
            </a:xfrm>
            <a:prstGeom prst="rect">
              <a:avLst/>
            </a:prstGeom>
            <a:solidFill>
              <a:srgbClr val="D9DFEA"/>
            </a:solidFill>
            <a:ln>
              <a:noFill/>
            </a:ln>
          </p:spPr>
        </p:sp>
        <p:sp>
          <p:nvSpPr>
            <p:cNvPr id="44" name="TextBox 44"/>
            <p:cNvSpPr txBox="1"/>
            <p:nvPr/>
          </p:nvSpPr>
          <p:spPr>
            <a:xfrm>
              <a:off x="528447" y="5471636"/>
              <a:ext cx="4149446"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时间与工作量按课件的资源需求图；里程碑名称按 RUP 的标准说法补充</a:t>
              </a:r>
            </a:p>
          </p:txBody>
        </p:sp>
      </p:grpSp>
      <p:grpSp>
        <p:nvGrpSpPr>
          <p:cNvPr id="63" name="c2-cells-1"/>
          <p:cNvGrpSpPr/>
          <p:nvPr/>
        </p:nvGrpSpPr>
        <p:grpSpPr>
          <a:xfrm>
            <a:off x="7541895" y="1524000"/>
            <a:ext cx="4116705" cy="368618"/>
            <a:chOff x="7541895" y="1524000"/>
            <a:chExt cx="4116705" cy="368618"/>
          </a:xfrm>
        </p:grpSpPr>
        <p:sp>
          <p:nvSpPr>
            <p:cNvPr id="46" name="TextBox 46"/>
            <p:cNvSpPr txBox="1"/>
            <p:nvPr/>
          </p:nvSpPr>
          <p:spPr>
            <a:xfrm>
              <a:off x="7541895" y="1652588"/>
              <a:ext cx="251841" cy="176212"/>
            </a:xfrm>
            <a:prstGeom prst="rect">
              <a:avLst/>
            </a:prstGeom>
            <a:noFill/>
            <a:ln>
              <a:noFill/>
            </a:ln>
          </p:spPr>
          <p:txBody>
            <a:bodyPr wrap="none" lIns="0" tIns="0" rIns="0" bIns="0" anchor="t" anchorCtr="0">
              <a:spAutoFit/>
            </a:bodyPr>
            <a:lstStyle/>
            <a:p>
              <a:pPr algn="l"/>
              <a:r>
                <a:rPr lang="zh-CN" sz="900" b="1" dirty="0">
                  <a:solidFill>
                    <a:srgbClr val="334E68"/>
                  </a:solidFill>
                  <a:latin typeface="+mn-lt"/>
                  <a:ea typeface="+mn-ea"/>
                  <a:cs typeface="+mn-cs"/>
                </a:rPr>
                <a:t>迭代</a:t>
              </a:r>
            </a:p>
          </p:txBody>
        </p:sp>
        <p:sp>
          <p:nvSpPr>
            <p:cNvPr id="47" name="Rectangle 47"/>
            <p:cNvSpPr/>
            <p:nvPr/>
          </p:nvSpPr>
          <p:spPr>
            <a:xfrm>
              <a:off x="7908608" y="1524000"/>
              <a:ext cx="468630" cy="368618"/>
            </a:xfrm>
            <a:prstGeom prst="rect">
              <a:avLst/>
            </a:prstGeom>
            <a:solidFill>
              <a:srgbClr val="FFFFFF"/>
            </a:solidFill>
            <a:ln w="15240">
              <a:solidFill>
                <a:srgbClr val="334E68"/>
              </a:solidFill>
            </a:ln>
          </p:spPr>
        </p:sp>
        <p:sp>
          <p:nvSpPr>
            <p:cNvPr id="48" name="TextBox 48"/>
            <p:cNvSpPr txBox="1"/>
            <p:nvPr/>
          </p:nvSpPr>
          <p:spPr>
            <a:xfrm>
              <a:off x="8017002" y="1652588"/>
              <a:ext cx="251841"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初步</a:t>
              </a:r>
            </a:p>
          </p:txBody>
        </p:sp>
        <p:sp>
          <p:nvSpPr>
            <p:cNvPr id="49" name="Rectangle 49"/>
            <p:cNvSpPr/>
            <p:nvPr/>
          </p:nvSpPr>
          <p:spPr>
            <a:xfrm>
              <a:off x="8377238" y="1524000"/>
              <a:ext cx="468630" cy="368618"/>
            </a:xfrm>
            <a:prstGeom prst="rect">
              <a:avLst/>
            </a:prstGeom>
            <a:solidFill>
              <a:srgbClr val="FFFFFF"/>
            </a:solidFill>
            <a:ln w="15240">
              <a:solidFill>
                <a:srgbClr val="334E68"/>
              </a:solidFill>
            </a:ln>
          </p:spPr>
        </p:sp>
        <p:sp>
          <p:nvSpPr>
            <p:cNvPr id="50" name="TextBox 50"/>
            <p:cNvSpPr txBox="1"/>
            <p:nvPr/>
          </p:nvSpPr>
          <p:spPr>
            <a:xfrm>
              <a:off x="8450648" y="1652588"/>
              <a:ext cx="321810"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细化1</a:t>
              </a:r>
            </a:p>
          </p:txBody>
        </p:sp>
        <p:sp>
          <p:nvSpPr>
            <p:cNvPr id="51" name="Rectangle 51"/>
            <p:cNvSpPr/>
            <p:nvPr/>
          </p:nvSpPr>
          <p:spPr>
            <a:xfrm>
              <a:off x="8845868" y="1524000"/>
              <a:ext cx="468630" cy="368618"/>
            </a:xfrm>
            <a:prstGeom prst="rect">
              <a:avLst/>
            </a:prstGeom>
            <a:solidFill>
              <a:srgbClr val="FFFFFF"/>
            </a:solidFill>
            <a:ln w="15240">
              <a:solidFill>
                <a:srgbClr val="334E68"/>
              </a:solidFill>
            </a:ln>
          </p:spPr>
        </p:sp>
        <p:sp>
          <p:nvSpPr>
            <p:cNvPr id="52" name="TextBox 52"/>
            <p:cNvSpPr txBox="1"/>
            <p:nvPr/>
          </p:nvSpPr>
          <p:spPr>
            <a:xfrm>
              <a:off x="8919278" y="1652588"/>
              <a:ext cx="321810"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细化2</a:t>
              </a:r>
            </a:p>
          </p:txBody>
        </p:sp>
        <p:sp>
          <p:nvSpPr>
            <p:cNvPr id="53" name="Rectangle 53"/>
            <p:cNvSpPr/>
            <p:nvPr/>
          </p:nvSpPr>
          <p:spPr>
            <a:xfrm>
              <a:off x="9315450" y="1524000"/>
              <a:ext cx="468630" cy="368618"/>
            </a:xfrm>
            <a:prstGeom prst="rect">
              <a:avLst/>
            </a:prstGeom>
            <a:solidFill>
              <a:srgbClr val="FDEEE7"/>
            </a:solidFill>
            <a:ln w="15240">
              <a:solidFill>
                <a:srgbClr val="F26B3A"/>
              </a:solidFill>
            </a:ln>
          </p:spPr>
        </p:sp>
        <p:sp>
          <p:nvSpPr>
            <p:cNvPr id="54" name="TextBox 54"/>
            <p:cNvSpPr txBox="1"/>
            <p:nvPr/>
          </p:nvSpPr>
          <p:spPr>
            <a:xfrm>
              <a:off x="9388860" y="1652588"/>
              <a:ext cx="321810"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构造1</a:t>
              </a:r>
            </a:p>
          </p:txBody>
        </p:sp>
        <p:sp>
          <p:nvSpPr>
            <p:cNvPr id="55" name="Rectangle 55"/>
            <p:cNvSpPr/>
            <p:nvPr/>
          </p:nvSpPr>
          <p:spPr>
            <a:xfrm>
              <a:off x="9784080" y="1524000"/>
              <a:ext cx="468630" cy="368618"/>
            </a:xfrm>
            <a:prstGeom prst="rect">
              <a:avLst/>
            </a:prstGeom>
            <a:solidFill>
              <a:srgbClr val="FDEEE7"/>
            </a:solidFill>
            <a:ln w="15240">
              <a:solidFill>
                <a:srgbClr val="F26B3A"/>
              </a:solidFill>
            </a:ln>
          </p:spPr>
        </p:sp>
        <p:sp>
          <p:nvSpPr>
            <p:cNvPr id="56" name="TextBox 56"/>
            <p:cNvSpPr txBox="1"/>
            <p:nvPr/>
          </p:nvSpPr>
          <p:spPr>
            <a:xfrm>
              <a:off x="9857490" y="1652588"/>
              <a:ext cx="321810"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构造2</a:t>
              </a:r>
            </a:p>
          </p:txBody>
        </p:sp>
        <p:sp>
          <p:nvSpPr>
            <p:cNvPr id="57" name="Rectangle 57"/>
            <p:cNvSpPr/>
            <p:nvPr/>
          </p:nvSpPr>
          <p:spPr>
            <a:xfrm>
              <a:off x="10252710" y="1524000"/>
              <a:ext cx="468630" cy="368618"/>
            </a:xfrm>
            <a:prstGeom prst="rect">
              <a:avLst/>
            </a:prstGeom>
            <a:solidFill>
              <a:srgbClr val="FDEEE7"/>
            </a:solidFill>
            <a:ln w="15240">
              <a:solidFill>
                <a:srgbClr val="F26B3A"/>
              </a:solidFill>
            </a:ln>
          </p:spPr>
        </p:sp>
        <p:sp>
          <p:nvSpPr>
            <p:cNvPr id="58" name="TextBox 58"/>
            <p:cNvSpPr txBox="1"/>
            <p:nvPr/>
          </p:nvSpPr>
          <p:spPr>
            <a:xfrm>
              <a:off x="10324140" y="1652588"/>
              <a:ext cx="325770"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构造N</a:t>
              </a:r>
            </a:p>
          </p:txBody>
        </p:sp>
        <p:sp>
          <p:nvSpPr>
            <p:cNvPr id="59" name="Rectangle 59"/>
            <p:cNvSpPr/>
            <p:nvPr/>
          </p:nvSpPr>
          <p:spPr>
            <a:xfrm>
              <a:off x="10721340" y="1524000"/>
              <a:ext cx="468630" cy="368618"/>
            </a:xfrm>
            <a:prstGeom prst="rect">
              <a:avLst/>
            </a:prstGeom>
            <a:solidFill>
              <a:srgbClr val="FFFFFF"/>
            </a:solidFill>
            <a:ln w="15240">
              <a:solidFill>
                <a:srgbClr val="334E68"/>
              </a:solidFill>
            </a:ln>
          </p:spPr>
        </p:sp>
        <p:sp>
          <p:nvSpPr>
            <p:cNvPr id="60" name="TextBox 60"/>
            <p:cNvSpPr txBox="1"/>
            <p:nvPr/>
          </p:nvSpPr>
          <p:spPr>
            <a:xfrm>
              <a:off x="10794750" y="1652588"/>
              <a:ext cx="321810"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移交1</a:t>
              </a:r>
            </a:p>
          </p:txBody>
        </p:sp>
        <p:sp>
          <p:nvSpPr>
            <p:cNvPr id="61" name="Rectangle 61"/>
            <p:cNvSpPr/>
            <p:nvPr/>
          </p:nvSpPr>
          <p:spPr>
            <a:xfrm>
              <a:off x="11189970" y="1524000"/>
              <a:ext cx="468630" cy="368618"/>
            </a:xfrm>
            <a:prstGeom prst="rect">
              <a:avLst/>
            </a:prstGeom>
            <a:solidFill>
              <a:srgbClr val="FFFFFF"/>
            </a:solidFill>
            <a:ln w="15240">
              <a:solidFill>
                <a:srgbClr val="334E68"/>
              </a:solidFill>
            </a:ln>
          </p:spPr>
        </p:sp>
        <p:sp>
          <p:nvSpPr>
            <p:cNvPr id="62" name="TextBox 62"/>
            <p:cNvSpPr txBox="1"/>
            <p:nvPr/>
          </p:nvSpPr>
          <p:spPr>
            <a:xfrm>
              <a:off x="11263380" y="1652588"/>
              <a:ext cx="321810"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移交2</a:t>
              </a:r>
            </a:p>
          </p:txBody>
        </p:sp>
      </p:grpSp>
      <p:grpSp>
        <p:nvGrpSpPr>
          <p:cNvPr id="70" name="c2-card-2"/>
          <p:cNvGrpSpPr/>
          <p:nvPr/>
        </p:nvGrpSpPr>
        <p:grpSpPr>
          <a:xfrm>
            <a:off x="7546658" y="2063115"/>
            <a:ext cx="4111942" cy="3561398"/>
            <a:chOff x="7546658" y="2063115"/>
            <a:chExt cx="4111942" cy="3561398"/>
          </a:xfrm>
        </p:grpSpPr>
        <p:sp>
          <p:nvSpPr>
            <p:cNvPr id="64" name="Rectangle 64"/>
            <p:cNvSpPr/>
            <p:nvPr/>
          </p:nvSpPr>
          <p:spPr>
            <a:xfrm>
              <a:off x="7546658" y="2063115"/>
              <a:ext cx="4111942" cy="3561398"/>
            </a:xfrm>
            <a:prstGeom prst="roundRect">
              <a:avLst>
                <a:gd name="adj" fmla="val 3744"/>
              </a:avLst>
            </a:prstGeom>
            <a:solidFill>
              <a:srgbClr val="FFFFFF"/>
            </a:solidFill>
            <a:ln w="14288">
              <a:solidFill>
                <a:srgbClr val="D9DFEA"/>
              </a:solidFill>
            </a:ln>
          </p:spPr>
        </p:sp>
        <p:sp>
          <p:nvSpPr>
            <p:cNvPr id="65" name="Rectangle 65"/>
            <p:cNvSpPr/>
            <p:nvPr/>
          </p:nvSpPr>
          <p:spPr>
            <a:xfrm>
              <a:off x="7556182" y="2196465"/>
              <a:ext cx="47625" cy="3294698"/>
            </a:xfrm>
            <a:prstGeom prst="roundRect">
              <a:avLst>
                <a:gd name="adj" fmla="val 50000"/>
              </a:avLst>
            </a:prstGeom>
            <a:solidFill>
              <a:srgbClr val="334E68"/>
            </a:solidFill>
            <a:ln>
              <a:noFill/>
            </a:ln>
          </p:spPr>
        </p:sp>
        <p:sp>
          <p:nvSpPr>
            <p:cNvPr id="66" name="Rectangle 66"/>
            <p:cNvSpPr/>
            <p:nvPr/>
          </p:nvSpPr>
          <p:spPr>
            <a:xfrm>
              <a:off x="7771448" y="2249805"/>
              <a:ext cx="458152" cy="238125"/>
            </a:xfrm>
            <a:prstGeom prst="roundRect">
              <a:avLst>
                <a:gd name="adj" fmla="val 50000"/>
              </a:avLst>
            </a:prstGeom>
            <a:solidFill>
              <a:srgbClr val="E7EDF3"/>
            </a:solidFill>
            <a:ln>
              <a:noFill/>
            </a:ln>
          </p:spPr>
        </p:sp>
        <p:sp>
          <p:nvSpPr>
            <p:cNvPr id="67" name="TextBox 67"/>
            <p:cNvSpPr txBox="1"/>
            <p:nvPr/>
          </p:nvSpPr>
          <p:spPr>
            <a:xfrm>
              <a:off x="7864119" y="2282666"/>
              <a:ext cx="273761"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迭代</a:t>
              </a:r>
            </a:p>
          </p:txBody>
        </p:sp>
        <p:sp>
          <p:nvSpPr>
            <p:cNvPr id="68" name="TextBox 68"/>
            <p:cNvSpPr txBox="1"/>
            <p:nvPr/>
          </p:nvSpPr>
          <p:spPr>
            <a:xfrm>
              <a:off x="7764589" y="2593658"/>
              <a:ext cx="344271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一次迭代是一个完整的开发循环，结束时发布</a:t>
              </a:r>
              <a:br/>
              <a:r>
                <a:rPr lang="zh-CN" sz="1350" dirty="0">
                  <a:solidFill>
                    <a:srgbClr val="1F2937"/>
                  </a:solidFill>
                  <a:latin typeface="+mn-lt"/>
                  <a:ea typeface="+mn-ea"/>
                  <a:cs typeface="+mn-cs"/>
                </a:rPr>
                <a:t>一个可执行产品，它是最终产品的一个子集，</a:t>
              </a:r>
              <a:br/>
              <a:r>
                <a:rPr lang="zh-CN" sz="1350" dirty="0">
                  <a:solidFill>
                    <a:srgbClr val="1F2937"/>
                  </a:solidFill>
                  <a:latin typeface="+mn-lt"/>
                  <a:ea typeface="+mn-ea"/>
                  <a:cs typeface="+mn-cs"/>
                </a:rPr>
                <a:t>随着迭代不断增长，最后成为完整的系统。</a:t>
              </a:r>
            </a:p>
          </p:txBody>
        </p:sp>
        <p:sp>
          <p:nvSpPr>
            <p:cNvPr id="69" name="TextBox 69"/>
            <p:cNvSpPr txBox="1"/>
            <p:nvPr/>
          </p:nvSpPr>
          <p:spPr>
            <a:xfrm>
              <a:off x="7765732" y="3404711"/>
              <a:ext cx="3517646" cy="635317"/>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阶段结束时是主要里程碑（major milestone），每次迭</a:t>
              </a:r>
              <a:br/>
              <a:r>
                <a:rPr lang="zh-CN" sz="1120" dirty="0">
                  <a:solidFill>
                    <a:srgbClr val="5B6475"/>
                  </a:solidFill>
                  <a:latin typeface="+mn-lt"/>
                  <a:ea typeface="+mn-ea"/>
                  <a:cs typeface="+mn-cs"/>
                </a:rPr>
                <a:t>代结束时是次要里程碑（minor milestone），也就是一</a:t>
              </a:r>
              <a:br/>
              <a:r>
                <a:rPr lang="zh-CN" sz="1120" dirty="0">
                  <a:solidFill>
                    <a:srgbClr val="5B6475"/>
                  </a:solidFill>
                  <a:latin typeface="+mn-lt"/>
                  <a:ea typeface="+mn-ea"/>
                  <a:cs typeface="+mn-cs"/>
                </a:rPr>
                <a:t>次发布。</a:t>
              </a:r>
            </a:p>
          </p:txBody>
        </p:sp>
      </p:grpSp>
      <p:grpSp>
        <p:nvGrpSpPr>
          <p:cNvPr id="77" name="takeaway"/>
          <p:cNvGrpSpPr/>
          <p:nvPr/>
        </p:nvGrpSpPr>
        <p:grpSpPr>
          <a:xfrm>
            <a:off x="533400" y="5881688"/>
            <a:ext cx="11125200" cy="481012"/>
            <a:chOff x="533400" y="5881688"/>
            <a:chExt cx="11125200" cy="481012"/>
          </a:xfrm>
        </p:grpSpPr>
        <p:sp>
          <p:nvSpPr>
            <p:cNvPr id="71" name="Rectangle 71"/>
            <p:cNvSpPr/>
            <p:nvPr/>
          </p:nvSpPr>
          <p:spPr>
            <a:xfrm>
              <a:off x="533400" y="5881688"/>
              <a:ext cx="11125200" cy="481012"/>
            </a:xfrm>
            <a:prstGeom prst="roundRect">
              <a:avLst>
                <a:gd name="adj" fmla="val 23762"/>
              </a:avLst>
            </a:prstGeom>
            <a:solidFill>
              <a:srgbClr val="FDECEA"/>
            </a:solidFill>
            <a:ln>
              <a:noFill/>
            </a:ln>
          </p:spPr>
        </p:sp>
        <p:grpSp>
          <p:nvGrpSpPr>
            <p:cNvPr id="75" name="Group 75"/>
            <p:cNvGrpSpPr/>
            <p:nvPr/>
          </p:nvGrpSpPr>
          <p:grpSpPr>
            <a:xfrm>
              <a:off x="726129" y="6018966"/>
              <a:ext cx="224134" cy="192560"/>
              <a:chOff x="726129" y="6018966"/>
              <a:chExt cx="224134" cy="192560"/>
            </a:xfrm>
          </p:grpSpPr>
          <p:sp>
            <p:nvSpPr>
              <p:cNvPr id="72" name="Freeform 72"/>
              <p:cNvSpPr/>
              <p:nvPr/>
            </p:nvSpPr>
            <p:spPr>
              <a:xfrm>
                <a:off x="838200" y="608933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73" name="Freeform 73"/>
              <p:cNvSpPr/>
              <p:nvPr/>
            </p:nvSpPr>
            <p:spPr>
              <a:xfrm>
                <a:off x="726129" y="601896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74" name="Freeform 74"/>
              <p:cNvSpPr/>
              <p:nvPr/>
            </p:nvSpPr>
            <p:spPr>
              <a:xfrm>
                <a:off x="838200" y="616712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76" name="TextBox 76"/>
            <p:cNvSpPr txBox="1"/>
            <p:nvPr/>
          </p:nvSpPr>
          <p:spPr>
            <a:xfrm>
              <a:off x="1040892" y="6028373"/>
              <a:ext cx="7910189" cy="264033"/>
            </a:xfrm>
            <a:prstGeom prst="rect">
              <a:avLst/>
            </a:prstGeom>
            <a:noFill/>
            <a:ln>
              <a:noFill/>
            </a:ln>
          </p:spPr>
          <p:txBody>
            <a:bodyPr wrap="none" lIns="0" tIns="0" rIns="0" bIns="0" anchor="t" anchorCtr="0">
              <a:spAutoFit/>
            </a:bodyPr>
            <a:lstStyle/>
            <a:p>
              <a:pPr algn="l"/>
              <a:r>
                <a:rPr lang="zh-CN" sz="1350" dirty="0">
                  <a:solidFill>
                    <a:srgbClr val="B42318"/>
                  </a:solidFill>
                  <a:latin typeface="+mn-lt"/>
                  <a:ea typeface="+mn-ea"/>
                  <a:cs typeface="+mn-cs"/>
                </a:rPr>
                <a:t>构造阶段时间最长、工作量最大；细化阶段虽然只占 30% 的时间，却决定了整个系统的体系结构。</a:t>
              </a:r>
            </a:p>
          </p:txBody>
        </p:sp>
      </p:grpSp>
      <p:grpSp>
        <p:nvGrpSpPr>
          <p:cNvPr id="80" name="footer"/>
          <p:cNvGrpSpPr/>
          <p:nvPr/>
        </p:nvGrpSpPr>
        <p:grpSpPr>
          <a:xfrm>
            <a:off x="528447" y="6581299"/>
            <a:ext cx="11135106" cy="190690"/>
            <a:chOff x="528447" y="6581299"/>
            <a:chExt cx="11135106" cy="190690"/>
          </a:xfrm>
        </p:grpSpPr>
        <p:sp>
          <p:nvSpPr>
            <p:cNvPr id="78" name="TextBox 78"/>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79" name="TextBox 7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48</a:t>
              </a:r>
            </a:p>
          </p:txBody>
        </p:sp>
      </p:grpSp>
    </p:spTree>
  </p:cSld>
  <p:clrMapOvr>
    <a:masterClrMapping/>
  </p:clrMapOvr>
  <p:transition xmlns:p14="http://schemas.microsoft.com/office/powerpoint/2010/main" p14:dur="400">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61057" cy="909257"/>
            <a:chOff x="520446" y="342900"/>
            <a:chExt cx="6261057" cy="909257"/>
          </a:xfrm>
        </p:grpSpPr>
        <p:sp>
          <p:nvSpPr>
            <p:cNvPr id="2" name="Rectangle 2"/>
            <p:cNvSpPr/>
            <p:nvPr/>
          </p:nvSpPr>
          <p:spPr>
            <a:xfrm>
              <a:off x="533400" y="342900"/>
              <a:ext cx="1994535" cy="266700"/>
            </a:xfrm>
            <a:prstGeom prst="roundRect">
              <a:avLst>
                <a:gd name="adj" fmla="val 50000"/>
              </a:avLst>
            </a:prstGeom>
            <a:solidFill>
              <a:srgbClr val="E7EDF3"/>
            </a:solidFill>
            <a:ln>
              <a:noFill/>
            </a:ln>
          </p:spPr>
        </p:sp>
        <p:sp>
          <p:nvSpPr>
            <p:cNvPr id="3" name="TextBox 3"/>
            <p:cNvSpPr txBox="1"/>
            <p:nvPr/>
          </p:nvSpPr>
          <p:spPr>
            <a:xfrm>
              <a:off x="595297" y="407194"/>
              <a:ext cx="187074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RUP 统一过程</a:t>
              </a:r>
            </a:p>
          </p:txBody>
        </p:sp>
        <p:sp>
          <p:nvSpPr>
            <p:cNvPr id="4" name="TextBox 4"/>
            <p:cNvSpPr txBox="1"/>
            <p:nvPr/>
          </p:nvSpPr>
          <p:spPr>
            <a:xfrm>
              <a:off x="520446" y="753428"/>
              <a:ext cx="626105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RUP 术语：工作者、活动、工件、工作流</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1" name="c1-table-1"/>
          <p:cNvGrpSpPr/>
          <p:nvPr/>
        </p:nvGrpSpPr>
        <p:grpSpPr>
          <a:xfrm>
            <a:off x="533400" y="1524000"/>
            <a:ext cx="6059805" cy="3154680"/>
            <a:chOff x="533400" y="1524000"/>
            <a:chExt cx="6059805" cy="3154680"/>
          </a:xfrm>
        </p:grpSpPr>
        <p:sp>
          <p:nvSpPr>
            <p:cNvPr id="7" name="Rectangle 7"/>
            <p:cNvSpPr/>
            <p:nvPr/>
          </p:nvSpPr>
          <p:spPr>
            <a:xfrm>
              <a:off x="533400" y="1524000"/>
              <a:ext cx="6059805" cy="439102"/>
            </a:xfrm>
            <a:prstGeom prst="rect">
              <a:avLst/>
            </a:prstGeom>
            <a:solidFill>
              <a:srgbClr val="334E68"/>
            </a:solidFill>
            <a:ln>
              <a:noFill/>
            </a:ln>
          </p:spPr>
        </p:sp>
        <p:sp>
          <p:nvSpPr>
            <p:cNvPr id="8" name="TextBox 8"/>
            <p:cNvSpPr txBox="1"/>
            <p:nvPr/>
          </p:nvSpPr>
          <p:spPr>
            <a:xfrm>
              <a:off x="1011555" y="164877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术语</a:t>
              </a:r>
            </a:p>
          </p:txBody>
        </p:sp>
        <p:sp>
          <p:nvSpPr>
            <p:cNvPr id="9" name="TextBox 9"/>
            <p:cNvSpPr txBox="1"/>
            <p:nvPr/>
          </p:nvSpPr>
          <p:spPr>
            <a:xfrm>
              <a:off x="3010852" y="164877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含义</a:t>
              </a:r>
            </a:p>
          </p:txBody>
        </p:sp>
        <p:sp>
          <p:nvSpPr>
            <p:cNvPr id="10" name="TextBox 10"/>
            <p:cNvSpPr txBox="1"/>
            <p:nvPr/>
          </p:nvSpPr>
          <p:spPr>
            <a:xfrm>
              <a:off x="5374005" y="164877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补充</a:t>
              </a:r>
            </a:p>
          </p:txBody>
        </p:sp>
        <p:sp>
          <p:nvSpPr>
            <p:cNvPr id="11" name="TextBox 11"/>
            <p:cNvSpPr txBox="1"/>
            <p:nvPr/>
          </p:nvSpPr>
          <p:spPr>
            <a:xfrm>
              <a:off x="629412" y="2087880"/>
              <a:ext cx="643795" cy="50406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工作者</a:t>
              </a:r>
              <a:br/>
              <a:r>
                <a:rPr lang="en-US" sz="1350" b="1" dirty="0">
                  <a:solidFill>
                    <a:srgbClr val="1F2937"/>
                  </a:solidFill>
                  <a:latin typeface="+mn-lt"/>
                  <a:ea typeface="+mn-ea"/>
                  <a:cs typeface="+mn-cs"/>
                </a:rPr>
                <a:t>Worker</a:t>
              </a:r>
            </a:p>
          </p:txBody>
        </p:sp>
        <p:sp>
          <p:nvSpPr>
            <p:cNvPr id="12" name="TextBox 12"/>
            <p:cNvSpPr txBox="1"/>
            <p:nvPr/>
          </p:nvSpPr>
          <p:spPr>
            <a:xfrm>
              <a:off x="1962912" y="2207895"/>
              <a:ext cx="201282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项目中由个人扮演的角色</a:t>
              </a:r>
            </a:p>
          </p:txBody>
        </p:sp>
        <p:sp>
          <p:nvSpPr>
            <p:cNvPr id="13" name="TextBox 13"/>
            <p:cNvSpPr txBox="1"/>
            <p:nvPr/>
          </p:nvSpPr>
          <p:spPr>
            <a:xfrm>
              <a:off x="4628960" y="2087880"/>
              <a:ext cx="17282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一个人可以兼任多个角</a:t>
              </a:r>
              <a:br/>
              <a:r>
                <a:rPr lang="zh-CN" sz="1350" dirty="0">
                  <a:solidFill>
                    <a:srgbClr val="1F2937"/>
                  </a:solidFill>
                  <a:latin typeface="+mn-lt"/>
                  <a:ea typeface="+mn-ea"/>
                  <a:cs typeface="+mn-cs"/>
                </a:rPr>
                <a:t>色</a:t>
              </a:r>
            </a:p>
          </p:txBody>
        </p:sp>
        <p:sp>
          <p:nvSpPr>
            <p:cNvPr id="14" name="Rectangle 14"/>
            <p:cNvSpPr/>
            <p:nvPr/>
          </p:nvSpPr>
          <p:spPr>
            <a:xfrm>
              <a:off x="533400" y="2637472"/>
              <a:ext cx="6059805" cy="9525"/>
            </a:xfrm>
            <a:prstGeom prst="rect">
              <a:avLst/>
            </a:prstGeom>
            <a:solidFill>
              <a:srgbClr val="D9DFEA"/>
            </a:solidFill>
            <a:ln>
              <a:noFill/>
            </a:ln>
          </p:spPr>
        </p:sp>
        <p:sp>
          <p:nvSpPr>
            <p:cNvPr id="15" name="Rectangle 15"/>
            <p:cNvSpPr/>
            <p:nvPr/>
          </p:nvSpPr>
          <p:spPr>
            <a:xfrm>
              <a:off x="533400" y="2642235"/>
              <a:ext cx="6059805" cy="679132"/>
            </a:xfrm>
            <a:prstGeom prst="rect">
              <a:avLst/>
            </a:prstGeom>
            <a:solidFill>
              <a:srgbClr val="F4F6FB"/>
            </a:solidFill>
            <a:ln>
              <a:noFill/>
            </a:ln>
          </p:spPr>
        </p:sp>
        <p:sp>
          <p:nvSpPr>
            <p:cNvPr id="16" name="TextBox 16"/>
            <p:cNvSpPr txBox="1"/>
            <p:nvPr/>
          </p:nvSpPr>
          <p:spPr>
            <a:xfrm>
              <a:off x="629412" y="2767012"/>
              <a:ext cx="715804" cy="50406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活动</a:t>
              </a:r>
              <a:br/>
              <a:r>
                <a:rPr lang="en-US" sz="1350" b="1" dirty="0">
                  <a:solidFill>
                    <a:srgbClr val="1F2937"/>
                  </a:solidFill>
                  <a:latin typeface="+mn-lt"/>
                  <a:ea typeface="+mn-ea"/>
                  <a:cs typeface="+mn-cs"/>
                </a:rPr>
                <a:t>Activity</a:t>
              </a:r>
            </a:p>
          </p:txBody>
        </p:sp>
        <p:sp>
          <p:nvSpPr>
            <p:cNvPr id="17" name="TextBox 17"/>
            <p:cNvSpPr txBox="1"/>
            <p:nvPr/>
          </p:nvSpPr>
          <p:spPr>
            <a:xfrm>
              <a:off x="1962912" y="2767012"/>
              <a:ext cx="22425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有明确目的的工作单元，可以</a:t>
              </a:r>
              <a:br/>
              <a:r>
                <a:rPr lang="zh-CN" sz="1350" dirty="0">
                  <a:solidFill>
                    <a:srgbClr val="1F2937"/>
                  </a:solidFill>
                  <a:latin typeface="+mn-lt"/>
                  <a:ea typeface="+mn-ea"/>
                  <a:cs typeface="+mn-cs"/>
                </a:rPr>
                <a:t>分解成步骤</a:t>
              </a:r>
            </a:p>
          </p:txBody>
        </p:sp>
        <p:sp>
          <p:nvSpPr>
            <p:cNvPr id="18" name="TextBox 18"/>
            <p:cNvSpPr txBox="1"/>
            <p:nvPr/>
          </p:nvSpPr>
          <p:spPr>
            <a:xfrm>
              <a:off x="4628960" y="2767012"/>
              <a:ext cx="17282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小而可定义、可重用，</a:t>
              </a:r>
              <a:br/>
              <a:r>
                <a:rPr lang="zh-CN" sz="1350" dirty="0">
                  <a:solidFill>
                    <a:srgbClr val="1F2937"/>
                  </a:solidFill>
                  <a:latin typeface="+mn-lt"/>
                  <a:ea typeface="+mn-ea"/>
                  <a:cs typeface="+mn-cs"/>
                </a:rPr>
                <a:t>能分配给一个工作者</a:t>
              </a:r>
            </a:p>
          </p:txBody>
        </p:sp>
        <p:sp>
          <p:nvSpPr>
            <p:cNvPr id="19" name="Rectangle 19"/>
            <p:cNvSpPr/>
            <p:nvPr/>
          </p:nvSpPr>
          <p:spPr>
            <a:xfrm>
              <a:off x="533400" y="3315652"/>
              <a:ext cx="6059805" cy="9525"/>
            </a:xfrm>
            <a:prstGeom prst="rect">
              <a:avLst/>
            </a:prstGeom>
            <a:solidFill>
              <a:srgbClr val="D9DFEA"/>
            </a:solidFill>
            <a:ln>
              <a:noFill/>
            </a:ln>
          </p:spPr>
        </p:sp>
        <p:sp>
          <p:nvSpPr>
            <p:cNvPr id="20" name="TextBox 20"/>
            <p:cNvSpPr txBox="1"/>
            <p:nvPr/>
          </p:nvSpPr>
          <p:spPr>
            <a:xfrm>
              <a:off x="629412" y="3446145"/>
              <a:ext cx="760809" cy="50406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工件</a:t>
              </a:r>
              <a:br/>
              <a:r>
                <a:rPr lang="en-US" sz="1350" b="1" dirty="0">
                  <a:solidFill>
                    <a:srgbClr val="1F2937"/>
                  </a:solidFill>
                  <a:latin typeface="+mn-lt"/>
                  <a:ea typeface="+mn-ea"/>
                  <a:cs typeface="+mn-cs"/>
                </a:rPr>
                <a:t>Artifact</a:t>
              </a:r>
            </a:p>
          </p:txBody>
        </p:sp>
        <p:sp>
          <p:nvSpPr>
            <p:cNvPr id="21" name="TextBox 21"/>
            <p:cNvSpPr txBox="1"/>
            <p:nvPr/>
          </p:nvSpPr>
          <p:spPr>
            <a:xfrm>
              <a:off x="1962912" y="3566160"/>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活动产生的工作产品</a:t>
              </a:r>
            </a:p>
          </p:txBody>
        </p:sp>
        <p:sp>
          <p:nvSpPr>
            <p:cNvPr id="22" name="TextBox 22"/>
            <p:cNvSpPr txBox="1"/>
            <p:nvPr/>
          </p:nvSpPr>
          <p:spPr>
            <a:xfrm>
              <a:off x="4628960" y="3446145"/>
              <a:ext cx="17282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用例、代码、计划、测</a:t>
              </a:r>
              <a:br/>
              <a:r>
                <a:rPr lang="zh-CN" sz="1350" dirty="0">
                  <a:solidFill>
                    <a:srgbClr val="1F2937"/>
                  </a:solidFill>
                  <a:latin typeface="+mn-lt"/>
                  <a:ea typeface="+mn-ea"/>
                  <a:cs typeface="+mn-cs"/>
                </a:rPr>
                <a:t>试用例、测试结果等</a:t>
              </a:r>
            </a:p>
          </p:txBody>
        </p:sp>
        <p:sp>
          <p:nvSpPr>
            <p:cNvPr id="23" name="Rectangle 23"/>
            <p:cNvSpPr/>
            <p:nvPr/>
          </p:nvSpPr>
          <p:spPr>
            <a:xfrm>
              <a:off x="533400" y="3994785"/>
              <a:ext cx="6059805" cy="9525"/>
            </a:xfrm>
            <a:prstGeom prst="rect">
              <a:avLst/>
            </a:prstGeom>
            <a:solidFill>
              <a:srgbClr val="D9DFEA"/>
            </a:solidFill>
            <a:ln>
              <a:noFill/>
            </a:ln>
          </p:spPr>
        </p:sp>
        <p:sp>
          <p:nvSpPr>
            <p:cNvPr id="24" name="Rectangle 24"/>
            <p:cNvSpPr/>
            <p:nvPr/>
          </p:nvSpPr>
          <p:spPr>
            <a:xfrm>
              <a:off x="533400" y="3999548"/>
              <a:ext cx="6059805" cy="679132"/>
            </a:xfrm>
            <a:prstGeom prst="rect">
              <a:avLst/>
            </a:prstGeom>
            <a:solidFill>
              <a:srgbClr val="F4F6FB"/>
            </a:solidFill>
            <a:ln>
              <a:noFill/>
            </a:ln>
          </p:spPr>
        </p:sp>
        <p:sp>
          <p:nvSpPr>
            <p:cNvPr id="25" name="TextBox 25"/>
            <p:cNvSpPr txBox="1"/>
            <p:nvPr/>
          </p:nvSpPr>
          <p:spPr>
            <a:xfrm>
              <a:off x="629412" y="4125277"/>
              <a:ext cx="832818" cy="50406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工作流</a:t>
              </a:r>
              <a:br/>
              <a:r>
                <a:rPr lang="en-US" sz="1350" b="1" dirty="0">
                  <a:solidFill>
                    <a:srgbClr val="1F2937"/>
                  </a:solidFill>
                  <a:latin typeface="+mn-lt"/>
                  <a:ea typeface="+mn-ea"/>
                  <a:cs typeface="+mn-cs"/>
                </a:rPr>
                <a:t>Workflow</a:t>
              </a:r>
            </a:p>
          </p:txBody>
        </p:sp>
        <p:sp>
          <p:nvSpPr>
            <p:cNvPr id="26" name="TextBox 26"/>
            <p:cNvSpPr txBox="1"/>
            <p:nvPr/>
          </p:nvSpPr>
          <p:spPr>
            <a:xfrm>
              <a:off x="1962912" y="4125277"/>
              <a:ext cx="22425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为业务中的某个角色产生可观</a:t>
              </a:r>
              <a:br/>
              <a:r>
                <a:rPr lang="zh-CN" sz="1350" dirty="0">
                  <a:solidFill>
                    <a:srgbClr val="1F2937"/>
                  </a:solidFill>
                  <a:latin typeface="+mn-lt"/>
                  <a:ea typeface="+mn-ea"/>
                  <a:cs typeface="+mn-cs"/>
                </a:rPr>
                <a:t>察价值的一串活动的顺序</a:t>
              </a:r>
            </a:p>
          </p:txBody>
        </p:sp>
        <p:sp>
          <p:nvSpPr>
            <p:cNvPr id="27" name="TextBox 27"/>
            <p:cNvSpPr txBox="1"/>
            <p:nvPr/>
          </p:nvSpPr>
          <p:spPr>
            <a:xfrm>
              <a:off x="4628960" y="4125277"/>
              <a:ext cx="17282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也就是协调好的活动序</a:t>
              </a:r>
              <a:br/>
              <a:r>
                <a:rPr lang="zh-CN" sz="1350" dirty="0">
                  <a:solidFill>
                    <a:srgbClr val="1F2937"/>
                  </a:solidFill>
                  <a:latin typeface="+mn-lt"/>
                  <a:ea typeface="+mn-ea"/>
                  <a:cs typeface="+mn-cs"/>
                </a:rPr>
                <a:t>列</a:t>
              </a:r>
            </a:p>
          </p:txBody>
        </p:sp>
        <p:sp>
          <p:nvSpPr>
            <p:cNvPr id="28" name="Rectangle 28"/>
            <p:cNvSpPr/>
            <p:nvPr/>
          </p:nvSpPr>
          <p:spPr>
            <a:xfrm>
              <a:off x="533400" y="1524000"/>
              <a:ext cx="6059805" cy="3154680"/>
            </a:xfrm>
            <a:prstGeom prst="rect">
              <a:avLst/>
            </a:prstGeom>
            <a:noFill/>
            <a:ln w="14288">
              <a:solidFill>
                <a:srgbClr val="D9DFEA"/>
              </a:solidFill>
            </a:ln>
          </p:spPr>
        </p:sp>
        <p:sp>
          <p:nvSpPr>
            <p:cNvPr id="29" name="Rectangle 29"/>
            <p:cNvSpPr/>
            <p:nvPr/>
          </p:nvSpPr>
          <p:spPr>
            <a:xfrm>
              <a:off x="1862138" y="1524000"/>
              <a:ext cx="9525" cy="3154680"/>
            </a:xfrm>
            <a:prstGeom prst="rect">
              <a:avLst/>
            </a:prstGeom>
            <a:solidFill>
              <a:srgbClr val="D9DFEA"/>
            </a:solidFill>
            <a:ln>
              <a:noFill/>
            </a:ln>
          </p:spPr>
        </p:sp>
        <p:sp>
          <p:nvSpPr>
            <p:cNvPr id="30" name="Rectangle 30"/>
            <p:cNvSpPr/>
            <p:nvPr/>
          </p:nvSpPr>
          <p:spPr>
            <a:xfrm>
              <a:off x="4528185" y="1524000"/>
              <a:ext cx="9525" cy="3154680"/>
            </a:xfrm>
            <a:prstGeom prst="rect">
              <a:avLst/>
            </a:prstGeom>
            <a:solidFill>
              <a:srgbClr val="D9DFEA"/>
            </a:solidFill>
            <a:ln>
              <a:noFill/>
            </a:ln>
          </p:spPr>
        </p:sp>
      </p:grpSp>
      <p:grpSp>
        <p:nvGrpSpPr>
          <p:cNvPr id="46" name="c1-flow-2"/>
          <p:cNvGrpSpPr/>
          <p:nvPr/>
        </p:nvGrpSpPr>
        <p:grpSpPr>
          <a:xfrm>
            <a:off x="674370" y="5196840"/>
            <a:ext cx="5776912" cy="389572"/>
            <a:chOff x="674370" y="5196840"/>
            <a:chExt cx="5776912" cy="389572"/>
          </a:xfrm>
        </p:grpSpPr>
        <p:sp>
          <p:nvSpPr>
            <p:cNvPr id="32" name="Freeform 32"/>
            <p:cNvSpPr/>
            <p:nvPr/>
          </p:nvSpPr>
          <p:spPr>
            <a:xfrm>
              <a:off x="2411730" y="5393055"/>
              <a:ext cx="178117" cy="9525"/>
            </a:xfrm>
            <a:custGeom>
              <a:avLst/>
              <a:gdLst/>
              <a:ahLst/>
              <a:cxnLst/>
              <a:rect l="l" t="t" r="r" b="b"/>
              <a:pathLst>
                <a:path w="178117" h="9525">
                  <a:moveTo>
                    <a:pt x="0" y="0"/>
                  </a:moveTo>
                  <a:lnTo>
                    <a:pt x="178117" y="0"/>
                  </a:lnTo>
                </a:path>
              </a:pathLst>
            </a:custGeom>
            <a:noFill/>
            <a:ln w="15240">
              <a:solidFill>
                <a:srgbClr val="5B6475"/>
              </a:solidFill>
            </a:ln>
          </p:spPr>
        </p:sp>
        <p:sp>
          <p:nvSpPr>
            <p:cNvPr id="33" name="Freeform 33"/>
            <p:cNvSpPr/>
            <p:nvPr/>
          </p:nvSpPr>
          <p:spPr>
            <a:xfrm>
              <a:off x="2589848" y="534066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34" name="Freeform 34"/>
            <p:cNvSpPr/>
            <p:nvPr/>
          </p:nvSpPr>
          <p:spPr>
            <a:xfrm>
              <a:off x="4431982" y="5393055"/>
              <a:ext cx="178117" cy="9525"/>
            </a:xfrm>
            <a:custGeom>
              <a:avLst/>
              <a:gdLst/>
              <a:ahLst/>
              <a:cxnLst/>
              <a:rect l="l" t="t" r="r" b="b"/>
              <a:pathLst>
                <a:path w="178117" h="9525">
                  <a:moveTo>
                    <a:pt x="0" y="0"/>
                  </a:moveTo>
                  <a:lnTo>
                    <a:pt x="178117" y="0"/>
                  </a:lnTo>
                </a:path>
              </a:pathLst>
            </a:custGeom>
            <a:noFill/>
            <a:ln w="15240">
              <a:solidFill>
                <a:srgbClr val="5B6475"/>
              </a:solidFill>
            </a:ln>
          </p:spPr>
        </p:sp>
        <p:sp>
          <p:nvSpPr>
            <p:cNvPr id="35" name="Freeform 35"/>
            <p:cNvSpPr/>
            <p:nvPr/>
          </p:nvSpPr>
          <p:spPr>
            <a:xfrm>
              <a:off x="4610100" y="534066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36" name="Rectangle 36"/>
            <p:cNvSpPr/>
            <p:nvPr/>
          </p:nvSpPr>
          <p:spPr>
            <a:xfrm>
              <a:off x="674370" y="5200650"/>
              <a:ext cx="1737360" cy="385762"/>
            </a:xfrm>
            <a:prstGeom prst="roundRect">
              <a:avLst>
                <a:gd name="adj" fmla="val 24691"/>
              </a:avLst>
            </a:prstGeom>
            <a:solidFill>
              <a:srgbClr val="E7EDF3"/>
            </a:solidFill>
            <a:ln w="19050">
              <a:solidFill>
                <a:srgbClr val="334E68"/>
              </a:solidFill>
            </a:ln>
          </p:spPr>
        </p:sp>
        <p:sp>
          <p:nvSpPr>
            <p:cNvPr id="37" name="Rectangle 37"/>
            <p:cNvSpPr/>
            <p:nvPr/>
          </p:nvSpPr>
          <p:spPr>
            <a:xfrm>
              <a:off x="2694622" y="5200650"/>
              <a:ext cx="1737360" cy="385762"/>
            </a:xfrm>
            <a:prstGeom prst="roundRect">
              <a:avLst>
                <a:gd name="adj" fmla="val 24691"/>
              </a:avLst>
            </a:prstGeom>
            <a:solidFill>
              <a:srgbClr val="FFFFFF"/>
            </a:solidFill>
            <a:ln w="15240">
              <a:solidFill>
                <a:srgbClr val="334E68"/>
              </a:solidFill>
            </a:ln>
          </p:spPr>
        </p:sp>
        <p:sp>
          <p:nvSpPr>
            <p:cNvPr id="38" name="Freeform 38"/>
            <p:cNvSpPr/>
            <p:nvPr/>
          </p:nvSpPr>
          <p:spPr>
            <a:xfrm>
              <a:off x="4714875" y="5200650"/>
              <a:ext cx="1736407" cy="385762"/>
            </a:xfrm>
            <a:custGeom>
              <a:avLst/>
              <a:gdLst/>
              <a:ahLst/>
              <a:cxnLst/>
              <a:rect l="l" t="t" r="r" b="b"/>
              <a:pathLst>
                <a:path w="1736407" h="385762">
                  <a:moveTo>
                    <a:pt x="133350" y="0"/>
                  </a:moveTo>
                  <a:lnTo>
                    <a:pt x="1736407" y="0"/>
                  </a:lnTo>
                  <a:lnTo>
                    <a:pt x="1603057" y="385762"/>
                  </a:lnTo>
                  <a:lnTo>
                    <a:pt x="0" y="385762"/>
                  </a:lnTo>
                  <a:close/>
                </a:path>
              </a:pathLst>
            </a:custGeom>
            <a:solidFill>
              <a:srgbClr val="E7EDF3"/>
            </a:solidFill>
            <a:ln w="13335">
              <a:solidFill>
                <a:srgbClr val="334E68"/>
              </a:solidFill>
            </a:ln>
          </p:spPr>
        </p:sp>
        <p:sp>
          <p:nvSpPr>
            <p:cNvPr id="39" name="TextBox 39"/>
            <p:cNvSpPr txBox="1"/>
            <p:nvPr/>
          </p:nvSpPr>
          <p:spPr>
            <a:xfrm>
              <a:off x="1311173" y="5314474"/>
              <a:ext cx="463753"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工作者</a:t>
              </a:r>
            </a:p>
          </p:txBody>
        </p:sp>
        <p:sp>
          <p:nvSpPr>
            <p:cNvPr id="40" name="TextBox 40"/>
            <p:cNvSpPr txBox="1"/>
            <p:nvPr/>
          </p:nvSpPr>
          <p:spPr>
            <a:xfrm>
              <a:off x="3406813" y="5314474"/>
              <a:ext cx="312979"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活动</a:t>
              </a:r>
            </a:p>
          </p:txBody>
        </p:sp>
        <p:sp>
          <p:nvSpPr>
            <p:cNvPr id="41" name="TextBox 41"/>
            <p:cNvSpPr txBox="1"/>
            <p:nvPr/>
          </p:nvSpPr>
          <p:spPr>
            <a:xfrm>
              <a:off x="5426113" y="5314474"/>
              <a:ext cx="312979"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工件</a:t>
              </a:r>
            </a:p>
          </p:txBody>
        </p:sp>
        <p:sp>
          <p:nvSpPr>
            <p:cNvPr id="42" name="Rectangle 42"/>
            <p:cNvSpPr/>
            <p:nvPr/>
          </p:nvSpPr>
          <p:spPr>
            <a:xfrm>
              <a:off x="2391728" y="5196840"/>
              <a:ext cx="323850" cy="165735"/>
            </a:xfrm>
            <a:prstGeom prst="roundRect">
              <a:avLst>
                <a:gd name="adj" fmla="val 22989"/>
              </a:avLst>
            </a:prstGeom>
            <a:solidFill>
              <a:srgbClr val="FFFFFF"/>
            </a:solidFill>
            <a:ln>
              <a:noFill/>
            </a:ln>
          </p:spPr>
        </p:sp>
        <p:sp>
          <p:nvSpPr>
            <p:cNvPr id="43" name="TextBox 43"/>
            <p:cNvSpPr txBox="1"/>
            <p:nvPr/>
          </p:nvSpPr>
          <p:spPr>
            <a:xfrm>
              <a:off x="2427732" y="5219700"/>
              <a:ext cx="251841"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执行</a:t>
              </a:r>
            </a:p>
          </p:txBody>
        </p:sp>
        <p:sp>
          <p:nvSpPr>
            <p:cNvPr id="44" name="Rectangle 44"/>
            <p:cNvSpPr/>
            <p:nvPr/>
          </p:nvSpPr>
          <p:spPr>
            <a:xfrm>
              <a:off x="4411028" y="5196840"/>
              <a:ext cx="323850" cy="165735"/>
            </a:xfrm>
            <a:prstGeom prst="roundRect">
              <a:avLst>
                <a:gd name="adj" fmla="val 22989"/>
              </a:avLst>
            </a:prstGeom>
            <a:solidFill>
              <a:srgbClr val="FFFFFF"/>
            </a:solidFill>
            <a:ln>
              <a:noFill/>
            </a:ln>
          </p:spPr>
        </p:sp>
        <p:sp>
          <p:nvSpPr>
            <p:cNvPr id="45" name="TextBox 45"/>
            <p:cNvSpPr txBox="1"/>
            <p:nvPr/>
          </p:nvSpPr>
          <p:spPr>
            <a:xfrm>
              <a:off x="4447032" y="5219700"/>
              <a:ext cx="251841"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产出</a:t>
              </a:r>
            </a:p>
          </p:txBody>
        </p:sp>
      </p:grpSp>
      <p:grpSp>
        <p:nvGrpSpPr>
          <p:cNvPr id="76" name="c2-table-1"/>
          <p:cNvGrpSpPr/>
          <p:nvPr/>
        </p:nvGrpSpPr>
        <p:grpSpPr>
          <a:xfrm>
            <a:off x="6893052" y="1524000"/>
            <a:ext cx="4765548" cy="3857339"/>
            <a:chOff x="6893052" y="1524000"/>
            <a:chExt cx="4765548" cy="3857339"/>
          </a:xfrm>
        </p:grpSpPr>
        <p:sp>
          <p:nvSpPr>
            <p:cNvPr id="47" name="Rectangle 47"/>
            <p:cNvSpPr/>
            <p:nvPr/>
          </p:nvSpPr>
          <p:spPr>
            <a:xfrm>
              <a:off x="6898005" y="1524000"/>
              <a:ext cx="4760595" cy="439102"/>
            </a:xfrm>
            <a:prstGeom prst="rect">
              <a:avLst/>
            </a:prstGeom>
            <a:solidFill>
              <a:srgbClr val="334E68"/>
            </a:solidFill>
            <a:ln>
              <a:noFill/>
            </a:ln>
          </p:spPr>
        </p:sp>
        <p:sp>
          <p:nvSpPr>
            <p:cNvPr id="48" name="TextBox 48"/>
            <p:cNvSpPr txBox="1"/>
            <p:nvPr/>
          </p:nvSpPr>
          <p:spPr>
            <a:xfrm>
              <a:off x="7184708" y="164877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成员</a:t>
              </a:r>
            </a:p>
          </p:txBody>
        </p:sp>
        <p:sp>
          <p:nvSpPr>
            <p:cNvPr id="49" name="TextBox 49"/>
            <p:cNvSpPr txBox="1"/>
            <p:nvPr/>
          </p:nvSpPr>
          <p:spPr>
            <a:xfrm>
              <a:off x="8249984" y="1648778"/>
              <a:ext cx="110413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担任的工作者</a:t>
              </a:r>
            </a:p>
          </p:txBody>
        </p:sp>
        <p:sp>
          <p:nvSpPr>
            <p:cNvPr id="50" name="TextBox 50"/>
            <p:cNvSpPr txBox="1"/>
            <p:nvPr/>
          </p:nvSpPr>
          <p:spPr>
            <a:xfrm>
              <a:off x="10244900" y="1648778"/>
              <a:ext cx="92240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执行的活动</a:t>
              </a:r>
            </a:p>
          </p:txBody>
        </p:sp>
        <p:sp>
          <p:nvSpPr>
            <p:cNvPr id="51" name="TextBox 51"/>
            <p:cNvSpPr txBox="1"/>
            <p:nvPr/>
          </p:nvSpPr>
          <p:spPr>
            <a:xfrm>
              <a:off x="6994017" y="2087880"/>
              <a:ext cx="391088"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Paul</a:t>
              </a:r>
            </a:p>
          </p:txBody>
        </p:sp>
        <p:sp>
          <p:nvSpPr>
            <p:cNvPr id="52" name="TextBox 52"/>
            <p:cNvSpPr txBox="1"/>
            <p:nvPr/>
          </p:nvSpPr>
          <p:spPr>
            <a:xfrm>
              <a:off x="7945564" y="2087880"/>
              <a:ext cx="137337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设计员 Designer</a:t>
              </a:r>
            </a:p>
          </p:txBody>
        </p:sp>
        <p:sp>
          <p:nvSpPr>
            <p:cNvPr id="53" name="TextBox 53"/>
            <p:cNvSpPr txBox="1"/>
            <p:nvPr/>
          </p:nvSpPr>
          <p:spPr>
            <a:xfrm>
              <a:off x="9850564" y="2087880"/>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定义操作</a:t>
              </a:r>
            </a:p>
          </p:txBody>
        </p:sp>
        <p:sp>
          <p:nvSpPr>
            <p:cNvPr id="54" name="Rectangle 54"/>
            <p:cNvSpPr/>
            <p:nvPr/>
          </p:nvSpPr>
          <p:spPr>
            <a:xfrm>
              <a:off x="6898005" y="2397442"/>
              <a:ext cx="4760595" cy="9525"/>
            </a:xfrm>
            <a:prstGeom prst="rect">
              <a:avLst/>
            </a:prstGeom>
            <a:solidFill>
              <a:srgbClr val="D9DFEA"/>
            </a:solidFill>
            <a:ln>
              <a:noFill/>
            </a:ln>
          </p:spPr>
        </p:sp>
        <p:sp>
          <p:nvSpPr>
            <p:cNvPr id="55" name="Rectangle 55"/>
            <p:cNvSpPr/>
            <p:nvPr/>
          </p:nvSpPr>
          <p:spPr>
            <a:xfrm>
              <a:off x="6898005" y="2402205"/>
              <a:ext cx="4760595" cy="679132"/>
            </a:xfrm>
            <a:prstGeom prst="rect">
              <a:avLst/>
            </a:prstGeom>
            <a:solidFill>
              <a:srgbClr val="F4F6FB"/>
            </a:solidFill>
            <a:ln>
              <a:noFill/>
            </a:ln>
          </p:spPr>
        </p:sp>
        <p:sp>
          <p:nvSpPr>
            <p:cNvPr id="56" name="TextBox 56"/>
            <p:cNvSpPr txBox="1"/>
            <p:nvPr/>
          </p:nvSpPr>
          <p:spPr>
            <a:xfrm>
              <a:off x="6994017" y="2646998"/>
              <a:ext cx="478174"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Mary</a:t>
              </a:r>
            </a:p>
          </p:txBody>
        </p:sp>
        <p:sp>
          <p:nvSpPr>
            <p:cNvPr id="57" name="TextBox 57"/>
            <p:cNvSpPr txBox="1"/>
            <p:nvPr/>
          </p:nvSpPr>
          <p:spPr>
            <a:xfrm>
              <a:off x="7945564" y="2526982"/>
              <a:ext cx="1582484"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用例描述员</a:t>
              </a:r>
              <a:br/>
              <a:r>
                <a:rPr lang="en-US" sz="1350" dirty="0">
                  <a:solidFill>
                    <a:srgbClr val="1F2937"/>
                  </a:solidFill>
                  <a:latin typeface="+mn-lt"/>
                  <a:ea typeface="+mn-ea"/>
                  <a:cs typeface="+mn-cs"/>
                </a:rPr>
                <a:t>Use-Case Specifier</a:t>
              </a:r>
            </a:p>
          </p:txBody>
        </p:sp>
        <p:sp>
          <p:nvSpPr>
            <p:cNvPr id="58" name="TextBox 58"/>
            <p:cNvSpPr txBox="1"/>
            <p:nvPr/>
          </p:nvSpPr>
          <p:spPr>
            <a:xfrm>
              <a:off x="9850564" y="2646998"/>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描述一个用例</a:t>
              </a:r>
            </a:p>
          </p:txBody>
        </p:sp>
        <p:sp>
          <p:nvSpPr>
            <p:cNvPr id="59" name="Rectangle 59"/>
            <p:cNvSpPr/>
            <p:nvPr/>
          </p:nvSpPr>
          <p:spPr>
            <a:xfrm>
              <a:off x="6898005" y="3075622"/>
              <a:ext cx="4760595" cy="9525"/>
            </a:xfrm>
            <a:prstGeom prst="rect">
              <a:avLst/>
            </a:prstGeom>
            <a:solidFill>
              <a:srgbClr val="D9DFEA"/>
            </a:solidFill>
            <a:ln>
              <a:noFill/>
            </a:ln>
          </p:spPr>
        </p:sp>
        <p:sp>
          <p:nvSpPr>
            <p:cNvPr id="60" name="TextBox 60"/>
            <p:cNvSpPr txBox="1"/>
            <p:nvPr/>
          </p:nvSpPr>
          <p:spPr>
            <a:xfrm>
              <a:off x="6994017" y="3326130"/>
              <a:ext cx="334516"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Joe</a:t>
              </a:r>
            </a:p>
          </p:txBody>
        </p:sp>
        <p:sp>
          <p:nvSpPr>
            <p:cNvPr id="61" name="TextBox 61"/>
            <p:cNvSpPr txBox="1"/>
            <p:nvPr/>
          </p:nvSpPr>
          <p:spPr>
            <a:xfrm>
              <a:off x="7945564" y="3206115"/>
              <a:ext cx="1531048"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用例设计员</a:t>
              </a:r>
              <a:br/>
              <a:r>
                <a:rPr lang="en-US" sz="1350" dirty="0">
                  <a:solidFill>
                    <a:srgbClr val="1F2937"/>
                  </a:solidFill>
                  <a:latin typeface="+mn-lt"/>
                  <a:ea typeface="+mn-ea"/>
                  <a:cs typeface="+mn-cs"/>
                </a:rPr>
                <a:t>Use-Case Designer</a:t>
              </a:r>
            </a:p>
          </p:txBody>
        </p:sp>
        <p:sp>
          <p:nvSpPr>
            <p:cNvPr id="62" name="TextBox 62"/>
            <p:cNvSpPr txBox="1"/>
            <p:nvPr/>
          </p:nvSpPr>
          <p:spPr>
            <a:xfrm>
              <a:off x="9850564" y="3326130"/>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分配行为</a:t>
              </a:r>
            </a:p>
          </p:txBody>
        </p:sp>
        <p:sp>
          <p:nvSpPr>
            <p:cNvPr id="63" name="Rectangle 63"/>
            <p:cNvSpPr/>
            <p:nvPr/>
          </p:nvSpPr>
          <p:spPr>
            <a:xfrm>
              <a:off x="6898005" y="3754755"/>
              <a:ext cx="4760595" cy="9525"/>
            </a:xfrm>
            <a:prstGeom prst="rect">
              <a:avLst/>
            </a:prstGeom>
            <a:solidFill>
              <a:srgbClr val="D9DFEA"/>
            </a:solidFill>
            <a:ln>
              <a:noFill/>
            </a:ln>
          </p:spPr>
        </p:sp>
        <p:sp>
          <p:nvSpPr>
            <p:cNvPr id="64" name="Rectangle 64"/>
            <p:cNvSpPr/>
            <p:nvPr/>
          </p:nvSpPr>
          <p:spPr>
            <a:xfrm>
              <a:off x="6898005" y="3759518"/>
              <a:ext cx="4760595" cy="679132"/>
            </a:xfrm>
            <a:prstGeom prst="rect">
              <a:avLst/>
            </a:prstGeom>
            <a:solidFill>
              <a:srgbClr val="F4F6FB"/>
            </a:solidFill>
            <a:ln>
              <a:noFill/>
            </a:ln>
          </p:spPr>
        </p:sp>
        <p:sp>
          <p:nvSpPr>
            <p:cNvPr id="65" name="TextBox 65"/>
            <p:cNvSpPr txBox="1"/>
            <p:nvPr/>
          </p:nvSpPr>
          <p:spPr>
            <a:xfrm>
              <a:off x="6994017" y="4005262"/>
              <a:ext cx="553063"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Sylvia</a:t>
              </a:r>
            </a:p>
          </p:txBody>
        </p:sp>
        <p:sp>
          <p:nvSpPr>
            <p:cNvPr id="66" name="TextBox 66"/>
            <p:cNvSpPr txBox="1"/>
            <p:nvPr/>
          </p:nvSpPr>
          <p:spPr>
            <a:xfrm>
              <a:off x="7945564" y="3885248"/>
              <a:ext cx="1445324"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设计复审员 Design</a:t>
              </a:r>
              <a:br/>
              <a:r>
                <a:rPr lang="en-US" sz="1350" dirty="0">
                  <a:solidFill>
                    <a:srgbClr val="1F2937"/>
                  </a:solidFill>
                  <a:latin typeface="+mn-lt"/>
                  <a:ea typeface="+mn-ea"/>
                  <a:cs typeface="+mn-cs"/>
                </a:rPr>
                <a:t>Reviewer</a:t>
              </a:r>
            </a:p>
          </p:txBody>
        </p:sp>
        <p:sp>
          <p:nvSpPr>
            <p:cNvPr id="67" name="TextBox 67"/>
            <p:cNvSpPr txBox="1"/>
            <p:nvPr/>
          </p:nvSpPr>
          <p:spPr>
            <a:xfrm>
              <a:off x="9850564" y="4005262"/>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复审用例模型</a:t>
              </a:r>
            </a:p>
          </p:txBody>
        </p:sp>
        <p:sp>
          <p:nvSpPr>
            <p:cNvPr id="68" name="Rectangle 68"/>
            <p:cNvSpPr/>
            <p:nvPr/>
          </p:nvSpPr>
          <p:spPr>
            <a:xfrm>
              <a:off x="6898005" y="4433888"/>
              <a:ext cx="4760595" cy="9525"/>
            </a:xfrm>
            <a:prstGeom prst="rect">
              <a:avLst/>
            </a:prstGeom>
            <a:solidFill>
              <a:srgbClr val="D9DFEA"/>
            </a:solidFill>
            <a:ln>
              <a:noFill/>
            </a:ln>
          </p:spPr>
        </p:sp>
        <p:sp>
          <p:nvSpPr>
            <p:cNvPr id="69" name="TextBox 69"/>
            <p:cNvSpPr txBox="1"/>
            <p:nvPr/>
          </p:nvSpPr>
          <p:spPr>
            <a:xfrm>
              <a:off x="6994017" y="4683442"/>
              <a:ext cx="649375"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Stefan</a:t>
              </a:r>
            </a:p>
          </p:txBody>
        </p:sp>
        <p:sp>
          <p:nvSpPr>
            <p:cNvPr id="70" name="TextBox 70"/>
            <p:cNvSpPr txBox="1"/>
            <p:nvPr/>
          </p:nvSpPr>
          <p:spPr>
            <a:xfrm>
              <a:off x="7945564" y="4683442"/>
              <a:ext cx="147332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架构师 Architect</a:t>
              </a:r>
            </a:p>
          </p:txBody>
        </p:sp>
        <p:sp>
          <p:nvSpPr>
            <p:cNvPr id="71" name="TextBox 71"/>
            <p:cNvSpPr txBox="1"/>
            <p:nvPr/>
          </p:nvSpPr>
          <p:spPr>
            <a:xfrm>
              <a:off x="9850564" y="4563428"/>
              <a:ext cx="15567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定义用例视图与逻辑</a:t>
              </a:r>
              <a:br/>
              <a:r>
                <a:rPr lang="zh-CN" sz="1350" dirty="0">
                  <a:solidFill>
                    <a:srgbClr val="1F2937"/>
                  </a:solidFill>
                  <a:latin typeface="+mn-lt"/>
                  <a:ea typeface="+mn-ea"/>
                  <a:cs typeface="+mn-cs"/>
                </a:rPr>
                <a:t>视图</a:t>
              </a:r>
            </a:p>
          </p:txBody>
        </p:sp>
        <p:sp>
          <p:nvSpPr>
            <p:cNvPr id="72" name="Rectangle 72"/>
            <p:cNvSpPr/>
            <p:nvPr/>
          </p:nvSpPr>
          <p:spPr>
            <a:xfrm>
              <a:off x="6898005" y="1524000"/>
              <a:ext cx="4760595" cy="3593782"/>
            </a:xfrm>
            <a:prstGeom prst="rect">
              <a:avLst/>
            </a:prstGeom>
            <a:noFill/>
            <a:ln w="14288">
              <a:solidFill>
                <a:srgbClr val="D9DFEA"/>
              </a:solidFill>
            </a:ln>
          </p:spPr>
        </p:sp>
        <p:sp>
          <p:nvSpPr>
            <p:cNvPr id="73" name="Rectangle 73"/>
            <p:cNvSpPr/>
            <p:nvPr/>
          </p:nvSpPr>
          <p:spPr>
            <a:xfrm>
              <a:off x="7844790" y="1524000"/>
              <a:ext cx="9525" cy="3593782"/>
            </a:xfrm>
            <a:prstGeom prst="rect">
              <a:avLst/>
            </a:prstGeom>
            <a:solidFill>
              <a:srgbClr val="D9DFEA"/>
            </a:solidFill>
            <a:ln>
              <a:noFill/>
            </a:ln>
          </p:spPr>
        </p:sp>
        <p:sp>
          <p:nvSpPr>
            <p:cNvPr id="74" name="Rectangle 74"/>
            <p:cNvSpPr/>
            <p:nvPr/>
          </p:nvSpPr>
          <p:spPr>
            <a:xfrm>
              <a:off x="9749790" y="1524000"/>
              <a:ext cx="9525" cy="3593782"/>
            </a:xfrm>
            <a:prstGeom prst="rect">
              <a:avLst/>
            </a:prstGeom>
            <a:solidFill>
              <a:srgbClr val="D9DFEA"/>
            </a:solidFill>
            <a:ln>
              <a:noFill/>
            </a:ln>
          </p:spPr>
        </p:sp>
        <p:sp>
          <p:nvSpPr>
            <p:cNvPr id="75" name="TextBox 75"/>
            <p:cNvSpPr txBox="1"/>
            <p:nvPr/>
          </p:nvSpPr>
          <p:spPr>
            <a:xfrm>
              <a:off x="6893052" y="5190649"/>
              <a:ext cx="396773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工作者用来做资源规划：项目中的每个人被指派为一个或几个工作者</a:t>
              </a:r>
            </a:p>
          </p:txBody>
        </p:sp>
      </p:grpSp>
      <p:grpSp>
        <p:nvGrpSpPr>
          <p:cNvPr id="83" name="c2-callout-2"/>
          <p:cNvGrpSpPr/>
          <p:nvPr/>
        </p:nvGrpSpPr>
        <p:grpSpPr>
          <a:xfrm>
            <a:off x="6898005" y="5513070"/>
            <a:ext cx="4760595" cy="729615"/>
            <a:chOff x="6898005" y="5513070"/>
            <a:chExt cx="4760595" cy="729615"/>
          </a:xfrm>
        </p:grpSpPr>
        <p:sp>
          <p:nvSpPr>
            <p:cNvPr id="77" name="Rectangle 77"/>
            <p:cNvSpPr/>
            <p:nvPr/>
          </p:nvSpPr>
          <p:spPr>
            <a:xfrm>
              <a:off x="6898005" y="5513070"/>
              <a:ext cx="4760595" cy="729615"/>
            </a:xfrm>
            <a:prstGeom prst="roundRect">
              <a:avLst>
                <a:gd name="adj" fmla="val 15666"/>
              </a:avLst>
            </a:prstGeom>
            <a:solidFill>
              <a:srgbClr val="FDEEE7"/>
            </a:solidFill>
            <a:ln>
              <a:noFill/>
            </a:ln>
          </p:spPr>
        </p:sp>
        <p:grpSp>
          <p:nvGrpSpPr>
            <p:cNvPr id="81" name="Group 81"/>
            <p:cNvGrpSpPr/>
            <p:nvPr/>
          </p:nvGrpSpPr>
          <p:grpSpPr>
            <a:xfrm>
              <a:off x="7102793" y="5777865"/>
              <a:ext cx="200026" cy="200025"/>
              <a:chOff x="7102793" y="5777865"/>
              <a:chExt cx="200026" cy="200025"/>
            </a:xfrm>
          </p:grpSpPr>
          <p:sp>
            <p:nvSpPr>
              <p:cNvPr id="78" name="Freeform 78"/>
              <p:cNvSpPr/>
              <p:nvPr/>
            </p:nvSpPr>
            <p:spPr>
              <a:xfrm>
                <a:off x="7102793" y="577786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79" name="Freeform 79"/>
              <p:cNvSpPr/>
              <p:nvPr/>
            </p:nvSpPr>
            <p:spPr>
              <a:xfrm>
                <a:off x="7142531" y="582231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80" name="Freeform 80"/>
              <p:cNvSpPr/>
              <p:nvPr/>
            </p:nvSpPr>
            <p:spPr>
              <a:xfrm>
                <a:off x="7177247" y="593344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82" name="TextBox 82"/>
            <p:cNvSpPr txBox="1"/>
            <p:nvPr/>
          </p:nvSpPr>
          <p:spPr>
            <a:xfrm>
              <a:off x="7405497" y="5658802"/>
              <a:ext cx="378561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记法：工作者执行活动，活动产出工件，协调好的</a:t>
              </a:r>
              <a:br/>
              <a:r>
                <a:rPr lang="zh-CN" sz="1350" dirty="0">
                  <a:solidFill>
                    <a:srgbClr val="C2410C"/>
                  </a:solidFill>
                  <a:latin typeface="+mn-lt"/>
                  <a:ea typeface="+mn-ea"/>
                  <a:cs typeface="+mn-cs"/>
                </a:rPr>
                <a:t>一串活动组成工作流。</a:t>
              </a:r>
            </a:p>
          </p:txBody>
        </p:sp>
      </p:grpSp>
      <p:grpSp>
        <p:nvGrpSpPr>
          <p:cNvPr id="86" name="footer"/>
          <p:cNvGrpSpPr/>
          <p:nvPr/>
        </p:nvGrpSpPr>
        <p:grpSpPr>
          <a:xfrm>
            <a:off x="528447" y="6581299"/>
            <a:ext cx="11135106" cy="190690"/>
            <a:chOff x="528447" y="6581299"/>
            <a:chExt cx="11135106" cy="190690"/>
          </a:xfrm>
        </p:grpSpPr>
        <p:sp>
          <p:nvSpPr>
            <p:cNvPr id="84" name="TextBox 84"/>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85" name="TextBox 8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49</a:t>
              </a:r>
            </a:p>
          </p:txBody>
        </p:sp>
      </p:grpSp>
    </p:spTree>
  </p:cSld>
  <p:clrMapOvr>
    <a:masterClrMapping/>
  </p:clrMapOvr>
  <p:transition xmlns:p14="http://schemas.microsoft.com/office/powerpoint/2010/main" p14:dur="400">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1994535" cy="266700"/>
            </a:xfrm>
            <a:prstGeom prst="roundRect">
              <a:avLst>
                <a:gd name="adj" fmla="val 50000"/>
              </a:avLst>
            </a:prstGeom>
            <a:solidFill>
              <a:srgbClr val="E7EDF3"/>
            </a:solidFill>
            <a:ln>
              <a:noFill/>
            </a:ln>
          </p:spPr>
        </p:sp>
        <p:sp>
          <p:nvSpPr>
            <p:cNvPr id="3" name="TextBox 3"/>
            <p:cNvSpPr txBox="1"/>
            <p:nvPr/>
          </p:nvSpPr>
          <p:spPr>
            <a:xfrm>
              <a:off x="595297" y="407194"/>
              <a:ext cx="187074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RUP 统一过程</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工作流长什么样：以分析与设计为例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8" name="c1-table-1"/>
          <p:cNvGrpSpPr/>
          <p:nvPr/>
        </p:nvGrpSpPr>
        <p:grpSpPr>
          <a:xfrm>
            <a:off x="533400" y="1524000"/>
            <a:ext cx="4760595" cy="2517457"/>
            <a:chOff x="533400" y="1524000"/>
            <a:chExt cx="4760595" cy="2517457"/>
          </a:xfrm>
        </p:grpSpPr>
        <p:sp>
          <p:nvSpPr>
            <p:cNvPr id="7" name="Rectangle 7"/>
            <p:cNvSpPr/>
            <p:nvPr/>
          </p:nvSpPr>
          <p:spPr>
            <a:xfrm>
              <a:off x="533400" y="1524000"/>
              <a:ext cx="4760595" cy="439102"/>
            </a:xfrm>
            <a:prstGeom prst="rect">
              <a:avLst/>
            </a:prstGeom>
            <a:solidFill>
              <a:srgbClr val="334E68"/>
            </a:solidFill>
            <a:ln>
              <a:noFill/>
            </a:ln>
          </p:spPr>
        </p:sp>
        <p:sp>
          <p:nvSpPr>
            <p:cNvPr id="8" name="TextBox 8"/>
            <p:cNvSpPr txBox="1"/>
            <p:nvPr/>
          </p:nvSpPr>
          <p:spPr>
            <a:xfrm>
              <a:off x="825436" y="1648778"/>
              <a:ext cx="55892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工作流</a:t>
              </a:r>
            </a:p>
          </p:txBody>
        </p:sp>
        <p:sp>
          <p:nvSpPr>
            <p:cNvPr id="9" name="TextBox 9"/>
            <p:cNvSpPr txBox="1"/>
            <p:nvPr/>
          </p:nvSpPr>
          <p:spPr>
            <a:xfrm>
              <a:off x="3296602" y="164877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目的</a:t>
              </a:r>
            </a:p>
          </p:txBody>
        </p:sp>
        <p:sp>
          <p:nvSpPr>
            <p:cNvPr id="10" name="TextBox 10"/>
            <p:cNvSpPr txBox="1"/>
            <p:nvPr/>
          </p:nvSpPr>
          <p:spPr>
            <a:xfrm>
              <a:off x="629412" y="2447925"/>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需求</a:t>
              </a:r>
            </a:p>
          </p:txBody>
        </p:sp>
        <p:sp>
          <p:nvSpPr>
            <p:cNvPr id="11" name="TextBox 11"/>
            <p:cNvSpPr txBox="1"/>
            <p:nvPr/>
          </p:nvSpPr>
          <p:spPr>
            <a:xfrm>
              <a:off x="1772412" y="2087880"/>
              <a:ext cx="3271266" cy="98412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与客户就系统该做什么达成并保持一致；让</a:t>
              </a:r>
              <a:br/>
              <a:r>
                <a:rPr lang="zh-CN" sz="1350" dirty="0">
                  <a:solidFill>
                    <a:srgbClr val="1F2937"/>
                  </a:solidFill>
                  <a:latin typeface="+mn-lt"/>
                  <a:ea typeface="+mn-ea"/>
                  <a:cs typeface="+mn-cs"/>
                </a:rPr>
                <a:t>开发人员理解需求；界定系统范围；为迭代</a:t>
              </a:r>
              <a:br/>
              <a:r>
                <a:rPr lang="zh-CN" sz="1350" dirty="0">
                  <a:solidFill>
                    <a:srgbClr val="1F2937"/>
                  </a:solidFill>
                  <a:latin typeface="+mn-lt"/>
                  <a:ea typeface="+mn-ea"/>
                  <a:cs typeface="+mn-cs"/>
                </a:rPr>
                <a:t>内容和成本时间估算提供依据；定义用户界</a:t>
              </a:r>
              <a:br/>
              <a:r>
                <a:rPr lang="zh-CN" sz="1350" dirty="0">
                  <a:solidFill>
                    <a:srgbClr val="1F2937"/>
                  </a:solidFill>
                  <a:latin typeface="+mn-lt"/>
                  <a:ea typeface="+mn-ea"/>
                  <a:cs typeface="+mn-cs"/>
                </a:rPr>
                <a:t>面</a:t>
              </a:r>
            </a:p>
          </p:txBody>
        </p:sp>
        <p:sp>
          <p:nvSpPr>
            <p:cNvPr id="12" name="Rectangle 12"/>
            <p:cNvSpPr/>
            <p:nvPr/>
          </p:nvSpPr>
          <p:spPr>
            <a:xfrm>
              <a:off x="533400" y="3117532"/>
              <a:ext cx="4760595" cy="9525"/>
            </a:xfrm>
            <a:prstGeom prst="rect">
              <a:avLst/>
            </a:prstGeom>
            <a:solidFill>
              <a:srgbClr val="D9DFEA"/>
            </a:solidFill>
            <a:ln>
              <a:noFill/>
            </a:ln>
          </p:spPr>
        </p:sp>
        <p:sp>
          <p:nvSpPr>
            <p:cNvPr id="13" name="Rectangle 13"/>
            <p:cNvSpPr/>
            <p:nvPr/>
          </p:nvSpPr>
          <p:spPr>
            <a:xfrm>
              <a:off x="533400" y="3122295"/>
              <a:ext cx="4760595" cy="919162"/>
            </a:xfrm>
            <a:prstGeom prst="rect">
              <a:avLst/>
            </a:prstGeom>
            <a:solidFill>
              <a:srgbClr val="F4F6FB"/>
            </a:solidFill>
            <a:ln>
              <a:noFill/>
            </a:ln>
          </p:spPr>
        </p:sp>
        <p:sp>
          <p:nvSpPr>
            <p:cNvPr id="14" name="TextBox 14"/>
            <p:cNvSpPr txBox="1"/>
            <p:nvPr/>
          </p:nvSpPr>
          <p:spPr>
            <a:xfrm>
              <a:off x="629412" y="3487102"/>
              <a:ext cx="92240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分析与设计</a:t>
              </a:r>
            </a:p>
          </p:txBody>
        </p:sp>
        <p:sp>
          <p:nvSpPr>
            <p:cNvPr id="15" name="TextBox 15"/>
            <p:cNvSpPr txBox="1"/>
            <p:nvPr/>
          </p:nvSpPr>
          <p:spPr>
            <a:xfrm>
              <a:off x="1772412" y="3247072"/>
              <a:ext cx="3271266" cy="74409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把需求转换成未来系统的设计；演化出健壮</a:t>
              </a:r>
              <a:br/>
              <a:r>
                <a:rPr lang="zh-CN" sz="1350" dirty="0">
                  <a:solidFill>
                    <a:srgbClr val="1F2937"/>
                  </a:solidFill>
                  <a:latin typeface="+mn-lt"/>
                  <a:ea typeface="+mn-ea"/>
                  <a:cs typeface="+mn-cs"/>
                </a:rPr>
                <a:t>的体系结构；使设计适应实现环境，并为性</a:t>
              </a:r>
              <a:br/>
              <a:r>
                <a:rPr lang="zh-CN" sz="1350" dirty="0">
                  <a:solidFill>
                    <a:srgbClr val="1F2937"/>
                  </a:solidFill>
                  <a:latin typeface="+mn-lt"/>
                  <a:ea typeface="+mn-ea"/>
                  <a:cs typeface="+mn-cs"/>
                </a:rPr>
                <a:t>能做调整</a:t>
              </a:r>
            </a:p>
          </p:txBody>
        </p:sp>
        <p:sp>
          <p:nvSpPr>
            <p:cNvPr id="16" name="Rectangle 16"/>
            <p:cNvSpPr/>
            <p:nvPr/>
          </p:nvSpPr>
          <p:spPr>
            <a:xfrm>
              <a:off x="533400" y="1524000"/>
              <a:ext cx="4760595" cy="2516505"/>
            </a:xfrm>
            <a:prstGeom prst="rect">
              <a:avLst/>
            </a:prstGeom>
            <a:noFill/>
            <a:ln w="14288">
              <a:solidFill>
                <a:srgbClr val="D9DFEA"/>
              </a:solidFill>
            </a:ln>
          </p:spPr>
        </p:sp>
        <p:sp>
          <p:nvSpPr>
            <p:cNvPr id="17" name="Rectangle 17"/>
            <p:cNvSpPr/>
            <p:nvPr/>
          </p:nvSpPr>
          <p:spPr>
            <a:xfrm>
              <a:off x="1671638" y="1524000"/>
              <a:ext cx="9525" cy="2516505"/>
            </a:xfrm>
            <a:prstGeom prst="rect">
              <a:avLst/>
            </a:prstGeom>
            <a:solidFill>
              <a:srgbClr val="D9DFEA"/>
            </a:solidFill>
            <a:ln>
              <a:noFill/>
            </a:ln>
          </p:spPr>
        </p:sp>
      </p:grpSp>
      <p:grpSp>
        <p:nvGrpSpPr>
          <p:cNvPr id="24" name="c1-kv-2"/>
          <p:cNvGrpSpPr/>
          <p:nvPr/>
        </p:nvGrpSpPr>
        <p:grpSpPr>
          <a:xfrm>
            <a:off x="526542" y="4232910"/>
            <a:ext cx="4767453" cy="1164146"/>
            <a:chOff x="526542" y="4232910"/>
            <a:chExt cx="4767453" cy="1164146"/>
          </a:xfrm>
        </p:grpSpPr>
        <p:sp>
          <p:nvSpPr>
            <p:cNvPr id="19" name="TextBox 19"/>
            <p:cNvSpPr txBox="1"/>
            <p:nvPr/>
          </p:nvSpPr>
          <p:spPr>
            <a:xfrm>
              <a:off x="526542" y="4232910"/>
              <a:ext cx="1285875"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需求的主要工件</a:t>
              </a:r>
            </a:p>
          </p:txBody>
        </p:sp>
        <p:sp>
          <p:nvSpPr>
            <p:cNvPr id="20" name="TextBox 20"/>
            <p:cNvSpPr txBox="1"/>
            <p:nvPr/>
          </p:nvSpPr>
          <p:spPr>
            <a:xfrm>
              <a:off x="2560129" y="4232910"/>
              <a:ext cx="2585466"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用例模型（参与者、用例、用例规</a:t>
              </a:r>
              <a:br/>
              <a:r>
                <a:rPr lang="zh-CN" sz="1350" dirty="0">
                  <a:solidFill>
                    <a:srgbClr val="1F2937"/>
                  </a:solidFill>
                  <a:latin typeface="+mn-lt"/>
                  <a:ea typeface="+mn-ea"/>
                  <a:cs typeface="+mn-cs"/>
                </a:rPr>
                <a:t>约）、词汇表、补充规约</a:t>
              </a:r>
            </a:p>
          </p:txBody>
        </p:sp>
        <p:sp>
          <p:nvSpPr>
            <p:cNvPr id="21" name="Rectangle 21"/>
            <p:cNvSpPr/>
            <p:nvPr/>
          </p:nvSpPr>
          <p:spPr>
            <a:xfrm>
              <a:off x="533400" y="4772978"/>
              <a:ext cx="4760595" cy="9525"/>
            </a:xfrm>
            <a:prstGeom prst="rect">
              <a:avLst/>
            </a:prstGeom>
            <a:solidFill>
              <a:srgbClr val="D9DFEA"/>
            </a:solidFill>
            <a:ln>
              <a:noFill/>
            </a:ln>
          </p:spPr>
        </p:sp>
        <p:sp>
          <p:nvSpPr>
            <p:cNvPr id="22" name="TextBox 22"/>
            <p:cNvSpPr txBox="1"/>
            <p:nvPr/>
          </p:nvSpPr>
          <p:spPr>
            <a:xfrm>
              <a:off x="526542" y="4879658"/>
              <a:ext cx="1831086"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分析与设计的主要工件</a:t>
              </a:r>
            </a:p>
          </p:txBody>
        </p:sp>
        <p:sp>
          <p:nvSpPr>
            <p:cNvPr id="23" name="TextBox 23"/>
            <p:cNvSpPr txBox="1"/>
            <p:nvPr/>
          </p:nvSpPr>
          <p:spPr>
            <a:xfrm>
              <a:off x="2560129" y="4879658"/>
              <a:ext cx="2585466"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设计模型、体系结构文档、数据模</a:t>
              </a:r>
              <a:br/>
              <a:r>
                <a:rPr lang="zh-CN" sz="1350" dirty="0">
                  <a:solidFill>
                    <a:srgbClr val="1F2937"/>
                  </a:solidFill>
                  <a:latin typeface="+mn-lt"/>
                  <a:ea typeface="+mn-ea"/>
                  <a:cs typeface="+mn-cs"/>
                </a:rPr>
                <a:t>型</a:t>
              </a:r>
            </a:p>
          </p:txBody>
        </p:sp>
      </p:grpSp>
      <p:grpSp>
        <p:nvGrpSpPr>
          <p:cNvPr id="71" name="c2-flow-1"/>
          <p:cNvGrpSpPr/>
          <p:nvPr/>
        </p:nvGrpSpPr>
        <p:grpSpPr>
          <a:xfrm>
            <a:off x="5732145" y="1599248"/>
            <a:ext cx="5793105" cy="2531744"/>
            <a:chOff x="5732145" y="1599248"/>
            <a:chExt cx="5793105" cy="2531744"/>
          </a:xfrm>
        </p:grpSpPr>
        <p:sp>
          <p:nvSpPr>
            <p:cNvPr id="25" name="Freeform 25"/>
            <p:cNvSpPr/>
            <p:nvPr/>
          </p:nvSpPr>
          <p:spPr>
            <a:xfrm>
              <a:off x="7871460" y="1935480"/>
              <a:ext cx="9525" cy="49530"/>
            </a:xfrm>
            <a:custGeom>
              <a:avLst/>
              <a:gdLst/>
              <a:ahLst/>
              <a:cxnLst/>
              <a:rect l="l" t="t" r="r" b="b"/>
              <a:pathLst>
                <a:path w="9525" h="49530">
                  <a:moveTo>
                    <a:pt x="0" y="49530"/>
                  </a:moveTo>
                  <a:lnTo>
                    <a:pt x="0" y="0"/>
                  </a:lnTo>
                </a:path>
              </a:pathLst>
            </a:custGeom>
            <a:noFill/>
            <a:ln w="15240">
              <a:solidFill>
                <a:srgbClr val="5B6475"/>
              </a:solidFill>
            </a:ln>
          </p:spPr>
        </p:sp>
        <p:sp>
          <p:nvSpPr>
            <p:cNvPr id="26" name="Freeform 26"/>
            <p:cNvSpPr/>
            <p:nvPr/>
          </p:nvSpPr>
          <p:spPr>
            <a:xfrm>
              <a:off x="7819072" y="193548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7" name="Freeform 27"/>
            <p:cNvSpPr/>
            <p:nvPr/>
          </p:nvSpPr>
          <p:spPr>
            <a:xfrm>
              <a:off x="6356985" y="2567940"/>
              <a:ext cx="1514475" cy="77152"/>
            </a:xfrm>
            <a:custGeom>
              <a:avLst/>
              <a:gdLst/>
              <a:ahLst/>
              <a:cxnLst/>
              <a:rect l="l" t="t" r="r" b="b"/>
              <a:pathLst>
                <a:path w="1514475" h="77152">
                  <a:moveTo>
                    <a:pt x="1514475" y="49530"/>
                  </a:moveTo>
                  <a:lnTo>
                    <a:pt x="1514475" y="77152"/>
                  </a:lnTo>
                  <a:lnTo>
                    <a:pt x="0" y="77152"/>
                  </a:lnTo>
                  <a:lnTo>
                    <a:pt x="0" y="0"/>
                  </a:lnTo>
                </a:path>
              </a:pathLst>
            </a:custGeom>
            <a:noFill/>
            <a:ln w="15240">
              <a:solidFill>
                <a:srgbClr val="5B6475"/>
              </a:solidFill>
            </a:ln>
          </p:spPr>
        </p:sp>
        <p:sp>
          <p:nvSpPr>
            <p:cNvPr id="28" name="Freeform 28"/>
            <p:cNvSpPr/>
            <p:nvPr/>
          </p:nvSpPr>
          <p:spPr>
            <a:xfrm>
              <a:off x="6304598" y="256794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9" name="Freeform 29"/>
            <p:cNvSpPr/>
            <p:nvPr/>
          </p:nvSpPr>
          <p:spPr>
            <a:xfrm>
              <a:off x="7871460" y="2567940"/>
              <a:ext cx="1514475" cy="77152"/>
            </a:xfrm>
            <a:custGeom>
              <a:avLst/>
              <a:gdLst/>
              <a:ahLst/>
              <a:cxnLst/>
              <a:rect l="l" t="t" r="r" b="b"/>
              <a:pathLst>
                <a:path w="1514475" h="77152">
                  <a:moveTo>
                    <a:pt x="0" y="49530"/>
                  </a:moveTo>
                  <a:lnTo>
                    <a:pt x="0" y="77152"/>
                  </a:lnTo>
                  <a:lnTo>
                    <a:pt x="1514475" y="77152"/>
                  </a:lnTo>
                  <a:lnTo>
                    <a:pt x="1514475" y="0"/>
                  </a:lnTo>
                </a:path>
              </a:pathLst>
            </a:custGeom>
            <a:noFill/>
            <a:ln w="15240">
              <a:solidFill>
                <a:srgbClr val="5B6475"/>
              </a:solidFill>
            </a:ln>
          </p:spPr>
        </p:sp>
        <p:sp>
          <p:nvSpPr>
            <p:cNvPr id="30" name="Freeform 30"/>
            <p:cNvSpPr/>
            <p:nvPr/>
          </p:nvSpPr>
          <p:spPr>
            <a:xfrm>
              <a:off x="9333548" y="256794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1" name="Freeform 31"/>
            <p:cNvSpPr/>
            <p:nvPr/>
          </p:nvSpPr>
          <p:spPr>
            <a:xfrm>
              <a:off x="7871460" y="3057525"/>
              <a:ext cx="1514475" cy="76200"/>
            </a:xfrm>
            <a:custGeom>
              <a:avLst/>
              <a:gdLst/>
              <a:ahLst/>
              <a:cxnLst/>
              <a:rect l="l" t="t" r="r" b="b"/>
              <a:pathLst>
                <a:path w="1514475" h="76200">
                  <a:moveTo>
                    <a:pt x="1514475" y="0"/>
                  </a:moveTo>
                  <a:lnTo>
                    <a:pt x="1514475" y="76200"/>
                  </a:lnTo>
                  <a:lnTo>
                    <a:pt x="0" y="76200"/>
                  </a:lnTo>
                  <a:lnTo>
                    <a:pt x="0" y="46672"/>
                  </a:lnTo>
                </a:path>
              </a:pathLst>
            </a:custGeom>
            <a:noFill/>
            <a:ln w="15240">
              <a:solidFill>
                <a:srgbClr val="5B6475"/>
              </a:solidFill>
            </a:ln>
          </p:spPr>
        </p:sp>
        <p:sp>
          <p:nvSpPr>
            <p:cNvPr id="32" name="Freeform 32"/>
            <p:cNvSpPr/>
            <p:nvPr/>
          </p:nvSpPr>
          <p:spPr>
            <a:xfrm>
              <a:off x="7819072" y="310419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3" name="Freeform 33"/>
            <p:cNvSpPr/>
            <p:nvPr/>
          </p:nvSpPr>
          <p:spPr>
            <a:xfrm>
              <a:off x="9385935" y="3057525"/>
              <a:ext cx="9525" cy="46672"/>
            </a:xfrm>
            <a:custGeom>
              <a:avLst/>
              <a:gdLst/>
              <a:ahLst/>
              <a:cxnLst/>
              <a:rect l="l" t="t" r="r" b="b"/>
              <a:pathLst>
                <a:path w="9525" h="46672">
                  <a:moveTo>
                    <a:pt x="0" y="0"/>
                  </a:moveTo>
                  <a:lnTo>
                    <a:pt x="0" y="46672"/>
                  </a:lnTo>
                </a:path>
              </a:pathLst>
            </a:custGeom>
            <a:noFill/>
            <a:ln w="15240">
              <a:solidFill>
                <a:srgbClr val="5B6475"/>
              </a:solidFill>
            </a:ln>
          </p:spPr>
        </p:sp>
        <p:sp>
          <p:nvSpPr>
            <p:cNvPr id="34" name="Freeform 34"/>
            <p:cNvSpPr/>
            <p:nvPr/>
          </p:nvSpPr>
          <p:spPr>
            <a:xfrm>
              <a:off x="9333548" y="310419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5" name="Freeform 35"/>
            <p:cNvSpPr/>
            <p:nvPr/>
          </p:nvSpPr>
          <p:spPr>
            <a:xfrm>
              <a:off x="9385935" y="3057525"/>
              <a:ext cx="1515428" cy="76200"/>
            </a:xfrm>
            <a:custGeom>
              <a:avLst/>
              <a:gdLst/>
              <a:ahLst/>
              <a:cxnLst/>
              <a:rect l="l" t="t" r="r" b="b"/>
              <a:pathLst>
                <a:path w="1515428" h="76200">
                  <a:moveTo>
                    <a:pt x="0" y="0"/>
                  </a:moveTo>
                  <a:lnTo>
                    <a:pt x="0" y="76200"/>
                  </a:lnTo>
                  <a:lnTo>
                    <a:pt x="1515428" y="76200"/>
                  </a:lnTo>
                  <a:lnTo>
                    <a:pt x="1515428" y="46672"/>
                  </a:lnTo>
                </a:path>
              </a:pathLst>
            </a:custGeom>
            <a:noFill/>
            <a:ln w="15240">
              <a:solidFill>
                <a:srgbClr val="5B6475"/>
              </a:solidFill>
            </a:ln>
          </p:spPr>
        </p:sp>
        <p:sp>
          <p:nvSpPr>
            <p:cNvPr id="36" name="Freeform 36"/>
            <p:cNvSpPr/>
            <p:nvPr/>
          </p:nvSpPr>
          <p:spPr>
            <a:xfrm>
              <a:off x="10848975" y="310419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7" name="Freeform 37"/>
            <p:cNvSpPr/>
            <p:nvPr/>
          </p:nvSpPr>
          <p:spPr>
            <a:xfrm>
              <a:off x="7871460" y="3594735"/>
              <a:ext cx="9525" cy="45720"/>
            </a:xfrm>
            <a:custGeom>
              <a:avLst/>
              <a:gdLst/>
              <a:ahLst/>
              <a:cxnLst/>
              <a:rect l="l" t="t" r="r" b="b"/>
              <a:pathLst>
                <a:path w="9525" h="45720">
                  <a:moveTo>
                    <a:pt x="0" y="0"/>
                  </a:moveTo>
                  <a:lnTo>
                    <a:pt x="0" y="45720"/>
                  </a:lnTo>
                </a:path>
              </a:pathLst>
            </a:custGeom>
            <a:noFill/>
            <a:ln w="15240">
              <a:solidFill>
                <a:srgbClr val="5B6475"/>
              </a:solidFill>
            </a:ln>
          </p:spPr>
        </p:sp>
        <p:sp>
          <p:nvSpPr>
            <p:cNvPr id="38" name="Freeform 38"/>
            <p:cNvSpPr/>
            <p:nvPr/>
          </p:nvSpPr>
          <p:spPr>
            <a:xfrm>
              <a:off x="7819072" y="364045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9" name="Freeform 39"/>
            <p:cNvSpPr/>
            <p:nvPr/>
          </p:nvSpPr>
          <p:spPr>
            <a:xfrm>
              <a:off x="7871460" y="3594735"/>
              <a:ext cx="1514475" cy="75248"/>
            </a:xfrm>
            <a:custGeom>
              <a:avLst/>
              <a:gdLst/>
              <a:ahLst/>
              <a:cxnLst/>
              <a:rect l="l" t="t" r="r" b="b"/>
              <a:pathLst>
                <a:path w="1514475" h="75248">
                  <a:moveTo>
                    <a:pt x="1514475" y="0"/>
                  </a:moveTo>
                  <a:lnTo>
                    <a:pt x="1514475" y="75248"/>
                  </a:lnTo>
                  <a:lnTo>
                    <a:pt x="0" y="75248"/>
                  </a:lnTo>
                  <a:lnTo>
                    <a:pt x="0" y="45720"/>
                  </a:lnTo>
                </a:path>
              </a:pathLst>
            </a:custGeom>
            <a:noFill/>
            <a:ln w="15240">
              <a:solidFill>
                <a:srgbClr val="5B6475"/>
              </a:solidFill>
            </a:ln>
          </p:spPr>
        </p:sp>
        <p:sp>
          <p:nvSpPr>
            <p:cNvPr id="40" name="Freeform 40"/>
            <p:cNvSpPr/>
            <p:nvPr/>
          </p:nvSpPr>
          <p:spPr>
            <a:xfrm>
              <a:off x="7819072" y="364045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41" name="Freeform 41"/>
            <p:cNvSpPr/>
            <p:nvPr/>
          </p:nvSpPr>
          <p:spPr>
            <a:xfrm>
              <a:off x="7871460" y="3594735"/>
              <a:ext cx="3029902" cy="75248"/>
            </a:xfrm>
            <a:custGeom>
              <a:avLst/>
              <a:gdLst/>
              <a:ahLst/>
              <a:cxnLst/>
              <a:rect l="l" t="t" r="r" b="b"/>
              <a:pathLst>
                <a:path w="3029902" h="75248">
                  <a:moveTo>
                    <a:pt x="3029902" y="0"/>
                  </a:moveTo>
                  <a:lnTo>
                    <a:pt x="3029902" y="75248"/>
                  </a:lnTo>
                  <a:lnTo>
                    <a:pt x="0" y="75248"/>
                  </a:lnTo>
                  <a:lnTo>
                    <a:pt x="0" y="45720"/>
                  </a:lnTo>
                </a:path>
              </a:pathLst>
            </a:custGeom>
            <a:noFill/>
            <a:ln w="15240">
              <a:solidFill>
                <a:srgbClr val="5B6475"/>
              </a:solidFill>
            </a:ln>
          </p:spPr>
        </p:sp>
        <p:sp>
          <p:nvSpPr>
            <p:cNvPr id="42" name="Freeform 42"/>
            <p:cNvSpPr/>
            <p:nvPr/>
          </p:nvSpPr>
          <p:spPr>
            <a:xfrm>
              <a:off x="7819072" y="364045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43" name="Freeform 43"/>
            <p:cNvSpPr/>
            <p:nvPr/>
          </p:nvSpPr>
          <p:spPr>
            <a:xfrm>
              <a:off x="6356985" y="3057525"/>
              <a:ext cx="1514475" cy="582930"/>
            </a:xfrm>
            <a:custGeom>
              <a:avLst/>
              <a:gdLst/>
              <a:ahLst/>
              <a:cxnLst/>
              <a:rect l="l" t="t" r="r" b="b"/>
              <a:pathLst>
                <a:path w="1514475" h="582930">
                  <a:moveTo>
                    <a:pt x="0" y="0"/>
                  </a:moveTo>
                  <a:lnTo>
                    <a:pt x="0" y="343853"/>
                  </a:lnTo>
                  <a:lnTo>
                    <a:pt x="1514475" y="343853"/>
                  </a:lnTo>
                  <a:lnTo>
                    <a:pt x="1514475" y="582930"/>
                  </a:lnTo>
                </a:path>
              </a:pathLst>
            </a:custGeom>
            <a:noFill/>
            <a:ln w="15240">
              <a:solidFill>
                <a:srgbClr val="5B6475"/>
              </a:solidFill>
            </a:ln>
          </p:spPr>
        </p:sp>
        <p:sp>
          <p:nvSpPr>
            <p:cNvPr id="44" name="Freeform 44"/>
            <p:cNvSpPr/>
            <p:nvPr/>
          </p:nvSpPr>
          <p:spPr>
            <a:xfrm>
              <a:off x="7819072" y="364045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45" name="Rectangle 45"/>
            <p:cNvSpPr/>
            <p:nvPr/>
          </p:nvSpPr>
          <p:spPr>
            <a:xfrm>
              <a:off x="7247572" y="1599248"/>
              <a:ext cx="1247775" cy="385762"/>
            </a:xfrm>
            <a:prstGeom prst="roundRect">
              <a:avLst>
                <a:gd name="adj" fmla="val 49877"/>
              </a:avLst>
            </a:prstGeom>
            <a:solidFill>
              <a:srgbClr val="334E68"/>
            </a:solidFill>
            <a:ln>
              <a:noFill/>
            </a:ln>
          </p:spPr>
        </p:sp>
        <p:sp>
          <p:nvSpPr>
            <p:cNvPr id="46" name="Rectangle 46"/>
            <p:cNvSpPr/>
            <p:nvPr/>
          </p:nvSpPr>
          <p:spPr>
            <a:xfrm>
              <a:off x="7247572" y="2040255"/>
              <a:ext cx="1247775" cy="578168"/>
            </a:xfrm>
            <a:prstGeom prst="roundRect">
              <a:avLst>
                <a:gd name="adj" fmla="val 16474"/>
              </a:avLst>
            </a:prstGeom>
            <a:solidFill>
              <a:srgbClr val="FFFFFF"/>
            </a:solidFill>
            <a:ln w="15240">
              <a:solidFill>
                <a:srgbClr val="334E68"/>
              </a:solidFill>
            </a:ln>
          </p:spPr>
        </p:sp>
        <p:sp>
          <p:nvSpPr>
            <p:cNvPr id="47" name="Rectangle 47"/>
            <p:cNvSpPr/>
            <p:nvPr/>
          </p:nvSpPr>
          <p:spPr>
            <a:xfrm>
              <a:off x="5732145" y="2672715"/>
              <a:ext cx="1247775" cy="385762"/>
            </a:xfrm>
            <a:prstGeom prst="roundRect">
              <a:avLst>
                <a:gd name="adj" fmla="val 24691"/>
              </a:avLst>
            </a:prstGeom>
            <a:solidFill>
              <a:srgbClr val="FFFFFF"/>
            </a:solidFill>
            <a:ln w="15240">
              <a:solidFill>
                <a:srgbClr val="334E68"/>
              </a:solidFill>
            </a:ln>
          </p:spPr>
        </p:sp>
        <p:sp>
          <p:nvSpPr>
            <p:cNvPr id="48" name="Rectangle 48"/>
            <p:cNvSpPr/>
            <p:nvPr/>
          </p:nvSpPr>
          <p:spPr>
            <a:xfrm>
              <a:off x="8762048" y="2672715"/>
              <a:ext cx="1247775" cy="385762"/>
            </a:xfrm>
            <a:prstGeom prst="roundRect">
              <a:avLst>
                <a:gd name="adj" fmla="val 24691"/>
              </a:avLst>
            </a:prstGeom>
            <a:solidFill>
              <a:srgbClr val="FFFFFF"/>
            </a:solidFill>
            <a:ln w="15240">
              <a:solidFill>
                <a:srgbClr val="334E68"/>
              </a:solidFill>
            </a:ln>
          </p:spPr>
        </p:sp>
        <p:sp>
          <p:nvSpPr>
            <p:cNvPr id="49" name="Rectangle 49"/>
            <p:cNvSpPr/>
            <p:nvPr/>
          </p:nvSpPr>
          <p:spPr>
            <a:xfrm>
              <a:off x="7247572" y="3208972"/>
              <a:ext cx="1247775" cy="385762"/>
            </a:xfrm>
            <a:prstGeom prst="roundRect">
              <a:avLst>
                <a:gd name="adj" fmla="val 24691"/>
              </a:avLst>
            </a:prstGeom>
            <a:solidFill>
              <a:srgbClr val="FFFFFF"/>
            </a:solidFill>
            <a:ln w="15240">
              <a:solidFill>
                <a:srgbClr val="334E68"/>
              </a:solidFill>
            </a:ln>
          </p:spPr>
        </p:sp>
        <p:sp>
          <p:nvSpPr>
            <p:cNvPr id="50" name="Rectangle 50"/>
            <p:cNvSpPr/>
            <p:nvPr/>
          </p:nvSpPr>
          <p:spPr>
            <a:xfrm>
              <a:off x="8762048" y="3208972"/>
              <a:ext cx="1247775" cy="385762"/>
            </a:xfrm>
            <a:prstGeom prst="roundRect">
              <a:avLst>
                <a:gd name="adj" fmla="val 24691"/>
              </a:avLst>
            </a:prstGeom>
            <a:solidFill>
              <a:srgbClr val="FFFFFF"/>
            </a:solidFill>
            <a:ln w="15240">
              <a:solidFill>
                <a:srgbClr val="334E68"/>
              </a:solidFill>
            </a:ln>
          </p:spPr>
        </p:sp>
        <p:sp>
          <p:nvSpPr>
            <p:cNvPr id="51" name="Rectangle 51"/>
            <p:cNvSpPr/>
            <p:nvPr/>
          </p:nvSpPr>
          <p:spPr>
            <a:xfrm>
              <a:off x="10277475" y="3208972"/>
              <a:ext cx="1247775" cy="385762"/>
            </a:xfrm>
            <a:prstGeom prst="roundRect">
              <a:avLst>
                <a:gd name="adj" fmla="val 24691"/>
              </a:avLst>
            </a:prstGeom>
            <a:solidFill>
              <a:srgbClr val="FFFFFF"/>
            </a:solidFill>
            <a:ln w="15240">
              <a:solidFill>
                <a:srgbClr val="334E68"/>
              </a:solidFill>
            </a:ln>
          </p:spPr>
        </p:sp>
        <p:sp>
          <p:nvSpPr>
            <p:cNvPr id="52" name="Rectangle 52"/>
            <p:cNvSpPr/>
            <p:nvPr/>
          </p:nvSpPr>
          <p:spPr>
            <a:xfrm>
              <a:off x="7247572" y="3745230"/>
              <a:ext cx="1247775" cy="385762"/>
            </a:xfrm>
            <a:prstGeom prst="roundRect">
              <a:avLst>
                <a:gd name="adj" fmla="val 49877"/>
              </a:avLst>
            </a:prstGeom>
            <a:solidFill>
              <a:srgbClr val="334E68"/>
            </a:solidFill>
            <a:ln>
              <a:noFill/>
            </a:ln>
          </p:spPr>
        </p:sp>
        <p:sp>
          <p:nvSpPr>
            <p:cNvPr id="53" name="TextBox 53"/>
            <p:cNvSpPr txBox="1"/>
            <p:nvPr/>
          </p:nvSpPr>
          <p:spPr>
            <a:xfrm>
              <a:off x="7714971" y="1714024"/>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开始</a:t>
              </a:r>
            </a:p>
          </p:txBody>
        </p:sp>
        <p:sp>
          <p:nvSpPr>
            <p:cNvPr id="54" name="TextBox 54"/>
            <p:cNvSpPr txBox="1"/>
            <p:nvPr/>
          </p:nvSpPr>
          <p:spPr>
            <a:xfrm>
              <a:off x="7439025" y="2154079"/>
              <a:ext cx="864870" cy="412433"/>
            </a:xfrm>
            <a:prstGeom prst="rect">
              <a:avLst/>
            </a:prstGeom>
            <a:noFill/>
            <a:ln>
              <a:noFill/>
            </a:ln>
          </p:spPr>
          <p:txBody>
            <a:bodyPr wrap="none" lIns="0" tIns="0" rIns="0" bIns="0" anchor="t" anchorCtr="0">
              <a:spAutoFit/>
            </a:bodyPr>
            <a:lstStyle/>
            <a:p>
              <a:pPr algn="ctr">
                <a:lnSpc>
                  <a:spcPts val="1515"/>
                </a:lnSpc>
              </a:pPr>
              <a:r>
                <a:rPr lang="zh-CN" sz="1120" dirty="0">
                  <a:solidFill>
                    <a:srgbClr val="1F2937"/>
                  </a:solidFill>
                  <a:latin typeface="+mn-lt"/>
                  <a:ea typeface="+mn-ea"/>
                  <a:cs typeface="+mn-cs"/>
                </a:rPr>
                <a:t>定义候选体系</a:t>
              </a:r>
              <a:br/>
              <a:r>
                <a:rPr lang="zh-CN" sz="1120" dirty="0">
                  <a:solidFill>
                    <a:srgbClr val="1F2937"/>
                  </a:solidFill>
                  <a:latin typeface="+mn-lt"/>
                  <a:ea typeface="+mn-ea"/>
                  <a:cs typeface="+mn-cs"/>
                </a:rPr>
                <a:t>结构</a:t>
              </a:r>
            </a:p>
          </p:txBody>
        </p:sp>
        <p:sp>
          <p:nvSpPr>
            <p:cNvPr id="55" name="TextBox 55"/>
            <p:cNvSpPr txBox="1"/>
            <p:nvPr/>
          </p:nvSpPr>
          <p:spPr>
            <a:xfrm>
              <a:off x="5898947" y="2786539"/>
              <a:ext cx="91607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精化体系结构</a:t>
              </a:r>
            </a:p>
          </p:txBody>
        </p:sp>
        <p:sp>
          <p:nvSpPr>
            <p:cNvPr id="56" name="TextBox 56"/>
            <p:cNvSpPr txBox="1"/>
            <p:nvPr/>
          </p:nvSpPr>
          <p:spPr>
            <a:xfrm>
              <a:off x="9078671" y="2786539"/>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分析行为</a:t>
              </a:r>
            </a:p>
          </p:txBody>
        </p:sp>
        <p:sp>
          <p:nvSpPr>
            <p:cNvPr id="57" name="TextBox 57"/>
            <p:cNvSpPr txBox="1"/>
            <p:nvPr/>
          </p:nvSpPr>
          <p:spPr>
            <a:xfrm>
              <a:off x="7564196" y="3322796"/>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设计构件</a:t>
              </a:r>
            </a:p>
          </p:txBody>
        </p:sp>
        <p:sp>
          <p:nvSpPr>
            <p:cNvPr id="58" name="TextBox 58"/>
            <p:cNvSpPr txBox="1"/>
            <p:nvPr/>
          </p:nvSpPr>
          <p:spPr>
            <a:xfrm>
              <a:off x="8927897" y="3322796"/>
              <a:ext cx="91607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设计实时构件</a:t>
              </a:r>
            </a:p>
          </p:txBody>
        </p:sp>
        <p:sp>
          <p:nvSpPr>
            <p:cNvPr id="59" name="TextBox 59"/>
            <p:cNvSpPr txBox="1"/>
            <p:nvPr/>
          </p:nvSpPr>
          <p:spPr>
            <a:xfrm>
              <a:off x="10518712" y="3322796"/>
              <a:ext cx="765302"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设计数据库</a:t>
              </a:r>
            </a:p>
          </p:txBody>
        </p:sp>
        <p:sp>
          <p:nvSpPr>
            <p:cNvPr id="60" name="TextBox 60"/>
            <p:cNvSpPr txBox="1"/>
            <p:nvPr/>
          </p:nvSpPr>
          <p:spPr>
            <a:xfrm>
              <a:off x="7714971" y="3859054"/>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结束</a:t>
              </a:r>
            </a:p>
          </p:txBody>
        </p:sp>
        <p:sp>
          <p:nvSpPr>
            <p:cNvPr id="61" name="Rectangle 61"/>
            <p:cNvSpPr/>
            <p:nvPr/>
          </p:nvSpPr>
          <p:spPr>
            <a:xfrm>
              <a:off x="7900035" y="1933575"/>
              <a:ext cx="781050" cy="165735"/>
            </a:xfrm>
            <a:prstGeom prst="roundRect">
              <a:avLst>
                <a:gd name="adj" fmla="val 22989"/>
              </a:avLst>
            </a:prstGeom>
            <a:solidFill>
              <a:srgbClr val="FFFFFF"/>
            </a:solidFill>
            <a:ln>
              <a:noFill/>
            </a:ln>
          </p:spPr>
        </p:sp>
        <p:sp>
          <p:nvSpPr>
            <p:cNvPr id="62" name="TextBox 62"/>
            <p:cNvSpPr txBox="1"/>
            <p:nvPr/>
          </p:nvSpPr>
          <p:spPr>
            <a:xfrm>
              <a:off x="7923848" y="1956435"/>
              <a:ext cx="736473" cy="176212"/>
            </a:xfrm>
            <a:prstGeom prst="rect">
              <a:avLst/>
            </a:prstGeom>
            <a:noFill/>
            <a:ln>
              <a:noFill/>
            </a:ln>
          </p:spPr>
          <p:txBody>
            <a:bodyPr wrap="none" lIns="0" tIns="0" rIns="0" bIns="0" anchor="t" anchorCtr="0">
              <a:spAutoFit/>
            </a:bodyPr>
            <a:lstStyle/>
            <a:p>
              <a:pPr algn="l"/>
              <a:r>
                <a:rPr lang="zh-CN" sz="900" dirty="0">
                  <a:solidFill>
                    <a:srgbClr val="5B6475"/>
                  </a:solidFill>
                  <a:latin typeface="+mn-lt"/>
                  <a:ea typeface="+mn-ea"/>
                  <a:cs typeface="+mn-cs"/>
                </a:rPr>
                <a:t>早期细化迭代</a:t>
              </a:r>
            </a:p>
          </p:txBody>
        </p:sp>
        <p:sp>
          <p:nvSpPr>
            <p:cNvPr id="63" name="Rectangle 63"/>
            <p:cNvSpPr/>
            <p:nvPr/>
          </p:nvSpPr>
          <p:spPr>
            <a:xfrm>
              <a:off x="6837998" y="2448878"/>
              <a:ext cx="552450" cy="165735"/>
            </a:xfrm>
            <a:prstGeom prst="roundRect">
              <a:avLst>
                <a:gd name="adj" fmla="val 22989"/>
              </a:avLst>
            </a:prstGeom>
            <a:solidFill>
              <a:srgbClr val="FFFFFF"/>
            </a:solidFill>
            <a:ln>
              <a:noFill/>
            </a:ln>
          </p:spPr>
        </p:sp>
        <p:sp>
          <p:nvSpPr>
            <p:cNvPr id="64" name="TextBox 64"/>
            <p:cNvSpPr txBox="1"/>
            <p:nvPr/>
          </p:nvSpPr>
          <p:spPr>
            <a:xfrm>
              <a:off x="6867144" y="2471738"/>
              <a:ext cx="494157"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细化迭代</a:t>
              </a:r>
            </a:p>
          </p:txBody>
        </p:sp>
        <p:sp>
          <p:nvSpPr>
            <p:cNvPr id="65" name="Rectangle 65"/>
            <p:cNvSpPr/>
            <p:nvPr/>
          </p:nvSpPr>
          <p:spPr>
            <a:xfrm>
              <a:off x="8409622" y="2937510"/>
              <a:ext cx="438150" cy="165735"/>
            </a:xfrm>
            <a:prstGeom prst="roundRect">
              <a:avLst>
                <a:gd name="adj" fmla="val 22989"/>
              </a:avLst>
            </a:prstGeom>
            <a:solidFill>
              <a:srgbClr val="FFFFFF"/>
            </a:solidFill>
            <a:ln>
              <a:noFill/>
            </a:ln>
          </p:spPr>
        </p:sp>
        <p:sp>
          <p:nvSpPr>
            <p:cNvPr id="66" name="TextBox 66"/>
            <p:cNvSpPr txBox="1"/>
            <p:nvPr/>
          </p:nvSpPr>
          <p:spPr>
            <a:xfrm>
              <a:off x="8442198" y="2960370"/>
              <a:ext cx="372999"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非实时</a:t>
              </a:r>
            </a:p>
          </p:txBody>
        </p:sp>
        <p:sp>
          <p:nvSpPr>
            <p:cNvPr id="67" name="Rectangle 67"/>
            <p:cNvSpPr/>
            <p:nvPr/>
          </p:nvSpPr>
          <p:spPr>
            <a:xfrm>
              <a:off x="9414510" y="3054668"/>
              <a:ext cx="323850" cy="165735"/>
            </a:xfrm>
            <a:prstGeom prst="roundRect">
              <a:avLst>
                <a:gd name="adj" fmla="val 22989"/>
              </a:avLst>
            </a:prstGeom>
            <a:solidFill>
              <a:srgbClr val="FFFFFF"/>
            </a:solidFill>
            <a:ln>
              <a:noFill/>
            </a:ln>
          </p:spPr>
        </p:sp>
        <p:sp>
          <p:nvSpPr>
            <p:cNvPr id="68" name="TextBox 68"/>
            <p:cNvSpPr txBox="1"/>
            <p:nvPr/>
          </p:nvSpPr>
          <p:spPr>
            <a:xfrm>
              <a:off x="9438322" y="3077528"/>
              <a:ext cx="251841" cy="176212"/>
            </a:xfrm>
            <a:prstGeom prst="rect">
              <a:avLst/>
            </a:prstGeom>
            <a:noFill/>
            <a:ln>
              <a:noFill/>
            </a:ln>
          </p:spPr>
          <p:txBody>
            <a:bodyPr wrap="none" lIns="0" tIns="0" rIns="0" bIns="0" anchor="t" anchorCtr="0">
              <a:spAutoFit/>
            </a:bodyPr>
            <a:lstStyle/>
            <a:p>
              <a:pPr algn="l"/>
              <a:r>
                <a:rPr lang="zh-CN" sz="900" dirty="0">
                  <a:solidFill>
                    <a:srgbClr val="5B6475"/>
                  </a:solidFill>
                  <a:latin typeface="+mn-lt"/>
                  <a:ea typeface="+mn-ea"/>
                  <a:cs typeface="+mn-cs"/>
                </a:rPr>
                <a:t>实时</a:t>
              </a:r>
            </a:p>
          </p:txBody>
        </p:sp>
        <p:sp>
          <p:nvSpPr>
            <p:cNvPr id="69" name="Rectangle 69"/>
            <p:cNvSpPr/>
            <p:nvPr/>
          </p:nvSpPr>
          <p:spPr>
            <a:xfrm>
              <a:off x="9982200" y="2937510"/>
              <a:ext cx="323850" cy="165735"/>
            </a:xfrm>
            <a:prstGeom prst="roundRect">
              <a:avLst>
                <a:gd name="adj" fmla="val 22989"/>
              </a:avLst>
            </a:prstGeom>
            <a:solidFill>
              <a:srgbClr val="FFFFFF"/>
            </a:solidFill>
            <a:ln>
              <a:noFill/>
            </a:ln>
          </p:spPr>
        </p:sp>
        <p:sp>
          <p:nvSpPr>
            <p:cNvPr id="70" name="TextBox 70"/>
            <p:cNvSpPr txBox="1"/>
            <p:nvPr/>
          </p:nvSpPr>
          <p:spPr>
            <a:xfrm>
              <a:off x="10018204" y="2960370"/>
              <a:ext cx="251841"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可选</a:t>
              </a:r>
            </a:p>
          </p:txBody>
        </p:sp>
      </p:grpSp>
      <p:grpSp>
        <p:nvGrpSpPr>
          <p:cNvPr id="77" name="takeaway"/>
          <p:cNvGrpSpPr/>
          <p:nvPr/>
        </p:nvGrpSpPr>
        <p:grpSpPr>
          <a:xfrm>
            <a:off x="533400" y="5633085"/>
            <a:ext cx="11125200" cy="729615"/>
            <a:chOff x="533400" y="5633085"/>
            <a:chExt cx="11125200" cy="729615"/>
          </a:xfrm>
        </p:grpSpPr>
        <p:sp>
          <p:nvSpPr>
            <p:cNvPr id="72" name="Rectangle 72"/>
            <p:cNvSpPr/>
            <p:nvPr/>
          </p:nvSpPr>
          <p:spPr>
            <a:xfrm>
              <a:off x="533400" y="5633085"/>
              <a:ext cx="11125200" cy="729615"/>
            </a:xfrm>
            <a:prstGeom prst="roundRect">
              <a:avLst>
                <a:gd name="adj" fmla="val 15666"/>
              </a:avLst>
            </a:prstGeom>
            <a:solidFill>
              <a:srgbClr val="334E68"/>
            </a:solidFill>
            <a:ln>
              <a:noFill/>
            </a:ln>
          </p:spPr>
        </p:sp>
        <p:grpSp>
          <p:nvGrpSpPr>
            <p:cNvPr id="75" name="Group 75"/>
            <p:cNvGrpSpPr/>
            <p:nvPr/>
          </p:nvGrpSpPr>
          <p:grpSpPr>
            <a:xfrm>
              <a:off x="738188" y="5897882"/>
              <a:ext cx="200023" cy="200023"/>
              <a:chOff x="738188" y="5897882"/>
              <a:chExt cx="200023" cy="200023"/>
            </a:xfrm>
          </p:grpSpPr>
          <p:sp>
            <p:nvSpPr>
              <p:cNvPr id="73" name="Freeform 73"/>
              <p:cNvSpPr/>
              <p:nvPr/>
            </p:nvSpPr>
            <p:spPr>
              <a:xfrm>
                <a:off x="738188" y="589788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4" name="Freeform 74"/>
              <p:cNvSpPr/>
              <p:nvPr/>
            </p:nvSpPr>
            <p:spPr>
              <a:xfrm>
                <a:off x="871538" y="596455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6" name="TextBox 76"/>
            <p:cNvSpPr txBox="1"/>
            <p:nvPr/>
          </p:nvSpPr>
          <p:spPr>
            <a:xfrm>
              <a:off x="1040892" y="5779770"/>
              <a:ext cx="994924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剪裁 RUP：4 个阶段、9 个核心工作流、31 个角色、103 个工件、136 个活动，外加工具指导、工作指南和各类模板，必须按项目取</a:t>
              </a:r>
              <a:br/>
              <a:r>
                <a:rPr lang="zh-CN" sz="1350" dirty="0">
                  <a:solidFill>
                    <a:srgbClr val="FFFFFF"/>
                  </a:solidFill>
                  <a:latin typeface="+mn-lt"/>
                  <a:ea typeface="+mn-ea"/>
                  <a:cs typeface="+mn-cs"/>
                </a:rPr>
                <a:t>舍之后才能落地。</a:t>
              </a:r>
            </a:p>
          </p:txBody>
        </p:sp>
      </p:grpSp>
      <p:grpSp>
        <p:nvGrpSpPr>
          <p:cNvPr id="80" name="footer"/>
          <p:cNvGrpSpPr/>
          <p:nvPr/>
        </p:nvGrpSpPr>
        <p:grpSpPr>
          <a:xfrm>
            <a:off x="528447" y="6581299"/>
            <a:ext cx="11135106" cy="190690"/>
            <a:chOff x="528447" y="6581299"/>
            <a:chExt cx="11135106" cy="190690"/>
          </a:xfrm>
        </p:grpSpPr>
        <p:sp>
          <p:nvSpPr>
            <p:cNvPr id="78" name="TextBox 78"/>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79" name="TextBox 7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50</a:t>
              </a:r>
            </a:p>
          </p:txBody>
        </p:sp>
      </p:grpSp>
    </p:spTree>
  </p:cSld>
  <p:clrMapOvr>
    <a:masterClrMapping/>
  </p:clrMapOvr>
  <p:transition xmlns:p14="http://schemas.microsoft.com/office/powerpoint/2010/main" p14:dur="400">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06</a:t>
              </a:r>
            </a:p>
          </p:txBody>
        </p:sp>
      </p:grpSp>
      <p:grpSp>
        <p:nvGrpSpPr>
          <p:cNvPr id="18" name="section-title"/>
          <p:cNvGrpSpPr/>
          <p:nvPr/>
        </p:nvGrpSpPr>
        <p:grpSpPr>
          <a:xfrm>
            <a:off x="667512" y="1835468"/>
            <a:ext cx="6821424" cy="3351847"/>
            <a:chOff x="667512" y="1835468"/>
            <a:chExt cx="6821424"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第六部分</a:t>
              </a:r>
            </a:p>
          </p:txBody>
        </p:sp>
        <p:sp>
          <p:nvSpPr>
            <p:cNvPr id="7" name="TextBox 7"/>
            <p:cNvSpPr txBox="1"/>
            <p:nvPr/>
          </p:nvSpPr>
          <p:spPr>
            <a:xfrm>
              <a:off x="667512" y="2240280"/>
              <a:ext cx="682142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敏捷过程、极限编程与微软过程</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792855"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需求一直在变的时候，过程要怎样组织</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敏捷宣言的价值观与原则</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极限编程的有效实践</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用户故事与用例</a:t>
              </a:r>
            </a:p>
          </p:txBody>
        </p:sp>
        <p:sp>
          <p:nvSpPr>
            <p:cNvPr id="16" name="Ellipse 16"/>
            <p:cNvSpPr/>
            <p:nvPr/>
          </p:nvSpPr>
          <p:spPr>
            <a:xfrm>
              <a:off x="723900" y="4951095"/>
              <a:ext cx="76200" cy="76200"/>
            </a:xfrm>
            <a:prstGeom prst="ellipse">
              <a:avLst/>
            </a:prstGeom>
            <a:solidFill>
              <a:srgbClr val="334E68"/>
            </a:solidFill>
            <a:ln>
              <a:noFill/>
            </a:ln>
          </p:spPr>
        </p:sp>
        <p:sp>
          <p:nvSpPr>
            <p:cNvPr id="17" name="TextBox 17"/>
            <p:cNvSpPr txBox="1"/>
            <p:nvPr/>
          </p:nvSpPr>
          <p:spPr>
            <a:xfrm>
              <a:off x="906780" y="489394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微软过程与生命周期</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51</a:t>
              </a:r>
            </a:p>
          </p:txBody>
        </p:sp>
      </p:grpSp>
    </p:spTree>
  </p:cSld>
  <p:clrMapOvr>
    <a:masterClrMapping/>
  </p:clrMapOvr>
  <p:transition xmlns:p14="http://schemas.microsoft.com/office/powerpoint/2010/main" p14:dur="400">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3126105" cy="266700"/>
            </a:xfrm>
            <a:prstGeom prst="roundRect">
              <a:avLst>
                <a:gd name="adj" fmla="val 50000"/>
              </a:avLst>
            </a:prstGeom>
            <a:solidFill>
              <a:srgbClr val="E7EDF3"/>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敏捷过程、极限编程与微软过程</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敏捷宣言：四条价值观定的是优先级</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542" y="1545907"/>
            <a:ext cx="7006236" cy="264033"/>
            <a:chOff x="526542" y="1545907"/>
            <a:chExt cx="7006236" cy="264033"/>
          </a:xfrm>
        </p:grpSpPr>
        <p:sp>
          <p:nvSpPr>
            <p:cNvPr id="7" name="TextBox 7"/>
            <p:cNvSpPr txBox="1"/>
            <p:nvPr/>
          </p:nvSpPr>
          <p:spPr>
            <a:xfrm>
              <a:off x="526542" y="1545907"/>
              <a:ext cx="7006236"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2001 年 2 月发布的《敏捷软件开发宣言》（The Manifesto of the Agile Alliance）。</a:t>
              </a:r>
            </a:p>
          </p:txBody>
        </p:sp>
      </p:grpSp>
      <p:grpSp>
        <p:nvGrpSpPr>
          <p:cNvPr id="29" name="c1-table-1"/>
          <p:cNvGrpSpPr/>
          <p:nvPr/>
        </p:nvGrpSpPr>
        <p:grpSpPr>
          <a:xfrm>
            <a:off x="533400" y="1928812"/>
            <a:ext cx="4977765" cy="2000250"/>
            <a:chOff x="533400" y="1928812"/>
            <a:chExt cx="4977765" cy="2000250"/>
          </a:xfrm>
        </p:grpSpPr>
        <p:sp>
          <p:nvSpPr>
            <p:cNvPr id="9" name="Rectangle 9"/>
            <p:cNvSpPr/>
            <p:nvPr/>
          </p:nvSpPr>
          <p:spPr>
            <a:xfrm>
              <a:off x="533400" y="1928812"/>
              <a:ext cx="4977765" cy="400050"/>
            </a:xfrm>
            <a:prstGeom prst="rect">
              <a:avLst/>
            </a:prstGeom>
            <a:solidFill>
              <a:srgbClr val="334E68"/>
            </a:solidFill>
            <a:ln>
              <a:noFill/>
            </a:ln>
          </p:spPr>
        </p:sp>
        <p:sp>
          <p:nvSpPr>
            <p:cNvPr id="10" name="TextBox 10"/>
            <p:cNvSpPr txBox="1"/>
            <p:nvPr/>
          </p:nvSpPr>
          <p:spPr>
            <a:xfrm>
              <a:off x="1545488" y="2050256"/>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更看重</a:t>
              </a:r>
            </a:p>
          </p:txBody>
        </p:sp>
        <p:sp>
          <p:nvSpPr>
            <p:cNvPr id="11" name="TextBox 11"/>
            <p:cNvSpPr txBox="1"/>
            <p:nvPr/>
          </p:nvSpPr>
          <p:spPr>
            <a:xfrm>
              <a:off x="4109758" y="205025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胜过</a:t>
              </a:r>
            </a:p>
          </p:txBody>
        </p:sp>
        <p:sp>
          <p:nvSpPr>
            <p:cNvPr id="12" name="TextBox 12"/>
            <p:cNvSpPr txBox="1"/>
            <p:nvPr/>
          </p:nvSpPr>
          <p:spPr>
            <a:xfrm>
              <a:off x="630555" y="2450306"/>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个体和交互</a:t>
              </a:r>
            </a:p>
          </p:txBody>
        </p:sp>
        <p:sp>
          <p:nvSpPr>
            <p:cNvPr id="13" name="TextBox 13"/>
            <p:cNvSpPr txBox="1"/>
            <p:nvPr/>
          </p:nvSpPr>
          <p:spPr>
            <a:xfrm>
              <a:off x="3119438" y="2450306"/>
              <a:ext cx="76530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过程和工具</a:t>
              </a:r>
            </a:p>
          </p:txBody>
        </p:sp>
        <p:sp>
          <p:nvSpPr>
            <p:cNvPr id="14" name="Rectangle 14"/>
            <p:cNvSpPr/>
            <p:nvPr/>
          </p:nvSpPr>
          <p:spPr>
            <a:xfrm>
              <a:off x="533400" y="2724150"/>
              <a:ext cx="4977765" cy="9525"/>
            </a:xfrm>
            <a:prstGeom prst="rect">
              <a:avLst/>
            </a:prstGeom>
            <a:solidFill>
              <a:srgbClr val="D9DFEA"/>
            </a:solidFill>
            <a:ln>
              <a:noFill/>
            </a:ln>
          </p:spPr>
        </p:sp>
        <p:sp>
          <p:nvSpPr>
            <p:cNvPr id="15" name="Rectangle 15"/>
            <p:cNvSpPr/>
            <p:nvPr/>
          </p:nvSpPr>
          <p:spPr>
            <a:xfrm>
              <a:off x="533400" y="2728912"/>
              <a:ext cx="4977765" cy="400050"/>
            </a:xfrm>
            <a:prstGeom prst="rect">
              <a:avLst/>
            </a:prstGeom>
            <a:solidFill>
              <a:srgbClr val="F4F6FB"/>
            </a:solidFill>
            <a:ln>
              <a:noFill/>
            </a:ln>
          </p:spPr>
        </p:sp>
        <p:sp>
          <p:nvSpPr>
            <p:cNvPr id="16" name="Rectangle 16"/>
            <p:cNvSpPr/>
            <p:nvPr/>
          </p:nvSpPr>
          <p:spPr>
            <a:xfrm>
              <a:off x="542925" y="2738438"/>
              <a:ext cx="2469832" cy="381000"/>
            </a:xfrm>
            <a:prstGeom prst="rect">
              <a:avLst/>
            </a:prstGeom>
            <a:solidFill>
              <a:srgbClr val="FDEEE7"/>
            </a:solidFill>
            <a:ln>
              <a:noFill/>
            </a:ln>
          </p:spPr>
        </p:sp>
        <p:sp>
          <p:nvSpPr>
            <p:cNvPr id="17" name="TextBox 17"/>
            <p:cNvSpPr txBox="1"/>
            <p:nvPr/>
          </p:nvSpPr>
          <p:spPr>
            <a:xfrm>
              <a:off x="630555" y="2850356"/>
              <a:ext cx="1066851"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可以工作的软件</a:t>
              </a:r>
            </a:p>
          </p:txBody>
        </p:sp>
        <p:sp>
          <p:nvSpPr>
            <p:cNvPr id="18" name="TextBox 18"/>
            <p:cNvSpPr txBox="1"/>
            <p:nvPr/>
          </p:nvSpPr>
          <p:spPr>
            <a:xfrm>
              <a:off x="3119438" y="2850356"/>
              <a:ext cx="10668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面面俱到的文档</a:t>
              </a:r>
            </a:p>
          </p:txBody>
        </p:sp>
        <p:sp>
          <p:nvSpPr>
            <p:cNvPr id="19" name="Rectangle 19"/>
            <p:cNvSpPr/>
            <p:nvPr/>
          </p:nvSpPr>
          <p:spPr>
            <a:xfrm>
              <a:off x="533400" y="3124200"/>
              <a:ext cx="4977765" cy="9525"/>
            </a:xfrm>
            <a:prstGeom prst="rect">
              <a:avLst/>
            </a:prstGeom>
            <a:solidFill>
              <a:srgbClr val="D9DFEA"/>
            </a:solidFill>
            <a:ln>
              <a:noFill/>
            </a:ln>
          </p:spPr>
        </p:sp>
        <p:sp>
          <p:nvSpPr>
            <p:cNvPr id="20" name="TextBox 20"/>
            <p:cNvSpPr txBox="1"/>
            <p:nvPr/>
          </p:nvSpPr>
          <p:spPr>
            <a:xfrm>
              <a:off x="630555" y="3250406"/>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客户合作</a:t>
              </a:r>
            </a:p>
          </p:txBody>
        </p:sp>
        <p:sp>
          <p:nvSpPr>
            <p:cNvPr id="21" name="TextBox 21"/>
            <p:cNvSpPr txBox="1"/>
            <p:nvPr/>
          </p:nvSpPr>
          <p:spPr>
            <a:xfrm>
              <a:off x="3119438" y="3250406"/>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合同谈判</a:t>
              </a:r>
            </a:p>
          </p:txBody>
        </p:sp>
        <p:sp>
          <p:nvSpPr>
            <p:cNvPr id="22" name="Rectangle 22"/>
            <p:cNvSpPr/>
            <p:nvPr/>
          </p:nvSpPr>
          <p:spPr>
            <a:xfrm>
              <a:off x="533400" y="3524250"/>
              <a:ext cx="4977765" cy="9525"/>
            </a:xfrm>
            <a:prstGeom prst="rect">
              <a:avLst/>
            </a:prstGeom>
            <a:solidFill>
              <a:srgbClr val="D9DFEA"/>
            </a:solidFill>
            <a:ln>
              <a:noFill/>
            </a:ln>
          </p:spPr>
        </p:sp>
        <p:sp>
          <p:nvSpPr>
            <p:cNvPr id="23" name="Rectangle 23"/>
            <p:cNvSpPr/>
            <p:nvPr/>
          </p:nvSpPr>
          <p:spPr>
            <a:xfrm>
              <a:off x="533400" y="3529012"/>
              <a:ext cx="4977765" cy="400050"/>
            </a:xfrm>
            <a:prstGeom prst="rect">
              <a:avLst/>
            </a:prstGeom>
            <a:solidFill>
              <a:srgbClr val="F4F6FB"/>
            </a:solidFill>
            <a:ln>
              <a:noFill/>
            </a:ln>
          </p:spPr>
        </p:sp>
        <p:sp>
          <p:nvSpPr>
            <p:cNvPr id="24" name="Rectangle 24"/>
            <p:cNvSpPr/>
            <p:nvPr/>
          </p:nvSpPr>
          <p:spPr>
            <a:xfrm>
              <a:off x="542925" y="3538538"/>
              <a:ext cx="2469832" cy="381000"/>
            </a:xfrm>
            <a:prstGeom prst="rect">
              <a:avLst/>
            </a:prstGeom>
            <a:solidFill>
              <a:srgbClr val="FDEEE7"/>
            </a:solidFill>
            <a:ln>
              <a:noFill/>
            </a:ln>
          </p:spPr>
        </p:sp>
        <p:sp>
          <p:nvSpPr>
            <p:cNvPr id="25" name="TextBox 25"/>
            <p:cNvSpPr txBox="1"/>
            <p:nvPr/>
          </p:nvSpPr>
          <p:spPr>
            <a:xfrm>
              <a:off x="630555" y="3650456"/>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响应变化</a:t>
              </a:r>
            </a:p>
          </p:txBody>
        </p:sp>
        <p:sp>
          <p:nvSpPr>
            <p:cNvPr id="26" name="TextBox 26"/>
            <p:cNvSpPr txBox="1"/>
            <p:nvPr/>
          </p:nvSpPr>
          <p:spPr>
            <a:xfrm>
              <a:off x="3119438" y="3650456"/>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遵循计划</a:t>
              </a:r>
            </a:p>
          </p:txBody>
        </p:sp>
        <p:sp>
          <p:nvSpPr>
            <p:cNvPr id="27" name="Rectangle 27"/>
            <p:cNvSpPr/>
            <p:nvPr/>
          </p:nvSpPr>
          <p:spPr>
            <a:xfrm>
              <a:off x="533400" y="1928812"/>
              <a:ext cx="4977765" cy="2000250"/>
            </a:xfrm>
            <a:prstGeom prst="rect">
              <a:avLst/>
            </a:prstGeom>
            <a:noFill/>
            <a:ln w="14288">
              <a:solidFill>
                <a:srgbClr val="D9DFEA"/>
              </a:solidFill>
            </a:ln>
          </p:spPr>
        </p:sp>
        <p:sp>
          <p:nvSpPr>
            <p:cNvPr id="28" name="Rectangle 28"/>
            <p:cNvSpPr/>
            <p:nvPr/>
          </p:nvSpPr>
          <p:spPr>
            <a:xfrm>
              <a:off x="3017520" y="1928812"/>
              <a:ext cx="9525" cy="2000250"/>
            </a:xfrm>
            <a:prstGeom prst="rect">
              <a:avLst/>
            </a:prstGeom>
            <a:solidFill>
              <a:srgbClr val="D9DFEA"/>
            </a:solidFill>
            <a:ln>
              <a:noFill/>
            </a:ln>
          </p:spPr>
        </p:sp>
      </p:grpSp>
      <p:grpSp>
        <p:nvGrpSpPr>
          <p:cNvPr id="35" name="c1-callout-2"/>
          <p:cNvGrpSpPr/>
          <p:nvPr/>
        </p:nvGrpSpPr>
        <p:grpSpPr>
          <a:xfrm>
            <a:off x="533400" y="4098608"/>
            <a:ext cx="4977765" cy="729615"/>
            <a:chOff x="533400" y="4098608"/>
            <a:chExt cx="4977765" cy="729615"/>
          </a:xfrm>
        </p:grpSpPr>
        <p:sp>
          <p:nvSpPr>
            <p:cNvPr id="30" name="Rectangle 30"/>
            <p:cNvSpPr/>
            <p:nvPr/>
          </p:nvSpPr>
          <p:spPr>
            <a:xfrm>
              <a:off x="533400" y="4098608"/>
              <a:ext cx="4977765" cy="729615"/>
            </a:xfrm>
            <a:prstGeom prst="roundRect">
              <a:avLst>
                <a:gd name="adj" fmla="val 15666"/>
              </a:avLst>
            </a:prstGeom>
            <a:solidFill>
              <a:srgbClr val="334E68"/>
            </a:solidFill>
            <a:ln>
              <a:noFill/>
            </a:ln>
          </p:spPr>
        </p:sp>
        <p:grpSp>
          <p:nvGrpSpPr>
            <p:cNvPr id="33" name="Group 33"/>
            <p:cNvGrpSpPr/>
            <p:nvPr/>
          </p:nvGrpSpPr>
          <p:grpSpPr>
            <a:xfrm>
              <a:off x="738188" y="4363405"/>
              <a:ext cx="200023" cy="200023"/>
              <a:chOff x="738188" y="4363405"/>
              <a:chExt cx="200023" cy="200023"/>
            </a:xfrm>
          </p:grpSpPr>
          <p:sp>
            <p:nvSpPr>
              <p:cNvPr id="31" name="Freeform 31"/>
              <p:cNvSpPr/>
              <p:nvPr/>
            </p:nvSpPr>
            <p:spPr>
              <a:xfrm>
                <a:off x="738188" y="436340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2" name="Freeform 32"/>
              <p:cNvSpPr/>
              <p:nvPr/>
            </p:nvSpPr>
            <p:spPr>
              <a:xfrm>
                <a:off x="871538" y="443007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4" name="TextBox 34"/>
            <p:cNvSpPr txBox="1"/>
            <p:nvPr/>
          </p:nvSpPr>
          <p:spPr>
            <a:xfrm>
              <a:off x="1040892" y="4245292"/>
              <a:ext cx="3802761"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“胜过”不是否定右边。文档、合同、计划仍然有价</a:t>
              </a:r>
              <a:br/>
              <a:r>
                <a:rPr lang="zh-CN" sz="1350" dirty="0">
                  <a:solidFill>
                    <a:srgbClr val="FFFFFF"/>
                  </a:solidFill>
                  <a:latin typeface="+mn-lt"/>
                  <a:ea typeface="+mn-ea"/>
                  <a:cs typeface="+mn-cs"/>
                </a:rPr>
                <a:t>值，两边冲突时优先保证左边。</a:t>
              </a:r>
            </a:p>
          </p:txBody>
        </p:sp>
      </p:grpSp>
      <p:grpSp>
        <p:nvGrpSpPr>
          <p:cNvPr id="57" name="c2-table-1"/>
          <p:cNvGrpSpPr/>
          <p:nvPr/>
        </p:nvGrpSpPr>
        <p:grpSpPr>
          <a:xfrm>
            <a:off x="5815965" y="1928812"/>
            <a:ext cx="5842635" cy="3113722"/>
            <a:chOff x="5815965" y="1928812"/>
            <a:chExt cx="5842635" cy="3113722"/>
          </a:xfrm>
        </p:grpSpPr>
        <p:sp>
          <p:nvSpPr>
            <p:cNvPr id="36" name="Rectangle 36"/>
            <p:cNvSpPr/>
            <p:nvPr/>
          </p:nvSpPr>
          <p:spPr>
            <a:xfrm>
              <a:off x="5815965" y="1928812"/>
              <a:ext cx="5842635" cy="439102"/>
            </a:xfrm>
            <a:prstGeom prst="rect">
              <a:avLst/>
            </a:prstGeom>
            <a:solidFill>
              <a:srgbClr val="334E68"/>
            </a:solidFill>
            <a:ln>
              <a:noFill/>
            </a:ln>
          </p:spPr>
        </p:sp>
        <p:sp>
          <p:nvSpPr>
            <p:cNvPr id="37" name="TextBox 37"/>
            <p:cNvSpPr txBox="1"/>
            <p:nvPr/>
          </p:nvSpPr>
          <p:spPr>
            <a:xfrm>
              <a:off x="6503670" y="2053590"/>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方法</a:t>
              </a:r>
            </a:p>
          </p:txBody>
        </p:sp>
        <p:sp>
          <p:nvSpPr>
            <p:cNvPr id="38" name="TextBox 38"/>
            <p:cNvSpPr txBox="1"/>
            <p:nvPr/>
          </p:nvSpPr>
          <p:spPr>
            <a:xfrm>
              <a:off x="9152382" y="2053590"/>
              <a:ext cx="92240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一句话介绍</a:t>
              </a:r>
            </a:p>
          </p:txBody>
        </p:sp>
        <p:sp>
          <p:nvSpPr>
            <p:cNvPr id="39" name="TextBox 39"/>
            <p:cNvSpPr txBox="1"/>
            <p:nvPr/>
          </p:nvSpPr>
          <p:spPr>
            <a:xfrm>
              <a:off x="5911977" y="2612708"/>
              <a:ext cx="608510"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SCRUM</a:t>
              </a:r>
            </a:p>
          </p:txBody>
        </p:sp>
        <p:sp>
          <p:nvSpPr>
            <p:cNvPr id="40" name="TextBox 40"/>
            <p:cNvSpPr txBox="1"/>
            <p:nvPr/>
          </p:nvSpPr>
          <p:spPr>
            <a:xfrm>
              <a:off x="7664577" y="2492692"/>
              <a:ext cx="36141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迭代增量式框架，靠固定长度的冲刺和每日站会</a:t>
              </a:r>
              <a:br/>
              <a:r>
                <a:rPr lang="zh-CN" sz="1350" dirty="0">
                  <a:solidFill>
                    <a:srgbClr val="1F2937"/>
                  </a:solidFill>
                  <a:latin typeface="+mn-lt"/>
                  <a:ea typeface="+mn-ea"/>
                  <a:cs typeface="+mn-cs"/>
                </a:rPr>
                <a:t>推进</a:t>
              </a:r>
            </a:p>
          </p:txBody>
        </p:sp>
        <p:sp>
          <p:nvSpPr>
            <p:cNvPr id="41" name="Rectangle 41"/>
            <p:cNvSpPr/>
            <p:nvPr/>
          </p:nvSpPr>
          <p:spPr>
            <a:xfrm>
              <a:off x="5815965" y="3041332"/>
              <a:ext cx="5842635" cy="9525"/>
            </a:xfrm>
            <a:prstGeom prst="rect">
              <a:avLst/>
            </a:prstGeom>
            <a:solidFill>
              <a:srgbClr val="D9DFEA"/>
            </a:solidFill>
            <a:ln>
              <a:noFill/>
            </a:ln>
          </p:spPr>
        </p:sp>
        <p:sp>
          <p:nvSpPr>
            <p:cNvPr id="42" name="Rectangle 42"/>
            <p:cNvSpPr/>
            <p:nvPr/>
          </p:nvSpPr>
          <p:spPr>
            <a:xfrm>
              <a:off x="5815965" y="3046095"/>
              <a:ext cx="5842635" cy="439102"/>
            </a:xfrm>
            <a:prstGeom prst="rect">
              <a:avLst/>
            </a:prstGeom>
            <a:solidFill>
              <a:srgbClr val="F4F6FB"/>
            </a:solidFill>
            <a:ln>
              <a:noFill/>
            </a:ln>
          </p:spPr>
        </p:sp>
        <p:sp>
          <p:nvSpPr>
            <p:cNvPr id="43" name="TextBox 43"/>
            <p:cNvSpPr txBox="1"/>
            <p:nvPr/>
          </p:nvSpPr>
          <p:spPr>
            <a:xfrm>
              <a:off x="5911977" y="3171825"/>
              <a:ext cx="706237"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Crystal</a:t>
              </a:r>
            </a:p>
          </p:txBody>
        </p:sp>
        <p:sp>
          <p:nvSpPr>
            <p:cNvPr id="44" name="TextBox 44"/>
            <p:cNvSpPr txBox="1"/>
            <p:nvPr/>
          </p:nvSpPr>
          <p:spPr>
            <a:xfrm>
              <a:off x="7664577" y="3171825"/>
              <a:ext cx="310324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一族方法，按项目规模和关键程度选用</a:t>
              </a:r>
            </a:p>
          </p:txBody>
        </p:sp>
        <p:sp>
          <p:nvSpPr>
            <p:cNvPr id="45" name="Rectangle 45"/>
            <p:cNvSpPr/>
            <p:nvPr/>
          </p:nvSpPr>
          <p:spPr>
            <a:xfrm>
              <a:off x="5815965" y="3480435"/>
              <a:ext cx="5842635" cy="9525"/>
            </a:xfrm>
            <a:prstGeom prst="rect">
              <a:avLst/>
            </a:prstGeom>
            <a:solidFill>
              <a:srgbClr val="D9DFEA"/>
            </a:solidFill>
            <a:ln>
              <a:noFill/>
            </a:ln>
          </p:spPr>
        </p:sp>
        <p:sp>
          <p:nvSpPr>
            <p:cNvPr id="46" name="TextBox 46"/>
            <p:cNvSpPr txBox="1"/>
            <p:nvPr/>
          </p:nvSpPr>
          <p:spPr>
            <a:xfrm>
              <a:off x="5911977" y="3610927"/>
              <a:ext cx="149730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FDD 特征驱动开发</a:t>
              </a:r>
            </a:p>
          </p:txBody>
        </p:sp>
        <p:sp>
          <p:nvSpPr>
            <p:cNvPr id="47" name="TextBox 47"/>
            <p:cNvSpPr txBox="1"/>
            <p:nvPr/>
          </p:nvSpPr>
          <p:spPr>
            <a:xfrm>
              <a:off x="7664577" y="3610927"/>
              <a:ext cx="36666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以“特征”为单位组织建模、计划、设计和构建</a:t>
              </a:r>
            </a:p>
          </p:txBody>
        </p:sp>
        <p:sp>
          <p:nvSpPr>
            <p:cNvPr id="48" name="Rectangle 48"/>
            <p:cNvSpPr/>
            <p:nvPr/>
          </p:nvSpPr>
          <p:spPr>
            <a:xfrm>
              <a:off x="5815965" y="3919538"/>
              <a:ext cx="5842635" cy="9525"/>
            </a:xfrm>
            <a:prstGeom prst="rect">
              <a:avLst/>
            </a:prstGeom>
            <a:solidFill>
              <a:srgbClr val="D9DFEA"/>
            </a:solidFill>
            <a:ln>
              <a:noFill/>
            </a:ln>
          </p:spPr>
        </p:sp>
        <p:sp>
          <p:nvSpPr>
            <p:cNvPr id="49" name="Rectangle 49"/>
            <p:cNvSpPr/>
            <p:nvPr/>
          </p:nvSpPr>
          <p:spPr>
            <a:xfrm>
              <a:off x="5815965" y="3924300"/>
              <a:ext cx="5842635" cy="679132"/>
            </a:xfrm>
            <a:prstGeom prst="rect">
              <a:avLst/>
            </a:prstGeom>
            <a:solidFill>
              <a:srgbClr val="F4F6FB"/>
            </a:solidFill>
            <a:ln>
              <a:noFill/>
            </a:ln>
          </p:spPr>
        </p:sp>
        <p:sp>
          <p:nvSpPr>
            <p:cNvPr id="50" name="TextBox 50"/>
            <p:cNvSpPr txBox="1"/>
            <p:nvPr/>
          </p:nvSpPr>
          <p:spPr>
            <a:xfrm>
              <a:off x="5911977" y="4049077"/>
              <a:ext cx="1393460" cy="504063"/>
            </a:xfrm>
            <a:prstGeom prst="rect">
              <a:avLst/>
            </a:prstGeom>
            <a:noFill/>
            <a:ln>
              <a:noFill/>
            </a:ln>
          </p:spPr>
          <p:txBody>
            <a:bodyPr wrap="none" lIns="0" tIns="0" rIns="0" bIns="0" anchor="t" anchorCtr="0">
              <a:spAutoFit/>
            </a:bodyPr>
            <a:lstStyle/>
            <a:p>
              <a:pPr algn="l">
                <a:lnSpc>
                  <a:spcPts val="1890"/>
                </a:lnSpc>
              </a:pPr>
              <a:r>
                <a:rPr lang="zh-CN" sz="1350" b="1" dirty="0">
                  <a:solidFill>
                    <a:srgbClr val="1F2937"/>
                  </a:solidFill>
                  <a:latin typeface="+mn-lt"/>
                  <a:ea typeface="+mn-ea"/>
                  <a:cs typeface="+mn-cs"/>
                </a:rPr>
                <a:t>ASD 自适应软件开</a:t>
              </a:r>
              <a:br/>
              <a:r>
                <a:rPr lang="zh-CN" sz="1350" b="1" dirty="0">
                  <a:solidFill>
                    <a:srgbClr val="1F2937"/>
                  </a:solidFill>
                  <a:latin typeface="+mn-lt"/>
                  <a:ea typeface="+mn-ea"/>
                  <a:cs typeface="+mn-cs"/>
                </a:rPr>
                <a:t>发</a:t>
              </a:r>
            </a:p>
          </p:txBody>
        </p:sp>
        <p:sp>
          <p:nvSpPr>
            <p:cNvPr id="51" name="TextBox 51"/>
            <p:cNvSpPr txBox="1"/>
            <p:nvPr/>
          </p:nvSpPr>
          <p:spPr>
            <a:xfrm>
              <a:off x="7664577" y="4169092"/>
              <a:ext cx="34667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面向高变化环境，分猜测、协作、学习三步</a:t>
              </a:r>
            </a:p>
          </p:txBody>
        </p:sp>
        <p:sp>
          <p:nvSpPr>
            <p:cNvPr id="52" name="Rectangle 52"/>
            <p:cNvSpPr/>
            <p:nvPr/>
          </p:nvSpPr>
          <p:spPr>
            <a:xfrm>
              <a:off x="5815965" y="4598670"/>
              <a:ext cx="5842635" cy="9525"/>
            </a:xfrm>
            <a:prstGeom prst="rect">
              <a:avLst/>
            </a:prstGeom>
            <a:solidFill>
              <a:srgbClr val="D9DFEA"/>
            </a:solidFill>
            <a:ln>
              <a:noFill/>
            </a:ln>
          </p:spPr>
        </p:sp>
        <p:sp>
          <p:nvSpPr>
            <p:cNvPr id="53" name="TextBox 53"/>
            <p:cNvSpPr txBox="1"/>
            <p:nvPr/>
          </p:nvSpPr>
          <p:spPr>
            <a:xfrm>
              <a:off x="5911977" y="4728210"/>
              <a:ext cx="102293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XP 极限编程</a:t>
              </a:r>
            </a:p>
          </p:txBody>
        </p:sp>
        <p:sp>
          <p:nvSpPr>
            <p:cNvPr id="54" name="TextBox 54"/>
            <p:cNvSpPr txBox="1"/>
            <p:nvPr/>
          </p:nvSpPr>
          <p:spPr>
            <a:xfrm>
              <a:off x="7664577" y="4728210"/>
              <a:ext cx="34667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把最佳实践用到极致，敏捷方法中最有名的</a:t>
              </a:r>
            </a:p>
          </p:txBody>
        </p:sp>
        <p:sp>
          <p:nvSpPr>
            <p:cNvPr id="55" name="Rectangle 55"/>
            <p:cNvSpPr/>
            <p:nvPr/>
          </p:nvSpPr>
          <p:spPr>
            <a:xfrm>
              <a:off x="5815965" y="1928812"/>
              <a:ext cx="5842635" cy="3113722"/>
            </a:xfrm>
            <a:prstGeom prst="rect">
              <a:avLst/>
            </a:prstGeom>
            <a:noFill/>
            <a:ln w="14288">
              <a:solidFill>
                <a:srgbClr val="D9DFEA"/>
              </a:solidFill>
            </a:ln>
          </p:spPr>
        </p:sp>
        <p:sp>
          <p:nvSpPr>
            <p:cNvPr id="56" name="Rectangle 56"/>
            <p:cNvSpPr/>
            <p:nvPr/>
          </p:nvSpPr>
          <p:spPr>
            <a:xfrm>
              <a:off x="7563802" y="1928812"/>
              <a:ext cx="9525" cy="3113722"/>
            </a:xfrm>
            <a:prstGeom prst="rect">
              <a:avLst/>
            </a:prstGeom>
            <a:solidFill>
              <a:srgbClr val="D9DFEA"/>
            </a:solidFill>
            <a:ln>
              <a:noFill/>
            </a:ln>
          </p:spPr>
        </p:sp>
      </p:grpSp>
      <p:grpSp>
        <p:nvGrpSpPr>
          <p:cNvPr id="63" name="c2-card-2"/>
          <p:cNvGrpSpPr/>
          <p:nvPr/>
        </p:nvGrpSpPr>
        <p:grpSpPr>
          <a:xfrm>
            <a:off x="5815965" y="5212080"/>
            <a:ext cx="5842635" cy="928688"/>
            <a:chOff x="5815965" y="5212080"/>
            <a:chExt cx="5842635" cy="928688"/>
          </a:xfrm>
        </p:grpSpPr>
        <p:sp>
          <p:nvSpPr>
            <p:cNvPr id="58" name="Rectangle 58"/>
            <p:cNvSpPr/>
            <p:nvPr/>
          </p:nvSpPr>
          <p:spPr>
            <a:xfrm>
              <a:off x="5815965" y="5212080"/>
              <a:ext cx="5842635" cy="928688"/>
            </a:xfrm>
            <a:prstGeom prst="roundRect">
              <a:avLst>
                <a:gd name="adj" fmla="val 14359"/>
              </a:avLst>
            </a:prstGeom>
            <a:solidFill>
              <a:srgbClr val="FFFFFF"/>
            </a:solidFill>
            <a:ln w="14288">
              <a:solidFill>
                <a:srgbClr val="D9DFEA"/>
              </a:solidFill>
            </a:ln>
          </p:spPr>
        </p:sp>
        <p:sp>
          <p:nvSpPr>
            <p:cNvPr id="59" name="Rectangle 59"/>
            <p:cNvSpPr/>
            <p:nvPr/>
          </p:nvSpPr>
          <p:spPr>
            <a:xfrm>
              <a:off x="5825490" y="5345430"/>
              <a:ext cx="47625" cy="661988"/>
            </a:xfrm>
            <a:prstGeom prst="roundRect">
              <a:avLst>
                <a:gd name="adj" fmla="val 50000"/>
              </a:avLst>
            </a:prstGeom>
            <a:solidFill>
              <a:srgbClr val="5B6475"/>
            </a:solidFill>
            <a:ln>
              <a:noFill/>
            </a:ln>
          </p:spPr>
        </p:sp>
        <p:sp>
          <p:nvSpPr>
            <p:cNvPr id="60" name="Rectangle 60"/>
            <p:cNvSpPr/>
            <p:nvPr/>
          </p:nvSpPr>
          <p:spPr>
            <a:xfrm>
              <a:off x="6040755" y="5398770"/>
              <a:ext cx="458152" cy="238125"/>
            </a:xfrm>
            <a:prstGeom prst="roundRect">
              <a:avLst>
                <a:gd name="adj" fmla="val 50000"/>
              </a:avLst>
            </a:prstGeom>
            <a:solidFill>
              <a:srgbClr val="F4F6FB"/>
            </a:solidFill>
            <a:ln>
              <a:noFill/>
            </a:ln>
          </p:spPr>
        </p:sp>
        <p:sp>
          <p:nvSpPr>
            <p:cNvPr id="61" name="TextBox 61"/>
            <p:cNvSpPr txBox="1"/>
            <p:nvPr/>
          </p:nvSpPr>
          <p:spPr>
            <a:xfrm>
              <a:off x="6132474" y="5431631"/>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62" name="TextBox 62"/>
            <p:cNvSpPr txBox="1"/>
            <p:nvPr/>
          </p:nvSpPr>
          <p:spPr>
            <a:xfrm>
              <a:off x="6033897" y="5742623"/>
              <a:ext cx="415337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 xml:space="preserve">原课件 </a:t>
              </a:r>
              <a:r>
                <a:rPr lang="en-US" sz="1350" b="1" dirty="0">
                  <a:solidFill>
                    <a:srgbClr val="B42318"/>
                  </a:solidFill>
                  <a:latin typeface="+mn-lt"/>
                  <a:ea typeface="+mn-ea"/>
                  <a:cs typeface="+mn-cs"/>
                </a:rPr>
                <a:t>ADP</a:t>
              </a:r>
              <a:r>
                <a:rPr lang="zh-CN" sz="1350" dirty="0">
                  <a:solidFill>
                    <a:srgbClr val="1F2937"/>
                  </a:solidFill>
                  <a:latin typeface="+mn-lt"/>
                  <a:ea typeface="+mn-ea"/>
                  <a:cs typeface="+mn-cs"/>
                </a:rPr>
                <a:t xml:space="preserve"> 应为 </a:t>
              </a:r>
              <a:r>
                <a:rPr lang="en-US" sz="1350" b="1" dirty="0">
                  <a:solidFill>
                    <a:srgbClr val="0F7A68"/>
                  </a:solidFill>
                  <a:latin typeface="+mn-lt"/>
                  <a:ea typeface="+mn-ea"/>
                  <a:cs typeface="+mn-cs"/>
                </a:rPr>
                <a:t>ASD</a:t>
              </a:r>
              <a:r>
                <a:rPr lang="zh-CN" sz="1350" dirty="0">
                  <a:solidFill>
                    <a:srgbClr val="1F2937"/>
                  </a:solidFill>
                  <a:latin typeface="+mn-lt"/>
                  <a:ea typeface="+mn-ea"/>
                  <a:cs typeface="+mn-cs"/>
                </a:rPr>
                <a:t xml:space="preserve">；作者 Beddle 应为 </a:t>
              </a:r>
              <a:r>
                <a:rPr lang="en-US" sz="1350" b="1" dirty="0">
                  <a:solidFill>
                    <a:srgbClr val="0F7A68"/>
                  </a:solidFill>
                  <a:latin typeface="+mn-lt"/>
                  <a:ea typeface="+mn-ea"/>
                  <a:cs typeface="+mn-cs"/>
                </a:rPr>
                <a:t>Beedle</a:t>
              </a:r>
              <a:r>
                <a:rPr lang="zh-CN" sz="1350" dirty="0">
                  <a:solidFill>
                    <a:srgbClr val="1F2937"/>
                  </a:solidFill>
                  <a:latin typeface="+mn-lt"/>
                  <a:ea typeface="+mn-ea"/>
                  <a:cs typeface="+mn-cs"/>
                </a:rPr>
                <a:t>。</a:t>
              </a:r>
            </a:p>
          </p:txBody>
        </p:sp>
      </p:grpSp>
      <p:grpSp>
        <p:nvGrpSpPr>
          <p:cNvPr id="66" name="footer"/>
          <p:cNvGrpSpPr/>
          <p:nvPr/>
        </p:nvGrpSpPr>
        <p:grpSpPr>
          <a:xfrm>
            <a:off x="528447" y="6581299"/>
            <a:ext cx="11135106" cy="190690"/>
            <a:chOff x="528447" y="6581299"/>
            <a:chExt cx="11135106" cy="190690"/>
          </a:xfrm>
        </p:grpSpPr>
        <p:sp>
          <p:nvSpPr>
            <p:cNvPr id="64" name="TextBox 64"/>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5" name="TextBox 6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52</a:t>
              </a:r>
            </a:p>
          </p:txBody>
        </p:sp>
      </p:grpSp>
    </p:spTree>
  </p:cSld>
  <p:clrMapOvr>
    <a:masterClrMapping/>
  </p:clrMapOvr>
  <p:transition xmlns:p14="http://schemas.microsoft.com/office/powerpoint/2010/main" p14:dur="400">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458718" cy="909257"/>
            <a:chOff x="520446" y="342900"/>
            <a:chExt cx="3458718" cy="909257"/>
          </a:xfrm>
        </p:grpSpPr>
        <p:sp>
          <p:nvSpPr>
            <p:cNvPr id="2" name="Rectangle 2"/>
            <p:cNvSpPr/>
            <p:nvPr/>
          </p:nvSpPr>
          <p:spPr>
            <a:xfrm>
              <a:off x="533400" y="342900"/>
              <a:ext cx="3126105" cy="266700"/>
            </a:xfrm>
            <a:prstGeom prst="roundRect">
              <a:avLst>
                <a:gd name="adj" fmla="val 50000"/>
              </a:avLst>
            </a:prstGeom>
            <a:solidFill>
              <a:srgbClr val="E7EDF3"/>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敏捷过程、极限编程与微软过程</a:t>
              </a:r>
            </a:p>
          </p:txBody>
        </p:sp>
        <p:sp>
          <p:nvSpPr>
            <p:cNvPr id="4" name="TextBox 4"/>
            <p:cNvSpPr txBox="1"/>
            <p:nvPr/>
          </p:nvSpPr>
          <p:spPr>
            <a:xfrm>
              <a:off x="520446" y="753428"/>
              <a:ext cx="345871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敏捷过程的十二条原则</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5" name="c1-bullets-1"/>
          <p:cNvGrpSpPr/>
          <p:nvPr/>
        </p:nvGrpSpPr>
        <p:grpSpPr>
          <a:xfrm>
            <a:off x="533400" y="1533525"/>
            <a:ext cx="5452110" cy="2519648"/>
            <a:chOff x="533400" y="1533525"/>
            <a:chExt cx="5452110" cy="2519648"/>
          </a:xfrm>
        </p:grpSpPr>
        <p:sp>
          <p:nvSpPr>
            <p:cNvPr id="7" name="Ellipse 7"/>
            <p:cNvSpPr/>
            <p:nvPr/>
          </p:nvSpPr>
          <p:spPr>
            <a:xfrm>
              <a:off x="533400" y="1533525"/>
              <a:ext cx="180975" cy="180975"/>
            </a:xfrm>
            <a:prstGeom prst="ellipse">
              <a:avLst/>
            </a:prstGeom>
            <a:solidFill>
              <a:srgbClr val="334E68"/>
            </a:solidFill>
            <a:ln>
              <a:noFill/>
            </a:ln>
          </p:spPr>
        </p:sp>
        <p:sp>
          <p:nvSpPr>
            <p:cNvPr id="8" name="TextBox 8"/>
            <p:cNvSpPr txBox="1"/>
            <p:nvPr/>
          </p:nvSpPr>
          <p:spPr>
            <a:xfrm>
              <a:off x="585307" y="156914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9" name="TextBox 9"/>
            <p:cNvSpPr txBox="1"/>
            <p:nvPr/>
          </p:nvSpPr>
          <p:spPr>
            <a:xfrm>
              <a:off x="803148" y="1545431"/>
              <a:ext cx="518236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最优先要做的是通过尽早的、持续的交付有价值的软件来使客户满意</a:t>
              </a:r>
            </a:p>
          </p:txBody>
        </p:sp>
        <p:sp>
          <p:nvSpPr>
            <p:cNvPr id="10" name="Ellipse 10"/>
            <p:cNvSpPr/>
            <p:nvPr/>
          </p:nvSpPr>
          <p:spPr>
            <a:xfrm>
              <a:off x="533400" y="1840230"/>
              <a:ext cx="180975" cy="180975"/>
            </a:xfrm>
            <a:prstGeom prst="ellipse">
              <a:avLst/>
            </a:prstGeom>
            <a:solidFill>
              <a:srgbClr val="334E68"/>
            </a:solidFill>
            <a:ln>
              <a:noFill/>
            </a:ln>
          </p:spPr>
        </p:sp>
        <p:sp>
          <p:nvSpPr>
            <p:cNvPr id="11" name="TextBox 11"/>
            <p:cNvSpPr txBox="1"/>
            <p:nvPr/>
          </p:nvSpPr>
          <p:spPr>
            <a:xfrm>
              <a:off x="585307" y="187490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12" name="TextBox 12"/>
            <p:cNvSpPr txBox="1"/>
            <p:nvPr/>
          </p:nvSpPr>
          <p:spPr>
            <a:xfrm>
              <a:off x="803148" y="1851184"/>
              <a:ext cx="488975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即使到了开发的后期，也欢迎改变需求；敏捷过程利用变化为客户创</a:t>
              </a:r>
              <a:br/>
              <a:r>
                <a:rPr lang="zh-CN" sz="1280" dirty="0">
                  <a:solidFill>
                    <a:srgbClr val="1F2937"/>
                  </a:solidFill>
                  <a:latin typeface="+mn-lt"/>
                  <a:ea typeface="+mn-ea"/>
                  <a:cs typeface="+mn-cs"/>
                </a:rPr>
                <a:t>造竞争优势</a:t>
              </a:r>
            </a:p>
          </p:txBody>
        </p:sp>
        <p:sp>
          <p:nvSpPr>
            <p:cNvPr id="13" name="Ellipse 13"/>
            <p:cNvSpPr/>
            <p:nvPr/>
          </p:nvSpPr>
          <p:spPr>
            <a:xfrm>
              <a:off x="533400" y="2388870"/>
              <a:ext cx="180975" cy="180975"/>
            </a:xfrm>
            <a:prstGeom prst="ellipse">
              <a:avLst/>
            </a:prstGeom>
            <a:solidFill>
              <a:srgbClr val="334E68"/>
            </a:solidFill>
            <a:ln>
              <a:noFill/>
            </a:ln>
          </p:spPr>
        </p:sp>
        <p:sp>
          <p:nvSpPr>
            <p:cNvPr id="14" name="TextBox 14"/>
            <p:cNvSpPr txBox="1"/>
            <p:nvPr/>
          </p:nvSpPr>
          <p:spPr>
            <a:xfrm>
              <a:off x="585307" y="2424493"/>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15" name="TextBox 15"/>
            <p:cNvSpPr txBox="1"/>
            <p:nvPr/>
          </p:nvSpPr>
          <p:spPr>
            <a:xfrm>
              <a:off x="803148" y="2399824"/>
              <a:ext cx="483773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经常性地交付可以工作的软件，间隔从几周到几个月，越短越好</a:t>
              </a:r>
            </a:p>
          </p:txBody>
        </p:sp>
        <p:sp>
          <p:nvSpPr>
            <p:cNvPr id="16" name="Ellipse 16"/>
            <p:cNvSpPr/>
            <p:nvPr/>
          </p:nvSpPr>
          <p:spPr>
            <a:xfrm>
              <a:off x="533400" y="2694622"/>
              <a:ext cx="180975" cy="180975"/>
            </a:xfrm>
            <a:prstGeom prst="ellipse">
              <a:avLst/>
            </a:prstGeom>
            <a:solidFill>
              <a:srgbClr val="334E68"/>
            </a:solidFill>
            <a:ln>
              <a:noFill/>
            </a:ln>
          </p:spPr>
        </p:sp>
        <p:sp>
          <p:nvSpPr>
            <p:cNvPr id="17" name="TextBox 17"/>
            <p:cNvSpPr txBox="1"/>
            <p:nvPr/>
          </p:nvSpPr>
          <p:spPr>
            <a:xfrm>
              <a:off x="585307" y="273024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4</a:t>
              </a:r>
            </a:p>
          </p:txBody>
        </p:sp>
        <p:sp>
          <p:nvSpPr>
            <p:cNvPr id="18" name="TextBox 18"/>
            <p:cNvSpPr txBox="1"/>
            <p:nvPr/>
          </p:nvSpPr>
          <p:spPr>
            <a:xfrm>
              <a:off x="803148" y="2705576"/>
              <a:ext cx="501004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在整个项目开发期间，业务人员和开发人员必须天天都在一起工作</a:t>
              </a:r>
            </a:p>
          </p:txBody>
        </p:sp>
        <p:sp>
          <p:nvSpPr>
            <p:cNvPr id="19" name="Ellipse 19"/>
            <p:cNvSpPr/>
            <p:nvPr/>
          </p:nvSpPr>
          <p:spPr>
            <a:xfrm>
              <a:off x="533400" y="3000375"/>
              <a:ext cx="180975" cy="180975"/>
            </a:xfrm>
            <a:prstGeom prst="ellipse">
              <a:avLst/>
            </a:prstGeom>
            <a:solidFill>
              <a:srgbClr val="334E68"/>
            </a:solidFill>
            <a:ln>
              <a:noFill/>
            </a:ln>
          </p:spPr>
        </p:sp>
        <p:sp>
          <p:nvSpPr>
            <p:cNvPr id="20" name="TextBox 20"/>
            <p:cNvSpPr txBox="1"/>
            <p:nvPr/>
          </p:nvSpPr>
          <p:spPr>
            <a:xfrm>
              <a:off x="585307" y="303599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5</a:t>
              </a:r>
            </a:p>
          </p:txBody>
        </p:sp>
        <p:sp>
          <p:nvSpPr>
            <p:cNvPr id="21" name="TextBox 21"/>
            <p:cNvSpPr txBox="1"/>
            <p:nvPr/>
          </p:nvSpPr>
          <p:spPr>
            <a:xfrm>
              <a:off x="803148" y="3011329"/>
              <a:ext cx="488975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围绕被激励起来的个人来构建项目，提供所需的环境和支持，并且信</a:t>
              </a:r>
              <a:br/>
              <a:r>
                <a:rPr lang="zh-CN" sz="1280" dirty="0">
                  <a:solidFill>
                    <a:srgbClr val="1F2937"/>
                  </a:solidFill>
                  <a:latin typeface="+mn-lt"/>
                  <a:ea typeface="+mn-ea"/>
                  <a:cs typeface="+mn-cs"/>
                </a:rPr>
                <a:t>任他们能够完成工作</a:t>
              </a:r>
            </a:p>
          </p:txBody>
        </p:sp>
        <p:sp>
          <p:nvSpPr>
            <p:cNvPr id="22" name="Ellipse 22"/>
            <p:cNvSpPr/>
            <p:nvPr/>
          </p:nvSpPr>
          <p:spPr>
            <a:xfrm>
              <a:off x="533400" y="3549015"/>
              <a:ext cx="180975" cy="180975"/>
            </a:xfrm>
            <a:prstGeom prst="ellipse">
              <a:avLst/>
            </a:prstGeom>
            <a:solidFill>
              <a:srgbClr val="334E68"/>
            </a:solidFill>
            <a:ln>
              <a:noFill/>
            </a:ln>
          </p:spPr>
        </p:sp>
        <p:sp>
          <p:nvSpPr>
            <p:cNvPr id="23" name="TextBox 23"/>
            <p:cNvSpPr txBox="1"/>
            <p:nvPr/>
          </p:nvSpPr>
          <p:spPr>
            <a:xfrm>
              <a:off x="585307" y="358463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6</a:t>
              </a:r>
            </a:p>
          </p:txBody>
        </p:sp>
        <p:sp>
          <p:nvSpPr>
            <p:cNvPr id="24" name="TextBox 24"/>
            <p:cNvSpPr txBox="1"/>
            <p:nvPr/>
          </p:nvSpPr>
          <p:spPr>
            <a:xfrm>
              <a:off x="803148" y="3560921"/>
              <a:ext cx="488975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在团队内部，最有效果并且富有效率的传递信息的方法是面对面的交</a:t>
              </a:r>
              <a:br/>
              <a:r>
                <a:rPr lang="zh-CN" sz="1280" dirty="0">
                  <a:solidFill>
                    <a:srgbClr val="1F2937"/>
                  </a:solidFill>
                  <a:latin typeface="+mn-lt"/>
                  <a:ea typeface="+mn-ea"/>
                  <a:cs typeface="+mn-cs"/>
                </a:rPr>
                <a:t>谈</a:t>
              </a:r>
            </a:p>
          </p:txBody>
        </p:sp>
      </p:grpSp>
      <p:grpSp>
        <p:nvGrpSpPr>
          <p:cNvPr id="44" name="c2-bullets-1"/>
          <p:cNvGrpSpPr/>
          <p:nvPr/>
        </p:nvGrpSpPr>
        <p:grpSpPr>
          <a:xfrm>
            <a:off x="6248400" y="1533525"/>
            <a:ext cx="5159502" cy="2276761"/>
            <a:chOff x="6248400" y="1533525"/>
            <a:chExt cx="5159502" cy="2276761"/>
          </a:xfrm>
        </p:grpSpPr>
        <p:sp>
          <p:nvSpPr>
            <p:cNvPr id="26" name="Ellipse 26"/>
            <p:cNvSpPr/>
            <p:nvPr/>
          </p:nvSpPr>
          <p:spPr>
            <a:xfrm>
              <a:off x="6248400" y="1533525"/>
              <a:ext cx="180975" cy="180975"/>
            </a:xfrm>
            <a:prstGeom prst="ellipse">
              <a:avLst/>
            </a:prstGeom>
            <a:solidFill>
              <a:srgbClr val="334E68"/>
            </a:solidFill>
            <a:ln>
              <a:noFill/>
            </a:ln>
          </p:spPr>
        </p:sp>
        <p:sp>
          <p:nvSpPr>
            <p:cNvPr id="27" name="TextBox 27"/>
            <p:cNvSpPr txBox="1"/>
            <p:nvPr/>
          </p:nvSpPr>
          <p:spPr>
            <a:xfrm>
              <a:off x="6300307" y="156914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28" name="TextBox 28"/>
            <p:cNvSpPr txBox="1"/>
            <p:nvPr/>
          </p:nvSpPr>
          <p:spPr>
            <a:xfrm>
              <a:off x="6518148" y="1545431"/>
              <a:ext cx="259765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工作的软件是首要的进度度量标准</a:t>
              </a:r>
            </a:p>
          </p:txBody>
        </p:sp>
        <p:sp>
          <p:nvSpPr>
            <p:cNvPr id="29" name="Ellipse 29"/>
            <p:cNvSpPr/>
            <p:nvPr/>
          </p:nvSpPr>
          <p:spPr>
            <a:xfrm>
              <a:off x="6248400" y="1840230"/>
              <a:ext cx="180975" cy="180975"/>
            </a:xfrm>
            <a:prstGeom prst="ellipse">
              <a:avLst/>
            </a:prstGeom>
            <a:solidFill>
              <a:srgbClr val="334E68"/>
            </a:solidFill>
            <a:ln>
              <a:noFill/>
            </a:ln>
          </p:spPr>
        </p:sp>
        <p:sp>
          <p:nvSpPr>
            <p:cNvPr id="30" name="TextBox 30"/>
            <p:cNvSpPr txBox="1"/>
            <p:nvPr/>
          </p:nvSpPr>
          <p:spPr>
            <a:xfrm>
              <a:off x="6300307" y="187490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31" name="TextBox 31"/>
            <p:cNvSpPr txBox="1"/>
            <p:nvPr/>
          </p:nvSpPr>
          <p:spPr>
            <a:xfrm>
              <a:off x="6518148" y="1851184"/>
              <a:ext cx="488975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提倡可持续的开发速度，责任人、开发者和用户应该能够保持长期恒</a:t>
              </a:r>
              <a:br/>
              <a:r>
                <a:rPr lang="zh-CN" sz="1280" dirty="0">
                  <a:solidFill>
                    <a:srgbClr val="1F2937"/>
                  </a:solidFill>
                  <a:latin typeface="+mn-lt"/>
                  <a:ea typeface="+mn-ea"/>
                  <a:cs typeface="+mn-cs"/>
                </a:rPr>
                <a:t>定的速度</a:t>
              </a:r>
            </a:p>
          </p:txBody>
        </p:sp>
        <p:sp>
          <p:nvSpPr>
            <p:cNvPr id="32" name="Ellipse 32"/>
            <p:cNvSpPr/>
            <p:nvPr/>
          </p:nvSpPr>
          <p:spPr>
            <a:xfrm>
              <a:off x="6248400" y="2388870"/>
              <a:ext cx="180975" cy="180975"/>
            </a:xfrm>
            <a:prstGeom prst="ellipse">
              <a:avLst/>
            </a:prstGeom>
            <a:solidFill>
              <a:srgbClr val="334E68"/>
            </a:solidFill>
            <a:ln>
              <a:noFill/>
            </a:ln>
          </p:spPr>
        </p:sp>
        <p:sp>
          <p:nvSpPr>
            <p:cNvPr id="33" name="TextBox 33"/>
            <p:cNvSpPr txBox="1"/>
            <p:nvPr/>
          </p:nvSpPr>
          <p:spPr>
            <a:xfrm>
              <a:off x="6300307" y="2424493"/>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34" name="TextBox 34"/>
            <p:cNvSpPr txBox="1"/>
            <p:nvPr/>
          </p:nvSpPr>
          <p:spPr>
            <a:xfrm>
              <a:off x="6518148" y="2399824"/>
              <a:ext cx="380385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不断地关注优秀的技能和好的设计会增强敏捷能力</a:t>
              </a:r>
            </a:p>
          </p:txBody>
        </p:sp>
        <p:sp>
          <p:nvSpPr>
            <p:cNvPr id="35" name="Ellipse 35"/>
            <p:cNvSpPr/>
            <p:nvPr/>
          </p:nvSpPr>
          <p:spPr>
            <a:xfrm>
              <a:off x="6248400" y="2694622"/>
              <a:ext cx="180975" cy="180975"/>
            </a:xfrm>
            <a:prstGeom prst="ellipse">
              <a:avLst/>
            </a:prstGeom>
            <a:solidFill>
              <a:srgbClr val="334E68"/>
            </a:solidFill>
            <a:ln>
              <a:noFill/>
            </a:ln>
          </p:spPr>
        </p:sp>
        <p:sp>
          <p:nvSpPr>
            <p:cNvPr id="36" name="TextBox 36"/>
            <p:cNvSpPr txBox="1"/>
            <p:nvPr/>
          </p:nvSpPr>
          <p:spPr>
            <a:xfrm>
              <a:off x="6300307" y="273024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4</a:t>
              </a:r>
            </a:p>
          </p:txBody>
        </p:sp>
        <p:sp>
          <p:nvSpPr>
            <p:cNvPr id="37" name="TextBox 37"/>
            <p:cNvSpPr txBox="1"/>
            <p:nvPr/>
          </p:nvSpPr>
          <p:spPr>
            <a:xfrm>
              <a:off x="6518148" y="2705576"/>
              <a:ext cx="104683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简单是根本的</a:t>
              </a:r>
            </a:p>
          </p:txBody>
        </p:sp>
        <p:sp>
          <p:nvSpPr>
            <p:cNvPr id="38" name="Ellipse 38"/>
            <p:cNvSpPr/>
            <p:nvPr/>
          </p:nvSpPr>
          <p:spPr>
            <a:xfrm>
              <a:off x="6248400" y="3000375"/>
              <a:ext cx="180975" cy="180975"/>
            </a:xfrm>
            <a:prstGeom prst="ellipse">
              <a:avLst/>
            </a:prstGeom>
            <a:solidFill>
              <a:srgbClr val="334E68"/>
            </a:solidFill>
            <a:ln>
              <a:noFill/>
            </a:ln>
          </p:spPr>
        </p:sp>
        <p:sp>
          <p:nvSpPr>
            <p:cNvPr id="39" name="TextBox 39"/>
            <p:cNvSpPr txBox="1"/>
            <p:nvPr/>
          </p:nvSpPr>
          <p:spPr>
            <a:xfrm>
              <a:off x="6300307" y="303599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5</a:t>
              </a:r>
            </a:p>
          </p:txBody>
        </p:sp>
        <p:sp>
          <p:nvSpPr>
            <p:cNvPr id="40" name="TextBox 40"/>
            <p:cNvSpPr txBox="1"/>
            <p:nvPr/>
          </p:nvSpPr>
          <p:spPr>
            <a:xfrm>
              <a:off x="6518148" y="3011329"/>
              <a:ext cx="345922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最好的架构、需求和设计出自于自组织的团队</a:t>
              </a:r>
            </a:p>
          </p:txBody>
        </p:sp>
        <p:sp>
          <p:nvSpPr>
            <p:cNvPr id="41" name="Ellipse 41"/>
            <p:cNvSpPr/>
            <p:nvPr/>
          </p:nvSpPr>
          <p:spPr>
            <a:xfrm>
              <a:off x="6248400" y="3306128"/>
              <a:ext cx="180975" cy="180975"/>
            </a:xfrm>
            <a:prstGeom prst="ellipse">
              <a:avLst/>
            </a:prstGeom>
            <a:solidFill>
              <a:srgbClr val="334E68"/>
            </a:solidFill>
            <a:ln>
              <a:noFill/>
            </a:ln>
          </p:spPr>
        </p:sp>
        <p:sp>
          <p:nvSpPr>
            <p:cNvPr id="42" name="TextBox 42"/>
            <p:cNvSpPr txBox="1"/>
            <p:nvPr/>
          </p:nvSpPr>
          <p:spPr>
            <a:xfrm>
              <a:off x="6300307" y="334175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6</a:t>
              </a:r>
            </a:p>
          </p:txBody>
        </p:sp>
        <p:sp>
          <p:nvSpPr>
            <p:cNvPr id="43" name="TextBox 43"/>
            <p:cNvSpPr txBox="1"/>
            <p:nvPr/>
          </p:nvSpPr>
          <p:spPr>
            <a:xfrm>
              <a:off x="6518148" y="3318034"/>
              <a:ext cx="488975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每隔一段时间，团队会反省如何才能更有效地工作，然后相应地调整</a:t>
              </a:r>
              <a:br/>
              <a:r>
                <a:rPr lang="zh-CN" sz="1280" dirty="0">
                  <a:solidFill>
                    <a:srgbClr val="1F2937"/>
                  </a:solidFill>
                  <a:latin typeface="+mn-lt"/>
                  <a:ea typeface="+mn-ea"/>
                  <a:cs typeface="+mn-cs"/>
                </a:rPr>
                <a:t>自己的行为</a:t>
              </a:r>
            </a:p>
          </p:txBody>
        </p:sp>
      </p:grpSp>
      <p:grpSp>
        <p:nvGrpSpPr>
          <p:cNvPr id="51" name="takeaway"/>
          <p:cNvGrpSpPr/>
          <p:nvPr/>
        </p:nvGrpSpPr>
        <p:grpSpPr>
          <a:xfrm>
            <a:off x="533400" y="5829300"/>
            <a:ext cx="11125200" cy="533400"/>
            <a:chOff x="533400" y="5829300"/>
            <a:chExt cx="11125200" cy="533400"/>
          </a:xfrm>
        </p:grpSpPr>
        <p:sp>
          <p:nvSpPr>
            <p:cNvPr id="45" name="Rectangle 45"/>
            <p:cNvSpPr/>
            <p:nvPr/>
          </p:nvSpPr>
          <p:spPr>
            <a:xfrm>
              <a:off x="533400" y="5829300"/>
              <a:ext cx="11125200" cy="533400"/>
            </a:xfrm>
            <a:prstGeom prst="roundRect">
              <a:avLst>
                <a:gd name="adj" fmla="val 21429"/>
              </a:avLst>
            </a:prstGeom>
            <a:solidFill>
              <a:srgbClr val="FDECEA"/>
            </a:solidFill>
            <a:ln>
              <a:noFill/>
            </a:ln>
          </p:spPr>
        </p:sp>
        <p:grpSp>
          <p:nvGrpSpPr>
            <p:cNvPr id="49" name="Group 49"/>
            <p:cNvGrpSpPr/>
            <p:nvPr/>
          </p:nvGrpSpPr>
          <p:grpSpPr>
            <a:xfrm>
              <a:off x="726129" y="5992296"/>
              <a:ext cx="224134" cy="192560"/>
              <a:chOff x="726129" y="5992296"/>
              <a:chExt cx="224134" cy="192560"/>
            </a:xfrm>
          </p:grpSpPr>
          <p:sp>
            <p:nvSpPr>
              <p:cNvPr id="46" name="Freeform 46"/>
              <p:cNvSpPr/>
              <p:nvPr/>
            </p:nvSpPr>
            <p:spPr>
              <a:xfrm>
                <a:off x="838200" y="606266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47" name="Freeform 47"/>
              <p:cNvSpPr/>
              <p:nvPr/>
            </p:nvSpPr>
            <p:spPr>
              <a:xfrm>
                <a:off x="726129" y="599229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48" name="Freeform 48"/>
              <p:cNvSpPr/>
              <p:nvPr/>
            </p:nvSpPr>
            <p:spPr>
              <a:xfrm>
                <a:off x="838200" y="614045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50" name="TextBox 50"/>
            <p:cNvSpPr txBox="1"/>
            <p:nvPr/>
          </p:nvSpPr>
          <p:spPr>
            <a:xfrm>
              <a:off x="1040130" y="5991225"/>
              <a:ext cx="6729413" cy="293370"/>
            </a:xfrm>
            <a:prstGeom prst="rect">
              <a:avLst/>
            </a:prstGeom>
            <a:noFill/>
            <a:ln>
              <a:noFill/>
            </a:ln>
          </p:spPr>
          <p:txBody>
            <a:bodyPr wrap="none" lIns="0" tIns="0" rIns="0" bIns="0" anchor="t" anchorCtr="0">
              <a:spAutoFit/>
            </a:bodyPr>
            <a:lstStyle/>
            <a:p>
              <a:pPr algn="l"/>
              <a:r>
                <a:rPr lang="zh-CN" sz="1500" dirty="0">
                  <a:solidFill>
                    <a:srgbClr val="B42318"/>
                  </a:solidFill>
                  <a:latin typeface="+mn-lt"/>
                  <a:ea typeface="+mn-ea"/>
                  <a:cs typeface="+mn-cs"/>
                </a:rPr>
                <a:t>易错：第 7 条的度量标准是“可以工作的软件”，不是代码行数或文档页数。</a:t>
              </a:r>
            </a:p>
          </p:txBody>
        </p:sp>
      </p:grpSp>
      <p:grpSp>
        <p:nvGrpSpPr>
          <p:cNvPr id="54" name="footer"/>
          <p:cNvGrpSpPr/>
          <p:nvPr/>
        </p:nvGrpSpPr>
        <p:grpSpPr>
          <a:xfrm>
            <a:off x="528447" y="6581299"/>
            <a:ext cx="11135106" cy="190690"/>
            <a:chOff x="528447" y="6581299"/>
            <a:chExt cx="11135106" cy="190690"/>
          </a:xfrm>
        </p:grpSpPr>
        <p:sp>
          <p:nvSpPr>
            <p:cNvPr id="52" name="TextBox 52"/>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53" name="TextBox 5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53</a:t>
              </a:r>
            </a:p>
          </p:txBody>
        </p:sp>
      </p:grpSp>
    </p:spTree>
  </p:cSld>
  <p:clrMapOvr>
    <a:masterClrMapping/>
  </p:clrMapOvr>
  <p:transition xmlns:p14="http://schemas.microsoft.com/office/powerpoint/2010/main" p14:dur="400">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3126105" cy="266700"/>
            </a:xfrm>
            <a:prstGeom prst="roundRect">
              <a:avLst>
                <a:gd name="adj" fmla="val 50000"/>
              </a:avLst>
            </a:prstGeom>
            <a:solidFill>
              <a:srgbClr val="E7EDF3"/>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敏捷过程、极限编程与微软过程</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极限编程：把最好的实践用到极致</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7" name="c1-card-1"/>
          <p:cNvGrpSpPr/>
          <p:nvPr/>
        </p:nvGrpSpPr>
        <p:grpSpPr>
          <a:xfrm>
            <a:off x="533400" y="1524000"/>
            <a:ext cx="4328160" cy="3198495"/>
            <a:chOff x="533400" y="1524000"/>
            <a:chExt cx="4328160" cy="3198495"/>
          </a:xfrm>
        </p:grpSpPr>
        <p:sp>
          <p:nvSpPr>
            <p:cNvPr id="7" name="Rectangle 7"/>
            <p:cNvSpPr/>
            <p:nvPr/>
          </p:nvSpPr>
          <p:spPr>
            <a:xfrm>
              <a:off x="533400" y="1524000"/>
              <a:ext cx="4328160" cy="3198495"/>
            </a:xfrm>
            <a:prstGeom prst="roundRect">
              <a:avLst>
                <a:gd name="adj" fmla="val 4169"/>
              </a:avLst>
            </a:prstGeom>
            <a:solidFill>
              <a:srgbClr val="FFFFFF"/>
            </a:solidFill>
            <a:ln w="14288">
              <a:solidFill>
                <a:srgbClr val="D9DFEA"/>
              </a:solidFill>
            </a:ln>
          </p:spPr>
        </p:sp>
        <p:sp>
          <p:nvSpPr>
            <p:cNvPr id="8" name="Rectangle 8"/>
            <p:cNvSpPr/>
            <p:nvPr/>
          </p:nvSpPr>
          <p:spPr>
            <a:xfrm>
              <a:off x="542925" y="1657350"/>
              <a:ext cx="47625" cy="2931795"/>
            </a:xfrm>
            <a:prstGeom prst="roundRect">
              <a:avLst>
                <a:gd name="adj" fmla="val 50000"/>
              </a:avLst>
            </a:prstGeom>
            <a:solidFill>
              <a:srgbClr val="334E68"/>
            </a:solidFill>
            <a:ln>
              <a:noFill/>
            </a:ln>
          </p:spPr>
        </p:sp>
        <p:sp>
          <p:nvSpPr>
            <p:cNvPr id="9" name="Rectangle 9"/>
            <p:cNvSpPr/>
            <p:nvPr/>
          </p:nvSpPr>
          <p:spPr>
            <a:xfrm>
              <a:off x="781050" y="1733550"/>
              <a:ext cx="494348" cy="257175"/>
            </a:xfrm>
            <a:prstGeom prst="roundRect">
              <a:avLst>
                <a:gd name="adj" fmla="val 50000"/>
              </a:avLst>
            </a:prstGeom>
            <a:solidFill>
              <a:srgbClr val="E7EDF3"/>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定义</a:t>
              </a:r>
            </a:p>
          </p:txBody>
        </p:sp>
        <p:sp>
          <p:nvSpPr>
            <p:cNvPr id="11" name="TextBox 11"/>
            <p:cNvSpPr txBox="1"/>
            <p:nvPr/>
          </p:nvSpPr>
          <p:spPr>
            <a:xfrm>
              <a:off x="773430" y="2110740"/>
              <a:ext cx="3907155"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极限编程（eXtreme Programming, XP）</a:t>
              </a:r>
            </a:p>
          </p:txBody>
        </p:sp>
        <p:sp>
          <p:nvSpPr>
            <p:cNvPr id="12" name="TextBox 12"/>
            <p:cNvSpPr txBox="1"/>
            <p:nvPr/>
          </p:nvSpPr>
          <p:spPr>
            <a:xfrm>
              <a:off x="773430" y="2465070"/>
              <a:ext cx="3653790" cy="14363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极限编程是敏捷过程中最富盛名的一个，其</a:t>
              </a:r>
              <a:br/>
              <a:r>
                <a:rPr lang="zh-CN" sz="1500" dirty="0">
                  <a:solidFill>
                    <a:srgbClr val="1F2937"/>
                  </a:solidFill>
                  <a:latin typeface="+mn-lt"/>
                  <a:ea typeface="+mn-ea"/>
                  <a:cs typeface="+mn-cs"/>
                </a:rPr>
                <a:t>中“极限”的含义是指</a:t>
              </a:r>
              <a:r>
                <a:rPr lang="zh-CN" sz="1500" b="1" dirty="0">
                  <a:solidFill>
                    <a:srgbClr val="C2410C"/>
                  </a:solidFill>
                  <a:latin typeface="+mn-lt"/>
                  <a:ea typeface="+mn-ea"/>
                  <a:cs typeface="+mn-cs"/>
                </a:rPr>
                <a:t>把最好的开发实践运用</a:t>
              </a:r>
              <a:br/>
              <a:r>
                <a:rPr lang="zh-CN" sz="1500" b="1" dirty="0">
                  <a:solidFill>
                    <a:srgbClr val="C2410C"/>
                  </a:solidFill>
                  <a:latin typeface="+mn-lt"/>
                  <a:ea typeface="+mn-ea"/>
                  <a:cs typeface="+mn-cs"/>
                </a:rPr>
                <a:t>到极致</a:t>
              </a:r>
              <a:r>
                <a:rPr lang="zh-CN" sz="1500" dirty="0">
                  <a:solidFill>
                    <a:srgbClr val="1F2937"/>
                  </a:solidFill>
                  <a:latin typeface="+mn-lt"/>
                  <a:ea typeface="+mn-ea"/>
                  <a:cs typeface="+mn-cs"/>
                </a:rPr>
                <a:t>。目前它已经成为一个典型的开发方</a:t>
              </a:r>
              <a:br/>
              <a:r>
                <a:rPr lang="zh-CN" sz="1500" dirty="0">
                  <a:solidFill>
                    <a:srgbClr val="1F2937"/>
                  </a:solidFill>
                  <a:latin typeface="+mn-lt"/>
                  <a:ea typeface="+mn-ea"/>
                  <a:cs typeface="+mn-cs"/>
                </a:rPr>
                <a:t>法，广泛应用于需求模糊且经常改变的场</a:t>
              </a:r>
              <a:br/>
              <a:r>
                <a:rPr lang="zh-CN" sz="1500" dirty="0">
                  <a:solidFill>
                    <a:srgbClr val="1F2937"/>
                  </a:solidFill>
                  <a:latin typeface="+mn-lt"/>
                  <a:ea typeface="+mn-ea"/>
                  <a:cs typeface="+mn-cs"/>
                </a:rPr>
                <a:t>合。</a:t>
              </a:r>
            </a:p>
          </p:txBody>
        </p:sp>
        <p:sp>
          <p:nvSpPr>
            <p:cNvPr id="13" name="Ellipse 13"/>
            <p:cNvSpPr/>
            <p:nvPr/>
          </p:nvSpPr>
          <p:spPr>
            <a:xfrm>
              <a:off x="786765" y="4006215"/>
              <a:ext cx="64770" cy="64770"/>
            </a:xfrm>
            <a:prstGeom prst="ellipse">
              <a:avLst/>
            </a:prstGeom>
            <a:solidFill>
              <a:srgbClr val="334E68"/>
            </a:solidFill>
            <a:ln>
              <a:noFill/>
            </a:ln>
          </p:spPr>
        </p:sp>
        <p:sp>
          <p:nvSpPr>
            <p:cNvPr id="14" name="TextBox 14"/>
            <p:cNvSpPr txBox="1"/>
            <p:nvPr/>
          </p:nvSpPr>
          <p:spPr>
            <a:xfrm>
              <a:off x="944880" y="3943350"/>
              <a:ext cx="34480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对变化和不确定性反应更快速、更敏捷</a:t>
              </a:r>
            </a:p>
          </p:txBody>
        </p:sp>
        <p:sp>
          <p:nvSpPr>
            <p:cNvPr id="15" name="Ellipse 15"/>
            <p:cNvSpPr/>
            <p:nvPr/>
          </p:nvSpPr>
          <p:spPr>
            <a:xfrm>
              <a:off x="786765" y="4341495"/>
              <a:ext cx="64770" cy="64770"/>
            </a:xfrm>
            <a:prstGeom prst="ellipse">
              <a:avLst/>
            </a:prstGeom>
            <a:solidFill>
              <a:srgbClr val="334E68"/>
            </a:solidFill>
            <a:ln>
              <a:noFill/>
            </a:ln>
          </p:spPr>
        </p:sp>
        <p:sp>
          <p:nvSpPr>
            <p:cNvPr id="16" name="TextBox 16"/>
            <p:cNvSpPr txBox="1"/>
            <p:nvPr/>
          </p:nvSpPr>
          <p:spPr>
            <a:xfrm>
              <a:off x="944880" y="4278630"/>
              <a:ext cx="30441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快速的同时保持可持续的开发速度</a:t>
              </a:r>
            </a:p>
          </p:txBody>
        </p:sp>
      </p:grpSp>
      <p:grpSp>
        <p:nvGrpSpPr>
          <p:cNvPr id="24" name="c1-callout-2"/>
          <p:cNvGrpSpPr/>
          <p:nvPr/>
        </p:nvGrpSpPr>
        <p:grpSpPr>
          <a:xfrm>
            <a:off x="533400" y="4912995"/>
            <a:ext cx="4328160" cy="1059180"/>
            <a:chOff x="533400" y="4912995"/>
            <a:chExt cx="4328160" cy="1059180"/>
          </a:xfrm>
        </p:grpSpPr>
        <p:sp>
          <p:nvSpPr>
            <p:cNvPr id="18" name="Rectangle 18"/>
            <p:cNvSpPr/>
            <p:nvPr/>
          </p:nvSpPr>
          <p:spPr>
            <a:xfrm>
              <a:off x="533400" y="4912995"/>
              <a:ext cx="4328160" cy="1059180"/>
            </a:xfrm>
            <a:prstGeom prst="roundRect">
              <a:avLst>
                <a:gd name="adj" fmla="val 10791"/>
              </a:avLst>
            </a:prstGeom>
            <a:solidFill>
              <a:srgbClr val="FDECEA"/>
            </a:solidFill>
            <a:ln>
              <a:noFill/>
            </a:ln>
          </p:spPr>
        </p:sp>
        <p:grpSp>
          <p:nvGrpSpPr>
            <p:cNvPr id="22" name="Group 22"/>
            <p:cNvGrpSpPr/>
            <p:nvPr/>
          </p:nvGrpSpPr>
          <p:grpSpPr>
            <a:xfrm>
              <a:off x="726129" y="5338881"/>
              <a:ext cx="224134" cy="192560"/>
              <a:chOff x="726129" y="5338881"/>
              <a:chExt cx="224134" cy="192560"/>
            </a:xfrm>
          </p:grpSpPr>
          <p:sp>
            <p:nvSpPr>
              <p:cNvPr id="19" name="Freeform 19"/>
              <p:cNvSpPr/>
              <p:nvPr/>
            </p:nvSpPr>
            <p:spPr>
              <a:xfrm>
                <a:off x="838200" y="5409248"/>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20" name="Freeform 20"/>
              <p:cNvSpPr/>
              <p:nvPr/>
            </p:nvSpPr>
            <p:spPr>
              <a:xfrm>
                <a:off x="726129" y="5338881"/>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21" name="Freeform 21"/>
              <p:cNvSpPr/>
              <p:nvPr/>
            </p:nvSpPr>
            <p:spPr>
              <a:xfrm>
                <a:off x="838200" y="5487036"/>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23" name="TextBox 23"/>
            <p:cNvSpPr txBox="1"/>
            <p:nvPr/>
          </p:nvSpPr>
          <p:spPr>
            <a:xfrm>
              <a:off x="1040130" y="5061585"/>
              <a:ext cx="346329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B42318"/>
                  </a:solidFill>
                  <a:latin typeface="+mn-lt"/>
                  <a:ea typeface="+mn-ea"/>
                  <a:cs typeface="+mn-cs"/>
                </a:rPr>
                <a:t>“极限”说的是实践做到极致，例如测试有</a:t>
              </a:r>
              <a:br/>
              <a:r>
                <a:rPr lang="zh-CN" sz="1500" dirty="0">
                  <a:solidFill>
                    <a:srgbClr val="B42318"/>
                  </a:solidFill>
                  <a:latin typeface="+mn-lt"/>
                  <a:ea typeface="+mn-ea"/>
                  <a:cs typeface="+mn-cs"/>
                </a:rPr>
                <a:t>用就先写测试、评审有用就随时结对评</a:t>
              </a:r>
              <a:br/>
              <a:r>
                <a:rPr lang="zh-CN" sz="1500" dirty="0">
                  <a:solidFill>
                    <a:srgbClr val="B42318"/>
                  </a:solidFill>
                  <a:latin typeface="+mn-lt"/>
                  <a:ea typeface="+mn-ea"/>
                  <a:cs typeface="+mn-cs"/>
                </a:rPr>
                <a:t>审，与“压榨人的极限”无关。</a:t>
              </a:r>
            </a:p>
          </p:txBody>
        </p:sp>
      </p:grpSp>
      <p:grpSp>
        <p:nvGrpSpPr>
          <p:cNvPr id="45" name="c2-table-1"/>
          <p:cNvGrpSpPr/>
          <p:nvPr/>
        </p:nvGrpSpPr>
        <p:grpSpPr>
          <a:xfrm>
            <a:off x="5160645" y="1524000"/>
            <a:ext cx="6497955" cy="4067652"/>
            <a:chOff x="5160645" y="1524000"/>
            <a:chExt cx="6497955" cy="4067652"/>
          </a:xfrm>
        </p:grpSpPr>
        <p:sp>
          <p:nvSpPr>
            <p:cNvPr id="25" name="Rectangle 25"/>
            <p:cNvSpPr/>
            <p:nvPr/>
          </p:nvSpPr>
          <p:spPr>
            <a:xfrm>
              <a:off x="5166360" y="1524000"/>
              <a:ext cx="6492240" cy="487680"/>
            </a:xfrm>
            <a:prstGeom prst="rect">
              <a:avLst/>
            </a:prstGeom>
            <a:solidFill>
              <a:srgbClr val="334E68"/>
            </a:solidFill>
            <a:ln>
              <a:noFill/>
            </a:ln>
          </p:spPr>
        </p:sp>
        <p:sp>
          <p:nvSpPr>
            <p:cNvPr id="26" name="TextBox 26"/>
            <p:cNvSpPr txBox="1"/>
            <p:nvPr/>
          </p:nvSpPr>
          <p:spPr>
            <a:xfrm>
              <a:off x="5540692" y="1663065"/>
              <a:ext cx="41910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方面</a:t>
              </a:r>
            </a:p>
          </p:txBody>
        </p:sp>
        <p:sp>
          <p:nvSpPr>
            <p:cNvPr id="27" name="TextBox 27"/>
            <p:cNvSpPr txBox="1"/>
            <p:nvPr/>
          </p:nvSpPr>
          <p:spPr>
            <a:xfrm>
              <a:off x="8584882" y="1663065"/>
              <a:ext cx="82296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有效实践</a:t>
              </a:r>
            </a:p>
          </p:txBody>
        </p:sp>
        <p:sp>
          <p:nvSpPr>
            <p:cNvPr id="28" name="TextBox 28"/>
            <p:cNvSpPr txBox="1"/>
            <p:nvPr/>
          </p:nvSpPr>
          <p:spPr>
            <a:xfrm>
              <a:off x="5273040" y="2150745"/>
              <a:ext cx="777240" cy="560070"/>
            </a:xfrm>
            <a:prstGeom prst="rect">
              <a:avLst/>
            </a:prstGeom>
            <a:noFill/>
            <a:ln>
              <a:noFill/>
            </a:ln>
          </p:spPr>
          <p:txBody>
            <a:bodyPr wrap="none" lIns="0" tIns="0" rIns="0" bIns="0" anchor="t" anchorCtr="0">
              <a:spAutoFit/>
            </a:bodyPr>
            <a:lstStyle/>
            <a:p>
              <a:pPr algn="l">
                <a:lnSpc>
                  <a:spcPts val="2100"/>
                </a:lnSpc>
              </a:pPr>
              <a:r>
                <a:rPr lang="zh-CN" sz="1500" b="1" dirty="0">
                  <a:solidFill>
                    <a:srgbClr val="1F2937"/>
                  </a:solidFill>
                  <a:latin typeface="+mn-lt"/>
                  <a:ea typeface="+mn-ea"/>
                  <a:cs typeface="+mn-cs"/>
                </a:rPr>
                <a:t>客户与计</a:t>
              </a:r>
              <a:br/>
              <a:r>
                <a:rPr lang="zh-CN" sz="1500" b="1" dirty="0">
                  <a:solidFill>
                    <a:srgbClr val="1F2937"/>
                  </a:solidFill>
                  <a:latin typeface="+mn-lt"/>
                  <a:ea typeface="+mn-ea"/>
                  <a:cs typeface="+mn-cs"/>
                </a:rPr>
                <a:t>划</a:t>
              </a:r>
            </a:p>
          </p:txBody>
        </p:sp>
        <p:sp>
          <p:nvSpPr>
            <p:cNvPr id="29" name="TextBox 29"/>
            <p:cNvSpPr txBox="1"/>
            <p:nvPr/>
          </p:nvSpPr>
          <p:spPr>
            <a:xfrm>
              <a:off x="6441758" y="2150745"/>
              <a:ext cx="4587240"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客户作为开发团队的成员；使用用户素材；短交付周期</a:t>
              </a:r>
              <a:br/>
              <a:r>
                <a:rPr lang="zh-CN" sz="1500" dirty="0">
                  <a:solidFill>
                    <a:srgbClr val="1F2937"/>
                  </a:solidFill>
                  <a:latin typeface="+mn-lt"/>
                  <a:ea typeface="+mn-ea"/>
                  <a:cs typeface="+mn-cs"/>
                </a:rPr>
                <a:t>（每两周完成一次迭代）；及时调整计划</a:t>
              </a:r>
            </a:p>
          </p:txBody>
        </p:sp>
        <p:sp>
          <p:nvSpPr>
            <p:cNvPr id="30" name="Rectangle 30"/>
            <p:cNvSpPr/>
            <p:nvPr/>
          </p:nvSpPr>
          <p:spPr>
            <a:xfrm>
              <a:off x="5166360" y="2761298"/>
              <a:ext cx="6492240" cy="9525"/>
            </a:xfrm>
            <a:prstGeom prst="rect">
              <a:avLst/>
            </a:prstGeom>
            <a:solidFill>
              <a:srgbClr val="D9DFEA"/>
            </a:solidFill>
            <a:ln>
              <a:noFill/>
            </a:ln>
          </p:spPr>
        </p:sp>
        <p:sp>
          <p:nvSpPr>
            <p:cNvPr id="31" name="Rectangle 31"/>
            <p:cNvSpPr/>
            <p:nvPr/>
          </p:nvSpPr>
          <p:spPr>
            <a:xfrm>
              <a:off x="5166360" y="2766060"/>
              <a:ext cx="6492240" cy="1021080"/>
            </a:xfrm>
            <a:prstGeom prst="rect">
              <a:avLst/>
            </a:prstGeom>
            <a:solidFill>
              <a:srgbClr val="F4F6FB"/>
            </a:solidFill>
            <a:ln>
              <a:noFill/>
            </a:ln>
          </p:spPr>
        </p:sp>
        <p:sp>
          <p:nvSpPr>
            <p:cNvPr id="32" name="TextBox 32"/>
            <p:cNvSpPr txBox="1"/>
            <p:nvPr/>
          </p:nvSpPr>
          <p:spPr>
            <a:xfrm>
              <a:off x="5273040" y="3038475"/>
              <a:ext cx="777240" cy="560070"/>
            </a:xfrm>
            <a:prstGeom prst="rect">
              <a:avLst/>
            </a:prstGeom>
            <a:noFill/>
            <a:ln>
              <a:noFill/>
            </a:ln>
          </p:spPr>
          <p:txBody>
            <a:bodyPr wrap="none" lIns="0" tIns="0" rIns="0" bIns="0" anchor="t" anchorCtr="0">
              <a:spAutoFit/>
            </a:bodyPr>
            <a:lstStyle/>
            <a:p>
              <a:pPr algn="l">
                <a:lnSpc>
                  <a:spcPts val="2100"/>
                </a:lnSpc>
              </a:pPr>
              <a:r>
                <a:rPr lang="zh-CN" sz="1500" b="1" dirty="0">
                  <a:solidFill>
                    <a:srgbClr val="1F2937"/>
                  </a:solidFill>
                  <a:latin typeface="+mn-lt"/>
                  <a:ea typeface="+mn-ea"/>
                  <a:cs typeface="+mn-cs"/>
                </a:rPr>
                <a:t>编码与设</a:t>
              </a:r>
              <a:br/>
              <a:r>
                <a:rPr lang="zh-CN" sz="1500" b="1" dirty="0">
                  <a:solidFill>
                    <a:srgbClr val="1F2937"/>
                  </a:solidFill>
                  <a:latin typeface="+mn-lt"/>
                  <a:ea typeface="+mn-ea"/>
                  <a:cs typeface="+mn-cs"/>
                </a:rPr>
                <a:t>计</a:t>
              </a:r>
            </a:p>
          </p:txBody>
        </p:sp>
        <p:sp>
          <p:nvSpPr>
            <p:cNvPr id="33" name="Rectangle 33"/>
            <p:cNvSpPr/>
            <p:nvPr/>
          </p:nvSpPr>
          <p:spPr>
            <a:xfrm>
              <a:off x="6344602" y="2775585"/>
              <a:ext cx="5304472" cy="1002030"/>
            </a:xfrm>
            <a:prstGeom prst="rect">
              <a:avLst/>
            </a:prstGeom>
            <a:solidFill>
              <a:srgbClr val="FDEEE7"/>
            </a:solidFill>
            <a:ln>
              <a:noFill/>
            </a:ln>
          </p:spPr>
        </p:sp>
        <p:sp>
          <p:nvSpPr>
            <p:cNvPr id="34" name="TextBox 34"/>
            <p:cNvSpPr txBox="1"/>
            <p:nvPr/>
          </p:nvSpPr>
          <p:spPr>
            <a:xfrm>
              <a:off x="6441758" y="2905125"/>
              <a:ext cx="4777740" cy="8267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结对编程；集体所有（代码属于整个开发小组，人人都可</a:t>
              </a:r>
              <a:br/>
              <a:r>
                <a:rPr lang="zh-CN" sz="1500" dirty="0">
                  <a:solidFill>
                    <a:srgbClr val="1F2937"/>
                  </a:solidFill>
                  <a:latin typeface="+mn-lt"/>
                  <a:ea typeface="+mn-ea"/>
                  <a:cs typeface="+mn-cs"/>
                </a:rPr>
                <a:t>以改，也都对全部代码负责）；简单的设计；重构；使用</a:t>
              </a:r>
              <a:br/>
              <a:r>
                <a:rPr lang="zh-CN" sz="1500" dirty="0">
                  <a:solidFill>
                    <a:srgbClr val="1F2937"/>
                  </a:solidFill>
                  <a:latin typeface="+mn-lt"/>
                  <a:ea typeface="+mn-ea"/>
                  <a:cs typeface="+mn-cs"/>
                </a:rPr>
                <a:t>隐喻</a:t>
              </a:r>
            </a:p>
          </p:txBody>
        </p:sp>
        <p:sp>
          <p:nvSpPr>
            <p:cNvPr id="35" name="Rectangle 35"/>
            <p:cNvSpPr/>
            <p:nvPr/>
          </p:nvSpPr>
          <p:spPr>
            <a:xfrm>
              <a:off x="5166360" y="3782378"/>
              <a:ext cx="6492240" cy="9525"/>
            </a:xfrm>
            <a:prstGeom prst="rect">
              <a:avLst/>
            </a:prstGeom>
            <a:solidFill>
              <a:srgbClr val="D9DFEA"/>
            </a:solidFill>
            <a:ln>
              <a:noFill/>
            </a:ln>
          </p:spPr>
        </p:sp>
        <p:sp>
          <p:nvSpPr>
            <p:cNvPr id="36" name="TextBox 36"/>
            <p:cNvSpPr txBox="1"/>
            <p:nvPr/>
          </p:nvSpPr>
          <p:spPr>
            <a:xfrm>
              <a:off x="5273040" y="3926205"/>
              <a:ext cx="777240" cy="560070"/>
            </a:xfrm>
            <a:prstGeom prst="rect">
              <a:avLst/>
            </a:prstGeom>
            <a:noFill/>
            <a:ln>
              <a:noFill/>
            </a:ln>
          </p:spPr>
          <p:txBody>
            <a:bodyPr wrap="none" lIns="0" tIns="0" rIns="0" bIns="0" anchor="t" anchorCtr="0">
              <a:spAutoFit/>
            </a:bodyPr>
            <a:lstStyle/>
            <a:p>
              <a:pPr algn="l">
                <a:lnSpc>
                  <a:spcPts val="2100"/>
                </a:lnSpc>
              </a:pPr>
              <a:r>
                <a:rPr lang="zh-CN" sz="1500" b="1" dirty="0">
                  <a:solidFill>
                    <a:srgbClr val="1F2937"/>
                  </a:solidFill>
                  <a:latin typeface="+mn-lt"/>
                  <a:ea typeface="+mn-ea"/>
                  <a:cs typeface="+mn-cs"/>
                </a:rPr>
                <a:t>测试与集</a:t>
              </a:r>
              <a:br/>
              <a:r>
                <a:rPr lang="zh-CN" sz="1500" b="1" dirty="0">
                  <a:solidFill>
                    <a:srgbClr val="1F2937"/>
                  </a:solidFill>
                  <a:latin typeface="+mn-lt"/>
                  <a:ea typeface="+mn-ea"/>
                  <a:cs typeface="+mn-cs"/>
                </a:rPr>
                <a:t>成</a:t>
              </a:r>
            </a:p>
          </p:txBody>
        </p:sp>
        <p:sp>
          <p:nvSpPr>
            <p:cNvPr id="37" name="TextBox 37"/>
            <p:cNvSpPr txBox="1"/>
            <p:nvPr/>
          </p:nvSpPr>
          <p:spPr>
            <a:xfrm>
              <a:off x="6441758" y="3926205"/>
              <a:ext cx="4587240"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测试驱动的开发；验收测试；持续集成（一日内多次集</a:t>
              </a:r>
              <a:br/>
              <a:r>
                <a:rPr lang="zh-CN" sz="1500" dirty="0">
                  <a:solidFill>
                    <a:srgbClr val="1F2937"/>
                  </a:solidFill>
                  <a:latin typeface="+mn-lt"/>
                  <a:ea typeface="+mn-ea"/>
                  <a:cs typeface="+mn-cs"/>
                </a:rPr>
                <a:t>成，不断回归测试）</a:t>
              </a:r>
            </a:p>
          </p:txBody>
        </p:sp>
        <p:sp>
          <p:nvSpPr>
            <p:cNvPr id="38" name="Rectangle 38"/>
            <p:cNvSpPr/>
            <p:nvPr/>
          </p:nvSpPr>
          <p:spPr>
            <a:xfrm>
              <a:off x="5166360" y="4536758"/>
              <a:ext cx="6492240" cy="9525"/>
            </a:xfrm>
            <a:prstGeom prst="rect">
              <a:avLst/>
            </a:prstGeom>
            <a:solidFill>
              <a:srgbClr val="D9DFEA"/>
            </a:solidFill>
            <a:ln>
              <a:noFill/>
            </a:ln>
          </p:spPr>
        </p:sp>
        <p:sp>
          <p:nvSpPr>
            <p:cNvPr id="39" name="Rectangle 39"/>
            <p:cNvSpPr/>
            <p:nvPr/>
          </p:nvSpPr>
          <p:spPr>
            <a:xfrm>
              <a:off x="5166360" y="4541520"/>
              <a:ext cx="6492240" cy="754380"/>
            </a:xfrm>
            <a:prstGeom prst="rect">
              <a:avLst/>
            </a:prstGeom>
            <a:solidFill>
              <a:srgbClr val="F4F6FB"/>
            </a:solidFill>
            <a:ln>
              <a:noFill/>
            </a:ln>
          </p:spPr>
        </p:sp>
        <p:sp>
          <p:nvSpPr>
            <p:cNvPr id="40" name="TextBox 40"/>
            <p:cNvSpPr txBox="1"/>
            <p:nvPr/>
          </p:nvSpPr>
          <p:spPr>
            <a:xfrm>
              <a:off x="5273040" y="4813935"/>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团队节奏</a:t>
              </a:r>
            </a:p>
          </p:txBody>
        </p:sp>
        <p:sp>
          <p:nvSpPr>
            <p:cNvPr id="41" name="TextBox 41"/>
            <p:cNvSpPr txBox="1"/>
            <p:nvPr/>
          </p:nvSpPr>
          <p:spPr>
            <a:xfrm>
              <a:off x="6441758" y="4680585"/>
              <a:ext cx="4911090"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可持续的开发速度（周工作时间不超过 40 小时，连续加班</a:t>
              </a:r>
              <a:br/>
              <a:r>
                <a:rPr lang="zh-CN" sz="1500" dirty="0">
                  <a:solidFill>
                    <a:srgbClr val="1F2937"/>
                  </a:solidFill>
                  <a:latin typeface="+mn-lt"/>
                  <a:ea typeface="+mn-ea"/>
                  <a:cs typeface="+mn-cs"/>
                </a:rPr>
                <a:t>不超过两周）；开放的工作空间</a:t>
              </a:r>
            </a:p>
          </p:txBody>
        </p:sp>
        <p:sp>
          <p:nvSpPr>
            <p:cNvPr id="42" name="Rectangle 42"/>
            <p:cNvSpPr/>
            <p:nvPr/>
          </p:nvSpPr>
          <p:spPr>
            <a:xfrm>
              <a:off x="5166360" y="1524000"/>
              <a:ext cx="6492240" cy="3771900"/>
            </a:xfrm>
            <a:prstGeom prst="rect">
              <a:avLst/>
            </a:prstGeom>
            <a:noFill/>
            <a:ln w="14288">
              <a:solidFill>
                <a:srgbClr val="D9DFEA"/>
              </a:solidFill>
            </a:ln>
          </p:spPr>
        </p:sp>
        <p:sp>
          <p:nvSpPr>
            <p:cNvPr id="43" name="Rectangle 43"/>
            <p:cNvSpPr/>
            <p:nvPr/>
          </p:nvSpPr>
          <p:spPr>
            <a:xfrm>
              <a:off x="6330315" y="1524000"/>
              <a:ext cx="9525" cy="3771900"/>
            </a:xfrm>
            <a:prstGeom prst="rect">
              <a:avLst/>
            </a:prstGeom>
            <a:solidFill>
              <a:srgbClr val="D9DFEA"/>
            </a:solidFill>
            <a:ln>
              <a:noFill/>
            </a:ln>
          </p:spPr>
        </p:sp>
        <p:sp>
          <p:nvSpPr>
            <p:cNvPr id="44" name="TextBox 44"/>
            <p:cNvSpPr txBox="1"/>
            <p:nvPr/>
          </p:nvSpPr>
          <p:spPr>
            <a:xfrm>
              <a:off x="5160645" y="5371624"/>
              <a:ext cx="2981686"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课件列出的 14 条有效实践，按用途归了四类</a:t>
              </a:r>
            </a:p>
          </p:txBody>
        </p:sp>
      </p:grpSp>
      <p:grpSp>
        <p:nvGrpSpPr>
          <p:cNvPr id="48" name="footer"/>
          <p:cNvGrpSpPr/>
          <p:nvPr/>
        </p:nvGrpSpPr>
        <p:grpSpPr>
          <a:xfrm>
            <a:off x="528447" y="6581299"/>
            <a:ext cx="11135106" cy="190690"/>
            <a:chOff x="528447" y="6581299"/>
            <a:chExt cx="11135106" cy="190690"/>
          </a:xfrm>
        </p:grpSpPr>
        <p:sp>
          <p:nvSpPr>
            <p:cNvPr id="46" name="TextBox 46"/>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47" name="TextBox 4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54</a:t>
              </a:r>
            </a:p>
          </p:txBody>
        </p:sp>
      </p:grpSp>
    </p:spTree>
  </p:cSld>
  <p:clrMapOvr>
    <a:masterClrMapping/>
  </p:clrMapOvr>
  <p:transition xmlns:p14="http://schemas.microsoft.com/office/powerpoint/2010/main" p14:dur="400">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3126105" cy="266700"/>
            </a:xfrm>
            <a:prstGeom prst="roundRect">
              <a:avLst>
                <a:gd name="adj" fmla="val 50000"/>
              </a:avLst>
            </a:prstGeom>
            <a:solidFill>
              <a:srgbClr val="E7EDF3"/>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敏捷过程、极限编程与微软过程</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用户故事：从角色、功能、价值三面描述需求</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3" name="c1-card-1"/>
          <p:cNvGrpSpPr/>
          <p:nvPr/>
        </p:nvGrpSpPr>
        <p:grpSpPr>
          <a:xfrm>
            <a:off x="533400" y="1524000"/>
            <a:ext cx="4977765" cy="1268730"/>
            <a:chOff x="533400" y="1524000"/>
            <a:chExt cx="4977765" cy="1268730"/>
          </a:xfrm>
        </p:grpSpPr>
        <p:sp>
          <p:nvSpPr>
            <p:cNvPr id="7" name="Rectangle 7"/>
            <p:cNvSpPr/>
            <p:nvPr/>
          </p:nvSpPr>
          <p:spPr>
            <a:xfrm>
              <a:off x="533400" y="1524000"/>
              <a:ext cx="4977765" cy="1268730"/>
            </a:xfrm>
            <a:prstGeom prst="roundRect">
              <a:avLst>
                <a:gd name="adj" fmla="val 10511"/>
              </a:avLst>
            </a:prstGeom>
            <a:solidFill>
              <a:srgbClr val="FFFFFF"/>
            </a:solidFill>
            <a:ln w="14288">
              <a:solidFill>
                <a:srgbClr val="D9DFEA"/>
              </a:solidFill>
            </a:ln>
          </p:spPr>
        </p:sp>
        <p:sp>
          <p:nvSpPr>
            <p:cNvPr id="8" name="Rectangle 8"/>
            <p:cNvSpPr/>
            <p:nvPr/>
          </p:nvSpPr>
          <p:spPr>
            <a:xfrm>
              <a:off x="542925" y="1657350"/>
              <a:ext cx="47625" cy="1002030"/>
            </a:xfrm>
            <a:prstGeom prst="roundRect">
              <a:avLst>
                <a:gd name="adj" fmla="val 50000"/>
              </a:avLst>
            </a:prstGeom>
            <a:solidFill>
              <a:srgbClr val="334E68"/>
            </a:solidFill>
            <a:ln>
              <a:noFill/>
            </a:ln>
          </p:spPr>
        </p:sp>
        <p:sp>
          <p:nvSpPr>
            <p:cNvPr id="9" name="Rectangle 9"/>
            <p:cNvSpPr/>
            <p:nvPr/>
          </p:nvSpPr>
          <p:spPr>
            <a:xfrm>
              <a:off x="769620" y="1722120"/>
              <a:ext cx="476250" cy="247650"/>
            </a:xfrm>
            <a:prstGeom prst="roundRect">
              <a:avLst>
                <a:gd name="adj" fmla="val 50000"/>
              </a:avLst>
            </a:prstGeom>
            <a:solidFill>
              <a:srgbClr val="E7EDF3"/>
            </a:solidFill>
            <a:ln>
              <a:noFill/>
            </a:ln>
          </p:spPr>
        </p:sp>
        <p:sp>
          <p:nvSpPr>
            <p:cNvPr id="10" name="TextBox 10"/>
            <p:cNvSpPr txBox="1"/>
            <p:nvPr/>
          </p:nvSpPr>
          <p:spPr>
            <a:xfrm>
              <a:off x="861060" y="1756410"/>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定义</a:t>
              </a:r>
            </a:p>
          </p:txBody>
        </p:sp>
        <p:sp>
          <p:nvSpPr>
            <p:cNvPr id="11" name="TextBox 11"/>
            <p:cNvSpPr txBox="1"/>
            <p:nvPr/>
          </p:nvSpPr>
          <p:spPr>
            <a:xfrm>
              <a:off x="1352931" y="1756886"/>
              <a:ext cx="2228467"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用户故事（User Story）</a:t>
              </a:r>
            </a:p>
          </p:txBody>
        </p:sp>
        <p:sp>
          <p:nvSpPr>
            <p:cNvPr id="12" name="TextBox 12"/>
            <p:cNvSpPr txBox="1"/>
            <p:nvPr/>
          </p:nvSpPr>
          <p:spPr>
            <a:xfrm>
              <a:off x="762381" y="2100739"/>
              <a:ext cx="4234434"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描述对用户、系统或软件购买者有价值的功能，XP 里</a:t>
              </a:r>
              <a:br/>
              <a:r>
                <a:rPr lang="zh-CN" sz="1420" dirty="0">
                  <a:solidFill>
                    <a:srgbClr val="1F2937"/>
                  </a:solidFill>
                  <a:latin typeface="+mn-lt"/>
                  <a:ea typeface="+mn-ea"/>
                  <a:cs typeface="+mn-cs"/>
                </a:rPr>
                <a:t>说的“用户素材”就是它。</a:t>
              </a:r>
            </a:p>
          </p:txBody>
        </p:sp>
      </p:grpSp>
      <p:grpSp>
        <p:nvGrpSpPr>
          <p:cNvPr id="22" name="c1-kv-2"/>
          <p:cNvGrpSpPr/>
          <p:nvPr/>
        </p:nvGrpSpPr>
        <p:grpSpPr>
          <a:xfrm>
            <a:off x="526161" y="2997041"/>
            <a:ext cx="4985004" cy="1111187"/>
            <a:chOff x="526161" y="2997041"/>
            <a:chExt cx="4985004" cy="1111187"/>
          </a:xfrm>
        </p:grpSpPr>
        <p:sp>
          <p:nvSpPr>
            <p:cNvPr id="14" name="TextBox 14"/>
            <p:cNvSpPr txBox="1"/>
            <p:nvPr/>
          </p:nvSpPr>
          <p:spPr>
            <a:xfrm>
              <a:off x="526161" y="2997041"/>
              <a:ext cx="396799"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角色</a:t>
              </a:r>
            </a:p>
          </p:txBody>
        </p:sp>
        <p:sp>
          <p:nvSpPr>
            <p:cNvPr id="15" name="TextBox 15"/>
            <p:cNvSpPr txBox="1"/>
            <p:nvPr/>
          </p:nvSpPr>
          <p:spPr>
            <a:xfrm>
              <a:off x="1149096" y="2997041"/>
              <a:ext cx="154376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谁要使用这个功能</a:t>
              </a:r>
            </a:p>
          </p:txBody>
        </p:sp>
        <p:sp>
          <p:nvSpPr>
            <p:cNvPr id="16" name="Rectangle 16"/>
            <p:cNvSpPr/>
            <p:nvPr/>
          </p:nvSpPr>
          <p:spPr>
            <a:xfrm>
              <a:off x="533400" y="3299460"/>
              <a:ext cx="4977765" cy="9525"/>
            </a:xfrm>
            <a:prstGeom prst="rect">
              <a:avLst/>
            </a:prstGeom>
            <a:solidFill>
              <a:srgbClr val="D9DFEA"/>
            </a:solidFill>
            <a:ln>
              <a:noFill/>
            </a:ln>
          </p:spPr>
        </p:sp>
        <p:sp>
          <p:nvSpPr>
            <p:cNvPr id="17" name="TextBox 17"/>
            <p:cNvSpPr txBox="1"/>
            <p:nvPr/>
          </p:nvSpPr>
          <p:spPr>
            <a:xfrm>
              <a:off x="526161" y="3413284"/>
              <a:ext cx="396799"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功能</a:t>
              </a:r>
            </a:p>
          </p:txBody>
        </p:sp>
        <p:sp>
          <p:nvSpPr>
            <p:cNvPr id="18" name="TextBox 18"/>
            <p:cNvSpPr txBox="1"/>
            <p:nvPr/>
          </p:nvSpPr>
          <p:spPr>
            <a:xfrm>
              <a:off x="1149096" y="3413284"/>
              <a:ext cx="230840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需要完成什么样的产品功能</a:t>
              </a:r>
            </a:p>
          </p:txBody>
        </p:sp>
        <p:sp>
          <p:nvSpPr>
            <p:cNvPr id="19" name="Rectangle 19"/>
            <p:cNvSpPr/>
            <p:nvPr/>
          </p:nvSpPr>
          <p:spPr>
            <a:xfrm>
              <a:off x="533400" y="3715702"/>
              <a:ext cx="4977765" cy="9525"/>
            </a:xfrm>
            <a:prstGeom prst="rect">
              <a:avLst/>
            </a:prstGeom>
            <a:solidFill>
              <a:srgbClr val="D9DFEA"/>
            </a:solidFill>
            <a:ln>
              <a:noFill/>
            </a:ln>
          </p:spPr>
        </p:sp>
        <p:sp>
          <p:nvSpPr>
            <p:cNvPr id="20" name="TextBox 20"/>
            <p:cNvSpPr txBox="1"/>
            <p:nvPr/>
          </p:nvSpPr>
          <p:spPr>
            <a:xfrm>
              <a:off x="526161" y="3829526"/>
              <a:ext cx="396799"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价值</a:t>
              </a:r>
            </a:p>
          </p:txBody>
        </p:sp>
        <p:sp>
          <p:nvSpPr>
            <p:cNvPr id="21" name="TextBox 21"/>
            <p:cNvSpPr txBox="1"/>
            <p:nvPr/>
          </p:nvSpPr>
          <p:spPr>
            <a:xfrm>
              <a:off x="1149096" y="3829526"/>
              <a:ext cx="269072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为什么需要它，能带来什么价值</a:t>
              </a:r>
            </a:p>
          </p:txBody>
        </p:sp>
      </p:grpSp>
      <p:grpSp>
        <p:nvGrpSpPr>
          <p:cNvPr id="26" name="c1-code-3"/>
          <p:cNvGrpSpPr/>
          <p:nvPr/>
        </p:nvGrpSpPr>
        <p:grpSpPr>
          <a:xfrm>
            <a:off x="533400" y="4231958"/>
            <a:ext cx="4977765" cy="1076325"/>
            <a:chOff x="533400" y="4231958"/>
            <a:chExt cx="4977765" cy="1076325"/>
          </a:xfrm>
        </p:grpSpPr>
        <p:sp>
          <p:nvSpPr>
            <p:cNvPr id="23" name="Rectangle 23"/>
            <p:cNvSpPr/>
            <p:nvPr/>
          </p:nvSpPr>
          <p:spPr>
            <a:xfrm>
              <a:off x="533400" y="4231958"/>
              <a:ext cx="4977765" cy="1076325"/>
            </a:xfrm>
            <a:prstGeom prst="roundRect">
              <a:avLst>
                <a:gd name="adj" fmla="val 8850"/>
              </a:avLst>
            </a:prstGeom>
            <a:solidFill>
              <a:srgbClr val="F6F8FA"/>
            </a:solidFill>
            <a:ln w="11430">
              <a:solidFill>
                <a:srgbClr val="D9DFEA"/>
              </a:solidFill>
            </a:ln>
          </p:spPr>
        </p:sp>
        <p:sp>
          <p:nvSpPr>
            <p:cNvPr id="24" name="TextBox 24"/>
            <p:cNvSpPr txBox="1"/>
            <p:nvPr/>
          </p:nvSpPr>
          <p:spPr>
            <a:xfrm>
              <a:off x="661797" y="4383881"/>
              <a:ext cx="1801726"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故事卡（Story Card）的格式</a:t>
              </a:r>
            </a:p>
          </p:txBody>
        </p:sp>
        <p:sp>
          <p:nvSpPr>
            <p:cNvPr id="25" name="TextBox 25"/>
            <p:cNvSpPr txBox="1"/>
            <p:nvPr/>
          </p:nvSpPr>
          <p:spPr>
            <a:xfrm>
              <a:off x="661378" y="4645485"/>
              <a:ext cx="2723337" cy="587826"/>
            </a:xfrm>
            <a:prstGeom prst="rect">
              <a:avLst/>
            </a:prstGeom>
            <a:noFill/>
            <a:ln>
              <a:noFill/>
            </a:ln>
          </p:spPr>
          <p:txBody>
            <a:bodyPr wrap="none" lIns="0" tIns="0" rIns="0" bIns="0" anchor="t" anchorCtr="0">
              <a:spAutoFit/>
            </a:bodyPr>
            <a:lstStyle/>
            <a:p>
              <a:pPr algn="l">
                <a:lnSpc>
                  <a:spcPts val="1500"/>
                </a:lnSpc>
              </a:pPr>
              <a:r>
                <a:rPr lang="zh-CN" sz="1060" dirty="0">
                  <a:solidFill>
                    <a:srgbClr val="1F2937"/>
                  </a:solidFill>
                  <a:latin typeface="Consolas"/>
                  <a:ea typeface="Microsoft YaHei"/>
                  <a:cs typeface="Consolas"/>
                </a:rPr>
                <a:t>As a  …    （作为……角色或岗位）</a:t>
              </a:r>
              <a:br/>
              <a:r>
                <a:rPr lang="zh-CN" sz="1060" dirty="0">
                  <a:solidFill>
                    <a:srgbClr val="1F2937"/>
                  </a:solidFill>
                  <a:latin typeface="Consolas"/>
                  <a:ea typeface="Microsoft YaHei"/>
                  <a:cs typeface="Consolas"/>
                </a:rPr>
                <a:t>I want …   （我想……希望做什么）</a:t>
              </a:r>
              <a:br/>
              <a:r>
                <a:rPr lang="zh-CN" sz="1060" dirty="0">
                  <a:solidFill>
                    <a:srgbClr val="1F2937"/>
                  </a:solidFill>
                  <a:latin typeface="Consolas"/>
                  <a:ea typeface="Microsoft YaHei"/>
                  <a:cs typeface="Consolas"/>
                </a:rPr>
                <a:t>So that …  （以便……达到什么目的或价值）</a:t>
              </a:r>
            </a:p>
          </p:txBody>
        </p:sp>
      </p:grpSp>
      <p:grpSp>
        <p:nvGrpSpPr>
          <p:cNvPr id="61" name="c2-table-1"/>
          <p:cNvGrpSpPr/>
          <p:nvPr/>
        </p:nvGrpSpPr>
        <p:grpSpPr>
          <a:xfrm>
            <a:off x="5810631" y="1524000"/>
            <a:ext cx="5847969" cy="3463861"/>
            <a:chOff x="5810631" y="1524000"/>
            <a:chExt cx="5847969" cy="3463861"/>
          </a:xfrm>
        </p:grpSpPr>
        <p:sp>
          <p:nvSpPr>
            <p:cNvPr id="27" name="Rectangle 27"/>
            <p:cNvSpPr/>
            <p:nvPr/>
          </p:nvSpPr>
          <p:spPr>
            <a:xfrm>
              <a:off x="5815965" y="1524000"/>
              <a:ext cx="5842635" cy="424815"/>
            </a:xfrm>
            <a:prstGeom prst="rect">
              <a:avLst/>
            </a:prstGeom>
            <a:solidFill>
              <a:srgbClr val="334E68"/>
            </a:solidFill>
            <a:ln>
              <a:noFill/>
            </a:ln>
          </p:spPr>
        </p:sp>
        <p:sp>
          <p:nvSpPr>
            <p:cNvPr id="28" name="TextBox 28"/>
            <p:cNvSpPr txBox="1"/>
            <p:nvPr/>
          </p:nvSpPr>
          <p:spPr>
            <a:xfrm>
              <a:off x="5939790" y="165258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字母</a:t>
              </a:r>
            </a:p>
          </p:txBody>
        </p:sp>
        <p:sp>
          <p:nvSpPr>
            <p:cNvPr id="29" name="TextBox 29"/>
            <p:cNvSpPr txBox="1"/>
            <p:nvPr/>
          </p:nvSpPr>
          <p:spPr>
            <a:xfrm>
              <a:off x="7108508" y="165258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原则</a:t>
              </a:r>
            </a:p>
          </p:txBody>
        </p:sp>
        <p:sp>
          <p:nvSpPr>
            <p:cNvPr id="30" name="TextBox 30"/>
            <p:cNvSpPr txBox="1"/>
            <p:nvPr/>
          </p:nvSpPr>
          <p:spPr>
            <a:xfrm>
              <a:off x="9738360" y="165258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含义</a:t>
              </a:r>
            </a:p>
          </p:txBody>
        </p:sp>
        <p:sp>
          <p:nvSpPr>
            <p:cNvPr id="31" name="TextBox 31"/>
            <p:cNvSpPr txBox="1"/>
            <p:nvPr/>
          </p:nvSpPr>
          <p:spPr>
            <a:xfrm>
              <a:off x="5918454" y="2076450"/>
              <a:ext cx="65959"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I</a:t>
              </a:r>
            </a:p>
          </p:txBody>
        </p:sp>
        <p:sp>
          <p:nvSpPr>
            <p:cNvPr id="32" name="TextBox 32"/>
            <p:cNvSpPr txBox="1"/>
            <p:nvPr/>
          </p:nvSpPr>
          <p:spPr>
            <a:xfrm>
              <a:off x="6502336" y="2076450"/>
              <a:ext cx="1487313"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Independent 独立的</a:t>
              </a:r>
            </a:p>
          </p:txBody>
        </p:sp>
        <p:sp>
          <p:nvSpPr>
            <p:cNvPr id="33" name="TextBox 33"/>
            <p:cNvSpPr txBox="1"/>
            <p:nvPr/>
          </p:nvSpPr>
          <p:spPr>
            <a:xfrm>
              <a:off x="8254936" y="2076450"/>
              <a:ext cx="211226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尽量保证故事卡之间是独立的</a:t>
              </a:r>
            </a:p>
          </p:txBody>
        </p:sp>
        <p:sp>
          <p:nvSpPr>
            <p:cNvPr id="34" name="Rectangle 34"/>
            <p:cNvSpPr/>
            <p:nvPr/>
          </p:nvSpPr>
          <p:spPr>
            <a:xfrm>
              <a:off x="5815965" y="2367915"/>
              <a:ext cx="5842635" cy="9525"/>
            </a:xfrm>
            <a:prstGeom prst="rect">
              <a:avLst/>
            </a:prstGeom>
            <a:solidFill>
              <a:srgbClr val="D9DFEA"/>
            </a:solidFill>
            <a:ln>
              <a:noFill/>
            </a:ln>
          </p:spPr>
        </p:sp>
        <p:sp>
          <p:nvSpPr>
            <p:cNvPr id="35" name="Rectangle 35"/>
            <p:cNvSpPr/>
            <p:nvPr/>
          </p:nvSpPr>
          <p:spPr>
            <a:xfrm>
              <a:off x="5815965" y="2372678"/>
              <a:ext cx="5842635" cy="638175"/>
            </a:xfrm>
            <a:prstGeom prst="rect">
              <a:avLst/>
            </a:prstGeom>
            <a:solidFill>
              <a:srgbClr val="F4F6FB"/>
            </a:solidFill>
            <a:ln>
              <a:noFill/>
            </a:ln>
          </p:spPr>
        </p:sp>
        <p:sp>
          <p:nvSpPr>
            <p:cNvPr id="36" name="TextBox 36"/>
            <p:cNvSpPr txBox="1"/>
            <p:nvPr/>
          </p:nvSpPr>
          <p:spPr>
            <a:xfrm>
              <a:off x="5918454" y="2607945"/>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N</a:t>
              </a:r>
            </a:p>
          </p:txBody>
        </p:sp>
        <p:sp>
          <p:nvSpPr>
            <p:cNvPr id="37" name="TextBox 37"/>
            <p:cNvSpPr txBox="1"/>
            <p:nvPr/>
          </p:nvSpPr>
          <p:spPr>
            <a:xfrm>
              <a:off x="6502336" y="2607945"/>
              <a:ext cx="151939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Negotiable 可协商的</a:t>
              </a:r>
            </a:p>
          </p:txBody>
        </p:sp>
        <p:sp>
          <p:nvSpPr>
            <p:cNvPr id="38" name="TextBox 38"/>
            <p:cNvSpPr txBox="1"/>
            <p:nvPr/>
          </p:nvSpPr>
          <p:spPr>
            <a:xfrm>
              <a:off x="8254936" y="2501265"/>
              <a:ext cx="30601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细节在用户和开发之间沟通明确，不必在卡上</a:t>
              </a:r>
              <a:br/>
              <a:r>
                <a:rPr lang="zh-CN" sz="1200" dirty="0">
                  <a:solidFill>
                    <a:srgbClr val="1F2937"/>
                  </a:solidFill>
                  <a:latin typeface="+mn-lt"/>
                  <a:ea typeface="+mn-ea"/>
                  <a:cs typeface="+mn-cs"/>
                </a:rPr>
                <a:t>写尽</a:t>
              </a:r>
            </a:p>
          </p:txBody>
        </p:sp>
        <p:sp>
          <p:nvSpPr>
            <p:cNvPr id="39" name="Rectangle 39"/>
            <p:cNvSpPr/>
            <p:nvPr/>
          </p:nvSpPr>
          <p:spPr>
            <a:xfrm>
              <a:off x="5815965" y="3006090"/>
              <a:ext cx="5842635" cy="9525"/>
            </a:xfrm>
            <a:prstGeom prst="rect">
              <a:avLst/>
            </a:prstGeom>
            <a:solidFill>
              <a:srgbClr val="D9DFEA"/>
            </a:solidFill>
            <a:ln>
              <a:noFill/>
            </a:ln>
          </p:spPr>
        </p:sp>
        <p:sp>
          <p:nvSpPr>
            <p:cNvPr id="40" name="TextBox 40"/>
            <p:cNvSpPr txBox="1"/>
            <p:nvPr/>
          </p:nvSpPr>
          <p:spPr>
            <a:xfrm>
              <a:off x="5918454" y="3139440"/>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V</a:t>
              </a:r>
            </a:p>
          </p:txBody>
        </p:sp>
        <p:sp>
          <p:nvSpPr>
            <p:cNvPr id="41" name="TextBox 41"/>
            <p:cNvSpPr txBox="1"/>
            <p:nvPr/>
          </p:nvSpPr>
          <p:spPr>
            <a:xfrm>
              <a:off x="6502336" y="3139440"/>
              <a:ext cx="1341653"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Valuable 有价值的</a:t>
              </a:r>
            </a:p>
          </p:txBody>
        </p:sp>
        <p:sp>
          <p:nvSpPr>
            <p:cNvPr id="42" name="TextBox 42"/>
            <p:cNvSpPr txBox="1"/>
            <p:nvPr/>
          </p:nvSpPr>
          <p:spPr>
            <a:xfrm>
              <a:off x="8254936" y="3139440"/>
              <a:ext cx="227380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清晰地反映出给客户带来的价值</a:t>
              </a:r>
            </a:p>
          </p:txBody>
        </p:sp>
        <p:sp>
          <p:nvSpPr>
            <p:cNvPr id="43" name="Rectangle 43"/>
            <p:cNvSpPr/>
            <p:nvPr/>
          </p:nvSpPr>
          <p:spPr>
            <a:xfrm>
              <a:off x="5815965" y="3429952"/>
              <a:ext cx="5842635" cy="9525"/>
            </a:xfrm>
            <a:prstGeom prst="rect">
              <a:avLst/>
            </a:prstGeom>
            <a:solidFill>
              <a:srgbClr val="D9DFEA"/>
            </a:solidFill>
            <a:ln>
              <a:noFill/>
            </a:ln>
          </p:spPr>
        </p:sp>
        <p:sp>
          <p:nvSpPr>
            <p:cNvPr id="44" name="Rectangle 44"/>
            <p:cNvSpPr/>
            <p:nvPr/>
          </p:nvSpPr>
          <p:spPr>
            <a:xfrm>
              <a:off x="5815965" y="3434715"/>
              <a:ext cx="5842635" cy="424815"/>
            </a:xfrm>
            <a:prstGeom prst="rect">
              <a:avLst/>
            </a:prstGeom>
            <a:solidFill>
              <a:srgbClr val="F4F6FB"/>
            </a:solidFill>
            <a:ln>
              <a:noFill/>
            </a:ln>
          </p:spPr>
        </p:sp>
        <p:sp>
          <p:nvSpPr>
            <p:cNvPr id="45" name="TextBox 45"/>
            <p:cNvSpPr txBox="1"/>
            <p:nvPr/>
          </p:nvSpPr>
          <p:spPr>
            <a:xfrm>
              <a:off x="5918454" y="3563302"/>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E</a:t>
              </a:r>
            </a:p>
          </p:txBody>
        </p:sp>
        <p:sp>
          <p:nvSpPr>
            <p:cNvPr id="46" name="TextBox 46"/>
            <p:cNvSpPr txBox="1"/>
            <p:nvPr/>
          </p:nvSpPr>
          <p:spPr>
            <a:xfrm>
              <a:off x="6502336" y="3563302"/>
              <a:ext cx="146304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Estimable 可估算的</a:t>
              </a:r>
            </a:p>
          </p:txBody>
        </p:sp>
        <p:sp>
          <p:nvSpPr>
            <p:cNvPr id="47" name="TextBox 47"/>
            <p:cNvSpPr txBox="1"/>
            <p:nvPr/>
          </p:nvSpPr>
          <p:spPr>
            <a:xfrm>
              <a:off x="8254936" y="3563302"/>
              <a:ext cx="275844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开发人员能据此预测工作量和所需时间</a:t>
              </a:r>
            </a:p>
          </p:txBody>
        </p:sp>
        <p:sp>
          <p:nvSpPr>
            <p:cNvPr id="48" name="Rectangle 48"/>
            <p:cNvSpPr/>
            <p:nvPr/>
          </p:nvSpPr>
          <p:spPr>
            <a:xfrm>
              <a:off x="5815965" y="3854768"/>
              <a:ext cx="5842635" cy="9525"/>
            </a:xfrm>
            <a:prstGeom prst="rect">
              <a:avLst/>
            </a:prstGeom>
            <a:solidFill>
              <a:srgbClr val="D9DFEA"/>
            </a:solidFill>
            <a:ln>
              <a:noFill/>
            </a:ln>
          </p:spPr>
        </p:sp>
        <p:sp>
          <p:nvSpPr>
            <p:cNvPr id="49" name="TextBox 49"/>
            <p:cNvSpPr txBox="1"/>
            <p:nvPr/>
          </p:nvSpPr>
          <p:spPr>
            <a:xfrm>
              <a:off x="5918454" y="3988118"/>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S</a:t>
              </a:r>
            </a:p>
          </p:txBody>
        </p:sp>
        <p:sp>
          <p:nvSpPr>
            <p:cNvPr id="50" name="TextBox 50"/>
            <p:cNvSpPr txBox="1"/>
            <p:nvPr/>
          </p:nvSpPr>
          <p:spPr>
            <a:xfrm>
              <a:off x="6502336" y="3988118"/>
              <a:ext cx="1107643"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Small 小粒度的</a:t>
              </a:r>
            </a:p>
          </p:txBody>
        </p:sp>
        <p:sp>
          <p:nvSpPr>
            <p:cNvPr id="51" name="TextBox 51"/>
            <p:cNvSpPr txBox="1"/>
            <p:nvPr/>
          </p:nvSpPr>
          <p:spPr>
            <a:xfrm>
              <a:off x="8254936" y="3988118"/>
              <a:ext cx="328345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卡片不能太大，需要时拆分，尽量 1~2 天完成</a:t>
              </a:r>
            </a:p>
          </p:txBody>
        </p:sp>
        <p:sp>
          <p:nvSpPr>
            <p:cNvPr id="52" name="Rectangle 52"/>
            <p:cNvSpPr/>
            <p:nvPr/>
          </p:nvSpPr>
          <p:spPr>
            <a:xfrm>
              <a:off x="5815965" y="4279582"/>
              <a:ext cx="5842635" cy="9525"/>
            </a:xfrm>
            <a:prstGeom prst="rect">
              <a:avLst/>
            </a:prstGeom>
            <a:solidFill>
              <a:srgbClr val="D9DFEA"/>
            </a:solidFill>
            <a:ln>
              <a:noFill/>
            </a:ln>
          </p:spPr>
        </p:sp>
        <p:sp>
          <p:nvSpPr>
            <p:cNvPr id="53" name="Rectangle 53"/>
            <p:cNvSpPr/>
            <p:nvPr/>
          </p:nvSpPr>
          <p:spPr>
            <a:xfrm>
              <a:off x="5815965" y="4284345"/>
              <a:ext cx="5842635" cy="424815"/>
            </a:xfrm>
            <a:prstGeom prst="rect">
              <a:avLst/>
            </a:prstGeom>
            <a:solidFill>
              <a:srgbClr val="F4F6FB"/>
            </a:solidFill>
            <a:ln>
              <a:noFill/>
            </a:ln>
          </p:spPr>
        </p:sp>
        <p:sp>
          <p:nvSpPr>
            <p:cNvPr id="54" name="TextBox 54"/>
            <p:cNvSpPr txBox="1"/>
            <p:nvPr/>
          </p:nvSpPr>
          <p:spPr>
            <a:xfrm>
              <a:off x="5918454" y="4411980"/>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T</a:t>
              </a:r>
            </a:p>
          </p:txBody>
        </p:sp>
        <p:sp>
          <p:nvSpPr>
            <p:cNvPr id="55" name="TextBox 55"/>
            <p:cNvSpPr txBox="1"/>
            <p:nvPr/>
          </p:nvSpPr>
          <p:spPr>
            <a:xfrm>
              <a:off x="6502336" y="4411980"/>
              <a:ext cx="1382325"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Testable 可测试的</a:t>
              </a:r>
            </a:p>
          </p:txBody>
        </p:sp>
        <p:sp>
          <p:nvSpPr>
            <p:cNvPr id="56" name="TextBox 56"/>
            <p:cNvSpPr txBox="1"/>
            <p:nvPr/>
          </p:nvSpPr>
          <p:spPr>
            <a:xfrm>
              <a:off x="8254936" y="4411980"/>
              <a:ext cx="243535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故事卡要能被测试以验证是完成的</a:t>
              </a:r>
            </a:p>
          </p:txBody>
        </p:sp>
        <p:sp>
          <p:nvSpPr>
            <p:cNvPr id="57" name="Rectangle 57"/>
            <p:cNvSpPr/>
            <p:nvPr/>
          </p:nvSpPr>
          <p:spPr>
            <a:xfrm>
              <a:off x="5815965" y="1524000"/>
              <a:ext cx="5842635" cy="3184208"/>
            </a:xfrm>
            <a:prstGeom prst="rect">
              <a:avLst/>
            </a:prstGeom>
            <a:noFill/>
            <a:ln w="14288">
              <a:solidFill>
                <a:srgbClr val="D9DFEA"/>
              </a:solidFill>
            </a:ln>
          </p:spPr>
        </p:sp>
        <p:sp>
          <p:nvSpPr>
            <p:cNvPr id="58" name="Rectangle 58"/>
            <p:cNvSpPr/>
            <p:nvPr/>
          </p:nvSpPr>
          <p:spPr>
            <a:xfrm>
              <a:off x="6395085" y="1524000"/>
              <a:ext cx="9525" cy="3184208"/>
            </a:xfrm>
            <a:prstGeom prst="rect">
              <a:avLst/>
            </a:prstGeom>
            <a:solidFill>
              <a:srgbClr val="D9DFEA"/>
            </a:solidFill>
            <a:ln>
              <a:noFill/>
            </a:ln>
          </p:spPr>
        </p:sp>
        <p:sp>
          <p:nvSpPr>
            <p:cNvPr id="59" name="Rectangle 59"/>
            <p:cNvSpPr/>
            <p:nvPr/>
          </p:nvSpPr>
          <p:spPr>
            <a:xfrm>
              <a:off x="8147685" y="1524000"/>
              <a:ext cx="9525" cy="3184208"/>
            </a:xfrm>
            <a:prstGeom prst="rect">
              <a:avLst/>
            </a:prstGeom>
            <a:solidFill>
              <a:srgbClr val="D9DFEA"/>
            </a:solidFill>
            <a:ln>
              <a:noFill/>
            </a:ln>
          </p:spPr>
        </p:sp>
        <p:sp>
          <p:nvSpPr>
            <p:cNvPr id="60" name="TextBox 60"/>
            <p:cNvSpPr txBox="1"/>
            <p:nvPr/>
          </p:nvSpPr>
          <p:spPr>
            <a:xfrm>
              <a:off x="5810631" y="4782502"/>
              <a:ext cx="793699"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INVEST 原则</a:t>
              </a:r>
            </a:p>
          </p:txBody>
        </p:sp>
      </p:grpSp>
      <p:grpSp>
        <p:nvGrpSpPr>
          <p:cNvPr id="68" name="takeaway"/>
          <p:cNvGrpSpPr/>
          <p:nvPr/>
        </p:nvGrpSpPr>
        <p:grpSpPr>
          <a:xfrm>
            <a:off x="533400" y="5858828"/>
            <a:ext cx="11125200" cy="503872"/>
            <a:chOff x="533400" y="5858828"/>
            <a:chExt cx="11125200" cy="503872"/>
          </a:xfrm>
        </p:grpSpPr>
        <p:sp>
          <p:nvSpPr>
            <p:cNvPr id="62" name="Rectangle 62"/>
            <p:cNvSpPr/>
            <p:nvPr/>
          </p:nvSpPr>
          <p:spPr>
            <a:xfrm>
              <a:off x="533400" y="5858828"/>
              <a:ext cx="11125200" cy="503872"/>
            </a:xfrm>
            <a:prstGeom prst="roundRect">
              <a:avLst>
                <a:gd name="adj" fmla="val 22684"/>
              </a:avLst>
            </a:prstGeom>
            <a:solidFill>
              <a:srgbClr val="F4F6FB"/>
            </a:solidFill>
            <a:ln>
              <a:noFill/>
            </a:ln>
          </p:spPr>
        </p:sp>
        <p:grpSp>
          <p:nvGrpSpPr>
            <p:cNvPr id="66" name="Group 66"/>
            <p:cNvGrpSpPr/>
            <p:nvPr/>
          </p:nvGrpSpPr>
          <p:grpSpPr>
            <a:xfrm>
              <a:off x="738188" y="6011228"/>
              <a:ext cx="200026" cy="200026"/>
              <a:chOff x="738188" y="6011228"/>
              <a:chExt cx="200026" cy="200026"/>
            </a:xfrm>
          </p:grpSpPr>
          <p:sp>
            <p:nvSpPr>
              <p:cNvPr id="63" name="Freeform 63"/>
              <p:cNvSpPr/>
              <p:nvPr/>
            </p:nvSpPr>
            <p:spPr>
              <a:xfrm>
                <a:off x="738188" y="601122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4" name="Freeform 64"/>
              <p:cNvSpPr/>
              <p:nvPr/>
            </p:nvSpPr>
            <p:spPr>
              <a:xfrm>
                <a:off x="838200" y="607790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5" name="Freeform 65"/>
              <p:cNvSpPr/>
              <p:nvPr/>
            </p:nvSpPr>
            <p:spPr>
              <a:xfrm>
                <a:off x="827088" y="611124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7" name="TextBox 67"/>
            <p:cNvSpPr txBox="1"/>
            <p:nvPr/>
          </p:nvSpPr>
          <p:spPr>
            <a:xfrm>
              <a:off x="1040511" y="6011704"/>
              <a:ext cx="774094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更正：原课件 E 一行写作 Estimate，INVEST 原则中应为形容词 Estimable（可估算的）。</a:t>
              </a:r>
            </a:p>
          </p:txBody>
        </p:sp>
      </p:grpSp>
      <p:grpSp>
        <p:nvGrpSpPr>
          <p:cNvPr id="71" name="footer"/>
          <p:cNvGrpSpPr/>
          <p:nvPr/>
        </p:nvGrpSpPr>
        <p:grpSpPr>
          <a:xfrm>
            <a:off x="528447" y="6581299"/>
            <a:ext cx="11135106" cy="190690"/>
            <a:chOff x="528447" y="6581299"/>
            <a:chExt cx="11135106" cy="190690"/>
          </a:xfrm>
        </p:grpSpPr>
        <p:sp>
          <p:nvSpPr>
            <p:cNvPr id="69" name="TextBox 69"/>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70" name="TextBox 7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55</a:t>
              </a:r>
            </a:p>
          </p:txBody>
        </p:sp>
      </p:grpSp>
    </p:spTree>
  </p:cSld>
  <p:clrMapOvr>
    <a:masterClrMapping/>
  </p:clrMapOvr>
  <p:transition xmlns:p14="http://schemas.microsoft.com/office/powerpoint/2010/main" p14:dur="400">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3126105" cy="266700"/>
            </a:xfrm>
            <a:prstGeom prst="roundRect">
              <a:avLst>
                <a:gd name="adj" fmla="val 50000"/>
              </a:avLst>
            </a:prstGeom>
            <a:solidFill>
              <a:srgbClr val="E7EDF3"/>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敏捷过程、极限编程与微软过程</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一个用户故事实例，以及用例和场景的关系</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9" name="c1-card-1"/>
          <p:cNvGrpSpPr/>
          <p:nvPr/>
        </p:nvGrpSpPr>
        <p:grpSpPr>
          <a:xfrm>
            <a:off x="533400" y="1524000"/>
            <a:ext cx="4977765" cy="2625090"/>
            <a:chOff x="533400" y="1524000"/>
            <a:chExt cx="4977765" cy="2625090"/>
          </a:xfrm>
        </p:grpSpPr>
        <p:sp>
          <p:nvSpPr>
            <p:cNvPr id="7" name="Rectangle 7"/>
            <p:cNvSpPr/>
            <p:nvPr/>
          </p:nvSpPr>
          <p:spPr>
            <a:xfrm>
              <a:off x="533400" y="1524000"/>
              <a:ext cx="4977765" cy="2625090"/>
            </a:xfrm>
            <a:prstGeom prst="roundRect">
              <a:avLst>
                <a:gd name="adj" fmla="val 5080"/>
              </a:avLst>
            </a:prstGeom>
            <a:solidFill>
              <a:srgbClr val="FFFFFF"/>
            </a:solidFill>
            <a:ln w="14288">
              <a:solidFill>
                <a:srgbClr val="D9DFEA"/>
              </a:solidFill>
            </a:ln>
          </p:spPr>
        </p:sp>
        <p:sp>
          <p:nvSpPr>
            <p:cNvPr id="8" name="Rectangle 8"/>
            <p:cNvSpPr/>
            <p:nvPr/>
          </p:nvSpPr>
          <p:spPr>
            <a:xfrm>
              <a:off x="542925" y="1657350"/>
              <a:ext cx="47625" cy="2358390"/>
            </a:xfrm>
            <a:prstGeom prst="roundRect">
              <a:avLst>
                <a:gd name="adj" fmla="val 50000"/>
              </a:avLst>
            </a:prstGeom>
            <a:solidFill>
              <a:srgbClr val="14A38B"/>
            </a:solidFill>
            <a:ln>
              <a:noFill/>
            </a:ln>
          </p:spPr>
        </p:sp>
        <p:sp>
          <p:nvSpPr>
            <p:cNvPr id="9" name="Rectangle 9"/>
            <p:cNvSpPr/>
            <p:nvPr/>
          </p:nvSpPr>
          <p:spPr>
            <a:xfrm>
              <a:off x="769620" y="1722120"/>
              <a:ext cx="476250" cy="247650"/>
            </a:xfrm>
            <a:prstGeom prst="roundRect">
              <a:avLst>
                <a:gd name="adj" fmla="val 50000"/>
              </a:avLst>
            </a:prstGeom>
            <a:solidFill>
              <a:srgbClr val="E3F5F1"/>
            </a:solidFill>
            <a:ln>
              <a:noFill/>
            </a:ln>
          </p:spPr>
        </p:sp>
        <p:sp>
          <p:nvSpPr>
            <p:cNvPr id="10" name="TextBox 10"/>
            <p:cNvSpPr txBox="1"/>
            <p:nvPr/>
          </p:nvSpPr>
          <p:spPr>
            <a:xfrm>
              <a:off x="861060" y="1756410"/>
              <a:ext cx="293370"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实例</a:t>
              </a:r>
            </a:p>
          </p:txBody>
        </p:sp>
        <p:sp>
          <p:nvSpPr>
            <p:cNvPr id="11" name="TextBox 11"/>
            <p:cNvSpPr txBox="1"/>
            <p:nvPr/>
          </p:nvSpPr>
          <p:spPr>
            <a:xfrm>
              <a:off x="1352931" y="1756886"/>
              <a:ext cx="211724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校园二手交易：发布商品</a:t>
              </a:r>
            </a:p>
          </p:txBody>
        </p:sp>
        <p:sp>
          <p:nvSpPr>
            <p:cNvPr id="12" name="Ellipse 12"/>
            <p:cNvSpPr/>
            <p:nvPr/>
          </p:nvSpPr>
          <p:spPr>
            <a:xfrm>
              <a:off x="777240" y="2161222"/>
              <a:ext cx="60960" cy="60960"/>
            </a:xfrm>
            <a:prstGeom prst="ellipse">
              <a:avLst/>
            </a:prstGeom>
            <a:solidFill>
              <a:srgbClr val="334E68"/>
            </a:solidFill>
            <a:ln>
              <a:noFill/>
            </a:ln>
          </p:spPr>
        </p:sp>
        <p:sp>
          <p:nvSpPr>
            <p:cNvPr id="13" name="TextBox 13"/>
            <p:cNvSpPr txBox="1"/>
            <p:nvPr/>
          </p:nvSpPr>
          <p:spPr>
            <a:xfrm>
              <a:off x="933831" y="2100739"/>
              <a:ext cx="269072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作为</a:t>
              </a:r>
              <a:r>
                <a:rPr lang="zh-CN" sz="1420" dirty="0">
                  <a:solidFill>
                    <a:srgbClr val="1F2937"/>
                  </a:solidFill>
                  <a:latin typeface="+mn-lt"/>
                  <a:ea typeface="+mn-ea"/>
                  <a:cs typeface="+mn-cs"/>
                </a:rPr>
                <a:t>：希望出售物品的校园用户</a:t>
              </a:r>
            </a:p>
          </p:txBody>
        </p:sp>
        <p:sp>
          <p:nvSpPr>
            <p:cNvPr id="14" name="Ellipse 14"/>
            <p:cNvSpPr/>
            <p:nvPr/>
          </p:nvSpPr>
          <p:spPr>
            <a:xfrm>
              <a:off x="777240" y="2478405"/>
              <a:ext cx="60960" cy="60960"/>
            </a:xfrm>
            <a:prstGeom prst="ellipse">
              <a:avLst/>
            </a:prstGeom>
            <a:solidFill>
              <a:srgbClr val="334E68"/>
            </a:solidFill>
            <a:ln>
              <a:noFill/>
            </a:ln>
          </p:spPr>
        </p:sp>
        <p:sp>
          <p:nvSpPr>
            <p:cNvPr id="15" name="TextBox 15"/>
            <p:cNvSpPr txBox="1"/>
            <p:nvPr/>
          </p:nvSpPr>
          <p:spPr>
            <a:xfrm>
              <a:off x="933831" y="2418874"/>
              <a:ext cx="416229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我希望</a:t>
              </a:r>
              <a:r>
                <a:rPr lang="zh-CN" sz="1420" dirty="0">
                  <a:solidFill>
                    <a:srgbClr val="1F2937"/>
                  </a:solidFill>
                  <a:latin typeface="+mn-lt"/>
                  <a:ea typeface="+mn-ea"/>
                  <a:cs typeface="+mn-cs"/>
                </a:rPr>
                <a:t>：发布物品时能添加名称、介绍、价格、联系</a:t>
              </a:r>
              <a:br/>
              <a:r>
                <a:rPr lang="zh-CN" sz="1420" dirty="0">
                  <a:solidFill>
                    <a:srgbClr val="1F2937"/>
                  </a:solidFill>
                  <a:latin typeface="+mn-lt"/>
                  <a:ea typeface="+mn-ea"/>
                  <a:cs typeface="+mn-cs"/>
                </a:rPr>
                <a:t>方式、交易地点</a:t>
              </a:r>
            </a:p>
          </p:txBody>
        </p:sp>
        <p:sp>
          <p:nvSpPr>
            <p:cNvPr id="16" name="Ellipse 16"/>
            <p:cNvSpPr/>
            <p:nvPr/>
          </p:nvSpPr>
          <p:spPr>
            <a:xfrm>
              <a:off x="777240" y="3068002"/>
              <a:ext cx="60960" cy="60960"/>
            </a:xfrm>
            <a:prstGeom prst="ellipse">
              <a:avLst/>
            </a:prstGeom>
            <a:solidFill>
              <a:srgbClr val="334E68"/>
            </a:solidFill>
            <a:ln>
              <a:noFill/>
            </a:ln>
          </p:spPr>
        </p:sp>
        <p:sp>
          <p:nvSpPr>
            <p:cNvPr id="17" name="TextBox 17"/>
            <p:cNvSpPr txBox="1"/>
            <p:nvPr/>
          </p:nvSpPr>
          <p:spPr>
            <a:xfrm>
              <a:off x="933831" y="3007519"/>
              <a:ext cx="4220007"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以便</a:t>
              </a:r>
              <a:r>
                <a:rPr lang="zh-CN" sz="1420" dirty="0">
                  <a:solidFill>
                    <a:srgbClr val="1F2937"/>
                  </a:solidFill>
                  <a:latin typeface="+mn-lt"/>
                  <a:ea typeface="+mn-ea"/>
                  <a:cs typeface="+mn-cs"/>
                </a:rPr>
                <a:t>：把详细信息告诉买家，方便对方筛选和购买</a:t>
              </a:r>
            </a:p>
          </p:txBody>
        </p:sp>
        <p:sp>
          <p:nvSpPr>
            <p:cNvPr id="18" name="TextBox 18"/>
            <p:cNvSpPr txBox="1"/>
            <p:nvPr/>
          </p:nvSpPr>
          <p:spPr>
            <a:xfrm>
              <a:off x="763524" y="3321368"/>
              <a:ext cx="4256532" cy="67665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验收条件：① 必须包含名称、介绍、起拍价、加价幅度、起止时</a:t>
              </a:r>
              <a:br/>
              <a:r>
                <a:rPr lang="zh-CN" sz="1200" dirty="0">
                  <a:solidFill>
                    <a:srgbClr val="5B6475"/>
                  </a:solidFill>
                  <a:latin typeface="+mn-lt"/>
                  <a:ea typeface="+mn-ea"/>
                  <a:cs typeface="+mn-cs"/>
                </a:rPr>
                <a:t>间、手机号；② 起拍价和加价幅度都不小于 1 元；③ 详细描述不</a:t>
              </a:r>
              <a:br/>
              <a:r>
                <a:rPr lang="zh-CN" sz="1200" dirty="0">
                  <a:solidFill>
                    <a:srgbClr val="5B6475"/>
                  </a:solidFill>
                  <a:latin typeface="+mn-lt"/>
                  <a:ea typeface="+mn-ea"/>
                  <a:cs typeface="+mn-cs"/>
                </a:rPr>
                <a:t>超过 120 字。</a:t>
              </a:r>
            </a:p>
          </p:txBody>
        </p:sp>
      </p:grpSp>
      <p:grpSp>
        <p:nvGrpSpPr>
          <p:cNvPr id="25" name="c1-card-2"/>
          <p:cNvGrpSpPr/>
          <p:nvPr/>
        </p:nvGrpSpPr>
        <p:grpSpPr>
          <a:xfrm>
            <a:off x="533400" y="4329112"/>
            <a:ext cx="4977765" cy="1603058"/>
            <a:chOff x="533400" y="4329112"/>
            <a:chExt cx="4977765" cy="1603058"/>
          </a:xfrm>
        </p:grpSpPr>
        <p:sp>
          <p:nvSpPr>
            <p:cNvPr id="20" name="Rectangle 20"/>
            <p:cNvSpPr/>
            <p:nvPr/>
          </p:nvSpPr>
          <p:spPr>
            <a:xfrm>
              <a:off x="533400" y="4329112"/>
              <a:ext cx="4977765" cy="1603058"/>
            </a:xfrm>
            <a:prstGeom prst="roundRect">
              <a:avLst>
                <a:gd name="adj" fmla="val 8318"/>
              </a:avLst>
            </a:prstGeom>
            <a:solidFill>
              <a:srgbClr val="FFFFFF"/>
            </a:solidFill>
            <a:ln w="14288">
              <a:solidFill>
                <a:srgbClr val="D9DFEA"/>
              </a:solidFill>
            </a:ln>
          </p:spPr>
        </p:sp>
        <p:sp>
          <p:nvSpPr>
            <p:cNvPr id="21" name="Rectangle 21"/>
            <p:cNvSpPr/>
            <p:nvPr/>
          </p:nvSpPr>
          <p:spPr>
            <a:xfrm>
              <a:off x="542925" y="4462462"/>
              <a:ext cx="47625" cy="1336358"/>
            </a:xfrm>
            <a:prstGeom prst="roundRect">
              <a:avLst>
                <a:gd name="adj" fmla="val 50000"/>
              </a:avLst>
            </a:prstGeom>
            <a:solidFill>
              <a:srgbClr val="B42318"/>
            </a:solidFill>
            <a:ln>
              <a:noFill/>
            </a:ln>
          </p:spPr>
        </p:sp>
        <p:sp>
          <p:nvSpPr>
            <p:cNvPr id="22" name="Rectangle 22"/>
            <p:cNvSpPr/>
            <p:nvPr/>
          </p:nvSpPr>
          <p:spPr>
            <a:xfrm>
              <a:off x="769620" y="4527232"/>
              <a:ext cx="742950" cy="247650"/>
            </a:xfrm>
            <a:prstGeom prst="roundRect">
              <a:avLst>
                <a:gd name="adj" fmla="val 50000"/>
              </a:avLst>
            </a:prstGeom>
            <a:solidFill>
              <a:srgbClr val="FDECEA"/>
            </a:solidFill>
            <a:ln>
              <a:noFill/>
            </a:ln>
          </p:spPr>
        </p:sp>
        <p:sp>
          <p:nvSpPr>
            <p:cNvPr id="23" name="TextBox 23"/>
            <p:cNvSpPr txBox="1"/>
            <p:nvPr/>
          </p:nvSpPr>
          <p:spPr>
            <a:xfrm>
              <a:off x="853059" y="4561522"/>
              <a:ext cx="576072"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备选路径</a:t>
              </a:r>
            </a:p>
          </p:txBody>
        </p:sp>
        <p:sp>
          <p:nvSpPr>
            <p:cNvPr id="24" name="TextBox 24"/>
            <p:cNvSpPr txBox="1"/>
            <p:nvPr/>
          </p:nvSpPr>
          <p:spPr>
            <a:xfrm>
              <a:off x="762381" y="4888706"/>
              <a:ext cx="4180332"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门若在第 6 步后自动关上，狗就被关在门外：补 6.1</a:t>
              </a:r>
              <a:br/>
              <a:r>
                <a:rPr lang="zh-CN" sz="1420" dirty="0">
                  <a:solidFill>
                    <a:srgbClr val="1F2937"/>
                  </a:solidFill>
                  <a:latin typeface="+mn-lt"/>
                  <a:ea typeface="+mn-ea"/>
                  <a:cs typeface="+mn-cs"/>
                </a:rPr>
                <a:t>门关闭、6.2 狗叫、6.3 主人听见、6.4 再按按钮、</a:t>
              </a:r>
              <a:br/>
              <a:r>
                <a:rPr lang="zh-CN" sz="1420" dirty="0">
                  <a:solidFill>
                    <a:srgbClr val="1F2937"/>
                  </a:solidFill>
                  <a:latin typeface="+mn-lt"/>
                  <a:ea typeface="+mn-ea"/>
                  <a:cs typeface="+mn-cs"/>
                </a:rPr>
                <a:t>6.5 门再开，然后回到第 7 步。</a:t>
              </a:r>
            </a:p>
          </p:txBody>
        </p:sp>
      </p:grpSp>
      <p:grpSp>
        <p:nvGrpSpPr>
          <p:cNvPr id="60" name="c2-table-1"/>
          <p:cNvGrpSpPr/>
          <p:nvPr/>
        </p:nvGrpSpPr>
        <p:grpSpPr>
          <a:xfrm>
            <a:off x="5810631" y="1524000"/>
            <a:ext cx="5847969" cy="4449699"/>
            <a:chOff x="5810631" y="1524000"/>
            <a:chExt cx="5847969" cy="4449699"/>
          </a:xfrm>
        </p:grpSpPr>
        <p:sp>
          <p:nvSpPr>
            <p:cNvPr id="26" name="Rectangle 26"/>
            <p:cNvSpPr/>
            <p:nvPr/>
          </p:nvSpPr>
          <p:spPr>
            <a:xfrm>
              <a:off x="5815965" y="1524000"/>
              <a:ext cx="5842635" cy="462915"/>
            </a:xfrm>
            <a:prstGeom prst="rect">
              <a:avLst/>
            </a:prstGeom>
            <a:solidFill>
              <a:srgbClr val="334E68"/>
            </a:solidFill>
            <a:ln>
              <a:noFill/>
            </a:ln>
          </p:spPr>
        </p:sp>
        <p:sp>
          <p:nvSpPr>
            <p:cNvPr id="27" name="TextBox 27"/>
            <p:cNvSpPr txBox="1"/>
            <p:nvPr/>
          </p:nvSpPr>
          <p:spPr>
            <a:xfrm>
              <a:off x="5968086" y="1655921"/>
              <a:ext cx="396799"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步骤</a:t>
              </a:r>
            </a:p>
          </p:txBody>
        </p:sp>
        <p:sp>
          <p:nvSpPr>
            <p:cNvPr id="28" name="TextBox 28"/>
            <p:cNvSpPr txBox="1"/>
            <p:nvPr/>
          </p:nvSpPr>
          <p:spPr>
            <a:xfrm>
              <a:off x="8315922" y="1655921"/>
              <a:ext cx="1543761"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宠物门的主要场景</a:t>
              </a:r>
            </a:p>
          </p:txBody>
        </p:sp>
        <p:sp>
          <p:nvSpPr>
            <p:cNvPr id="29" name="TextBox 29"/>
            <p:cNvSpPr txBox="1"/>
            <p:nvPr/>
          </p:nvSpPr>
          <p:spPr>
            <a:xfrm>
              <a:off x="5917311" y="2119789"/>
              <a:ext cx="12487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1</a:t>
              </a:r>
            </a:p>
          </p:txBody>
        </p:sp>
        <p:sp>
          <p:nvSpPr>
            <p:cNvPr id="30" name="TextBox 30"/>
            <p:cNvSpPr txBox="1"/>
            <p:nvPr/>
          </p:nvSpPr>
          <p:spPr>
            <a:xfrm>
              <a:off x="6618351" y="2119789"/>
              <a:ext cx="173492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狗在屋里叫，想出去</a:t>
              </a:r>
            </a:p>
          </p:txBody>
        </p:sp>
        <p:sp>
          <p:nvSpPr>
            <p:cNvPr id="31" name="Rectangle 31"/>
            <p:cNvSpPr/>
            <p:nvPr/>
          </p:nvSpPr>
          <p:spPr>
            <a:xfrm>
              <a:off x="5815965" y="2446020"/>
              <a:ext cx="5842635" cy="9525"/>
            </a:xfrm>
            <a:prstGeom prst="rect">
              <a:avLst/>
            </a:prstGeom>
            <a:solidFill>
              <a:srgbClr val="D9DFEA"/>
            </a:solidFill>
            <a:ln>
              <a:noFill/>
            </a:ln>
          </p:spPr>
        </p:sp>
        <p:sp>
          <p:nvSpPr>
            <p:cNvPr id="32" name="Rectangle 32"/>
            <p:cNvSpPr/>
            <p:nvPr/>
          </p:nvSpPr>
          <p:spPr>
            <a:xfrm>
              <a:off x="5815965" y="2450782"/>
              <a:ext cx="5842635" cy="462915"/>
            </a:xfrm>
            <a:prstGeom prst="rect">
              <a:avLst/>
            </a:prstGeom>
            <a:solidFill>
              <a:srgbClr val="F4F6FB"/>
            </a:solidFill>
            <a:ln>
              <a:noFill/>
            </a:ln>
          </p:spPr>
        </p:sp>
        <p:sp>
          <p:nvSpPr>
            <p:cNvPr id="33" name="TextBox 33"/>
            <p:cNvSpPr txBox="1"/>
            <p:nvPr/>
          </p:nvSpPr>
          <p:spPr>
            <a:xfrm>
              <a:off x="5917311" y="2582704"/>
              <a:ext cx="12487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2</a:t>
              </a:r>
            </a:p>
          </p:txBody>
        </p:sp>
        <p:sp>
          <p:nvSpPr>
            <p:cNvPr id="34" name="TextBox 34"/>
            <p:cNvSpPr txBox="1"/>
            <p:nvPr/>
          </p:nvSpPr>
          <p:spPr>
            <a:xfrm>
              <a:off x="6618351" y="2582704"/>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主人听见狗叫</a:t>
              </a:r>
            </a:p>
          </p:txBody>
        </p:sp>
        <p:sp>
          <p:nvSpPr>
            <p:cNvPr id="35" name="Rectangle 35"/>
            <p:cNvSpPr/>
            <p:nvPr/>
          </p:nvSpPr>
          <p:spPr>
            <a:xfrm>
              <a:off x="5815965" y="2908935"/>
              <a:ext cx="5842635" cy="9525"/>
            </a:xfrm>
            <a:prstGeom prst="rect">
              <a:avLst/>
            </a:prstGeom>
            <a:solidFill>
              <a:srgbClr val="D9DFEA"/>
            </a:solidFill>
            <a:ln>
              <a:noFill/>
            </a:ln>
          </p:spPr>
        </p:sp>
        <p:sp>
          <p:nvSpPr>
            <p:cNvPr id="36" name="TextBox 36"/>
            <p:cNvSpPr txBox="1"/>
            <p:nvPr/>
          </p:nvSpPr>
          <p:spPr>
            <a:xfrm>
              <a:off x="5917311" y="3045619"/>
              <a:ext cx="12487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3</a:t>
              </a:r>
            </a:p>
          </p:txBody>
        </p:sp>
        <p:sp>
          <p:nvSpPr>
            <p:cNvPr id="37" name="TextBox 37"/>
            <p:cNvSpPr txBox="1"/>
            <p:nvPr/>
          </p:nvSpPr>
          <p:spPr>
            <a:xfrm>
              <a:off x="6618351" y="3045619"/>
              <a:ext cx="211724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主人按下遥控器上的按钮</a:t>
              </a:r>
            </a:p>
          </p:txBody>
        </p:sp>
        <p:sp>
          <p:nvSpPr>
            <p:cNvPr id="38" name="Rectangle 38"/>
            <p:cNvSpPr/>
            <p:nvPr/>
          </p:nvSpPr>
          <p:spPr>
            <a:xfrm>
              <a:off x="5815965" y="3372802"/>
              <a:ext cx="5842635" cy="9525"/>
            </a:xfrm>
            <a:prstGeom prst="rect">
              <a:avLst/>
            </a:prstGeom>
            <a:solidFill>
              <a:srgbClr val="D9DFEA"/>
            </a:solidFill>
            <a:ln>
              <a:noFill/>
            </a:ln>
          </p:spPr>
        </p:sp>
        <p:sp>
          <p:nvSpPr>
            <p:cNvPr id="39" name="Rectangle 39"/>
            <p:cNvSpPr/>
            <p:nvPr/>
          </p:nvSpPr>
          <p:spPr>
            <a:xfrm>
              <a:off x="5815965" y="3377565"/>
              <a:ext cx="5842635" cy="462915"/>
            </a:xfrm>
            <a:prstGeom prst="rect">
              <a:avLst/>
            </a:prstGeom>
            <a:solidFill>
              <a:srgbClr val="F4F6FB"/>
            </a:solidFill>
            <a:ln>
              <a:noFill/>
            </a:ln>
          </p:spPr>
        </p:sp>
        <p:sp>
          <p:nvSpPr>
            <p:cNvPr id="40" name="TextBox 40"/>
            <p:cNvSpPr txBox="1"/>
            <p:nvPr/>
          </p:nvSpPr>
          <p:spPr>
            <a:xfrm>
              <a:off x="5917311" y="3509486"/>
              <a:ext cx="12487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4</a:t>
              </a:r>
            </a:p>
          </p:txBody>
        </p:sp>
        <p:sp>
          <p:nvSpPr>
            <p:cNvPr id="41" name="TextBox 41"/>
            <p:cNvSpPr txBox="1"/>
            <p:nvPr/>
          </p:nvSpPr>
          <p:spPr>
            <a:xfrm>
              <a:off x="6618351" y="3509486"/>
              <a:ext cx="77912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狗门打开</a:t>
              </a:r>
            </a:p>
          </p:txBody>
        </p:sp>
        <p:sp>
          <p:nvSpPr>
            <p:cNvPr id="42" name="Rectangle 42"/>
            <p:cNvSpPr/>
            <p:nvPr/>
          </p:nvSpPr>
          <p:spPr>
            <a:xfrm>
              <a:off x="5815965" y="3835718"/>
              <a:ext cx="5842635" cy="9525"/>
            </a:xfrm>
            <a:prstGeom prst="rect">
              <a:avLst/>
            </a:prstGeom>
            <a:solidFill>
              <a:srgbClr val="D9DFEA"/>
            </a:solidFill>
            <a:ln>
              <a:noFill/>
            </a:ln>
          </p:spPr>
        </p:sp>
        <p:sp>
          <p:nvSpPr>
            <p:cNvPr id="43" name="TextBox 43"/>
            <p:cNvSpPr txBox="1"/>
            <p:nvPr/>
          </p:nvSpPr>
          <p:spPr>
            <a:xfrm>
              <a:off x="5917311" y="3972401"/>
              <a:ext cx="12487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5</a:t>
              </a:r>
            </a:p>
          </p:txBody>
        </p:sp>
        <p:sp>
          <p:nvSpPr>
            <p:cNvPr id="44" name="TextBox 44"/>
            <p:cNvSpPr txBox="1"/>
            <p:nvPr/>
          </p:nvSpPr>
          <p:spPr>
            <a:xfrm>
              <a:off x="6618351" y="3972401"/>
              <a:ext cx="97028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狗走到屋外</a:t>
              </a:r>
            </a:p>
          </p:txBody>
        </p:sp>
        <p:sp>
          <p:nvSpPr>
            <p:cNvPr id="45" name="Rectangle 45"/>
            <p:cNvSpPr/>
            <p:nvPr/>
          </p:nvSpPr>
          <p:spPr>
            <a:xfrm>
              <a:off x="5815965" y="4298632"/>
              <a:ext cx="5842635" cy="9525"/>
            </a:xfrm>
            <a:prstGeom prst="rect">
              <a:avLst/>
            </a:prstGeom>
            <a:solidFill>
              <a:srgbClr val="D9DFEA"/>
            </a:solidFill>
            <a:ln>
              <a:noFill/>
            </a:ln>
          </p:spPr>
        </p:sp>
        <p:sp>
          <p:nvSpPr>
            <p:cNvPr id="46" name="Rectangle 46"/>
            <p:cNvSpPr/>
            <p:nvPr/>
          </p:nvSpPr>
          <p:spPr>
            <a:xfrm>
              <a:off x="5815965" y="4303395"/>
              <a:ext cx="5842635" cy="462915"/>
            </a:xfrm>
            <a:prstGeom prst="rect">
              <a:avLst/>
            </a:prstGeom>
            <a:solidFill>
              <a:srgbClr val="F4F6FB"/>
            </a:solidFill>
            <a:ln>
              <a:noFill/>
            </a:ln>
          </p:spPr>
        </p:sp>
        <p:sp>
          <p:nvSpPr>
            <p:cNvPr id="47" name="TextBox 47"/>
            <p:cNvSpPr txBox="1"/>
            <p:nvPr/>
          </p:nvSpPr>
          <p:spPr>
            <a:xfrm>
              <a:off x="5917311" y="4436269"/>
              <a:ext cx="12487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6</a:t>
              </a:r>
            </a:p>
          </p:txBody>
        </p:sp>
        <p:sp>
          <p:nvSpPr>
            <p:cNvPr id="48" name="Rectangle 48"/>
            <p:cNvSpPr/>
            <p:nvPr/>
          </p:nvSpPr>
          <p:spPr>
            <a:xfrm>
              <a:off x="6526530" y="4312920"/>
              <a:ext cx="5122545" cy="443865"/>
            </a:xfrm>
            <a:prstGeom prst="rect">
              <a:avLst/>
            </a:prstGeom>
            <a:solidFill>
              <a:srgbClr val="E7EDF3"/>
            </a:solidFill>
            <a:ln>
              <a:noFill/>
            </a:ln>
          </p:spPr>
        </p:sp>
        <p:sp>
          <p:nvSpPr>
            <p:cNvPr id="49" name="TextBox 49"/>
            <p:cNvSpPr txBox="1"/>
            <p:nvPr/>
          </p:nvSpPr>
          <p:spPr>
            <a:xfrm>
              <a:off x="6618351" y="4436269"/>
              <a:ext cx="135260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狗在外面办完事</a:t>
              </a:r>
            </a:p>
          </p:txBody>
        </p:sp>
        <p:sp>
          <p:nvSpPr>
            <p:cNvPr id="50" name="Rectangle 50"/>
            <p:cNvSpPr/>
            <p:nvPr/>
          </p:nvSpPr>
          <p:spPr>
            <a:xfrm>
              <a:off x="5815965" y="4762500"/>
              <a:ext cx="5842635" cy="9525"/>
            </a:xfrm>
            <a:prstGeom prst="rect">
              <a:avLst/>
            </a:prstGeom>
            <a:solidFill>
              <a:srgbClr val="D9DFEA"/>
            </a:solidFill>
            <a:ln>
              <a:noFill/>
            </a:ln>
          </p:spPr>
        </p:sp>
        <p:sp>
          <p:nvSpPr>
            <p:cNvPr id="51" name="TextBox 51"/>
            <p:cNvSpPr txBox="1"/>
            <p:nvPr/>
          </p:nvSpPr>
          <p:spPr>
            <a:xfrm>
              <a:off x="5917311" y="4899184"/>
              <a:ext cx="12487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7</a:t>
              </a:r>
            </a:p>
          </p:txBody>
        </p:sp>
        <p:sp>
          <p:nvSpPr>
            <p:cNvPr id="52" name="TextBox 52"/>
            <p:cNvSpPr txBox="1"/>
            <p:nvPr/>
          </p:nvSpPr>
          <p:spPr>
            <a:xfrm>
              <a:off x="6618351" y="4899184"/>
              <a:ext cx="97028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狗回到屋里</a:t>
              </a:r>
            </a:p>
          </p:txBody>
        </p:sp>
        <p:sp>
          <p:nvSpPr>
            <p:cNvPr id="53" name="Rectangle 53"/>
            <p:cNvSpPr/>
            <p:nvPr/>
          </p:nvSpPr>
          <p:spPr>
            <a:xfrm>
              <a:off x="5815965" y="5225415"/>
              <a:ext cx="5842635" cy="9525"/>
            </a:xfrm>
            <a:prstGeom prst="rect">
              <a:avLst/>
            </a:prstGeom>
            <a:solidFill>
              <a:srgbClr val="D9DFEA"/>
            </a:solidFill>
            <a:ln>
              <a:noFill/>
            </a:ln>
          </p:spPr>
        </p:sp>
        <p:sp>
          <p:nvSpPr>
            <p:cNvPr id="54" name="Rectangle 54"/>
            <p:cNvSpPr/>
            <p:nvPr/>
          </p:nvSpPr>
          <p:spPr>
            <a:xfrm>
              <a:off x="5815965" y="5230178"/>
              <a:ext cx="5842635" cy="462915"/>
            </a:xfrm>
            <a:prstGeom prst="rect">
              <a:avLst/>
            </a:prstGeom>
            <a:solidFill>
              <a:srgbClr val="F4F6FB"/>
            </a:solidFill>
            <a:ln>
              <a:noFill/>
            </a:ln>
          </p:spPr>
        </p:sp>
        <p:sp>
          <p:nvSpPr>
            <p:cNvPr id="55" name="TextBox 55"/>
            <p:cNvSpPr txBox="1"/>
            <p:nvPr/>
          </p:nvSpPr>
          <p:spPr>
            <a:xfrm>
              <a:off x="5917311" y="5362099"/>
              <a:ext cx="12487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8</a:t>
              </a:r>
            </a:p>
          </p:txBody>
        </p:sp>
        <p:sp>
          <p:nvSpPr>
            <p:cNvPr id="56" name="TextBox 56"/>
            <p:cNvSpPr txBox="1"/>
            <p:nvPr/>
          </p:nvSpPr>
          <p:spPr>
            <a:xfrm>
              <a:off x="6618351" y="5362099"/>
              <a:ext cx="97028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门自动关上</a:t>
              </a:r>
            </a:p>
          </p:txBody>
        </p:sp>
        <p:sp>
          <p:nvSpPr>
            <p:cNvPr id="57" name="Rectangle 57"/>
            <p:cNvSpPr/>
            <p:nvPr/>
          </p:nvSpPr>
          <p:spPr>
            <a:xfrm>
              <a:off x="5815965" y="1524000"/>
              <a:ext cx="5842635" cy="4170045"/>
            </a:xfrm>
            <a:prstGeom prst="rect">
              <a:avLst/>
            </a:prstGeom>
            <a:noFill/>
            <a:ln w="14288">
              <a:solidFill>
                <a:srgbClr val="D9DFEA"/>
              </a:solidFill>
            </a:ln>
          </p:spPr>
        </p:sp>
        <p:sp>
          <p:nvSpPr>
            <p:cNvPr id="58" name="Rectangle 58"/>
            <p:cNvSpPr/>
            <p:nvPr/>
          </p:nvSpPr>
          <p:spPr>
            <a:xfrm>
              <a:off x="6512242" y="1524000"/>
              <a:ext cx="9525" cy="4170045"/>
            </a:xfrm>
            <a:prstGeom prst="rect">
              <a:avLst/>
            </a:prstGeom>
            <a:solidFill>
              <a:srgbClr val="D9DFEA"/>
            </a:solidFill>
            <a:ln>
              <a:noFill/>
            </a:ln>
          </p:spPr>
        </p:sp>
        <p:sp>
          <p:nvSpPr>
            <p:cNvPr id="59" name="TextBox 59"/>
            <p:cNvSpPr txBox="1"/>
            <p:nvPr/>
          </p:nvSpPr>
          <p:spPr>
            <a:xfrm>
              <a:off x="5810631" y="5768340"/>
              <a:ext cx="3403092"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用例描述一连串交互，一条具体的执行路线叫一个场景</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2" name="TextBox 6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56</a:t>
              </a:r>
            </a:p>
          </p:txBody>
        </p:sp>
      </p:grpSp>
    </p:spTree>
  </p:cSld>
  <p:clrMapOvr>
    <a:masterClrMapping/>
  </p:clrMapOvr>
  <p:transition xmlns:p14="http://schemas.microsoft.com/office/powerpoint/2010/main" p14:dur="400">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324677" cy="909257"/>
            <a:chOff x="520446" y="342900"/>
            <a:chExt cx="7324677" cy="909257"/>
          </a:xfrm>
        </p:grpSpPr>
        <p:sp>
          <p:nvSpPr>
            <p:cNvPr id="2" name="Rectangle 2"/>
            <p:cNvSpPr/>
            <p:nvPr/>
          </p:nvSpPr>
          <p:spPr>
            <a:xfrm>
              <a:off x="533400" y="342900"/>
              <a:ext cx="3126105" cy="266700"/>
            </a:xfrm>
            <a:prstGeom prst="roundRect">
              <a:avLst>
                <a:gd name="adj" fmla="val 50000"/>
              </a:avLst>
            </a:prstGeom>
            <a:solidFill>
              <a:srgbClr val="E7EDF3"/>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敏捷过程、极限编程与微软过程</a:t>
              </a:r>
            </a:p>
          </p:txBody>
        </p:sp>
        <p:sp>
          <p:nvSpPr>
            <p:cNvPr id="4" name="TextBox 4"/>
            <p:cNvSpPr txBox="1"/>
            <p:nvPr/>
          </p:nvSpPr>
          <p:spPr>
            <a:xfrm>
              <a:off x="520446" y="753428"/>
              <a:ext cx="732467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重构实例：用 Template Method 抽出算法骨架</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542" y="1545907"/>
            <a:ext cx="9827514" cy="264033"/>
            <a:chOff x="526542" y="1545907"/>
            <a:chExt cx="9827514" cy="264033"/>
          </a:xfrm>
        </p:grpSpPr>
        <p:sp>
          <p:nvSpPr>
            <p:cNvPr id="7" name="TextBox 7"/>
            <p:cNvSpPr txBox="1"/>
            <p:nvPr/>
          </p:nvSpPr>
          <p:spPr>
            <a:xfrm>
              <a:off x="526542" y="1545907"/>
              <a:ext cx="9827514"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定义一个操作中算法的骨架，而将一些步骤延迟到子类中；子类可以不改变算法的结构，重新定义该算法的某些特定步骤。</a:t>
              </a:r>
            </a:p>
          </p:txBody>
        </p:sp>
      </p:grpSp>
      <p:grpSp>
        <p:nvGrpSpPr>
          <p:cNvPr id="17" name="c1-code-1"/>
          <p:cNvGrpSpPr/>
          <p:nvPr/>
        </p:nvGrpSpPr>
        <p:grpSpPr>
          <a:xfrm>
            <a:off x="533400" y="1928812"/>
            <a:ext cx="5410200" cy="2616518"/>
            <a:chOff x="533400" y="1928812"/>
            <a:chExt cx="5410200" cy="2616518"/>
          </a:xfrm>
        </p:grpSpPr>
        <p:sp>
          <p:nvSpPr>
            <p:cNvPr id="9" name="Rectangle 9"/>
            <p:cNvSpPr/>
            <p:nvPr/>
          </p:nvSpPr>
          <p:spPr>
            <a:xfrm>
              <a:off x="533400" y="1928812"/>
              <a:ext cx="5410200" cy="2616518"/>
            </a:xfrm>
            <a:prstGeom prst="roundRect">
              <a:avLst>
                <a:gd name="adj" fmla="val 3640"/>
              </a:avLst>
            </a:prstGeom>
            <a:solidFill>
              <a:srgbClr val="F6F8FA"/>
            </a:solidFill>
            <a:ln w="11430">
              <a:solidFill>
                <a:srgbClr val="D9DFEA"/>
              </a:solidFill>
            </a:ln>
          </p:spPr>
        </p:sp>
        <p:sp>
          <p:nvSpPr>
            <p:cNvPr id="10" name="TextBox 10"/>
            <p:cNvSpPr txBox="1"/>
            <p:nvPr/>
          </p:nvSpPr>
          <p:spPr>
            <a:xfrm>
              <a:off x="661797" y="2080736"/>
              <a:ext cx="2713262"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Application::OpenDocument 就是模板方法</a:t>
              </a:r>
            </a:p>
          </p:txBody>
        </p:sp>
        <p:sp>
          <p:nvSpPr>
            <p:cNvPr id="11" name="Rectangle 11"/>
            <p:cNvSpPr/>
            <p:nvPr/>
          </p:nvSpPr>
          <p:spPr>
            <a:xfrm>
              <a:off x="552450" y="2479358"/>
              <a:ext cx="5372100" cy="176212"/>
            </a:xfrm>
            <a:prstGeom prst="rect">
              <a:avLst/>
            </a:prstGeom>
            <a:solidFill>
              <a:srgbClr val="FDEEE7"/>
            </a:solidFill>
            <a:ln>
              <a:noFill/>
            </a:ln>
          </p:spPr>
        </p:sp>
        <p:sp>
          <p:nvSpPr>
            <p:cNvPr id="12" name="Rectangle 12"/>
            <p:cNvSpPr/>
            <p:nvPr/>
          </p:nvSpPr>
          <p:spPr>
            <a:xfrm>
              <a:off x="552450" y="3007042"/>
              <a:ext cx="5372100" cy="176212"/>
            </a:xfrm>
            <a:prstGeom prst="rect">
              <a:avLst/>
            </a:prstGeom>
            <a:solidFill>
              <a:srgbClr val="FDEEE7"/>
            </a:solidFill>
            <a:ln>
              <a:noFill/>
            </a:ln>
          </p:spPr>
        </p:sp>
        <p:sp>
          <p:nvSpPr>
            <p:cNvPr id="13" name="Rectangle 13"/>
            <p:cNvSpPr/>
            <p:nvPr/>
          </p:nvSpPr>
          <p:spPr>
            <a:xfrm>
              <a:off x="552450" y="3358515"/>
              <a:ext cx="5372100" cy="176212"/>
            </a:xfrm>
            <a:prstGeom prst="rect">
              <a:avLst/>
            </a:prstGeom>
            <a:solidFill>
              <a:srgbClr val="FDEEE7"/>
            </a:solidFill>
            <a:ln>
              <a:noFill/>
            </a:ln>
          </p:spPr>
        </p:sp>
        <p:sp>
          <p:nvSpPr>
            <p:cNvPr id="14" name="Rectangle 14"/>
            <p:cNvSpPr/>
            <p:nvPr/>
          </p:nvSpPr>
          <p:spPr>
            <a:xfrm>
              <a:off x="552450" y="3534728"/>
              <a:ext cx="5372100" cy="176212"/>
            </a:xfrm>
            <a:prstGeom prst="rect">
              <a:avLst/>
            </a:prstGeom>
            <a:solidFill>
              <a:srgbClr val="FDEEE7"/>
            </a:solidFill>
            <a:ln>
              <a:noFill/>
            </a:ln>
          </p:spPr>
        </p:sp>
        <p:sp>
          <p:nvSpPr>
            <p:cNvPr id="15" name="TextBox 15"/>
            <p:cNvSpPr txBox="1"/>
            <p:nvPr/>
          </p:nvSpPr>
          <p:spPr>
            <a:xfrm>
              <a:off x="681101" y="2340769"/>
              <a:ext cx="146812" cy="2129028"/>
            </a:xfrm>
            <a:prstGeom prst="rect">
              <a:avLst/>
            </a:prstGeom>
            <a:noFill/>
            <a:ln>
              <a:noFill/>
            </a:ln>
          </p:spPr>
          <p:txBody>
            <a:bodyPr wrap="none" lIns="0" tIns="0" rIns="0" bIns="0" anchor="t" anchorCtr="0">
              <a:spAutoFit/>
            </a:bodyPr>
            <a:lstStyle/>
            <a:p>
              <a:pPr algn="r">
                <a:lnSpc>
                  <a:spcPts val="1388"/>
                </a:lnSpc>
              </a:pPr>
              <a:r>
                <a:rPr lang="zh-CN" sz="980" dirty="0">
                  <a:solidFill>
                    <a:srgbClr val="9AA3B2"/>
                  </a:solidFill>
                  <a:latin typeface="Consolas"/>
                  <a:ea typeface="Consolas"/>
                  <a:cs typeface="Consolas"/>
                </a:rPr>
                <a:t>1</a:t>
              </a:r>
              <a:br/>
              <a:r>
                <a:rPr lang="zh-CN" sz="980" dirty="0">
                  <a:solidFill>
                    <a:srgbClr val="9AA3B2"/>
                  </a:solidFill>
                  <a:latin typeface="Consolas"/>
                  <a:ea typeface="Consolas"/>
                  <a:cs typeface="Consolas"/>
                </a:rPr>
                <a:t>2</a:t>
              </a:r>
              <a:br/>
              <a:r>
                <a:rPr lang="zh-CN" sz="980" dirty="0">
                  <a:solidFill>
                    <a:srgbClr val="9AA3B2"/>
                  </a:solidFill>
                  <a:latin typeface="Consolas"/>
                  <a:ea typeface="Consolas"/>
                  <a:cs typeface="Consolas"/>
                </a:rPr>
                <a:t>3</a:t>
              </a:r>
              <a:br/>
              <a:r>
                <a:rPr lang="zh-CN" sz="980" dirty="0">
                  <a:solidFill>
                    <a:srgbClr val="9AA3B2"/>
                  </a:solidFill>
                  <a:latin typeface="Consolas"/>
                  <a:ea typeface="Consolas"/>
                  <a:cs typeface="Consolas"/>
                </a:rPr>
                <a:t>4</a:t>
              </a:r>
              <a:br/>
              <a:r>
                <a:rPr lang="zh-CN" sz="980" dirty="0">
                  <a:solidFill>
                    <a:srgbClr val="9AA3B2"/>
                  </a:solidFill>
                  <a:latin typeface="Consolas"/>
                  <a:ea typeface="Consolas"/>
                  <a:cs typeface="Consolas"/>
                </a:rPr>
                <a:t>5</a:t>
              </a:r>
              <a:br/>
              <a:r>
                <a:rPr lang="zh-CN" sz="980" dirty="0">
                  <a:solidFill>
                    <a:srgbClr val="9AA3B2"/>
                  </a:solidFill>
                  <a:latin typeface="Consolas"/>
                  <a:ea typeface="Consolas"/>
                  <a:cs typeface="Consolas"/>
                </a:rPr>
                <a:t>6</a:t>
              </a:r>
              <a:br/>
              <a:r>
                <a:rPr lang="zh-CN" sz="980" dirty="0">
                  <a:solidFill>
                    <a:srgbClr val="9AA3B2"/>
                  </a:solidFill>
                  <a:latin typeface="Consolas"/>
                  <a:ea typeface="Consolas"/>
                  <a:cs typeface="Consolas"/>
                </a:rPr>
                <a:t>7</a:t>
              </a:r>
              <a:br/>
              <a:r>
                <a:rPr lang="zh-CN" sz="980" dirty="0">
                  <a:solidFill>
                    <a:srgbClr val="9AA3B2"/>
                  </a:solidFill>
                  <a:latin typeface="Consolas"/>
                  <a:ea typeface="Consolas"/>
                  <a:cs typeface="Consolas"/>
                </a:rPr>
                <a:t>8</a:t>
              </a:r>
              <a:br/>
              <a:r>
                <a:rPr lang="zh-CN" sz="980" dirty="0">
                  <a:solidFill>
                    <a:srgbClr val="9AA3B2"/>
                  </a:solidFill>
                  <a:latin typeface="Consolas"/>
                  <a:ea typeface="Consolas"/>
                  <a:cs typeface="Consolas"/>
                </a:rPr>
                <a:t>9</a:t>
              </a:r>
              <a:br/>
              <a:r>
                <a:rPr lang="zh-CN" sz="980" dirty="0">
                  <a:solidFill>
                    <a:srgbClr val="9AA3B2"/>
                  </a:solidFill>
                  <a:latin typeface="Consolas"/>
                  <a:ea typeface="Consolas"/>
                  <a:cs typeface="Consolas"/>
                </a:rPr>
                <a:t>10</a:t>
              </a:r>
              <a:br/>
              <a:r>
                <a:rPr lang="zh-CN" sz="980" dirty="0">
                  <a:solidFill>
                    <a:srgbClr val="9AA3B2"/>
                  </a:solidFill>
                  <a:latin typeface="Consolas"/>
                  <a:ea typeface="Consolas"/>
                  <a:cs typeface="Consolas"/>
                </a:rPr>
                <a:t>11</a:t>
              </a:r>
              <a:br/>
              <a:r>
                <a:rPr lang="zh-CN" sz="980" dirty="0">
                  <a:solidFill>
                    <a:srgbClr val="9AA3B2"/>
                  </a:solidFill>
                  <a:latin typeface="Consolas"/>
                  <a:ea typeface="Consolas"/>
                  <a:cs typeface="Consolas"/>
                </a:rPr>
                <a:t>12</a:t>
              </a:r>
            </a:p>
          </p:txBody>
        </p:sp>
        <p:sp>
          <p:nvSpPr>
            <p:cNvPr id="16" name="TextBox 16"/>
            <p:cNvSpPr txBox="1"/>
            <p:nvPr/>
          </p:nvSpPr>
          <p:spPr>
            <a:xfrm>
              <a:off x="932307" y="2340769"/>
              <a:ext cx="3731260" cy="2129028"/>
            </a:xfrm>
            <a:prstGeom prst="rect">
              <a:avLst/>
            </a:prstGeom>
            <a:noFill/>
            <a:ln>
              <a:noFill/>
            </a:ln>
          </p:spPr>
          <p:txBody>
            <a:bodyPr wrap="none" lIns="0" tIns="0" rIns="0" bIns="0" anchor="t" anchorCtr="0">
              <a:spAutoFit/>
            </a:bodyPr>
            <a:lstStyle/>
            <a:p>
              <a:pPr algn="l">
                <a:lnSpc>
                  <a:spcPts val="1388"/>
                </a:lnSpc>
              </a:pPr>
              <a:r>
                <a:rPr lang="en-US" sz="980" b="1" dirty="0">
                  <a:solidFill>
                    <a:srgbClr val="334E68"/>
                  </a:solidFill>
                  <a:latin typeface="Consolas"/>
                  <a:ea typeface="Consolas"/>
                  <a:cs typeface="Consolas"/>
                </a:rPr>
                <a:t>void</a:t>
              </a:r>
              <a:r>
                <a:rPr lang="en-US" sz="980" dirty="0">
                  <a:solidFill>
                    <a:srgbClr val="1F2937"/>
                  </a:solidFill>
                  <a:latin typeface="Consolas"/>
                  <a:ea typeface="Consolas"/>
                  <a:cs typeface="Consolas"/>
                </a:rPr>
                <a:t xml:space="preserve"> Application::OpenDocument(</a:t>
              </a:r>
              <a:r>
                <a:rPr lang="en-US" sz="980" b="1" dirty="0">
                  <a:solidFill>
                    <a:srgbClr val="334E68"/>
                  </a:solidFill>
                  <a:latin typeface="Consolas"/>
                  <a:ea typeface="Consolas"/>
                  <a:cs typeface="Consolas"/>
                </a:rPr>
                <a:t>const</a:t>
              </a: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char</a:t>
              </a:r>
              <a:r>
                <a:rPr lang="en-US" sz="980" dirty="0">
                  <a:solidFill>
                    <a:srgbClr val="1F2937"/>
                  </a:solidFill>
                  <a:latin typeface="Consolas"/>
                  <a:ea typeface="Consolas"/>
                  <a:cs typeface="Consolas"/>
                </a:rPr>
                <a:t>* name) {</a:t>
              </a:r>
              <a:b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if</a:t>
              </a:r>
              <a:r>
                <a:rPr lang="en-US" sz="980" dirty="0">
                  <a:solidFill>
                    <a:srgbClr val="1F2937"/>
                  </a:solidFill>
                  <a:latin typeface="Consolas"/>
                  <a:ea typeface="Consolas"/>
                  <a:cs typeface="Consolas"/>
                </a:rPr>
                <a:t xml:space="preserve"> (!CanOpenDocument(name)) {</a:t>
              </a:r>
              <a:b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return</a:t>
              </a:r>
              <a:r>
                <a:rPr lang="zh-CN" sz="980" dirty="0">
                  <a:solidFill>
                    <a:srgbClr val="1F2937"/>
                  </a:solidFill>
                  <a:latin typeface="Consolas"/>
                  <a:ea typeface="Consolas"/>
                  <a:cs typeface="Consolas"/>
                </a:rPr>
                <a:t xml:space="preserve">;                    </a:t>
              </a:r>
              <a:r>
                <a:rPr lang="zh-CN" sz="980" dirty="0">
                  <a:solidFill>
                    <a:srgbClr val="0F7A68"/>
                  </a:solidFill>
                  <a:latin typeface="Consolas"/>
                  <a:ea typeface="Microsoft YaHei"/>
                  <a:cs typeface="Consolas"/>
                </a:rPr>
                <a:t>// 由子类决定能否打开</a:t>
              </a:r>
              <a:br/>
              <a:r>
                <a:rPr lang="zh-CN" sz="980" dirty="0">
                  <a:solidFill>
                    <a:srgbClr val="1F2937"/>
                  </a:solidFill>
                  <a:latin typeface="Consolas"/>
                  <a:ea typeface="Consolas"/>
                  <a:cs typeface="Consolas"/>
                </a:rPr>
                <a:t xml:space="preserve">    }</a:t>
              </a:r>
              <a:br/>
              <a:r>
                <a:rPr lang="en-US" sz="980" dirty="0">
                  <a:solidFill>
                    <a:srgbClr val="1F2937"/>
                  </a:solidFill>
                  <a:latin typeface="Consolas"/>
                  <a:ea typeface="Consolas"/>
                  <a:cs typeface="Consolas"/>
                </a:rPr>
                <a:t xml:space="preserve">    Document* doc = DoCreateDocument();</a:t>
              </a:r>
              <a:b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if</a:t>
              </a:r>
              <a:r>
                <a:rPr lang="en-US" sz="980" dirty="0">
                  <a:solidFill>
                    <a:srgbClr val="1F2937"/>
                  </a:solidFill>
                  <a:latin typeface="Consolas"/>
                  <a:ea typeface="Consolas"/>
                  <a:cs typeface="Consolas"/>
                </a:rPr>
                <a:t xml:space="preserve"> (doc) {</a:t>
              </a:r>
              <a:br/>
              <a:r>
                <a:rPr lang="en-US" sz="980" dirty="0">
                  <a:solidFill>
                    <a:srgbClr val="1F2937"/>
                  </a:solidFill>
                  <a:latin typeface="Consolas"/>
                  <a:ea typeface="Consolas"/>
                  <a:cs typeface="Consolas"/>
                </a:rPr>
                <a:t xml:space="preserve">        AddDocument(doc);</a:t>
              </a:r>
              <a:br/>
              <a:r>
                <a:rPr lang="en-US" sz="980" dirty="0">
                  <a:solidFill>
                    <a:srgbClr val="1F2937"/>
                  </a:solidFill>
                  <a:latin typeface="Consolas"/>
                  <a:ea typeface="Consolas"/>
                  <a:cs typeface="Consolas"/>
                </a:rPr>
                <a:t xml:space="preserve">        AboutToOpenDocument(doc);</a:t>
              </a:r>
              <a:br/>
              <a:r>
                <a:rPr lang="en-US" sz="980" dirty="0">
                  <a:solidFill>
                    <a:srgbClr val="1F2937"/>
                  </a:solidFill>
                  <a:latin typeface="Consolas"/>
                  <a:ea typeface="Consolas"/>
                  <a:cs typeface="Consolas"/>
                </a:rPr>
                <a:t xml:space="preserve">        doc-&gt;Open();</a:t>
              </a:r>
              <a:br/>
              <a:r>
                <a:rPr lang="en-US" sz="980" dirty="0">
                  <a:solidFill>
                    <a:srgbClr val="1F2937"/>
                  </a:solidFill>
                  <a:latin typeface="Consolas"/>
                  <a:ea typeface="Consolas"/>
                  <a:cs typeface="Consolas"/>
                </a:rPr>
                <a:t xml:space="preserve">        doc-&gt;DoRead();             </a:t>
              </a:r>
              <a:r>
                <a:rPr lang="zh-CN" sz="980" dirty="0">
                  <a:solidFill>
                    <a:srgbClr val="0F7A68"/>
                  </a:solidFill>
                  <a:latin typeface="Consolas"/>
                  <a:ea typeface="Microsoft YaHei"/>
                  <a:cs typeface="Consolas"/>
                </a:rPr>
                <a:t>// 由子类决定怎样读</a:t>
              </a:r>
              <a:br/>
              <a:r>
                <a:rPr lang="zh-CN" sz="980" dirty="0">
                  <a:solidFill>
                    <a:srgbClr val="1F2937"/>
                  </a:solidFill>
                  <a:latin typeface="Consolas"/>
                  <a:ea typeface="Consolas"/>
                  <a:cs typeface="Consolas"/>
                </a:rPr>
                <a:t xml:space="preserve">    }</a:t>
              </a:r>
              <a:br/>
              <a:r>
                <a:rPr lang="zh-CN" sz="980" dirty="0">
                  <a:solidFill>
                    <a:srgbClr val="1F2937"/>
                  </a:solidFill>
                  <a:latin typeface="Consolas"/>
                  <a:ea typeface="Consolas"/>
                  <a:cs typeface="Consolas"/>
                </a:rPr>
                <a:t>}</a:t>
              </a:r>
            </a:p>
          </p:txBody>
        </p:sp>
      </p:grpSp>
      <p:grpSp>
        <p:nvGrpSpPr>
          <p:cNvPr id="23" name="c1-callout-2"/>
          <p:cNvGrpSpPr/>
          <p:nvPr/>
        </p:nvGrpSpPr>
        <p:grpSpPr>
          <a:xfrm>
            <a:off x="533400" y="4714875"/>
            <a:ext cx="5410200" cy="1592580"/>
            <a:chOff x="533400" y="4714875"/>
            <a:chExt cx="5410200" cy="1592580"/>
          </a:xfrm>
        </p:grpSpPr>
        <p:sp>
          <p:nvSpPr>
            <p:cNvPr id="18" name="Rectangle 18"/>
            <p:cNvSpPr/>
            <p:nvPr/>
          </p:nvSpPr>
          <p:spPr>
            <a:xfrm>
              <a:off x="533400" y="4714875"/>
              <a:ext cx="5410200" cy="1592580"/>
            </a:xfrm>
            <a:prstGeom prst="roundRect">
              <a:avLst>
                <a:gd name="adj" fmla="val 7177"/>
              </a:avLst>
            </a:prstGeom>
            <a:solidFill>
              <a:srgbClr val="334E68"/>
            </a:solidFill>
            <a:ln>
              <a:noFill/>
            </a:ln>
          </p:spPr>
        </p:sp>
        <p:grpSp>
          <p:nvGrpSpPr>
            <p:cNvPr id="21" name="Group 21"/>
            <p:cNvGrpSpPr/>
            <p:nvPr/>
          </p:nvGrpSpPr>
          <p:grpSpPr>
            <a:xfrm>
              <a:off x="738188" y="5411155"/>
              <a:ext cx="200023" cy="200023"/>
              <a:chOff x="738188" y="5411155"/>
              <a:chExt cx="200023" cy="200023"/>
            </a:xfrm>
          </p:grpSpPr>
          <p:sp>
            <p:nvSpPr>
              <p:cNvPr id="19" name="Freeform 19"/>
              <p:cNvSpPr/>
              <p:nvPr/>
            </p:nvSpPr>
            <p:spPr>
              <a:xfrm>
                <a:off x="738188" y="541115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0" name="Freeform 20"/>
              <p:cNvSpPr/>
              <p:nvPr/>
            </p:nvSpPr>
            <p:spPr>
              <a:xfrm>
                <a:off x="871538" y="547782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2" name="TextBox 22"/>
            <p:cNvSpPr txBox="1"/>
            <p:nvPr/>
          </p:nvSpPr>
          <p:spPr>
            <a:xfrm>
              <a:off x="1040892" y="5292090"/>
              <a:ext cx="439426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打开文档的流程固定不变，“能不能打开、建哪种文档、打</a:t>
              </a:r>
              <a:br/>
              <a:r>
                <a:rPr lang="zh-CN" sz="1350" dirty="0">
                  <a:solidFill>
                    <a:srgbClr val="FFFFFF"/>
                  </a:solidFill>
                  <a:latin typeface="+mn-lt"/>
                  <a:ea typeface="+mn-ea"/>
                  <a:cs typeface="+mn-cs"/>
                </a:rPr>
                <a:t>开前做什么、怎样读”四步交给子类。</a:t>
              </a:r>
            </a:p>
          </p:txBody>
        </p:sp>
      </p:grpSp>
      <p:grpSp>
        <p:nvGrpSpPr>
          <p:cNvPr id="60" name="c2-uml-1"/>
          <p:cNvGrpSpPr/>
          <p:nvPr/>
        </p:nvGrpSpPr>
        <p:grpSpPr>
          <a:xfrm>
            <a:off x="7029450" y="2001202"/>
            <a:ext cx="4084320" cy="2458403"/>
            <a:chOff x="7029450" y="2001202"/>
            <a:chExt cx="4084320" cy="2458403"/>
          </a:xfrm>
        </p:grpSpPr>
        <p:sp>
          <p:nvSpPr>
            <p:cNvPr id="24" name="Freeform 24"/>
            <p:cNvSpPr/>
            <p:nvPr/>
          </p:nvSpPr>
          <p:spPr>
            <a:xfrm>
              <a:off x="8172450" y="2620328"/>
              <a:ext cx="1116330" cy="9525"/>
            </a:xfrm>
            <a:custGeom>
              <a:avLst/>
              <a:gdLst/>
              <a:ahLst/>
              <a:cxnLst/>
              <a:rect l="l" t="t" r="r" b="b"/>
              <a:pathLst>
                <a:path w="1116330" h="9525">
                  <a:moveTo>
                    <a:pt x="0" y="0"/>
                  </a:moveTo>
                  <a:lnTo>
                    <a:pt x="1116330" y="0"/>
                  </a:lnTo>
                </a:path>
              </a:pathLst>
            </a:custGeom>
            <a:noFill/>
            <a:ln w="15240">
              <a:solidFill>
                <a:srgbClr val="1F2937"/>
              </a:solidFill>
            </a:ln>
          </p:spPr>
        </p:sp>
        <p:sp>
          <p:nvSpPr>
            <p:cNvPr id="25" name="Freeform 25"/>
            <p:cNvSpPr/>
            <p:nvPr/>
          </p:nvSpPr>
          <p:spPr>
            <a:xfrm>
              <a:off x="9288780" y="2562225"/>
              <a:ext cx="209550" cy="115253"/>
            </a:xfrm>
            <a:custGeom>
              <a:avLst/>
              <a:gdLst/>
              <a:ahLst/>
              <a:cxnLst/>
              <a:rect l="l" t="t" r="r" b="b"/>
              <a:pathLst>
                <a:path w="209550" h="115253">
                  <a:moveTo>
                    <a:pt x="209550" y="58103"/>
                  </a:moveTo>
                  <a:lnTo>
                    <a:pt x="104775" y="115253"/>
                  </a:lnTo>
                  <a:lnTo>
                    <a:pt x="0" y="58103"/>
                  </a:lnTo>
                  <a:lnTo>
                    <a:pt x="104775" y="0"/>
                  </a:lnTo>
                  <a:close/>
                </a:path>
              </a:pathLst>
            </a:custGeom>
            <a:solidFill>
              <a:srgbClr val="FFFFFF"/>
            </a:solidFill>
            <a:ln w="15240">
              <a:solidFill>
                <a:srgbClr val="1F2937"/>
              </a:solidFill>
            </a:ln>
          </p:spPr>
        </p:sp>
        <p:sp>
          <p:nvSpPr>
            <p:cNvPr id="26" name="Freeform 26"/>
            <p:cNvSpPr/>
            <p:nvPr/>
          </p:nvSpPr>
          <p:spPr>
            <a:xfrm>
              <a:off x="7600950" y="3283268"/>
              <a:ext cx="9525" cy="425767"/>
            </a:xfrm>
            <a:custGeom>
              <a:avLst/>
              <a:gdLst/>
              <a:ahLst/>
              <a:cxnLst/>
              <a:rect l="l" t="t" r="r" b="b"/>
              <a:pathLst>
                <a:path w="9525" h="425767">
                  <a:moveTo>
                    <a:pt x="0" y="425767"/>
                  </a:moveTo>
                  <a:lnTo>
                    <a:pt x="0" y="0"/>
                  </a:lnTo>
                </a:path>
              </a:pathLst>
            </a:custGeom>
            <a:noFill/>
            <a:ln w="15240">
              <a:solidFill>
                <a:srgbClr val="1F2937"/>
              </a:solidFill>
            </a:ln>
          </p:spPr>
        </p:sp>
        <p:sp>
          <p:nvSpPr>
            <p:cNvPr id="27" name="Freeform 27"/>
            <p:cNvSpPr/>
            <p:nvPr/>
          </p:nvSpPr>
          <p:spPr>
            <a:xfrm>
              <a:off x="7527608" y="3157538"/>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28" name="Freeform 28"/>
            <p:cNvSpPr/>
            <p:nvPr/>
          </p:nvSpPr>
          <p:spPr>
            <a:xfrm>
              <a:off x="10306050" y="3364230"/>
              <a:ext cx="9525" cy="182880"/>
            </a:xfrm>
            <a:custGeom>
              <a:avLst/>
              <a:gdLst/>
              <a:ahLst/>
              <a:cxnLst/>
              <a:rect l="l" t="t" r="r" b="b"/>
              <a:pathLst>
                <a:path w="9525" h="182880">
                  <a:moveTo>
                    <a:pt x="0" y="182880"/>
                  </a:moveTo>
                  <a:lnTo>
                    <a:pt x="0" y="0"/>
                  </a:lnTo>
                </a:path>
              </a:pathLst>
            </a:custGeom>
            <a:noFill/>
            <a:ln w="15240">
              <a:solidFill>
                <a:srgbClr val="1F2937"/>
              </a:solidFill>
            </a:ln>
          </p:spPr>
        </p:sp>
        <p:sp>
          <p:nvSpPr>
            <p:cNvPr id="29" name="Freeform 29"/>
            <p:cNvSpPr/>
            <p:nvPr/>
          </p:nvSpPr>
          <p:spPr>
            <a:xfrm>
              <a:off x="10232708" y="3238500"/>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30" name="Freeform 30"/>
            <p:cNvSpPr/>
            <p:nvPr/>
          </p:nvSpPr>
          <p:spPr>
            <a:xfrm>
              <a:off x="8172450" y="4003358"/>
              <a:ext cx="1325880" cy="9525"/>
            </a:xfrm>
            <a:custGeom>
              <a:avLst/>
              <a:gdLst/>
              <a:ahLst/>
              <a:cxnLst/>
              <a:rect l="l" t="t" r="r" b="b"/>
              <a:pathLst>
                <a:path w="1325880" h="9525">
                  <a:moveTo>
                    <a:pt x="1325880" y="0"/>
                  </a:moveTo>
                  <a:lnTo>
                    <a:pt x="0" y="0"/>
                  </a:lnTo>
                </a:path>
              </a:pathLst>
            </a:custGeom>
            <a:noFill/>
            <a:ln w="15240">
              <a:solidFill>
                <a:srgbClr val="1F2937"/>
              </a:solidFill>
              <a:custDash>
                <a:ds d="375000" sp="250000"/>
              </a:custDash>
            </a:ln>
          </p:spPr>
        </p:sp>
        <p:sp>
          <p:nvSpPr>
            <p:cNvPr id="31" name="Freeform 31"/>
            <p:cNvSpPr/>
            <p:nvPr/>
          </p:nvSpPr>
          <p:spPr>
            <a:xfrm>
              <a:off x="8172450" y="3945255"/>
              <a:ext cx="104775" cy="115253"/>
            </a:xfrm>
            <a:custGeom>
              <a:avLst/>
              <a:gdLst/>
              <a:ahLst/>
              <a:cxnLst/>
              <a:rect l="l" t="t" r="r" b="b"/>
              <a:pathLst>
                <a:path w="104775" h="115253">
                  <a:moveTo>
                    <a:pt x="104775" y="0"/>
                  </a:moveTo>
                  <a:lnTo>
                    <a:pt x="0" y="58103"/>
                  </a:lnTo>
                  <a:lnTo>
                    <a:pt x="104775" y="115253"/>
                  </a:lnTo>
                </a:path>
              </a:pathLst>
            </a:custGeom>
            <a:noFill/>
            <a:ln w="15240">
              <a:solidFill>
                <a:srgbClr val="1F2937"/>
              </a:solidFill>
            </a:ln>
          </p:spPr>
        </p:sp>
        <p:sp>
          <p:nvSpPr>
            <p:cNvPr id="32" name="Rectangle 32"/>
            <p:cNvSpPr/>
            <p:nvPr/>
          </p:nvSpPr>
          <p:spPr>
            <a:xfrm>
              <a:off x="7029450" y="2083118"/>
              <a:ext cx="1143000" cy="1075372"/>
            </a:xfrm>
            <a:prstGeom prst="rect">
              <a:avLst/>
            </a:prstGeom>
            <a:solidFill>
              <a:srgbClr val="FFFFFF"/>
            </a:solidFill>
            <a:ln w="14288">
              <a:solidFill>
                <a:srgbClr val="334E68"/>
              </a:solidFill>
            </a:ln>
          </p:spPr>
        </p:sp>
        <p:sp>
          <p:nvSpPr>
            <p:cNvPr id="33" name="Rectangle 33"/>
            <p:cNvSpPr/>
            <p:nvPr/>
          </p:nvSpPr>
          <p:spPr>
            <a:xfrm>
              <a:off x="7037070" y="2089785"/>
              <a:ext cx="1128712" cy="227648"/>
            </a:xfrm>
            <a:prstGeom prst="rect">
              <a:avLst/>
            </a:prstGeom>
            <a:solidFill>
              <a:srgbClr val="E7EDF3"/>
            </a:solidFill>
            <a:ln>
              <a:noFill/>
            </a:ln>
          </p:spPr>
        </p:sp>
        <p:sp>
          <p:nvSpPr>
            <p:cNvPr id="34" name="Rectangle 34"/>
            <p:cNvSpPr/>
            <p:nvPr/>
          </p:nvSpPr>
          <p:spPr>
            <a:xfrm>
              <a:off x="7029450" y="2312670"/>
              <a:ext cx="1143000" cy="9525"/>
            </a:xfrm>
            <a:prstGeom prst="rect">
              <a:avLst/>
            </a:prstGeom>
            <a:solidFill>
              <a:srgbClr val="334E68"/>
            </a:solidFill>
            <a:ln>
              <a:noFill/>
            </a:ln>
          </p:spPr>
        </p:sp>
        <p:sp>
          <p:nvSpPr>
            <p:cNvPr id="35" name="Rectangle 35"/>
            <p:cNvSpPr/>
            <p:nvPr/>
          </p:nvSpPr>
          <p:spPr>
            <a:xfrm>
              <a:off x="7029450" y="2407920"/>
              <a:ext cx="1143000" cy="9525"/>
            </a:xfrm>
            <a:prstGeom prst="rect">
              <a:avLst/>
            </a:prstGeom>
            <a:solidFill>
              <a:srgbClr val="334E68"/>
            </a:solidFill>
            <a:ln>
              <a:noFill/>
            </a:ln>
          </p:spPr>
        </p:sp>
        <p:sp>
          <p:nvSpPr>
            <p:cNvPr id="36" name="Rectangle 36"/>
            <p:cNvSpPr/>
            <p:nvPr/>
          </p:nvSpPr>
          <p:spPr>
            <a:xfrm>
              <a:off x="9498330" y="2001202"/>
              <a:ext cx="1615440" cy="1237298"/>
            </a:xfrm>
            <a:prstGeom prst="rect">
              <a:avLst/>
            </a:prstGeom>
            <a:solidFill>
              <a:srgbClr val="FFFFFF"/>
            </a:solidFill>
            <a:ln w="14288">
              <a:solidFill>
                <a:srgbClr val="334E68"/>
              </a:solidFill>
            </a:ln>
          </p:spPr>
        </p:sp>
        <p:sp>
          <p:nvSpPr>
            <p:cNvPr id="37" name="Rectangle 37"/>
            <p:cNvSpPr/>
            <p:nvPr/>
          </p:nvSpPr>
          <p:spPr>
            <a:xfrm>
              <a:off x="9505950" y="2008822"/>
              <a:ext cx="1601152" cy="227648"/>
            </a:xfrm>
            <a:prstGeom prst="rect">
              <a:avLst/>
            </a:prstGeom>
            <a:solidFill>
              <a:srgbClr val="E7EDF3"/>
            </a:solidFill>
            <a:ln>
              <a:noFill/>
            </a:ln>
          </p:spPr>
        </p:sp>
        <p:sp>
          <p:nvSpPr>
            <p:cNvPr id="38" name="Rectangle 38"/>
            <p:cNvSpPr/>
            <p:nvPr/>
          </p:nvSpPr>
          <p:spPr>
            <a:xfrm>
              <a:off x="9498330" y="2231708"/>
              <a:ext cx="1615440" cy="9525"/>
            </a:xfrm>
            <a:prstGeom prst="rect">
              <a:avLst/>
            </a:prstGeom>
            <a:solidFill>
              <a:srgbClr val="334E68"/>
            </a:solidFill>
            <a:ln>
              <a:noFill/>
            </a:ln>
          </p:spPr>
        </p:sp>
        <p:sp>
          <p:nvSpPr>
            <p:cNvPr id="39" name="Rectangle 39"/>
            <p:cNvSpPr/>
            <p:nvPr/>
          </p:nvSpPr>
          <p:spPr>
            <a:xfrm>
              <a:off x="9498330" y="2326958"/>
              <a:ext cx="1615440" cy="9525"/>
            </a:xfrm>
            <a:prstGeom prst="rect">
              <a:avLst/>
            </a:prstGeom>
            <a:solidFill>
              <a:srgbClr val="334E68"/>
            </a:solidFill>
            <a:ln>
              <a:noFill/>
            </a:ln>
          </p:spPr>
        </p:sp>
        <p:sp>
          <p:nvSpPr>
            <p:cNvPr id="40" name="Rectangle 40"/>
            <p:cNvSpPr/>
            <p:nvPr/>
          </p:nvSpPr>
          <p:spPr>
            <a:xfrm>
              <a:off x="7029450" y="3709035"/>
              <a:ext cx="1143000" cy="587692"/>
            </a:xfrm>
            <a:prstGeom prst="rect">
              <a:avLst/>
            </a:prstGeom>
            <a:solidFill>
              <a:srgbClr val="FFFFFF"/>
            </a:solidFill>
            <a:ln w="14288">
              <a:solidFill>
                <a:srgbClr val="334E68"/>
              </a:solidFill>
            </a:ln>
          </p:spPr>
        </p:sp>
        <p:sp>
          <p:nvSpPr>
            <p:cNvPr id="41" name="Rectangle 41"/>
            <p:cNvSpPr/>
            <p:nvPr/>
          </p:nvSpPr>
          <p:spPr>
            <a:xfrm>
              <a:off x="7037070" y="3716655"/>
              <a:ext cx="1128712" cy="227648"/>
            </a:xfrm>
            <a:prstGeom prst="rect">
              <a:avLst/>
            </a:prstGeom>
            <a:solidFill>
              <a:srgbClr val="E7EDF3"/>
            </a:solidFill>
            <a:ln>
              <a:noFill/>
            </a:ln>
          </p:spPr>
        </p:sp>
        <p:sp>
          <p:nvSpPr>
            <p:cNvPr id="42" name="Rectangle 42"/>
            <p:cNvSpPr/>
            <p:nvPr/>
          </p:nvSpPr>
          <p:spPr>
            <a:xfrm>
              <a:off x="7029450" y="3939540"/>
              <a:ext cx="1143000" cy="9525"/>
            </a:xfrm>
            <a:prstGeom prst="rect">
              <a:avLst/>
            </a:prstGeom>
            <a:solidFill>
              <a:srgbClr val="334E68"/>
            </a:solidFill>
            <a:ln>
              <a:noFill/>
            </a:ln>
          </p:spPr>
        </p:sp>
        <p:sp>
          <p:nvSpPr>
            <p:cNvPr id="43" name="Rectangle 43"/>
            <p:cNvSpPr/>
            <p:nvPr/>
          </p:nvSpPr>
          <p:spPr>
            <a:xfrm>
              <a:off x="7029450" y="4034790"/>
              <a:ext cx="1143000" cy="9525"/>
            </a:xfrm>
            <a:prstGeom prst="rect">
              <a:avLst/>
            </a:prstGeom>
            <a:solidFill>
              <a:srgbClr val="334E68"/>
            </a:solidFill>
            <a:ln>
              <a:noFill/>
            </a:ln>
          </p:spPr>
        </p:sp>
        <p:sp>
          <p:nvSpPr>
            <p:cNvPr id="44" name="Rectangle 44"/>
            <p:cNvSpPr/>
            <p:nvPr/>
          </p:nvSpPr>
          <p:spPr>
            <a:xfrm>
              <a:off x="9498330" y="3547110"/>
              <a:ext cx="1615440" cy="912495"/>
            </a:xfrm>
            <a:prstGeom prst="rect">
              <a:avLst/>
            </a:prstGeom>
            <a:solidFill>
              <a:srgbClr val="FFFFFF"/>
            </a:solidFill>
            <a:ln w="14288">
              <a:solidFill>
                <a:srgbClr val="334E68"/>
              </a:solidFill>
            </a:ln>
          </p:spPr>
        </p:sp>
        <p:sp>
          <p:nvSpPr>
            <p:cNvPr id="45" name="Rectangle 45"/>
            <p:cNvSpPr/>
            <p:nvPr/>
          </p:nvSpPr>
          <p:spPr>
            <a:xfrm>
              <a:off x="9505950" y="3553778"/>
              <a:ext cx="1601152" cy="227648"/>
            </a:xfrm>
            <a:prstGeom prst="rect">
              <a:avLst/>
            </a:prstGeom>
            <a:solidFill>
              <a:srgbClr val="334E68"/>
            </a:solidFill>
            <a:ln>
              <a:noFill/>
            </a:ln>
          </p:spPr>
        </p:sp>
        <p:sp>
          <p:nvSpPr>
            <p:cNvPr id="46" name="Rectangle 46"/>
            <p:cNvSpPr/>
            <p:nvPr/>
          </p:nvSpPr>
          <p:spPr>
            <a:xfrm>
              <a:off x="9498330" y="3777615"/>
              <a:ext cx="1615440" cy="9525"/>
            </a:xfrm>
            <a:prstGeom prst="rect">
              <a:avLst/>
            </a:prstGeom>
            <a:solidFill>
              <a:srgbClr val="334E68"/>
            </a:solidFill>
            <a:ln>
              <a:noFill/>
            </a:ln>
          </p:spPr>
        </p:sp>
        <p:sp>
          <p:nvSpPr>
            <p:cNvPr id="47" name="Rectangle 47"/>
            <p:cNvSpPr/>
            <p:nvPr/>
          </p:nvSpPr>
          <p:spPr>
            <a:xfrm>
              <a:off x="9498330" y="3872865"/>
              <a:ext cx="1615440" cy="9525"/>
            </a:xfrm>
            <a:prstGeom prst="rect">
              <a:avLst/>
            </a:prstGeom>
            <a:solidFill>
              <a:srgbClr val="334E68"/>
            </a:solidFill>
            <a:ln>
              <a:noFill/>
            </a:ln>
          </p:spPr>
        </p:sp>
        <p:sp>
          <p:nvSpPr>
            <p:cNvPr id="48" name="TextBox 48"/>
            <p:cNvSpPr txBox="1"/>
            <p:nvPr/>
          </p:nvSpPr>
          <p:spPr>
            <a:xfrm>
              <a:off x="7275138" y="2138839"/>
              <a:ext cx="651625" cy="190690"/>
            </a:xfrm>
            <a:prstGeom prst="rect">
              <a:avLst/>
            </a:prstGeom>
            <a:noFill/>
            <a:ln>
              <a:noFill/>
            </a:ln>
          </p:spPr>
          <p:txBody>
            <a:bodyPr wrap="none" lIns="0" tIns="0" rIns="0" bIns="0" anchor="t" anchorCtr="0">
              <a:spAutoFit/>
            </a:bodyPr>
            <a:lstStyle/>
            <a:p>
              <a:pPr algn="ctr"/>
              <a:r>
                <a:rPr lang="en-US" sz="980" b="1" i="1" dirty="0">
                  <a:solidFill>
                    <a:srgbClr val="243B53"/>
                  </a:solidFill>
                  <a:latin typeface="+mn-lt"/>
                  <a:ea typeface="+mn-ea"/>
                  <a:cs typeface="+mn-cs"/>
                </a:rPr>
                <a:t>Document</a:t>
              </a:r>
            </a:p>
          </p:txBody>
        </p:sp>
        <p:sp>
          <p:nvSpPr>
            <p:cNvPr id="49" name="TextBox 49"/>
            <p:cNvSpPr txBox="1"/>
            <p:nvPr/>
          </p:nvSpPr>
          <p:spPr>
            <a:xfrm>
              <a:off x="7100888" y="2478405"/>
              <a:ext cx="609600" cy="661988"/>
            </a:xfrm>
            <a:prstGeom prst="rect">
              <a:avLst/>
            </a:prstGeom>
            <a:noFill/>
            <a:ln>
              <a:noFill/>
            </a:ln>
          </p:spPr>
          <p:txBody>
            <a:bodyPr wrap="none" lIns="0" tIns="0" rIns="0" bIns="0" anchor="t" anchorCtr="0">
              <a:spAutoFit/>
            </a:bodyPr>
            <a:lstStyle/>
            <a:p>
              <a:pPr algn="l">
                <a:lnSpc>
                  <a:spcPts val="1275"/>
                </a:lnSpc>
              </a:pPr>
              <a:r>
                <a:rPr lang="en-US" sz="900" dirty="0">
                  <a:solidFill>
                    <a:srgbClr val="1F2937"/>
                  </a:solidFill>
                  <a:latin typeface="+mn-lt"/>
                  <a:ea typeface="+mn-ea"/>
                  <a:cs typeface="+mn-cs"/>
                </a:rPr>
                <a:t>+ Save()</a:t>
              </a:r>
              <a:br/>
              <a:r>
                <a:rPr lang="en-US" sz="900" dirty="0">
                  <a:solidFill>
                    <a:srgbClr val="1F2937"/>
                  </a:solidFill>
                  <a:latin typeface="+mn-lt"/>
                  <a:ea typeface="+mn-ea"/>
                  <a:cs typeface="+mn-cs"/>
                </a:rPr>
                <a:t>+ Open()</a:t>
              </a:r>
              <a:br/>
              <a:r>
                <a:rPr lang="en-US" sz="900" dirty="0">
                  <a:solidFill>
                    <a:srgbClr val="1F2937"/>
                  </a:solidFill>
                  <a:latin typeface="+mn-lt"/>
                  <a:ea typeface="+mn-ea"/>
                  <a:cs typeface="+mn-cs"/>
                </a:rPr>
                <a:t>+ Close()</a:t>
              </a:r>
              <a:br/>
              <a:r>
                <a:rPr lang="en-US" sz="900" dirty="0">
                  <a:solidFill>
                    <a:srgbClr val="1F2937"/>
                  </a:solidFill>
                  <a:latin typeface="+mn-lt"/>
                  <a:ea typeface="+mn-ea"/>
                  <a:cs typeface="+mn-cs"/>
                </a:rPr>
                <a:t># DoRead()</a:t>
              </a:r>
            </a:p>
          </p:txBody>
        </p:sp>
        <p:sp>
          <p:nvSpPr>
            <p:cNvPr id="50" name="TextBox 50"/>
            <p:cNvSpPr txBox="1"/>
            <p:nvPr/>
          </p:nvSpPr>
          <p:spPr>
            <a:xfrm>
              <a:off x="9932119" y="2056924"/>
              <a:ext cx="747861" cy="190690"/>
            </a:xfrm>
            <a:prstGeom prst="rect">
              <a:avLst/>
            </a:prstGeom>
            <a:noFill/>
            <a:ln>
              <a:noFill/>
            </a:ln>
          </p:spPr>
          <p:txBody>
            <a:bodyPr wrap="none" lIns="0" tIns="0" rIns="0" bIns="0" anchor="t" anchorCtr="0">
              <a:spAutoFit/>
            </a:bodyPr>
            <a:lstStyle/>
            <a:p>
              <a:pPr algn="ctr"/>
              <a:r>
                <a:rPr lang="en-US" sz="980" b="1" i="1" dirty="0">
                  <a:solidFill>
                    <a:srgbClr val="243B53"/>
                  </a:solidFill>
                  <a:latin typeface="+mn-lt"/>
                  <a:ea typeface="+mn-ea"/>
                  <a:cs typeface="+mn-cs"/>
                </a:rPr>
                <a:t>Application</a:t>
              </a:r>
            </a:p>
          </p:txBody>
        </p:sp>
        <p:sp>
          <p:nvSpPr>
            <p:cNvPr id="51" name="TextBox 51"/>
            <p:cNvSpPr txBox="1"/>
            <p:nvPr/>
          </p:nvSpPr>
          <p:spPr>
            <a:xfrm>
              <a:off x="9569768" y="2396490"/>
              <a:ext cx="1472565" cy="823912"/>
            </a:xfrm>
            <a:prstGeom prst="rect">
              <a:avLst/>
            </a:prstGeom>
            <a:noFill/>
            <a:ln>
              <a:noFill/>
            </a:ln>
          </p:spPr>
          <p:txBody>
            <a:bodyPr wrap="none" lIns="0" tIns="0" rIns="0" bIns="0" anchor="t" anchorCtr="0">
              <a:spAutoFit/>
            </a:bodyPr>
            <a:lstStyle/>
            <a:p>
              <a:pPr algn="l">
                <a:lnSpc>
                  <a:spcPts val="1275"/>
                </a:lnSpc>
              </a:pPr>
              <a:r>
                <a:rPr lang="en-US" sz="900" dirty="0">
                  <a:solidFill>
                    <a:srgbClr val="1F2937"/>
                  </a:solidFill>
                  <a:latin typeface="+mn-lt"/>
                  <a:ea typeface="+mn-ea"/>
                  <a:cs typeface="+mn-cs"/>
                </a:rPr>
                <a:t>+ AddDocument()</a:t>
              </a:r>
              <a:br/>
              <a:r>
                <a:rPr lang="en-US" sz="900" dirty="0">
                  <a:solidFill>
                    <a:srgbClr val="1F2937"/>
                  </a:solidFill>
                  <a:latin typeface="+mn-lt"/>
                  <a:ea typeface="+mn-ea"/>
                  <a:cs typeface="+mn-cs"/>
                </a:rPr>
                <a:t>+ OpenDocument()</a:t>
              </a:r>
              <a:br/>
              <a:r>
                <a:rPr lang="en-US" sz="900" dirty="0">
                  <a:solidFill>
                    <a:srgbClr val="1F2937"/>
                  </a:solidFill>
                  <a:latin typeface="+mn-lt"/>
                  <a:ea typeface="+mn-ea"/>
                  <a:cs typeface="+mn-cs"/>
                </a:rPr>
                <a:t># DoCreateDocument()</a:t>
              </a:r>
              <a:br/>
              <a:r>
                <a:rPr lang="en-US" sz="900" dirty="0">
                  <a:solidFill>
                    <a:srgbClr val="1F2937"/>
                  </a:solidFill>
                  <a:latin typeface="+mn-lt"/>
                  <a:ea typeface="+mn-ea"/>
                  <a:cs typeface="+mn-cs"/>
                </a:rPr>
                <a:t># CanOpenDocument()</a:t>
              </a:r>
              <a:br/>
              <a:r>
                <a:rPr lang="en-US" sz="900" dirty="0">
                  <a:solidFill>
                    <a:srgbClr val="1F2937"/>
                  </a:solidFill>
                  <a:latin typeface="+mn-lt"/>
                  <a:ea typeface="+mn-ea"/>
                  <a:cs typeface="+mn-cs"/>
                </a:rPr>
                <a:t># AboutToOpenDocument()</a:t>
              </a:r>
            </a:p>
          </p:txBody>
        </p:sp>
        <p:sp>
          <p:nvSpPr>
            <p:cNvPr id="52" name="TextBox 52"/>
            <p:cNvSpPr txBox="1"/>
            <p:nvPr/>
          </p:nvSpPr>
          <p:spPr>
            <a:xfrm>
              <a:off x="7182725" y="3764756"/>
              <a:ext cx="836450" cy="190690"/>
            </a:xfrm>
            <a:prstGeom prst="rect">
              <a:avLst/>
            </a:prstGeom>
            <a:noFill/>
            <a:ln>
              <a:noFill/>
            </a:ln>
          </p:spPr>
          <p:txBody>
            <a:bodyPr wrap="none" lIns="0" tIns="0" rIns="0" bIns="0" anchor="t" anchorCtr="0">
              <a:spAutoFit/>
            </a:bodyPr>
            <a:lstStyle/>
            <a:p>
              <a:pPr algn="ctr"/>
              <a:r>
                <a:rPr lang="en-US" sz="980" b="1" dirty="0">
                  <a:solidFill>
                    <a:srgbClr val="243B53"/>
                  </a:solidFill>
                  <a:latin typeface="+mn-lt"/>
                  <a:ea typeface="+mn-ea"/>
                  <a:cs typeface="+mn-cs"/>
                </a:rPr>
                <a:t>MyDocument</a:t>
              </a:r>
            </a:p>
          </p:txBody>
        </p:sp>
        <p:sp>
          <p:nvSpPr>
            <p:cNvPr id="53" name="TextBox 53"/>
            <p:cNvSpPr txBox="1"/>
            <p:nvPr/>
          </p:nvSpPr>
          <p:spPr>
            <a:xfrm>
              <a:off x="7100888" y="4104323"/>
              <a:ext cx="657606" cy="176212"/>
            </a:xfrm>
            <a:prstGeom prst="rect">
              <a:avLst/>
            </a:prstGeom>
            <a:noFill/>
            <a:ln>
              <a:noFill/>
            </a:ln>
          </p:spPr>
          <p:txBody>
            <a:bodyPr wrap="none" lIns="0" tIns="0" rIns="0" bIns="0" anchor="t" anchorCtr="0">
              <a:spAutoFit/>
            </a:bodyPr>
            <a:lstStyle/>
            <a:p>
              <a:pPr algn="l"/>
              <a:r>
                <a:rPr lang="en-US" sz="900" dirty="0">
                  <a:solidFill>
                    <a:srgbClr val="1F2937"/>
                  </a:solidFill>
                  <a:latin typeface="+mn-lt"/>
                  <a:ea typeface="+mn-ea"/>
                  <a:cs typeface="+mn-cs"/>
                </a:rPr>
                <a:t># DoRead()</a:t>
              </a:r>
            </a:p>
          </p:txBody>
        </p:sp>
        <p:sp>
          <p:nvSpPr>
            <p:cNvPr id="54" name="TextBox 54"/>
            <p:cNvSpPr txBox="1"/>
            <p:nvPr/>
          </p:nvSpPr>
          <p:spPr>
            <a:xfrm>
              <a:off x="9839987" y="3602831"/>
              <a:ext cx="932126"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MyApplication</a:t>
              </a:r>
            </a:p>
          </p:txBody>
        </p:sp>
        <p:sp>
          <p:nvSpPr>
            <p:cNvPr id="55" name="TextBox 55"/>
            <p:cNvSpPr txBox="1"/>
            <p:nvPr/>
          </p:nvSpPr>
          <p:spPr>
            <a:xfrm>
              <a:off x="9569768" y="3942398"/>
              <a:ext cx="1472565" cy="500062"/>
            </a:xfrm>
            <a:prstGeom prst="rect">
              <a:avLst/>
            </a:prstGeom>
            <a:noFill/>
            <a:ln>
              <a:noFill/>
            </a:ln>
          </p:spPr>
          <p:txBody>
            <a:bodyPr wrap="none" lIns="0" tIns="0" rIns="0" bIns="0" anchor="t" anchorCtr="0">
              <a:spAutoFit/>
            </a:bodyPr>
            <a:lstStyle/>
            <a:p>
              <a:pPr algn="l">
                <a:lnSpc>
                  <a:spcPts val="1275"/>
                </a:lnSpc>
              </a:pPr>
              <a:r>
                <a:rPr lang="en-US" sz="900" dirty="0">
                  <a:solidFill>
                    <a:srgbClr val="1F2937"/>
                  </a:solidFill>
                  <a:latin typeface="+mn-lt"/>
                  <a:ea typeface="+mn-ea"/>
                  <a:cs typeface="+mn-cs"/>
                </a:rPr>
                <a:t># DoCreateDocument()</a:t>
              </a:r>
              <a:br/>
              <a:r>
                <a:rPr lang="en-US" sz="900" dirty="0">
                  <a:solidFill>
                    <a:srgbClr val="1F2937"/>
                  </a:solidFill>
                  <a:latin typeface="+mn-lt"/>
                  <a:ea typeface="+mn-ea"/>
                  <a:cs typeface="+mn-cs"/>
                </a:rPr>
                <a:t># CanOpenDocument()</a:t>
              </a:r>
              <a:br/>
              <a:r>
                <a:rPr lang="en-US" sz="900" dirty="0">
                  <a:solidFill>
                    <a:srgbClr val="1F2937"/>
                  </a:solidFill>
                  <a:latin typeface="+mn-lt"/>
                  <a:ea typeface="+mn-ea"/>
                  <a:cs typeface="+mn-cs"/>
                </a:rPr>
                <a:t># AboutToOpenDocument()</a:t>
              </a:r>
            </a:p>
          </p:txBody>
        </p:sp>
        <p:sp>
          <p:nvSpPr>
            <p:cNvPr id="56" name="Rectangle 56"/>
            <p:cNvSpPr/>
            <p:nvPr/>
          </p:nvSpPr>
          <p:spPr>
            <a:xfrm>
              <a:off x="8662035" y="2424112"/>
              <a:ext cx="346710" cy="165735"/>
            </a:xfrm>
            <a:prstGeom prst="roundRect">
              <a:avLst>
                <a:gd name="adj" fmla="val 22989"/>
              </a:avLst>
            </a:prstGeom>
            <a:solidFill>
              <a:srgbClr val="FFFFFF"/>
            </a:solidFill>
            <a:ln>
              <a:noFill/>
            </a:ln>
          </p:spPr>
        </p:sp>
        <p:sp>
          <p:nvSpPr>
            <p:cNvPr id="57" name="TextBox 57"/>
            <p:cNvSpPr txBox="1"/>
            <p:nvPr/>
          </p:nvSpPr>
          <p:spPr>
            <a:xfrm>
              <a:off x="8697354" y="2446973"/>
              <a:ext cx="276073"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docs</a:t>
              </a:r>
            </a:p>
          </p:txBody>
        </p:sp>
        <p:sp>
          <p:nvSpPr>
            <p:cNvPr id="58" name="Rectangle 58"/>
            <p:cNvSpPr/>
            <p:nvPr/>
          </p:nvSpPr>
          <p:spPr>
            <a:xfrm>
              <a:off x="8673465" y="3807142"/>
              <a:ext cx="323850" cy="165735"/>
            </a:xfrm>
            <a:prstGeom prst="roundRect">
              <a:avLst>
                <a:gd name="adj" fmla="val 22989"/>
              </a:avLst>
            </a:prstGeom>
            <a:solidFill>
              <a:srgbClr val="FFFFFF"/>
            </a:solidFill>
            <a:ln>
              <a:noFill/>
            </a:ln>
          </p:spPr>
        </p:sp>
        <p:sp>
          <p:nvSpPr>
            <p:cNvPr id="59" name="TextBox 59"/>
            <p:cNvSpPr txBox="1"/>
            <p:nvPr/>
          </p:nvSpPr>
          <p:spPr>
            <a:xfrm>
              <a:off x="8709470" y="3830002"/>
              <a:ext cx="251841"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创建</a:t>
              </a:r>
            </a:p>
          </p:txBody>
        </p:sp>
      </p:grpSp>
      <p:grpSp>
        <p:nvGrpSpPr>
          <p:cNvPr id="66" name="c2-card-2"/>
          <p:cNvGrpSpPr/>
          <p:nvPr/>
        </p:nvGrpSpPr>
        <p:grpSpPr>
          <a:xfrm>
            <a:off x="6248400" y="4864418"/>
            <a:ext cx="5410200" cy="1443038"/>
            <a:chOff x="6248400" y="4864418"/>
            <a:chExt cx="5410200" cy="1443038"/>
          </a:xfrm>
        </p:grpSpPr>
        <p:sp>
          <p:nvSpPr>
            <p:cNvPr id="61" name="Rectangle 61"/>
            <p:cNvSpPr/>
            <p:nvPr/>
          </p:nvSpPr>
          <p:spPr>
            <a:xfrm>
              <a:off x="6248400" y="4864418"/>
              <a:ext cx="5410200" cy="1443038"/>
            </a:xfrm>
            <a:prstGeom prst="roundRect">
              <a:avLst>
                <a:gd name="adj" fmla="val 9241"/>
              </a:avLst>
            </a:prstGeom>
            <a:solidFill>
              <a:srgbClr val="FFFFFF"/>
            </a:solidFill>
            <a:ln w="14288">
              <a:solidFill>
                <a:srgbClr val="D9DFEA"/>
              </a:solidFill>
            </a:ln>
          </p:spPr>
        </p:sp>
        <p:sp>
          <p:nvSpPr>
            <p:cNvPr id="62" name="Rectangle 62"/>
            <p:cNvSpPr/>
            <p:nvPr/>
          </p:nvSpPr>
          <p:spPr>
            <a:xfrm>
              <a:off x="6257925" y="4997768"/>
              <a:ext cx="47625" cy="1176338"/>
            </a:xfrm>
            <a:prstGeom prst="roundRect">
              <a:avLst>
                <a:gd name="adj" fmla="val 50000"/>
              </a:avLst>
            </a:prstGeom>
            <a:solidFill>
              <a:srgbClr val="5B6475"/>
            </a:solidFill>
            <a:ln>
              <a:noFill/>
            </a:ln>
          </p:spPr>
        </p:sp>
        <p:sp>
          <p:nvSpPr>
            <p:cNvPr id="63" name="Rectangle 63"/>
            <p:cNvSpPr/>
            <p:nvPr/>
          </p:nvSpPr>
          <p:spPr>
            <a:xfrm>
              <a:off x="6473190" y="5051108"/>
              <a:ext cx="458152" cy="238125"/>
            </a:xfrm>
            <a:prstGeom prst="roundRect">
              <a:avLst>
                <a:gd name="adj" fmla="val 50000"/>
              </a:avLst>
            </a:prstGeom>
            <a:solidFill>
              <a:srgbClr val="F4F6FB"/>
            </a:solidFill>
            <a:ln>
              <a:noFill/>
            </a:ln>
          </p:spPr>
        </p:sp>
        <p:sp>
          <p:nvSpPr>
            <p:cNvPr id="64" name="TextBox 64"/>
            <p:cNvSpPr txBox="1"/>
            <p:nvPr/>
          </p:nvSpPr>
          <p:spPr>
            <a:xfrm>
              <a:off x="6565862" y="5083969"/>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65" name="TextBox 65"/>
            <p:cNvSpPr txBox="1"/>
            <p:nvPr/>
          </p:nvSpPr>
          <p:spPr>
            <a:xfrm>
              <a:off x="6466332" y="5395912"/>
              <a:ext cx="4663440"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原课件的通用结构图把模板方法拼作 </a:t>
              </a:r>
              <a:r>
                <a:rPr lang="en-US" sz="1350" b="1" dirty="0">
                  <a:solidFill>
                    <a:srgbClr val="B42318"/>
                  </a:solidFill>
                  <a:latin typeface="+mn-lt"/>
                  <a:ea typeface="+mn-ea"/>
                  <a:cs typeface="+mn-cs"/>
                </a:rPr>
                <a:t>TemplatMethod()</a:t>
              </a:r>
              <a:r>
                <a:rPr lang="zh-CN" sz="1350" dirty="0">
                  <a:solidFill>
                    <a:srgbClr val="1F2937"/>
                  </a:solidFill>
                  <a:latin typeface="+mn-lt"/>
                  <a:ea typeface="+mn-ea"/>
                  <a:cs typeface="+mn-cs"/>
                </a:rPr>
                <a:t>，应</a:t>
              </a:r>
              <a:br/>
              <a:r>
                <a:rPr lang="zh-CN" sz="1350" dirty="0">
                  <a:solidFill>
                    <a:srgbClr val="1F2937"/>
                  </a:solidFill>
                  <a:latin typeface="+mn-lt"/>
                  <a:ea typeface="+mn-ea"/>
                  <a:cs typeface="+mn-cs"/>
                </a:rPr>
                <a:t xml:space="preserve">为 </a:t>
              </a:r>
              <a:r>
                <a:rPr lang="en-US" sz="1350" b="1" dirty="0">
                  <a:solidFill>
                    <a:srgbClr val="0F7A68"/>
                  </a:solidFill>
                  <a:latin typeface="+mn-lt"/>
                  <a:ea typeface="+mn-ea"/>
                  <a:cs typeface="+mn-cs"/>
                </a:rPr>
                <a:t>TemplateMethod()</a:t>
              </a:r>
              <a:r>
                <a:rPr lang="zh-CN" sz="1350" dirty="0">
                  <a:solidFill>
                    <a:srgbClr val="1F2937"/>
                  </a:solidFill>
                  <a:latin typeface="+mn-lt"/>
                  <a:ea typeface="+mn-ea"/>
                  <a:cs typeface="+mn-cs"/>
                </a:rPr>
                <a:t>；MyApplication 里的</a:t>
              </a:r>
              <a:br/>
              <a:r>
                <a:rPr lang="zh-CN" sz="1350" dirty="0">
                  <a:solidFill>
                    <a:srgbClr val="1F2937"/>
                  </a:solidFill>
                  <a:latin typeface="+mn-lt"/>
                  <a:ea typeface="+mn-ea"/>
                  <a:cs typeface="+mn-cs"/>
                </a:rPr>
                <a:t>CanOpenDocument 也漏了括号。</a:t>
              </a:r>
            </a:p>
          </p:txBody>
        </p:sp>
      </p:grpSp>
      <p:grpSp>
        <p:nvGrpSpPr>
          <p:cNvPr id="69" name="footer"/>
          <p:cNvGrpSpPr/>
          <p:nvPr/>
        </p:nvGrpSpPr>
        <p:grpSpPr>
          <a:xfrm>
            <a:off x="528447" y="6581299"/>
            <a:ext cx="11135106" cy="190690"/>
            <a:chOff x="528447" y="6581299"/>
            <a:chExt cx="11135106" cy="190690"/>
          </a:xfrm>
        </p:grpSpPr>
        <p:sp>
          <p:nvSpPr>
            <p:cNvPr id="67" name="TextBox 67"/>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8" name="TextBox 6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57</a:t>
              </a:r>
            </a:p>
          </p:txBody>
        </p:sp>
      </p:grpSp>
    </p:spTree>
  </p:cSld>
  <p:clrMapOvr>
    <a:masterClrMapping/>
  </p:clrMapOvr>
  <p:transition xmlns:p14="http://schemas.microsoft.com/office/powerpoint/2010/main" p14:dur="400">
    <p:fade/>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3126105" cy="266700"/>
            </a:xfrm>
            <a:prstGeom prst="roundRect">
              <a:avLst>
                <a:gd name="adj" fmla="val 50000"/>
              </a:avLst>
            </a:prstGeom>
            <a:solidFill>
              <a:srgbClr val="E7EDF3"/>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敏捷过程、极限编程与微软过程</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隐喻：给整个系统找一个人人都懂的比方</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card-1"/>
          <p:cNvGrpSpPr/>
          <p:nvPr/>
        </p:nvGrpSpPr>
        <p:grpSpPr>
          <a:xfrm>
            <a:off x="533400" y="1524000"/>
            <a:ext cx="5626418" cy="1316355"/>
            <a:chOff x="533400" y="1524000"/>
            <a:chExt cx="5626418" cy="1316355"/>
          </a:xfrm>
        </p:grpSpPr>
        <p:sp>
          <p:nvSpPr>
            <p:cNvPr id="7" name="Rectangle 7"/>
            <p:cNvSpPr/>
            <p:nvPr/>
          </p:nvSpPr>
          <p:spPr>
            <a:xfrm>
              <a:off x="533400" y="1524000"/>
              <a:ext cx="5626418" cy="1316355"/>
            </a:xfrm>
            <a:prstGeom prst="roundRect">
              <a:avLst>
                <a:gd name="adj" fmla="val 10130"/>
              </a:avLst>
            </a:prstGeom>
            <a:solidFill>
              <a:srgbClr val="FFFFFF"/>
            </a:solidFill>
            <a:ln w="14288">
              <a:solidFill>
                <a:srgbClr val="D9DFEA"/>
              </a:solidFill>
            </a:ln>
          </p:spPr>
        </p:sp>
        <p:sp>
          <p:nvSpPr>
            <p:cNvPr id="8" name="Rectangle 8"/>
            <p:cNvSpPr/>
            <p:nvPr/>
          </p:nvSpPr>
          <p:spPr>
            <a:xfrm>
              <a:off x="542925" y="1657350"/>
              <a:ext cx="47625" cy="1049655"/>
            </a:xfrm>
            <a:prstGeom prst="roundRect">
              <a:avLst>
                <a:gd name="adj" fmla="val 50000"/>
              </a:avLst>
            </a:prstGeom>
            <a:solidFill>
              <a:srgbClr val="334E68"/>
            </a:solidFill>
            <a:ln>
              <a:noFill/>
            </a:ln>
          </p:spPr>
        </p:sp>
        <p:sp>
          <p:nvSpPr>
            <p:cNvPr id="9" name="Rectangle 9"/>
            <p:cNvSpPr/>
            <p:nvPr/>
          </p:nvSpPr>
          <p:spPr>
            <a:xfrm>
              <a:off x="781050" y="1733550"/>
              <a:ext cx="1465898" cy="257175"/>
            </a:xfrm>
            <a:prstGeom prst="roundRect">
              <a:avLst>
                <a:gd name="adj" fmla="val 50000"/>
              </a:avLst>
            </a:prstGeom>
            <a:solidFill>
              <a:srgbClr val="E7EDF3"/>
            </a:solidFill>
            <a:ln>
              <a:noFill/>
            </a:ln>
          </p:spPr>
        </p:sp>
        <p:sp>
          <p:nvSpPr>
            <p:cNvPr id="10" name="TextBox 10"/>
            <p:cNvSpPr txBox="1"/>
            <p:nvPr/>
          </p:nvSpPr>
          <p:spPr>
            <a:xfrm>
              <a:off x="839562" y="1769269"/>
              <a:ext cx="13479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隐喻（Metaphor）</a:t>
              </a:r>
            </a:p>
          </p:txBody>
        </p:sp>
        <p:sp>
          <p:nvSpPr>
            <p:cNvPr id="11" name="TextBox 11"/>
            <p:cNvSpPr txBox="1"/>
            <p:nvPr/>
          </p:nvSpPr>
          <p:spPr>
            <a:xfrm>
              <a:off x="773430" y="2110740"/>
              <a:ext cx="4968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隐喻是把整个系统联系在一起的全局视图，它描述系统如何</a:t>
              </a:r>
              <a:br/>
              <a:r>
                <a:rPr lang="zh-CN" sz="1500" dirty="0">
                  <a:solidFill>
                    <a:srgbClr val="1F2937"/>
                  </a:solidFill>
                  <a:latin typeface="+mn-lt"/>
                  <a:ea typeface="+mn-ea"/>
                  <a:cs typeface="+mn-cs"/>
                </a:rPr>
                <a:t>运作，以及如何把新功能加入到系统中。</a:t>
              </a:r>
            </a:p>
          </p:txBody>
        </p:sp>
      </p:grpSp>
      <p:grpSp>
        <p:nvGrpSpPr>
          <p:cNvPr id="19" name="c1-card-2"/>
          <p:cNvGrpSpPr/>
          <p:nvPr/>
        </p:nvGrpSpPr>
        <p:grpSpPr>
          <a:xfrm>
            <a:off x="533400" y="3030855"/>
            <a:ext cx="5626418" cy="2653665"/>
            <a:chOff x="533400" y="3030855"/>
            <a:chExt cx="5626418" cy="2653665"/>
          </a:xfrm>
        </p:grpSpPr>
        <p:sp>
          <p:nvSpPr>
            <p:cNvPr id="13" name="Rectangle 13"/>
            <p:cNvSpPr/>
            <p:nvPr/>
          </p:nvSpPr>
          <p:spPr>
            <a:xfrm>
              <a:off x="533400" y="3030855"/>
              <a:ext cx="5626418" cy="2653665"/>
            </a:xfrm>
            <a:prstGeom prst="roundRect">
              <a:avLst>
                <a:gd name="adj" fmla="val 5025"/>
              </a:avLst>
            </a:prstGeom>
            <a:solidFill>
              <a:srgbClr val="FFFFFF"/>
            </a:solidFill>
            <a:ln w="14288">
              <a:solidFill>
                <a:srgbClr val="D9DFEA"/>
              </a:solidFill>
            </a:ln>
          </p:spPr>
        </p:sp>
        <p:sp>
          <p:nvSpPr>
            <p:cNvPr id="14" name="Rectangle 14"/>
            <p:cNvSpPr/>
            <p:nvPr/>
          </p:nvSpPr>
          <p:spPr>
            <a:xfrm>
              <a:off x="542925" y="3164205"/>
              <a:ext cx="47625" cy="2386965"/>
            </a:xfrm>
            <a:prstGeom prst="roundRect">
              <a:avLst>
                <a:gd name="adj" fmla="val 50000"/>
              </a:avLst>
            </a:prstGeom>
            <a:solidFill>
              <a:srgbClr val="14A38B"/>
            </a:solidFill>
            <a:ln>
              <a:noFill/>
            </a:ln>
          </p:spPr>
        </p:sp>
        <p:sp>
          <p:nvSpPr>
            <p:cNvPr id="15" name="Rectangle 15"/>
            <p:cNvSpPr/>
            <p:nvPr/>
          </p:nvSpPr>
          <p:spPr>
            <a:xfrm>
              <a:off x="781050" y="3240405"/>
              <a:ext cx="921068" cy="257175"/>
            </a:xfrm>
            <a:prstGeom prst="roundRect">
              <a:avLst>
                <a:gd name="adj" fmla="val 50000"/>
              </a:avLst>
            </a:prstGeom>
            <a:solidFill>
              <a:srgbClr val="E3F5F1"/>
            </a:solidFill>
            <a:ln>
              <a:noFill/>
            </a:ln>
          </p:spPr>
        </p:sp>
        <p:sp>
          <p:nvSpPr>
            <p:cNvPr id="16" name="TextBox 16"/>
            <p:cNvSpPr txBox="1"/>
            <p:nvPr/>
          </p:nvSpPr>
          <p:spPr>
            <a:xfrm>
              <a:off x="858457" y="3276124"/>
              <a:ext cx="765302"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课件的例子</a:t>
              </a:r>
            </a:p>
          </p:txBody>
        </p:sp>
        <p:sp>
          <p:nvSpPr>
            <p:cNvPr id="17" name="TextBox 17"/>
            <p:cNvSpPr txBox="1"/>
            <p:nvPr/>
          </p:nvSpPr>
          <p:spPr>
            <a:xfrm>
              <a:off x="773430" y="3617595"/>
              <a:ext cx="4968240" cy="11506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要开发一个以每秒 60 个字符的速度把文本输出到屏幕的系</a:t>
              </a:r>
              <a:br/>
              <a:r>
                <a:rPr lang="zh-CN" sz="1500" dirty="0">
                  <a:solidFill>
                    <a:srgbClr val="1F2937"/>
                  </a:solidFill>
                  <a:latin typeface="+mn-lt"/>
                  <a:ea typeface="+mn-ea"/>
                  <a:cs typeface="+mn-cs"/>
                </a:rPr>
                <a:t>统。字符充满整个屏幕需要一段时间，所以让产生文本的程</a:t>
              </a:r>
              <a:br/>
              <a:r>
                <a:rPr lang="zh-CN" sz="1500" dirty="0">
                  <a:solidFill>
                    <a:srgbClr val="1F2937"/>
                  </a:solidFill>
                  <a:latin typeface="+mn-lt"/>
                  <a:ea typeface="+mn-ea"/>
                  <a:cs typeface="+mn-cs"/>
                </a:rPr>
                <a:t>序先把文本放进一个缓冲区；缓冲区满了就把程序切换到字</a:t>
              </a:r>
              <a:br/>
              <a:r>
                <a:rPr lang="zh-CN" sz="1500" dirty="0">
                  <a:solidFill>
                    <a:srgbClr val="1F2937"/>
                  </a:solidFill>
                  <a:latin typeface="+mn-lt"/>
                  <a:ea typeface="+mn-ea"/>
                  <a:cs typeface="+mn-cs"/>
                </a:rPr>
                <a:t>符显示功能上，缓冲区快空了再切换回来继续产生文本。</a:t>
              </a:r>
            </a:p>
          </p:txBody>
        </p:sp>
        <p:sp>
          <p:nvSpPr>
            <p:cNvPr id="18" name="TextBox 18"/>
            <p:cNvSpPr txBox="1"/>
            <p:nvPr/>
          </p:nvSpPr>
          <p:spPr>
            <a:xfrm>
              <a:off x="774573" y="4806791"/>
              <a:ext cx="4889754" cy="717995"/>
            </a:xfrm>
            <a:prstGeom prst="rect">
              <a:avLst/>
            </a:prstGeom>
            <a:noFill/>
            <a:ln>
              <a:noFill/>
            </a:ln>
          </p:spPr>
          <p:txBody>
            <a:bodyPr wrap="none" lIns="0" tIns="0" rIns="0" bIns="0" anchor="t" anchorCtr="0">
              <a:spAutoFit/>
            </a:bodyPr>
            <a:lstStyle/>
            <a:p>
              <a:pPr algn="l">
                <a:lnSpc>
                  <a:spcPts val="1845"/>
                </a:lnSpc>
              </a:pPr>
              <a:r>
                <a:rPr lang="zh-CN" sz="1280" dirty="0">
                  <a:solidFill>
                    <a:srgbClr val="5B6475"/>
                  </a:solidFill>
                  <a:latin typeface="+mn-lt"/>
                  <a:ea typeface="+mn-ea"/>
                  <a:cs typeface="+mn-cs"/>
                </a:rPr>
                <a:t>用装卸卡车托运垃圾来比喻这个系统：</a:t>
              </a:r>
              <a:r>
                <a:rPr lang="zh-CN" sz="1280" b="1" dirty="0">
                  <a:solidFill>
                    <a:srgbClr val="C2410C"/>
                  </a:solidFill>
                  <a:latin typeface="+mn-lt"/>
                  <a:ea typeface="+mn-ea"/>
                  <a:cs typeface="+mn-cs"/>
                </a:rPr>
                <a:t>缓冲区是小卡车，屏幕是垃圾</a:t>
              </a:r>
              <a:br/>
              <a:r>
                <a:rPr lang="zh-CN" sz="1280" b="1" dirty="0">
                  <a:solidFill>
                    <a:srgbClr val="C2410C"/>
                  </a:solidFill>
                  <a:latin typeface="+mn-lt"/>
                  <a:ea typeface="+mn-ea"/>
                  <a:cs typeface="+mn-cs"/>
                </a:rPr>
                <a:t>场，程序是垃圾制造者</a:t>
              </a:r>
              <a:r>
                <a:rPr lang="zh-CN" sz="1280" dirty="0">
                  <a:solidFill>
                    <a:srgbClr val="5B6475"/>
                  </a:solidFill>
                  <a:latin typeface="+mn-lt"/>
                  <a:ea typeface="+mn-ea"/>
                  <a:cs typeface="+mn-cs"/>
                </a:rPr>
                <a:t>。所有名字相互吻合，有助于从整体上考虑系</a:t>
              </a:r>
              <a:br/>
              <a:r>
                <a:rPr lang="zh-CN" sz="1280" dirty="0">
                  <a:solidFill>
                    <a:srgbClr val="5B6475"/>
                  </a:solidFill>
                  <a:latin typeface="+mn-lt"/>
                  <a:ea typeface="+mn-ea"/>
                  <a:cs typeface="+mn-cs"/>
                </a:rPr>
                <a:t>统。</a:t>
              </a:r>
            </a:p>
          </p:txBody>
        </p:sp>
      </p:grpSp>
      <p:grpSp>
        <p:nvGrpSpPr>
          <p:cNvPr id="22" name="c2-image-1"/>
          <p:cNvGrpSpPr/>
          <p:nvPr/>
        </p:nvGrpSpPr>
        <p:grpSpPr>
          <a:xfrm>
            <a:off x="6464618" y="1524000"/>
            <a:ext cx="5193982" cy="3890487"/>
            <a:chOff x="6464618" y="1524000"/>
            <a:chExt cx="5193982" cy="3890487"/>
          </a:xfrm>
        </p:grpSpPr>
        <p:pic>
          <p:nvPicPr>
            <p:cNvPr id="20" name="Image 20"/>
            <p:cNvPicPr>
              <a:picLocks noChangeAspect="1"/>
            </p:cNvPicPr>
            <p:nvPr/>
          </p:nvPicPr>
          <p:blipFill>
            <a:blip r:embed="rId2"/>
            <a:srcRect l="0" t="4105" r="0" b="4105"/>
            <a:stretch>
              <a:fillRect/>
            </a:stretch>
          </p:blipFill>
          <p:spPr>
            <a:xfrm>
              <a:off x="6464618" y="1524000"/>
              <a:ext cx="5193982" cy="3575685"/>
            </a:xfrm>
            <a:prstGeom prst="roundRect">
              <a:avLst>
                <a:gd name="adj" fmla="val 3729"/>
              </a:avLst>
            </a:prstGeom>
          </p:spPr>
        </p:pic>
        <p:sp>
          <p:nvSpPr>
            <p:cNvPr id="21" name="TextBox 21"/>
            <p:cNvSpPr txBox="1"/>
            <p:nvPr/>
          </p:nvSpPr>
          <p:spPr>
            <a:xfrm>
              <a:off x="7020916" y="5194459"/>
              <a:ext cx="4082339" cy="220028"/>
            </a:xfrm>
            <a:prstGeom prst="rect">
              <a:avLst/>
            </a:prstGeom>
            <a:noFill/>
            <a:ln>
              <a:noFill/>
            </a:ln>
          </p:spPr>
          <p:txBody>
            <a:bodyPr wrap="none" lIns="0" tIns="0" rIns="0" bIns="0" anchor="t" anchorCtr="0">
              <a:spAutoFit/>
            </a:bodyPr>
            <a:lstStyle/>
            <a:p>
              <a:pPr algn="ctr"/>
              <a:r>
                <a:rPr lang="zh-CN" sz="1120" dirty="0">
                  <a:solidFill>
                    <a:srgbClr val="5B6475"/>
                  </a:solidFill>
                  <a:latin typeface="+mn-lt"/>
                  <a:ea typeface="+mn-ea"/>
                  <a:cs typeface="+mn-cs"/>
                </a:rPr>
                <a:t>卡车装满就送一趟，倒空再回来装，这正是缓冲区的工作方式</a:t>
              </a:r>
            </a:p>
          </p:txBody>
        </p:sp>
      </p:grpSp>
      <p:grpSp>
        <p:nvGrpSpPr>
          <p:cNvPr id="29" name="c2-callout-2"/>
          <p:cNvGrpSpPr/>
          <p:nvPr/>
        </p:nvGrpSpPr>
        <p:grpSpPr>
          <a:xfrm>
            <a:off x="6464618" y="5579745"/>
            <a:ext cx="5193982" cy="782955"/>
            <a:chOff x="6464618" y="5579745"/>
            <a:chExt cx="5193982" cy="782955"/>
          </a:xfrm>
        </p:grpSpPr>
        <p:sp>
          <p:nvSpPr>
            <p:cNvPr id="23" name="Rectangle 23"/>
            <p:cNvSpPr/>
            <p:nvPr/>
          </p:nvSpPr>
          <p:spPr>
            <a:xfrm>
              <a:off x="6464618" y="5579745"/>
              <a:ext cx="5193982" cy="782955"/>
            </a:xfrm>
            <a:prstGeom prst="roundRect">
              <a:avLst>
                <a:gd name="adj" fmla="val 14599"/>
              </a:avLst>
            </a:prstGeom>
            <a:solidFill>
              <a:srgbClr val="FDEEE7"/>
            </a:solidFill>
            <a:ln>
              <a:noFill/>
            </a:ln>
          </p:spPr>
        </p:sp>
        <p:grpSp>
          <p:nvGrpSpPr>
            <p:cNvPr id="27" name="Group 27"/>
            <p:cNvGrpSpPr/>
            <p:nvPr/>
          </p:nvGrpSpPr>
          <p:grpSpPr>
            <a:xfrm>
              <a:off x="6669405" y="5871210"/>
              <a:ext cx="200026" cy="200025"/>
              <a:chOff x="6669405" y="5871210"/>
              <a:chExt cx="200026" cy="200025"/>
            </a:xfrm>
          </p:grpSpPr>
          <p:sp>
            <p:nvSpPr>
              <p:cNvPr id="24" name="Freeform 24"/>
              <p:cNvSpPr/>
              <p:nvPr/>
            </p:nvSpPr>
            <p:spPr>
              <a:xfrm>
                <a:off x="6669405" y="587121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25" name="Freeform 25"/>
              <p:cNvSpPr/>
              <p:nvPr/>
            </p:nvSpPr>
            <p:spPr>
              <a:xfrm>
                <a:off x="6709144" y="591566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26" name="Freeform 26"/>
              <p:cNvSpPr/>
              <p:nvPr/>
            </p:nvSpPr>
            <p:spPr>
              <a:xfrm>
                <a:off x="6743859" y="602678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28" name="TextBox 28"/>
            <p:cNvSpPr txBox="1"/>
            <p:nvPr/>
          </p:nvSpPr>
          <p:spPr>
            <a:xfrm>
              <a:off x="6971348" y="5728335"/>
              <a:ext cx="4206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好的隐喻能让新成员几句话就听懂系统结构，也能</a:t>
              </a:r>
              <a:br/>
              <a:r>
                <a:rPr lang="zh-CN" sz="1500" dirty="0">
                  <a:solidFill>
                    <a:srgbClr val="C2410C"/>
                  </a:solidFill>
                  <a:latin typeface="+mn-lt"/>
                  <a:ea typeface="+mn-ea"/>
                  <a:cs typeface="+mn-cs"/>
                </a:rPr>
                <a:t>统一大家给模块起名字的方式。</a:t>
              </a:r>
            </a:p>
          </p:txBody>
        </p:sp>
      </p:grpSp>
      <p:grpSp>
        <p:nvGrpSpPr>
          <p:cNvPr id="32" name="footer"/>
          <p:cNvGrpSpPr/>
          <p:nvPr/>
        </p:nvGrpSpPr>
        <p:grpSpPr>
          <a:xfrm>
            <a:off x="528447" y="6581299"/>
            <a:ext cx="11135106" cy="190690"/>
            <a:chOff x="528447" y="6581299"/>
            <a:chExt cx="11135106" cy="190690"/>
          </a:xfrm>
        </p:grpSpPr>
        <p:sp>
          <p:nvSpPr>
            <p:cNvPr id="30" name="TextBox 30"/>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31" name="TextBox 3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58</a:t>
              </a:r>
            </a:p>
          </p:txBody>
        </p:sp>
      </p:grpSp>
    </p:spTree>
  </p:cSld>
  <p:clrMapOvr>
    <a:masterClrMapping/>
  </p:clrMapOvr>
  <p:transition xmlns:p14="http://schemas.microsoft.com/office/powerpoint/2010/main" p14:dur="400">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3126105" cy="266700"/>
            </a:xfrm>
            <a:prstGeom prst="roundRect">
              <a:avLst>
                <a:gd name="adj" fmla="val 50000"/>
              </a:avLst>
            </a:prstGeom>
            <a:solidFill>
              <a:srgbClr val="E7EDF3"/>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敏捷过程、极限编程与微软过程</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极限编程的整体开发过程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61" name="c1-flow-1"/>
          <p:cNvGrpSpPr/>
          <p:nvPr/>
        </p:nvGrpSpPr>
        <p:grpSpPr>
          <a:xfrm>
            <a:off x="727710" y="1907858"/>
            <a:ext cx="10735628" cy="2851784"/>
            <a:chOff x="727710" y="1907858"/>
            <a:chExt cx="10735628" cy="2851784"/>
          </a:xfrm>
        </p:grpSpPr>
        <p:sp>
          <p:nvSpPr>
            <p:cNvPr id="7" name="Freeform 7"/>
            <p:cNvSpPr/>
            <p:nvPr/>
          </p:nvSpPr>
          <p:spPr>
            <a:xfrm>
              <a:off x="1924050" y="2346008"/>
              <a:ext cx="2781300" cy="663892"/>
            </a:xfrm>
            <a:custGeom>
              <a:avLst/>
              <a:gdLst/>
              <a:ahLst/>
              <a:cxnLst/>
              <a:rect l="l" t="t" r="r" b="b"/>
              <a:pathLst>
                <a:path w="2781300" h="663892">
                  <a:moveTo>
                    <a:pt x="0" y="0"/>
                  </a:moveTo>
                  <a:lnTo>
                    <a:pt x="0" y="384810"/>
                  </a:lnTo>
                  <a:lnTo>
                    <a:pt x="2781300" y="384810"/>
                  </a:lnTo>
                  <a:lnTo>
                    <a:pt x="2781300" y="663892"/>
                  </a:lnTo>
                </a:path>
              </a:pathLst>
            </a:custGeom>
            <a:noFill/>
            <a:ln w="15240">
              <a:solidFill>
                <a:srgbClr val="5B6475"/>
              </a:solidFill>
            </a:ln>
          </p:spPr>
        </p:sp>
        <p:sp>
          <p:nvSpPr>
            <p:cNvPr id="8" name="Freeform 8"/>
            <p:cNvSpPr/>
            <p:nvPr/>
          </p:nvSpPr>
          <p:spPr>
            <a:xfrm>
              <a:off x="4652962" y="300990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9" name="Freeform 9"/>
            <p:cNvSpPr/>
            <p:nvPr/>
          </p:nvSpPr>
          <p:spPr>
            <a:xfrm>
              <a:off x="3120390" y="3333750"/>
              <a:ext cx="283845" cy="9525"/>
            </a:xfrm>
            <a:custGeom>
              <a:avLst/>
              <a:gdLst/>
              <a:ahLst/>
              <a:cxnLst/>
              <a:rect l="l" t="t" r="r" b="b"/>
              <a:pathLst>
                <a:path w="283845" h="9525">
                  <a:moveTo>
                    <a:pt x="0" y="0"/>
                  </a:moveTo>
                  <a:lnTo>
                    <a:pt x="283845" y="0"/>
                  </a:lnTo>
                </a:path>
              </a:pathLst>
            </a:custGeom>
            <a:noFill/>
            <a:ln w="15240">
              <a:solidFill>
                <a:srgbClr val="5B6475"/>
              </a:solidFill>
            </a:ln>
          </p:spPr>
        </p:sp>
        <p:sp>
          <p:nvSpPr>
            <p:cNvPr id="10" name="Freeform 10"/>
            <p:cNvSpPr/>
            <p:nvPr/>
          </p:nvSpPr>
          <p:spPr>
            <a:xfrm>
              <a:off x="3404235" y="328136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1" name="Freeform 11"/>
            <p:cNvSpPr/>
            <p:nvPr/>
          </p:nvSpPr>
          <p:spPr>
            <a:xfrm>
              <a:off x="4705350" y="3552825"/>
              <a:ext cx="9525" cy="663892"/>
            </a:xfrm>
            <a:custGeom>
              <a:avLst/>
              <a:gdLst/>
              <a:ahLst/>
              <a:cxnLst/>
              <a:rect l="l" t="t" r="r" b="b"/>
              <a:pathLst>
                <a:path w="9525" h="663892">
                  <a:moveTo>
                    <a:pt x="0" y="0"/>
                  </a:moveTo>
                  <a:lnTo>
                    <a:pt x="0" y="663892"/>
                  </a:lnTo>
                </a:path>
              </a:pathLst>
            </a:custGeom>
            <a:noFill/>
            <a:ln w="15240">
              <a:solidFill>
                <a:srgbClr val="5B6475"/>
              </a:solidFill>
            </a:ln>
          </p:spPr>
        </p:sp>
        <p:sp>
          <p:nvSpPr>
            <p:cNvPr id="12" name="Freeform 12"/>
            <p:cNvSpPr/>
            <p:nvPr/>
          </p:nvSpPr>
          <p:spPr>
            <a:xfrm>
              <a:off x="4652962" y="421671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3" name="Freeform 13"/>
            <p:cNvSpPr/>
            <p:nvPr/>
          </p:nvSpPr>
          <p:spPr>
            <a:xfrm>
              <a:off x="4705350" y="3657600"/>
              <a:ext cx="1405890" cy="882967"/>
            </a:xfrm>
            <a:custGeom>
              <a:avLst/>
              <a:gdLst/>
              <a:ahLst/>
              <a:cxnLst/>
              <a:rect l="l" t="t" r="r" b="b"/>
              <a:pathLst>
                <a:path w="1405890" h="882967">
                  <a:moveTo>
                    <a:pt x="1196340" y="882967"/>
                  </a:moveTo>
                  <a:lnTo>
                    <a:pt x="1405890" y="882967"/>
                  </a:lnTo>
                  <a:lnTo>
                    <a:pt x="945832" y="882967"/>
                  </a:lnTo>
                  <a:lnTo>
                    <a:pt x="945832" y="327660"/>
                  </a:lnTo>
                  <a:lnTo>
                    <a:pt x="945832" y="104775"/>
                  </a:lnTo>
                  <a:lnTo>
                    <a:pt x="0" y="104775"/>
                  </a:lnTo>
                  <a:lnTo>
                    <a:pt x="0" y="0"/>
                  </a:lnTo>
                </a:path>
              </a:pathLst>
            </a:custGeom>
            <a:noFill/>
            <a:ln w="15240">
              <a:solidFill>
                <a:srgbClr val="5B6475"/>
              </a:solidFill>
            </a:ln>
          </p:spPr>
        </p:sp>
        <p:sp>
          <p:nvSpPr>
            <p:cNvPr id="14" name="Freeform 14"/>
            <p:cNvSpPr/>
            <p:nvPr/>
          </p:nvSpPr>
          <p:spPr>
            <a:xfrm>
              <a:off x="4652962" y="3552825"/>
              <a:ext cx="104775" cy="104775"/>
            </a:xfrm>
            <a:custGeom>
              <a:avLst/>
              <a:gdLst/>
              <a:ahLst/>
              <a:cxnLst/>
              <a:rect l="l" t="t" r="r" b="b"/>
              <a:pathLst>
                <a:path w="104775" h="104775">
                  <a:moveTo>
                    <a:pt x="52388" y="0"/>
                  </a:moveTo>
                  <a:lnTo>
                    <a:pt x="104775" y="104775"/>
                  </a:lnTo>
                  <a:lnTo>
                    <a:pt x="0" y="104775"/>
                  </a:lnTo>
                  <a:close/>
                </a:path>
              </a:pathLst>
            </a:custGeom>
            <a:solidFill>
              <a:srgbClr val="5B6475"/>
            </a:solidFill>
            <a:ln>
              <a:noFill/>
            </a:ln>
          </p:spPr>
        </p:sp>
        <p:sp>
          <p:nvSpPr>
            <p:cNvPr id="15" name="Freeform 15"/>
            <p:cNvSpPr/>
            <p:nvPr/>
          </p:nvSpPr>
          <p:spPr>
            <a:xfrm>
              <a:off x="5901690" y="3333750"/>
              <a:ext cx="283845" cy="9525"/>
            </a:xfrm>
            <a:custGeom>
              <a:avLst/>
              <a:gdLst/>
              <a:ahLst/>
              <a:cxnLst/>
              <a:rect l="l" t="t" r="r" b="b"/>
              <a:pathLst>
                <a:path w="283845" h="9525">
                  <a:moveTo>
                    <a:pt x="0" y="0"/>
                  </a:moveTo>
                  <a:lnTo>
                    <a:pt x="283845" y="0"/>
                  </a:lnTo>
                </a:path>
              </a:pathLst>
            </a:custGeom>
            <a:noFill/>
            <a:ln w="15240">
              <a:solidFill>
                <a:srgbClr val="5B6475"/>
              </a:solidFill>
            </a:ln>
          </p:spPr>
        </p:sp>
        <p:sp>
          <p:nvSpPr>
            <p:cNvPr id="16" name="Freeform 16"/>
            <p:cNvSpPr/>
            <p:nvPr/>
          </p:nvSpPr>
          <p:spPr>
            <a:xfrm>
              <a:off x="6185535" y="328136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7" name="Freeform 17"/>
            <p:cNvSpPr/>
            <p:nvPr/>
          </p:nvSpPr>
          <p:spPr>
            <a:xfrm>
              <a:off x="4705350" y="2175510"/>
              <a:ext cx="2836545" cy="939165"/>
            </a:xfrm>
            <a:custGeom>
              <a:avLst/>
              <a:gdLst/>
              <a:ahLst/>
              <a:cxnLst/>
              <a:rect l="l" t="t" r="r" b="b"/>
              <a:pathLst>
                <a:path w="2836545" h="939165">
                  <a:moveTo>
                    <a:pt x="2781300" y="939165"/>
                  </a:moveTo>
                  <a:lnTo>
                    <a:pt x="2781300" y="729615"/>
                  </a:lnTo>
                  <a:lnTo>
                    <a:pt x="2781300" y="0"/>
                  </a:lnTo>
                  <a:lnTo>
                    <a:pt x="55245" y="0"/>
                  </a:lnTo>
                  <a:lnTo>
                    <a:pt x="2836545" y="0"/>
                  </a:lnTo>
                  <a:lnTo>
                    <a:pt x="0" y="0"/>
                  </a:lnTo>
                  <a:lnTo>
                    <a:pt x="0" y="729615"/>
                  </a:lnTo>
                  <a:lnTo>
                    <a:pt x="0" y="834390"/>
                  </a:lnTo>
                </a:path>
              </a:pathLst>
            </a:custGeom>
            <a:noFill/>
            <a:ln w="15240">
              <a:solidFill>
                <a:srgbClr val="5B6475"/>
              </a:solidFill>
            </a:ln>
          </p:spPr>
        </p:sp>
        <p:sp>
          <p:nvSpPr>
            <p:cNvPr id="18" name="Freeform 18"/>
            <p:cNvSpPr/>
            <p:nvPr/>
          </p:nvSpPr>
          <p:spPr>
            <a:xfrm>
              <a:off x="4652962" y="300990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9" name="Freeform 19"/>
            <p:cNvSpPr/>
            <p:nvPr/>
          </p:nvSpPr>
          <p:spPr>
            <a:xfrm>
              <a:off x="8682990" y="3333750"/>
              <a:ext cx="283845" cy="9525"/>
            </a:xfrm>
            <a:custGeom>
              <a:avLst/>
              <a:gdLst/>
              <a:ahLst/>
              <a:cxnLst/>
              <a:rect l="l" t="t" r="r" b="b"/>
              <a:pathLst>
                <a:path w="283845" h="9525">
                  <a:moveTo>
                    <a:pt x="0" y="0"/>
                  </a:moveTo>
                  <a:lnTo>
                    <a:pt x="283845" y="0"/>
                  </a:lnTo>
                </a:path>
              </a:pathLst>
            </a:custGeom>
            <a:noFill/>
            <a:ln w="15240">
              <a:solidFill>
                <a:srgbClr val="5B6475"/>
              </a:solidFill>
            </a:ln>
          </p:spPr>
        </p:sp>
        <p:sp>
          <p:nvSpPr>
            <p:cNvPr id="20" name="Freeform 20"/>
            <p:cNvSpPr/>
            <p:nvPr/>
          </p:nvSpPr>
          <p:spPr>
            <a:xfrm>
              <a:off x="8966835" y="328136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21" name="Freeform 21"/>
            <p:cNvSpPr/>
            <p:nvPr/>
          </p:nvSpPr>
          <p:spPr>
            <a:xfrm>
              <a:off x="7486650" y="3552825"/>
              <a:ext cx="3059430" cy="215265"/>
            </a:xfrm>
            <a:custGeom>
              <a:avLst/>
              <a:gdLst/>
              <a:ahLst/>
              <a:cxnLst/>
              <a:rect l="l" t="t" r="r" b="b"/>
              <a:pathLst>
                <a:path w="3059430" h="215265">
                  <a:moveTo>
                    <a:pt x="2781300" y="0"/>
                  </a:moveTo>
                  <a:lnTo>
                    <a:pt x="2781300" y="209550"/>
                  </a:lnTo>
                  <a:lnTo>
                    <a:pt x="2781300" y="215265"/>
                  </a:lnTo>
                  <a:lnTo>
                    <a:pt x="389572" y="215265"/>
                  </a:lnTo>
                  <a:lnTo>
                    <a:pt x="3059430" y="215265"/>
                  </a:lnTo>
                  <a:lnTo>
                    <a:pt x="0" y="215265"/>
                  </a:lnTo>
                  <a:lnTo>
                    <a:pt x="0" y="209550"/>
                  </a:lnTo>
                  <a:lnTo>
                    <a:pt x="0" y="104775"/>
                  </a:lnTo>
                </a:path>
              </a:pathLst>
            </a:custGeom>
            <a:noFill/>
            <a:ln w="15240">
              <a:solidFill>
                <a:srgbClr val="5B6475"/>
              </a:solidFill>
            </a:ln>
          </p:spPr>
        </p:sp>
        <p:sp>
          <p:nvSpPr>
            <p:cNvPr id="22" name="Freeform 22"/>
            <p:cNvSpPr/>
            <p:nvPr/>
          </p:nvSpPr>
          <p:spPr>
            <a:xfrm>
              <a:off x="7434262" y="3552825"/>
              <a:ext cx="104775" cy="104775"/>
            </a:xfrm>
            <a:custGeom>
              <a:avLst/>
              <a:gdLst/>
              <a:ahLst/>
              <a:cxnLst/>
              <a:rect l="l" t="t" r="r" b="b"/>
              <a:pathLst>
                <a:path w="104775" h="104775">
                  <a:moveTo>
                    <a:pt x="52388" y="0"/>
                  </a:moveTo>
                  <a:lnTo>
                    <a:pt x="104775" y="104775"/>
                  </a:lnTo>
                  <a:lnTo>
                    <a:pt x="0" y="104775"/>
                  </a:lnTo>
                  <a:close/>
                </a:path>
              </a:pathLst>
            </a:custGeom>
            <a:solidFill>
              <a:srgbClr val="5B6475"/>
            </a:solidFill>
            <a:ln>
              <a:noFill/>
            </a:ln>
          </p:spPr>
        </p:sp>
        <p:sp>
          <p:nvSpPr>
            <p:cNvPr id="23" name="Freeform 23"/>
            <p:cNvSpPr/>
            <p:nvPr/>
          </p:nvSpPr>
          <p:spPr>
            <a:xfrm>
              <a:off x="1924050" y="2346008"/>
              <a:ext cx="8343900" cy="663892"/>
            </a:xfrm>
            <a:custGeom>
              <a:avLst/>
              <a:gdLst/>
              <a:ahLst/>
              <a:cxnLst/>
              <a:rect l="l" t="t" r="r" b="b"/>
              <a:pathLst>
                <a:path w="8343900" h="663892">
                  <a:moveTo>
                    <a:pt x="0" y="0"/>
                  </a:moveTo>
                  <a:lnTo>
                    <a:pt x="0" y="384810"/>
                  </a:lnTo>
                  <a:lnTo>
                    <a:pt x="8343900" y="384810"/>
                  </a:lnTo>
                  <a:lnTo>
                    <a:pt x="8343900" y="663892"/>
                  </a:lnTo>
                </a:path>
              </a:pathLst>
            </a:custGeom>
            <a:noFill/>
            <a:ln w="15240">
              <a:solidFill>
                <a:srgbClr val="5B6475"/>
              </a:solidFill>
            </a:ln>
          </p:spPr>
        </p:sp>
        <p:sp>
          <p:nvSpPr>
            <p:cNvPr id="24" name="Freeform 24"/>
            <p:cNvSpPr/>
            <p:nvPr/>
          </p:nvSpPr>
          <p:spPr>
            <a:xfrm>
              <a:off x="10215562" y="300990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5" name="Freeform 25"/>
            <p:cNvSpPr/>
            <p:nvPr/>
          </p:nvSpPr>
          <p:spPr>
            <a:xfrm>
              <a:off x="10267950" y="3552825"/>
              <a:ext cx="9525" cy="663892"/>
            </a:xfrm>
            <a:custGeom>
              <a:avLst/>
              <a:gdLst/>
              <a:ahLst/>
              <a:cxnLst/>
              <a:rect l="l" t="t" r="r" b="b"/>
              <a:pathLst>
                <a:path w="9525" h="663892">
                  <a:moveTo>
                    <a:pt x="0" y="0"/>
                  </a:moveTo>
                  <a:lnTo>
                    <a:pt x="0" y="663892"/>
                  </a:lnTo>
                </a:path>
              </a:pathLst>
            </a:custGeom>
            <a:noFill/>
            <a:ln w="15240">
              <a:solidFill>
                <a:srgbClr val="5B6475"/>
              </a:solidFill>
            </a:ln>
          </p:spPr>
        </p:sp>
        <p:sp>
          <p:nvSpPr>
            <p:cNvPr id="26" name="Freeform 26"/>
            <p:cNvSpPr/>
            <p:nvPr/>
          </p:nvSpPr>
          <p:spPr>
            <a:xfrm>
              <a:off x="10215562" y="421671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7" name="Freeform 27"/>
            <p:cNvSpPr/>
            <p:nvPr/>
          </p:nvSpPr>
          <p:spPr>
            <a:xfrm>
              <a:off x="727710" y="1907858"/>
              <a:ext cx="2392680" cy="438150"/>
            </a:xfrm>
            <a:custGeom>
              <a:avLst/>
              <a:gdLst/>
              <a:ahLst/>
              <a:cxnLst/>
              <a:rect l="l" t="t" r="r" b="b"/>
              <a:pathLst>
                <a:path w="2392680" h="438150">
                  <a:moveTo>
                    <a:pt x="133350" y="0"/>
                  </a:moveTo>
                  <a:lnTo>
                    <a:pt x="2392680" y="0"/>
                  </a:lnTo>
                  <a:lnTo>
                    <a:pt x="2259330" y="438150"/>
                  </a:lnTo>
                  <a:lnTo>
                    <a:pt x="0" y="438150"/>
                  </a:lnTo>
                  <a:close/>
                </a:path>
              </a:pathLst>
            </a:custGeom>
            <a:solidFill>
              <a:srgbClr val="E7EDF3"/>
            </a:solidFill>
            <a:ln w="13335">
              <a:solidFill>
                <a:srgbClr val="334E68"/>
              </a:solidFill>
            </a:ln>
          </p:spPr>
        </p:sp>
        <p:sp>
          <p:nvSpPr>
            <p:cNvPr id="28" name="Rectangle 28"/>
            <p:cNvSpPr/>
            <p:nvPr/>
          </p:nvSpPr>
          <p:spPr>
            <a:xfrm>
              <a:off x="727710" y="3114675"/>
              <a:ext cx="2391728" cy="438150"/>
            </a:xfrm>
            <a:prstGeom prst="roundRect">
              <a:avLst>
                <a:gd name="adj" fmla="val 21739"/>
              </a:avLst>
            </a:prstGeom>
            <a:solidFill>
              <a:srgbClr val="FFFFFF"/>
            </a:solidFill>
            <a:ln w="15240">
              <a:solidFill>
                <a:srgbClr val="334E68"/>
              </a:solidFill>
            </a:ln>
          </p:spPr>
        </p:sp>
        <p:sp>
          <p:nvSpPr>
            <p:cNvPr id="29" name="Rectangle 29"/>
            <p:cNvSpPr/>
            <p:nvPr/>
          </p:nvSpPr>
          <p:spPr>
            <a:xfrm>
              <a:off x="3509010" y="3114675"/>
              <a:ext cx="2391728" cy="438150"/>
            </a:xfrm>
            <a:prstGeom prst="roundRect">
              <a:avLst>
                <a:gd name="adj" fmla="val 21739"/>
              </a:avLst>
            </a:prstGeom>
            <a:solidFill>
              <a:srgbClr val="E7EDF3"/>
            </a:solidFill>
            <a:ln w="19050">
              <a:solidFill>
                <a:srgbClr val="334E68"/>
              </a:solidFill>
            </a:ln>
          </p:spPr>
        </p:sp>
        <p:sp>
          <p:nvSpPr>
            <p:cNvPr id="30" name="Rectangle 30"/>
            <p:cNvSpPr/>
            <p:nvPr/>
          </p:nvSpPr>
          <p:spPr>
            <a:xfrm>
              <a:off x="3509010" y="4321492"/>
              <a:ext cx="2391728" cy="438150"/>
            </a:xfrm>
            <a:prstGeom prst="roundRect">
              <a:avLst>
                <a:gd name="adj" fmla="val 21739"/>
              </a:avLst>
            </a:prstGeom>
            <a:solidFill>
              <a:srgbClr val="FFFFFF"/>
            </a:solidFill>
            <a:ln w="15240">
              <a:solidFill>
                <a:srgbClr val="334E68"/>
              </a:solidFill>
            </a:ln>
          </p:spPr>
        </p:sp>
        <p:sp>
          <p:nvSpPr>
            <p:cNvPr id="31" name="Rectangle 31"/>
            <p:cNvSpPr/>
            <p:nvPr/>
          </p:nvSpPr>
          <p:spPr>
            <a:xfrm>
              <a:off x="6290310" y="3114675"/>
              <a:ext cx="2391728" cy="438150"/>
            </a:xfrm>
            <a:prstGeom prst="roundRect">
              <a:avLst>
                <a:gd name="adj" fmla="val 21739"/>
              </a:avLst>
            </a:prstGeom>
            <a:solidFill>
              <a:srgbClr val="FFFFFF"/>
            </a:solidFill>
            <a:ln w="15240">
              <a:solidFill>
                <a:srgbClr val="334E68"/>
              </a:solidFill>
            </a:ln>
          </p:spPr>
        </p:sp>
        <p:sp>
          <p:nvSpPr>
            <p:cNvPr id="32" name="Rectangle 32"/>
            <p:cNvSpPr/>
            <p:nvPr/>
          </p:nvSpPr>
          <p:spPr>
            <a:xfrm>
              <a:off x="9071610" y="3114675"/>
              <a:ext cx="2391728" cy="438150"/>
            </a:xfrm>
            <a:prstGeom prst="roundRect">
              <a:avLst>
                <a:gd name="adj" fmla="val 21739"/>
              </a:avLst>
            </a:prstGeom>
            <a:solidFill>
              <a:srgbClr val="FFFFFF"/>
            </a:solidFill>
            <a:ln w="15240">
              <a:solidFill>
                <a:srgbClr val="334E68"/>
              </a:solidFill>
            </a:ln>
          </p:spPr>
        </p:sp>
        <p:sp>
          <p:nvSpPr>
            <p:cNvPr id="33" name="Rectangle 33"/>
            <p:cNvSpPr/>
            <p:nvPr/>
          </p:nvSpPr>
          <p:spPr>
            <a:xfrm>
              <a:off x="9071610" y="4321492"/>
              <a:ext cx="2391728" cy="438150"/>
            </a:xfrm>
            <a:prstGeom prst="roundRect">
              <a:avLst>
                <a:gd name="adj" fmla="val 50000"/>
              </a:avLst>
            </a:prstGeom>
            <a:solidFill>
              <a:srgbClr val="334E68"/>
            </a:solidFill>
            <a:ln>
              <a:noFill/>
            </a:ln>
          </p:spPr>
        </p:sp>
        <p:sp>
          <p:nvSpPr>
            <p:cNvPr id="34" name="TextBox 34"/>
            <p:cNvSpPr txBox="1"/>
            <p:nvPr/>
          </p:nvSpPr>
          <p:spPr>
            <a:xfrm>
              <a:off x="1572946" y="2037874"/>
              <a:ext cx="702208"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用户故事</a:t>
              </a:r>
            </a:p>
          </p:txBody>
        </p:sp>
        <p:sp>
          <p:nvSpPr>
            <p:cNvPr id="35" name="TextBox 35"/>
            <p:cNvSpPr txBox="1"/>
            <p:nvPr/>
          </p:nvSpPr>
          <p:spPr>
            <a:xfrm>
              <a:off x="1400632" y="3244691"/>
              <a:ext cx="104683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体系结构试探</a:t>
              </a:r>
            </a:p>
          </p:txBody>
        </p:sp>
        <p:sp>
          <p:nvSpPr>
            <p:cNvPr id="36" name="TextBox 36"/>
            <p:cNvSpPr txBox="1"/>
            <p:nvPr/>
          </p:nvSpPr>
          <p:spPr>
            <a:xfrm>
              <a:off x="4181932" y="3244691"/>
              <a:ext cx="104683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制订交付计划</a:t>
              </a:r>
            </a:p>
          </p:txBody>
        </p:sp>
        <p:sp>
          <p:nvSpPr>
            <p:cNvPr id="37" name="TextBox 37"/>
            <p:cNvSpPr txBox="1"/>
            <p:nvPr/>
          </p:nvSpPr>
          <p:spPr>
            <a:xfrm>
              <a:off x="4354246" y="4451509"/>
              <a:ext cx="702208"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难点试探</a:t>
              </a:r>
            </a:p>
          </p:txBody>
        </p:sp>
        <p:sp>
          <p:nvSpPr>
            <p:cNvPr id="38" name="TextBox 38"/>
            <p:cNvSpPr txBox="1"/>
            <p:nvPr/>
          </p:nvSpPr>
          <p:spPr>
            <a:xfrm>
              <a:off x="7135546" y="3244691"/>
              <a:ext cx="702208"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迭代开发</a:t>
              </a:r>
            </a:p>
          </p:txBody>
        </p:sp>
        <p:sp>
          <p:nvSpPr>
            <p:cNvPr id="39" name="TextBox 39"/>
            <p:cNvSpPr txBox="1"/>
            <p:nvPr/>
          </p:nvSpPr>
          <p:spPr>
            <a:xfrm>
              <a:off x="9916846" y="3244691"/>
              <a:ext cx="702208"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验收测试</a:t>
              </a:r>
            </a:p>
          </p:txBody>
        </p:sp>
        <p:sp>
          <p:nvSpPr>
            <p:cNvPr id="40" name="TextBox 40"/>
            <p:cNvSpPr txBox="1"/>
            <p:nvPr/>
          </p:nvSpPr>
          <p:spPr>
            <a:xfrm>
              <a:off x="10003003" y="4451509"/>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小交付</a:t>
              </a:r>
            </a:p>
          </p:txBody>
        </p:sp>
        <p:sp>
          <p:nvSpPr>
            <p:cNvPr id="41" name="Rectangle 41"/>
            <p:cNvSpPr/>
            <p:nvPr/>
          </p:nvSpPr>
          <p:spPr>
            <a:xfrm>
              <a:off x="3133725" y="2514600"/>
              <a:ext cx="361950" cy="193358"/>
            </a:xfrm>
            <a:prstGeom prst="roundRect">
              <a:avLst>
                <a:gd name="adj" fmla="val 19704"/>
              </a:avLst>
            </a:prstGeom>
            <a:solidFill>
              <a:srgbClr val="FFFFFF"/>
            </a:solidFill>
            <a:ln>
              <a:noFill/>
            </a:ln>
          </p:spPr>
        </p:sp>
        <p:sp>
          <p:nvSpPr>
            <p:cNvPr id="42" name="TextBox 42"/>
            <p:cNvSpPr txBox="1"/>
            <p:nvPr/>
          </p:nvSpPr>
          <p:spPr>
            <a:xfrm>
              <a:off x="3168015" y="2541270"/>
              <a:ext cx="293370"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需求</a:t>
              </a:r>
            </a:p>
          </p:txBody>
        </p:sp>
        <p:sp>
          <p:nvSpPr>
            <p:cNvPr id="43" name="Rectangle 43"/>
            <p:cNvSpPr/>
            <p:nvPr/>
          </p:nvSpPr>
          <p:spPr>
            <a:xfrm>
              <a:off x="3133725" y="3117532"/>
              <a:ext cx="361950" cy="193358"/>
            </a:xfrm>
            <a:prstGeom prst="roundRect">
              <a:avLst>
                <a:gd name="adj" fmla="val 19704"/>
              </a:avLst>
            </a:prstGeom>
            <a:solidFill>
              <a:srgbClr val="FFFFFF"/>
            </a:solidFill>
            <a:ln>
              <a:noFill/>
            </a:ln>
          </p:spPr>
        </p:sp>
        <p:sp>
          <p:nvSpPr>
            <p:cNvPr id="44" name="TextBox 44"/>
            <p:cNvSpPr txBox="1"/>
            <p:nvPr/>
          </p:nvSpPr>
          <p:spPr>
            <a:xfrm>
              <a:off x="3168015" y="3144202"/>
              <a:ext cx="293370"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隐喻</a:t>
              </a:r>
            </a:p>
          </p:txBody>
        </p:sp>
        <p:sp>
          <p:nvSpPr>
            <p:cNvPr id="45" name="Rectangle 45"/>
            <p:cNvSpPr/>
            <p:nvPr/>
          </p:nvSpPr>
          <p:spPr>
            <a:xfrm>
              <a:off x="4733925" y="3845242"/>
              <a:ext cx="895350" cy="193358"/>
            </a:xfrm>
            <a:prstGeom prst="roundRect">
              <a:avLst>
                <a:gd name="adj" fmla="val 19704"/>
              </a:avLst>
            </a:prstGeom>
            <a:solidFill>
              <a:srgbClr val="FFFFFF"/>
            </a:solidFill>
            <a:ln>
              <a:noFill/>
            </a:ln>
          </p:spPr>
        </p:sp>
        <p:sp>
          <p:nvSpPr>
            <p:cNvPr id="46" name="TextBox 46"/>
            <p:cNvSpPr txBox="1"/>
            <p:nvPr/>
          </p:nvSpPr>
          <p:spPr>
            <a:xfrm>
              <a:off x="4757166" y="3871912"/>
              <a:ext cx="858774"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不确定的估计</a:t>
              </a:r>
            </a:p>
          </p:txBody>
        </p:sp>
        <p:sp>
          <p:nvSpPr>
            <p:cNvPr id="47" name="Rectangle 47"/>
            <p:cNvSpPr/>
            <p:nvPr/>
          </p:nvSpPr>
          <p:spPr>
            <a:xfrm>
              <a:off x="4796790" y="3546158"/>
              <a:ext cx="762000" cy="193358"/>
            </a:xfrm>
            <a:prstGeom prst="roundRect">
              <a:avLst>
                <a:gd name="adj" fmla="val 19704"/>
              </a:avLst>
            </a:prstGeom>
            <a:solidFill>
              <a:srgbClr val="FFFFFF"/>
            </a:solidFill>
            <a:ln>
              <a:noFill/>
            </a:ln>
          </p:spPr>
        </p:sp>
        <p:sp>
          <p:nvSpPr>
            <p:cNvPr id="48" name="TextBox 48"/>
            <p:cNvSpPr txBox="1"/>
            <p:nvPr/>
          </p:nvSpPr>
          <p:spPr>
            <a:xfrm>
              <a:off x="4819078" y="3572828"/>
              <a:ext cx="717423"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确定的估计</a:t>
              </a:r>
            </a:p>
          </p:txBody>
        </p:sp>
        <p:sp>
          <p:nvSpPr>
            <p:cNvPr id="49" name="Rectangle 49"/>
            <p:cNvSpPr/>
            <p:nvPr/>
          </p:nvSpPr>
          <p:spPr>
            <a:xfrm>
              <a:off x="5781675" y="3117532"/>
              <a:ext cx="628650" cy="193358"/>
            </a:xfrm>
            <a:prstGeom prst="roundRect">
              <a:avLst>
                <a:gd name="adj" fmla="val 19704"/>
              </a:avLst>
            </a:prstGeom>
            <a:solidFill>
              <a:srgbClr val="FFFFFF"/>
            </a:solidFill>
            <a:ln>
              <a:noFill/>
            </a:ln>
          </p:spPr>
        </p:sp>
        <p:sp>
          <p:nvSpPr>
            <p:cNvPr id="50" name="TextBox 50"/>
            <p:cNvSpPr txBox="1"/>
            <p:nvPr/>
          </p:nvSpPr>
          <p:spPr>
            <a:xfrm>
              <a:off x="5807964" y="3144202"/>
              <a:ext cx="576072"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交付计划</a:t>
              </a:r>
            </a:p>
          </p:txBody>
        </p:sp>
        <p:sp>
          <p:nvSpPr>
            <p:cNvPr id="51" name="Rectangle 51"/>
            <p:cNvSpPr/>
            <p:nvPr/>
          </p:nvSpPr>
          <p:spPr>
            <a:xfrm>
              <a:off x="5742622" y="1959292"/>
              <a:ext cx="762000" cy="193358"/>
            </a:xfrm>
            <a:prstGeom prst="roundRect">
              <a:avLst>
                <a:gd name="adj" fmla="val 19704"/>
              </a:avLst>
            </a:prstGeom>
            <a:solidFill>
              <a:srgbClr val="FFFFFF"/>
            </a:solidFill>
            <a:ln>
              <a:noFill/>
            </a:ln>
          </p:spPr>
        </p:sp>
        <p:sp>
          <p:nvSpPr>
            <p:cNvPr id="52" name="TextBox 52"/>
            <p:cNvSpPr txBox="1"/>
            <p:nvPr/>
          </p:nvSpPr>
          <p:spPr>
            <a:xfrm>
              <a:off x="5764911" y="1985962"/>
              <a:ext cx="717423"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新用户故事</a:t>
              </a:r>
            </a:p>
          </p:txBody>
        </p:sp>
        <p:sp>
          <p:nvSpPr>
            <p:cNvPr id="53" name="Rectangle 53"/>
            <p:cNvSpPr/>
            <p:nvPr/>
          </p:nvSpPr>
          <p:spPr>
            <a:xfrm>
              <a:off x="8562975" y="3117532"/>
              <a:ext cx="628650" cy="193358"/>
            </a:xfrm>
            <a:prstGeom prst="roundRect">
              <a:avLst>
                <a:gd name="adj" fmla="val 19704"/>
              </a:avLst>
            </a:prstGeom>
            <a:solidFill>
              <a:srgbClr val="FFFFFF"/>
            </a:solidFill>
            <a:ln>
              <a:noFill/>
            </a:ln>
          </p:spPr>
        </p:sp>
        <p:sp>
          <p:nvSpPr>
            <p:cNvPr id="54" name="TextBox 54"/>
            <p:cNvSpPr txBox="1"/>
            <p:nvPr/>
          </p:nvSpPr>
          <p:spPr>
            <a:xfrm>
              <a:off x="8589264" y="3144202"/>
              <a:ext cx="576072"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最新版本</a:t>
              </a:r>
            </a:p>
          </p:txBody>
        </p:sp>
        <p:sp>
          <p:nvSpPr>
            <p:cNvPr id="55" name="Rectangle 55"/>
            <p:cNvSpPr/>
            <p:nvPr/>
          </p:nvSpPr>
          <p:spPr>
            <a:xfrm>
              <a:off x="8835390" y="3551872"/>
              <a:ext cx="361950" cy="193358"/>
            </a:xfrm>
            <a:prstGeom prst="roundRect">
              <a:avLst>
                <a:gd name="adj" fmla="val 19704"/>
              </a:avLst>
            </a:prstGeom>
            <a:solidFill>
              <a:srgbClr val="FFFFFF"/>
            </a:solidFill>
            <a:ln>
              <a:noFill/>
            </a:ln>
          </p:spPr>
        </p:sp>
        <p:sp>
          <p:nvSpPr>
            <p:cNvPr id="56" name="TextBox 56"/>
            <p:cNvSpPr txBox="1"/>
            <p:nvPr/>
          </p:nvSpPr>
          <p:spPr>
            <a:xfrm>
              <a:off x="8869680" y="3578543"/>
              <a:ext cx="293370"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差错</a:t>
              </a:r>
            </a:p>
          </p:txBody>
        </p:sp>
        <p:sp>
          <p:nvSpPr>
            <p:cNvPr id="57" name="Rectangle 57"/>
            <p:cNvSpPr/>
            <p:nvPr/>
          </p:nvSpPr>
          <p:spPr>
            <a:xfrm>
              <a:off x="5781675" y="2514600"/>
              <a:ext cx="628650" cy="193358"/>
            </a:xfrm>
            <a:prstGeom prst="roundRect">
              <a:avLst>
                <a:gd name="adj" fmla="val 19704"/>
              </a:avLst>
            </a:prstGeom>
            <a:solidFill>
              <a:srgbClr val="FFFFFF"/>
            </a:solidFill>
            <a:ln>
              <a:noFill/>
            </a:ln>
          </p:spPr>
        </p:sp>
        <p:sp>
          <p:nvSpPr>
            <p:cNvPr id="58" name="TextBox 58"/>
            <p:cNvSpPr txBox="1"/>
            <p:nvPr/>
          </p:nvSpPr>
          <p:spPr>
            <a:xfrm>
              <a:off x="5807964" y="2541270"/>
              <a:ext cx="576072"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测试用例</a:t>
              </a:r>
            </a:p>
          </p:txBody>
        </p:sp>
        <p:sp>
          <p:nvSpPr>
            <p:cNvPr id="59" name="Rectangle 59"/>
            <p:cNvSpPr/>
            <p:nvPr/>
          </p:nvSpPr>
          <p:spPr>
            <a:xfrm>
              <a:off x="10296525" y="3845242"/>
              <a:ext cx="628650" cy="193358"/>
            </a:xfrm>
            <a:prstGeom prst="roundRect">
              <a:avLst>
                <a:gd name="adj" fmla="val 19704"/>
              </a:avLst>
            </a:prstGeom>
            <a:solidFill>
              <a:srgbClr val="FFFFFF"/>
            </a:solidFill>
            <a:ln>
              <a:noFill/>
            </a:ln>
          </p:spPr>
        </p:sp>
        <p:sp>
          <p:nvSpPr>
            <p:cNvPr id="60" name="TextBox 60"/>
            <p:cNvSpPr txBox="1"/>
            <p:nvPr/>
          </p:nvSpPr>
          <p:spPr>
            <a:xfrm>
              <a:off x="10319766" y="3871912"/>
              <a:ext cx="576072"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用户认可</a:t>
              </a:r>
            </a:p>
          </p:txBody>
        </p:sp>
      </p:grpSp>
      <p:grpSp>
        <p:nvGrpSpPr>
          <p:cNvPr id="67" name="takeaway"/>
          <p:cNvGrpSpPr/>
          <p:nvPr/>
        </p:nvGrpSpPr>
        <p:grpSpPr>
          <a:xfrm>
            <a:off x="533400" y="5829300"/>
            <a:ext cx="11125200" cy="533400"/>
            <a:chOff x="533400" y="5829300"/>
            <a:chExt cx="11125200" cy="533400"/>
          </a:xfrm>
        </p:grpSpPr>
        <p:sp>
          <p:nvSpPr>
            <p:cNvPr id="62" name="Rectangle 62"/>
            <p:cNvSpPr/>
            <p:nvPr/>
          </p:nvSpPr>
          <p:spPr>
            <a:xfrm>
              <a:off x="533400" y="5829300"/>
              <a:ext cx="11125200" cy="533400"/>
            </a:xfrm>
            <a:prstGeom prst="roundRect">
              <a:avLst>
                <a:gd name="adj" fmla="val 21429"/>
              </a:avLst>
            </a:prstGeom>
            <a:solidFill>
              <a:srgbClr val="334E68"/>
            </a:solidFill>
            <a:ln>
              <a:noFill/>
            </a:ln>
          </p:spPr>
        </p:sp>
        <p:grpSp>
          <p:nvGrpSpPr>
            <p:cNvPr id="65" name="Group 65"/>
            <p:cNvGrpSpPr/>
            <p:nvPr/>
          </p:nvGrpSpPr>
          <p:grpSpPr>
            <a:xfrm>
              <a:off x="738188" y="5995990"/>
              <a:ext cx="200023" cy="200023"/>
              <a:chOff x="738188" y="5995990"/>
              <a:chExt cx="200023" cy="200023"/>
            </a:xfrm>
          </p:grpSpPr>
          <p:sp>
            <p:nvSpPr>
              <p:cNvPr id="63" name="Freeform 63"/>
              <p:cNvSpPr/>
              <p:nvPr/>
            </p:nvSpPr>
            <p:spPr>
              <a:xfrm>
                <a:off x="738188" y="599599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4" name="Freeform 64"/>
              <p:cNvSpPr/>
              <p:nvPr/>
            </p:nvSpPr>
            <p:spPr>
              <a:xfrm>
                <a:off x="871538" y="606266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6" name="TextBox 66"/>
            <p:cNvSpPr txBox="1"/>
            <p:nvPr/>
          </p:nvSpPr>
          <p:spPr>
            <a:xfrm>
              <a:off x="1040130" y="5991225"/>
              <a:ext cx="9122283"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用户故事一头进计划、一头进验收测试；估不准的地方先用“难点试探”做一次小实验，再回来定计划。</a:t>
              </a:r>
            </a:p>
          </p:txBody>
        </p:sp>
      </p:grpSp>
      <p:grpSp>
        <p:nvGrpSpPr>
          <p:cNvPr id="70" name="footer"/>
          <p:cNvGrpSpPr/>
          <p:nvPr/>
        </p:nvGrpSpPr>
        <p:grpSpPr>
          <a:xfrm>
            <a:off x="528447" y="6581299"/>
            <a:ext cx="11135106" cy="190690"/>
            <a:chOff x="528447" y="6581299"/>
            <a:chExt cx="11135106" cy="190690"/>
          </a:xfrm>
        </p:grpSpPr>
        <p:sp>
          <p:nvSpPr>
            <p:cNvPr id="68" name="TextBox 68"/>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9" name="TextBox 6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59</a:t>
              </a:r>
            </a:p>
          </p:txBody>
        </p:sp>
      </p:grpSp>
    </p:spTree>
  </p:cSld>
  <p:clrMapOvr>
    <a:masterClrMapping/>
  </p:clrMapOvr>
  <p:transition xmlns:p14="http://schemas.microsoft.com/office/powerpoint/2010/main" p14:dur="400">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139059" cy="909257"/>
            <a:chOff x="520446" y="342900"/>
            <a:chExt cx="3139059" cy="909257"/>
          </a:xfrm>
        </p:grpSpPr>
        <p:sp>
          <p:nvSpPr>
            <p:cNvPr id="2" name="Rectangle 2"/>
            <p:cNvSpPr/>
            <p:nvPr/>
          </p:nvSpPr>
          <p:spPr>
            <a:xfrm>
              <a:off x="533400" y="342900"/>
              <a:ext cx="3126105" cy="266700"/>
            </a:xfrm>
            <a:prstGeom prst="roundRect">
              <a:avLst>
                <a:gd name="adj" fmla="val 50000"/>
              </a:avLst>
            </a:prstGeom>
            <a:solidFill>
              <a:srgbClr val="E7EDF3"/>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敏捷过程、极限编程与微软过程</a:t>
              </a:r>
            </a:p>
          </p:txBody>
        </p:sp>
        <p:sp>
          <p:nvSpPr>
            <p:cNvPr id="4" name="TextBox 4"/>
            <p:cNvSpPr txBox="1"/>
            <p:nvPr/>
          </p:nvSpPr>
          <p:spPr>
            <a:xfrm>
              <a:off x="520446" y="753428"/>
              <a:ext cx="311543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极限编程的一次迭代</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1" name="c1-flow-1"/>
          <p:cNvGrpSpPr/>
          <p:nvPr/>
        </p:nvGrpSpPr>
        <p:grpSpPr>
          <a:xfrm>
            <a:off x="666750" y="1530668"/>
            <a:ext cx="6874193" cy="3120390"/>
            <a:chOff x="666750" y="1530668"/>
            <a:chExt cx="6874193" cy="3120390"/>
          </a:xfrm>
        </p:grpSpPr>
        <p:sp>
          <p:nvSpPr>
            <p:cNvPr id="7" name="Freeform 7"/>
            <p:cNvSpPr/>
            <p:nvPr/>
          </p:nvSpPr>
          <p:spPr>
            <a:xfrm>
              <a:off x="1425892" y="2597468"/>
              <a:ext cx="9525" cy="221933"/>
            </a:xfrm>
            <a:custGeom>
              <a:avLst/>
              <a:gdLst/>
              <a:ahLst/>
              <a:cxnLst/>
              <a:rect l="l" t="t" r="r" b="b"/>
              <a:pathLst>
                <a:path w="9525" h="221933">
                  <a:moveTo>
                    <a:pt x="0" y="0"/>
                  </a:moveTo>
                  <a:lnTo>
                    <a:pt x="0" y="221933"/>
                  </a:lnTo>
                </a:path>
              </a:pathLst>
            </a:custGeom>
            <a:noFill/>
            <a:ln w="15240">
              <a:solidFill>
                <a:srgbClr val="5B6475"/>
              </a:solidFill>
            </a:ln>
          </p:spPr>
        </p:sp>
        <p:sp>
          <p:nvSpPr>
            <p:cNvPr id="8" name="Freeform 8"/>
            <p:cNvSpPr/>
            <p:nvPr/>
          </p:nvSpPr>
          <p:spPr>
            <a:xfrm>
              <a:off x="1373505" y="281940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9" name="Freeform 9"/>
            <p:cNvSpPr/>
            <p:nvPr/>
          </p:nvSpPr>
          <p:spPr>
            <a:xfrm>
              <a:off x="2185035" y="3143250"/>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10" name="Freeform 10"/>
            <p:cNvSpPr/>
            <p:nvPr/>
          </p:nvSpPr>
          <p:spPr>
            <a:xfrm>
              <a:off x="2346960" y="309086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1" name="Freeform 11"/>
            <p:cNvSpPr/>
            <p:nvPr/>
          </p:nvSpPr>
          <p:spPr>
            <a:xfrm>
              <a:off x="3970972" y="3143250"/>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12" name="Freeform 12"/>
            <p:cNvSpPr/>
            <p:nvPr/>
          </p:nvSpPr>
          <p:spPr>
            <a:xfrm>
              <a:off x="4132898" y="309086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3" name="Freeform 13"/>
            <p:cNvSpPr/>
            <p:nvPr/>
          </p:nvSpPr>
          <p:spPr>
            <a:xfrm>
              <a:off x="4996815" y="2387918"/>
              <a:ext cx="9525" cy="536258"/>
            </a:xfrm>
            <a:custGeom>
              <a:avLst/>
              <a:gdLst/>
              <a:ahLst/>
              <a:cxnLst/>
              <a:rect l="l" t="t" r="r" b="b"/>
              <a:pathLst>
                <a:path w="9525" h="536258">
                  <a:moveTo>
                    <a:pt x="0" y="536258"/>
                  </a:moveTo>
                  <a:lnTo>
                    <a:pt x="0" y="0"/>
                  </a:lnTo>
                </a:path>
              </a:pathLst>
            </a:custGeom>
            <a:noFill/>
            <a:ln w="15240">
              <a:solidFill>
                <a:srgbClr val="5B6475"/>
              </a:solidFill>
            </a:ln>
          </p:spPr>
        </p:sp>
        <p:sp>
          <p:nvSpPr>
            <p:cNvPr id="14" name="Freeform 14"/>
            <p:cNvSpPr/>
            <p:nvPr/>
          </p:nvSpPr>
          <p:spPr>
            <a:xfrm>
              <a:off x="4944428" y="2283142"/>
              <a:ext cx="104775" cy="104775"/>
            </a:xfrm>
            <a:custGeom>
              <a:avLst/>
              <a:gdLst/>
              <a:ahLst/>
              <a:cxnLst/>
              <a:rect l="l" t="t" r="r" b="b"/>
              <a:pathLst>
                <a:path w="104775" h="104775">
                  <a:moveTo>
                    <a:pt x="52388" y="0"/>
                  </a:moveTo>
                  <a:lnTo>
                    <a:pt x="104775" y="104775"/>
                  </a:lnTo>
                  <a:lnTo>
                    <a:pt x="0" y="104775"/>
                  </a:lnTo>
                  <a:close/>
                </a:path>
              </a:pathLst>
            </a:custGeom>
            <a:solidFill>
              <a:srgbClr val="5B6475"/>
            </a:solidFill>
            <a:ln>
              <a:noFill/>
            </a:ln>
          </p:spPr>
        </p:sp>
        <p:sp>
          <p:nvSpPr>
            <p:cNvPr id="15" name="Freeform 15"/>
            <p:cNvSpPr/>
            <p:nvPr/>
          </p:nvSpPr>
          <p:spPr>
            <a:xfrm>
              <a:off x="3211830" y="2283142"/>
              <a:ext cx="1784985" cy="536258"/>
            </a:xfrm>
            <a:custGeom>
              <a:avLst/>
              <a:gdLst/>
              <a:ahLst/>
              <a:cxnLst/>
              <a:rect l="l" t="t" r="r" b="b"/>
              <a:pathLst>
                <a:path w="1784985" h="536258">
                  <a:moveTo>
                    <a:pt x="1784985" y="0"/>
                  </a:moveTo>
                  <a:lnTo>
                    <a:pt x="1784985" y="320040"/>
                  </a:lnTo>
                  <a:lnTo>
                    <a:pt x="0" y="320040"/>
                  </a:lnTo>
                  <a:lnTo>
                    <a:pt x="0" y="536258"/>
                  </a:lnTo>
                </a:path>
              </a:pathLst>
            </a:custGeom>
            <a:noFill/>
            <a:ln w="15240">
              <a:solidFill>
                <a:srgbClr val="5B6475"/>
              </a:solidFill>
            </a:ln>
          </p:spPr>
        </p:sp>
        <p:sp>
          <p:nvSpPr>
            <p:cNvPr id="16" name="Freeform 16"/>
            <p:cNvSpPr/>
            <p:nvPr/>
          </p:nvSpPr>
          <p:spPr>
            <a:xfrm>
              <a:off x="3159442" y="281940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7" name="Freeform 17"/>
            <p:cNvSpPr/>
            <p:nvPr/>
          </p:nvSpPr>
          <p:spPr>
            <a:xfrm>
              <a:off x="4996815" y="3362325"/>
              <a:ext cx="9525" cy="536258"/>
            </a:xfrm>
            <a:custGeom>
              <a:avLst/>
              <a:gdLst/>
              <a:ahLst/>
              <a:cxnLst/>
              <a:rect l="l" t="t" r="r" b="b"/>
              <a:pathLst>
                <a:path w="9525" h="536258">
                  <a:moveTo>
                    <a:pt x="0" y="0"/>
                  </a:moveTo>
                  <a:lnTo>
                    <a:pt x="0" y="536258"/>
                  </a:lnTo>
                </a:path>
              </a:pathLst>
            </a:custGeom>
            <a:noFill/>
            <a:ln w="15240">
              <a:solidFill>
                <a:srgbClr val="5B6475"/>
              </a:solidFill>
            </a:ln>
          </p:spPr>
        </p:sp>
        <p:sp>
          <p:nvSpPr>
            <p:cNvPr id="18" name="Freeform 18"/>
            <p:cNvSpPr/>
            <p:nvPr/>
          </p:nvSpPr>
          <p:spPr>
            <a:xfrm>
              <a:off x="4944428" y="389858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9" name="Freeform 19"/>
            <p:cNvSpPr/>
            <p:nvPr/>
          </p:nvSpPr>
          <p:spPr>
            <a:xfrm>
              <a:off x="1390650" y="3467100"/>
              <a:ext cx="3606165" cy="1183958"/>
            </a:xfrm>
            <a:custGeom>
              <a:avLst/>
              <a:gdLst/>
              <a:ahLst/>
              <a:cxnLst/>
              <a:rect l="l" t="t" r="r" b="b"/>
              <a:pathLst>
                <a:path w="3606165" h="1183958">
                  <a:moveTo>
                    <a:pt x="3606165" y="974408"/>
                  </a:moveTo>
                  <a:lnTo>
                    <a:pt x="3606165" y="1183958"/>
                  </a:lnTo>
                  <a:lnTo>
                    <a:pt x="3570922" y="1183958"/>
                  </a:lnTo>
                  <a:lnTo>
                    <a:pt x="3570922" y="1036320"/>
                  </a:lnTo>
                  <a:lnTo>
                    <a:pt x="0" y="1036320"/>
                  </a:lnTo>
                  <a:lnTo>
                    <a:pt x="35242" y="1036320"/>
                  </a:lnTo>
                  <a:lnTo>
                    <a:pt x="35242" y="104775"/>
                  </a:lnTo>
                  <a:lnTo>
                    <a:pt x="35242" y="0"/>
                  </a:lnTo>
                </a:path>
              </a:pathLst>
            </a:custGeom>
            <a:noFill/>
            <a:ln w="15240">
              <a:solidFill>
                <a:srgbClr val="5B6475"/>
              </a:solidFill>
            </a:ln>
          </p:spPr>
        </p:sp>
        <p:sp>
          <p:nvSpPr>
            <p:cNvPr id="20" name="Freeform 20"/>
            <p:cNvSpPr/>
            <p:nvPr/>
          </p:nvSpPr>
          <p:spPr>
            <a:xfrm>
              <a:off x="1373505" y="3362325"/>
              <a:ext cx="104775" cy="104775"/>
            </a:xfrm>
            <a:custGeom>
              <a:avLst/>
              <a:gdLst/>
              <a:ahLst/>
              <a:cxnLst/>
              <a:rect l="l" t="t" r="r" b="b"/>
              <a:pathLst>
                <a:path w="104775" h="104775">
                  <a:moveTo>
                    <a:pt x="52388" y="0"/>
                  </a:moveTo>
                  <a:lnTo>
                    <a:pt x="104775" y="104775"/>
                  </a:lnTo>
                  <a:lnTo>
                    <a:pt x="0" y="104775"/>
                  </a:lnTo>
                  <a:close/>
                </a:path>
              </a:pathLst>
            </a:custGeom>
            <a:solidFill>
              <a:srgbClr val="5B6475"/>
            </a:solidFill>
            <a:ln>
              <a:noFill/>
            </a:ln>
          </p:spPr>
        </p:sp>
        <p:sp>
          <p:nvSpPr>
            <p:cNvPr id="21" name="Freeform 21"/>
            <p:cNvSpPr/>
            <p:nvPr/>
          </p:nvSpPr>
          <p:spPr>
            <a:xfrm>
              <a:off x="5755958" y="4222432"/>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22" name="Freeform 22"/>
            <p:cNvSpPr/>
            <p:nvPr/>
          </p:nvSpPr>
          <p:spPr>
            <a:xfrm>
              <a:off x="5917882" y="4170045"/>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23" name="Freeform 23"/>
            <p:cNvSpPr/>
            <p:nvPr/>
          </p:nvSpPr>
          <p:spPr>
            <a:xfrm>
              <a:off x="666750" y="1530668"/>
              <a:ext cx="1518285" cy="1066800"/>
            </a:xfrm>
            <a:custGeom>
              <a:avLst/>
              <a:gdLst/>
              <a:ahLst/>
              <a:cxnLst/>
              <a:rect l="l" t="t" r="r" b="b"/>
              <a:pathLst>
                <a:path w="1518285" h="1066800">
                  <a:moveTo>
                    <a:pt x="133350" y="0"/>
                  </a:moveTo>
                  <a:lnTo>
                    <a:pt x="1518285" y="0"/>
                  </a:lnTo>
                  <a:lnTo>
                    <a:pt x="1384935" y="1066800"/>
                  </a:lnTo>
                  <a:lnTo>
                    <a:pt x="0" y="1066800"/>
                  </a:lnTo>
                  <a:close/>
                </a:path>
              </a:pathLst>
            </a:custGeom>
            <a:solidFill>
              <a:srgbClr val="E7EDF3"/>
            </a:solidFill>
            <a:ln w="13335">
              <a:solidFill>
                <a:srgbClr val="334E68"/>
              </a:solidFill>
            </a:ln>
          </p:spPr>
        </p:sp>
        <p:sp>
          <p:nvSpPr>
            <p:cNvPr id="24" name="Rectangle 24"/>
            <p:cNvSpPr/>
            <p:nvPr/>
          </p:nvSpPr>
          <p:spPr>
            <a:xfrm>
              <a:off x="666750" y="2924175"/>
              <a:ext cx="1518285" cy="438150"/>
            </a:xfrm>
            <a:prstGeom prst="roundRect">
              <a:avLst>
                <a:gd name="adj" fmla="val 21739"/>
              </a:avLst>
            </a:prstGeom>
            <a:solidFill>
              <a:srgbClr val="E7EDF3"/>
            </a:solidFill>
            <a:ln w="19050">
              <a:solidFill>
                <a:srgbClr val="334E68"/>
              </a:solidFill>
            </a:ln>
          </p:spPr>
        </p:sp>
        <p:sp>
          <p:nvSpPr>
            <p:cNvPr id="25" name="Rectangle 25"/>
            <p:cNvSpPr/>
            <p:nvPr/>
          </p:nvSpPr>
          <p:spPr>
            <a:xfrm>
              <a:off x="2451735" y="2924175"/>
              <a:ext cx="1518285" cy="438150"/>
            </a:xfrm>
            <a:prstGeom prst="roundRect">
              <a:avLst>
                <a:gd name="adj" fmla="val 21739"/>
              </a:avLst>
            </a:prstGeom>
            <a:solidFill>
              <a:srgbClr val="FFFFFF"/>
            </a:solidFill>
            <a:ln w="15240">
              <a:solidFill>
                <a:srgbClr val="334E68"/>
              </a:solidFill>
            </a:ln>
          </p:spPr>
        </p:sp>
        <p:sp>
          <p:nvSpPr>
            <p:cNvPr id="26" name="Rectangle 26"/>
            <p:cNvSpPr/>
            <p:nvPr/>
          </p:nvSpPr>
          <p:spPr>
            <a:xfrm>
              <a:off x="4237672" y="1844992"/>
              <a:ext cx="1518285" cy="438150"/>
            </a:xfrm>
            <a:prstGeom prst="roundRect">
              <a:avLst>
                <a:gd name="adj" fmla="val 21739"/>
              </a:avLst>
            </a:prstGeom>
            <a:solidFill>
              <a:srgbClr val="FFFFFF"/>
            </a:solidFill>
            <a:ln w="15240">
              <a:solidFill>
                <a:srgbClr val="334E68"/>
              </a:solidFill>
            </a:ln>
          </p:spPr>
        </p:sp>
        <p:sp>
          <p:nvSpPr>
            <p:cNvPr id="27" name="Rectangle 27"/>
            <p:cNvSpPr/>
            <p:nvPr/>
          </p:nvSpPr>
          <p:spPr>
            <a:xfrm>
              <a:off x="4237672" y="2924175"/>
              <a:ext cx="1518285" cy="438150"/>
            </a:xfrm>
            <a:prstGeom prst="roundRect">
              <a:avLst>
                <a:gd name="adj" fmla="val 21739"/>
              </a:avLst>
            </a:prstGeom>
            <a:solidFill>
              <a:srgbClr val="FFFFFF"/>
            </a:solidFill>
            <a:ln w="15240">
              <a:solidFill>
                <a:srgbClr val="334E68"/>
              </a:solidFill>
            </a:ln>
          </p:spPr>
        </p:sp>
        <p:sp>
          <p:nvSpPr>
            <p:cNvPr id="28" name="Rectangle 28"/>
            <p:cNvSpPr/>
            <p:nvPr/>
          </p:nvSpPr>
          <p:spPr>
            <a:xfrm>
              <a:off x="4237672" y="4003358"/>
              <a:ext cx="1518285" cy="438150"/>
            </a:xfrm>
            <a:prstGeom prst="roundRect">
              <a:avLst>
                <a:gd name="adj" fmla="val 21739"/>
              </a:avLst>
            </a:prstGeom>
            <a:solidFill>
              <a:srgbClr val="FFFFFF"/>
            </a:solidFill>
            <a:ln w="15240">
              <a:solidFill>
                <a:srgbClr val="334E68"/>
              </a:solidFill>
            </a:ln>
          </p:spPr>
        </p:sp>
        <p:sp>
          <p:nvSpPr>
            <p:cNvPr id="29" name="Rectangle 29"/>
            <p:cNvSpPr/>
            <p:nvPr/>
          </p:nvSpPr>
          <p:spPr>
            <a:xfrm>
              <a:off x="6022658" y="4003358"/>
              <a:ext cx="1518285" cy="438150"/>
            </a:xfrm>
            <a:prstGeom prst="roundRect">
              <a:avLst>
                <a:gd name="adj" fmla="val 50000"/>
              </a:avLst>
            </a:prstGeom>
            <a:solidFill>
              <a:srgbClr val="334E68"/>
            </a:solidFill>
            <a:ln>
              <a:noFill/>
            </a:ln>
          </p:spPr>
        </p:sp>
        <p:sp>
          <p:nvSpPr>
            <p:cNvPr id="30" name="TextBox 30"/>
            <p:cNvSpPr txBox="1"/>
            <p:nvPr/>
          </p:nvSpPr>
          <p:spPr>
            <a:xfrm>
              <a:off x="850455" y="1646396"/>
              <a:ext cx="1150874" cy="906590"/>
            </a:xfrm>
            <a:prstGeom prst="rect">
              <a:avLst/>
            </a:prstGeom>
            <a:noFill/>
            <a:ln>
              <a:noFill/>
            </a:ln>
          </p:spPr>
          <p:txBody>
            <a:bodyPr wrap="none" lIns="0" tIns="0" rIns="0" bIns="0" anchor="t" anchorCtr="0">
              <a:spAutoFit/>
            </a:bodyPr>
            <a:lstStyle/>
            <a:p>
              <a:pPr algn="ctr">
                <a:lnSpc>
                  <a:spcPts val="1725"/>
                </a:lnSpc>
              </a:pPr>
              <a:r>
                <a:rPr lang="zh-CN" sz="1280" dirty="0">
                  <a:solidFill>
                    <a:srgbClr val="1F2937"/>
                  </a:solidFill>
                  <a:latin typeface="+mn-lt"/>
                  <a:ea typeface="+mn-ea"/>
                  <a:cs typeface="+mn-cs"/>
                </a:rPr>
                <a:t>用户故事、交付</a:t>
              </a:r>
              <a:br/>
              <a:r>
                <a:rPr lang="zh-CN" sz="1280" dirty="0">
                  <a:solidFill>
                    <a:srgbClr val="1F2937"/>
                  </a:solidFill>
                  <a:latin typeface="+mn-lt"/>
                  <a:ea typeface="+mn-ea"/>
                  <a:cs typeface="+mn-cs"/>
                </a:rPr>
                <a:t>计划、项目速</a:t>
              </a:r>
              <a:br/>
              <a:r>
                <a:rPr lang="zh-CN" sz="1280" dirty="0">
                  <a:solidFill>
                    <a:srgbClr val="1F2937"/>
                  </a:solidFill>
                  <a:latin typeface="+mn-lt"/>
                  <a:ea typeface="+mn-ea"/>
                  <a:cs typeface="+mn-cs"/>
                </a:rPr>
                <a:t>率、未完成的任</a:t>
              </a:r>
              <a:br/>
              <a:r>
                <a:rPr lang="zh-CN" sz="1280" dirty="0">
                  <a:solidFill>
                    <a:srgbClr val="1F2937"/>
                  </a:solidFill>
                  <a:latin typeface="+mn-lt"/>
                  <a:ea typeface="+mn-ea"/>
                  <a:cs typeface="+mn-cs"/>
                </a:rPr>
                <a:t>务</a:t>
              </a:r>
            </a:p>
          </p:txBody>
        </p:sp>
        <p:sp>
          <p:nvSpPr>
            <p:cNvPr id="31" name="TextBox 31"/>
            <p:cNvSpPr txBox="1"/>
            <p:nvPr/>
          </p:nvSpPr>
          <p:spPr>
            <a:xfrm>
              <a:off x="902475" y="3054191"/>
              <a:ext cx="104683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制订迭代计划</a:t>
              </a:r>
            </a:p>
          </p:txBody>
        </p:sp>
        <p:sp>
          <p:nvSpPr>
            <p:cNvPr id="32" name="TextBox 32"/>
            <p:cNvSpPr txBox="1"/>
            <p:nvPr/>
          </p:nvSpPr>
          <p:spPr>
            <a:xfrm>
              <a:off x="2860726" y="3054191"/>
              <a:ext cx="702208"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站立会议</a:t>
              </a:r>
            </a:p>
          </p:txBody>
        </p:sp>
        <p:sp>
          <p:nvSpPr>
            <p:cNvPr id="33" name="TextBox 33"/>
            <p:cNvSpPr txBox="1"/>
            <p:nvPr/>
          </p:nvSpPr>
          <p:spPr>
            <a:xfrm>
              <a:off x="4559554" y="1975009"/>
              <a:ext cx="874522"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交流与讨论</a:t>
              </a:r>
            </a:p>
          </p:txBody>
        </p:sp>
        <p:sp>
          <p:nvSpPr>
            <p:cNvPr id="34" name="TextBox 34"/>
            <p:cNvSpPr txBox="1"/>
            <p:nvPr/>
          </p:nvSpPr>
          <p:spPr>
            <a:xfrm>
              <a:off x="4473397" y="3054191"/>
              <a:ext cx="104683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代码共享编程</a:t>
              </a:r>
            </a:p>
          </p:txBody>
        </p:sp>
        <p:sp>
          <p:nvSpPr>
            <p:cNvPr id="35" name="TextBox 35"/>
            <p:cNvSpPr txBox="1"/>
            <p:nvPr/>
          </p:nvSpPr>
          <p:spPr>
            <a:xfrm>
              <a:off x="4645711" y="4133374"/>
              <a:ext cx="702208"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验收测试</a:t>
              </a:r>
            </a:p>
          </p:txBody>
        </p:sp>
        <p:sp>
          <p:nvSpPr>
            <p:cNvPr id="36" name="TextBox 36"/>
            <p:cNvSpPr txBox="1"/>
            <p:nvPr/>
          </p:nvSpPr>
          <p:spPr>
            <a:xfrm>
              <a:off x="6516853" y="4133374"/>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小交付</a:t>
              </a:r>
            </a:p>
          </p:txBody>
        </p:sp>
        <p:sp>
          <p:nvSpPr>
            <p:cNvPr id="37" name="Rectangle 37"/>
            <p:cNvSpPr/>
            <p:nvPr/>
          </p:nvSpPr>
          <p:spPr>
            <a:xfrm>
              <a:off x="2004060" y="2927032"/>
              <a:ext cx="628650" cy="193358"/>
            </a:xfrm>
            <a:prstGeom prst="roundRect">
              <a:avLst>
                <a:gd name="adj" fmla="val 19704"/>
              </a:avLst>
            </a:prstGeom>
            <a:solidFill>
              <a:srgbClr val="FFFFFF"/>
            </a:solidFill>
            <a:ln>
              <a:noFill/>
            </a:ln>
          </p:spPr>
        </p:sp>
        <p:sp>
          <p:nvSpPr>
            <p:cNvPr id="38" name="TextBox 38"/>
            <p:cNvSpPr txBox="1"/>
            <p:nvPr/>
          </p:nvSpPr>
          <p:spPr>
            <a:xfrm>
              <a:off x="2030349" y="2953702"/>
              <a:ext cx="576072"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任务分配</a:t>
              </a:r>
            </a:p>
          </p:txBody>
        </p:sp>
        <p:sp>
          <p:nvSpPr>
            <p:cNvPr id="39" name="Rectangle 39"/>
            <p:cNvSpPr/>
            <p:nvPr/>
          </p:nvSpPr>
          <p:spPr>
            <a:xfrm>
              <a:off x="3723322" y="2927032"/>
              <a:ext cx="762000" cy="193358"/>
            </a:xfrm>
            <a:prstGeom prst="roundRect">
              <a:avLst>
                <a:gd name="adj" fmla="val 19704"/>
              </a:avLst>
            </a:prstGeom>
            <a:solidFill>
              <a:srgbClr val="FFFFFF"/>
            </a:solidFill>
            <a:ln>
              <a:noFill/>
            </a:ln>
          </p:spPr>
        </p:sp>
        <p:sp>
          <p:nvSpPr>
            <p:cNvPr id="40" name="TextBox 40"/>
            <p:cNvSpPr txBox="1"/>
            <p:nvPr/>
          </p:nvSpPr>
          <p:spPr>
            <a:xfrm>
              <a:off x="3745611" y="2953702"/>
              <a:ext cx="717423"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下一个任务</a:t>
              </a:r>
            </a:p>
          </p:txBody>
        </p:sp>
        <p:sp>
          <p:nvSpPr>
            <p:cNvPr id="41" name="Rectangle 41"/>
            <p:cNvSpPr/>
            <p:nvPr/>
          </p:nvSpPr>
          <p:spPr>
            <a:xfrm>
              <a:off x="5025390" y="2511742"/>
              <a:ext cx="628650" cy="193358"/>
            </a:xfrm>
            <a:prstGeom prst="roundRect">
              <a:avLst>
                <a:gd name="adj" fmla="val 19704"/>
              </a:avLst>
            </a:prstGeom>
            <a:solidFill>
              <a:srgbClr val="FFFFFF"/>
            </a:solidFill>
            <a:ln>
              <a:noFill/>
            </a:ln>
          </p:spPr>
        </p:sp>
        <p:sp>
          <p:nvSpPr>
            <p:cNvPr id="42" name="TextBox 42"/>
            <p:cNvSpPr txBox="1"/>
            <p:nvPr/>
          </p:nvSpPr>
          <p:spPr>
            <a:xfrm>
              <a:off x="5048631" y="2538412"/>
              <a:ext cx="576072"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结对编程</a:t>
              </a:r>
            </a:p>
          </p:txBody>
        </p:sp>
        <p:sp>
          <p:nvSpPr>
            <p:cNvPr id="43" name="Rectangle 43"/>
            <p:cNvSpPr/>
            <p:nvPr/>
          </p:nvSpPr>
          <p:spPr>
            <a:xfrm>
              <a:off x="3723322" y="2386965"/>
              <a:ext cx="762000" cy="193358"/>
            </a:xfrm>
            <a:prstGeom prst="roundRect">
              <a:avLst>
                <a:gd name="adj" fmla="val 19704"/>
              </a:avLst>
            </a:prstGeom>
            <a:solidFill>
              <a:srgbClr val="FFFFFF"/>
            </a:solidFill>
            <a:ln>
              <a:noFill/>
            </a:ln>
          </p:spPr>
        </p:sp>
        <p:sp>
          <p:nvSpPr>
            <p:cNvPr id="44" name="TextBox 44"/>
            <p:cNvSpPr txBox="1"/>
            <p:nvPr/>
          </p:nvSpPr>
          <p:spPr>
            <a:xfrm>
              <a:off x="3745611" y="2413635"/>
              <a:ext cx="717423"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共享的信息</a:t>
              </a:r>
            </a:p>
          </p:txBody>
        </p:sp>
        <p:sp>
          <p:nvSpPr>
            <p:cNvPr id="45" name="Rectangle 45"/>
            <p:cNvSpPr/>
            <p:nvPr/>
          </p:nvSpPr>
          <p:spPr>
            <a:xfrm>
              <a:off x="5025390" y="3590925"/>
              <a:ext cx="495300" cy="193358"/>
            </a:xfrm>
            <a:prstGeom prst="roundRect">
              <a:avLst>
                <a:gd name="adj" fmla="val 19704"/>
              </a:avLst>
            </a:prstGeom>
            <a:solidFill>
              <a:srgbClr val="FFFFFF"/>
            </a:solidFill>
            <a:ln>
              <a:noFill/>
            </a:ln>
          </p:spPr>
        </p:sp>
        <p:sp>
          <p:nvSpPr>
            <p:cNvPr id="46" name="TextBox 46"/>
            <p:cNvSpPr txBox="1"/>
            <p:nvPr/>
          </p:nvSpPr>
          <p:spPr>
            <a:xfrm>
              <a:off x="5048631" y="3617595"/>
              <a:ext cx="434721"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新功能</a:t>
              </a:r>
            </a:p>
          </p:txBody>
        </p:sp>
        <p:sp>
          <p:nvSpPr>
            <p:cNvPr id="47" name="Rectangle 47"/>
            <p:cNvSpPr/>
            <p:nvPr/>
          </p:nvSpPr>
          <p:spPr>
            <a:xfrm>
              <a:off x="2994660" y="4287202"/>
              <a:ext cx="361950" cy="193358"/>
            </a:xfrm>
            <a:prstGeom prst="roundRect">
              <a:avLst>
                <a:gd name="adj" fmla="val 19704"/>
              </a:avLst>
            </a:prstGeom>
            <a:solidFill>
              <a:srgbClr val="FFFFFF"/>
            </a:solidFill>
            <a:ln>
              <a:noFill/>
            </a:ln>
          </p:spPr>
        </p:sp>
        <p:sp>
          <p:nvSpPr>
            <p:cNvPr id="48" name="TextBox 48"/>
            <p:cNvSpPr txBox="1"/>
            <p:nvPr/>
          </p:nvSpPr>
          <p:spPr>
            <a:xfrm>
              <a:off x="3028950" y="4313872"/>
              <a:ext cx="293370"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差错</a:t>
              </a:r>
            </a:p>
          </p:txBody>
        </p:sp>
        <p:sp>
          <p:nvSpPr>
            <p:cNvPr id="49" name="Rectangle 49"/>
            <p:cNvSpPr/>
            <p:nvPr/>
          </p:nvSpPr>
          <p:spPr>
            <a:xfrm>
              <a:off x="5574982" y="4006215"/>
              <a:ext cx="628650" cy="193358"/>
            </a:xfrm>
            <a:prstGeom prst="roundRect">
              <a:avLst>
                <a:gd name="adj" fmla="val 19704"/>
              </a:avLst>
            </a:prstGeom>
            <a:solidFill>
              <a:srgbClr val="FFFFFF"/>
            </a:solidFill>
            <a:ln>
              <a:noFill/>
            </a:ln>
          </p:spPr>
        </p:sp>
        <p:sp>
          <p:nvSpPr>
            <p:cNvPr id="50" name="TextBox 50"/>
            <p:cNvSpPr txBox="1"/>
            <p:nvPr/>
          </p:nvSpPr>
          <p:spPr>
            <a:xfrm>
              <a:off x="5601272" y="4032885"/>
              <a:ext cx="576072"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用户认可</a:t>
              </a:r>
            </a:p>
          </p:txBody>
        </p:sp>
      </p:grpSp>
      <p:grpSp>
        <p:nvGrpSpPr>
          <p:cNvPr id="61" name="c2-card-1"/>
          <p:cNvGrpSpPr/>
          <p:nvPr/>
        </p:nvGrpSpPr>
        <p:grpSpPr>
          <a:xfrm>
            <a:off x="7980045" y="1524000"/>
            <a:ext cx="3678555" cy="1701165"/>
            <a:chOff x="7980045" y="1524000"/>
            <a:chExt cx="3678555" cy="1701165"/>
          </a:xfrm>
        </p:grpSpPr>
        <p:sp>
          <p:nvSpPr>
            <p:cNvPr id="52" name="Rectangle 52"/>
            <p:cNvSpPr/>
            <p:nvPr/>
          </p:nvSpPr>
          <p:spPr>
            <a:xfrm>
              <a:off x="7980045" y="1524000"/>
              <a:ext cx="3678555" cy="1701165"/>
            </a:xfrm>
            <a:prstGeom prst="roundRect">
              <a:avLst>
                <a:gd name="adj" fmla="val 7839"/>
              </a:avLst>
            </a:prstGeom>
            <a:solidFill>
              <a:srgbClr val="334E68"/>
            </a:solidFill>
            <a:ln>
              <a:noFill/>
            </a:ln>
          </p:spPr>
        </p:sp>
        <p:sp>
          <p:nvSpPr>
            <p:cNvPr id="53" name="Rectangle 53"/>
            <p:cNvSpPr/>
            <p:nvPr/>
          </p:nvSpPr>
          <p:spPr>
            <a:xfrm>
              <a:off x="8189595" y="1733550"/>
              <a:ext cx="1204912" cy="257175"/>
            </a:xfrm>
            <a:prstGeom prst="roundRect">
              <a:avLst>
                <a:gd name="adj" fmla="val 50000"/>
              </a:avLst>
            </a:prstGeom>
            <a:solidFill>
              <a:srgbClr val="243B53"/>
            </a:solidFill>
            <a:ln>
              <a:noFill/>
            </a:ln>
          </p:spPr>
        </p:sp>
        <p:sp>
          <p:nvSpPr>
            <p:cNvPr id="54" name="TextBox 54"/>
            <p:cNvSpPr txBox="1"/>
            <p:nvPr/>
          </p:nvSpPr>
          <p:spPr>
            <a:xfrm>
              <a:off x="8258150" y="1769269"/>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编程中的三件事</a:t>
              </a:r>
            </a:p>
          </p:txBody>
        </p:sp>
        <p:sp>
          <p:nvSpPr>
            <p:cNvPr id="55" name="Ellipse 55"/>
            <p:cNvSpPr/>
            <p:nvPr/>
          </p:nvSpPr>
          <p:spPr>
            <a:xfrm>
              <a:off x="8195310" y="2173605"/>
              <a:ext cx="64770" cy="64770"/>
            </a:xfrm>
            <a:prstGeom prst="ellipse">
              <a:avLst/>
            </a:prstGeom>
            <a:solidFill>
              <a:srgbClr val="FFFFFF"/>
            </a:solidFill>
            <a:ln>
              <a:noFill/>
            </a:ln>
          </p:spPr>
        </p:sp>
        <p:sp>
          <p:nvSpPr>
            <p:cNvPr id="56" name="TextBox 56"/>
            <p:cNvSpPr txBox="1"/>
            <p:nvPr/>
          </p:nvSpPr>
          <p:spPr>
            <a:xfrm>
              <a:off x="8353425" y="2110740"/>
              <a:ext cx="183261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结对编程与人员轮换</a:t>
              </a:r>
            </a:p>
          </p:txBody>
        </p:sp>
        <p:sp>
          <p:nvSpPr>
            <p:cNvPr id="57" name="Ellipse 57"/>
            <p:cNvSpPr/>
            <p:nvPr/>
          </p:nvSpPr>
          <p:spPr>
            <a:xfrm>
              <a:off x="8195310" y="2508885"/>
              <a:ext cx="64770" cy="64770"/>
            </a:xfrm>
            <a:prstGeom prst="ellipse">
              <a:avLst/>
            </a:prstGeom>
            <a:solidFill>
              <a:srgbClr val="FFFFFF"/>
            </a:solidFill>
            <a:ln>
              <a:noFill/>
            </a:ln>
          </p:spPr>
        </p:sp>
        <p:sp>
          <p:nvSpPr>
            <p:cNvPr id="58" name="TextBox 58"/>
            <p:cNvSpPr txBox="1"/>
            <p:nvPr/>
          </p:nvSpPr>
          <p:spPr>
            <a:xfrm>
              <a:off x="8353425" y="2446020"/>
              <a:ext cx="223647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持续地优化设计（重构）</a:t>
              </a:r>
            </a:p>
          </p:txBody>
        </p:sp>
        <p:sp>
          <p:nvSpPr>
            <p:cNvPr id="59" name="Ellipse 59"/>
            <p:cNvSpPr/>
            <p:nvPr/>
          </p:nvSpPr>
          <p:spPr>
            <a:xfrm>
              <a:off x="8195310" y="2844165"/>
              <a:ext cx="64770" cy="64770"/>
            </a:xfrm>
            <a:prstGeom prst="ellipse">
              <a:avLst/>
            </a:prstGeom>
            <a:solidFill>
              <a:srgbClr val="FFFFFF"/>
            </a:solidFill>
            <a:ln>
              <a:noFill/>
            </a:ln>
          </p:spPr>
        </p:sp>
        <p:sp>
          <p:nvSpPr>
            <p:cNvPr id="60" name="TextBox 60"/>
            <p:cNvSpPr txBox="1"/>
            <p:nvPr/>
          </p:nvSpPr>
          <p:spPr>
            <a:xfrm>
              <a:off x="8353425" y="2781300"/>
              <a:ext cx="170688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用 CRC 卡讨论设计</a:t>
              </a:r>
            </a:p>
          </p:txBody>
        </p:sp>
      </p:grpSp>
      <p:grpSp>
        <p:nvGrpSpPr>
          <p:cNvPr id="67" name="c2-card-2"/>
          <p:cNvGrpSpPr/>
          <p:nvPr/>
        </p:nvGrpSpPr>
        <p:grpSpPr>
          <a:xfrm>
            <a:off x="7980045" y="3415665"/>
            <a:ext cx="3678555" cy="2173605"/>
            <a:chOff x="7980045" y="3415665"/>
            <a:chExt cx="3678555" cy="2173605"/>
          </a:xfrm>
        </p:grpSpPr>
        <p:sp>
          <p:nvSpPr>
            <p:cNvPr id="62" name="Rectangle 62"/>
            <p:cNvSpPr/>
            <p:nvPr/>
          </p:nvSpPr>
          <p:spPr>
            <a:xfrm>
              <a:off x="7980045" y="3415665"/>
              <a:ext cx="3678555" cy="2173605"/>
            </a:xfrm>
            <a:prstGeom prst="roundRect">
              <a:avLst>
                <a:gd name="adj" fmla="val 6135"/>
              </a:avLst>
            </a:prstGeom>
            <a:solidFill>
              <a:srgbClr val="FFFFFF"/>
            </a:solidFill>
            <a:ln w="14288">
              <a:solidFill>
                <a:srgbClr val="D9DFEA"/>
              </a:solidFill>
            </a:ln>
          </p:spPr>
        </p:sp>
        <p:sp>
          <p:nvSpPr>
            <p:cNvPr id="63" name="Rectangle 63"/>
            <p:cNvSpPr/>
            <p:nvPr/>
          </p:nvSpPr>
          <p:spPr>
            <a:xfrm>
              <a:off x="7989570" y="3549015"/>
              <a:ext cx="47625" cy="1906905"/>
            </a:xfrm>
            <a:prstGeom prst="roundRect">
              <a:avLst>
                <a:gd name="adj" fmla="val 50000"/>
              </a:avLst>
            </a:prstGeom>
            <a:solidFill>
              <a:srgbClr val="5B6475"/>
            </a:solidFill>
            <a:ln>
              <a:noFill/>
            </a:ln>
          </p:spPr>
        </p:sp>
        <p:sp>
          <p:nvSpPr>
            <p:cNvPr id="64" name="Rectangle 64"/>
            <p:cNvSpPr/>
            <p:nvPr/>
          </p:nvSpPr>
          <p:spPr>
            <a:xfrm>
              <a:off x="8227695" y="3625215"/>
              <a:ext cx="494348" cy="257175"/>
            </a:xfrm>
            <a:prstGeom prst="roundRect">
              <a:avLst>
                <a:gd name="adj" fmla="val 50000"/>
              </a:avLst>
            </a:prstGeom>
            <a:solidFill>
              <a:srgbClr val="F4F6FB"/>
            </a:solidFill>
            <a:ln>
              <a:noFill/>
            </a:ln>
          </p:spPr>
        </p:sp>
        <p:sp>
          <p:nvSpPr>
            <p:cNvPr id="65" name="TextBox 65"/>
            <p:cNvSpPr txBox="1"/>
            <p:nvPr/>
          </p:nvSpPr>
          <p:spPr>
            <a:xfrm>
              <a:off x="8317903" y="3660934"/>
              <a:ext cx="312979"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更正</a:t>
              </a:r>
            </a:p>
          </p:txBody>
        </p:sp>
        <p:sp>
          <p:nvSpPr>
            <p:cNvPr id="66" name="TextBox 66"/>
            <p:cNvSpPr txBox="1"/>
            <p:nvPr/>
          </p:nvSpPr>
          <p:spPr>
            <a:xfrm>
              <a:off x="8220075" y="4002405"/>
              <a:ext cx="3072765" cy="14363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 xml:space="preserve">原课件此处写作 </a:t>
              </a:r>
              <a:r>
                <a:rPr lang="zh-CN" sz="1500" b="1" dirty="0">
                  <a:solidFill>
                    <a:srgbClr val="B42318"/>
                  </a:solidFill>
                  <a:latin typeface="+mn-lt"/>
                  <a:ea typeface="+mn-ea"/>
                  <a:cs typeface="+mn-cs"/>
                </a:rPr>
                <a:t>循环冗余检测</a:t>
              </a:r>
              <a:r>
                <a:rPr lang="zh-CN" sz="1500" dirty="0">
                  <a:solidFill>
                    <a:srgbClr val="1F2937"/>
                  </a:solidFill>
                  <a:latin typeface="+mn-lt"/>
                  <a:ea typeface="+mn-ea"/>
                  <a:cs typeface="+mn-cs"/>
                </a:rPr>
                <a:t>，它</a:t>
              </a:r>
              <a:br/>
              <a:r>
                <a:rPr lang="zh-CN" sz="1500" dirty="0">
                  <a:solidFill>
                    <a:srgbClr val="1F2937"/>
                  </a:solidFill>
                  <a:latin typeface="+mn-lt"/>
                  <a:ea typeface="+mn-ea"/>
                  <a:cs typeface="+mn-cs"/>
                </a:rPr>
                <a:t xml:space="preserve">是英文原图中 </a:t>
              </a:r>
              <a:r>
                <a:rPr lang="zh-CN" sz="1500" b="1" dirty="0">
                  <a:solidFill>
                    <a:srgbClr val="0F7A68"/>
                  </a:solidFill>
                  <a:latin typeface="+mn-lt"/>
                  <a:ea typeface="+mn-ea"/>
                  <a:cs typeface="+mn-cs"/>
                </a:rPr>
                <a:t>CRC 卡</a:t>
              </a:r>
              <a:r>
                <a:rPr lang="zh-CN" sz="1500" dirty="0">
                  <a:solidFill>
                    <a:srgbClr val="1F2937"/>
                  </a:solidFill>
                  <a:latin typeface="+mn-lt"/>
                  <a:ea typeface="+mn-ea"/>
                  <a:cs typeface="+mn-cs"/>
                </a:rPr>
                <a:t>（Class /</a:t>
              </a:r>
              <a:br/>
              <a:r>
                <a:rPr lang="zh-CN" sz="1500" dirty="0">
                  <a:solidFill>
                    <a:srgbClr val="1F2937"/>
                  </a:solidFill>
                  <a:latin typeface="+mn-lt"/>
                  <a:ea typeface="+mn-ea"/>
                  <a:cs typeface="+mn-cs"/>
                </a:rPr>
                <a:t>Responsibility / Collaborator，类</a:t>
              </a:r>
              <a:br/>
              <a:r>
                <a:rPr lang="zh-CN" sz="1500" dirty="0">
                  <a:solidFill>
                    <a:srgbClr val="1F2937"/>
                  </a:solidFill>
                  <a:latin typeface="+mn-lt"/>
                  <a:ea typeface="+mn-ea"/>
                  <a:cs typeface="+mn-cs"/>
                </a:rPr>
                <a:t>-职责-协作者卡片）的误译，CRC 卡</a:t>
              </a:r>
              <a:br/>
              <a:r>
                <a:rPr lang="zh-CN" sz="1500" dirty="0">
                  <a:solidFill>
                    <a:srgbClr val="1F2937"/>
                  </a:solidFill>
                  <a:latin typeface="+mn-lt"/>
                  <a:ea typeface="+mn-ea"/>
                  <a:cs typeface="+mn-cs"/>
                </a:rPr>
                <a:t>是 XP 用来做设计讨论的小卡片。</a:t>
              </a:r>
            </a:p>
          </p:txBody>
        </p:sp>
      </p:grpSp>
      <p:grpSp>
        <p:nvGrpSpPr>
          <p:cNvPr id="74" name="takeaway"/>
          <p:cNvGrpSpPr/>
          <p:nvPr/>
        </p:nvGrpSpPr>
        <p:grpSpPr>
          <a:xfrm>
            <a:off x="533400" y="5829300"/>
            <a:ext cx="11125200" cy="533400"/>
            <a:chOff x="533400" y="5829300"/>
            <a:chExt cx="11125200" cy="533400"/>
          </a:xfrm>
        </p:grpSpPr>
        <p:sp>
          <p:nvSpPr>
            <p:cNvPr id="68" name="Rectangle 68"/>
            <p:cNvSpPr/>
            <p:nvPr/>
          </p:nvSpPr>
          <p:spPr>
            <a:xfrm>
              <a:off x="533400" y="5829300"/>
              <a:ext cx="11125200" cy="533400"/>
            </a:xfrm>
            <a:prstGeom prst="roundRect">
              <a:avLst>
                <a:gd name="adj" fmla="val 21429"/>
              </a:avLst>
            </a:prstGeom>
            <a:solidFill>
              <a:srgbClr val="FDEEE7"/>
            </a:solidFill>
            <a:ln>
              <a:noFill/>
            </a:ln>
          </p:spPr>
        </p:sp>
        <p:grpSp>
          <p:nvGrpSpPr>
            <p:cNvPr id="72" name="Group 72"/>
            <p:cNvGrpSpPr/>
            <p:nvPr/>
          </p:nvGrpSpPr>
          <p:grpSpPr>
            <a:xfrm>
              <a:off x="738188" y="5995988"/>
              <a:ext cx="200026" cy="200025"/>
              <a:chOff x="738188" y="5995988"/>
              <a:chExt cx="200026" cy="200025"/>
            </a:xfrm>
          </p:grpSpPr>
          <p:sp>
            <p:nvSpPr>
              <p:cNvPr id="69" name="Freeform 69"/>
              <p:cNvSpPr/>
              <p:nvPr/>
            </p:nvSpPr>
            <p:spPr>
              <a:xfrm>
                <a:off x="738188" y="599598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70" name="Freeform 70"/>
              <p:cNvSpPr/>
              <p:nvPr/>
            </p:nvSpPr>
            <p:spPr>
              <a:xfrm>
                <a:off x="777926" y="604043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71" name="Freeform 71"/>
              <p:cNvSpPr/>
              <p:nvPr/>
            </p:nvSpPr>
            <p:spPr>
              <a:xfrm>
                <a:off x="812642" y="615156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73" name="TextBox 73"/>
            <p:cNvSpPr txBox="1"/>
            <p:nvPr/>
          </p:nvSpPr>
          <p:spPr>
            <a:xfrm>
              <a:off x="1040130" y="5991225"/>
              <a:ext cx="7688580" cy="293370"/>
            </a:xfrm>
            <a:prstGeom prst="rect">
              <a:avLst/>
            </a:prstGeom>
            <a:noFill/>
            <a:ln>
              <a:noFill/>
            </a:ln>
          </p:spPr>
          <p:txBody>
            <a:bodyPr wrap="none" lIns="0" tIns="0" rIns="0" bIns="0" anchor="t" anchorCtr="0">
              <a:spAutoFit/>
            </a:bodyPr>
            <a:lstStyle/>
            <a:p>
              <a:pPr algn="l"/>
              <a:r>
                <a:rPr lang="zh-CN" sz="1500" dirty="0">
                  <a:solidFill>
                    <a:srgbClr val="C2410C"/>
                  </a:solidFill>
                  <a:latin typeface="+mn-lt"/>
                  <a:ea typeface="+mn-ea"/>
                  <a:cs typeface="+mn-cs"/>
                </a:rPr>
                <a:t>一次迭代的产物是最新版本；未通过验收的模块和新发现的差错回到下一次迭代计划。</a:t>
              </a:r>
            </a:p>
          </p:txBody>
        </p:sp>
      </p:grpSp>
      <p:grpSp>
        <p:nvGrpSpPr>
          <p:cNvPr id="77" name="footer"/>
          <p:cNvGrpSpPr/>
          <p:nvPr/>
        </p:nvGrpSpPr>
        <p:grpSpPr>
          <a:xfrm>
            <a:off x="528447" y="6581299"/>
            <a:ext cx="11135106" cy="190690"/>
            <a:chOff x="528447" y="6581299"/>
            <a:chExt cx="11135106" cy="190690"/>
          </a:xfrm>
        </p:grpSpPr>
        <p:sp>
          <p:nvSpPr>
            <p:cNvPr id="75" name="TextBox 75"/>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76" name="TextBox 7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60</a:t>
              </a:r>
            </a:p>
          </p:txBody>
        </p:sp>
      </p:grpSp>
    </p:spTree>
  </p:cSld>
  <p:clrMapOvr>
    <a:masterClrMapping/>
  </p:clrMapOvr>
  <p:transition xmlns:p14="http://schemas.microsoft.com/office/powerpoint/2010/main" p14:dur="400">
    <p:fade/>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992909" cy="909257"/>
            <a:chOff x="520446" y="342900"/>
            <a:chExt cx="5992909" cy="909257"/>
          </a:xfrm>
        </p:grpSpPr>
        <p:sp>
          <p:nvSpPr>
            <p:cNvPr id="2" name="Rectangle 2"/>
            <p:cNvSpPr/>
            <p:nvPr/>
          </p:nvSpPr>
          <p:spPr>
            <a:xfrm>
              <a:off x="533400" y="342900"/>
              <a:ext cx="3126105" cy="266700"/>
            </a:xfrm>
            <a:prstGeom prst="roundRect">
              <a:avLst>
                <a:gd name="adj" fmla="val 50000"/>
              </a:avLst>
            </a:prstGeom>
            <a:solidFill>
              <a:srgbClr val="E7EDF3"/>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敏捷过程、极限编程与微软过程</a:t>
              </a:r>
            </a:p>
          </p:txBody>
        </p:sp>
        <p:sp>
          <p:nvSpPr>
            <p:cNvPr id="4" name="TextBox 4"/>
            <p:cNvSpPr txBox="1"/>
            <p:nvPr/>
          </p:nvSpPr>
          <p:spPr>
            <a:xfrm>
              <a:off x="520446" y="753428"/>
              <a:ext cx="599290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微软过程：综合 RUP 与 XP 的经验总结</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6" name="c1-card-1"/>
          <p:cNvGrpSpPr/>
          <p:nvPr/>
        </p:nvGrpSpPr>
        <p:grpSpPr>
          <a:xfrm>
            <a:off x="533400" y="1524000"/>
            <a:ext cx="4544378" cy="2844165"/>
            <a:chOff x="533400" y="1524000"/>
            <a:chExt cx="4544378" cy="2844165"/>
          </a:xfrm>
        </p:grpSpPr>
        <p:sp>
          <p:nvSpPr>
            <p:cNvPr id="7" name="Rectangle 7"/>
            <p:cNvSpPr/>
            <p:nvPr/>
          </p:nvSpPr>
          <p:spPr>
            <a:xfrm>
              <a:off x="533400" y="1524000"/>
              <a:ext cx="4544378" cy="2844165"/>
            </a:xfrm>
            <a:prstGeom prst="roundRect">
              <a:avLst>
                <a:gd name="adj" fmla="val 4689"/>
              </a:avLst>
            </a:prstGeom>
            <a:solidFill>
              <a:srgbClr val="FFFFFF"/>
            </a:solidFill>
            <a:ln w="14288">
              <a:solidFill>
                <a:srgbClr val="D9DFEA"/>
              </a:solidFill>
            </a:ln>
          </p:spPr>
        </p:sp>
        <p:sp>
          <p:nvSpPr>
            <p:cNvPr id="8" name="Rectangle 8"/>
            <p:cNvSpPr/>
            <p:nvPr/>
          </p:nvSpPr>
          <p:spPr>
            <a:xfrm>
              <a:off x="542925" y="1657350"/>
              <a:ext cx="47625" cy="2577465"/>
            </a:xfrm>
            <a:prstGeom prst="roundRect">
              <a:avLst>
                <a:gd name="adj" fmla="val 50000"/>
              </a:avLst>
            </a:prstGeom>
            <a:solidFill>
              <a:srgbClr val="334E68"/>
            </a:solidFill>
            <a:ln>
              <a:noFill/>
            </a:ln>
          </p:spPr>
        </p:sp>
        <p:sp>
          <p:nvSpPr>
            <p:cNvPr id="9" name="Rectangle 9"/>
            <p:cNvSpPr/>
            <p:nvPr/>
          </p:nvSpPr>
          <p:spPr>
            <a:xfrm>
              <a:off x="781050" y="1733550"/>
              <a:ext cx="778192" cy="257175"/>
            </a:xfrm>
            <a:prstGeom prst="roundRect">
              <a:avLst>
                <a:gd name="adj" fmla="val 50000"/>
              </a:avLst>
            </a:prstGeom>
            <a:solidFill>
              <a:srgbClr val="E7EDF3"/>
            </a:solidFill>
            <a:ln>
              <a:noFill/>
            </a:ln>
          </p:spPr>
        </p:sp>
        <p:sp>
          <p:nvSpPr>
            <p:cNvPr id="10" name="TextBox 10"/>
            <p:cNvSpPr txBox="1"/>
            <p:nvPr/>
          </p:nvSpPr>
          <p:spPr>
            <a:xfrm>
              <a:off x="863359" y="1769269"/>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微软过程</a:t>
              </a:r>
            </a:p>
          </p:txBody>
        </p:sp>
        <p:sp>
          <p:nvSpPr>
            <p:cNvPr id="11" name="TextBox 11"/>
            <p:cNvSpPr txBox="1"/>
            <p:nvPr/>
          </p:nvSpPr>
          <p:spPr>
            <a:xfrm>
              <a:off x="773430" y="2110740"/>
              <a:ext cx="38633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Microsoft 公司自己独特的软件开发过程，综</a:t>
              </a:r>
              <a:br/>
              <a:r>
                <a:rPr lang="zh-CN" sz="1500" dirty="0">
                  <a:solidFill>
                    <a:srgbClr val="1F2937"/>
                  </a:solidFill>
                  <a:latin typeface="+mn-lt"/>
                  <a:ea typeface="+mn-ea"/>
                  <a:cs typeface="+mn-cs"/>
                </a:rPr>
                <a:t>合了 RUP 和 XP 的许多优点，是对众多成功项</a:t>
              </a:r>
              <a:br/>
              <a:r>
                <a:rPr lang="zh-CN" sz="1500" dirty="0">
                  <a:solidFill>
                    <a:srgbClr val="1F2937"/>
                  </a:solidFill>
                  <a:latin typeface="+mn-lt"/>
                  <a:ea typeface="+mn-ea"/>
                  <a:cs typeface="+mn-cs"/>
                </a:rPr>
                <a:t>目的开发经验的总结。</a:t>
              </a:r>
            </a:p>
          </p:txBody>
        </p:sp>
        <p:sp>
          <p:nvSpPr>
            <p:cNvPr id="12" name="Ellipse 12"/>
            <p:cNvSpPr/>
            <p:nvPr/>
          </p:nvSpPr>
          <p:spPr>
            <a:xfrm>
              <a:off x="786765" y="3080385"/>
              <a:ext cx="64770" cy="64770"/>
            </a:xfrm>
            <a:prstGeom prst="ellipse">
              <a:avLst/>
            </a:prstGeom>
            <a:solidFill>
              <a:srgbClr val="334E68"/>
            </a:solidFill>
            <a:ln>
              <a:noFill/>
            </a:ln>
          </p:spPr>
        </p:sp>
        <p:sp>
          <p:nvSpPr>
            <p:cNvPr id="13" name="TextBox 13"/>
            <p:cNvSpPr txBox="1"/>
            <p:nvPr/>
          </p:nvSpPr>
          <p:spPr>
            <a:xfrm>
              <a:off x="944880" y="301752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不足一：方法、工具和产品等方面的论述不</a:t>
              </a:r>
              <a:br/>
              <a:r>
                <a:rPr lang="zh-CN" sz="1500" dirty="0">
                  <a:solidFill>
                    <a:srgbClr val="1F2937"/>
                  </a:solidFill>
                  <a:latin typeface="+mn-lt"/>
                  <a:ea typeface="+mn-ea"/>
                  <a:cs typeface="+mn-cs"/>
                </a:rPr>
                <a:t>如 RUP 和 XP 全面</a:t>
              </a:r>
            </a:p>
          </p:txBody>
        </p:sp>
        <p:sp>
          <p:nvSpPr>
            <p:cNvPr id="14" name="Ellipse 14"/>
            <p:cNvSpPr/>
            <p:nvPr/>
          </p:nvSpPr>
          <p:spPr>
            <a:xfrm>
              <a:off x="786765" y="3701415"/>
              <a:ext cx="64770" cy="64770"/>
            </a:xfrm>
            <a:prstGeom prst="ellipse">
              <a:avLst/>
            </a:prstGeom>
            <a:solidFill>
              <a:srgbClr val="334E68"/>
            </a:solidFill>
            <a:ln>
              <a:noFill/>
            </a:ln>
          </p:spPr>
        </p:sp>
        <p:sp>
          <p:nvSpPr>
            <p:cNvPr id="15" name="TextBox 15"/>
            <p:cNvSpPr txBox="1"/>
            <p:nvPr/>
          </p:nvSpPr>
          <p:spPr>
            <a:xfrm>
              <a:off x="944880" y="363855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不足二：人们对它的某些准则本身也有不同</a:t>
              </a:r>
              <a:br/>
              <a:r>
                <a:rPr lang="zh-CN" sz="1500" dirty="0">
                  <a:solidFill>
                    <a:srgbClr val="1F2937"/>
                  </a:solidFill>
                  <a:latin typeface="+mn-lt"/>
                  <a:ea typeface="+mn-ea"/>
                  <a:cs typeface="+mn-cs"/>
                </a:rPr>
                <a:t>意见</a:t>
              </a:r>
            </a:p>
          </p:txBody>
        </p:sp>
      </p:grpSp>
      <p:grpSp>
        <p:nvGrpSpPr>
          <p:cNvPr id="23" name="c1-callout-2"/>
          <p:cNvGrpSpPr/>
          <p:nvPr/>
        </p:nvGrpSpPr>
        <p:grpSpPr>
          <a:xfrm>
            <a:off x="533400" y="4558665"/>
            <a:ext cx="4544378" cy="1572578"/>
            <a:chOff x="533400" y="4558665"/>
            <a:chExt cx="4544378" cy="1572578"/>
          </a:xfrm>
        </p:grpSpPr>
        <p:sp>
          <p:nvSpPr>
            <p:cNvPr id="17" name="Rectangle 17"/>
            <p:cNvSpPr/>
            <p:nvPr/>
          </p:nvSpPr>
          <p:spPr>
            <a:xfrm>
              <a:off x="533400" y="4558665"/>
              <a:ext cx="4544378" cy="1572578"/>
            </a:xfrm>
            <a:prstGeom prst="roundRect">
              <a:avLst>
                <a:gd name="adj" fmla="val 7268"/>
              </a:avLst>
            </a:prstGeom>
            <a:solidFill>
              <a:srgbClr val="F4F6FB"/>
            </a:solidFill>
            <a:ln>
              <a:noFill/>
            </a:ln>
          </p:spPr>
        </p:sp>
        <p:grpSp>
          <p:nvGrpSpPr>
            <p:cNvPr id="21" name="Group 21"/>
            <p:cNvGrpSpPr/>
            <p:nvPr/>
          </p:nvGrpSpPr>
          <p:grpSpPr>
            <a:xfrm>
              <a:off x="738188" y="5245418"/>
              <a:ext cx="200026" cy="200026"/>
              <a:chOff x="738188" y="5245418"/>
              <a:chExt cx="200026" cy="200026"/>
            </a:xfrm>
          </p:grpSpPr>
          <p:sp>
            <p:nvSpPr>
              <p:cNvPr id="18" name="Freeform 18"/>
              <p:cNvSpPr/>
              <p:nvPr/>
            </p:nvSpPr>
            <p:spPr>
              <a:xfrm>
                <a:off x="738188" y="524541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19" name="Freeform 19"/>
              <p:cNvSpPr/>
              <p:nvPr/>
            </p:nvSpPr>
            <p:spPr>
              <a:xfrm>
                <a:off x="838200" y="531209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20" name="Freeform 20"/>
              <p:cNvSpPr/>
              <p:nvPr/>
            </p:nvSpPr>
            <p:spPr>
              <a:xfrm>
                <a:off x="827088" y="534543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22" name="TextBox 22"/>
            <p:cNvSpPr txBox="1"/>
            <p:nvPr/>
          </p:nvSpPr>
          <p:spPr>
            <a:xfrm>
              <a:off x="1040130" y="4964430"/>
              <a:ext cx="363474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它面向的是一个版本接一个版本持续发布的</a:t>
              </a:r>
              <a:br/>
              <a:r>
                <a:rPr lang="zh-CN" sz="1500" dirty="0">
                  <a:solidFill>
                    <a:srgbClr val="1F2937"/>
                  </a:solidFill>
                  <a:latin typeface="+mn-lt"/>
                  <a:ea typeface="+mn-ea"/>
                  <a:cs typeface="+mn-cs"/>
                </a:rPr>
                <a:t>商业产品，所以格外强调进度的稳定和过渡</a:t>
              </a:r>
              <a:br/>
              <a:r>
                <a:rPr lang="zh-CN" sz="1500" dirty="0">
                  <a:solidFill>
                    <a:srgbClr val="1F2937"/>
                  </a:solidFill>
                  <a:latin typeface="+mn-lt"/>
                  <a:ea typeface="+mn-ea"/>
                  <a:cs typeface="+mn-cs"/>
                </a:rPr>
                <a:t>版本的频繁测试。</a:t>
              </a:r>
            </a:p>
          </p:txBody>
        </p:sp>
      </p:grpSp>
      <p:grpSp>
        <p:nvGrpSpPr>
          <p:cNvPr id="58" name="c2-bullets-1"/>
          <p:cNvGrpSpPr/>
          <p:nvPr/>
        </p:nvGrpSpPr>
        <p:grpSpPr>
          <a:xfrm>
            <a:off x="5374958" y="1548765"/>
            <a:ext cx="3565232" cy="3659790"/>
            <a:chOff x="5374958" y="1548765"/>
            <a:chExt cx="3565232" cy="3659790"/>
          </a:xfrm>
        </p:grpSpPr>
        <p:sp>
          <p:nvSpPr>
            <p:cNvPr id="24" name="TextBox 24"/>
            <p:cNvSpPr txBox="1"/>
            <p:nvPr/>
          </p:nvSpPr>
          <p:spPr>
            <a:xfrm>
              <a:off x="5374958" y="1548765"/>
              <a:ext cx="122682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微软过程准则</a:t>
              </a:r>
            </a:p>
          </p:txBody>
        </p:sp>
        <p:sp>
          <p:nvSpPr>
            <p:cNvPr id="25" name="Ellipse 25"/>
            <p:cNvSpPr/>
            <p:nvPr/>
          </p:nvSpPr>
          <p:spPr>
            <a:xfrm>
              <a:off x="5382578" y="1887855"/>
              <a:ext cx="180975" cy="180975"/>
            </a:xfrm>
            <a:prstGeom prst="ellipse">
              <a:avLst/>
            </a:prstGeom>
            <a:solidFill>
              <a:srgbClr val="334E68"/>
            </a:solidFill>
            <a:ln>
              <a:noFill/>
            </a:ln>
          </p:spPr>
        </p:sp>
        <p:sp>
          <p:nvSpPr>
            <p:cNvPr id="26" name="TextBox 26"/>
            <p:cNvSpPr txBox="1"/>
            <p:nvPr/>
          </p:nvSpPr>
          <p:spPr>
            <a:xfrm>
              <a:off x="5434484" y="192347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27" name="TextBox 27"/>
            <p:cNvSpPr txBox="1"/>
            <p:nvPr/>
          </p:nvSpPr>
          <p:spPr>
            <a:xfrm>
              <a:off x="5653278" y="1899761"/>
              <a:ext cx="276997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项目计划应该兼顾未来的不确定因素</a:t>
              </a:r>
            </a:p>
          </p:txBody>
        </p:sp>
        <p:sp>
          <p:nvSpPr>
            <p:cNvPr id="28" name="Ellipse 28"/>
            <p:cNvSpPr/>
            <p:nvPr/>
          </p:nvSpPr>
          <p:spPr>
            <a:xfrm>
              <a:off x="5382578" y="2194560"/>
              <a:ext cx="180975" cy="180975"/>
            </a:xfrm>
            <a:prstGeom prst="ellipse">
              <a:avLst/>
            </a:prstGeom>
            <a:solidFill>
              <a:srgbClr val="334E68"/>
            </a:solidFill>
            <a:ln>
              <a:noFill/>
            </a:ln>
          </p:spPr>
        </p:sp>
        <p:sp>
          <p:nvSpPr>
            <p:cNvPr id="29" name="TextBox 29"/>
            <p:cNvSpPr txBox="1"/>
            <p:nvPr/>
          </p:nvSpPr>
          <p:spPr>
            <a:xfrm>
              <a:off x="5434484" y="222923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30" name="TextBox 30"/>
            <p:cNvSpPr txBox="1"/>
            <p:nvPr/>
          </p:nvSpPr>
          <p:spPr>
            <a:xfrm>
              <a:off x="5653278" y="2205514"/>
              <a:ext cx="294228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用有效的风险管理来减少不确定的因素</a:t>
              </a:r>
            </a:p>
          </p:txBody>
        </p:sp>
        <p:sp>
          <p:nvSpPr>
            <p:cNvPr id="31" name="Ellipse 31"/>
            <p:cNvSpPr/>
            <p:nvPr/>
          </p:nvSpPr>
          <p:spPr>
            <a:xfrm>
              <a:off x="5382578" y="2500312"/>
              <a:ext cx="180975" cy="180975"/>
            </a:xfrm>
            <a:prstGeom prst="ellipse">
              <a:avLst/>
            </a:prstGeom>
            <a:solidFill>
              <a:srgbClr val="334E68"/>
            </a:solidFill>
            <a:ln>
              <a:noFill/>
            </a:ln>
          </p:spPr>
        </p:sp>
        <p:sp>
          <p:nvSpPr>
            <p:cNvPr id="32" name="TextBox 32"/>
            <p:cNvSpPr txBox="1"/>
            <p:nvPr/>
          </p:nvSpPr>
          <p:spPr>
            <a:xfrm>
              <a:off x="5434484" y="253593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33" name="TextBox 33"/>
            <p:cNvSpPr txBox="1"/>
            <p:nvPr/>
          </p:nvSpPr>
          <p:spPr>
            <a:xfrm>
              <a:off x="5653278" y="2511266"/>
              <a:ext cx="294228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经常生成并快速地测试软件的过渡版本</a:t>
              </a:r>
            </a:p>
          </p:txBody>
        </p:sp>
        <p:sp>
          <p:nvSpPr>
            <p:cNvPr id="34" name="Ellipse 34"/>
            <p:cNvSpPr/>
            <p:nvPr/>
          </p:nvSpPr>
          <p:spPr>
            <a:xfrm>
              <a:off x="5382578" y="2806065"/>
              <a:ext cx="180975" cy="180975"/>
            </a:xfrm>
            <a:prstGeom prst="ellipse">
              <a:avLst/>
            </a:prstGeom>
            <a:solidFill>
              <a:srgbClr val="334E68"/>
            </a:solidFill>
            <a:ln>
              <a:noFill/>
            </a:ln>
          </p:spPr>
        </p:sp>
        <p:sp>
          <p:nvSpPr>
            <p:cNvPr id="35" name="TextBox 35"/>
            <p:cNvSpPr txBox="1"/>
            <p:nvPr/>
          </p:nvSpPr>
          <p:spPr>
            <a:xfrm>
              <a:off x="5434484" y="284168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4</a:t>
              </a:r>
            </a:p>
          </p:txBody>
        </p:sp>
        <p:sp>
          <p:nvSpPr>
            <p:cNvPr id="36" name="TextBox 36"/>
            <p:cNvSpPr txBox="1"/>
            <p:nvPr/>
          </p:nvSpPr>
          <p:spPr>
            <a:xfrm>
              <a:off x="5653278" y="2817019"/>
              <a:ext cx="242534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采用快速循环、递进的开发过程</a:t>
              </a:r>
            </a:p>
          </p:txBody>
        </p:sp>
        <p:sp>
          <p:nvSpPr>
            <p:cNvPr id="37" name="Ellipse 37"/>
            <p:cNvSpPr/>
            <p:nvPr/>
          </p:nvSpPr>
          <p:spPr>
            <a:xfrm>
              <a:off x="5382578" y="3111818"/>
              <a:ext cx="180975" cy="180975"/>
            </a:xfrm>
            <a:prstGeom prst="ellipse">
              <a:avLst/>
            </a:prstGeom>
            <a:solidFill>
              <a:srgbClr val="334E68"/>
            </a:solidFill>
            <a:ln>
              <a:noFill/>
            </a:ln>
          </p:spPr>
        </p:sp>
        <p:sp>
          <p:nvSpPr>
            <p:cNvPr id="38" name="TextBox 38"/>
            <p:cNvSpPr txBox="1"/>
            <p:nvPr/>
          </p:nvSpPr>
          <p:spPr>
            <a:xfrm>
              <a:off x="5434484" y="314744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5</a:t>
              </a:r>
            </a:p>
          </p:txBody>
        </p:sp>
        <p:sp>
          <p:nvSpPr>
            <p:cNvPr id="39" name="TextBox 39"/>
            <p:cNvSpPr txBox="1"/>
            <p:nvPr/>
          </p:nvSpPr>
          <p:spPr>
            <a:xfrm>
              <a:off x="5653278" y="3122771"/>
              <a:ext cx="328691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用创造性的工作来平衡产品特性和产品成本</a:t>
              </a:r>
            </a:p>
          </p:txBody>
        </p:sp>
        <p:sp>
          <p:nvSpPr>
            <p:cNvPr id="40" name="Ellipse 40"/>
            <p:cNvSpPr/>
            <p:nvPr/>
          </p:nvSpPr>
          <p:spPr>
            <a:xfrm>
              <a:off x="5382578" y="3417570"/>
              <a:ext cx="180975" cy="180975"/>
            </a:xfrm>
            <a:prstGeom prst="ellipse">
              <a:avLst/>
            </a:prstGeom>
            <a:solidFill>
              <a:srgbClr val="334E68"/>
            </a:solidFill>
            <a:ln>
              <a:noFill/>
            </a:ln>
          </p:spPr>
        </p:sp>
        <p:sp>
          <p:nvSpPr>
            <p:cNvPr id="41" name="TextBox 41"/>
            <p:cNvSpPr txBox="1"/>
            <p:nvPr/>
          </p:nvSpPr>
          <p:spPr>
            <a:xfrm>
              <a:off x="5434484" y="3453193"/>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6</a:t>
              </a:r>
            </a:p>
          </p:txBody>
        </p:sp>
        <p:sp>
          <p:nvSpPr>
            <p:cNvPr id="42" name="TextBox 42"/>
            <p:cNvSpPr txBox="1"/>
            <p:nvPr/>
          </p:nvSpPr>
          <p:spPr>
            <a:xfrm>
              <a:off x="5653278" y="3429476"/>
              <a:ext cx="328691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项目进度表应该具有较高的稳定性和权威性</a:t>
              </a:r>
            </a:p>
          </p:txBody>
        </p:sp>
        <p:sp>
          <p:nvSpPr>
            <p:cNvPr id="43" name="Ellipse 43"/>
            <p:cNvSpPr/>
            <p:nvPr/>
          </p:nvSpPr>
          <p:spPr>
            <a:xfrm>
              <a:off x="5382578" y="3724275"/>
              <a:ext cx="180975" cy="180975"/>
            </a:xfrm>
            <a:prstGeom prst="ellipse">
              <a:avLst/>
            </a:prstGeom>
            <a:solidFill>
              <a:srgbClr val="334E68"/>
            </a:solidFill>
            <a:ln>
              <a:noFill/>
            </a:ln>
          </p:spPr>
        </p:sp>
        <p:sp>
          <p:nvSpPr>
            <p:cNvPr id="44" name="TextBox 44"/>
            <p:cNvSpPr txBox="1"/>
            <p:nvPr/>
          </p:nvSpPr>
          <p:spPr>
            <a:xfrm>
              <a:off x="5434484" y="375894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7</a:t>
              </a:r>
            </a:p>
          </p:txBody>
        </p:sp>
        <p:sp>
          <p:nvSpPr>
            <p:cNvPr id="45" name="TextBox 45"/>
            <p:cNvSpPr txBox="1"/>
            <p:nvPr/>
          </p:nvSpPr>
          <p:spPr>
            <a:xfrm>
              <a:off x="5653278" y="3735229"/>
              <a:ext cx="276997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使用小型项目组并发地完成开发工作</a:t>
              </a:r>
            </a:p>
          </p:txBody>
        </p:sp>
        <p:sp>
          <p:nvSpPr>
            <p:cNvPr id="46" name="Ellipse 46"/>
            <p:cNvSpPr/>
            <p:nvPr/>
          </p:nvSpPr>
          <p:spPr>
            <a:xfrm>
              <a:off x="5382578" y="4030028"/>
              <a:ext cx="180975" cy="180975"/>
            </a:xfrm>
            <a:prstGeom prst="ellipse">
              <a:avLst/>
            </a:prstGeom>
            <a:solidFill>
              <a:srgbClr val="334E68"/>
            </a:solidFill>
            <a:ln>
              <a:noFill/>
            </a:ln>
          </p:spPr>
        </p:sp>
        <p:sp>
          <p:nvSpPr>
            <p:cNvPr id="47" name="TextBox 47"/>
            <p:cNvSpPr txBox="1"/>
            <p:nvPr/>
          </p:nvSpPr>
          <p:spPr>
            <a:xfrm>
              <a:off x="5434484" y="406565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8</a:t>
              </a:r>
            </a:p>
          </p:txBody>
        </p:sp>
        <p:sp>
          <p:nvSpPr>
            <p:cNvPr id="48" name="TextBox 48"/>
            <p:cNvSpPr txBox="1"/>
            <p:nvPr/>
          </p:nvSpPr>
          <p:spPr>
            <a:xfrm>
              <a:off x="5653278" y="4040981"/>
              <a:ext cx="242534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在项目早期把软件配置项基线化</a:t>
              </a:r>
            </a:p>
          </p:txBody>
        </p:sp>
        <p:sp>
          <p:nvSpPr>
            <p:cNvPr id="49" name="Ellipse 49"/>
            <p:cNvSpPr/>
            <p:nvPr/>
          </p:nvSpPr>
          <p:spPr>
            <a:xfrm>
              <a:off x="5382578" y="4335780"/>
              <a:ext cx="180975" cy="180975"/>
            </a:xfrm>
            <a:prstGeom prst="ellipse">
              <a:avLst/>
            </a:prstGeom>
            <a:solidFill>
              <a:srgbClr val="334E68"/>
            </a:solidFill>
            <a:ln>
              <a:noFill/>
            </a:ln>
          </p:spPr>
        </p:sp>
        <p:sp>
          <p:nvSpPr>
            <p:cNvPr id="50" name="TextBox 50"/>
            <p:cNvSpPr txBox="1"/>
            <p:nvPr/>
          </p:nvSpPr>
          <p:spPr>
            <a:xfrm>
              <a:off x="5434484" y="4371404"/>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9</a:t>
              </a:r>
            </a:p>
          </p:txBody>
        </p:sp>
        <p:sp>
          <p:nvSpPr>
            <p:cNvPr id="51" name="TextBox 51"/>
            <p:cNvSpPr txBox="1"/>
            <p:nvPr/>
          </p:nvSpPr>
          <p:spPr>
            <a:xfrm>
              <a:off x="5653278" y="4346734"/>
              <a:ext cx="139146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使用原型验证概念</a:t>
              </a:r>
            </a:p>
          </p:txBody>
        </p:sp>
        <p:sp>
          <p:nvSpPr>
            <p:cNvPr id="52" name="Ellipse 52"/>
            <p:cNvSpPr/>
            <p:nvPr/>
          </p:nvSpPr>
          <p:spPr>
            <a:xfrm>
              <a:off x="5382578" y="4641532"/>
              <a:ext cx="180975" cy="180975"/>
            </a:xfrm>
            <a:prstGeom prst="ellipse">
              <a:avLst/>
            </a:prstGeom>
            <a:solidFill>
              <a:srgbClr val="334E68"/>
            </a:solidFill>
            <a:ln>
              <a:noFill/>
            </a:ln>
          </p:spPr>
        </p:sp>
        <p:sp>
          <p:nvSpPr>
            <p:cNvPr id="53" name="TextBox 53"/>
            <p:cNvSpPr txBox="1"/>
            <p:nvPr/>
          </p:nvSpPr>
          <p:spPr>
            <a:xfrm>
              <a:off x="5400666" y="4677156"/>
              <a:ext cx="144798"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10</a:t>
              </a:r>
            </a:p>
          </p:txBody>
        </p:sp>
        <p:sp>
          <p:nvSpPr>
            <p:cNvPr id="54" name="TextBox 54"/>
            <p:cNvSpPr txBox="1"/>
            <p:nvPr/>
          </p:nvSpPr>
          <p:spPr>
            <a:xfrm>
              <a:off x="5653278" y="4652486"/>
              <a:ext cx="190840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把零缺陷作为追求的目标</a:t>
              </a:r>
            </a:p>
          </p:txBody>
        </p:sp>
        <p:sp>
          <p:nvSpPr>
            <p:cNvPr id="55" name="Ellipse 55"/>
            <p:cNvSpPr/>
            <p:nvPr/>
          </p:nvSpPr>
          <p:spPr>
            <a:xfrm>
              <a:off x="5382578" y="4947285"/>
              <a:ext cx="180975" cy="180975"/>
            </a:xfrm>
            <a:prstGeom prst="ellipse">
              <a:avLst/>
            </a:prstGeom>
            <a:solidFill>
              <a:srgbClr val="334E68"/>
            </a:solidFill>
            <a:ln>
              <a:noFill/>
            </a:ln>
          </p:spPr>
        </p:sp>
        <p:sp>
          <p:nvSpPr>
            <p:cNvPr id="56" name="TextBox 56"/>
            <p:cNvSpPr txBox="1"/>
            <p:nvPr/>
          </p:nvSpPr>
          <p:spPr>
            <a:xfrm>
              <a:off x="5400666" y="4982908"/>
              <a:ext cx="144798"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11</a:t>
              </a:r>
            </a:p>
          </p:txBody>
        </p:sp>
        <p:sp>
          <p:nvSpPr>
            <p:cNvPr id="57" name="TextBox 57"/>
            <p:cNvSpPr txBox="1"/>
            <p:nvPr/>
          </p:nvSpPr>
          <p:spPr>
            <a:xfrm>
              <a:off x="5653278" y="4959191"/>
              <a:ext cx="328691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里程碑评审会强调改进工作，避免相互指责</a:t>
              </a:r>
            </a:p>
          </p:txBody>
        </p:sp>
      </p:grpSp>
      <p:grpSp>
        <p:nvGrpSpPr>
          <p:cNvPr id="65" name="c2-callout-2"/>
          <p:cNvGrpSpPr/>
          <p:nvPr/>
        </p:nvGrpSpPr>
        <p:grpSpPr>
          <a:xfrm>
            <a:off x="5382578" y="5348288"/>
            <a:ext cx="6276022" cy="782955"/>
            <a:chOff x="5382578" y="5348288"/>
            <a:chExt cx="6276022" cy="782955"/>
          </a:xfrm>
        </p:grpSpPr>
        <p:sp>
          <p:nvSpPr>
            <p:cNvPr id="59" name="Rectangle 59"/>
            <p:cNvSpPr/>
            <p:nvPr/>
          </p:nvSpPr>
          <p:spPr>
            <a:xfrm>
              <a:off x="5382578" y="5348288"/>
              <a:ext cx="6276022" cy="782955"/>
            </a:xfrm>
            <a:prstGeom prst="roundRect">
              <a:avLst>
                <a:gd name="adj" fmla="val 14599"/>
              </a:avLst>
            </a:prstGeom>
            <a:solidFill>
              <a:srgbClr val="FDEEE7"/>
            </a:solidFill>
            <a:ln>
              <a:noFill/>
            </a:ln>
          </p:spPr>
        </p:sp>
        <p:grpSp>
          <p:nvGrpSpPr>
            <p:cNvPr id="63" name="Group 63"/>
            <p:cNvGrpSpPr/>
            <p:nvPr/>
          </p:nvGrpSpPr>
          <p:grpSpPr>
            <a:xfrm>
              <a:off x="5587365" y="5639753"/>
              <a:ext cx="200026" cy="200025"/>
              <a:chOff x="5587365" y="5639753"/>
              <a:chExt cx="200026" cy="200025"/>
            </a:xfrm>
          </p:grpSpPr>
          <p:sp>
            <p:nvSpPr>
              <p:cNvPr id="60" name="Freeform 60"/>
              <p:cNvSpPr/>
              <p:nvPr/>
            </p:nvSpPr>
            <p:spPr>
              <a:xfrm>
                <a:off x="5587365" y="563975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1" name="Freeform 61"/>
              <p:cNvSpPr/>
              <p:nvPr/>
            </p:nvSpPr>
            <p:spPr>
              <a:xfrm>
                <a:off x="5627104" y="568420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2" name="Freeform 62"/>
              <p:cNvSpPr/>
              <p:nvPr/>
            </p:nvSpPr>
            <p:spPr>
              <a:xfrm>
                <a:off x="5661819" y="579532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4" name="TextBox 64"/>
            <p:cNvSpPr txBox="1"/>
            <p:nvPr/>
          </p:nvSpPr>
          <p:spPr>
            <a:xfrm>
              <a:off x="5889308" y="5496878"/>
              <a:ext cx="529209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第 3、4 条对应微软有名的做法：每天构建一个可运行的过渡版</a:t>
              </a:r>
              <a:br/>
              <a:r>
                <a:rPr lang="zh-CN" sz="1500" dirty="0">
                  <a:solidFill>
                    <a:srgbClr val="C2410C"/>
                  </a:solidFill>
                  <a:latin typeface="+mn-lt"/>
                  <a:ea typeface="+mn-ea"/>
                  <a:cs typeface="+mn-cs"/>
                </a:rPr>
                <a:t>本并立即测试，问题当天暴露。</a:t>
              </a:r>
            </a:p>
          </p:txBody>
        </p:sp>
      </p:grpSp>
      <p:grpSp>
        <p:nvGrpSpPr>
          <p:cNvPr id="68" name="footer"/>
          <p:cNvGrpSpPr/>
          <p:nvPr/>
        </p:nvGrpSpPr>
        <p:grpSpPr>
          <a:xfrm>
            <a:off x="528447" y="6581299"/>
            <a:ext cx="11135106" cy="190690"/>
            <a:chOff x="528447" y="6581299"/>
            <a:chExt cx="11135106" cy="190690"/>
          </a:xfrm>
        </p:grpSpPr>
        <p:sp>
          <p:nvSpPr>
            <p:cNvPr id="66" name="TextBox 66"/>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7" name="TextBox 6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61</a:t>
              </a:r>
            </a:p>
          </p:txBody>
        </p:sp>
      </p:grpSp>
    </p:spTree>
  </p:cSld>
  <p:clrMapOvr>
    <a:masterClrMapping/>
  </p:clrMapOvr>
  <p:transition xmlns:p14="http://schemas.microsoft.com/office/powerpoint/2010/main" p14:dur="400">
    <p:fade/>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3126105" cy="266700"/>
            </a:xfrm>
            <a:prstGeom prst="roundRect">
              <a:avLst>
                <a:gd name="adj" fmla="val 50000"/>
              </a:avLst>
            </a:prstGeom>
            <a:solidFill>
              <a:srgbClr val="E7EDF3"/>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敏捷过程、极限编程与微软过程</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微软软件生命周期：五个阶段，五个里程碑</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6" name="c1-table-1"/>
          <p:cNvGrpSpPr/>
          <p:nvPr/>
        </p:nvGrpSpPr>
        <p:grpSpPr>
          <a:xfrm>
            <a:off x="533400" y="1524000"/>
            <a:ext cx="6276022" cy="3613785"/>
            <a:chOff x="533400" y="1524000"/>
            <a:chExt cx="6276022" cy="3613785"/>
          </a:xfrm>
        </p:grpSpPr>
        <p:sp>
          <p:nvSpPr>
            <p:cNvPr id="7" name="Rectangle 7"/>
            <p:cNvSpPr/>
            <p:nvPr/>
          </p:nvSpPr>
          <p:spPr>
            <a:xfrm>
              <a:off x="533400" y="1524000"/>
              <a:ext cx="6276022" cy="424815"/>
            </a:xfrm>
            <a:prstGeom prst="rect">
              <a:avLst/>
            </a:prstGeom>
            <a:solidFill>
              <a:srgbClr val="334E68"/>
            </a:solidFill>
            <a:ln>
              <a:noFill/>
            </a:ln>
          </p:spPr>
        </p:sp>
        <p:sp>
          <p:nvSpPr>
            <p:cNvPr id="8" name="TextBox 8"/>
            <p:cNvSpPr txBox="1"/>
            <p:nvPr/>
          </p:nvSpPr>
          <p:spPr>
            <a:xfrm>
              <a:off x="867728" y="165258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阶段</a:t>
              </a:r>
            </a:p>
          </p:txBody>
        </p:sp>
        <p:sp>
          <p:nvSpPr>
            <p:cNvPr id="9" name="TextBox 9"/>
            <p:cNvSpPr txBox="1"/>
            <p:nvPr/>
          </p:nvSpPr>
          <p:spPr>
            <a:xfrm>
              <a:off x="1656398" y="1652588"/>
              <a:ext cx="114300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结束时的里程碑</a:t>
              </a:r>
            </a:p>
          </p:txBody>
        </p:sp>
        <p:sp>
          <p:nvSpPr>
            <p:cNvPr id="10" name="TextBox 10"/>
            <p:cNvSpPr txBox="1"/>
            <p:nvPr/>
          </p:nvSpPr>
          <p:spPr>
            <a:xfrm>
              <a:off x="4534281" y="1652588"/>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主要任务</a:t>
              </a:r>
            </a:p>
          </p:txBody>
        </p:sp>
        <p:sp>
          <p:nvSpPr>
            <p:cNvPr id="11" name="TextBox 11"/>
            <p:cNvSpPr txBox="1"/>
            <p:nvPr/>
          </p:nvSpPr>
          <p:spPr>
            <a:xfrm>
              <a:off x="635889" y="2183130"/>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规划阶段</a:t>
              </a:r>
            </a:p>
          </p:txBody>
        </p:sp>
        <p:sp>
          <p:nvSpPr>
            <p:cNvPr id="12" name="TextBox 12"/>
            <p:cNvSpPr txBox="1"/>
            <p:nvPr/>
          </p:nvSpPr>
          <p:spPr>
            <a:xfrm>
              <a:off x="1639824" y="2076450"/>
              <a:ext cx="10789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项目目标得到认</a:t>
              </a:r>
              <a:br/>
              <a:r>
                <a:rPr lang="zh-CN" sz="1200" dirty="0">
                  <a:solidFill>
                    <a:srgbClr val="1F2937"/>
                  </a:solidFill>
                  <a:latin typeface="+mn-lt"/>
                  <a:ea typeface="+mn-ea"/>
                  <a:cs typeface="+mn-cs"/>
                </a:rPr>
                <a:t>可</a:t>
              </a:r>
            </a:p>
          </p:txBody>
        </p:sp>
        <p:sp>
          <p:nvSpPr>
            <p:cNvPr id="13" name="TextBox 13"/>
            <p:cNvSpPr txBox="1"/>
            <p:nvPr/>
          </p:nvSpPr>
          <p:spPr>
            <a:xfrm>
              <a:off x="3020949" y="2076450"/>
              <a:ext cx="35173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确定产品目标；获取竞争对手信息；完成客户和市场</a:t>
              </a:r>
              <a:br/>
              <a:r>
                <a:rPr lang="zh-CN" sz="1200" dirty="0">
                  <a:solidFill>
                    <a:srgbClr val="1F2937"/>
                  </a:solidFill>
                  <a:latin typeface="+mn-lt"/>
                  <a:ea typeface="+mn-ea"/>
                  <a:cs typeface="+mn-cs"/>
                </a:rPr>
                <a:t>调研；确定新版本的主要特性和要解决的问题</a:t>
              </a:r>
            </a:p>
          </p:txBody>
        </p:sp>
        <p:sp>
          <p:nvSpPr>
            <p:cNvPr id="14" name="Rectangle 14"/>
            <p:cNvSpPr/>
            <p:nvPr/>
          </p:nvSpPr>
          <p:spPr>
            <a:xfrm>
              <a:off x="533400" y="2581275"/>
              <a:ext cx="6276022" cy="9525"/>
            </a:xfrm>
            <a:prstGeom prst="rect">
              <a:avLst/>
            </a:prstGeom>
            <a:solidFill>
              <a:srgbClr val="D9DFEA"/>
            </a:solidFill>
            <a:ln>
              <a:noFill/>
            </a:ln>
          </p:spPr>
        </p:sp>
        <p:sp>
          <p:nvSpPr>
            <p:cNvPr id="15" name="Rectangle 15"/>
            <p:cNvSpPr/>
            <p:nvPr/>
          </p:nvSpPr>
          <p:spPr>
            <a:xfrm>
              <a:off x="533400" y="2586038"/>
              <a:ext cx="6276022" cy="851535"/>
            </a:xfrm>
            <a:prstGeom prst="rect">
              <a:avLst/>
            </a:prstGeom>
            <a:solidFill>
              <a:srgbClr val="F4F6FB"/>
            </a:solidFill>
            <a:ln>
              <a:noFill/>
            </a:ln>
          </p:spPr>
        </p:sp>
        <p:sp>
          <p:nvSpPr>
            <p:cNvPr id="16" name="TextBox 16"/>
            <p:cNvSpPr txBox="1"/>
            <p:nvPr/>
          </p:nvSpPr>
          <p:spPr>
            <a:xfrm>
              <a:off x="635889" y="2927985"/>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设计阶段</a:t>
              </a:r>
            </a:p>
          </p:txBody>
        </p:sp>
        <p:sp>
          <p:nvSpPr>
            <p:cNvPr id="17" name="TextBox 17"/>
            <p:cNvSpPr txBox="1"/>
            <p:nvPr/>
          </p:nvSpPr>
          <p:spPr>
            <a:xfrm>
              <a:off x="1639824" y="2927985"/>
              <a:ext cx="98145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完成产品设计</a:t>
              </a:r>
            </a:p>
          </p:txBody>
        </p:sp>
        <p:sp>
          <p:nvSpPr>
            <p:cNvPr id="18" name="Rectangle 18"/>
            <p:cNvSpPr/>
            <p:nvPr/>
          </p:nvSpPr>
          <p:spPr>
            <a:xfrm>
              <a:off x="2927985" y="2595562"/>
              <a:ext cx="3871912" cy="832485"/>
            </a:xfrm>
            <a:prstGeom prst="rect">
              <a:avLst/>
            </a:prstGeom>
            <a:solidFill>
              <a:srgbClr val="FDEEE7"/>
            </a:solidFill>
            <a:ln>
              <a:noFill/>
            </a:ln>
          </p:spPr>
        </p:sp>
        <p:sp>
          <p:nvSpPr>
            <p:cNvPr id="19" name="TextBox 19"/>
            <p:cNvSpPr txBox="1"/>
            <p:nvPr/>
          </p:nvSpPr>
          <p:spPr>
            <a:xfrm>
              <a:off x="3020949" y="2714625"/>
              <a:ext cx="3517392" cy="66141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编写特性规格说明书（特性、系统结构、构件相关性</a:t>
              </a:r>
              <a:br/>
              <a:r>
                <a:rPr lang="zh-CN" sz="1200" dirty="0">
                  <a:solidFill>
                    <a:srgbClr val="1F2937"/>
                  </a:solidFill>
                  <a:latin typeface="+mn-lt"/>
                  <a:ea typeface="+mn-ea"/>
                  <a:cs typeface="+mn-cs"/>
                </a:rPr>
                <a:t>与接口标准）；从系统高层设计，绘制结构图，确定</a:t>
              </a:r>
              <a:br/>
              <a:r>
                <a:rPr lang="zh-CN" sz="1200" dirty="0">
                  <a:solidFill>
                    <a:srgbClr val="1F2937"/>
                  </a:solidFill>
                  <a:latin typeface="+mn-lt"/>
                  <a:ea typeface="+mn-ea"/>
                  <a:cs typeface="+mn-cs"/>
                </a:rPr>
                <a:t>风险；划分子系统，制定开发计划</a:t>
              </a:r>
            </a:p>
          </p:txBody>
        </p:sp>
        <p:sp>
          <p:nvSpPr>
            <p:cNvPr id="20" name="Rectangle 20"/>
            <p:cNvSpPr/>
            <p:nvPr/>
          </p:nvSpPr>
          <p:spPr>
            <a:xfrm>
              <a:off x="533400" y="3432810"/>
              <a:ext cx="6276022" cy="9525"/>
            </a:xfrm>
            <a:prstGeom prst="rect">
              <a:avLst/>
            </a:prstGeom>
            <a:solidFill>
              <a:srgbClr val="D9DFEA"/>
            </a:solidFill>
            <a:ln>
              <a:noFill/>
            </a:ln>
          </p:spPr>
        </p:sp>
        <p:sp>
          <p:nvSpPr>
            <p:cNvPr id="21" name="TextBox 21"/>
            <p:cNvSpPr txBox="1"/>
            <p:nvPr/>
          </p:nvSpPr>
          <p:spPr>
            <a:xfrm>
              <a:off x="635889" y="3566160"/>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开发阶段</a:t>
              </a:r>
            </a:p>
          </p:txBody>
        </p:sp>
        <p:sp>
          <p:nvSpPr>
            <p:cNvPr id="22" name="TextBox 22"/>
            <p:cNvSpPr txBox="1"/>
            <p:nvPr/>
          </p:nvSpPr>
          <p:spPr>
            <a:xfrm>
              <a:off x="1639824" y="3566160"/>
              <a:ext cx="98145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完成开发工作</a:t>
              </a:r>
            </a:p>
          </p:txBody>
        </p:sp>
        <p:sp>
          <p:nvSpPr>
            <p:cNvPr id="23" name="TextBox 23"/>
            <p:cNvSpPr txBox="1"/>
            <p:nvPr/>
          </p:nvSpPr>
          <p:spPr>
            <a:xfrm>
              <a:off x="3020949" y="3566160"/>
              <a:ext cx="178917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编写程序代码，书写文档</a:t>
              </a:r>
            </a:p>
          </p:txBody>
        </p:sp>
        <p:sp>
          <p:nvSpPr>
            <p:cNvPr id="24" name="Rectangle 24"/>
            <p:cNvSpPr/>
            <p:nvPr/>
          </p:nvSpPr>
          <p:spPr>
            <a:xfrm>
              <a:off x="533400" y="3856672"/>
              <a:ext cx="6276022" cy="9525"/>
            </a:xfrm>
            <a:prstGeom prst="rect">
              <a:avLst/>
            </a:prstGeom>
            <a:solidFill>
              <a:srgbClr val="D9DFEA"/>
            </a:solidFill>
            <a:ln>
              <a:noFill/>
            </a:ln>
          </p:spPr>
        </p:sp>
        <p:sp>
          <p:nvSpPr>
            <p:cNvPr id="25" name="Rectangle 25"/>
            <p:cNvSpPr/>
            <p:nvPr/>
          </p:nvSpPr>
          <p:spPr>
            <a:xfrm>
              <a:off x="533400" y="3861435"/>
              <a:ext cx="6276022" cy="638175"/>
            </a:xfrm>
            <a:prstGeom prst="rect">
              <a:avLst/>
            </a:prstGeom>
            <a:solidFill>
              <a:srgbClr val="F4F6FB"/>
            </a:solidFill>
            <a:ln>
              <a:noFill/>
            </a:ln>
          </p:spPr>
        </p:sp>
        <p:sp>
          <p:nvSpPr>
            <p:cNvPr id="26" name="TextBox 26"/>
            <p:cNvSpPr txBox="1"/>
            <p:nvPr/>
          </p:nvSpPr>
          <p:spPr>
            <a:xfrm>
              <a:off x="635889" y="4096702"/>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稳定阶段</a:t>
              </a:r>
            </a:p>
          </p:txBody>
        </p:sp>
        <p:sp>
          <p:nvSpPr>
            <p:cNvPr id="27" name="TextBox 27"/>
            <p:cNvSpPr txBox="1"/>
            <p:nvPr/>
          </p:nvSpPr>
          <p:spPr>
            <a:xfrm>
              <a:off x="1639824" y="3990022"/>
              <a:ext cx="10789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准备好可发布版</a:t>
              </a:r>
              <a:br/>
              <a:r>
                <a:rPr lang="zh-CN" sz="1200" dirty="0">
                  <a:solidFill>
                    <a:srgbClr val="1F2937"/>
                  </a:solidFill>
                  <a:latin typeface="+mn-lt"/>
                  <a:ea typeface="+mn-ea"/>
                  <a:cs typeface="+mn-cs"/>
                </a:rPr>
                <a:t>本</a:t>
              </a:r>
            </a:p>
          </p:txBody>
        </p:sp>
        <p:sp>
          <p:nvSpPr>
            <p:cNvPr id="28" name="TextBox 28"/>
            <p:cNvSpPr txBox="1"/>
            <p:nvPr/>
          </p:nvSpPr>
          <p:spPr>
            <a:xfrm>
              <a:off x="3020949" y="4096702"/>
              <a:ext cx="81991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测试和调试</a:t>
              </a:r>
            </a:p>
          </p:txBody>
        </p:sp>
        <p:sp>
          <p:nvSpPr>
            <p:cNvPr id="29" name="Rectangle 29"/>
            <p:cNvSpPr/>
            <p:nvPr/>
          </p:nvSpPr>
          <p:spPr>
            <a:xfrm>
              <a:off x="533400" y="4494848"/>
              <a:ext cx="6276022" cy="9525"/>
            </a:xfrm>
            <a:prstGeom prst="rect">
              <a:avLst/>
            </a:prstGeom>
            <a:solidFill>
              <a:srgbClr val="D9DFEA"/>
            </a:solidFill>
            <a:ln>
              <a:noFill/>
            </a:ln>
          </p:spPr>
        </p:sp>
        <p:sp>
          <p:nvSpPr>
            <p:cNvPr id="30" name="TextBox 30"/>
            <p:cNvSpPr txBox="1"/>
            <p:nvPr/>
          </p:nvSpPr>
          <p:spPr>
            <a:xfrm>
              <a:off x="635889" y="4734878"/>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发布阶段</a:t>
              </a:r>
            </a:p>
          </p:txBody>
        </p:sp>
        <p:sp>
          <p:nvSpPr>
            <p:cNvPr id="31" name="TextBox 31"/>
            <p:cNvSpPr txBox="1"/>
            <p:nvPr/>
          </p:nvSpPr>
          <p:spPr>
            <a:xfrm>
              <a:off x="1639824" y="4734878"/>
              <a:ext cx="98145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完成产品发布</a:t>
              </a:r>
            </a:p>
          </p:txBody>
        </p:sp>
        <p:sp>
          <p:nvSpPr>
            <p:cNvPr id="32" name="TextBox 32"/>
            <p:cNvSpPr txBox="1"/>
            <p:nvPr/>
          </p:nvSpPr>
          <p:spPr>
            <a:xfrm>
              <a:off x="3020949" y="4628198"/>
              <a:ext cx="35173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发布产品和解决方案，把项目移交到运营和支持人员</a:t>
              </a:r>
              <a:br/>
              <a:r>
                <a:rPr lang="zh-CN" sz="1200" dirty="0">
                  <a:solidFill>
                    <a:srgbClr val="1F2937"/>
                  </a:solidFill>
                  <a:latin typeface="+mn-lt"/>
                  <a:ea typeface="+mn-ea"/>
                  <a:cs typeface="+mn-cs"/>
                </a:rPr>
                <a:t>手中</a:t>
              </a:r>
            </a:p>
          </p:txBody>
        </p:sp>
        <p:sp>
          <p:nvSpPr>
            <p:cNvPr id="33" name="Rectangle 33"/>
            <p:cNvSpPr/>
            <p:nvPr/>
          </p:nvSpPr>
          <p:spPr>
            <a:xfrm>
              <a:off x="533400" y="1524000"/>
              <a:ext cx="6276022" cy="3613785"/>
            </a:xfrm>
            <a:prstGeom prst="rect">
              <a:avLst/>
            </a:prstGeom>
            <a:noFill/>
            <a:ln w="14288">
              <a:solidFill>
                <a:srgbClr val="D9DFEA"/>
              </a:solidFill>
            </a:ln>
          </p:spPr>
        </p:sp>
        <p:sp>
          <p:nvSpPr>
            <p:cNvPr id="34" name="Rectangle 34"/>
            <p:cNvSpPr/>
            <p:nvPr/>
          </p:nvSpPr>
          <p:spPr>
            <a:xfrm>
              <a:off x="1532572" y="1524000"/>
              <a:ext cx="9525" cy="3613785"/>
            </a:xfrm>
            <a:prstGeom prst="rect">
              <a:avLst/>
            </a:prstGeom>
            <a:solidFill>
              <a:srgbClr val="D9DFEA"/>
            </a:solidFill>
            <a:ln>
              <a:noFill/>
            </a:ln>
          </p:spPr>
        </p:sp>
        <p:sp>
          <p:nvSpPr>
            <p:cNvPr id="35" name="Rectangle 35"/>
            <p:cNvSpPr/>
            <p:nvPr/>
          </p:nvSpPr>
          <p:spPr>
            <a:xfrm>
              <a:off x="2913698" y="1524000"/>
              <a:ext cx="9525" cy="3613785"/>
            </a:xfrm>
            <a:prstGeom prst="rect">
              <a:avLst/>
            </a:prstGeom>
            <a:solidFill>
              <a:srgbClr val="D9DFEA"/>
            </a:solidFill>
            <a:ln>
              <a:noFill/>
            </a:ln>
          </p:spPr>
        </p:sp>
      </p:grpSp>
      <p:grpSp>
        <p:nvGrpSpPr>
          <p:cNvPr id="58" name="c2-graph-1"/>
          <p:cNvGrpSpPr/>
          <p:nvPr/>
        </p:nvGrpSpPr>
        <p:grpSpPr>
          <a:xfrm>
            <a:off x="7356158" y="1640205"/>
            <a:ext cx="4059555" cy="1817688"/>
            <a:chOff x="7356158" y="1640205"/>
            <a:chExt cx="4059555" cy="1817688"/>
          </a:xfrm>
        </p:grpSpPr>
        <p:sp>
          <p:nvSpPr>
            <p:cNvPr id="37" name="Freeform 37"/>
            <p:cNvSpPr/>
            <p:nvPr/>
          </p:nvSpPr>
          <p:spPr>
            <a:xfrm>
              <a:off x="9780270" y="1718628"/>
              <a:ext cx="1028700" cy="411162"/>
            </a:xfrm>
            <a:custGeom>
              <a:avLst/>
              <a:gdLst/>
              <a:ahLst/>
              <a:cxnLst/>
              <a:rect l="l" t="t" r="r" b="b"/>
              <a:pathLst>
                <a:path w="1028700" h="411162">
                  <a:moveTo>
                    <a:pt x="0" y="19685"/>
                  </a:moveTo>
                  <a:cubicBezTo>
                    <a:pt x="356235" y="0"/>
                    <a:pt x="699135" y="130492"/>
                    <a:pt x="1028700" y="411162"/>
                  </a:cubicBezTo>
                </a:path>
              </a:pathLst>
            </a:custGeom>
            <a:noFill/>
            <a:ln w="17145">
              <a:solidFill>
                <a:srgbClr val="1F2937"/>
              </a:solidFill>
            </a:ln>
          </p:spPr>
        </p:sp>
        <p:sp>
          <p:nvSpPr>
            <p:cNvPr id="38" name="Freeform 38"/>
            <p:cNvSpPr/>
            <p:nvPr/>
          </p:nvSpPr>
          <p:spPr>
            <a:xfrm>
              <a:off x="10778490" y="2093595"/>
              <a:ext cx="102870" cy="98107"/>
            </a:xfrm>
            <a:custGeom>
              <a:avLst/>
              <a:gdLst/>
              <a:ahLst/>
              <a:cxnLst/>
              <a:rect l="l" t="t" r="r" b="b"/>
              <a:pathLst>
                <a:path w="102870" h="98107">
                  <a:moveTo>
                    <a:pt x="102870" y="98107"/>
                  </a:moveTo>
                  <a:lnTo>
                    <a:pt x="0" y="72390"/>
                  </a:lnTo>
                  <a:lnTo>
                    <a:pt x="60960" y="0"/>
                  </a:lnTo>
                  <a:close/>
                </a:path>
              </a:pathLst>
            </a:custGeom>
            <a:solidFill>
              <a:srgbClr val="1F2937"/>
            </a:solidFill>
            <a:ln>
              <a:noFill/>
            </a:ln>
          </p:spPr>
        </p:sp>
        <p:sp>
          <p:nvSpPr>
            <p:cNvPr id="39" name="Freeform 39"/>
            <p:cNvSpPr/>
            <p:nvPr/>
          </p:nvSpPr>
          <p:spPr>
            <a:xfrm>
              <a:off x="10670858" y="2431732"/>
              <a:ext cx="317182" cy="539115"/>
            </a:xfrm>
            <a:custGeom>
              <a:avLst/>
              <a:gdLst/>
              <a:ahLst/>
              <a:cxnLst/>
              <a:rect l="l" t="t" r="r" b="b"/>
              <a:pathLst>
                <a:path w="317182" h="539115">
                  <a:moveTo>
                    <a:pt x="317182" y="0"/>
                  </a:moveTo>
                  <a:cubicBezTo>
                    <a:pt x="238442" y="280670"/>
                    <a:pt x="132715" y="460375"/>
                    <a:pt x="0" y="539115"/>
                  </a:cubicBezTo>
                </a:path>
              </a:pathLst>
            </a:custGeom>
            <a:noFill/>
            <a:ln w="17145">
              <a:solidFill>
                <a:srgbClr val="1F2937"/>
              </a:solidFill>
            </a:ln>
          </p:spPr>
        </p:sp>
        <p:sp>
          <p:nvSpPr>
            <p:cNvPr id="40" name="Freeform 40"/>
            <p:cNvSpPr/>
            <p:nvPr/>
          </p:nvSpPr>
          <p:spPr>
            <a:xfrm>
              <a:off x="10588942" y="2929890"/>
              <a:ext cx="105727" cy="89535"/>
            </a:xfrm>
            <a:custGeom>
              <a:avLst/>
              <a:gdLst/>
              <a:ahLst/>
              <a:cxnLst/>
              <a:rect l="l" t="t" r="r" b="b"/>
              <a:pathLst>
                <a:path w="105727" h="89535">
                  <a:moveTo>
                    <a:pt x="0" y="89535"/>
                  </a:moveTo>
                  <a:lnTo>
                    <a:pt x="57150" y="0"/>
                  </a:lnTo>
                  <a:lnTo>
                    <a:pt x="105727" y="81915"/>
                  </a:lnTo>
                  <a:close/>
                </a:path>
              </a:pathLst>
            </a:custGeom>
            <a:solidFill>
              <a:srgbClr val="1F2937"/>
            </a:solidFill>
            <a:ln>
              <a:noFill/>
            </a:ln>
          </p:spPr>
        </p:sp>
        <p:sp>
          <p:nvSpPr>
            <p:cNvPr id="41" name="Freeform 41"/>
            <p:cNvSpPr/>
            <p:nvPr/>
          </p:nvSpPr>
          <p:spPr>
            <a:xfrm>
              <a:off x="8775382" y="3259455"/>
              <a:ext cx="1310640" cy="198438"/>
            </a:xfrm>
            <a:custGeom>
              <a:avLst/>
              <a:gdLst/>
              <a:ahLst/>
              <a:cxnLst/>
              <a:rect l="l" t="t" r="r" b="b"/>
              <a:pathLst>
                <a:path w="1310640" h="198438">
                  <a:moveTo>
                    <a:pt x="1310640" y="0"/>
                  </a:moveTo>
                  <a:cubicBezTo>
                    <a:pt x="843915" y="186690"/>
                    <a:pt x="407035" y="198438"/>
                    <a:pt x="0" y="35242"/>
                  </a:cubicBezTo>
                </a:path>
              </a:pathLst>
            </a:custGeom>
            <a:noFill/>
            <a:ln w="17145">
              <a:solidFill>
                <a:srgbClr val="1F2937"/>
              </a:solidFill>
            </a:ln>
          </p:spPr>
        </p:sp>
        <p:sp>
          <p:nvSpPr>
            <p:cNvPr id="42" name="Freeform 42"/>
            <p:cNvSpPr/>
            <p:nvPr/>
          </p:nvSpPr>
          <p:spPr>
            <a:xfrm>
              <a:off x="8686800" y="3249930"/>
              <a:ext cx="105728" cy="88583"/>
            </a:xfrm>
            <a:custGeom>
              <a:avLst/>
              <a:gdLst/>
              <a:ahLst/>
              <a:cxnLst/>
              <a:rect l="l" t="t" r="r" b="b"/>
              <a:pathLst>
                <a:path w="105728" h="88583">
                  <a:moveTo>
                    <a:pt x="0" y="9525"/>
                  </a:moveTo>
                  <a:lnTo>
                    <a:pt x="105728" y="0"/>
                  </a:lnTo>
                  <a:lnTo>
                    <a:pt x="70485" y="88583"/>
                  </a:lnTo>
                  <a:close/>
                </a:path>
              </a:pathLst>
            </a:custGeom>
            <a:solidFill>
              <a:srgbClr val="1F2937"/>
            </a:solidFill>
            <a:ln>
              <a:noFill/>
            </a:ln>
          </p:spPr>
        </p:sp>
        <p:sp>
          <p:nvSpPr>
            <p:cNvPr id="43" name="Freeform 43"/>
            <p:cNvSpPr/>
            <p:nvPr/>
          </p:nvSpPr>
          <p:spPr>
            <a:xfrm>
              <a:off x="7809548" y="2523172"/>
              <a:ext cx="374333" cy="496253"/>
            </a:xfrm>
            <a:custGeom>
              <a:avLst/>
              <a:gdLst/>
              <a:ahLst/>
              <a:cxnLst/>
              <a:rect l="l" t="t" r="r" b="b"/>
              <a:pathLst>
                <a:path w="374333" h="496253">
                  <a:moveTo>
                    <a:pt x="374333" y="496253"/>
                  </a:moveTo>
                  <a:cubicBezTo>
                    <a:pt x="187008" y="385128"/>
                    <a:pt x="62230" y="219710"/>
                    <a:pt x="0" y="0"/>
                  </a:cubicBezTo>
                </a:path>
              </a:pathLst>
            </a:custGeom>
            <a:noFill/>
            <a:ln w="17145">
              <a:solidFill>
                <a:srgbClr val="1F2937"/>
              </a:solidFill>
            </a:ln>
          </p:spPr>
        </p:sp>
        <p:sp>
          <p:nvSpPr>
            <p:cNvPr id="44" name="Freeform 44"/>
            <p:cNvSpPr/>
            <p:nvPr/>
          </p:nvSpPr>
          <p:spPr>
            <a:xfrm>
              <a:off x="7763828" y="2431732"/>
              <a:ext cx="92392" cy="104775"/>
            </a:xfrm>
            <a:custGeom>
              <a:avLst/>
              <a:gdLst/>
              <a:ahLst/>
              <a:cxnLst/>
              <a:rect l="l" t="t" r="r" b="b"/>
              <a:pathLst>
                <a:path w="92392" h="104775">
                  <a:moveTo>
                    <a:pt x="20003" y="0"/>
                  </a:moveTo>
                  <a:lnTo>
                    <a:pt x="92392" y="79058"/>
                  </a:lnTo>
                  <a:lnTo>
                    <a:pt x="0" y="104775"/>
                  </a:lnTo>
                  <a:close/>
                </a:path>
              </a:pathLst>
            </a:custGeom>
            <a:solidFill>
              <a:srgbClr val="1F2937"/>
            </a:solidFill>
            <a:ln>
              <a:noFill/>
            </a:ln>
          </p:spPr>
        </p:sp>
        <p:sp>
          <p:nvSpPr>
            <p:cNvPr id="45" name="Freeform 45"/>
            <p:cNvSpPr/>
            <p:nvPr/>
          </p:nvSpPr>
          <p:spPr>
            <a:xfrm>
              <a:off x="7891462" y="1717040"/>
              <a:ext cx="1005840" cy="474662"/>
            </a:xfrm>
            <a:custGeom>
              <a:avLst/>
              <a:gdLst/>
              <a:ahLst/>
              <a:cxnLst/>
              <a:rect l="l" t="t" r="r" b="b"/>
              <a:pathLst>
                <a:path w="1005840" h="474662">
                  <a:moveTo>
                    <a:pt x="0" y="474662"/>
                  </a:moveTo>
                  <a:cubicBezTo>
                    <a:pt x="377825" y="152717"/>
                    <a:pt x="713105" y="0"/>
                    <a:pt x="1005840" y="16510"/>
                  </a:cubicBezTo>
                </a:path>
              </a:pathLst>
            </a:custGeom>
            <a:noFill/>
            <a:ln w="17145">
              <a:solidFill>
                <a:srgbClr val="1F2937"/>
              </a:solidFill>
            </a:ln>
          </p:spPr>
        </p:sp>
        <p:sp>
          <p:nvSpPr>
            <p:cNvPr id="46" name="Freeform 46"/>
            <p:cNvSpPr/>
            <p:nvPr/>
          </p:nvSpPr>
          <p:spPr>
            <a:xfrm>
              <a:off x="8894445" y="1685925"/>
              <a:ext cx="98108" cy="95250"/>
            </a:xfrm>
            <a:custGeom>
              <a:avLst/>
              <a:gdLst/>
              <a:ahLst/>
              <a:cxnLst/>
              <a:rect l="l" t="t" r="r" b="b"/>
              <a:pathLst>
                <a:path w="98108" h="95250">
                  <a:moveTo>
                    <a:pt x="98108" y="52388"/>
                  </a:moveTo>
                  <a:lnTo>
                    <a:pt x="0" y="95250"/>
                  </a:lnTo>
                  <a:lnTo>
                    <a:pt x="5715" y="0"/>
                  </a:lnTo>
                  <a:close/>
                </a:path>
              </a:pathLst>
            </a:custGeom>
            <a:solidFill>
              <a:srgbClr val="1F2937"/>
            </a:solidFill>
            <a:ln>
              <a:noFill/>
            </a:ln>
          </p:spPr>
        </p:sp>
        <p:sp>
          <p:nvSpPr>
            <p:cNvPr id="47" name="Rectangle 47"/>
            <p:cNvSpPr/>
            <p:nvPr/>
          </p:nvSpPr>
          <p:spPr>
            <a:xfrm>
              <a:off x="8992552" y="1640205"/>
              <a:ext cx="787718" cy="240030"/>
            </a:xfrm>
            <a:prstGeom prst="roundRect">
              <a:avLst>
                <a:gd name="adj" fmla="val 39683"/>
              </a:avLst>
            </a:prstGeom>
            <a:solidFill>
              <a:srgbClr val="FFFFFF"/>
            </a:solidFill>
            <a:ln w="17145">
              <a:solidFill>
                <a:srgbClr val="334E68"/>
              </a:solidFill>
            </a:ln>
          </p:spPr>
        </p:sp>
        <p:sp>
          <p:nvSpPr>
            <p:cNvPr id="48" name="Rectangle 48"/>
            <p:cNvSpPr/>
            <p:nvPr/>
          </p:nvSpPr>
          <p:spPr>
            <a:xfrm>
              <a:off x="10627995" y="2191702"/>
              <a:ext cx="787718" cy="240030"/>
            </a:xfrm>
            <a:prstGeom prst="roundRect">
              <a:avLst>
                <a:gd name="adj" fmla="val 39683"/>
              </a:avLst>
            </a:prstGeom>
            <a:solidFill>
              <a:srgbClr val="FFFFFF"/>
            </a:solidFill>
            <a:ln w="17145">
              <a:solidFill>
                <a:srgbClr val="334E68"/>
              </a:solidFill>
            </a:ln>
          </p:spPr>
        </p:sp>
        <p:sp>
          <p:nvSpPr>
            <p:cNvPr id="49" name="Rectangle 49"/>
            <p:cNvSpPr/>
            <p:nvPr/>
          </p:nvSpPr>
          <p:spPr>
            <a:xfrm>
              <a:off x="9991725" y="3019425"/>
              <a:ext cx="787718" cy="240030"/>
            </a:xfrm>
            <a:prstGeom prst="roundRect">
              <a:avLst>
                <a:gd name="adj" fmla="val 39683"/>
              </a:avLst>
            </a:prstGeom>
            <a:solidFill>
              <a:srgbClr val="FFFFFF"/>
            </a:solidFill>
            <a:ln w="17145">
              <a:solidFill>
                <a:srgbClr val="334E68"/>
              </a:solidFill>
            </a:ln>
          </p:spPr>
        </p:sp>
        <p:sp>
          <p:nvSpPr>
            <p:cNvPr id="50" name="Rectangle 50"/>
            <p:cNvSpPr/>
            <p:nvPr/>
          </p:nvSpPr>
          <p:spPr>
            <a:xfrm>
              <a:off x="7992428" y="3019425"/>
              <a:ext cx="787718" cy="240030"/>
            </a:xfrm>
            <a:prstGeom prst="roundRect">
              <a:avLst>
                <a:gd name="adj" fmla="val 39683"/>
              </a:avLst>
            </a:prstGeom>
            <a:solidFill>
              <a:srgbClr val="FFFFFF"/>
            </a:solidFill>
            <a:ln w="17145">
              <a:solidFill>
                <a:srgbClr val="334E68"/>
              </a:solidFill>
            </a:ln>
          </p:spPr>
        </p:sp>
        <p:sp>
          <p:nvSpPr>
            <p:cNvPr id="51" name="Rectangle 51"/>
            <p:cNvSpPr/>
            <p:nvPr/>
          </p:nvSpPr>
          <p:spPr>
            <a:xfrm>
              <a:off x="7356158" y="2191702"/>
              <a:ext cx="787718" cy="240030"/>
            </a:xfrm>
            <a:prstGeom prst="roundRect">
              <a:avLst>
                <a:gd name="adj" fmla="val 39683"/>
              </a:avLst>
            </a:prstGeom>
            <a:solidFill>
              <a:srgbClr val="FFFFFF"/>
            </a:solidFill>
            <a:ln w="17145">
              <a:solidFill>
                <a:srgbClr val="334E68"/>
              </a:solidFill>
            </a:ln>
          </p:spPr>
        </p:sp>
        <p:sp>
          <p:nvSpPr>
            <p:cNvPr id="52" name="TextBox 52"/>
            <p:cNvSpPr txBox="1"/>
            <p:nvPr/>
          </p:nvSpPr>
          <p:spPr>
            <a:xfrm>
              <a:off x="9260014" y="1704022"/>
              <a:ext cx="251841"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规划</a:t>
              </a:r>
            </a:p>
          </p:txBody>
        </p:sp>
        <p:sp>
          <p:nvSpPr>
            <p:cNvPr id="53" name="TextBox 53"/>
            <p:cNvSpPr txBox="1"/>
            <p:nvPr/>
          </p:nvSpPr>
          <p:spPr>
            <a:xfrm>
              <a:off x="10896410" y="2255520"/>
              <a:ext cx="251841"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设计</a:t>
              </a:r>
            </a:p>
          </p:txBody>
        </p:sp>
        <p:sp>
          <p:nvSpPr>
            <p:cNvPr id="54" name="TextBox 54"/>
            <p:cNvSpPr txBox="1"/>
            <p:nvPr/>
          </p:nvSpPr>
          <p:spPr>
            <a:xfrm>
              <a:off x="10260140" y="3083242"/>
              <a:ext cx="251841"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开发</a:t>
              </a:r>
            </a:p>
          </p:txBody>
        </p:sp>
        <p:sp>
          <p:nvSpPr>
            <p:cNvPr id="55" name="TextBox 55"/>
            <p:cNvSpPr txBox="1"/>
            <p:nvPr/>
          </p:nvSpPr>
          <p:spPr>
            <a:xfrm>
              <a:off x="8260842" y="3083242"/>
              <a:ext cx="251841"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稳定</a:t>
              </a:r>
            </a:p>
          </p:txBody>
        </p:sp>
        <p:sp>
          <p:nvSpPr>
            <p:cNvPr id="56" name="TextBox 56"/>
            <p:cNvSpPr txBox="1"/>
            <p:nvPr/>
          </p:nvSpPr>
          <p:spPr>
            <a:xfrm>
              <a:off x="7624572" y="2255520"/>
              <a:ext cx="251841"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发布</a:t>
              </a:r>
            </a:p>
          </p:txBody>
        </p:sp>
        <p:sp>
          <p:nvSpPr>
            <p:cNvPr id="57" name="TextBox 57"/>
            <p:cNvSpPr txBox="1"/>
            <p:nvPr/>
          </p:nvSpPr>
          <p:spPr>
            <a:xfrm>
              <a:off x="8957120" y="2411730"/>
              <a:ext cx="857631" cy="176212"/>
            </a:xfrm>
            <a:prstGeom prst="rect">
              <a:avLst/>
            </a:prstGeom>
            <a:noFill/>
            <a:ln>
              <a:noFill/>
            </a:ln>
          </p:spPr>
          <p:txBody>
            <a:bodyPr wrap="none" lIns="0" tIns="0" rIns="0" bIns="0" anchor="t" anchorCtr="0">
              <a:spAutoFit/>
            </a:bodyPr>
            <a:lstStyle/>
            <a:p>
              <a:pPr algn="ctr"/>
              <a:r>
                <a:rPr lang="zh-CN" sz="900" b="1" dirty="0">
                  <a:solidFill>
                    <a:srgbClr val="5B6475"/>
                  </a:solidFill>
                  <a:latin typeface="+mn-lt"/>
                  <a:ea typeface="+mn-ea"/>
                  <a:cs typeface="+mn-cs"/>
                </a:rPr>
                <a:t>一个版本转一圈</a:t>
              </a:r>
            </a:p>
          </p:txBody>
        </p:sp>
      </p:grpSp>
      <p:grpSp>
        <p:nvGrpSpPr>
          <p:cNvPr id="64" name="c2-card-2"/>
          <p:cNvGrpSpPr/>
          <p:nvPr/>
        </p:nvGrpSpPr>
        <p:grpSpPr>
          <a:xfrm>
            <a:off x="7114222" y="3673792"/>
            <a:ext cx="4544378" cy="1793558"/>
            <a:chOff x="7114222" y="3673792"/>
            <a:chExt cx="4544378" cy="1793558"/>
          </a:xfrm>
        </p:grpSpPr>
        <p:sp>
          <p:nvSpPr>
            <p:cNvPr id="59" name="Rectangle 59"/>
            <p:cNvSpPr/>
            <p:nvPr/>
          </p:nvSpPr>
          <p:spPr>
            <a:xfrm>
              <a:off x="7114222" y="3673792"/>
              <a:ext cx="4544378" cy="1793558"/>
            </a:xfrm>
            <a:prstGeom prst="roundRect">
              <a:avLst>
                <a:gd name="adj" fmla="val 7435"/>
              </a:avLst>
            </a:prstGeom>
            <a:solidFill>
              <a:srgbClr val="FFFFFF"/>
            </a:solidFill>
            <a:ln w="14288">
              <a:solidFill>
                <a:srgbClr val="D9DFEA"/>
              </a:solidFill>
            </a:ln>
          </p:spPr>
        </p:sp>
        <p:sp>
          <p:nvSpPr>
            <p:cNvPr id="60" name="Rectangle 60"/>
            <p:cNvSpPr/>
            <p:nvPr/>
          </p:nvSpPr>
          <p:spPr>
            <a:xfrm>
              <a:off x="7123748" y="3807142"/>
              <a:ext cx="47625" cy="1526858"/>
            </a:xfrm>
            <a:prstGeom prst="roundRect">
              <a:avLst>
                <a:gd name="adj" fmla="val 50000"/>
              </a:avLst>
            </a:prstGeom>
            <a:solidFill>
              <a:srgbClr val="5B6475"/>
            </a:solidFill>
            <a:ln>
              <a:noFill/>
            </a:ln>
          </p:spPr>
        </p:sp>
        <p:sp>
          <p:nvSpPr>
            <p:cNvPr id="61" name="Rectangle 61"/>
            <p:cNvSpPr/>
            <p:nvPr/>
          </p:nvSpPr>
          <p:spPr>
            <a:xfrm>
              <a:off x="7350442" y="3871912"/>
              <a:ext cx="742950" cy="247650"/>
            </a:xfrm>
            <a:prstGeom prst="roundRect">
              <a:avLst>
                <a:gd name="adj" fmla="val 50000"/>
              </a:avLst>
            </a:prstGeom>
            <a:solidFill>
              <a:srgbClr val="F4F6FB"/>
            </a:solidFill>
            <a:ln>
              <a:noFill/>
            </a:ln>
          </p:spPr>
        </p:sp>
        <p:sp>
          <p:nvSpPr>
            <p:cNvPr id="62" name="TextBox 62"/>
            <p:cNvSpPr txBox="1"/>
            <p:nvPr/>
          </p:nvSpPr>
          <p:spPr>
            <a:xfrm>
              <a:off x="7433882" y="3906202"/>
              <a:ext cx="576072"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新版说法</a:t>
              </a:r>
            </a:p>
          </p:txBody>
        </p:sp>
        <p:sp>
          <p:nvSpPr>
            <p:cNvPr id="63" name="TextBox 63"/>
            <p:cNvSpPr txBox="1"/>
            <p:nvPr/>
          </p:nvSpPr>
          <p:spPr>
            <a:xfrm>
              <a:off x="7343204" y="4232434"/>
              <a:ext cx="3900805" cy="1093089"/>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微软解决方案框架后来把这五个阶段叫作</a:t>
              </a:r>
              <a:r>
                <a:rPr lang="zh-CN" sz="1420" b="1" dirty="0">
                  <a:solidFill>
                    <a:srgbClr val="C2410C"/>
                  </a:solidFill>
                  <a:latin typeface="+mn-lt"/>
                  <a:ea typeface="+mn-ea"/>
                  <a:cs typeface="+mn-cs"/>
                </a:rPr>
                <a:t>构思、</a:t>
              </a:r>
              <a:br/>
              <a:r>
                <a:rPr lang="zh-CN" sz="1420" b="1" dirty="0">
                  <a:solidFill>
                    <a:srgbClr val="C2410C"/>
                  </a:solidFill>
                  <a:latin typeface="+mn-lt"/>
                  <a:ea typeface="+mn-ea"/>
                  <a:cs typeface="+mn-cs"/>
                </a:rPr>
                <a:t>计划、开发、稳定、部署</a:t>
              </a:r>
              <a:r>
                <a:rPr lang="zh-CN" sz="1420" dirty="0">
                  <a:solidFill>
                    <a:srgbClr val="1F2937"/>
                  </a:solidFill>
                  <a:latin typeface="+mn-lt"/>
                  <a:ea typeface="+mn-ea"/>
                  <a:cs typeface="+mn-cs"/>
                </a:rPr>
                <a:t>，里程碑相应改称远景/</a:t>
              </a:r>
              <a:br/>
              <a:r>
                <a:rPr lang="zh-CN" sz="1420" dirty="0">
                  <a:solidFill>
                    <a:srgbClr val="1F2937"/>
                  </a:solidFill>
                  <a:latin typeface="+mn-lt"/>
                  <a:ea typeface="+mn-ea"/>
                  <a:cs typeface="+mn-cs"/>
                </a:rPr>
                <a:t>范围认可、项目计划认可、范围完成、发布就绪</a:t>
              </a:r>
              <a:br/>
              <a:r>
                <a:rPr lang="zh-CN" sz="1420" dirty="0">
                  <a:solidFill>
                    <a:srgbClr val="1F2937"/>
                  </a:solidFill>
                  <a:latin typeface="+mn-lt"/>
                  <a:ea typeface="+mn-ea"/>
                  <a:cs typeface="+mn-cs"/>
                </a:rPr>
                <a:t>认可、部署完成。</a:t>
              </a:r>
            </a:p>
          </p:txBody>
        </p:sp>
      </p:grpSp>
      <p:grpSp>
        <p:nvGrpSpPr>
          <p:cNvPr id="70" name="takeaway"/>
          <p:cNvGrpSpPr/>
          <p:nvPr/>
        </p:nvGrpSpPr>
        <p:grpSpPr>
          <a:xfrm>
            <a:off x="533400" y="5858828"/>
            <a:ext cx="11125200" cy="503872"/>
            <a:chOff x="533400" y="5858828"/>
            <a:chExt cx="11125200" cy="503872"/>
          </a:xfrm>
        </p:grpSpPr>
        <p:sp>
          <p:nvSpPr>
            <p:cNvPr id="65" name="Rectangle 65"/>
            <p:cNvSpPr/>
            <p:nvPr/>
          </p:nvSpPr>
          <p:spPr>
            <a:xfrm>
              <a:off x="533400" y="5858828"/>
              <a:ext cx="11125200" cy="503872"/>
            </a:xfrm>
            <a:prstGeom prst="roundRect">
              <a:avLst>
                <a:gd name="adj" fmla="val 22684"/>
              </a:avLst>
            </a:prstGeom>
            <a:solidFill>
              <a:srgbClr val="334E68"/>
            </a:solidFill>
            <a:ln>
              <a:noFill/>
            </a:ln>
          </p:spPr>
        </p:sp>
        <p:grpSp>
          <p:nvGrpSpPr>
            <p:cNvPr id="68" name="Group 68"/>
            <p:cNvGrpSpPr/>
            <p:nvPr/>
          </p:nvGrpSpPr>
          <p:grpSpPr>
            <a:xfrm>
              <a:off x="738188" y="6011230"/>
              <a:ext cx="200023" cy="200023"/>
              <a:chOff x="738188" y="6011230"/>
              <a:chExt cx="200023" cy="200023"/>
            </a:xfrm>
          </p:grpSpPr>
          <p:sp>
            <p:nvSpPr>
              <p:cNvPr id="66" name="Freeform 66"/>
              <p:cNvSpPr/>
              <p:nvPr/>
            </p:nvSpPr>
            <p:spPr>
              <a:xfrm>
                <a:off x="738188" y="601123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7" name="Freeform 67"/>
              <p:cNvSpPr/>
              <p:nvPr/>
            </p:nvSpPr>
            <p:spPr>
              <a:xfrm>
                <a:off x="871538" y="607790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9" name="TextBox 69"/>
            <p:cNvSpPr txBox="1"/>
            <p:nvPr/>
          </p:nvSpPr>
          <p:spPr>
            <a:xfrm>
              <a:off x="1040511" y="6011704"/>
              <a:ext cx="8444652"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微软过程模型是这个生命周期的多次重复：版本 1、版本 2、…… 沿时间轴依次发布，功能逐版增加。</a:t>
              </a:r>
            </a:p>
          </p:txBody>
        </p:sp>
      </p:grpSp>
      <p:grpSp>
        <p:nvGrpSpPr>
          <p:cNvPr id="73" name="footer"/>
          <p:cNvGrpSpPr/>
          <p:nvPr/>
        </p:nvGrpSpPr>
        <p:grpSpPr>
          <a:xfrm>
            <a:off x="528447" y="6581299"/>
            <a:ext cx="11135106" cy="190690"/>
            <a:chOff x="528447" y="6581299"/>
            <a:chExt cx="11135106" cy="190690"/>
          </a:xfrm>
        </p:grpSpPr>
        <p:sp>
          <p:nvSpPr>
            <p:cNvPr id="71" name="TextBox 71"/>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72" name="TextBox 7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62</a:t>
              </a:r>
            </a:p>
          </p:txBody>
        </p:sp>
      </p:grpSp>
    </p:spTree>
  </p:cSld>
  <p:clrMapOvr>
    <a:masterClrMapping/>
  </p:clrMapOvr>
  <p:transition xmlns:p14="http://schemas.microsoft.com/office/powerpoint/2010/main" p14:dur="400">
    <p:fade/>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139059" cy="909257"/>
            <a:chOff x="520446" y="342900"/>
            <a:chExt cx="3139059" cy="909257"/>
          </a:xfrm>
        </p:grpSpPr>
        <p:sp>
          <p:nvSpPr>
            <p:cNvPr id="2" name="Rectangle 2"/>
            <p:cNvSpPr/>
            <p:nvPr/>
          </p:nvSpPr>
          <p:spPr>
            <a:xfrm>
              <a:off x="533400" y="342900"/>
              <a:ext cx="3126105" cy="266700"/>
            </a:xfrm>
            <a:prstGeom prst="roundRect">
              <a:avLst>
                <a:gd name="adj" fmla="val 50000"/>
              </a:avLst>
            </a:prstGeom>
            <a:solidFill>
              <a:srgbClr val="E7EDF3"/>
            </a:solidFill>
            <a:ln>
              <a:noFill/>
            </a:ln>
          </p:spPr>
        </p:sp>
        <p:sp>
          <p:nvSpPr>
            <p:cNvPr id="3" name="TextBox 3"/>
            <p:cNvSpPr txBox="1"/>
            <p:nvPr/>
          </p:nvSpPr>
          <p:spPr>
            <a:xfrm>
              <a:off x="575455" y="407194"/>
              <a:ext cx="3041995"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 · 敏捷过程、极限编程与微软过程</a:t>
              </a:r>
            </a:p>
          </p:txBody>
        </p:sp>
        <p:sp>
          <p:nvSpPr>
            <p:cNvPr id="4" name="TextBox 4"/>
            <p:cNvSpPr txBox="1"/>
            <p:nvPr/>
          </p:nvSpPr>
          <p:spPr>
            <a:xfrm>
              <a:off x="520446" y="753428"/>
              <a:ext cx="311543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九种过程模型怎么选</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4" name="c1-table-1"/>
          <p:cNvGrpSpPr/>
          <p:nvPr/>
        </p:nvGrpSpPr>
        <p:grpSpPr>
          <a:xfrm>
            <a:off x="533400" y="1524000"/>
            <a:ext cx="11125200" cy="4000500"/>
            <a:chOff x="533400" y="1524000"/>
            <a:chExt cx="11125200" cy="4000500"/>
          </a:xfrm>
        </p:grpSpPr>
        <p:sp>
          <p:nvSpPr>
            <p:cNvPr id="7" name="Rectangle 7"/>
            <p:cNvSpPr/>
            <p:nvPr/>
          </p:nvSpPr>
          <p:spPr>
            <a:xfrm>
              <a:off x="533400" y="1524000"/>
              <a:ext cx="11125200" cy="400050"/>
            </a:xfrm>
            <a:prstGeom prst="rect">
              <a:avLst/>
            </a:prstGeom>
            <a:solidFill>
              <a:srgbClr val="334E68"/>
            </a:solidFill>
            <a:ln>
              <a:noFill/>
            </a:ln>
          </p:spPr>
        </p:sp>
        <p:sp>
          <p:nvSpPr>
            <p:cNvPr id="8" name="TextBox 8"/>
            <p:cNvSpPr txBox="1"/>
            <p:nvPr/>
          </p:nvSpPr>
          <p:spPr>
            <a:xfrm>
              <a:off x="1099858" y="1645444"/>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模型</a:t>
              </a:r>
            </a:p>
          </p:txBody>
        </p:sp>
        <p:sp>
          <p:nvSpPr>
            <p:cNvPr id="9" name="TextBox 9"/>
            <p:cNvSpPr txBox="1"/>
            <p:nvPr/>
          </p:nvSpPr>
          <p:spPr>
            <a:xfrm>
              <a:off x="4076395" y="1645444"/>
              <a:ext cx="1368400"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关键特点与驱动方式</a:t>
              </a:r>
            </a:p>
          </p:txBody>
        </p:sp>
        <p:sp>
          <p:nvSpPr>
            <p:cNvPr id="10" name="TextBox 10"/>
            <p:cNvSpPr txBox="1"/>
            <p:nvPr/>
          </p:nvSpPr>
          <p:spPr>
            <a:xfrm>
              <a:off x="9292984" y="1645444"/>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适用场景</a:t>
              </a:r>
            </a:p>
          </p:txBody>
        </p:sp>
        <p:sp>
          <p:nvSpPr>
            <p:cNvPr id="11" name="TextBox 11"/>
            <p:cNvSpPr txBox="1"/>
            <p:nvPr/>
          </p:nvSpPr>
          <p:spPr>
            <a:xfrm>
              <a:off x="630555" y="2045494"/>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瀑布模型</a:t>
              </a:r>
            </a:p>
          </p:txBody>
        </p:sp>
        <p:sp>
          <p:nvSpPr>
            <p:cNvPr id="12" name="TextBox 12"/>
            <p:cNvSpPr txBox="1"/>
            <p:nvPr/>
          </p:nvSpPr>
          <p:spPr>
            <a:xfrm>
              <a:off x="2076450" y="2045494"/>
              <a:ext cx="242382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阶段顺序依赖，推迟实现，文档驱动</a:t>
              </a:r>
            </a:p>
          </p:txBody>
        </p:sp>
        <p:sp>
          <p:nvSpPr>
            <p:cNvPr id="13" name="TextBox 13"/>
            <p:cNvSpPr txBox="1"/>
            <p:nvPr/>
          </p:nvSpPr>
          <p:spPr>
            <a:xfrm>
              <a:off x="7639050" y="2045494"/>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需求明确、稳定的项目</a:t>
              </a:r>
            </a:p>
          </p:txBody>
        </p:sp>
        <p:sp>
          <p:nvSpPr>
            <p:cNvPr id="14" name="Rectangle 14"/>
            <p:cNvSpPr/>
            <p:nvPr/>
          </p:nvSpPr>
          <p:spPr>
            <a:xfrm>
              <a:off x="533400" y="2319338"/>
              <a:ext cx="11125200" cy="9525"/>
            </a:xfrm>
            <a:prstGeom prst="rect">
              <a:avLst/>
            </a:prstGeom>
            <a:solidFill>
              <a:srgbClr val="D9DFEA"/>
            </a:solidFill>
            <a:ln>
              <a:noFill/>
            </a:ln>
          </p:spPr>
        </p:sp>
        <p:sp>
          <p:nvSpPr>
            <p:cNvPr id="15" name="Rectangle 15"/>
            <p:cNvSpPr/>
            <p:nvPr/>
          </p:nvSpPr>
          <p:spPr>
            <a:xfrm>
              <a:off x="533400" y="2324100"/>
              <a:ext cx="11125200" cy="400050"/>
            </a:xfrm>
            <a:prstGeom prst="rect">
              <a:avLst/>
            </a:prstGeom>
            <a:solidFill>
              <a:srgbClr val="F4F6FB"/>
            </a:solidFill>
            <a:ln>
              <a:noFill/>
            </a:ln>
          </p:spPr>
        </p:sp>
        <p:sp>
          <p:nvSpPr>
            <p:cNvPr id="16" name="TextBox 16"/>
            <p:cNvSpPr txBox="1"/>
            <p:nvPr/>
          </p:nvSpPr>
          <p:spPr>
            <a:xfrm>
              <a:off x="630555" y="2445544"/>
              <a:ext cx="45516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V 模型</a:t>
              </a:r>
            </a:p>
          </p:txBody>
        </p:sp>
        <p:sp>
          <p:nvSpPr>
            <p:cNvPr id="17" name="TextBox 17"/>
            <p:cNvSpPr txBox="1"/>
            <p:nvPr/>
          </p:nvSpPr>
          <p:spPr>
            <a:xfrm>
              <a:off x="2076450" y="2445544"/>
              <a:ext cx="272536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开发活动与测试活动一一对应，活动驱动</a:t>
              </a:r>
            </a:p>
          </p:txBody>
        </p:sp>
        <p:sp>
          <p:nvSpPr>
            <p:cNvPr id="18" name="TextBox 18"/>
            <p:cNvSpPr txBox="1"/>
            <p:nvPr/>
          </p:nvSpPr>
          <p:spPr>
            <a:xfrm>
              <a:off x="7639050" y="2445544"/>
              <a:ext cx="166994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需求稳定且重视验证确认</a:t>
              </a:r>
            </a:p>
          </p:txBody>
        </p:sp>
        <p:sp>
          <p:nvSpPr>
            <p:cNvPr id="19" name="Rectangle 19"/>
            <p:cNvSpPr/>
            <p:nvPr/>
          </p:nvSpPr>
          <p:spPr>
            <a:xfrm>
              <a:off x="533400" y="2719388"/>
              <a:ext cx="11125200" cy="9525"/>
            </a:xfrm>
            <a:prstGeom prst="rect">
              <a:avLst/>
            </a:prstGeom>
            <a:solidFill>
              <a:srgbClr val="D9DFEA"/>
            </a:solidFill>
            <a:ln>
              <a:noFill/>
            </a:ln>
          </p:spPr>
        </p:sp>
        <p:sp>
          <p:nvSpPr>
            <p:cNvPr id="20" name="TextBox 20"/>
            <p:cNvSpPr txBox="1"/>
            <p:nvPr/>
          </p:nvSpPr>
          <p:spPr>
            <a:xfrm>
              <a:off x="630555" y="2845594"/>
              <a:ext cx="916076"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快速原型模型</a:t>
              </a:r>
            </a:p>
          </p:txBody>
        </p:sp>
        <p:sp>
          <p:nvSpPr>
            <p:cNvPr id="21" name="TextBox 21"/>
            <p:cNvSpPr txBox="1"/>
            <p:nvPr/>
          </p:nvSpPr>
          <p:spPr>
            <a:xfrm>
              <a:off x="2076450" y="2845594"/>
              <a:ext cx="242382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先做原型问清需求，主干不带反馈环</a:t>
              </a:r>
            </a:p>
          </p:txBody>
        </p:sp>
        <p:sp>
          <p:nvSpPr>
            <p:cNvPr id="22" name="TextBox 22"/>
            <p:cNvSpPr txBox="1"/>
            <p:nvPr/>
          </p:nvSpPr>
          <p:spPr>
            <a:xfrm>
              <a:off x="7639050" y="2845594"/>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用户说不清需求的项目</a:t>
              </a:r>
            </a:p>
          </p:txBody>
        </p:sp>
        <p:sp>
          <p:nvSpPr>
            <p:cNvPr id="23" name="Rectangle 23"/>
            <p:cNvSpPr/>
            <p:nvPr/>
          </p:nvSpPr>
          <p:spPr>
            <a:xfrm>
              <a:off x="533400" y="3119438"/>
              <a:ext cx="11125200" cy="9525"/>
            </a:xfrm>
            <a:prstGeom prst="rect">
              <a:avLst/>
            </a:prstGeom>
            <a:solidFill>
              <a:srgbClr val="D9DFEA"/>
            </a:solidFill>
            <a:ln>
              <a:noFill/>
            </a:ln>
          </p:spPr>
        </p:sp>
        <p:sp>
          <p:nvSpPr>
            <p:cNvPr id="24" name="Rectangle 24"/>
            <p:cNvSpPr/>
            <p:nvPr/>
          </p:nvSpPr>
          <p:spPr>
            <a:xfrm>
              <a:off x="533400" y="3124200"/>
              <a:ext cx="11125200" cy="400050"/>
            </a:xfrm>
            <a:prstGeom prst="rect">
              <a:avLst/>
            </a:prstGeom>
            <a:solidFill>
              <a:srgbClr val="F4F6FB"/>
            </a:solidFill>
            <a:ln>
              <a:noFill/>
            </a:ln>
          </p:spPr>
        </p:sp>
        <p:sp>
          <p:nvSpPr>
            <p:cNvPr id="25" name="TextBox 25"/>
            <p:cNvSpPr txBox="1"/>
            <p:nvPr/>
          </p:nvSpPr>
          <p:spPr>
            <a:xfrm>
              <a:off x="630555" y="3245644"/>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增量模型</a:t>
              </a:r>
            </a:p>
          </p:txBody>
        </p:sp>
        <p:sp>
          <p:nvSpPr>
            <p:cNvPr id="26" name="TextBox 26"/>
            <p:cNvSpPr txBox="1"/>
            <p:nvPr/>
          </p:nvSpPr>
          <p:spPr>
            <a:xfrm>
              <a:off x="2076450" y="3245644"/>
              <a:ext cx="272536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按构件分批交付，首个构件实现核心功能</a:t>
              </a:r>
            </a:p>
          </p:txBody>
        </p:sp>
        <p:sp>
          <p:nvSpPr>
            <p:cNvPr id="27" name="TextBox 27"/>
            <p:cNvSpPr txBox="1"/>
            <p:nvPr/>
          </p:nvSpPr>
          <p:spPr>
            <a:xfrm>
              <a:off x="7639050" y="3245644"/>
              <a:ext cx="21222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人手不足、想尽早交付核心功能</a:t>
              </a:r>
            </a:p>
          </p:txBody>
        </p:sp>
        <p:sp>
          <p:nvSpPr>
            <p:cNvPr id="28" name="Rectangle 28"/>
            <p:cNvSpPr/>
            <p:nvPr/>
          </p:nvSpPr>
          <p:spPr>
            <a:xfrm>
              <a:off x="533400" y="3519488"/>
              <a:ext cx="11125200" cy="9525"/>
            </a:xfrm>
            <a:prstGeom prst="rect">
              <a:avLst/>
            </a:prstGeom>
            <a:solidFill>
              <a:srgbClr val="D9DFEA"/>
            </a:solidFill>
            <a:ln>
              <a:noFill/>
            </a:ln>
          </p:spPr>
        </p:sp>
        <p:sp>
          <p:nvSpPr>
            <p:cNvPr id="29" name="TextBox 29"/>
            <p:cNvSpPr txBox="1"/>
            <p:nvPr/>
          </p:nvSpPr>
          <p:spPr>
            <a:xfrm>
              <a:off x="630555" y="3645694"/>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螺旋模型</a:t>
              </a:r>
            </a:p>
          </p:txBody>
        </p:sp>
        <p:sp>
          <p:nvSpPr>
            <p:cNvPr id="30" name="TextBox 30"/>
            <p:cNvSpPr txBox="1"/>
            <p:nvPr/>
          </p:nvSpPr>
          <p:spPr>
            <a:xfrm>
              <a:off x="2076450" y="3645694"/>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每阶段前做风险分析，四象限转圈</a:t>
              </a:r>
            </a:p>
          </p:txBody>
        </p:sp>
        <p:sp>
          <p:nvSpPr>
            <p:cNvPr id="31" name="Rectangle 31"/>
            <p:cNvSpPr/>
            <p:nvPr/>
          </p:nvSpPr>
          <p:spPr>
            <a:xfrm>
              <a:off x="7551420" y="3533775"/>
              <a:ext cx="4097655" cy="381000"/>
            </a:xfrm>
            <a:prstGeom prst="rect">
              <a:avLst/>
            </a:prstGeom>
            <a:solidFill>
              <a:srgbClr val="FDEEE7"/>
            </a:solidFill>
            <a:ln>
              <a:noFill/>
            </a:ln>
          </p:spPr>
        </p:sp>
        <p:sp>
          <p:nvSpPr>
            <p:cNvPr id="32" name="TextBox 32"/>
            <p:cNvSpPr txBox="1"/>
            <p:nvPr/>
          </p:nvSpPr>
          <p:spPr>
            <a:xfrm>
              <a:off x="7639050" y="3645694"/>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规模大、风险多的内部项目</a:t>
              </a:r>
            </a:p>
          </p:txBody>
        </p:sp>
        <p:sp>
          <p:nvSpPr>
            <p:cNvPr id="33" name="Rectangle 33"/>
            <p:cNvSpPr/>
            <p:nvPr/>
          </p:nvSpPr>
          <p:spPr>
            <a:xfrm>
              <a:off x="533400" y="3919538"/>
              <a:ext cx="11125200" cy="9525"/>
            </a:xfrm>
            <a:prstGeom prst="rect">
              <a:avLst/>
            </a:prstGeom>
            <a:solidFill>
              <a:srgbClr val="D9DFEA"/>
            </a:solidFill>
            <a:ln>
              <a:noFill/>
            </a:ln>
          </p:spPr>
        </p:sp>
        <p:sp>
          <p:nvSpPr>
            <p:cNvPr id="34" name="Rectangle 34"/>
            <p:cNvSpPr/>
            <p:nvPr/>
          </p:nvSpPr>
          <p:spPr>
            <a:xfrm>
              <a:off x="533400" y="3924300"/>
              <a:ext cx="11125200" cy="400050"/>
            </a:xfrm>
            <a:prstGeom prst="rect">
              <a:avLst/>
            </a:prstGeom>
            <a:solidFill>
              <a:srgbClr val="F4F6FB"/>
            </a:solidFill>
            <a:ln>
              <a:noFill/>
            </a:ln>
          </p:spPr>
        </p:sp>
        <p:sp>
          <p:nvSpPr>
            <p:cNvPr id="35" name="TextBox 35"/>
            <p:cNvSpPr txBox="1"/>
            <p:nvPr/>
          </p:nvSpPr>
          <p:spPr>
            <a:xfrm>
              <a:off x="630555" y="4045744"/>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喷泉模型</a:t>
              </a:r>
            </a:p>
          </p:txBody>
        </p:sp>
        <p:sp>
          <p:nvSpPr>
            <p:cNvPr id="36" name="TextBox 36"/>
            <p:cNvSpPr txBox="1"/>
            <p:nvPr/>
          </p:nvSpPr>
          <p:spPr>
            <a:xfrm>
              <a:off x="2076450" y="4045744"/>
              <a:ext cx="242382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阶段无缝衔接、反复迭代，对象驱动</a:t>
              </a:r>
            </a:p>
          </p:txBody>
        </p:sp>
        <p:sp>
          <p:nvSpPr>
            <p:cNvPr id="37" name="TextBox 37"/>
            <p:cNvSpPr txBox="1"/>
            <p:nvPr/>
          </p:nvSpPr>
          <p:spPr>
            <a:xfrm>
              <a:off x="7639050" y="4045744"/>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面向对象方法学的开发</a:t>
              </a:r>
            </a:p>
          </p:txBody>
        </p:sp>
        <p:sp>
          <p:nvSpPr>
            <p:cNvPr id="38" name="Rectangle 38"/>
            <p:cNvSpPr/>
            <p:nvPr/>
          </p:nvSpPr>
          <p:spPr>
            <a:xfrm>
              <a:off x="533400" y="4319588"/>
              <a:ext cx="11125200" cy="9525"/>
            </a:xfrm>
            <a:prstGeom prst="rect">
              <a:avLst/>
            </a:prstGeom>
            <a:solidFill>
              <a:srgbClr val="D9DFEA"/>
            </a:solidFill>
            <a:ln>
              <a:noFill/>
            </a:ln>
          </p:spPr>
        </p:sp>
        <p:sp>
          <p:nvSpPr>
            <p:cNvPr id="39" name="TextBox 39"/>
            <p:cNvSpPr txBox="1"/>
            <p:nvPr/>
          </p:nvSpPr>
          <p:spPr>
            <a:xfrm>
              <a:off x="630555" y="4445794"/>
              <a:ext cx="28743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RUP</a:t>
              </a:r>
            </a:p>
          </p:txBody>
        </p:sp>
        <p:sp>
          <p:nvSpPr>
            <p:cNvPr id="40" name="TextBox 40"/>
            <p:cNvSpPr txBox="1"/>
            <p:nvPr/>
          </p:nvSpPr>
          <p:spPr>
            <a:xfrm>
              <a:off x="2076450" y="4445794"/>
              <a:ext cx="272536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用例驱动、以体系结构为中心、迭代增量</a:t>
              </a:r>
            </a:p>
          </p:txBody>
        </p:sp>
        <p:sp>
          <p:nvSpPr>
            <p:cNvPr id="41" name="TextBox 41"/>
            <p:cNvSpPr txBox="1"/>
            <p:nvPr/>
          </p:nvSpPr>
          <p:spPr>
            <a:xfrm>
              <a:off x="7639050" y="4445794"/>
              <a:ext cx="160793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基于 UML 的中大型项目</a:t>
              </a:r>
            </a:p>
          </p:txBody>
        </p:sp>
        <p:sp>
          <p:nvSpPr>
            <p:cNvPr id="42" name="Rectangle 42"/>
            <p:cNvSpPr/>
            <p:nvPr/>
          </p:nvSpPr>
          <p:spPr>
            <a:xfrm>
              <a:off x="533400" y="4719638"/>
              <a:ext cx="11125200" cy="9525"/>
            </a:xfrm>
            <a:prstGeom prst="rect">
              <a:avLst/>
            </a:prstGeom>
            <a:solidFill>
              <a:srgbClr val="D9DFEA"/>
            </a:solidFill>
            <a:ln>
              <a:noFill/>
            </a:ln>
          </p:spPr>
        </p:sp>
        <p:sp>
          <p:nvSpPr>
            <p:cNvPr id="43" name="Rectangle 43"/>
            <p:cNvSpPr/>
            <p:nvPr/>
          </p:nvSpPr>
          <p:spPr>
            <a:xfrm>
              <a:off x="533400" y="4724400"/>
              <a:ext cx="11125200" cy="400050"/>
            </a:xfrm>
            <a:prstGeom prst="rect">
              <a:avLst/>
            </a:prstGeom>
            <a:solidFill>
              <a:srgbClr val="F4F6FB"/>
            </a:solidFill>
            <a:ln>
              <a:noFill/>
            </a:ln>
          </p:spPr>
        </p:sp>
        <p:sp>
          <p:nvSpPr>
            <p:cNvPr id="44" name="TextBox 44"/>
            <p:cNvSpPr txBox="1"/>
            <p:nvPr/>
          </p:nvSpPr>
          <p:spPr>
            <a:xfrm>
              <a:off x="630555" y="4845844"/>
              <a:ext cx="999486"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XP 等敏捷方法</a:t>
              </a:r>
            </a:p>
          </p:txBody>
        </p:sp>
        <p:sp>
          <p:nvSpPr>
            <p:cNvPr id="45" name="TextBox 45"/>
            <p:cNvSpPr txBox="1"/>
            <p:nvPr/>
          </p:nvSpPr>
          <p:spPr>
            <a:xfrm>
              <a:off x="2076450" y="4845844"/>
              <a:ext cx="242382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小步快跑、客户在团队中、持续反馈</a:t>
              </a:r>
            </a:p>
          </p:txBody>
        </p:sp>
        <p:sp>
          <p:nvSpPr>
            <p:cNvPr id="46" name="TextBox 46"/>
            <p:cNvSpPr txBox="1"/>
            <p:nvPr/>
          </p:nvSpPr>
          <p:spPr>
            <a:xfrm>
              <a:off x="7639050" y="4845844"/>
              <a:ext cx="166994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需求模糊多变的中小项目</a:t>
              </a:r>
            </a:p>
          </p:txBody>
        </p:sp>
        <p:sp>
          <p:nvSpPr>
            <p:cNvPr id="47" name="Rectangle 47"/>
            <p:cNvSpPr/>
            <p:nvPr/>
          </p:nvSpPr>
          <p:spPr>
            <a:xfrm>
              <a:off x="533400" y="5119688"/>
              <a:ext cx="11125200" cy="9525"/>
            </a:xfrm>
            <a:prstGeom prst="rect">
              <a:avLst/>
            </a:prstGeom>
            <a:solidFill>
              <a:srgbClr val="D9DFEA"/>
            </a:solidFill>
            <a:ln>
              <a:noFill/>
            </a:ln>
          </p:spPr>
        </p:sp>
        <p:sp>
          <p:nvSpPr>
            <p:cNvPr id="48" name="TextBox 48"/>
            <p:cNvSpPr txBox="1"/>
            <p:nvPr/>
          </p:nvSpPr>
          <p:spPr>
            <a:xfrm>
              <a:off x="630555" y="5245894"/>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微软过程</a:t>
              </a:r>
            </a:p>
          </p:txBody>
        </p:sp>
        <p:sp>
          <p:nvSpPr>
            <p:cNvPr id="49" name="TextBox 49"/>
            <p:cNvSpPr txBox="1"/>
            <p:nvPr/>
          </p:nvSpPr>
          <p:spPr>
            <a:xfrm>
              <a:off x="2076450" y="5245894"/>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快速循环递进，按版本发布</a:t>
              </a:r>
            </a:p>
          </p:txBody>
        </p:sp>
        <p:sp>
          <p:nvSpPr>
            <p:cNvPr id="50" name="TextBox 50"/>
            <p:cNvSpPr txBox="1"/>
            <p:nvPr/>
          </p:nvSpPr>
          <p:spPr>
            <a:xfrm>
              <a:off x="7639050" y="5245894"/>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持续发布新版本的商业产品</a:t>
              </a:r>
            </a:p>
          </p:txBody>
        </p:sp>
        <p:sp>
          <p:nvSpPr>
            <p:cNvPr id="51" name="Rectangle 51"/>
            <p:cNvSpPr/>
            <p:nvPr/>
          </p:nvSpPr>
          <p:spPr>
            <a:xfrm>
              <a:off x="533400" y="1524000"/>
              <a:ext cx="11125200" cy="4000500"/>
            </a:xfrm>
            <a:prstGeom prst="rect">
              <a:avLst/>
            </a:prstGeom>
            <a:noFill/>
            <a:ln w="14288">
              <a:solidFill>
                <a:srgbClr val="D9DFEA"/>
              </a:solidFill>
            </a:ln>
          </p:spPr>
        </p:sp>
        <p:sp>
          <p:nvSpPr>
            <p:cNvPr id="52" name="Rectangle 52"/>
            <p:cNvSpPr/>
            <p:nvPr/>
          </p:nvSpPr>
          <p:spPr>
            <a:xfrm>
              <a:off x="1974532" y="1524000"/>
              <a:ext cx="9525" cy="4000500"/>
            </a:xfrm>
            <a:prstGeom prst="rect">
              <a:avLst/>
            </a:prstGeom>
            <a:solidFill>
              <a:srgbClr val="D9DFEA"/>
            </a:solidFill>
            <a:ln>
              <a:noFill/>
            </a:ln>
          </p:spPr>
        </p:sp>
        <p:sp>
          <p:nvSpPr>
            <p:cNvPr id="53" name="Rectangle 53"/>
            <p:cNvSpPr/>
            <p:nvPr/>
          </p:nvSpPr>
          <p:spPr>
            <a:xfrm>
              <a:off x="7537132" y="1524000"/>
              <a:ext cx="9525" cy="4000500"/>
            </a:xfrm>
            <a:prstGeom prst="rect">
              <a:avLst/>
            </a:prstGeom>
            <a:solidFill>
              <a:srgbClr val="D9DFEA"/>
            </a:solidFill>
            <a:ln>
              <a:noFill/>
            </a:ln>
          </p:spPr>
        </p:sp>
      </p:grpSp>
      <p:grpSp>
        <p:nvGrpSpPr>
          <p:cNvPr id="60" name="takeaway"/>
          <p:cNvGrpSpPr/>
          <p:nvPr/>
        </p:nvGrpSpPr>
        <p:grpSpPr>
          <a:xfrm>
            <a:off x="533400" y="5881688"/>
            <a:ext cx="11125200" cy="481012"/>
            <a:chOff x="533400" y="5881688"/>
            <a:chExt cx="11125200" cy="481012"/>
          </a:xfrm>
        </p:grpSpPr>
        <p:sp>
          <p:nvSpPr>
            <p:cNvPr id="55" name="Rectangle 55"/>
            <p:cNvSpPr/>
            <p:nvPr/>
          </p:nvSpPr>
          <p:spPr>
            <a:xfrm>
              <a:off x="533400" y="5881688"/>
              <a:ext cx="11125200" cy="481012"/>
            </a:xfrm>
            <a:prstGeom prst="roundRect">
              <a:avLst>
                <a:gd name="adj" fmla="val 23762"/>
              </a:avLst>
            </a:prstGeom>
            <a:solidFill>
              <a:srgbClr val="334E68"/>
            </a:solidFill>
            <a:ln>
              <a:noFill/>
            </a:ln>
          </p:spPr>
        </p:sp>
        <p:grpSp>
          <p:nvGrpSpPr>
            <p:cNvPr id="58" name="Group 58"/>
            <p:cNvGrpSpPr/>
            <p:nvPr/>
          </p:nvGrpSpPr>
          <p:grpSpPr>
            <a:xfrm>
              <a:off x="738188" y="6022660"/>
              <a:ext cx="200023" cy="200023"/>
              <a:chOff x="738188" y="6022660"/>
              <a:chExt cx="200023" cy="200023"/>
            </a:xfrm>
          </p:grpSpPr>
          <p:sp>
            <p:nvSpPr>
              <p:cNvPr id="56" name="Freeform 56"/>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7" name="Freeform 57"/>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9" name="TextBox 59"/>
            <p:cNvSpPr txBox="1"/>
            <p:nvPr/>
          </p:nvSpPr>
          <p:spPr>
            <a:xfrm>
              <a:off x="1040892" y="6028373"/>
              <a:ext cx="856632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选型线索：需求明确选瀑布，需求不清选原型，风险多选螺旋，面向对象选喷泉或 RUP，需求多变选敏捷。</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62" name="TextBox 6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63</a:t>
              </a:r>
            </a:p>
          </p:txBody>
        </p:sp>
      </p:grpSp>
    </p:spTree>
  </p:cSld>
  <p:clrMapOvr>
    <a:masterClrMapping/>
  </p:clrMapOvr>
  <p:transition xmlns:p14="http://schemas.microsoft.com/office/powerpoint/2010/main" p14:dur="400">
    <p:fade/>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962978" cy="266700"/>
            </a:xfrm>
            <a:prstGeom prst="roundRect">
              <a:avLst>
                <a:gd name="adj" fmla="val 50000"/>
              </a:avLst>
            </a:prstGeom>
            <a:solidFill>
              <a:srgbClr val="E7EDF3"/>
            </a:solidFill>
            <a:ln>
              <a:noFill/>
            </a:ln>
          </p:spPr>
        </p:sp>
        <p:sp>
          <p:nvSpPr>
            <p:cNvPr id="3" name="TextBox 3"/>
            <p:cNvSpPr txBox="1"/>
            <p:nvPr/>
          </p:nvSpPr>
          <p:spPr>
            <a:xfrm>
              <a:off x="639866" y="407194"/>
              <a:ext cx="749094"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自测题（一）：软件危机与软件工程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card-1"/>
          <p:cNvGrpSpPr/>
          <p:nvPr/>
        </p:nvGrpSpPr>
        <p:grpSpPr>
          <a:xfrm>
            <a:off x="533400" y="1524000"/>
            <a:ext cx="3505200" cy="2000250"/>
            <a:chOff x="533400" y="1524000"/>
            <a:chExt cx="3505200" cy="2000250"/>
          </a:xfrm>
        </p:grpSpPr>
        <p:sp>
          <p:nvSpPr>
            <p:cNvPr id="7" name="Rectangle 7"/>
            <p:cNvSpPr/>
            <p:nvPr/>
          </p:nvSpPr>
          <p:spPr>
            <a:xfrm>
              <a:off x="533400" y="1524000"/>
              <a:ext cx="3505200" cy="2000250"/>
            </a:xfrm>
            <a:prstGeom prst="roundRect">
              <a:avLst>
                <a:gd name="adj" fmla="val 6667"/>
              </a:avLst>
            </a:prstGeom>
            <a:solidFill>
              <a:srgbClr val="F4F6FB"/>
            </a:solidFill>
            <a:ln>
              <a:noFill/>
            </a:ln>
          </p:spPr>
        </p:sp>
        <p:sp>
          <p:nvSpPr>
            <p:cNvPr id="8" name="Rectangle 8"/>
            <p:cNvSpPr/>
            <p:nvPr/>
          </p:nvSpPr>
          <p:spPr>
            <a:xfrm>
              <a:off x="720090" y="1710690"/>
              <a:ext cx="379095" cy="238125"/>
            </a:xfrm>
            <a:prstGeom prst="roundRect">
              <a:avLst>
                <a:gd name="adj" fmla="val 50000"/>
              </a:avLst>
            </a:prstGeom>
            <a:solidFill>
              <a:srgbClr val="E7EDF3"/>
            </a:solidFill>
            <a:ln>
              <a:noFill/>
            </a:ln>
          </p:spPr>
        </p:sp>
        <p:sp>
          <p:nvSpPr>
            <p:cNvPr id="9" name="TextBox 9"/>
            <p:cNvSpPr txBox="1"/>
            <p:nvPr/>
          </p:nvSpPr>
          <p:spPr>
            <a:xfrm>
              <a:off x="809547" y="1743551"/>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Q1</a:t>
              </a:r>
            </a:p>
          </p:txBody>
        </p:sp>
        <p:sp>
          <p:nvSpPr>
            <p:cNvPr id="10" name="TextBox 10"/>
            <p:cNvSpPr txBox="1"/>
            <p:nvPr/>
          </p:nvSpPr>
          <p:spPr>
            <a:xfrm>
              <a:off x="713232" y="2054542"/>
              <a:ext cx="29283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软件危机出现在软件发展的哪个时期？</a:t>
              </a:r>
              <a:br/>
              <a:r>
                <a:rPr lang="zh-CN" sz="1350" b="1" dirty="0">
                  <a:solidFill>
                    <a:srgbClr val="1F2937"/>
                  </a:solidFill>
                  <a:latin typeface="+mn-lt"/>
                  <a:ea typeface="+mn-ea"/>
                  <a:cs typeface="+mn-cs"/>
                </a:rPr>
                <a:t>它包含哪两方面的问题？</a:t>
              </a:r>
            </a:p>
          </p:txBody>
        </p:sp>
        <p:sp>
          <p:nvSpPr>
            <p:cNvPr id="11" name="TextBox 11"/>
            <p:cNvSpPr txBox="1"/>
            <p:nvPr/>
          </p:nvSpPr>
          <p:spPr>
            <a:xfrm>
              <a:off x="713232" y="2612708"/>
              <a:ext cx="2945511"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程序系统阶段（60 至 70 年代）。</a:t>
              </a:r>
              <a:br/>
              <a:r>
                <a:rPr lang="zh-CN" sz="1350" dirty="0">
                  <a:solidFill>
                    <a:srgbClr val="1F2937"/>
                  </a:solidFill>
                  <a:latin typeface="+mn-lt"/>
                  <a:ea typeface="+mn-ea"/>
                  <a:cs typeface="+mn-cs"/>
                </a:rPr>
                <a:t>如何开发软件以满足日益增长的需求；</a:t>
              </a:r>
              <a:br/>
              <a:r>
                <a:rPr lang="zh-CN" sz="1350" dirty="0">
                  <a:solidFill>
                    <a:srgbClr val="1F2937"/>
                  </a:solidFill>
                  <a:latin typeface="+mn-lt"/>
                  <a:ea typeface="+mn-ea"/>
                  <a:cs typeface="+mn-cs"/>
                </a:rPr>
                <a:t>如何维护数量不断膨胀的已有软件。</a:t>
              </a:r>
            </a:p>
          </p:txBody>
        </p:sp>
      </p:grpSp>
      <p:grpSp>
        <p:nvGrpSpPr>
          <p:cNvPr id="18" name="c1-card-2"/>
          <p:cNvGrpSpPr/>
          <p:nvPr/>
        </p:nvGrpSpPr>
        <p:grpSpPr>
          <a:xfrm>
            <a:off x="533400" y="3693795"/>
            <a:ext cx="3505200" cy="2257425"/>
            <a:chOff x="533400" y="3693795"/>
            <a:chExt cx="3505200" cy="2257425"/>
          </a:xfrm>
        </p:grpSpPr>
        <p:sp>
          <p:nvSpPr>
            <p:cNvPr id="13" name="Rectangle 13"/>
            <p:cNvSpPr/>
            <p:nvPr/>
          </p:nvSpPr>
          <p:spPr>
            <a:xfrm>
              <a:off x="533400" y="3693795"/>
              <a:ext cx="3505200" cy="2257425"/>
            </a:xfrm>
            <a:prstGeom prst="roundRect">
              <a:avLst>
                <a:gd name="adj" fmla="val 5907"/>
              </a:avLst>
            </a:prstGeom>
            <a:solidFill>
              <a:srgbClr val="F4F6FB"/>
            </a:solidFill>
            <a:ln>
              <a:noFill/>
            </a:ln>
          </p:spPr>
        </p:sp>
        <p:sp>
          <p:nvSpPr>
            <p:cNvPr id="14" name="Rectangle 14"/>
            <p:cNvSpPr/>
            <p:nvPr/>
          </p:nvSpPr>
          <p:spPr>
            <a:xfrm>
              <a:off x="720090" y="3880485"/>
              <a:ext cx="379095" cy="238125"/>
            </a:xfrm>
            <a:prstGeom prst="roundRect">
              <a:avLst>
                <a:gd name="adj" fmla="val 50000"/>
              </a:avLst>
            </a:prstGeom>
            <a:solidFill>
              <a:srgbClr val="E7EDF3"/>
            </a:solidFill>
            <a:ln>
              <a:noFill/>
            </a:ln>
          </p:spPr>
        </p:sp>
        <p:sp>
          <p:nvSpPr>
            <p:cNvPr id="15" name="TextBox 15"/>
            <p:cNvSpPr txBox="1"/>
            <p:nvPr/>
          </p:nvSpPr>
          <p:spPr>
            <a:xfrm>
              <a:off x="809547" y="3913346"/>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Q4</a:t>
              </a:r>
            </a:p>
          </p:txBody>
        </p:sp>
        <p:sp>
          <p:nvSpPr>
            <p:cNvPr id="16" name="TextBox 16"/>
            <p:cNvSpPr txBox="1"/>
            <p:nvPr/>
          </p:nvSpPr>
          <p:spPr>
            <a:xfrm>
              <a:off x="713232" y="4225290"/>
              <a:ext cx="275691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软件工程方法学的三个要素是什么？</a:t>
              </a:r>
              <a:br/>
              <a:r>
                <a:rPr lang="zh-CN" sz="1350" b="1" dirty="0">
                  <a:solidFill>
                    <a:srgbClr val="1F2937"/>
                  </a:solidFill>
                  <a:latin typeface="+mn-lt"/>
                  <a:ea typeface="+mn-ea"/>
                  <a:cs typeface="+mn-cs"/>
                </a:rPr>
                <a:t>CASE 指什么？</a:t>
              </a:r>
            </a:p>
          </p:txBody>
        </p:sp>
        <p:sp>
          <p:nvSpPr>
            <p:cNvPr id="17" name="TextBox 17"/>
            <p:cNvSpPr txBox="1"/>
            <p:nvPr/>
          </p:nvSpPr>
          <p:spPr>
            <a:xfrm>
              <a:off x="713232" y="4782502"/>
              <a:ext cx="2928366"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方法、工具、过程。工具能集成起</a:t>
              </a:r>
              <a:br/>
              <a:r>
                <a:rPr lang="zh-CN" sz="1350" dirty="0">
                  <a:solidFill>
                    <a:srgbClr val="1F2937"/>
                  </a:solidFill>
                  <a:latin typeface="+mn-lt"/>
                  <a:ea typeface="+mn-ea"/>
                  <a:cs typeface="+mn-cs"/>
                </a:rPr>
                <a:t>来、一个工具产生的信息可被另一个使</a:t>
              </a:r>
              <a:br/>
              <a:r>
                <a:rPr lang="zh-CN" sz="1350" dirty="0">
                  <a:solidFill>
                    <a:srgbClr val="1F2937"/>
                  </a:solidFill>
                  <a:latin typeface="+mn-lt"/>
                  <a:ea typeface="+mn-ea"/>
                  <a:cs typeface="+mn-cs"/>
                </a:rPr>
                <a:t>用时，这样的支持系统称为 CASE。</a:t>
              </a:r>
            </a:p>
          </p:txBody>
        </p:sp>
      </p:grpSp>
      <p:grpSp>
        <p:nvGrpSpPr>
          <p:cNvPr id="24" name="c2-card-1"/>
          <p:cNvGrpSpPr/>
          <p:nvPr/>
        </p:nvGrpSpPr>
        <p:grpSpPr>
          <a:xfrm>
            <a:off x="4343400" y="1524000"/>
            <a:ext cx="3505200" cy="2000250"/>
            <a:chOff x="4343400" y="1524000"/>
            <a:chExt cx="3505200" cy="2000250"/>
          </a:xfrm>
        </p:grpSpPr>
        <p:sp>
          <p:nvSpPr>
            <p:cNvPr id="19" name="Rectangle 19"/>
            <p:cNvSpPr/>
            <p:nvPr/>
          </p:nvSpPr>
          <p:spPr>
            <a:xfrm>
              <a:off x="4343400" y="1524000"/>
              <a:ext cx="3505200" cy="2000250"/>
            </a:xfrm>
            <a:prstGeom prst="roundRect">
              <a:avLst>
                <a:gd name="adj" fmla="val 6667"/>
              </a:avLst>
            </a:prstGeom>
            <a:solidFill>
              <a:srgbClr val="F4F6FB"/>
            </a:solidFill>
            <a:ln>
              <a:noFill/>
            </a:ln>
          </p:spPr>
        </p:sp>
        <p:sp>
          <p:nvSpPr>
            <p:cNvPr id="20" name="Rectangle 20"/>
            <p:cNvSpPr/>
            <p:nvPr/>
          </p:nvSpPr>
          <p:spPr>
            <a:xfrm>
              <a:off x="4530090" y="1710690"/>
              <a:ext cx="379095" cy="238125"/>
            </a:xfrm>
            <a:prstGeom prst="roundRect">
              <a:avLst>
                <a:gd name="adj" fmla="val 50000"/>
              </a:avLst>
            </a:prstGeom>
            <a:solidFill>
              <a:srgbClr val="E7EDF3"/>
            </a:solidFill>
            <a:ln>
              <a:noFill/>
            </a:ln>
          </p:spPr>
        </p:sp>
        <p:sp>
          <p:nvSpPr>
            <p:cNvPr id="21" name="TextBox 21"/>
            <p:cNvSpPr txBox="1"/>
            <p:nvPr/>
          </p:nvSpPr>
          <p:spPr>
            <a:xfrm>
              <a:off x="4619547" y="1743551"/>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Q2</a:t>
              </a:r>
            </a:p>
          </p:txBody>
        </p:sp>
        <p:sp>
          <p:nvSpPr>
            <p:cNvPr id="22" name="TextBox 22"/>
            <p:cNvSpPr txBox="1"/>
            <p:nvPr/>
          </p:nvSpPr>
          <p:spPr>
            <a:xfrm>
              <a:off x="4523232" y="2054542"/>
              <a:ext cx="3008090" cy="103555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差错传播模型：详细设计收到 10 个差</a:t>
              </a:r>
              <a:br/>
              <a:r>
                <a:rPr lang="zh-CN" sz="1350" b="1" dirty="0">
                  <a:solidFill>
                    <a:srgbClr val="1F2937"/>
                  </a:solidFill>
                  <a:latin typeface="+mn-lt"/>
                  <a:ea typeface="+mn-ea"/>
                  <a:cs typeface="+mn-cs"/>
                </a:rPr>
                <a:t>错，其中 4 个按 1.5 倍放大，本阶段</a:t>
              </a:r>
              <a:br/>
              <a:r>
                <a:rPr lang="zh-CN" sz="1350" b="1" dirty="0">
                  <a:solidFill>
                    <a:srgbClr val="1F2937"/>
                  </a:solidFill>
                  <a:latin typeface="+mn-lt"/>
                  <a:ea typeface="+mn-ea"/>
                  <a:cs typeface="+mn-cs"/>
                </a:rPr>
                <a:t>新产生 25 个，检出率 0%，传往下阶段</a:t>
              </a:r>
              <a:br/>
              <a:r>
                <a:rPr lang="zh-CN" sz="1350" b="1" dirty="0">
                  <a:solidFill>
                    <a:srgbClr val="1F2937"/>
                  </a:solidFill>
                  <a:latin typeface="+mn-lt"/>
                  <a:ea typeface="+mn-ea"/>
                  <a:cs typeface="+mn-cs"/>
                </a:rPr>
                <a:t>多少个？</a:t>
              </a:r>
            </a:p>
          </p:txBody>
        </p:sp>
        <p:sp>
          <p:nvSpPr>
            <p:cNvPr id="23" name="TextBox 23"/>
            <p:cNvSpPr txBox="1"/>
            <p:nvPr/>
          </p:nvSpPr>
          <p:spPr>
            <a:xfrm>
              <a:off x="4523232" y="3127058"/>
              <a:ext cx="2421731"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6 + 4×1.5 + 25 = 37 个。</a:t>
              </a:r>
            </a:p>
          </p:txBody>
        </p:sp>
      </p:grpSp>
      <p:grpSp>
        <p:nvGrpSpPr>
          <p:cNvPr id="30" name="c2-card-2"/>
          <p:cNvGrpSpPr/>
          <p:nvPr/>
        </p:nvGrpSpPr>
        <p:grpSpPr>
          <a:xfrm>
            <a:off x="4343400" y="3693795"/>
            <a:ext cx="3505200" cy="2257425"/>
            <a:chOff x="4343400" y="3693795"/>
            <a:chExt cx="3505200" cy="2257425"/>
          </a:xfrm>
        </p:grpSpPr>
        <p:sp>
          <p:nvSpPr>
            <p:cNvPr id="25" name="Rectangle 25"/>
            <p:cNvSpPr/>
            <p:nvPr/>
          </p:nvSpPr>
          <p:spPr>
            <a:xfrm>
              <a:off x="4343400" y="3693795"/>
              <a:ext cx="3505200" cy="2257425"/>
            </a:xfrm>
            <a:prstGeom prst="roundRect">
              <a:avLst>
                <a:gd name="adj" fmla="val 5907"/>
              </a:avLst>
            </a:prstGeom>
            <a:solidFill>
              <a:srgbClr val="F4F6FB"/>
            </a:solidFill>
            <a:ln>
              <a:noFill/>
            </a:ln>
          </p:spPr>
        </p:sp>
        <p:sp>
          <p:nvSpPr>
            <p:cNvPr id="26" name="Rectangle 26"/>
            <p:cNvSpPr/>
            <p:nvPr/>
          </p:nvSpPr>
          <p:spPr>
            <a:xfrm>
              <a:off x="4530090" y="3880485"/>
              <a:ext cx="379095" cy="238125"/>
            </a:xfrm>
            <a:prstGeom prst="roundRect">
              <a:avLst>
                <a:gd name="adj" fmla="val 50000"/>
              </a:avLst>
            </a:prstGeom>
            <a:solidFill>
              <a:srgbClr val="E7EDF3"/>
            </a:solidFill>
            <a:ln>
              <a:noFill/>
            </a:ln>
          </p:spPr>
        </p:sp>
        <p:sp>
          <p:nvSpPr>
            <p:cNvPr id="27" name="TextBox 27"/>
            <p:cNvSpPr txBox="1"/>
            <p:nvPr/>
          </p:nvSpPr>
          <p:spPr>
            <a:xfrm>
              <a:off x="4619547" y="3913346"/>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Q5</a:t>
              </a:r>
            </a:p>
          </p:txBody>
        </p:sp>
        <p:sp>
          <p:nvSpPr>
            <p:cNvPr id="28" name="TextBox 28"/>
            <p:cNvSpPr txBox="1"/>
            <p:nvPr/>
          </p:nvSpPr>
          <p:spPr>
            <a:xfrm>
              <a:off x="4523232" y="4225290"/>
              <a:ext cx="29283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软件的三个特点是什么？为什么软件维</a:t>
              </a:r>
              <a:br/>
              <a:r>
                <a:rPr lang="zh-CN" sz="1350" b="1" dirty="0">
                  <a:solidFill>
                    <a:srgbClr val="1F2937"/>
                  </a:solidFill>
                  <a:latin typeface="+mn-lt"/>
                  <a:ea typeface="+mn-ea"/>
                  <a:cs typeface="+mn-cs"/>
                </a:rPr>
                <a:t>护比硬件维修复杂？</a:t>
              </a:r>
            </a:p>
          </p:txBody>
        </p:sp>
        <p:sp>
          <p:nvSpPr>
            <p:cNvPr id="29" name="TextBox 29"/>
            <p:cNvSpPr txBox="1"/>
            <p:nvPr/>
          </p:nvSpPr>
          <p:spPr>
            <a:xfrm>
              <a:off x="4523232" y="4782502"/>
              <a:ext cx="2928366" cy="1035558"/>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逻辑实体、没有明显的制造过程、</a:t>
              </a:r>
              <a:br/>
              <a:r>
                <a:rPr lang="zh-CN" sz="1350" dirty="0">
                  <a:solidFill>
                    <a:srgbClr val="1F2937"/>
                  </a:solidFill>
                  <a:latin typeface="+mn-lt"/>
                  <a:ea typeface="+mn-ea"/>
                  <a:cs typeface="+mn-cs"/>
                </a:rPr>
                <a:t>不存在机械磨损与老化。硬件坏了可以</a:t>
              </a:r>
              <a:br/>
              <a:r>
                <a:rPr lang="zh-CN" sz="1350" dirty="0">
                  <a:solidFill>
                    <a:srgbClr val="1F2937"/>
                  </a:solidFill>
                  <a:latin typeface="+mn-lt"/>
                  <a:ea typeface="+mn-ea"/>
                  <a:cs typeface="+mn-cs"/>
                </a:rPr>
                <a:t>换备用零件，软件故障源于开发时留下</a:t>
              </a:r>
              <a:br/>
              <a:r>
                <a:rPr lang="zh-CN" sz="1350" dirty="0">
                  <a:solidFill>
                    <a:srgbClr val="1F2937"/>
                  </a:solidFill>
                  <a:latin typeface="+mn-lt"/>
                  <a:ea typeface="+mn-ea"/>
                  <a:cs typeface="+mn-cs"/>
                </a:rPr>
                <a:t>的错误，换零件解决不了。</a:t>
              </a:r>
            </a:p>
          </p:txBody>
        </p:sp>
      </p:grpSp>
      <p:grpSp>
        <p:nvGrpSpPr>
          <p:cNvPr id="36" name="c3-card-1"/>
          <p:cNvGrpSpPr/>
          <p:nvPr/>
        </p:nvGrpSpPr>
        <p:grpSpPr>
          <a:xfrm>
            <a:off x="8153400" y="1524000"/>
            <a:ext cx="3505200" cy="4427220"/>
            <a:chOff x="8153400" y="1524000"/>
            <a:chExt cx="3505200" cy="4427220"/>
          </a:xfrm>
        </p:grpSpPr>
        <p:sp>
          <p:nvSpPr>
            <p:cNvPr id="31" name="Rectangle 31"/>
            <p:cNvSpPr/>
            <p:nvPr/>
          </p:nvSpPr>
          <p:spPr>
            <a:xfrm>
              <a:off x="8153400" y="1524000"/>
              <a:ext cx="3505200" cy="4427220"/>
            </a:xfrm>
            <a:prstGeom prst="roundRect">
              <a:avLst>
                <a:gd name="adj" fmla="val 3804"/>
              </a:avLst>
            </a:prstGeom>
            <a:solidFill>
              <a:srgbClr val="F4F6FB"/>
            </a:solidFill>
            <a:ln>
              <a:noFill/>
            </a:ln>
          </p:spPr>
        </p:sp>
        <p:sp>
          <p:nvSpPr>
            <p:cNvPr id="32" name="Rectangle 32"/>
            <p:cNvSpPr/>
            <p:nvPr/>
          </p:nvSpPr>
          <p:spPr>
            <a:xfrm>
              <a:off x="8340090" y="1710690"/>
              <a:ext cx="379095" cy="238125"/>
            </a:xfrm>
            <a:prstGeom prst="roundRect">
              <a:avLst>
                <a:gd name="adj" fmla="val 50000"/>
              </a:avLst>
            </a:prstGeom>
            <a:solidFill>
              <a:srgbClr val="E7EDF3"/>
            </a:solidFill>
            <a:ln>
              <a:noFill/>
            </a:ln>
          </p:spPr>
        </p:sp>
        <p:sp>
          <p:nvSpPr>
            <p:cNvPr id="33" name="TextBox 33"/>
            <p:cNvSpPr txBox="1"/>
            <p:nvPr/>
          </p:nvSpPr>
          <p:spPr>
            <a:xfrm>
              <a:off x="8429547" y="1743551"/>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Q3</a:t>
              </a:r>
            </a:p>
          </p:txBody>
        </p:sp>
        <p:sp>
          <p:nvSpPr>
            <p:cNvPr id="34" name="TextBox 34"/>
            <p:cNvSpPr txBox="1"/>
            <p:nvPr/>
          </p:nvSpPr>
          <p:spPr>
            <a:xfrm>
              <a:off x="8333232" y="2054542"/>
              <a:ext cx="2954941"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Boehm 七条基本原理中，哪一条针对</a:t>
              </a:r>
              <a:br/>
              <a:r>
                <a:rPr lang="zh-CN" sz="1350" b="1" dirty="0">
                  <a:solidFill>
                    <a:srgbClr val="1F2937"/>
                  </a:solidFill>
                  <a:latin typeface="+mn-lt"/>
                  <a:ea typeface="+mn-ea"/>
                  <a:cs typeface="+mn-cs"/>
                </a:rPr>
                <a:t>“错误发现得越晚代价越高”？依据是什</a:t>
              </a:r>
              <a:br/>
              <a:r>
                <a:rPr lang="zh-CN" sz="1350" b="1" dirty="0">
                  <a:solidFill>
                    <a:srgbClr val="1F2937"/>
                  </a:solidFill>
                  <a:latin typeface="+mn-lt"/>
                  <a:ea typeface="+mn-ea"/>
                  <a:cs typeface="+mn-cs"/>
                </a:rPr>
                <a:t>么？</a:t>
              </a:r>
            </a:p>
          </p:txBody>
        </p:sp>
        <p:sp>
          <p:nvSpPr>
            <p:cNvPr id="35" name="TextBox 35"/>
            <p:cNvSpPr txBox="1"/>
            <p:nvPr/>
          </p:nvSpPr>
          <p:spPr>
            <a:xfrm>
              <a:off x="8333232" y="2869882"/>
              <a:ext cx="2928366"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坚持进行阶段评审。设计错误约占</a:t>
              </a:r>
              <a:br/>
              <a:r>
                <a:rPr lang="zh-CN" sz="1350" dirty="0">
                  <a:solidFill>
                    <a:srgbClr val="1F2937"/>
                  </a:solidFill>
                  <a:latin typeface="+mn-lt"/>
                  <a:ea typeface="+mn-ea"/>
                  <a:cs typeface="+mn-cs"/>
                </a:rPr>
                <a:t>63%，编码错误占 37%，所以评审要放</a:t>
              </a:r>
              <a:br/>
              <a:r>
                <a:rPr lang="zh-CN" sz="1350" dirty="0">
                  <a:solidFill>
                    <a:srgbClr val="1F2937"/>
                  </a:solidFill>
                  <a:latin typeface="+mn-lt"/>
                  <a:ea typeface="+mn-ea"/>
                  <a:cs typeface="+mn-cs"/>
                </a:rPr>
                <a:t>在编码之前。</a:t>
              </a:r>
            </a:p>
          </p:txBody>
        </p:sp>
      </p:grpSp>
      <p:grpSp>
        <p:nvGrpSpPr>
          <p:cNvPr id="39" name="footer"/>
          <p:cNvGrpSpPr/>
          <p:nvPr/>
        </p:nvGrpSpPr>
        <p:grpSpPr>
          <a:xfrm>
            <a:off x="528447" y="6581299"/>
            <a:ext cx="11135106" cy="190690"/>
            <a:chOff x="528447" y="6581299"/>
            <a:chExt cx="11135106" cy="190690"/>
          </a:xfrm>
        </p:grpSpPr>
        <p:sp>
          <p:nvSpPr>
            <p:cNvPr id="37" name="TextBox 37"/>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38" name="TextBox 3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64</a:t>
              </a:r>
            </a:p>
          </p:txBody>
        </p:sp>
      </p:grpSp>
    </p:spTree>
  </p:cSld>
  <p:clrMapOvr>
    <a:masterClrMapping/>
  </p:clrMapOvr>
  <p:transition xmlns:p14="http://schemas.microsoft.com/office/powerpoint/2010/main" p14:dur="400">
    <p:fade/>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962978" cy="266700"/>
            </a:xfrm>
            <a:prstGeom prst="roundRect">
              <a:avLst>
                <a:gd name="adj" fmla="val 50000"/>
              </a:avLst>
            </a:prstGeom>
            <a:solidFill>
              <a:srgbClr val="E7EDF3"/>
            </a:solidFill>
            <a:ln>
              <a:noFill/>
            </a:ln>
          </p:spPr>
        </p:sp>
        <p:sp>
          <p:nvSpPr>
            <p:cNvPr id="3" name="TextBox 3"/>
            <p:cNvSpPr txBox="1"/>
            <p:nvPr/>
          </p:nvSpPr>
          <p:spPr>
            <a:xfrm>
              <a:off x="639866" y="407194"/>
              <a:ext cx="749094"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自测题（二）：过程模型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card-1"/>
          <p:cNvGrpSpPr/>
          <p:nvPr/>
        </p:nvGrpSpPr>
        <p:grpSpPr>
          <a:xfrm>
            <a:off x="533400" y="1524000"/>
            <a:ext cx="3505200" cy="2257425"/>
            <a:chOff x="533400" y="1524000"/>
            <a:chExt cx="3505200" cy="2257425"/>
          </a:xfrm>
        </p:grpSpPr>
        <p:sp>
          <p:nvSpPr>
            <p:cNvPr id="7" name="Rectangle 7"/>
            <p:cNvSpPr/>
            <p:nvPr/>
          </p:nvSpPr>
          <p:spPr>
            <a:xfrm>
              <a:off x="533400" y="1524000"/>
              <a:ext cx="3505200" cy="2257425"/>
            </a:xfrm>
            <a:prstGeom prst="roundRect">
              <a:avLst>
                <a:gd name="adj" fmla="val 5907"/>
              </a:avLst>
            </a:prstGeom>
            <a:solidFill>
              <a:srgbClr val="F4F6FB"/>
            </a:solidFill>
            <a:ln>
              <a:noFill/>
            </a:ln>
          </p:spPr>
        </p:sp>
        <p:sp>
          <p:nvSpPr>
            <p:cNvPr id="8" name="Rectangle 8"/>
            <p:cNvSpPr/>
            <p:nvPr/>
          </p:nvSpPr>
          <p:spPr>
            <a:xfrm>
              <a:off x="720090" y="1710690"/>
              <a:ext cx="379095" cy="238125"/>
            </a:xfrm>
            <a:prstGeom prst="roundRect">
              <a:avLst>
                <a:gd name="adj" fmla="val 50000"/>
              </a:avLst>
            </a:prstGeom>
            <a:solidFill>
              <a:srgbClr val="E7EDF3"/>
            </a:solidFill>
            <a:ln>
              <a:noFill/>
            </a:ln>
          </p:spPr>
        </p:sp>
        <p:sp>
          <p:nvSpPr>
            <p:cNvPr id="9" name="TextBox 9"/>
            <p:cNvSpPr txBox="1"/>
            <p:nvPr/>
          </p:nvSpPr>
          <p:spPr>
            <a:xfrm>
              <a:off x="809547" y="1743551"/>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Q1</a:t>
              </a:r>
            </a:p>
          </p:txBody>
        </p:sp>
        <p:sp>
          <p:nvSpPr>
            <p:cNvPr id="10" name="TextBox 10"/>
            <p:cNvSpPr txBox="1"/>
            <p:nvPr/>
          </p:nvSpPr>
          <p:spPr>
            <a:xfrm>
              <a:off x="713232" y="2054542"/>
              <a:ext cx="2909935"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为什么说瀑布模型是文档驱动、V 模型</a:t>
              </a:r>
              <a:br/>
              <a:r>
                <a:rPr lang="zh-CN" sz="1350" b="1" dirty="0">
                  <a:solidFill>
                    <a:srgbClr val="1F2937"/>
                  </a:solidFill>
                  <a:latin typeface="+mn-lt"/>
                  <a:ea typeface="+mn-ea"/>
                  <a:cs typeface="+mn-cs"/>
                </a:rPr>
                <a:t>是活动驱动？</a:t>
              </a:r>
            </a:p>
          </p:txBody>
        </p:sp>
        <p:sp>
          <p:nvSpPr>
            <p:cNvPr id="11" name="TextBox 11"/>
            <p:cNvSpPr txBox="1"/>
            <p:nvPr/>
          </p:nvSpPr>
          <p:spPr>
            <a:xfrm>
              <a:off x="713232" y="2612708"/>
              <a:ext cx="2928366" cy="1035558"/>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瀑布每阶段以交出合格文档为完成</a:t>
              </a:r>
              <a:br/>
              <a:r>
                <a:rPr lang="zh-CN" sz="1350" dirty="0">
                  <a:solidFill>
                    <a:srgbClr val="1F2937"/>
                  </a:solidFill>
                  <a:latin typeface="+mn-lt"/>
                  <a:ea typeface="+mn-ea"/>
                  <a:cs typeface="+mn-cs"/>
                </a:rPr>
                <a:t>标志，评审对象是文档；V 模型把开发</a:t>
              </a:r>
              <a:br/>
              <a:r>
                <a:rPr lang="zh-CN" sz="1350" dirty="0">
                  <a:solidFill>
                    <a:srgbClr val="1F2937"/>
                  </a:solidFill>
                  <a:latin typeface="+mn-lt"/>
                  <a:ea typeface="+mn-ea"/>
                  <a:cs typeface="+mn-cs"/>
                </a:rPr>
                <a:t>活动与验证活动配对，关注活动及其正</a:t>
              </a:r>
              <a:br/>
              <a:r>
                <a:rPr lang="zh-CN" sz="1350" dirty="0">
                  <a:solidFill>
                    <a:srgbClr val="1F2937"/>
                  </a:solidFill>
                  <a:latin typeface="+mn-lt"/>
                  <a:ea typeface="+mn-ea"/>
                  <a:cs typeface="+mn-cs"/>
                </a:rPr>
                <a:t>确性。</a:t>
              </a:r>
            </a:p>
          </p:txBody>
        </p:sp>
      </p:grpSp>
      <p:grpSp>
        <p:nvGrpSpPr>
          <p:cNvPr id="18" name="c1-card-2"/>
          <p:cNvGrpSpPr/>
          <p:nvPr/>
        </p:nvGrpSpPr>
        <p:grpSpPr>
          <a:xfrm>
            <a:off x="533400" y="3950970"/>
            <a:ext cx="3505200" cy="2257425"/>
            <a:chOff x="533400" y="3950970"/>
            <a:chExt cx="3505200" cy="2257425"/>
          </a:xfrm>
        </p:grpSpPr>
        <p:sp>
          <p:nvSpPr>
            <p:cNvPr id="13" name="Rectangle 13"/>
            <p:cNvSpPr/>
            <p:nvPr/>
          </p:nvSpPr>
          <p:spPr>
            <a:xfrm>
              <a:off x="533400" y="3950970"/>
              <a:ext cx="3505200" cy="2257425"/>
            </a:xfrm>
            <a:prstGeom prst="roundRect">
              <a:avLst>
                <a:gd name="adj" fmla="val 5907"/>
              </a:avLst>
            </a:prstGeom>
            <a:solidFill>
              <a:srgbClr val="F4F6FB"/>
            </a:solidFill>
            <a:ln>
              <a:noFill/>
            </a:ln>
          </p:spPr>
        </p:sp>
        <p:sp>
          <p:nvSpPr>
            <p:cNvPr id="14" name="Rectangle 14"/>
            <p:cNvSpPr/>
            <p:nvPr/>
          </p:nvSpPr>
          <p:spPr>
            <a:xfrm>
              <a:off x="720090" y="4137660"/>
              <a:ext cx="379095" cy="238125"/>
            </a:xfrm>
            <a:prstGeom prst="roundRect">
              <a:avLst>
                <a:gd name="adj" fmla="val 50000"/>
              </a:avLst>
            </a:prstGeom>
            <a:solidFill>
              <a:srgbClr val="E7EDF3"/>
            </a:solidFill>
            <a:ln>
              <a:noFill/>
            </a:ln>
          </p:spPr>
        </p:sp>
        <p:sp>
          <p:nvSpPr>
            <p:cNvPr id="15" name="TextBox 15"/>
            <p:cNvSpPr txBox="1"/>
            <p:nvPr/>
          </p:nvSpPr>
          <p:spPr>
            <a:xfrm>
              <a:off x="809547" y="4170521"/>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Q4</a:t>
              </a:r>
            </a:p>
          </p:txBody>
        </p:sp>
        <p:sp>
          <p:nvSpPr>
            <p:cNvPr id="16" name="TextBox 16"/>
            <p:cNvSpPr txBox="1"/>
            <p:nvPr/>
          </p:nvSpPr>
          <p:spPr>
            <a:xfrm>
              <a:off x="713232" y="4482465"/>
              <a:ext cx="3007662"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RUP 的 4 个阶段和 9 个工作流分别是什</a:t>
              </a:r>
              <a:br/>
              <a:r>
                <a:rPr lang="zh-CN" sz="1350" b="1" dirty="0">
                  <a:solidFill>
                    <a:srgbClr val="1F2937"/>
                  </a:solidFill>
                  <a:latin typeface="+mn-lt"/>
                  <a:ea typeface="+mn-ea"/>
                  <a:cs typeface="+mn-cs"/>
                </a:rPr>
                <a:t>么？</a:t>
              </a:r>
            </a:p>
          </p:txBody>
        </p:sp>
        <p:sp>
          <p:nvSpPr>
            <p:cNvPr id="17" name="TextBox 17"/>
            <p:cNvSpPr txBox="1"/>
            <p:nvPr/>
          </p:nvSpPr>
          <p:spPr>
            <a:xfrm>
              <a:off x="713232" y="5039678"/>
              <a:ext cx="2928366" cy="1035558"/>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初始、细化、构造、移交。过程工</a:t>
              </a:r>
              <a:br/>
              <a:r>
                <a:rPr lang="zh-CN" sz="1350" dirty="0">
                  <a:solidFill>
                    <a:srgbClr val="1F2937"/>
                  </a:solidFill>
                  <a:latin typeface="+mn-lt"/>
                  <a:ea typeface="+mn-ea"/>
                  <a:cs typeface="+mn-cs"/>
                </a:rPr>
                <a:t>作流：业务建模、需求、分析与设计、</a:t>
              </a:r>
              <a:br/>
              <a:r>
                <a:rPr lang="zh-CN" sz="1350" dirty="0">
                  <a:solidFill>
                    <a:srgbClr val="1F2937"/>
                  </a:solidFill>
                  <a:latin typeface="+mn-lt"/>
                  <a:ea typeface="+mn-ea"/>
                  <a:cs typeface="+mn-cs"/>
                </a:rPr>
                <a:t>实现、测试、部署；支撑工作流：配置</a:t>
              </a:r>
              <a:br/>
              <a:r>
                <a:rPr lang="zh-CN" sz="1350" dirty="0">
                  <a:solidFill>
                    <a:srgbClr val="1F2937"/>
                  </a:solidFill>
                  <a:latin typeface="+mn-lt"/>
                  <a:ea typeface="+mn-ea"/>
                  <a:cs typeface="+mn-cs"/>
                </a:rPr>
                <a:t>与变更管理、项目管理、环境。</a:t>
              </a:r>
            </a:p>
          </p:txBody>
        </p:sp>
      </p:grpSp>
      <p:grpSp>
        <p:nvGrpSpPr>
          <p:cNvPr id="24" name="c2-card-1"/>
          <p:cNvGrpSpPr/>
          <p:nvPr/>
        </p:nvGrpSpPr>
        <p:grpSpPr>
          <a:xfrm>
            <a:off x="4343400" y="1524000"/>
            <a:ext cx="3505200" cy="2000250"/>
            <a:chOff x="4343400" y="1524000"/>
            <a:chExt cx="3505200" cy="2000250"/>
          </a:xfrm>
        </p:grpSpPr>
        <p:sp>
          <p:nvSpPr>
            <p:cNvPr id="19" name="Rectangle 19"/>
            <p:cNvSpPr/>
            <p:nvPr/>
          </p:nvSpPr>
          <p:spPr>
            <a:xfrm>
              <a:off x="4343400" y="1524000"/>
              <a:ext cx="3505200" cy="2000250"/>
            </a:xfrm>
            <a:prstGeom prst="roundRect">
              <a:avLst>
                <a:gd name="adj" fmla="val 6667"/>
              </a:avLst>
            </a:prstGeom>
            <a:solidFill>
              <a:srgbClr val="F4F6FB"/>
            </a:solidFill>
            <a:ln>
              <a:noFill/>
            </a:ln>
          </p:spPr>
        </p:sp>
        <p:sp>
          <p:nvSpPr>
            <p:cNvPr id="20" name="Rectangle 20"/>
            <p:cNvSpPr/>
            <p:nvPr/>
          </p:nvSpPr>
          <p:spPr>
            <a:xfrm>
              <a:off x="4530090" y="1710690"/>
              <a:ext cx="379095" cy="238125"/>
            </a:xfrm>
            <a:prstGeom prst="roundRect">
              <a:avLst>
                <a:gd name="adj" fmla="val 50000"/>
              </a:avLst>
            </a:prstGeom>
            <a:solidFill>
              <a:srgbClr val="E7EDF3"/>
            </a:solidFill>
            <a:ln>
              <a:noFill/>
            </a:ln>
          </p:spPr>
        </p:sp>
        <p:sp>
          <p:nvSpPr>
            <p:cNvPr id="21" name="TextBox 21"/>
            <p:cNvSpPr txBox="1"/>
            <p:nvPr/>
          </p:nvSpPr>
          <p:spPr>
            <a:xfrm>
              <a:off x="4619547" y="1743551"/>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Q2</a:t>
              </a:r>
            </a:p>
          </p:txBody>
        </p:sp>
        <p:sp>
          <p:nvSpPr>
            <p:cNvPr id="22" name="TextBox 22"/>
            <p:cNvSpPr txBox="1"/>
            <p:nvPr/>
          </p:nvSpPr>
          <p:spPr>
            <a:xfrm>
              <a:off x="4523232" y="2054542"/>
              <a:ext cx="2855928"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快速原型模型为什么“基本上不带反馈</a:t>
              </a:r>
              <a:br/>
              <a:r>
                <a:rPr lang="zh-CN" sz="1350" b="1" dirty="0">
                  <a:solidFill>
                    <a:srgbClr val="1F2937"/>
                  </a:solidFill>
                  <a:latin typeface="+mn-lt"/>
                  <a:ea typeface="+mn-ea"/>
                  <a:cs typeface="+mn-cs"/>
                </a:rPr>
                <a:t>环”？</a:t>
              </a:r>
            </a:p>
          </p:txBody>
        </p:sp>
        <p:sp>
          <p:nvSpPr>
            <p:cNvPr id="23" name="TextBox 23"/>
            <p:cNvSpPr txBox="1"/>
            <p:nvPr/>
          </p:nvSpPr>
          <p:spPr>
            <a:xfrm>
              <a:off x="4523232" y="2612708"/>
              <a:ext cx="2928366"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原型已通过与用户交互得到验证，</a:t>
              </a:r>
              <a:br/>
              <a:r>
                <a:rPr lang="zh-CN" sz="1350" dirty="0">
                  <a:solidFill>
                    <a:srgbClr val="1F2937"/>
                  </a:solidFill>
                  <a:latin typeface="+mn-lt"/>
                  <a:ea typeface="+mn-ea"/>
                  <a:cs typeface="+mn-cs"/>
                </a:rPr>
                <a:t>需求在开发前基本稳定，后续开发可以</a:t>
              </a:r>
              <a:br/>
              <a:r>
                <a:rPr lang="zh-CN" sz="1350" dirty="0">
                  <a:solidFill>
                    <a:srgbClr val="1F2937"/>
                  </a:solidFill>
                  <a:latin typeface="+mn-lt"/>
                  <a:ea typeface="+mn-ea"/>
                  <a:cs typeface="+mn-cs"/>
                </a:rPr>
                <a:t>线性推进。</a:t>
              </a:r>
            </a:p>
          </p:txBody>
        </p:sp>
      </p:grpSp>
      <p:grpSp>
        <p:nvGrpSpPr>
          <p:cNvPr id="30" name="c2-card-2"/>
          <p:cNvGrpSpPr/>
          <p:nvPr/>
        </p:nvGrpSpPr>
        <p:grpSpPr>
          <a:xfrm>
            <a:off x="4343400" y="3693795"/>
            <a:ext cx="3505200" cy="2514600"/>
            <a:chOff x="4343400" y="3693795"/>
            <a:chExt cx="3505200" cy="2514600"/>
          </a:xfrm>
        </p:grpSpPr>
        <p:sp>
          <p:nvSpPr>
            <p:cNvPr id="25" name="Rectangle 25"/>
            <p:cNvSpPr/>
            <p:nvPr/>
          </p:nvSpPr>
          <p:spPr>
            <a:xfrm>
              <a:off x="4343400" y="3693795"/>
              <a:ext cx="3505200" cy="2514600"/>
            </a:xfrm>
            <a:prstGeom prst="roundRect">
              <a:avLst>
                <a:gd name="adj" fmla="val 5303"/>
              </a:avLst>
            </a:prstGeom>
            <a:solidFill>
              <a:srgbClr val="F4F6FB"/>
            </a:solidFill>
            <a:ln>
              <a:noFill/>
            </a:ln>
          </p:spPr>
        </p:sp>
        <p:sp>
          <p:nvSpPr>
            <p:cNvPr id="26" name="Rectangle 26"/>
            <p:cNvSpPr/>
            <p:nvPr/>
          </p:nvSpPr>
          <p:spPr>
            <a:xfrm>
              <a:off x="4530090" y="3880485"/>
              <a:ext cx="379095" cy="238125"/>
            </a:xfrm>
            <a:prstGeom prst="roundRect">
              <a:avLst>
                <a:gd name="adj" fmla="val 50000"/>
              </a:avLst>
            </a:prstGeom>
            <a:solidFill>
              <a:srgbClr val="E7EDF3"/>
            </a:solidFill>
            <a:ln>
              <a:noFill/>
            </a:ln>
          </p:spPr>
        </p:sp>
        <p:sp>
          <p:nvSpPr>
            <p:cNvPr id="27" name="TextBox 27"/>
            <p:cNvSpPr txBox="1"/>
            <p:nvPr/>
          </p:nvSpPr>
          <p:spPr>
            <a:xfrm>
              <a:off x="4619547" y="3913346"/>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Q5</a:t>
              </a:r>
            </a:p>
          </p:txBody>
        </p:sp>
        <p:sp>
          <p:nvSpPr>
            <p:cNvPr id="28" name="TextBox 28"/>
            <p:cNvSpPr txBox="1"/>
            <p:nvPr/>
          </p:nvSpPr>
          <p:spPr>
            <a:xfrm>
              <a:off x="4523232" y="4225290"/>
              <a:ext cx="3008948"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敏捷宣言的四条价值观是什么？XP 里的</a:t>
              </a:r>
              <a:br/>
              <a:r>
                <a:rPr lang="zh-CN" sz="1350" b="1" dirty="0">
                  <a:solidFill>
                    <a:srgbClr val="1F2937"/>
                  </a:solidFill>
                  <a:latin typeface="+mn-lt"/>
                  <a:ea typeface="+mn-ea"/>
                  <a:cs typeface="+mn-cs"/>
                </a:rPr>
                <a:t>“极限”指什么？</a:t>
              </a:r>
            </a:p>
          </p:txBody>
        </p:sp>
        <p:sp>
          <p:nvSpPr>
            <p:cNvPr id="29" name="TextBox 29"/>
            <p:cNvSpPr txBox="1"/>
            <p:nvPr/>
          </p:nvSpPr>
          <p:spPr>
            <a:xfrm>
              <a:off x="4523232" y="4782502"/>
              <a:ext cx="2945511" cy="1035558"/>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个体和交互胜过过程和工具；可工</a:t>
              </a:r>
              <a:br/>
              <a:r>
                <a:rPr lang="zh-CN" sz="1350" dirty="0">
                  <a:solidFill>
                    <a:srgbClr val="1F2937"/>
                  </a:solidFill>
                  <a:latin typeface="+mn-lt"/>
                  <a:ea typeface="+mn-ea"/>
                  <a:cs typeface="+mn-cs"/>
                </a:rPr>
                <a:t>作的软件胜过面面俱到的文档；客户合</a:t>
              </a:r>
              <a:br/>
              <a:r>
                <a:rPr lang="zh-CN" sz="1350" dirty="0">
                  <a:solidFill>
                    <a:srgbClr val="1F2937"/>
                  </a:solidFill>
                  <a:latin typeface="+mn-lt"/>
                  <a:ea typeface="+mn-ea"/>
                  <a:cs typeface="+mn-cs"/>
                </a:rPr>
                <a:t>作胜过合同谈判；响应变化胜过遵循计</a:t>
              </a:r>
              <a:br/>
              <a:r>
                <a:rPr lang="zh-CN" sz="1350" dirty="0">
                  <a:solidFill>
                    <a:srgbClr val="1F2937"/>
                  </a:solidFill>
                  <a:latin typeface="+mn-lt"/>
                  <a:ea typeface="+mn-ea"/>
                  <a:cs typeface="+mn-cs"/>
                </a:rPr>
                <a:t>划。“极限”指把最好的实践用到极致。</a:t>
              </a:r>
            </a:p>
          </p:txBody>
        </p:sp>
      </p:grpSp>
      <p:grpSp>
        <p:nvGrpSpPr>
          <p:cNvPr id="36" name="c3-card-1"/>
          <p:cNvGrpSpPr/>
          <p:nvPr/>
        </p:nvGrpSpPr>
        <p:grpSpPr>
          <a:xfrm>
            <a:off x="8153400" y="1524000"/>
            <a:ext cx="3505200" cy="2000250"/>
            <a:chOff x="8153400" y="1524000"/>
            <a:chExt cx="3505200" cy="2000250"/>
          </a:xfrm>
        </p:grpSpPr>
        <p:sp>
          <p:nvSpPr>
            <p:cNvPr id="31" name="Rectangle 31"/>
            <p:cNvSpPr/>
            <p:nvPr/>
          </p:nvSpPr>
          <p:spPr>
            <a:xfrm>
              <a:off x="8153400" y="1524000"/>
              <a:ext cx="3505200" cy="2000250"/>
            </a:xfrm>
            <a:prstGeom prst="roundRect">
              <a:avLst>
                <a:gd name="adj" fmla="val 6667"/>
              </a:avLst>
            </a:prstGeom>
            <a:solidFill>
              <a:srgbClr val="F4F6FB"/>
            </a:solidFill>
            <a:ln>
              <a:noFill/>
            </a:ln>
          </p:spPr>
        </p:sp>
        <p:sp>
          <p:nvSpPr>
            <p:cNvPr id="32" name="Rectangle 32"/>
            <p:cNvSpPr/>
            <p:nvPr/>
          </p:nvSpPr>
          <p:spPr>
            <a:xfrm>
              <a:off x="8340090" y="1710690"/>
              <a:ext cx="379095" cy="238125"/>
            </a:xfrm>
            <a:prstGeom prst="roundRect">
              <a:avLst>
                <a:gd name="adj" fmla="val 50000"/>
              </a:avLst>
            </a:prstGeom>
            <a:solidFill>
              <a:srgbClr val="E7EDF3"/>
            </a:solidFill>
            <a:ln>
              <a:noFill/>
            </a:ln>
          </p:spPr>
        </p:sp>
        <p:sp>
          <p:nvSpPr>
            <p:cNvPr id="33" name="TextBox 33"/>
            <p:cNvSpPr txBox="1"/>
            <p:nvPr/>
          </p:nvSpPr>
          <p:spPr>
            <a:xfrm>
              <a:off x="8429547" y="1743551"/>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Q3</a:t>
              </a:r>
            </a:p>
          </p:txBody>
        </p:sp>
        <p:sp>
          <p:nvSpPr>
            <p:cNvPr id="34" name="TextBox 34"/>
            <p:cNvSpPr txBox="1"/>
            <p:nvPr/>
          </p:nvSpPr>
          <p:spPr>
            <a:xfrm>
              <a:off x="8333232" y="2054542"/>
              <a:ext cx="29283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螺旋模型可以看作在什么模型上加了什</a:t>
              </a:r>
              <a:br/>
              <a:r>
                <a:rPr lang="zh-CN" sz="1350" b="1" dirty="0">
                  <a:solidFill>
                    <a:srgbClr val="1F2937"/>
                  </a:solidFill>
                  <a:latin typeface="+mn-lt"/>
                  <a:ea typeface="+mn-ea"/>
                  <a:cs typeface="+mn-cs"/>
                </a:rPr>
                <a:t>么？为什么只适合大型项目？</a:t>
              </a:r>
            </a:p>
          </p:txBody>
        </p:sp>
        <p:sp>
          <p:nvSpPr>
            <p:cNvPr id="35" name="TextBox 35"/>
            <p:cNvSpPr txBox="1"/>
            <p:nvPr/>
          </p:nvSpPr>
          <p:spPr>
            <a:xfrm>
              <a:off x="8333232" y="2612708"/>
              <a:ext cx="2928366"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在每个阶段之前增加了风险分析的</a:t>
              </a:r>
              <a:br/>
              <a:r>
                <a:rPr lang="zh-CN" sz="1350" dirty="0">
                  <a:solidFill>
                    <a:srgbClr val="1F2937"/>
                  </a:solidFill>
                  <a:latin typeface="+mn-lt"/>
                  <a:ea typeface="+mn-ea"/>
                  <a:cs typeface="+mn-cs"/>
                </a:rPr>
                <a:t>快速原型模型。小项目里每一圈的风险</a:t>
              </a:r>
              <a:br/>
              <a:r>
                <a:rPr lang="zh-CN" sz="1350" dirty="0">
                  <a:solidFill>
                    <a:srgbClr val="1F2937"/>
                  </a:solidFill>
                  <a:latin typeface="+mn-lt"/>
                  <a:ea typeface="+mn-ea"/>
                  <a:cs typeface="+mn-cs"/>
                </a:rPr>
                <a:t>分析会占去很大一部分资源。</a:t>
              </a:r>
            </a:p>
          </p:txBody>
        </p:sp>
      </p:grpSp>
      <p:grpSp>
        <p:nvGrpSpPr>
          <p:cNvPr id="42" name="c3-card-2"/>
          <p:cNvGrpSpPr/>
          <p:nvPr/>
        </p:nvGrpSpPr>
        <p:grpSpPr>
          <a:xfrm>
            <a:off x="8153400" y="3693795"/>
            <a:ext cx="3505200" cy="2514600"/>
            <a:chOff x="8153400" y="3693795"/>
            <a:chExt cx="3505200" cy="2514600"/>
          </a:xfrm>
        </p:grpSpPr>
        <p:sp>
          <p:nvSpPr>
            <p:cNvPr id="37" name="Rectangle 37"/>
            <p:cNvSpPr/>
            <p:nvPr/>
          </p:nvSpPr>
          <p:spPr>
            <a:xfrm>
              <a:off x="8153400" y="3693795"/>
              <a:ext cx="3505200" cy="2514600"/>
            </a:xfrm>
            <a:prstGeom prst="roundRect">
              <a:avLst>
                <a:gd name="adj" fmla="val 5303"/>
              </a:avLst>
            </a:prstGeom>
            <a:solidFill>
              <a:srgbClr val="F4F6FB"/>
            </a:solidFill>
            <a:ln>
              <a:noFill/>
            </a:ln>
          </p:spPr>
        </p:sp>
        <p:sp>
          <p:nvSpPr>
            <p:cNvPr id="38" name="Rectangle 38"/>
            <p:cNvSpPr/>
            <p:nvPr/>
          </p:nvSpPr>
          <p:spPr>
            <a:xfrm>
              <a:off x="8340090" y="3880485"/>
              <a:ext cx="379095" cy="238125"/>
            </a:xfrm>
            <a:prstGeom prst="roundRect">
              <a:avLst>
                <a:gd name="adj" fmla="val 50000"/>
              </a:avLst>
            </a:prstGeom>
            <a:solidFill>
              <a:srgbClr val="E7EDF3"/>
            </a:solidFill>
            <a:ln>
              <a:noFill/>
            </a:ln>
          </p:spPr>
        </p:sp>
        <p:sp>
          <p:nvSpPr>
            <p:cNvPr id="39" name="TextBox 39"/>
            <p:cNvSpPr txBox="1"/>
            <p:nvPr/>
          </p:nvSpPr>
          <p:spPr>
            <a:xfrm>
              <a:off x="8429547" y="3913346"/>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Q6</a:t>
              </a:r>
            </a:p>
          </p:txBody>
        </p:sp>
        <p:sp>
          <p:nvSpPr>
            <p:cNvPr id="40" name="TextBox 40"/>
            <p:cNvSpPr txBox="1"/>
            <p:nvPr/>
          </p:nvSpPr>
          <p:spPr>
            <a:xfrm>
              <a:off x="8333232" y="4225290"/>
              <a:ext cx="29283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喷泉模型体现了面向对象开发的哪两个</a:t>
              </a:r>
              <a:br/>
              <a:r>
                <a:rPr lang="zh-CN" sz="1350" b="1" dirty="0">
                  <a:solidFill>
                    <a:srgbClr val="1F2937"/>
                  </a:solidFill>
                  <a:latin typeface="+mn-lt"/>
                  <a:ea typeface="+mn-ea"/>
                  <a:cs typeface="+mn-cs"/>
                </a:rPr>
                <a:t>特性？</a:t>
              </a:r>
            </a:p>
          </p:txBody>
        </p:sp>
        <p:sp>
          <p:nvSpPr>
            <p:cNvPr id="41" name="TextBox 41"/>
            <p:cNvSpPr txBox="1"/>
            <p:nvPr/>
          </p:nvSpPr>
          <p:spPr>
            <a:xfrm>
              <a:off x="8333232" y="4782502"/>
              <a:ext cx="2928366"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迭代与无缝（阶段之间没有明显界</a:t>
              </a:r>
              <a:br/>
              <a:r>
                <a:rPr lang="zh-CN" sz="1350" dirty="0">
                  <a:solidFill>
                    <a:srgbClr val="1F2937"/>
                  </a:solidFill>
                  <a:latin typeface="+mn-lt"/>
                  <a:ea typeface="+mn-ea"/>
                  <a:cs typeface="+mn-cs"/>
                </a:rPr>
                <a:t>限，可以平滑过渡）。为避免过程过于</a:t>
              </a:r>
              <a:br/>
              <a:r>
                <a:rPr lang="zh-CN" sz="1350" dirty="0">
                  <a:solidFill>
                    <a:srgbClr val="1F2937"/>
                  </a:solidFill>
                  <a:latin typeface="+mn-lt"/>
                  <a:ea typeface="+mn-ea"/>
                  <a:cs typeface="+mn-cs"/>
                </a:rPr>
                <a:t>无序，应把一个线形过程作为总目标。</a:t>
              </a:r>
            </a:p>
          </p:txBody>
        </p:sp>
      </p:grpSp>
      <p:grpSp>
        <p:nvGrpSpPr>
          <p:cNvPr id="45" name="footer"/>
          <p:cNvGrpSpPr/>
          <p:nvPr/>
        </p:nvGrpSpPr>
        <p:grpSpPr>
          <a:xfrm>
            <a:off x="528447" y="6581299"/>
            <a:ext cx="11135106" cy="190690"/>
            <a:chOff x="528447" y="6581299"/>
            <a:chExt cx="11135106" cy="190690"/>
          </a:xfrm>
        </p:grpSpPr>
        <p:sp>
          <p:nvSpPr>
            <p:cNvPr id="43" name="TextBox 43"/>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44" name="TextBox 4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65</a:t>
              </a:r>
            </a:p>
          </p:txBody>
        </p:sp>
      </p:grpSp>
    </p:spTree>
  </p:cSld>
  <p:clrMapOvr>
    <a:masterClrMapping/>
  </p:clrMapOvr>
  <p:transition xmlns:p14="http://schemas.microsoft.com/office/powerpoint/2010/main" p14:dur="400">
    <p:fade/>
  </p:transition>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1399032" cy="909257"/>
            <a:chOff x="520446" y="342900"/>
            <a:chExt cx="1399032" cy="909257"/>
          </a:xfrm>
        </p:grpSpPr>
        <p:sp>
          <p:nvSpPr>
            <p:cNvPr id="2" name="Rectangle 2"/>
            <p:cNvSpPr/>
            <p:nvPr/>
          </p:nvSpPr>
          <p:spPr>
            <a:xfrm>
              <a:off x="533400" y="342900"/>
              <a:ext cx="962978" cy="266700"/>
            </a:xfrm>
            <a:prstGeom prst="roundRect">
              <a:avLst>
                <a:gd name="adj" fmla="val 50000"/>
              </a:avLst>
            </a:prstGeom>
            <a:solidFill>
              <a:srgbClr val="E7EDF3"/>
            </a:solidFill>
            <a:ln>
              <a:noFill/>
            </a:ln>
          </p:spPr>
        </p:sp>
        <p:sp>
          <p:nvSpPr>
            <p:cNvPr id="3" name="TextBox 3"/>
            <p:cNvSpPr txBox="1"/>
            <p:nvPr/>
          </p:nvSpPr>
          <p:spPr>
            <a:xfrm>
              <a:off x="639866" y="407194"/>
              <a:ext cx="749094"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第1章 概述</a:t>
              </a:r>
            </a:p>
          </p:txBody>
        </p:sp>
        <p:sp>
          <p:nvSpPr>
            <p:cNvPr id="4" name="TextBox 4"/>
            <p:cNvSpPr txBox="1"/>
            <p:nvPr/>
          </p:nvSpPr>
          <p:spPr>
            <a:xfrm>
              <a:off x="520446" y="753428"/>
              <a:ext cx="139903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本章小结</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5" name="c1-bullets-1"/>
          <p:cNvGrpSpPr/>
          <p:nvPr/>
        </p:nvGrpSpPr>
        <p:grpSpPr>
          <a:xfrm>
            <a:off x="533400" y="1534478"/>
            <a:ext cx="5780913" cy="2075687"/>
            <a:chOff x="533400" y="1534478"/>
            <a:chExt cx="5780913" cy="2075687"/>
          </a:xfrm>
        </p:grpSpPr>
        <p:sp>
          <p:nvSpPr>
            <p:cNvPr id="7" name="Ellipse 7"/>
            <p:cNvSpPr/>
            <p:nvPr/>
          </p:nvSpPr>
          <p:spPr>
            <a:xfrm>
              <a:off x="533400" y="1534478"/>
              <a:ext cx="192405" cy="192405"/>
            </a:xfrm>
            <a:prstGeom prst="ellipse">
              <a:avLst/>
            </a:prstGeom>
            <a:solidFill>
              <a:srgbClr val="334E68"/>
            </a:solidFill>
            <a:ln>
              <a:noFill/>
            </a:ln>
          </p:spPr>
        </p:sp>
        <p:sp>
          <p:nvSpPr>
            <p:cNvPr id="8" name="TextBox 8"/>
            <p:cNvSpPr txBox="1"/>
            <p:nvPr/>
          </p:nvSpPr>
          <p:spPr>
            <a:xfrm>
              <a:off x="589078" y="157286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9" name="TextBox 9"/>
            <p:cNvSpPr txBox="1"/>
            <p:nvPr/>
          </p:nvSpPr>
          <p:spPr>
            <a:xfrm>
              <a:off x="814197" y="1545907"/>
              <a:ext cx="55001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软件是程序、数据及其相关文档的完整集合；它不磨损，但会因修改而退</a:t>
              </a:r>
              <a:br/>
              <a:r>
                <a:rPr lang="zh-CN" sz="1350" dirty="0">
                  <a:solidFill>
                    <a:srgbClr val="1F2937"/>
                  </a:solidFill>
                  <a:latin typeface="+mn-lt"/>
                  <a:ea typeface="+mn-ea"/>
                  <a:cs typeface="+mn-cs"/>
                </a:rPr>
                <a:t>化</a:t>
              </a:r>
            </a:p>
          </p:txBody>
        </p:sp>
        <p:sp>
          <p:nvSpPr>
            <p:cNvPr id="10" name="Ellipse 10"/>
            <p:cNvSpPr/>
            <p:nvPr/>
          </p:nvSpPr>
          <p:spPr>
            <a:xfrm>
              <a:off x="533400" y="2100262"/>
              <a:ext cx="192405" cy="192405"/>
            </a:xfrm>
            <a:prstGeom prst="ellipse">
              <a:avLst/>
            </a:prstGeom>
            <a:solidFill>
              <a:srgbClr val="334E68"/>
            </a:solidFill>
            <a:ln>
              <a:noFill/>
            </a:ln>
          </p:spPr>
        </p:sp>
        <p:sp>
          <p:nvSpPr>
            <p:cNvPr id="11" name="TextBox 11"/>
            <p:cNvSpPr txBox="1"/>
            <p:nvPr/>
          </p:nvSpPr>
          <p:spPr>
            <a:xfrm>
              <a:off x="589078" y="213864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12" name="TextBox 12"/>
            <p:cNvSpPr txBox="1"/>
            <p:nvPr/>
          </p:nvSpPr>
          <p:spPr>
            <a:xfrm>
              <a:off x="814197" y="2111692"/>
              <a:ext cx="532043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软件危机出现在程序系统阶段，分“怎样开发”和“怎样维护”两方面</a:t>
              </a:r>
            </a:p>
          </p:txBody>
        </p:sp>
        <p:sp>
          <p:nvSpPr>
            <p:cNvPr id="13" name="Ellipse 13"/>
            <p:cNvSpPr/>
            <p:nvPr/>
          </p:nvSpPr>
          <p:spPr>
            <a:xfrm>
              <a:off x="533400" y="2408872"/>
              <a:ext cx="192405" cy="192405"/>
            </a:xfrm>
            <a:prstGeom prst="ellipse">
              <a:avLst/>
            </a:prstGeom>
            <a:solidFill>
              <a:srgbClr val="334E68"/>
            </a:solidFill>
            <a:ln>
              <a:noFill/>
            </a:ln>
          </p:spPr>
        </p:sp>
        <p:sp>
          <p:nvSpPr>
            <p:cNvPr id="14" name="TextBox 14"/>
            <p:cNvSpPr txBox="1"/>
            <p:nvPr/>
          </p:nvSpPr>
          <p:spPr>
            <a:xfrm>
              <a:off x="589078" y="244725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15" name="TextBox 15"/>
            <p:cNvSpPr txBox="1"/>
            <p:nvPr/>
          </p:nvSpPr>
          <p:spPr>
            <a:xfrm>
              <a:off x="814197" y="2420302"/>
              <a:ext cx="383019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软件工程方法学由方法、工具、过程三要素组成</a:t>
              </a:r>
            </a:p>
          </p:txBody>
        </p:sp>
        <p:sp>
          <p:nvSpPr>
            <p:cNvPr id="16" name="Ellipse 16"/>
            <p:cNvSpPr/>
            <p:nvPr/>
          </p:nvSpPr>
          <p:spPr>
            <a:xfrm>
              <a:off x="533400" y="2717482"/>
              <a:ext cx="192405" cy="192405"/>
            </a:xfrm>
            <a:prstGeom prst="ellipse">
              <a:avLst/>
            </a:prstGeom>
            <a:solidFill>
              <a:srgbClr val="334E68"/>
            </a:solidFill>
            <a:ln>
              <a:noFill/>
            </a:ln>
          </p:spPr>
        </p:sp>
        <p:sp>
          <p:nvSpPr>
            <p:cNvPr id="17" name="TextBox 17"/>
            <p:cNvSpPr txBox="1"/>
            <p:nvPr/>
          </p:nvSpPr>
          <p:spPr>
            <a:xfrm>
              <a:off x="589078" y="275586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4</a:t>
              </a:r>
            </a:p>
          </p:txBody>
        </p:sp>
        <p:sp>
          <p:nvSpPr>
            <p:cNvPr id="18" name="TextBox 18"/>
            <p:cNvSpPr txBox="1"/>
            <p:nvPr/>
          </p:nvSpPr>
          <p:spPr>
            <a:xfrm>
              <a:off x="814197" y="2728912"/>
              <a:ext cx="515687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生命周期分软件定义、软件开发、运行维护 3 个时期共 8 个阶段</a:t>
              </a:r>
            </a:p>
          </p:txBody>
        </p:sp>
        <p:sp>
          <p:nvSpPr>
            <p:cNvPr id="19" name="Ellipse 19"/>
            <p:cNvSpPr/>
            <p:nvPr/>
          </p:nvSpPr>
          <p:spPr>
            <a:xfrm>
              <a:off x="533400" y="3026092"/>
              <a:ext cx="192405" cy="192405"/>
            </a:xfrm>
            <a:prstGeom prst="ellipse">
              <a:avLst/>
            </a:prstGeom>
            <a:solidFill>
              <a:srgbClr val="334E68"/>
            </a:solidFill>
            <a:ln>
              <a:noFill/>
            </a:ln>
          </p:spPr>
        </p:sp>
        <p:sp>
          <p:nvSpPr>
            <p:cNvPr id="20" name="TextBox 20"/>
            <p:cNvSpPr txBox="1"/>
            <p:nvPr/>
          </p:nvSpPr>
          <p:spPr>
            <a:xfrm>
              <a:off x="589078" y="306447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5</a:t>
              </a:r>
            </a:p>
          </p:txBody>
        </p:sp>
        <p:sp>
          <p:nvSpPr>
            <p:cNvPr id="21" name="TextBox 21"/>
            <p:cNvSpPr txBox="1"/>
            <p:nvPr/>
          </p:nvSpPr>
          <p:spPr>
            <a:xfrm>
              <a:off x="814197" y="3037522"/>
              <a:ext cx="473887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过程模型的差别在于阶段怎样排列、迭代几次、由什么驱动</a:t>
              </a:r>
            </a:p>
          </p:txBody>
        </p:sp>
        <p:sp>
          <p:nvSpPr>
            <p:cNvPr id="22" name="Ellipse 22"/>
            <p:cNvSpPr/>
            <p:nvPr/>
          </p:nvSpPr>
          <p:spPr>
            <a:xfrm>
              <a:off x="533400" y="3334702"/>
              <a:ext cx="192405" cy="192405"/>
            </a:xfrm>
            <a:prstGeom prst="ellipse">
              <a:avLst/>
            </a:prstGeom>
            <a:solidFill>
              <a:srgbClr val="334E68"/>
            </a:solidFill>
            <a:ln>
              <a:noFill/>
            </a:ln>
          </p:spPr>
        </p:sp>
        <p:sp>
          <p:nvSpPr>
            <p:cNvPr id="23" name="TextBox 23"/>
            <p:cNvSpPr txBox="1"/>
            <p:nvPr/>
          </p:nvSpPr>
          <p:spPr>
            <a:xfrm>
              <a:off x="589078" y="337308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6</a:t>
              </a:r>
            </a:p>
          </p:txBody>
        </p:sp>
        <p:sp>
          <p:nvSpPr>
            <p:cNvPr id="24" name="TextBox 24"/>
            <p:cNvSpPr txBox="1"/>
            <p:nvPr/>
          </p:nvSpPr>
          <p:spPr>
            <a:xfrm>
              <a:off x="814197" y="3346132"/>
              <a:ext cx="445598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RUP：六大实践、二维生命周期、9 个工作流、4 个阶段</a:t>
              </a:r>
            </a:p>
          </p:txBody>
        </p:sp>
      </p:grpSp>
      <p:grpSp>
        <p:nvGrpSpPr>
          <p:cNvPr id="38" name="c1-card-2"/>
          <p:cNvGrpSpPr/>
          <p:nvPr/>
        </p:nvGrpSpPr>
        <p:grpSpPr>
          <a:xfrm>
            <a:off x="533400" y="3727132"/>
            <a:ext cx="6059805" cy="1909762"/>
            <a:chOff x="533400" y="3727132"/>
            <a:chExt cx="6059805" cy="1909762"/>
          </a:xfrm>
        </p:grpSpPr>
        <p:sp>
          <p:nvSpPr>
            <p:cNvPr id="26" name="Rectangle 26"/>
            <p:cNvSpPr/>
            <p:nvPr/>
          </p:nvSpPr>
          <p:spPr>
            <a:xfrm>
              <a:off x="533400" y="3727132"/>
              <a:ext cx="6059805" cy="1909762"/>
            </a:xfrm>
            <a:prstGeom prst="roundRect">
              <a:avLst>
                <a:gd name="adj" fmla="val 6983"/>
              </a:avLst>
            </a:prstGeom>
            <a:solidFill>
              <a:srgbClr val="FFFFFF"/>
            </a:solidFill>
            <a:ln w="14288">
              <a:solidFill>
                <a:srgbClr val="D9DFEA"/>
              </a:solidFill>
            </a:ln>
          </p:spPr>
        </p:sp>
        <p:sp>
          <p:nvSpPr>
            <p:cNvPr id="27" name="Rectangle 27"/>
            <p:cNvSpPr/>
            <p:nvPr/>
          </p:nvSpPr>
          <p:spPr>
            <a:xfrm>
              <a:off x="542925" y="3860482"/>
              <a:ext cx="47625" cy="1643062"/>
            </a:xfrm>
            <a:prstGeom prst="roundRect">
              <a:avLst>
                <a:gd name="adj" fmla="val 50000"/>
              </a:avLst>
            </a:prstGeom>
            <a:solidFill>
              <a:srgbClr val="5B6475"/>
            </a:solidFill>
            <a:ln>
              <a:noFill/>
            </a:ln>
          </p:spPr>
        </p:sp>
        <p:sp>
          <p:nvSpPr>
            <p:cNvPr id="28" name="Rectangle 28"/>
            <p:cNvSpPr/>
            <p:nvPr/>
          </p:nvSpPr>
          <p:spPr>
            <a:xfrm>
              <a:off x="758190" y="3913822"/>
              <a:ext cx="1454468" cy="238125"/>
            </a:xfrm>
            <a:prstGeom prst="roundRect">
              <a:avLst>
                <a:gd name="adj" fmla="val 50000"/>
              </a:avLst>
            </a:prstGeom>
            <a:solidFill>
              <a:srgbClr val="F4F6FB"/>
            </a:solidFill>
            <a:ln>
              <a:noFill/>
            </a:ln>
          </p:spPr>
        </p:sp>
        <p:sp>
          <p:nvSpPr>
            <p:cNvPr id="29" name="TextBox 29"/>
            <p:cNvSpPr txBox="1"/>
            <p:nvPr/>
          </p:nvSpPr>
          <p:spPr>
            <a:xfrm>
              <a:off x="820357" y="3946684"/>
              <a:ext cx="1329182"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本讲义对原课件的更正</a:t>
              </a:r>
            </a:p>
          </p:txBody>
        </p:sp>
        <p:sp>
          <p:nvSpPr>
            <p:cNvPr id="30" name="Ellipse 30"/>
            <p:cNvSpPr/>
            <p:nvPr/>
          </p:nvSpPr>
          <p:spPr>
            <a:xfrm>
              <a:off x="766762" y="4314825"/>
              <a:ext cx="59055" cy="59055"/>
            </a:xfrm>
            <a:prstGeom prst="ellipse">
              <a:avLst/>
            </a:prstGeom>
            <a:solidFill>
              <a:srgbClr val="334E68"/>
            </a:solidFill>
            <a:ln>
              <a:noFill/>
            </a:ln>
          </p:spPr>
        </p:sp>
        <p:sp>
          <p:nvSpPr>
            <p:cNvPr id="31" name="TextBox 31"/>
            <p:cNvSpPr txBox="1"/>
            <p:nvPr/>
          </p:nvSpPr>
          <p:spPr>
            <a:xfrm>
              <a:off x="922782" y="4258628"/>
              <a:ext cx="372115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差错传播模型无复审例：编码阶段传出应为 93</a:t>
              </a:r>
            </a:p>
          </p:txBody>
        </p:sp>
        <p:sp>
          <p:nvSpPr>
            <p:cNvPr id="32" name="Ellipse 32"/>
            <p:cNvSpPr/>
            <p:nvPr/>
          </p:nvSpPr>
          <p:spPr>
            <a:xfrm>
              <a:off x="766762" y="4614862"/>
              <a:ext cx="59055" cy="59055"/>
            </a:xfrm>
            <a:prstGeom prst="ellipse">
              <a:avLst/>
            </a:prstGeom>
            <a:solidFill>
              <a:srgbClr val="334E68"/>
            </a:solidFill>
            <a:ln>
              <a:noFill/>
            </a:ln>
          </p:spPr>
        </p:sp>
        <p:sp>
          <p:nvSpPr>
            <p:cNvPr id="33" name="TextBox 33"/>
            <p:cNvSpPr txBox="1"/>
            <p:nvPr/>
          </p:nvSpPr>
          <p:spPr>
            <a:xfrm>
              <a:off x="922782" y="4558665"/>
              <a:ext cx="460216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RUP 的 Development &amp; Analysis 应为 Analysis &amp; Design</a:t>
              </a:r>
            </a:p>
          </p:txBody>
        </p:sp>
        <p:sp>
          <p:nvSpPr>
            <p:cNvPr id="34" name="Ellipse 34"/>
            <p:cNvSpPr/>
            <p:nvPr/>
          </p:nvSpPr>
          <p:spPr>
            <a:xfrm>
              <a:off x="766762" y="4914900"/>
              <a:ext cx="59055" cy="59055"/>
            </a:xfrm>
            <a:prstGeom prst="ellipse">
              <a:avLst/>
            </a:prstGeom>
            <a:solidFill>
              <a:srgbClr val="334E68"/>
            </a:solidFill>
            <a:ln>
              <a:noFill/>
            </a:ln>
          </p:spPr>
        </p:sp>
        <p:sp>
          <p:nvSpPr>
            <p:cNvPr id="35" name="TextBox 35"/>
            <p:cNvSpPr txBox="1"/>
            <p:nvPr/>
          </p:nvSpPr>
          <p:spPr>
            <a:xfrm>
              <a:off x="922782" y="4858702"/>
              <a:ext cx="362239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INVEST 的 E 应为 Estimable；ADP 应为 ASD</a:t>
              </a:r>
            </a:p>
          </p:txBody>
        </p:sp>
        <p:sp>
          <p:nvSpPr>
            <p:cNvPr id="36" name="Ellipse 36"/>
            <p:cNvSpPr/>
            <p:nvPr/>
          </p:nvSpPr>
          <p:spPr>
            <a:xfrm>
              <a:off x="766762" y="5214938"/>
              <a:ext cx="59055" cy="59055"/>
            </a:xfrm>
            <a:prstGeom prst="ellipse">
              <a:avLst/>
            </a:prstGeom>
            <a:solidFill>
              <a:srgbClr val="334E68"/>
            </a:solidFill>
            <a:ln>
              <a:noFill/>
            </a:ln>
          </p:spPr>
        </p:sp>
        <p:sp>
          <p:nvSpPr>
            <p:cNvPr id="37" name="TextBox 37"/>
            <p:cNvSpPr txBox="1"/>
            <p:nvPr/>
          </p:nvSpPr>
          <p:spPr>
            <a:xfrm>
              <a:off x="922782" y="5158740"/>
              <a:ext cx="264478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“循环冗余检测”是 CRC 卡的误译</a:t>
              </a:r>
            </a:p>
          </p:txBody>
        </p:sp>
      </p:grpSp>
      <p:grpSp>
        <p:nvGrpSpPr>
          <p:cNvPr id="57" name="c2-table-1"/>
          <p:cNvGrpSpPr/>
          <p:nvPr/>
        </p:nvGrpSpPr>
        <p:grpSpPr>
          <a:xfrm>
            <a:off x="6898005" y="1524000"/>
            <a:ext cx="4760595" cy="2200275"/>
            <a:chOff x="6898005" y="1524000"/>
            <a:chExt cx="4760595" cy="2200275"/>
          </a:xfrm>
        </p:grpSpPr>
        <p:sp>
          <p:nvSpPr>
            <p:cNvPr id="39" name="Rectangle 39"/>
            <p:cNvSpPr/>
            <p:nvPr/>
          </p:nvSpPr>
          <p:spPr>
            <a:xfrm>
              <a:off x="6898005" y="1524000"/>
              <a:ext cx="4760595" cy="400050"/>
            </a:xfrm>
            <a:prstGeom prst="rect">
              <a:avLst/>
            </a:prstGeom>
            <a:solidFill>
              <a:srgbClr val="334E68"/>
            </a:solidFill>
            <a:ln>
              <a:noFill/>
            </a:ln>
          </p:spPr>
        </p:sp>
        <p:sp>
          <p:nvSpPr>
            <p:cNvPr id="40" name="TextBox 40"/>
            <p:cNvSpPr txBox="1"/>
            <p:nvPr/>
          </p:nvSpPr>
          <p:spPr>
            <a:xfrm>
              <a:off x="7835938" y="1645444"/>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问题</a:t>
              </a:r>
            </a:p>
          </p:txBody>
        </p:sp>
        <p:sp>
          <p:nvSpPr>
            <p:cNvPr id="41" name="TextBox 41"/>
            <p:cNvSpPr txBox="1"/>
            <p:nvPr/>
          </p:nvSpPr>
          <p:spPr>
            <a:xfrm>
              <a:off x="9914687" y="1645444"/>
              <a:ext cx="91607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到哪里找答案</a:t>
              </a:r>
            </a:p>
          </p:txBody>
        </p:sp>
        <p:sp>
          <p:nvSpPr>
            <p:cNvPr id="42" name="TextBox 42"/>
            <p:cNvSpPr txBox="1"/>
            <p:nvPr/>
          </p:nvSpPr>
          <p:spPr>
            <a:xfrm>
              <a:off x="6995160" y="2145506"/>
              <a:ext cx="1066851"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软件为什么难做</a:t>
              </a:r>
            </a:p>
          </p:txBody>
        </p:sp>
        <p:sp>
          <p:nvSpPr>
            <p:cNvPr id="43" name="TextBox 43"/>
            <p:cNvSpPr txBox="1"/>
            <p:nvPr/>
          </p:nvSpPr>
          <p:spPr>
            <a:xfrm>
              <a:off x="9184958" y="2045494"/>
              <a:ext cx="214503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软件的特点、软件危机的表现与原</a:t>
              </a:r>
              <a:br/>
              <a:r>
                <a:rPr lang="zh-CN" sz="1120" dirty="0">
                  <a:solidFill>
                    <a:srgbClr val="1F2937"/>
                  </a:solidFill>
                  <a:latin typeface="+mn-lt"/>
                  <a:ea typeface="+mn-ea"/>
                  <a:cs typeface="+mn-cs"/>
                </a:rPr>
                <a:t>因</a:t>
              </a:r>
            </a:p>
          </p:txBody>
        </p:sp>
        <p:sp>
          <p:nvSpPr>
            <p:cNvPr id="44" name="Rectangle 44"/>
            <p:cNvSpPr/>
            <p:nvPr/>
          </p:nvSpPr>
          <p:spPr>
            <a:xfrm>
              <a:off x="6898005" y="2519362"/>
              <a:ext cx="4760595" cy="9525"/>
            </a:xfrm>
            <a:prstGeom prst="rect">
              <a:avLst/>
            </a:prstGeom>
            <a:solidFill>
              <a:srgbClr val="D9DFEA"/>
            </a:solidFill>
            <a:ln>
              <a:noFill/>
            </a:ln>
          </p:spPr>
        </p:sp>
        <p:sp>
          <p:nvSpPr>
            <p:cNvPr id="45" name="Rectangle 45"/>
            <p:cNvSpPr/>
            <p:nvPr/>
          </p:nvSpPr>
          <p:spPr>
            <a:xfrm>
              <a:off x="6898005" y="2524125"/>
              <a:ext cx="4760595" cy="400050"/>
            </a:xfrm>
            <a:prstGeom prst="rect">
              <a:avLst/>
            </a:prstGeom>
            <a:solidFill>
              <a:srgbClr val="F4F6FB"/>
            </a:solidFill>
            <a:ln>
              <a:noFill/>
            </a:ln>
          </p:spPr>
        </p:sp>
        <p:sp>
          <p:nvSpPr>
            <p:cNvPr id="46" name="TextBox 46"/>
            <p:cNvSpPr txBox="1"/>
            <p:nvPr/>
          </p:nvSpPr>
          <p:spPr>
            <a:xfrm>
              <a:off x="6995160" y="2645569"/>
              <a:ext cx="1217625"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怎样把它做成工程</a:t>
              </a:r>
            </a:p>
          </p:txBody>
        </p:sp>
        <p:sp>
          <p:nvSpPr>
            <p:cNvPr id="47" name="TextBox 47"/>
            <p:cNvSpPr txBox="1"/>
            <p:nvPr/>
          </p:nvSpPr>
          <p:spPr>
            <a:xfrm>
              <a:off x="9184958" y="2645569"/>
              <a:ext cx="197149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七条基本原理、方法学三要素</a:t>
              </a:r>
            </a:p>
          </p:txBody>
        </p:sp>
        <p:sp>
          <p:nvSpPr>
            <p:cNvPr id="48" name="Rectangle 48"/>
            <p:cNvSpPr/>
            <p:nvPr/>
          </p:nvSpPr>
          <p:spPr>
            <a:xfrm>
              <a:off x="6898005" y="2919412"/>
              <a:ext cx="4760595" cy="9525"/>
            </a:xfrm>
            <a:prstGeom prst="rect">
              <a:avLst/>
            </a:prstGeom>
            <a:solidFill>
              <a:srgbClr val="D9DFEA"/>
            </a:solidFill>
            <a:ln>
              <a:noFill/>
            </a:ln>
          </p:spPr>
        </p:sp>
        <p:sp>
          <p:nvSpPr>
            <p:cNvPr id="49" name="TextBox 49"/>
            <p:cNvSpPr txBox="1"/>
            <p:nvPr/>
          </p:nvSpPr>
          <p:spPr>
            <a:xfrm>
              <a:off x="6995160" y="3045619"/>
              <a:ext cx="151917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一个项目要走哪些阶段</a:t>
              </a:r>
            </a:p>
          </p:txBody>
        </p:sp>
        <p:sp>
          <p:nvSpPr>
            <p:cNvPr id="50" name="TextBox 50"/>
            <p:cNvSpPr txBox="1"/>
            <p:nvPr/>
          </p:nvSpPr>
          <p:spPr>
            <a:xfrm>
              <a:off x="9184958" y="3045619"/>
              <a:ext cx="186595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生命周期 3 个时期 8 个阶段</a:t>
              </a:r>
            </a:p>
          </p:txBody>
        </p:sp>
        <p:sp>
          <p:nvSpPr>
            <p:cNvPr id="51" name="Rectangle 51"/>
            <p:cNvSpPr/>
            <p:nvPr/>
          </p:nvSpPr>
          <p:spPr>
            <a:xfrm>
              <a:off x="6898005" y="3319462"/>
              <a:ext cx="4760595" cy="9525"/>
            </a:xfrm>
            <a:prstGeom prst="rect">
              <a:avLst/>
            </a:prstGeom>
            <a:solidFill>
              <a:srgbClr val="D9DFEA"/>
            </a:solidFill>
            <a:ln>
              <a:noFill/>
            </a:ln>
          </p:spPr>
        </p:sp>
        <p:sp>
          <p:nvSpPr>
            <p:cNvPr id="52" name="Rectangle 52"/>
            <p:cNvSpPr/>
            <p:nvPr/>
          </p:nvSpPr>
          <p:spPr>
            <a:xfrm>
              <a:off x="6898005" y="3324225"/>
              <a:ext cx="4760595" cy="400050"/>
            </a:xfrm>
            <a:prstGeom prst="rect">
              <a:avLst/>
            </a:prstGeom>
            <a:solidFill>
              <a:srgbClr val="F4F6FB"/>
            </a:solidFill>
            <a:ln>
              <a:noFill/>
            </a:ln>
          </p:spPr>
        </p:sp>
        <p:sp>
          <p:nvSpPr>
            <p:cNvPr id="53" name="TextBox 53"/>
            <p:cNvSpPr txBox="1"/>
            <p:nvPr/>
          </p:nvSpPr>
          <p:spPr>
            <a:xfrm>
              <a:off x="6995160" y="3445669"/>
              <a:ext cx="916076"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阶段怎样排列</a:t>
              </a:r>
            </a:p>
          </p:txBody>
        </p:sp>
        <p:sp>
          <p:nvSpPr>
            <p:cNvPr id="54" name="TextBox 54"/>
            <p:cNvSpPr txBox="1"/>
            <p:nvPr/>
          </p:nvSpPr>
          <p:spPr>
            <a:xfrm>
              <a:off x="9184958" y="3445669"/>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九种过程模型及其适用场景</a:t>
              </a:r>
            </a:p>
          </p:txBody>
        </p:sp>
        <p:sp>
          <p:nvSpPr>
            <p:cNvPr id="55" name="Rectangle 55"/>
            <p:cNvSpPr/>
            <p:nvPr/>
          </p:nvSpPr>
          <p:spPr>
            <a:xfrm>
              <a:off x="6898005" y="1524000"/>
              <a:ext cx="4760595" cy="2200275"/>
            </a:xfrm>
            <a:prstGeom prst="rect">
              <a:avLst/>
            </a:prstGeom>
            <a:noFill/>
            <a:ln w="14288">
              <a:solidFill>
                <a:srgbClr val="D9DFEA"/>
              </a:solidFill>
            </a:ln>
          </p:spPr>
        </p:sp>
        <p:sp>
          <p:nvSpPr>
            <p:cNvPr id="56" name="Rectangle 56"/>
            <p:cNvSpPr/>
            <p:nvPr/>
          </p:nvSpPr>
          <p:spPr>
            <a:xfrm>
              <a:off x="9083040" y="1524000"/>
              <a:ext cx="9525" cy="2200275"/>
            </a:xfrm>
            <a:prstGeom prst="rect">
              <a:avLst/>
            </a:prstGeom>
            <a:solidFill>
              <a:srgbClr val="D9DFEA"/>
            </a:solidFill>
            <a:ln>
              <a:noFill/>
            </a:ln>
          </p:spPr>
        </p:sp>
      </p:grpSp>
      <p:grpSp>
        <p:nvGrpSpPr>
          <p:cNvPr id="66" name="c2-card-2"/>
          <p:cNvGrpSpPr/>
          <p:nvPr/>
        </p:nvGrpSpPr>
        <p:grpSpPr>
          <a:xfrm>
            <a:off x="6898005" y="3893820"/>
            <a:ext cx="4760595" cy="1743075"/>
            <a:chOff x="6898005" y="3893820"/>
            <a:chExt cx="4760595" cy="1743075"/>
          </a:xfrm>
        </p:grpSpPr>
        <p:sp>
          <p:nvSpPr>
            <p:cNvPr id="58" name="Rectangle 58"/>
            <p:cNvSpPr/>
            <p:nvPr/>
          </p:nvSpPr>
          <p:spPr>
            <a:xfrm>
              <a:off x="6898005" y="3893820"/>
              <a:ext cx="4760595" cy="1743075"/>
            </a:xfrm>
            <a:prstGeom prst="roundRect">
              <a:avLst>
                <a:gd name="adj" fmla="val 7650"/>
              </a:avLst>
            </a:prstGeom>
            <a:solidFill>
              <a:srgbClr val="FFFFFF"/>
            </a:solidFill>
            <a:ln w="14288">
              <a:solidFill>
                <a:srgbClr val="D9DFEA"/>
              </a:solidFill>
            </a:ln>
          </p:spPr>
        </p:sp>
        <p:sp>
          <p:nvSpPr>
            <p:cNvPr id="59" name="Rectangle 59"/>
            <p:cNvSpPr/>
            <p:nvPr/>
          </p:nvSpPr>
          <p:spPr>
            <a:xfrm>
              <a:off x="6907530" y="4027170"/>
              <a:ext cx="47625" cy="1476375"/>
            </a:xfrm>
            <a:prstGeom prst="roundRect">
              <a:avLst>
                <a:gd name="adj" fmla="val 50000"/>
              </a:avLst>
            </a:prstGeom>
            <a:solidFill>
              <a:srgbClr val="D97706"/>
            </a:solidFill>
            <a:ln>
              <a:noFill/>
            </a:ln>
          </p:spPr>
        </p:sp>
        <p:sp>
          <p:nvSpPr>
            <p:cNvPr id="60" name="Rectangle 60"/>
            <p:cNvSpPr/>
            <p:nvPr/>
          </p:nvSpPr>
          <p:spPr>
            <a:xfrm>
              <a:off x="7122795" y="4080510"/>
              <a:ext cx="707708" cy="238125"/>
            </a:xfrm>
            <a:prstGeom prst="roundRect">
              <a:avLst>
                <a:gd name="adj" fmla="val 50000"/>
              </a:avLst>
            </a:prstGeom>
            <a:solidFill>
              <a:srgbClr val="FEF3C7"/>
            </a:solidFill>
            <a:ln>
              <a:noFill/>
            </a:ln>
          </p:spPr>
        </p:sp>
        <p:sp>
          <p:nvSpPr>
            <p:cNvPr id="61" name="TextBox 61"/>
            <p:cNvSpPr txBox="1"/>
            <p:nvPr/>
          </p:nvSpPr>
          <p:spPr>
            <a:xfrm>
              <a:off x="7207364" y="4113371"/>
              <a:ext cx="537616" cy="190690"/>
            </a:xfrm>
            <a:prstGeom prst="rect">
              <a:avLst/>
            </a:prstGeom>
            <a:noFill/>
            <a:ln>
              <a:noFill/>
            </a:ln>
          </p:spPr>
          <p:txBody>
            <a:bodyPr wrap="none" lIns="0" tIns="0" rIns="0" bIns="0" anchor="t" anchorCtr="0">
              <a:spAutoFit/>
            </a:bodyPr>
            <a:lstStyle/>
            <a:p>
              <a:pPr algn="ctr"/>
              <a:r>
                <a:rPr lang="zh-CN" sz="980" b="1" dirty="0">
                  <a:solidFill>
                    <a:srgbClr val="92400E"/>
                  </a:solidFill>
                  <a:latin typeface="+mn-lt"/>
                  <a:ea typeface="+mn-ea"/>
                  <a:cs typeface="+mn-cs"/>
                </a:rPr>
                <a:t>课堂讨论</a:t>
              </a:r>
            </a:p>
          </p:txBody>
        </p:sp>
        <p:sp>
          <p:nvSpPr>
            <p:cNvPr id="62" name="Ellipse 62"/>
            <p:cNvSpPr/>
            <p:nvPr/>
          </p:nvSpPr>
          <p:spPr>
            <a:xfrm>
              <a:off x="7131367" y="4481512"/>
              <a:ext cx="59055" cy="59055"/>
            </a:xfrm>
            <a:prstGeom prst="ellipse">
              <a:avLst/>
            </a:prstGeom>
            <a:solidFill>
              <a:srgbClr val="334E68"/>
            </a:solidFill>
            <a:ln>
              <a:noFill/>
            </a:ln>
          </p:spPr>
        </p:sp>
        <p:sp>
          <p:nvSpPr>
            <p:cNvPr id="63" name="TextBox 63"/>
            <p:cNvSpPr txBox="1"/>
            <p:nvPr/>
          </p:nvSpPr>
          <p:spPr>
            <a:xfrm>
              <a:off x="7287387" y="4425315"/>
              <a:ext cx="39570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你经历过的开发任务接近哪种过程模型？主要开发活</a:t>
              </a:r>
              <a:br/>
              <a:r>
                <a:rPr lang="zh-CN" sz="1350" dirty="0">
                  <a:solidFill>
                    <a:srgbClr val="1F2937"/>
                  </a:solidFill>
                  <a:latin typeface="+mn-lt"/>
                  <a:ea typeface="+mn-ea"/>
                  <a:cs typeface="+mn-cs"/>
                </a:rPr>
                <a:t>动有哪些？怎样应对后期的需求变化？</a:t>
              </a:r>
            </a:p>
          </p:txBody>
        </p:sp>
        <p:sp>
          <p:nvSpPr>
            <p:cNvPr id="64" name="Ellipse 64"/>
            <p:cNvSpPr/>
            <p:nvPr/>
          </p:nvSpPr>
          <p:spPr>
            <a:xfrm>
              <a:off x="7131367" y="5038725"/>
              <a:ext cx="59055" cy="59055"/>
            </a:xfrm>
            <a:prstGeom prst="ellipse">
              <a:avLst/>
            </a:prstGeom>
            <a:solidFill>
              <a:srgbClr val="334E68"/>
            </a:solidFill>
            <a:ln>
              <a:noFill/>
            </a:ln>
          </p:spPr>
        </p:sp>
        <p:sp>
          <p:nvSpPr>
            <p:cNvPr id="65" name="TextBox 65"/>
            <p:cNvSpPr txBox="1"/>
            <p:nvPr/>
          </p:nvSpPr>
          <p:spPr>
            <a:xfrm>
              <a:off x="7287387" y="4982528"/>
              <a:ext cx="39570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研究机构里的软件项目，采用的过程模型和软件公司</a:t>
              </a:r>
              <a:br/>
              <a:r>
                <a:rPr lang="zh-CN" sz="1350" dirty="0">
                  <a:solidFill>
                    <a:srgbClr val="1F2937"/>
                  </a:solidFill>
                  <a:latin typeface="+mn-lt"/>
                  <a:ea typeface="+mn-ea"/>
                  <a:cs typeface="+mn-cs"/>
                </a:rPr>
                <a:t>有什么不同？</a:t>
              </a:r>
            </a:p>
          </p:txBody>
        </p:sp>
      </p:grpSp>
      <p:grpSp>
        <p:nvGrpSpPr>
          <p:cNvPr id="72" name="takeaway"/>
          <p:cNvGrpSpPr/>
          <p:nvPr/>
        </p:nvGrpSpPr>
        <p:grpSpPr>
          <a:xfrm>
            <a:off x="533400" y="5881688"/>
            <a:ext cx="11125200" cy="481012"/>
            <a:chOff x="533400" y="5881688"/>
            <a:chExt cx="11125200" cy="481012"/>
          </a:xfrm>
        </p:grpSpPr>
        <p:sp>
          <p:nvSpPr>
            <p:cNvPr id="67" name="Rectangle 67"/>
            <p:cNvSpPr/>
            <p:nvPr/>
          </p:nvSpPr>
          <p:spPr>
            <a:xfrm>
              <a:off x="533400" y="5881688"/>
              <a:ext cx="11125200" cy="481012"/>
            </a:xfrm>
            <a:prstGeom prst="roundRect">
              <a:avLst>
                <a:gd name="adj" fmla="val 23762"/>
              </a:avLst>
            </a:prstGeom>
            <a:solidFill>
              <a:srgbClr val="334E68"/>
            </a:solidFill>
            <a:ln>
              <a:noFill/>
            </a:ln>
          </p:spPr>
        </p:sp>
        <p:grpSp>
          <p:nvGrpSpPr>
            <p:cNvPr id="70" name="Group 70"/>
            <p:cNvGrpSpPr/>
            <p:nvPr/>
          </p:nvGrpSpPr>
          <p:grpSpPr>
            <a:xfrm>
              <a:off x="738188" y="6022660"/>
              <a:ext cx="200023" cy="200023"/>
              <a:chOff x="738188" y="6022660"/>
              <a:chExt cx="200023" cy="200023"/>
            </a:xfrm>
          </p:grpSpPr>
          <p:sp>
            <p:nvSpPr>
              <p:cNvPr id="68" name="Freeform 68"/>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9" name="Freeform 69"/>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1" name="TextBox 71"/>
            <p:cNvSpPr txBox="1"/>
            <p:nvPr/>
          </p:nvSpPr>
          <p:spPr>
            <a:xfrm>
              <a:off x="1040892" y="6028373"/>
              <a:ext cx="10118293"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复习时按这条线索串：软件的特点 → 危机 → 工程与方法学 → 生命周期 → 过程模型，每个模型都能默画出流程图并说出优缺点。</a:t>
              </a:r>
            </a:p>
          </p:txBody>
        </p:sp>
      </p:grpSp>
      <p:grpSp>
        <p:nvGrpSpPr>
          <p:cNvPr id="75" name="footer"/>
          <p:cNvGrpSpPr/>
          <p:nvPr/>
        </p:nvGrpSpPr>
        <p:grpSpPr>
          <a:xfrm>
            <a:off x="528447" y="6581299"/>
            <a:ext cx="11135106" cy="190690"/>
            <a:chOff x="528447" y="6581299"/>
            <a:chExt cx="11135106" cy="190690"/>
          </a:xfrm>
        </p:grpSpPr>
        <p:sp>
          <p:nvSpPr>
            <p:cNvPr id="73" name="TextBox 73"/>
            <p:cNvSpPr txBox="1"/>
            <p:nvPr/>
          </p:nvSpPr>
          <p:spPr>
            <a:xfrm>
              <a:off x="528447" y="6581299"/>
              <a:ext cx="198882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第1章 软件工程学概述</a:t>
              </a:r>
            </a:p>
          </p:txBody>
        </p:sp>
        <p:sp>
          <p:nvSpPr>
            <p:cNvPr id="74" name="TextBox 7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66</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e_ch01">
  <a:themeElements>
    <a:clrScheme name="se_ch0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_ch01">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e_ch0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66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2026-09-19T03:26:03Z</dcterms:created>
  <dcterms:modified xsi:type="dcterms:W3CDTF">2026-09-19T03:26:03Z</dcterms:modified>
  <cp:category/>
  <cp:contentStatus/>
</cp:coreProperties>
</file>