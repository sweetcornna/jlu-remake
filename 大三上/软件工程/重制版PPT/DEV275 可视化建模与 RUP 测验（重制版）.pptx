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se_rup_quiz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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se_rup_quiz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17cdbe7b92b81616.png"/>
</Relationships>
</file>

<file path=ppt/slides/_rels/slide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7db99751e0cb1303.png"/>
</Relationships>
</file>

<file path=ppt/slides/_rels/slide1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1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  <Relationship Id="rId2" Type="http://schemas.openxmlformats.org/officeDocument/2006/relationships/image" Target="../media/image_2cdc332f63ecf02d.png"/>
</Relationships>
</file>

<file path=ppt/slides/_rels/slide2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6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7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8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29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0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1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2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3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4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_rels/slide35.xml.rels><?xml version="1.0" encoding="UTF-8" standalone="yes"?>
<Relationships xmlns="http://schemas.openxmlformats.org/package/2006/relationships">
  <Relationship Id="rId1"
                Type="http://schemas.openxmlformats.org/officeDocument/2006/relationships/slideLayout"
                Target="../slideLayouts/slideLayout7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her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scrim"/>
          <p:cNvSpPr/>
          <p:nvPr/>
        </p:nvSpPr>
        <p:spPr>
          <a:xfrm>
            <a:off x="0" y="0"/>
            <a:ext cx="7620000" cy="6858000"/>
          </a:xfrm>
          <a:prstGeom prst="rect">
            <a:avLst/>
          </a:prstGeom>
          <a:gradFill>
            <a:gsLst>
              <a:gs pos="0">
                <a:srgbClr val="FFFFFF">
                  <a:alpha val="97000"/>
                </a:srgbClr>
              </a:gs>
              <a:gs pos="58000">
                <a:srgbClr val="FFFFFF">
                  <a:alpha val="85000"/>
                </a:srgbClr>
              </a:gs>
              <a:gs pos="100000">
                <a:srgbClr val="FFFFFF">
                  <a:alpha val="0"/>
                </a:srgbClr>
              </a:gs>
            </a:gsLst>
            <a:lin ang="0" scaled="1"/>
          </a:gradFill>
          <a:ln>
            <a:noFill/>
          </a:ln>
        </p:spPr>
      </p:sp>
      <p:grpSp>
        <p:nvGrpSpPr>
          <p:cNvPr id="17" name="cover-title"/>
          <p:cNvGrpSpPr/>
          <p:nvPr/>
        </p:nvGrpSpPr>
        <p:grpSpPr>
          <a:xfrm>
            <a:off x="666750" y="1619250"/>
            <a:ext cx="5972708" cy="3437763"/>
            <a:chOff x="666750" y="1619250"/>
            <a:chExt cx="5972708" cy="3437763"/>
          </a:xfrm>
        </p:grpSpPr>
        <p:sp>
          <p:nvSpPr>
            <p:cNvPr id="4" name="Rectangle 4"/>
            <p:cNvSpPr/>
            <p:nvPr/>
          </p:nvSpPr>
          <p:spPr>
            <a:xfrm>
              <a:off x="685800" y="1619250"/>
              <a:ext cx="2456498" cy="3429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70071" y="1718310"/>
              <a:ext cx="22889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软件工程 · DEV275 Module 3a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666750" y="2407920"/>
              <a:ext cx="5972708" cy="8191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可视化建模与 RUP 测验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685800" y="3147060"/>
              <a:ext cx="990600" cy="5715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676656" y="3467100"/>
              <a:ext cx="49533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16 道原题逐题精讲，配 UML 与 RUP 概念梳理</a:t>
              </a:r>
            </a:p>
          </p:txBody>
        </p:sp>
        <p:sp>
          <p:nvSpPr>
            <p:cNvPr id="9" name="Ellipse 9"/>
            <p:cNvSpPr/>
            <p:nvPr/>
          </p:nvSpPr>
          <p:spPr>
            <a:xfrm>
              <a:off x="709612" y="3976688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69442" y="3921442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面向对象四条原则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709612" y="4267200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9442" y="421195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建模的目的与原则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709612" y="4557712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869442" y="4502468"/>
              <a:ext cx="12877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4+1 视图与 RUP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709612" y="4848225"/>
              <a:ext cx="66675" cy="66675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869442" y="479298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类、封装、多态、包</a:t>
              </a:r>
            </a:p>
          </p:txBody>
        </p:sp>
      </p:grpSp>
      <p:grpSp>
        <p:nvGrpSpPr>
          <p:cNvPr id="19" name="cover-credit"/>
          <p:cNvGrpSpPr/>
          <p:nvPr/>
        </p:nvGrpSpPr>
        <p:grpSpPr>
          <a:xfrm>
            <a:off x="680466" y="6192202"/>
            <a:ext cx="4734954" cy="205359"/>
            <a:chOff x="680466" y="6192202"/>
            <a:chExt cx="4734954" cy="205359"/>
          </a:xfrm>
        </p:grpSpPr>
        <p:sp>
          <p:nvSpPr>
            <p:cNvPr id="18" name="TextBox 18"/>
            <p:cNvSpPr txBox="1"/>
            <p:nvPr/>
          </p:nvSpPr>
          <p:spPr>
            <a:xfrm>
              <a:off x="680466" y="6192202"/>
              <a:ext cx="473495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重制讲义 · 自学复习版｜据 IBM Rational DEV275 Module 3a 测验课件整理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本讲学习路线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6" name="c1-agenda-1"/>
          <p:cNvGrpSpPr/>
          <p:nvPr/>
        </p:nvGrpSpPr>
        <p:grpSpPr>
          <a:xfrm>
            <a:off x="521970" y="1515428"/>
            <a:ext cx="6287453" cy="3689317"/>
            <a:chOff x="521970" y="1515428"/>
            <a:chExt cx="6287453" cy="3689317"/>
          </a:xfrm>
        </p:grpSpPr>
        <p:sp>
          <p:nvSpPr>
            <p:cNvPr id="7" name="TextBox 7"/>
            <p:cNvSpPr txBox="1"/>
            <p:nvPr/>
          </p:nvSpPr>
          <p:spPr>
            <a:xfrm>
              <a:off x="521970" y="151542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065086" y="1551622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建模基础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066990" y="1868329"/>
              <a:ext cx="44931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对象技术是什么、模型的定义、建模的四个目的与四条原则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073468" y="218122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21970" y="2286952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5086" y="2323148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架构与过程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66990" y="2639854"/>
              <a:ext cx="503768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4+1 视图各看什么，RUP 的 4 个阶段、9 个工作流与 3 条过程特征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1073468" y="2953702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21970" y="3058478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65086" y="3094673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对象与类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66990" y="3412331"/>
              <a:ext cx="432079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对象的状态与可见行为，封装、模块化、类与对象的关系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1073468" y="3725228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521970" y="3830955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65086" y="3867150"/>
              <a:ext cx="179374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继承、多态与组织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066990" y="4183856"/>
              <a:ext cx="31921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多态、泛化的判断口诀、用 package 分组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073468" y="4497705"/>
              <a:ext cx="573595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1970" y="4602480"/>
              <a:ext cx="37270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5086" y="46386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自测与小结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66990" y="4955381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改写题、易混术语对照表</a:t>
              </a:r>
            </a:p>
          </p:txBody>
        </p:sp>
      </p:grpSp>
      <p:grpSp>
        <p:nvGrpSpPr>
          <p:cNvPr id="41" name="c2-card-1"/>
          <p:cNvGrpSpPr/>
          <p:nvPr/>
        </p:nvGrpSpPr>
        <p:grpSpPr>
          <a:xfrm>
            <a:off x="7114222" y="1524000"/>
            <a:ext cx="4544378" cy="4086225"/>
            <a:chOff x="7114222" y="1524000"/>
            <a:chExt cx="4544378" cy="4086225"/>
          </a:xfrm>
        </p:grpSpPr>
        <p:sp>
          <p:nvSpPr>
            <p:cNvPr id="27" name="Rectangle 27"/>
            <p:cNvSpPr/>
            <p:nvPr/>
          </p:nvSpPr>
          <p:spPr>
            <a:xfrm>
              <a:off x="7114222" y="1524000"/>
              <a:ext cx="4544378" cy="4086225"/>
            </a:xfrm>
            <a:prstGeom prst="roundRect">
              <a:avLst>
                <a:gd name="adj" fmla="val 32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7123748" y="1657350"/>
              <a:ext cx="47625" cy="381952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361872" y="1733550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43229" y="1769269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学习目标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7367588" y="217360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525702" y="2110740"/>
              <a:ext cx="3672840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说清 abstraction、encapsulation、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modularity、hierarchy 四条原则各解决什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么问题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7367588" y="308038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7525702" y="3017520"/>
              <a:ext cx="3634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说出建模的四个目的和四条建模原则，并判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断一个项目值不值得建模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367588" y="370141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525702" y="3638550"/>
              <a:ext cx="37109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画出 RUP 的 4 个阶段、4 个里程碑和 9 个工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作流，说出 4+1 视图各关注什么</a:t>
              </a:r>
            </a:p>
          </p:txBody>
        </p:sp>
        <p:sp>
          <p:nvSpPr>
            <p:cNvPr id="37" name="Ellipse 37"/>
            <p:cNvSpPr/>
            <p:nvPr/>
          </p:nvSpPr>
          <p:spPr>
            <a:xfrm>
              <a:off x="7367588" y="432244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5702" y="4259580"/>
              <a:ext cx="35109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区分 attribute / operation / method /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responsibility 与 link / relationship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7367588" y="4943475"/>
              <a:ext cx="64770" cy="6477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7525702" y="4880610"/>
              <a:ext cx="35490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判断两个类之间该用 generalization 还是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aggregation，说出 package 的用途</a:t>
              </a:r>
            </a:p>
          </p:txBody>
        </p:sp>
      </p:grpSp>
      <p:grpSp>
        <p:nvGrpSpPr>
          <p:cNvPr id="4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2" name="TextBox 42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746784" cy="3351847"/>
            <a:chOff x="667512" y="1835468"/>
            <a:chExt cx="4746784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第一部分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建模基础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736878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1—6 题：对象技术是什么，模型有什么用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面向对象的四条基本原则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4033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模型的定义与建模的四个目的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四条建模原则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0345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什么样的项目值得建模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面向对象技术站在四条原则上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646670" cy="264033"/>
            <a:chOff x="526542" y="1545907"/>
            <a:chExt cx="764667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6466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后面十几道题问的抽象、封装、模块化、继承，都是这四条原则的具体表现，先把它们排清楚。</a:t>
              </a:r>
            </a:p>
          </p:txBody>
        </p:sp>
      </p:grpSp>
      <p:grpSp>
        <p:nvGrpSpPr>
          <p:cNvPr id="16" name="c1-card-1"/>
          <p:cNvGrpSpPr/>
          <p:nvPr/>
        </p:nvGrpSpPr>
        <p:grpSpPr>
          <a:xfrm>
            <a:off x="533400" y="1928812"/>
            <a:ext cx="4977765" cy="1670685"/>
            <a:chOff x="533400" y="1928812"/>
            <a:chExt cx="4977765" cy="167068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977765" cy="1670685"/>
            </a:xfrm>
            <a:prstGeom prst="roundRect">
              <a:avLst>
                <a:gd name="adj" fmla="val 798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40398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27952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对象技术（Object Technology）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2999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一组指导软件构造的原则，以及在这些原则上建立起来的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语言、数据库和工具。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2475" y="3030379"/>
              <a:ext cx="42786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它不是某一种语言，也不是某一个人的发明；C++、Java、UML 都只</a:t>
              </a:r>
              <a:br/>
              <a:r>
                <a:rPr lang="zh-CN" sz="11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是这套原则的载体。</a:t>
              </a:r>
            </a:p>
          </p:txBody>
        </p:sp>
      </p:grpSp>
      <p:grpSp>
        <p:nvGrpSpPr>
          <p:cNvPr id="28" name="c1-kv-2"/>
          <p:cNvGrpSpPr/>
          <p:nvPr/>
        </p:nvGrpSpPr>
        <p:grpSpPr>
          <a:xfrm>
            <a:off x="526542" y="3791902"/>
            <a:ext cx="4984623" cy="1949006"/>
            <a:chOff x="526542" y="3791902"/>
            <a:chExt cx="4984623" cy="1949006"/>
          </a:xfrm>
        </p:grpSpPr>
        <p:sp>
          <p:nvSpPr>
            <p:cNvPr id="17" name="TextBox 17"/>
            <p:cNvSpPr txBox="1"/>
            <p:nvPr/>
          </p:nvSpPr>
          <p:spPr>
            <a:xfrm>
              <a:off x="526542" y="3791902"/>
              <a:ext cx="1126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Abstraction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021014" y="3791902"/>
              <a:ext cx="32712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只保留对当前目的重要的特征，忽略其余细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533400" y="433197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26542" y="4437698"/>
              <a:ext cx="12882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Encapsulation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2021014" y="4437698"/>
              <a:ext cx="3271266" cy="51739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9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把实现藏在接口后面，外部只能通过接口访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问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533400" y="497776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6542" y="5084445"/>
              <a:ext cx="10116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Modularity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021014" y="50844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把复杂系统分解成高内聚、低耦合的部件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533400" y="537019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26542" y="5476875"/>
              <a:ext cx="916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Hierarchy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021014" y="547687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按抽象层次排序，典型形式是泛化与聚合</a:t>
              </a:r>
            </a:p>
          </p:txBody>
        </p:sp>
      </p:grpSp>
      <p:grpSp>
        <p:nvGrpSpPr>
          <p:cNvPr id="67" name="c2-tree-1"/>
          <p:cNvGrpSpPr/>
          <p:nvPr/>
        </p:nvGrpSpPr>
        <p:grpSpPr>
          <a:xfrm>
            <a:off x="5815965" y="1941195"/>
            <a:ext cx="5842635" cy="2741295"/>
            <a:chOff x="5815965" y="1941195"/>
            <a:chExt cx="5842635" cy="2741295"/>
          </a:xfrm>
        </p:grpSpPr>
        <p:sp>
          <p:nvSpPr>
            <p:cNvPr id="29" name="Freeform 29"/>
            <p:cNvSpPr/>
            <p:nvPr/>
          </p:nvSpPr>
          <p:spPr>
            <a:xfrm>
              <a:off x="9786938" y="2101215"/>
              <a:ext cx="419100" cy="173355"/>
            </a:xfrm>
            <a:custGeom>
              <a:avLst/>
              <a:gdLst/>
              <a:ahLst/>
              <a:cxnLst/>
              <a:rect l="l" t="t" r="r" b="b"/>
              <a:pathLst>
                <a:path w="419100" h="173355">
                  <a:moveTo>
                    <a:pt x="0" y="173355"/>
                  </a:moveTo>
                  <a:lnTo>
                    <a:pt x="209550" y="17335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0" name="Freeform 30"/>
            <p:cNvSpPr/>
            <p:nvPr/>
          </p:nvSpPr>
          <p:spPr>
            <a:xfrm>
              <a:off x="9786938" y="2274570"/>
              <a:ext cx="419100" cy="172402"/>
            </a:xfrm>
            <a:custGeom>
              <a:avLst/>
              <a:gdLst/>
              <a:ahLst/>
              <a:cxnLst/>
              <a:rect l="l" t="t" r="r" b="b"/>
              <a:pathLst>
                <a:path w="419100" h="172402">
                  <a:moveTo>
                    <a:pt x="0" y="0"/>
                  </a:moveTo>
                  <a:lnTo>
                    <a:pt x="209550" y="0"/>
                  </a:lnTo>
                  <a:lnTo>
                    <a:pt x="209550" y="172402"/>
                  </a:lnTo>
                  <a:lnTo>
                    <a:pt x="419100" y="17240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9786938" y="2792730"/>
              <a:ext cx="419100" cy="173355"/>
            </a:xfrm>
            <a:custGeom>
              <a:avLst/>
              <a:gdLst/>
              <a:ahLst/>
              <a:cxnLst/>
              <a:rect l="l" t="t" r="r" b="b"/>
              <a:pathLst>
                <a:path w="419100" h="173355">
                  <a:moveTo>
                    <a:pt x="0" y="173355"/>
                  </a:moveTo>
                  <a:lnTo>
                    <a:pt x="209550" y="17335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2" name="Freeform 32"/>
            <p:cNvSpPr/>
            <p:nvPr/>
          </p:nvSpPr>
          <p:spPr>
            <a:xfrm>
              <a:off x="9786938" y="2966085"/>
              <a:ext cx="419100" cy="172403"/>
            </a:xfrm>
            <a:custGeom>
              <a:avLst/>
              <a:gdLst/>
              <a:ahLst/>
              <a:cxnLst/>
              <a:rect l="l" t="t" r="r" b="b"/>
              <a:pathLst>
                <a:path w="419100" h="172403">
                  <a:moveTo>
                    <a:pt x="0" y="0"/>
                  </a:moveTo>
                  <a:lnTo>
                    <a:pt x="209550" y="0"/>
                  </a:lnTo>
                  <a:lnTo>
                    <a:pt x="209550" y="172403"/>
                  </a:lnTo>
                  <a:lnTo>
                    <a:pt x="419100" y="17240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9786938" y="3484245"/>
              <a:ext cx="419100" cy="173355"/>
            </a:xfrm>
            <a:custGeom>
              <a:avLst/>
              <a:gdLst/>
              <a:ahLst/>
              <a:cxnLst/>
              <a:rect l="l" t="t" r="r" b="b"/>
              <a:pathLst>
                <a:path w="419100" h="173355">
                  <a:moveTo>
                    <a:pt x="0" y="173355"/>
                  </a:moveTo>
                  <a:lnTo>
                    <a:pt x="209550" y="17335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4" name="Freeform 34"/>
            <p:cNvSpPr/>
            <p:nvPr/>
          </p:nvSpPr>
          <p:spPr>
            <a:xfrm>
              <a:off x="9786938" y="3657600"/>
              <a:ext cx="419100" cy="172403"/>
            </a:xfrm>
            <a:custGeom>
              <a:avLst/>
              <a:gdLst/>
              <a:ahLst/>
              <a:cxnLst/>
              <a:rect l="l" t="t" r="r" b="b"/>
              <a:pathLst>
                <a:path w="419100" h="172403">
                  <a:moveTo>
                    <a:pt x="0" y="0"/>
                  </a:moveTo>
                  <a:lnTo>
                    <a:pt x="209550" y="0"/>
                  </a:lnTo>
                  <a:lnTo>
                    <a:pt x="209550" y="172403"/>
                  </a:lnTo>
                  <a:lnTo>
                    <a:pt x="419100" y="17240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5" name="Freeform 35"/>
            <p:cNvSpPr/>
            <p:nvPr/>
          </p:nvSpPr>
          <p:spPr>
            <a:xfrm>
              <a:off x="9786938" y="4175760"/>
              <a:ext cx="419100" cy="173355"/>
            </a:xfrm>
            <a:custGeom>
              <a:avLst/>
              <a:gdLst/>
              <a:ahLst/>
              <a:cxnLst/>
              <a:rect l="l" t="t" r="r" b="b"/>
              <a:pathLst>
                <a:path w="419100" h="173355">
                  <a:moveTo>
                    <a:pt x="0" y="173355"/>
                  </a:moveTo>
                  <a:lnTo>
                    <a:pt x="209550" y="173355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6" name="Freeform 36"/>
            <p:cNvSpPr/>
            <p:nvPr/>
          </p:nvSpPr>
          <p:spPr>
            <a:xfrm>
              <a:off x="9786938" y="4349115"/>
              <a:ext cx="419100" cy="172402"/>
            </a:xfrm>
            <a:custGeom>
              <a:avLst/>
              <a:gdLst/>
              <a:ahLst/>
              <a:cxnLst/>
              <a:rect l="l" t="t" r="r" b="b"/>
              <a:pathLst>
                <a:path w="419100" h="172402">
                  <a:moveTo>
                    <a:pt x="0" y="0"/>
                  </a:moveTo>
                  <a:lnTo>
                    <a:pt x="209550" y="0"/>
                  </a:lnTo>
                  <a:lnTo>
                    <a:pt x="209550" y="172402"/>
                  </a:lnTo>
                  <a:lnTo>
                    <a:pt x="419100" y="172402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7" name="Freeform 37"/>
            <p:cNvSpPr/>
            <p:nvPr/>
          </p:nvSpPr>
          <p:spPr>
            <a:xfrm>
              <a:off x="7268528" y="2274570"/>
              <a:ext cx="419100" cy="1037272"/>
            </a:xfrm>
            <a:custGeom>
              <a:avLst/>
              <a:gdLst/>
              <a:ahLst/>
              <a:cxnLst/>
              <a:rect l="l" t="t" r="r" b="b"/>
              <a:pathLst>
                <a:path w="419100" h="1037272">
                  <a:moveTo>
                    <a:pt x="0" y="1037272"/>
                  </a:moveTo>
                  <a:lnTo>
                    <a:pt x="209550" y="1037272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8" name="Freeform 38"/>
            <p:cNvSpPr/>
            <p:nvPr/>
          </p:nvSpPr>
          <p:spPr>
            <a:xfrm>
              <a:off x="7268528" y="2966085"/>
              <a:ext cx="419100" cy="345758"/>
            </a:xfrm>
            <a:custGeom>
              <a:avLst/>
              <a:gdLst/>
              <a:ahLst/>
              <a:cxnLst/>
              <a:rect l="l" t="t" r="r" b="b"/>
              <a:pathLst>
                <a:path w="419100" h="345758">
                  <a:moveTo>
                    <a:pt x="0" y="345758"/>
                  </a:moveTo>
                  <a:lnTo>
                    <a:pt x="209550" y="345758"/>
                  </a:lnTo>
                  <a:lnTo>
                    <a:pt x="209550" y="0"/>
                  </a:lnTo>
                  <a:lnTo>
                    <a:pt x="419100" y="0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39" name="Freeform 39"/>
            <p:cNvSpPr/>
            <p:nvPr/>
          </p:nvSpPr>
          <p:spPr>
            <a:xfrm>
              <a:off x="7268528" y="3311842"/>
              <a:ext cx="419100" cy="345758"/>
            </a:xfrm>
            <a:custGeom>
              <a:avLst/>
              <a:gdLst/>
              <a:ahLst/>
              <a:cxnLst/>
              <a:rect l="l" t="t" r="r" b="b"/>
              <a:pathLst>
                <a:path w="419100" h="345758">
                  <a:moveTo>
                    <a:pt x="0" y="0"/>
                  </a:moveTo>
                  <a:lnTo>
                    <a:pt x="209550" y="0"/>
                  </a:lnTo>
                  <a:lnTo>
                    <a:pt x="209550" y="345758"/>
                  </a:lnTo>
                  <a:lnTo>
                    <a:pt x="419100" y="345758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0" name="Freeform 40"/>
            <p:cNvSpPr/>
            <p:nvPr/>
          </p:nvSpPr>
          <p:spPr>
            <a:xfrm>
              <a:off x="7268528" y="3311842"/>
              <a:ext cx="419100" cy="1037273"/>
            </a:xfrm>
            <a:custGeom>
              <a:avLst/>
              <a:gdLst/>
              <a:ahLst/>
              <a:cxnLst/>
              <a:rect l="l" t="t" r="r" b="b"/>
              <a:pathLst>
                <a:path w="419100" h="1037273">
                  <a:moveTo>
                    <a:pt x="0" y="0"/>
                  </a:moveTo>
                  <a:lnTo>
                    <a:pt x="209550" y="0"/>
                  </a:lnTo>
                  <a:lnTo>
                    <a:pt x="209550" y="1037273"/>
                  </a:lnTo>
                  <a:lnTo>
                    <a:pt x="419100" y="1037273"/>
                  </a:lnTo>
                </a:path>
              </a:pathLst>
            </a:custGeom>
            <a:noFill/>
            <a:ln w="17145">
              <a:solidFill>
                <a:srgbClr val="D9DFEA"/>
              </a:solidFill>
            </a:ln>
          </p:spPr>
        </p:sp>
        <p:sp>
          <p:nvSpPr>
            <p:cNvPr id="41" name="Rectangle 41"/>
            <p:cNvSpPr/>
            <p:nvPr/>
          </p:nvSpPr>
          <p:spPr>
            <a:xfrm>
              <a:off x="10206038" y="1941195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10206038" y="2286952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3" name="Rectangle 43"/>
            <p:cNvSpPr/>
            <p:nvPr/>
          </p:nvSpPr>
          <p:spPr>
            <a:xfrm>
              <a:off x="7687628" y="2033588"/>
              <a:ext cx="2099310" cy="481965"/>
            </a:xfrm>
            <a:prstGeom prst="roundRect">
              <a:avLst>
                <a:gd name="adj" fmla="val 1976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10206038" y="2632710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5" name="Rectangle 45"/>
            <p:cNvSpPr/>
            <p:nvPr/>
          </p:nvSpPr>
          <p:spPr>
            <a:xfrm>
              <a:off x="10206038" y="2978468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6" name="Rectangle 46"/>
            <p:cNvSpPr/>
            <p:nvPr/>
          </p:nvSpPr>
          <p:spPr>
            <a:xfrm>
              <a:off x="7687628" y="2725102"/>
              <a:ext cx="2099310" cy="481965"/>
            </a:xfrm>
            <a:prstGeom prst="roundRect">
              <a:avLst>
                <a:gd name="adj" fmla="val 1976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10206038" y="3324225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8" name="Rectangle 48"/>
            <p:cNvSpPr/>
            <p:nvPr/>
          </p:nvSpPr>
          <p:spPr>
            <a:xfrm>
              <a:off x="10206038" y="3669982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49" name="Rectangle 49"/>
            <p:cNvSpPr/>
            <p:nvPr/>
          </p:nvSpPr>
          <p:spPr>
            <a:xfrm>
              <a:off x="7687628" y="3416618"/>
              <a:ext cx="2099310" cy="481965"/>
            </a:xfrm>
            <a:prstGeom prst="roundRect">
              <a:avLst>
                <a:gd name="adj" fmla="val 1976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10206038" y="4015740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10206038" y="4361498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FFFFFF"/>
            </a:solidFill>
            <a:ln w="13335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687628" y="4108132"/>
              <a:ext cx="2099310" cy="481965"/>
            </a:xfrm>
            <a:prstGeom prst="roundRect">
              <a:avLst>
                <a:gd name="adj" fmla="val 19763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5815965" y="3150870"/>
              <a:ext cx="1452562" cy="320992"/>
            </a:xfrm>
            <a:prstGeom prst="roundRect">
              <a:avLst>
                <a:gd name="adj" fmla="val 2967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296334" y="203311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类、接口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296334" y="237886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7777924" y="2125504"/>
              <a:ext cx="767867" cy="3516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8"/>
                </a:lnSpc>
              </a:pPr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抽象</a:t>
              </a:r>
              <a:br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Abstraction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296334" y="2724626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信息隐藏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296334" y="3070384"/>
              <a:ext cx="40568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可见性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777924" y="2817019"/>
              <a:ext cx="878948" cy="3516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8"/>
                </a:lnSpc>
              </a:pPr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封装</a:t>
              </a:r>
              <a:br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Encapsulation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296334" y="3416141"/>
              <a:ext cx="14183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包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0296334" y="376189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构件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7777924" y="3508534"/>
              <a:ext cx="689458" cy="3516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8"/>
                </a:lnSpc>
              </a:pPr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模块化</a:t>
              </a:r>
              <a:br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Modularity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0296334" y="4107656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0296334" y="445341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7777924" y="4200049"/>
              <a:ext cx="624116" cy="35166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68"/>
                </a:lnSpc>
              </a:pPr>
              <a:r>
                <a:rPr lang="zh-CN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层次</a:t>
              </a:r>
              <a:br/>
              <a:r>
                <a:rPr lang="en-US" sz="98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Hierarchy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5906262" y="324373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面向对象</a:t>
              </a:r>
            </a:p>
          </p:txBody>
        </p:sp>
      </p:grpSp>
      <p:grpSp>
        <p:nvGrpSpPr>
          <p:cNvPr id="7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8" name="Rectangle 6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1" name="Group 7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0" name="Freeform 7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2" name="TextBox 72"/>
            <p:cNvSpPr txBox="1"/>
            <p:nvPr/>
          </p:nvSpPr>
          <p:spPr>
            <a:xfrm>
              <a:off x="1040892" y="6028373"/>
              <a:ext cx="80646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判断一道题该往哪条原则上靠：问“藏起来”的是封装，问“分块”的是模块化，问“是一种”的是层次。</a:t>
              </a:r>
            </a:p>
          </p:txBody>
        </p:sp>
      </p:grpSp>
      <p:grpSp>
        <p:nvGrpSpPr>
          <p:cNvPr id="7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4" name="TextBox 74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127760" cy="909257"/>
            <a:chOff x="520446" y="342900"/>
            <a:chExt cx="612776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12776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 对象技术是一组指导软件构造的原则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3750131" cy="278702"/>
            <a:chOff x="526161" y="1547336"/>
            <a:chExt cx="3750131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375013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2 页　Object technology is . . . 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41195"/>
            <a:ext cx="4869180" cy="2391728"/>
            <a:chOff x="533400" y="1941195"/>
            <a:chExt cx="4869180" cy="239172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869180" cy="2391728"/>
            </a:xfrm>
            <a:prstGeom prst="roundRect">
              <a:avLst>
                <a:gd name="adj" fmla="val 557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21250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25692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Object technology is . . . 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325412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A set of principles guiding software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construction.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068002"/>
              <a:ext cx="40066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A new theory striving to gain acceptance.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369945"/>
              <a:ext cx="38022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A dynamic new language by Grady Booch.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672840"/>
              <a:ext cx="378561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Based on the principles of abstraction and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modularity.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508182"/>
            <a:ext cx="4869180" cy="1463992"/>
            <a:chOff x="533400" y="4508182"/>
            <a:chExt cx="4869180" cy="1463992"/>
          </a:xfrm>
        </p:grpSpPr>
        <p:sp>
          <p:nvSpPr>
            <p:cNvPr id="19" name="Rectangle 19"/>
            <p:cNvSpPr/>
            <p:nvPr/>
          </p:nvSpPr>
          <p:spPr>
            <a:xfrm>
              <a:off x="533400" y="4508182"/>
              <a:ext cx="4869180" cy="1463992"/>
            </a:xfrm>
            <a:prstGeom prst="roundRect">
              <a:avLst>
                <a:gd name="adj" fmla="val 7807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140643"/>
              <a:ext cx="200026" cy="200026"/>
              <a:chOff x="738188" y="5140643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14064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521843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5021580"/>
              <a:ext cx="392277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正确答案：A。题干问“是什么”，只有 A 给出了完整</a:t>
              </a:r>
              <a:br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的定义。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707380" y="1941195"/>
            <a:ext cx="5951220" cy="2628900"/>
            <a:chOff x="5707380" y="1941195"/>
            <a:chExt cx="5951220" cy="2628900"/>
          </a:xfrm>
        </p:grpSpPr>
        <p:sp>
          <p:nvSpPr>
            <p:cNvPr id="25" name="Rectangle 25"/>
            <p:cNvSpPr/>
            <p:nvPr/>
          </p:nvSpPr>
          <p:spPr>
            <a:xfrm>
              <a:off x="5707380" y="1941195"/>
              <a:ext cx="595122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0807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2245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4087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807392" y="247126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21767" y="24712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36142" y="2471261"/>
              <a:ext cx="4263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对象技术 ＝ 一组构造软件的原则 ＋ 支持这些原则的语言与工具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707380" y="274796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707380" y="2752725"/>
              <a:ext cx="595122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07392" y="297703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21767" y="297703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36142" y="2877026"/>
              <a:ext cx="405104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面向对象从 1960 年代末的 Simula 算起已有几十年工程实践，不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是还在求认可的新理论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707380" y="335375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807392" y="358282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21767" y="358282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36142" y="3482816"/>
              <a:ext cx="4072382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Grady Booch 是 UML 三位主要作者之一，他提出的是建模方法与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表示法，不是一门语言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07380" y="395954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707380" y="3964305"/>
              <a:ext cx="595122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07392" y="4188619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21767" y="4188619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36142" y="4088606"/>
              <a:ext cx="415061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说法本身没错，但只列了两条原则，而且回答的是“基于什么”，不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是“是什么”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707380" y="1941195"/>
              <a:ext cx="5951220" cy="26289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16992" y="1941195"/>
              <a:ext cx="9525" cy="26289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31368" y="1941195"/>
              <a:ext cx="9525" cy="26289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2-card-2"/>
          <p:cNvGrpSpPr/>
          <p:nvPr/>
        </p:nvGrpSpPr>
        <p:grpSpPr>
          <a:xfrm>
            <a:off x="5707380" y="4745355"/>
            <a:ext cx="5951220" cy="1226820"/>
            <a:chOff x="5707380" y="4745355"/>
            <a:chExt cx="5951220" cy="1226820"/>
          </a:xfrm>
        </p:grpSpPr>
        <p:sp>
          <p:nvSpPr>
            <p:cNvPr id="50" name="Rectangle 50"/>
            <p:cNvSpPr/>
            <p:nvPr/>
          </p:nvSpPr>
          <p:spPr>
            <a:xfrm>
              <a:off x="5707380" y="4745355"/>
              <a:ext cx="5951220" cy="122682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716905" y="4878705"/>
              <a:ext cx="47625" cy="96012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937885" y="493776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29325" y="497205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辨析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21577" y="4977765"/>
              <a:ext cx="133600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 D 是陷阱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931027" y="5312092"/>
              <a:ext cx="532009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 漏掉了封装和层次两条原则，属于“半对”的选项。选择题里遇到一个</a:t>
              </a:r>
              <a:br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完整定义和一个片面描述，选完整的那个。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7234809" cy="909257"/>
            <a:chOff x="520446" y="342900"/>
            <a:chExt cx="723480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723480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模型是现实的简化，建模是为了先想清楚再动手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4" name="c1-card-1"/>
          <p:cNvGrpSpPr/>
          <p:nvPr/>
        </p:nvGrpSpPr>
        <p:grpSpPr>
          <a:xfrm>
            <a:off x="533400" y="1524000"/>
            <a:ext cx="5193982" cy="1866900"/>
            <a:chOff x="533400" y="1524000"/>
            <a:chExt cx="5193982" cy="186690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8669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600200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4019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模型（Model）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模型是对现实的简化，它从某一个视角描述系统，略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去与该视角无关的细节。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4573" y="2747486"/>
              <a:ext cx="4564634" cy="483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45"/>
                </a:lnSpc>
              </a:pPr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建模的根本理由：我们没办法一次看懂整个复杂系统，只能一次</a:t>
              </a:r>
              <a:br/>
              <a:r>
                <a:rPr lang="zh-CN" sz="12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看懂它的一个侧面。</a:t>
              </a:r>
            </a:p>
          </p:txBody>
        </p:sp>
      </p:grpSp>
      <p:grpSp>
        <p:nvGrpSpPr>
          <p:cNvPr id="28" name="c1-bullets-2"/>
          <p:cNvGrpSpPr/>
          <p:nvPr/>
        </p:nvGrpSpPr>
        <p:grpSpPr>
          <a:xfrm>
            <a:off x="525780" y="3606165"/>
            <a:ext cx="3544634" cy="1682115"/>
            <a:chOff x="525780" y="3606165"/>
            <a:chExt cx="3544634" cy="1682115"/>
          </a:xfrm>
        </p:grpSpPr>
        <p:sp>
          <p:nvSpPr>
            <p:cNvPr id="15" name="TextBox 15"/>
            <p:cNvSpPr txBox="1"/>
            <p:nvPr/>
          </p:nvSpPr>
          <p:spPr>
            <a:xfrm>
              <a:off x="525780" y="360616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建模的四个目的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94716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9894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960495"/>
              <a:ext cx="22768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可视化系统（visualize）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2919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43342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4305300"/>
              <a:ext cx="31653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规定系统的结构与行为（specify）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63677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46790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4650105"/>
              <a:ext cx="323602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给出构造系统的模板（construct）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3400" y="498157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5249" y="502386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4390" y="4994910"/>
              <a:ext cx="276148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记录所做的决策（document）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6032182" y="1524000"/>
            <a:ext cx="5626418" cy="2697480"/>
            <a:chOff x="6032182" y="1524000"/>
            <a:chExt cx="5626418" cy="2697480"/>
          </a:xfrm>
        </p:grpSpPr>
        <p:sp>
          <p:nvSpPr>
            <p:cNvPr id="29" name="Rectangle 29"/>
            <p:cNvSpPr/>
            <p:nvPr/>
          </p:nvSpPr>
          <p:spPr>
            <a:xfrm>
              <a:off x="6032182" y="1524000"/>
              <a:ext cx="5626418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607772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问题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09077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不建模的做法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238791" y="1659731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建模之后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140006" y="222170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需求是否讲清楚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649718" y="2108359"/>
              <a:ext cx="163855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口头约定，各人理解不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629966" y="2108359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用例图和用例描述写死边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6032182" y="264318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6032182" y="2647950"/>
              <a:ext cx="5626418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140006" y="278368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结构是否合理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49718" y="278368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边写边改代码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629966" y="2783681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类图先试几种划分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032182" y="3092768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140006" y="323230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并发是否安全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649718" y="3232309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上线后碰运气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629966" y="323230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进程视图上先查共享资源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032182" y="354139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6032182" y="3546158"/>
              <a:ext cx="5626418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140006" y="3680936"/>
              <a:ext cx="115087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决策为什么这么</a:t>
              </a:r>
              <a:br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49718" y="379428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只存在当事人脑子里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629966" y="3794284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模型加说明留档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6032182" y="1524000"/>
              <a:ext cx="5626418" cy="2697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7537132" y="1524000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9517380" y="1524000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llout-2"/>
          <p:cNvGrpSpPr/>
          <p:nvPr/>
        </p:nvGrpSpPr>
        <p:grpSpPr>
          <a:xfrm>
            <a:off x="6032182" y="4411980"/>
            <a:ext cx="5626418" cy="817245"/>
            <a:chOff x="6032182" y="4411980"/>
            <a:chExt cx="5626418" cy="817245"/>
          </a:xfrm>
        </p:grpSpPr>
        <p:sp>
          <p:nvSpPr>
            <p:cNvPr id="54" name="Rectangle 54"/>
            <p:cNvSpPr/>
            <p:nvPr/>
          </p:nvSpPr>
          <p:spPr>
            <a:xfrm>
              <a:off x="6032182" y="4411980"/>
              <a:ext cx="5626418" cy="817245"/>
            </a:xfrm>
            <a:prstGeom prst="roundRect">
              <a:avLst>
                <a:gd name="adj" fmla="val 1398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6236970" y="4720590"/>
              <a:ext cx="200026" cy="200025"/>
              <a:chOff x="6236970" y="4720590"/>
              <a:chExt cx="200026" cy="200025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6236970" y="472059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6276709" y="476504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6311424" y="487616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6538912" y="457771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模型不必面面俱到。一个模型只解决一类问题，解决完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就换下一个模型。</a:t>
              </a:r>
            </a:p>
          </p:txBody>
        </p:sp>
      </p:grpSp>
      <p:grpSp>
        <p:nvGrpSpPr>
          <p:cNvPr id="67" name="takeaway"/>
          <p:cNvGrpSpPr/>
          <p:nvPr/>
        </p:nvGrpSpPr>
        <p:grpSpPr>
          <a:xfrm>
            <a:off x="533400" y="5829300"/>
            <a:ext cx="11125200" cy="533400"/>
            <a:chOff x="533400" y="5829300"/>
            <a:chExt cx="11125200" cy="533400"/>
          </a:xfrm>
        </p:grpSpPr>
        <p:sp>
          <p:nvSpPr>
            <p:cNvPr id="61" name="Rectangle 61"/>
            <p:cNvSpPr/>
            <p:nvPr/>
          </p:nvSpPr>
          <p:spPr>
            <a:xfrm>
              <a:off x="533400" y="5829300"/>
              <a:ext cx="11125200" cy="533400"/>
            </a:xfrm>
            <a:prstGeom prst="roundRect">
              <a:avLst>
                <a:gd name="adj" fmla="val 21429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65" name="Group 65"/>
            <p:cNvGrpSpPr/>
            <p:nvPr/>
          </p:nvGrpSpPr>
          <p:grpSpPr>
            <a:xfrm>
              <a:off x="738188" y="5995988"/>
              <a:ext cx="200026" cy="200026"/>
              <a:chOff x="738188" y="5995988"/>
              <a:chExt cx="200026" cy="200026"/>
            </a:xfrm>
          </p:grpSpPr>
          <p:sp>
            <p:nvSpPr>
              <p:cNvPr id="62" name="Freeform 62"/>
              <p:cNvSpPr/>
              <p:nvPr/>
            </p:nvSpPr>
            <p:spPr>
              <a:xfrm>
                <a:off x="738188" y="59959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8200" y="606266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64" name="Freeform 64"/>
              <p:cNvSpPr/>
              <p:nvPr/>
            </p:nvSpPr>
            <p:spPr>
              <a:xfrm>
                <a:off x="827088" y="6096000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66" name="TextBox 66"/>
            <p:cNvSpPr txBox="1"/>
            <p:nvPr/>
          </p:nvSpPr>
          <p:spPr>
            <a:xfrm>
              <a:off x="1040130" y="5991225"/>
              <a:ext cx="7759256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记住四个动词 visualize、specify、construct、document，第 3、4 题都从这里出。</a:t>
              </a:r>
            </a:p>
          </p:txBody>
        </p:sp>
      </p:grpSp>
      <p:grpSp>
        <p:nvGrpSpPr>
          <p:cNvPr id="7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8" name="TextBox 68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381512" cy="909257"/>
            <a:chOff x="520446" y="342900"/>
            <a:chExt cx="338151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38151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Q2 模型是现实的简化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2531213" cy="278702"/>
            <a:chOff x="526161" y="1547336"/>
            <a:chExt cx="2531213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253121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3 页　A model . . . 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41195"/>
            <a:ext cx="4869180" cy="2134552"/>
            <a:chOff x="533400" y="1941195"/>
            <a:chExt cx="4869180" cy="2134552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869180" cy="2134552"/>
            </a:xfrm>
            <a:prstGeom prst="roundRect">
              <a:avLst>
                <a:gd name="adj" fmla="val 6247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86785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135245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model . . . 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333984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Is not necessary when team members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understand their job.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068002"/>
              <a:ext cx="3534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Has to be structural AND behavioral.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369945"/>
              <a:ext cx="286982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Is a simplification of reality.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672840"/>
              <a:ext cx="4087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Is an excuse for building an elaborate plan.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251008"/>
            <a:ext cx="4869180" cy="488632"/>
            <a:chOff x="533400" y="4251008"/>
            <a:chExt cx="4869180" cy="488632"/>
          </a:xfrm>
        </p:grpSpPr>
        <p:sp>
          <p:nvSpPr>
            <p:cNvPr id="19" name="Rectangle 19"/>
            <p:cNvSpPr/>
            <p:nvPr/>
          </p:nvSpPr>
          <p:spPr>
            <a:xfrm>
              <a:off x="533400" y="4251008"/>
              <a:ext cx="4869180" cy="488632"/>
            </a:xfrm>
            <a:prstGeom prst="roundRect">
              <a:avLst>
                <a:gd name="adj" fmla="val 2339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395788"/>
              <a:ext cx="200026" cy="200026"/>
              <a:chOff x="738188" y="4395788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39578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47357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4401502"/>
              <a:ext cx="1209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正确答案：C。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707380" y="1941195"/>
            <a:ext cx="5951220" cy="2428875"/>
            <a:chOff x="5707380" y="1941195"/>
            <a:chExt cx="5951220" cy="2428875"/>
          </a:xfrm>
        </p:grpSpPr>
        <p:sp>
          <p:nvSpPr>
            <p:cNvPr id="25" name="Rectangle 25"/>
            <p:cNvSpPr/>
            <p:nvPr/>
          </p:nvSpPr>
          <p:spPr>
            <a:xfrm>
              <a:off x="5707380" y="1941195"/>
              <a:ext cx="595122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0807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2245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4087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807392" y="257127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21767" y="257127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36142" y="2471261"/>
              <a:ext cx="41363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人人都懂自己的活，不等于人人对系统边界和接口的理解一致；模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型正是用来对齐理解的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707380" y="294798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707380" y="2952750"/>
              <a:ext cx="595122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07392" y="317706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21767" y="317706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36142" y="3077051"/>
              <a:ext cx="41363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一个模型可以只描述结构（类图）或只描述行为（状态图），并不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要求两者都有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707380" y="355377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807392" y="368284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21767" y="368284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36142" y="3682841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模型按某个视角简化现实，保留关心的部分，略去其余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07380" y="395954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707380" y="3964305"/>
              <a:ext cx="595122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07392" y="408860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21767" y="408860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36142" y="4088606"/>
              <a:ext cx="4383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模型是解决问题的工具，把它当成写大计划的借口是对建模的误用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707380" y="1941195"/>
              <a:ext cx="5951220" cy="24288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16992" y="1941195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31368" y="1941195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5" name="c2-card-2"/>
          <p:cNvGrpSpPr/>
          <p:nvPr/>
        </p:nvGrpSpPr>
        <p:grpSpPr>
          <a:xfrm>
            <a:off x="5707380" y="4545330"/>
            <a:ext cx="5951220" cy="1473518"/>
            <a:chOff x="5707380" y="4545330"/>
            <a:chExt cx="5951220" cy="1473518"/>
          </a:xfrm>
        </p:grpSpPr>
        <p:sp>
          <p:nvSpPr>
            <p:cNvPr id="50" name="Rectangle 50"/>
            <p:cNvSpPr/>
            <p:nvPr/>
          </p:nvSpPr>
          <p:spPr>
            <a:xfrm>
              <a:off x="5707380" y="4545330"/>
              <a:ext cx="5951220" cy="1473518"/>
            </a:xfrm>
            <a:prstGeom prst="roundRect">
              <a:avLst>
                <a:gd name="adj" fmla="val 905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899785" y="473773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991225" y="477202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记住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5892927" y="5094923"/>
              <a:ext cx="532866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简化是模型的本质。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模型比现实少的那部分，正是你这一次不打算关心</a:t>
              </a:r>
              <a:br/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的部分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5894070" y="5650706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地铁线路图不画真实距离和街道，照样能指路，因为它只回答“怎么换乘”。</a:t>
              </a:r>
            </a:p>
          </p:txBody>
        </p:sp>
      </p:grpSp>
      <p:grpSp>
        <p:nvGrpSpPr>
          <p:cNvPr id="58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068074" cy="909257"/>
            <a:chOff x="520446" y="342900"/>
            <a:chExt cx="40680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0680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Q3 建模的四个理由都成立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3119209" cy="308039"/>
            <a:chOff x="525399" y="1550194"/>
            <a:chExt cx="311920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311920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4 页　Why do we model?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67865"/>
            <a:ext cx="4869180" cy="2341245"/>
            <a:chOff x="533400" y="1967865"/>
            <a:chExt cx="4869180" cy="234124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4869180" cy="2341245"/>
            </a:xfrm>
            <a:prstGeom prst="roundRect">
              <a:avLst>
                <a:gd name="adj" fmla="val 569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20745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2078" y="2212658"/>
              <a:ext cx="180466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Why do we model?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573655"/>
              <a:ext cx="305847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Helps to visualize a system.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2908935"/>
              <a:ext cx="3872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Gives us a template for constructing a</a:t>
              </a:r>
              <a:br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system.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3529965"/>
              <a:ext cx="28162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Documents our decisions.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3865245"/>
              <a:ext cx="19490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All of the above.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499610"/>
            <a:ext cx="4869180" cy="1691640"/>
            <a:chOff x="533400" y="4499610"/>
            <a:chExt cx="4869180" cy="1691640"/>
          </a:xfrm>
        </p:grpSpPr>
        <p:sp>
          <p:nvSpPr>
            <p:cNvPr id="19" name="Rectangle 19"/>
            <p:cNvSpPr/>
            <p:nvPr/>
          </p:nvSpPr>
          <p:spPr>
            <a:xfrm>
              <a:off x="533400" y="4499610"/>
              <a:ext cx="4869180" cy="1691640"/>
            </a:xfrm>
            <a:prstGeom prst="roundRect">
              <a:avLst>
                <a:gd name="adj" fmla="val 6757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245418"/>
              <a:ext cx="200026" cy="200026"/>
              <a:chOff x="738188" y="5245418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24541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532320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5102542"/>
              <a:ext cx="3825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正确答案：D。A、B、C 分别对应 visualize、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construct、document。</a:t>
              </a:r>
            </a:p>
          </p:txBody>
        </p:sp>
      </p:grpSp>
      <p:grpSp>
        <p:nvGrpSpPr>
          <p:cNvPr id="52" name="c2-table-1"/>
          <p:cNvGrpSpPr/>
          <p:nvPr/>
        </p:nvGrpSpPr>
        <p:grpSpPr>
          <a:xfrm>
            <a:off x="5707380" y="1967865"/>
            <a:ext cx="5951220" cy="2697480"/>
            <a:chOff x="5707380" y="1967865"/>
            <a:chExt cx="5951220" cy="2697480"/>
          </a:xfrm>
        </p:grpSpPr>
        <p:sp>
          <p:nvSpPr>
            <p:cNvPr id="25" name="Rectangle 25"/>
            <p:cNvSpPr/>
            <p:nvPr/>
          </p:nvSpPr>
          <p:spPr>
            <a:xfrm>
              <a:off x="5707380" y="1967865"/>
              <a:ext cx="595122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111519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目的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280978" y="2102644"/>
              <a:ext cx="13428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对应的 UML 产物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7841" y="2102644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解决的问题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716905" y="2426018"/>
              <a:ext cx="114681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815203" y="2551271"/>
              <a:ext cx="7776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Visualize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981063" y="2551271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用例图、类图、序列图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139428" y="2551271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把看不见的结构和交互画出来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5707380" y="286035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707380" y="2865120"/>
              <a:ext cx="595122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5815203" y="3114199"/>
              <a:ext cx="66956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Specify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981063" y="3000851"/>
              <a:ext cx="180111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用例描述、接口与操作签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名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139428" y="3114199"/>
              <a:ext cx="19256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把"做到什么程度"写精确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707380" y="3535680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716905" y="3549968"/>
              <a:ext cx="1146810" cy="429578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815203" y="3676174"/>
              <a:ext cx="91418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Construct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981063" y="3676174"/>
              <a:ext cx="173609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类图到代码的正向工程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139428" y="3676174"/>
              <a:ext cx="139146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让实现有模板可依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707380" y="398430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5707380" y="3989070"/>
              <a:ext cx="5951220" cy="675322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Rectangle 45"/>
            <p:cNvSpPr/>
            <p:nvPr/>
          </p:nvSpPr>
          <p:spPr>
            <a:xfrm>
              <a:off x="5716905" y="3998595"/>
              <a:ext cx="1146810" cy="656272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5815203" y="4238149"/>
              <a:ext cx="8511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Document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981063" y="4238149"/>
              <a:ext cx="1908404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构架文档、设计决策记录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139428" y="4124801"/>
              <a:ext cx="2288794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让接手的人知道当初为什么这么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定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707380" y="1967865"/>
              <a:ext cx="5951220" cy="269748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0" name="Rectangle 50"/>
            <p:cNvSpPr/>
            <p:nvPr/>
          </p:nvSpPr>
          <p:spPr>
            <a:xfrm>
              <a:off x="6868478" y="196786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9026842" y="1967865"/>
              <a:ext cx="9525" cy="269748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9" name="c2-card-2"/>
          <p:cNvGrpSpPr/>
          <p:nvPr/>
        </p:nvGrpSpPr>
        <p:grpSpPr>
          <a:xfrm>
            <a:off x="5707380" y="4855845"/>
            <a:ext cx="5951220" cy="1335405"/>
            <a:chOff x="5707380" y="4855845"/>
            <a:chExt cx="5951220" cy="1335405"/>
          </a:xfrm>
        </p:grpSpPr>
        <p:sp>
          <p:nvSpPr>
            <p:cNvPr id="53" name="Rectangle 53"/>
            <p:cNvSpPr/>
            <p:nvPr/>
          </p:nvSpPr>
          <p:spPr>
            <a:xfrm>
              <a:off x="5707380" y="4855845"/>
              <a:ext cx="5951220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5716905" y="4989195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5955030" y="506539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045238" y="510111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补充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6556058" y="5100638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题目少问了一项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5947410" y="5461635"/>
              <a:ext cx="51682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原题的三个选项覆盖了 visualize、construct、document，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漏掉了 specify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（规定结构与行为）。四个目的要一起背。</a:t>
              </a:r>
            </a:p>
          </p:txBody>
        </p:sp>
      </p:grpSp>
      <p:grpSp>
        <p:nvGrpSpPr>
          <p:cNvPr id="6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0" name="TextBox 60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068074" cy="909257"/>
            <a:chOff x="520446" y="342900"/>
            <a:chExt cx="40680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0680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Q4 最好的模型与现实相连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5243470" cy="293370"/>
            <a:chOff x="525780" y="1548765"/>
            <a:chExt cx="5243470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243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5 页　The best models are connected to . . . 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54530"/>
            <a:ext cx="4977765" cy="2222182"/>
            <a:chOff x="533400" y="1954530"/>
            <a:chExt cx="4977765" cy="222218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977765" cy="2222182"/>
            </a:xfrm>
            <a:prstGeom prst="roundRect">
              <a:avLst>
                <a:gd name="adj" fmla="val 60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9554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397692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best models are connected to . . . 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198866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Java-script code.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381" y="2849404"/>
              <a:ext cx="104196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Reality.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381" y="3166586"/>
              <a:ext cx="74160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C++.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381" y="3484721"/>
              <a:ext cx="373849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Issues that tie it to an object-oriented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developer.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356735"/>
            <a:ext cx="4977765" cy="503872"/>
            <a:chOff x="533400" y="4356735"/>
            <a:chExt cx="4977765" cy="503872"/>
          </a:xfrm>
        </p:grpSpPr>
        <p:sp>
          <p:nvSpPr>
            <p:cNvPr id="19" name="Rectangle 19"/>
            <p:cNvSpPr/>
            <p:nvPr/>
          </p:nvSpPr>
          <p:spPr>
            <a:xfrm>
              <a:off x="533400" y="4356735"/>
              <a:ext cx="4977765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509135"/>
              <a:ext cx="200026" cy="200026"/>
              <a:chOff x="738188" y="4509135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5091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58692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511" y="4509611"/>
              <a:ext cx="12725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正确答案：B。</a:t>
              </a:r>
            </a:p>
          </p:txBody>
        </p:sp>
      </p:grpSp>
      <p:grpSp>
        <p:nvGrpSpPr>
          <p:cNvPr id="30" name="c1-card-3"/>
          <p:cNvGrpSpPr/>
          <p:nvPr/>
        </p:nvGrpSpPr>
        <p:grpSpPr>
          <a:xfrm>
            <a:off x="533400" y="5040630"/>
            <a:ext cx="4977765" cy="1250632"/>
            <a:chOff x="533400" y="5040630"/>
            <a:chExt cx="4977765" cy="1250632"/>
          </a:xfrm>
        </p:grpSpPr>
        <p:sp>
          <p:nvSpPr>
            <p:cNvPr id="25" name="Rectangle 25"/>
            <p:cNvSpPr/>
            <p:nvPr/>
          </p:nvSpPr>
          <p:spPr>
            <a:xfrm>
              <a:off x="533400" y="5040630"/>
              <a:ext cx="4977765" cy="1250632"/>
            </a:xfrm>
            <a:prstGeom prst="roundRect">
              <a:avLst>
                <a:gd name="adj" fmla="val 106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5173980"/>
              <a:ext cx="47625" cy="983932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9620" y="52387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61060" y="52730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762381" y="5599271"/>
              <a:ext cx="405409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更正：原课件把选项 C 排版成 </a:t>
              </a:r>
              <a:r>
                <a:rPr lang="en-US" sz="14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 ++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（中间多一个空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格），正确写法是 </a:t>
              </a:r>
              <a:r>
                <a:rPr lang="en-US" sz="142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C++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5" name="c2-table-1"/>
          <p:cNvGrpSpPr/>
          <p:nvPr/>
        </p:nvGrpSpPr>
        <p:grpSpPr>
          <a:xfrm>
            <a:off x="5815965" y="1954530"/>
            <a:ext cx="5842635" cy="2548890"/>
            <a:chOff x="5815965" y="1954530"/>
            <a:chExt cx="5842635" cy="2548890"/>
          </a:xfrm>
        </p:grpSpPr>
        <p:sp>
          <p:nvSpPr>
            <p:cNvPr id="31" name="Rectangle 31"/>
            <p:cNvSpPr/>
            <p:nvPr/>
          </p:nvSpPr>
          <p:spPr>
            <a:xfrm>
              <a:off x="5815965" y="1954530"/>
              <a:ext cx="5842635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998845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99885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70682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918454" y="250698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619494" y="250698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320534" y="2506980"/>
              <a:ext cx="308152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绑死某一种脚本语言，换技术栈模型就作废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815965" y="27984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815965" y="2803208"/>
              <a:ext cx="584263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18454" y="303847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19494" y="303847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320534" y="2931795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模型要如实反映问题域，与现实脱节的模型会把开发引向错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误方向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815965" y="343662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918454" y="356997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619494" y="356997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320534" y="3569970"/>
              <a:ext cx="41958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 A，实现语言属于实现视图的细节，不是模型好坏的标准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815965" y="386048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815965" y="3865245"/>
              <a:ext cx="584263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918454" y="410051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619494" y="410051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320534" y="3993832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模型是给所有干系人看的，只有开发人员看得懂的模型失去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了沟通价值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815965" y="1954530"/>
              <a:ext cx="5842635" cy="25488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512242" y="1954530"/>
              <a:ext cx="9525" cy="25488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213282" y="1954530"/>
              <a:ext cx="9525" cy="25488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card-2"/>
          <p:cNvGrpSpPr/>
          <p:nvPr/>
        </p:nvGrpSpPr>
        <p:grpSpPr>
          <a:xfrm>
            <a:off x="5815965" y="4683442"/>
            <a:ext cx="5842635" cy="1607820"/>
            <a:chOff x="5815965" y="4683442"/>
            <a:chExt cx="5842635" cy="1607820"/>
          </a:xfrm>
        </p:grpSpPr>
        <p:sp>
          <p:nvSpPr>
            <p:cNvPr id="56" name="Rectangle 56"/>
            <p:cNvSpPr/>
            <p:nvPr/>
          </p:nvSpPr>
          <p:spPr>
            <a:xfrm>
              <a:off x="5815965" y="4683442"/>
              <a:ext cx="5842635" cy="1607820"/>
            </a:xfrm>
            <a:prstGeom prst="roundRect">
              <a:avLst>
                <a:gd name="adj" fmla="val 829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014085" y="4881562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089523" y="4915852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建模原则之三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006846" y="5242084"/>
              <a:ext cx="412159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 xml:space="preserve">The best models are </a:t>
              </a:r>
              <a:r>
                <a:rPr lang="en-US" sz="142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connected to reality</a:t>
              </a:r>
              <a:r>
                <a:rPr lang="zh-CN" sz="142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007989" y="5556885"/>
              <a:ext cx="5209032" cy="4556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40"/>
                </a:lnSpc>
              </a:pPr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反例：分析模型里建了一个“数据管理器”类，问业务人员，业务里根本没有这</a:t>
              </a:r>
              <a:br/>
              <a:r>
                <a:rPr lang="zh-CN" sz="12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个东西，这就是和现实断开了。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81087" y="6581299"/>
              <a:ext cx="8246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754636" cy="909257"/>
            <a:chOff x="520446" y="342900"/>
            <a:chExt cx="475463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7546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Q5 越简单的东西越不需要模型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925299" cy="264033"/>
            <a:chOff x="526542" y="1545907"/>
            <a:chExt cx="792529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9252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6 页　Which project would be least likely to require a model?（原题四个选项是图片）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28812"/>
            <a:ext cx="5410200" cy="1845945"/>
            <a:chOff x="533400" y="1928812"/>
            <a:chExt cx="5410200" cy="1845945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410200" cy="1845945"/>
            </a:xfrm>
            <a:prstGeom prst="roundRect">
              <a:avLst>
                <a:gd name="adj" fmla="val 722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57924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四张图片分别是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24633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多层立体高速公路互通枢纽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1332" y="2776538"/>
              <a:ext cx="119123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一把扶手椅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1332" y="3076575"/>
              <a:ext cx="137297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一列城际列车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332" y="3376612"/>
              <a:ext cx="209992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一张光盘与集成电路板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944302"/>
            <a:ext cx="5410200" cy="481012"/>
            <a:chOff x="533400" y="3944302"/>
            <a:chExt cx="5410200" cy="481012"/>
          </a:xfrm>
        </p:grpSpPr>
        <p:sp>
          <p:nvSpPr>
            <p:cNvPr id="19" name="Rectangle 19"/>
            <p:cNvSpPr/>
            <p:nvPr/>
          </p:nvSpPr>
          <p:spPr>
            <a:xfrm>
              <a:off x="533400" y="3944302"/>
              <a:ext cx="5410200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085273"/>
              <a:ext cx="200026" cy="200026"/>
              <a:chOff x="738188" y="4085273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0852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16306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4090988"/>
              <a:ext cx="41175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正确答案：B。扶手椅结构简单，做错了代价也小。</a:t>
              </a:r>
            </a:p>
          </p:txBody>
        </p:sp>
      </p:grpSp>
      <p:grpSp>
        <p:nvGrpSpPr>
          <p:cNvPr id="29" name="c1-card-3"/>
          <p:cNvGrpSpPr/>
          <p:nvPr/>
        </p:nvGrpSpPr>
        <p:grpSpPr>
          <a:xfrm>
            <a:off x="533400" y="4594860"/>
            <a:ext cx="5410200" cy="1043940"/>
            <a:chOff x="533400" y="4594860"/>
            <a:chExt cx="5410200" cy="1043940"/>
          </a:xfrm>
        </p:grpSpPr>
        <p:sp>
          <p:nvSpPr>
            <p:cNvPr id="25" name="Rectangle 25"/>
            <p:cNvSpPr/>
            <p:nvPr/>
          </p:nvSpPr>
          <p:spPr>
            <a:xfrm>
              <a:off x="533400" y="4594860"/>
              <a:ext cx="5410200" cy="1043940"/>
            </a:xfrm>
            <a:prstGeom prst="roundRect">
              <a:avLst>
                <a:gd name="adj" fmla="val 12774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720090" y="4781550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804659" y="4814411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判断标准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13232" y="5126355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看两个量：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复杂度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和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返工代价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，都低才可以不建模。</a:t>
              </a:r>
            </a:p>
          </p:txBody>
        </p:sp>
      </p:grpSp>
      <p:grpSp>
        <p:nvGrpSpPr>
          <p:cNvPr id="32" name="c2-image-1"/>
          <p:cNvGrpSpPr/>
          <p:nvPr/>
        </p:nvGrpSpPr>
        <p:grpSpPr>
          <a:xfrm>
            <a:off x="6248400" y="1928812"/>
            <a:ext cx="5410200" cy="1959007"/>
            <a:chOff x="6248400" y="1928812"/>
            <a:chExt cx="5410200" cy="1959007"/>
          </a:xfrm>
        </p:grpSpPr>
        <p:pic>
          <p:nvPicPr>
            <p:cNvPr id="30" name="Image 30"/>
            <p:cNvPicPr>
              <a:picLocks noChangeAspect="1"/>
            </p:cNvPicPr>
            <p:nvPr/>
          </p:nvPicPr>
          <p:blipFill>
            <a:blip r:embed="rId2"/>
            <a:srcRect l="0" t="29342" r="0" b="29343"/>
            <a:stretch>
              <a:fillRect/>
            </a:stretch>
          </p:blipFill>
          <p:spPr>
            <a:xfrm>
              <a:off x="6248400" y="1928812"/>
              <a:ext cx="5410200" cy="1676400"/>
            </a:xfrm>
            <a:prstGeom prst="roundRect">
              <a:avLst>
                <a:gd name="adj" fmla="val 7954"/>
              </a:avLst>
            </a:prstGeom>
          </p:spPr>
        </p:pic>
        <p:sp>
          <p:nvSpPr>
            <p:cNvPr id="31" name="TextBox 31"/>
            <p:cNvSpPr txBox="1"/>
            <p:nvPr/>
          </p:nvSpPr>
          <p:spPr>
            <a:xfrm>
              <a:off x="7167524" y="3697129"/>
              <a:ext cx="357195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左：一张草图就能做的扶手椅；右：必须先出图纸的立交枢纽</a:t>
              </a:r>
            </a:p>
          </p:txBody>
        </p:sp>
      </p:grpSp>
      <p:grpSp>
        <p:nvGrpSpPr>
          <p:cNvPr id="59" name="c2-table-2"/>
          <p:cNvGrpSpPr/>
          <p:nvPr/>
        </p:nvGrpSpPr>
        <p:grpSpPr>
          <a:xfrm>
            <a:off x="6248400" y="4038600"/>
            <a:ext cx="5410200" cy="1600200"/>
            <a:chOff x="6248400" y="4038600"/>
            <a:chExt cx="5410200" cy="1600200"/>
          </a:xfrm>
        </p:grpSpPr>
        <p:sp>
          <p:nvSpPr>
            <p:cNvPr id="33" name="Rectangle 33"/>
            <p:cNvSpPr/>
            <p:nvPr/>
          </p:nvSpPr>
          <p:spPr>
            <a:xfrm>
              <a:off x="6248400" y="4038600"/>
              <a:ext cx="5410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832956" y="41600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081543" y="416004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复杂度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44406" y="416004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返工代价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550144" y="4160044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要不要模型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345555" y="4560094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扶手椅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826692" y="45600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994458" y="45600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低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10216515" y="4448175"/>
              <a:ext cx="1432560" cy="38100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10304145" y="45600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草图即可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48400" y="483393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Rectangle 44"/>
            <p:cNvSpPr/>
            <p:nvPr/>
          </p:nvSpPr>
          <p:spPr>
            <a:xfrm>
              <a:off x="6248400" y="4838700"/>
              <a:ext cx="5410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345555" y="4960144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列车 / 光盘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826692" y="49601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中高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994458" y="49601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高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0304145" y="49601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要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6248400" y="52339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345555" y="5360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立交枢纽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26692" y="5360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很高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994458" y="5360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极高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10216515" y="5248275"/>
              <a:ext cx="1432560" cy="381000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10304145" y="536019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必须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248400" y="4038600"/>
              <a:ext cx="5410200" cy="160020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7724775" y="40386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8892540" y="40386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10202228" y="4038600"/>
              <a:ext cx="9525" cy="160020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60" name="Rectangle 60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726129" y="6018966"/>
              <a:ext cx="224134" cy="192560"/>
              <a:chOff x="726129" y="6018966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838200" y="6089333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26129" y="6018966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838200" y="6167121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1040892" y="6028373"/>
              <a:ext cx="639268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别把结论推成“小项目一律不建模”。人少但业务复杂的项目照样需要用例模型。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428875" cy="909257"/>
            <a:chOff x="520446" y="342900"/>
            <a:chExt cx="242887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42887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建模的四条原则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7386769" cy="264033"/>
            <a:chOff x="526542" y="1545907"/>
            <a:chExt cx="7386769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73867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出自 Booch、Rumbaugh、Jacobson《UML 用户指南》，第 6 题四个选项就是它们的改写。</a:t>
              </a:r>
            </a:p>
          </p:txBody>
        </p:sp>
      </p:grpSp>
      <p:grpSp>
        <p:nvGrpSpPr>
          <p:cNvPr id="32" name="c1-steps-1"/>
          <p:cNvGrpSpPr/>
          <p:nvPr/>
        </p:nvGrpSpPr>
        <p:grpSpPr>
          <a:xfrm>
            <a:off x="533400" y="1928812"/>
            <a:ext cx="11125200" cy="1565910"/>
            <a:chOff x="533400" y="1928812"/>
            <a:chExt cx="11125200" cy="156591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2566988" cy="1565910"/>
            </a:xfrm>
            <a:prstGeom prst="roundRect">
              <a:avLst>
                <a:gd name="adj" fmla="val 729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0" name="Ellipse 10"/>
            <p:cNvSpPr/>
            <p:nvPr/>
          </p:nvSpPr>
          <p:spPr>
            <a:xfrm>
              <a:off x="666750" y="206216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56883" y="213264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659892" y="246507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选什么模型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61035" y="2752249"/>
              <a:ext cx="2145030" cy="63531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选择建什么模型，深刻影响你从哪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个角度攻克问题、解出什么样的方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案</a:t>
              </a:r>
            </a:p>
          </p:txBody>
        </p:sp>
        <p:sp>
          <p:nvSpPr>
            <p:cNvPr id="14" name="Freeform 14"/>
            <p:cNvSpPr/>
            <p:nvPr/>
          </p:nvSpPr>
          <p:spPr>
            <a:xfrm>
              <a:off x="3176588" y="262604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3386138" y="1928812"/>
              <a:ext cx="2566988" cy="1565910"/>
            </a:xfrm>
            <a:prstGeom prst="roundRect">
              <a:avLst>
                <a:gd name="adj" fmla="val 729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6" name="Ellipse 16"/>
            <p:cNvSpPr/>
            <p:nvPr/>
          </p:nvSpPr>
          <p:spPr>
            <a:xfrm>
              <a:off x="3519488" y="206216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3609621" y="213264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512629" y="24650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精度可调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13772" y="2752249"/>
              <a:ext cx="21450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每个模型都可以在不同精度层次上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表达，按读者和阶段选择详略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6029325" y="262604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238875" y="1928812"/>
              <a:ext cx="2566988" cy="1565910"/>
            </a:xfrm>
            <a:prstGeom prst="roundRect">
              <a:avLst>
                <a:gd name="adj" fmla="val 729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2" name="Ellipse 22"/>
            <p:cNvSpPr/>
            <p:nvPr/>
          </p:nvSpPr>
          <p:spPr>
            <a:xfrm>
              <a:off x="6372225" y="206216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62358" y="213264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65367" y="24650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连着现实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366510" y="2752249"/>
              <a:ext cx="21450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最好的模型与现实相连，模型和真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实系统之间的偏差要能说清</a:t>
              </a:r>
            </a:p>
          </p:txBody>
        </p:sp>
        <p:sp>
          <p:nvSpPr>
            <p:cNvPr id="26" name="Freeform 26"/>
            <p:cNvSpPr/>
            <p:nvPr/>
          </p:nvSpPr>
          <p:spPr>
            <a:xfrm>
              <a:off x="8882062" y="2626042"/>
              <a:ext cx="133350" cy="171450"/>
            </a:xfrm>
            <a:custGeom>
              <a:avLst/>
              <a:gdLst/>
              <a:ahLst/>
              <a:cxnLst/>
              <a:rect l="l" t="t" r="r" b="b"/>
              <a:pathLst>
                <a:path w="133350" h="171450">
                  <a:moveTo>
                    <a:pt x="0" y="0"/>
                  </a:moveTo>
                  <a:lnTo>
                    <a:pt x="133350" y="85725"/>
                  </a:lnTo>
                  <a:lnTo>
                    <a:pt x="0" y="171450"/>
                  </a:lnTo>
                  <a:close/>
                </a:path>
              </a:pathLst>
            </a:custGeom>
            <a:solidFill>
              <a:srgbClr val="F26B3A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9091612" y="1928812"/>
              <a:ext cx="2566988" cy="1565910"/>
            </a:xfrm>
            <a:prstGeom prst="roundRect">
              <a:avLst>
                <a:gd name="adj" fmla="val 7299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Ellipse 28"/>
            <p:cNvSpPr/>
            <p:nvPr/>
          </p:nvSpPr>
          <p:spPr>
            <a:xfrm>
              <a:off x="9224962" y="2062162"/>
              <a:ext cx="285750" cy="28575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9315096" y="2132648"/>
              <a:ext cx="10548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218104" y="246507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一组模型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219248" y="2752249"/>
              <a:ext cx="2145030" cy="42767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3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单一模型不够用，用一组几乎独立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的模型去逼近一个非平凡系统</a:t>
              </a:r>
            </a:p>
          </p:txBody>
        </p:sp>
      </p:grpSp>
      <p:grpSp>
        <p:nvGrpSpPr>
          <p:cNvPr id="57" name="c1-table-2"/>
          <p:cNvGrpSpPr/>
          <p:nvPr/>
        </p:nvGrpSpPr>
        <p:grpSpPr>
          <a:xfrm>
            <a:off x="533400" y="3664268"/>
            <a:ext cx="11125200" cy="2000250"/>
            <a:chOff x="533400" y="3664268"/>
            <a:chExt cx="11125200" cy="2000250"/>
          </a:xfrm>
        </p:grpSpPr>
        <p:sp>
          <p:nvSpPr>
            <p:cNvPr id="33" name="Rectangle 33"/>
            <p:cNvSpPr/>
            <p:nvPr/>
          </p:nvSpPr>
          <p:spPr>
            <a:xfrm>
              <a:off x="533400" y="3664268"/>
              <a:ext cx="11125200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1638021" y="378571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原则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4651048" y="3785711"/>
              <a:ext cx="1325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落到 UML 上的做法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156497" y="3785711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违反了会怎样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0555" y="4185761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选什么模型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3153727" y="418576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先决定画用例图还是类图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667625" y="418576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用结构图去描述并发问题，越画越乱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33400" y="44596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33400" y="4464368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30555" y="45858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精度可调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3153727" y="458581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分析类只写职责，设计类才写类型与可见性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67625" y="458581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早期陷入细节，需求一变全部推翻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33400" y="485965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630555" y="498586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连着现实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3153727" y="4985861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类名、用例名取自业务词汇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667625" y="498586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模型漂亮但没人认，评审通不过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533400" y="5259705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0" name="Rectangle 50"/>
            <p:cNvSpPr/>
            <p:nvPr/>
          </p:nvSpPr>
          <p:spPr>
            <a:xfrm>
              <a:off x="533400" y="5264468"/>
              <a:ext cx="11125200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30555" y="5385911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一组模型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3153727" y="5385911"/>
              <a:ext cx="2763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 4+1 视图分工，每个视图解决一类问题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667625" y="538591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一张大图包打天下，看不懂也改不动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533400" y="3664268"/>
              <a:ext cx="11125200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3051810" y="366426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7565708" y="3664268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3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8" name="Rectangle 58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1" name="Group 61"/>
            <p:cNvGrpSpPr/>
            <p:nvPr/>
          </p:nvGrpSpPr>
          <p:grpSpPr>
            <a:xfrm>
              <a:off x="738188" y="6022660"/>
              <a:ext cx="200023" cy="200023"/>
              <a:chOff x="738188" y="6022660"/>
              <a:chExt cx="200023" cy="200023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738188" y="60226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871538" y="60893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2" name="TextBox 62"/>
            <p:cNvSpPr txBox="1"/>
            <p:nvPr/>
          </p:nvSpPr>
          <p:spPr>
            <a:xfrm>
              <a:off x="1040892" y="6028373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四条原则的关键词：选择、精度、现实、一组。</a:t>
              </a:r>
            </a:p>
          </p:txBody>
        </p:sp>
      </p:grpSp>
      <p:grpSp>
        <p:nvGrpSpPr>
          <p:cNvPr id="66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4" name="TextBox 64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068074" cy="909257"/>
            <a:chOff x="520446" y="342900"/>
            <a:chExt cx="406807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建模基础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06807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Q6 四条建模原则全部成立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5342692" cy="293370"/>
            <a:chOff x="525780" y="1548765"/>
            <a:chExt cx="534269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53426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7 页　Which principles of modeling are correct?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54530"/>
            <a:ext cx="5193982" cy="2765108"/>
            <a:chOff x="533400" y="1954530"/>
            <a:chExt cx="5193982" cy="2765108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5193982" cy="2765108"/>
            </a:xfrm>
            <a:prstGeom prst="roundRect">
              <a:avLst>
                <a:gd name="adj" fmla="val 48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249840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407554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Which principles of modeling are correct?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3900805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The model you create, influences how the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problem is attacked.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381" y="3120866"/>
              <a:ext cx="442379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The best kinds of models are those that let you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choose your degree of detail.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381" y="3709511"/>
              <a:ext cx="4214432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The best models are connected to reality.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381" y="4027646"/>
              <a:ext cx="381965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Create models that are built and studied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separately.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899660"/>
            <a:ext cx="5193982" cy="503872"/>
            <a:chOff x="533400" y="4899660"/>
            <a:chExt cx="5193982" cy="503872"/>
          </a:xfrm>
        </p:grpSpPr>
        <p:sp>
          <p:nvSpPr>
            <p:cNvPr id="19" name="Rectangle 19"/>
            <p:cNvSpPr/>
            <p:nvPr/>
          </p:nvSpPr>
          <p:spPr>
            <a:xfrm>
              <a:off x="533400" y="4899660"/>
              <a:ext cx="5193982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052060"/>
              <a:ext cx="200026" cy="200026"/>
              <a:chOff x="738188" y="5052060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052060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5129848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511" y="5052536"/>
              <a:ext cx="262219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正确答案：A、B、C、D 全选。</a:t>
              </a:r>
            </a:p>
          </p:txBody>
        </p:sp>
      </p:grpSp>
      <p:grpSp>
        <p:nvGrpSpPr>
          <p:cNvPr id="31" name="c1-callout-3"/>
          <p:cNvGrpSpPr/>
          <p:nvPr/>
        </p:nvGrpSpPr>
        <p:grpSpPr>
          <a:xfrm>
            <a:off x="533400" y="5583555"/>
            <a:ext cx="5193982" cy="756285"/>
            <a:chOff x="533400" y="5583555"/>
            <a:chExt cx="5193982" cy="756285"/>
          </a:xfrm>
        </p:grpSpPr>
        <p:sp>
          <p:nvSpPr>
            <p:cNvPr id="25" name="Rectangle 25"/>
            <p:cNvSpPr/>
            <p:nvPr/>
          </p:nvSpPr>
          <p:spPr>
            <a:xfrm>
              <a:off x="533400" y="5583555"/>
              <a:ext cx="5193982" cy="756285"/>
            </a:xfrm>
            <a:prstGeom prst="roundRect">
              <a:avLst>
                <a:gd name="adj" fmla="val 15113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9" name="Group 29"/>
            <p:cNvGrpSpPr/>
            <p:nvPr/>
          </p:nvGrpSpPr>
          <p:grpSpPr>
            <a:xfrm>
              <a:off x="738188" y="5861685"/>
              <a:ext cx="200026" cy="200025"/>
              <a:chOff x="738188" y="5861685"/>
              <a:chExt cx="200026" cy="200025"/>
            </a:xfrm>
          </p:grpSpPr>
          <p:sp>
            <p:nvSpPr>
              <p:cNvPr id="26" name="Freeform 26"/>
              <p:cNvSpPr/>
              <p:nvPr/>
            </p:nvSpPr>
            <p:spPr>
              <a:xfrm>
                <a:off x="738188" y="586168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7" name="Freeform 27"/>
              <p:cNvSpPr/>
              <p:nvPr/>
            </p:nvSpPr>
            <p:spPr>
              <a:xfrm>
                <a:off x="777926" y="590613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812642" y="601726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30" name="TextBox 30"/>
            <p:cNvSpPr txBox="1"/>
            <p:nvPr/>
          </p:nvSpPr>
          <p:spPr>
            <a:xfrm>
              <a:off x="1040511" y="5730716"/>
              <a:ext cx="4162298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四个选项刚好一一对应四条原则，能对上号就能确认</a:t>
              </a:r>
              <a:br/>
              <a:r>
                <a:rPr lang="zh-CN" sz="14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是全选题。</a:t>
              </a:r>
            </a:p>
          </p:txBody>
        </p:sp>
      </p:grpSp>
      <p:grpSp>
        <p:nvGrpSpPr>
          <p:cNvPr id="56" name="c2-table-1"/>
          <p:cNvGrpSpPr/>
          <p:nvPr/>
        </p:nvGrpSpPr>
        <p:grpSpPr>
          <a:xfrm>
            <a:off x="6032182" y="1954530"/>
            <a:ext cx="5626418" cy="2122170"/>
            <a:chOff x="6032182" y="1954530"/>
            <a:chExt cx="5626418" cy="2122170"/>
          </a:xfrm>
        </p:grpSpPr>
        <p:sp>
          <p:nvSpPr>
            <p:cNvPr id="32" name="Rectangle 32"/>
            <p:cNvSpPr/>
            <p:nvPr/>
          </p:nvSpPr>
          <p:spPr>
            <a:xfrm>
              <a:off x="6032182" y="1954530"/>
              <a:ext cx="5626418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201728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77050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191054" y="2083118"/>
              <a:ext cx="65836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对应原则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134672" y="250698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809994" y="250698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485316" y="2506980"/>
              <a:ext cx="178917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选什么模型影响解题路径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032182" y="2798445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6032182" y="2803208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134672" y="293179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809994" y="293179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485316" y="2931795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模型可以在不同精度层次上表达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032182" y="3223260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134672" y="335661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6809994" y="335661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485316" y="3356610"/>
              <a:ext cx="16276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最好的模型与现实相连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032182" y="3647122"/>
              <a:ext cx="5626418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6032182" y="3651885"/>
              <a:ext cx="5626418" cy="42481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6134672" y="378047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6809994" y="378047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485316" y="3780472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用一组几乎独立的模型逼近系统</a:t>
              </a:r>
            </a:p>
          </p:txBody>
        </p:sp>
        <p:sp>
          <p:nvSpPr>
            <p:cNvPr id="53" name="Rectangle 53"/>
            <p:cNvSpPr/>
            <p:nvPr/>
          </p:nvSpPr>
          <p:spPr>
            <a:xfrm>
              <a:off x="6032182" y="1954530"/>
              <a:ext cx="5626418" cy="212217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6702742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7378065" y="1954530"/>
              <a:ext cx="9525" cy="212217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4" name="c2-card-2"/>
          <p:cNvGrpSpPr/>
          <p:nvPr/>
        </p:nvGrpSpPr>
        <p:grpSpPr>
          <a:xfrm>
            <a:off x="6032182" y="4256722"/>
            <a:ext cx="5626418" cy="2083118"/>
            <a:chOff x="6032182" y="4256722"/>
            <a:chExt cx="5626418" cy="2083118"/>
          </a:xfrm>
        </p:grpSpPr>
        <p:sp>
          <p:nvSpPr>
            <p:cNvPr id="57" name="Rectangle 57"/>
            <p:cNvSpPr/>
            <p:nvPr/>
          </p:nvSpPr>
          <p:spPr>
            <a:xfrm>
              <a:off x="6032182" y="4256722"/>
              <a:ext cx="5626418" cy="2083118"/>
            </a:xfrm>
            <a:prstGeom prst="roundRect">
              <a:avLst>
                <a:gd name="adj" fmla="val 64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6041708" y="4390072"/>
              <a:ext cx="47625" cy="181641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268402" y="445484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359842" y="448913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更正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851714" y="4490561"/>
              <a:ext cx="159649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选项 D 少说了半句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6261164" y="4833461"/>
              <a:ext cx="4921079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更正：完整表述是一组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nearly independent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的模型，可以分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别建立和研究，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but still interrelated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6261164" y="5423059"/>
              <a:ext cx="4883658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各视图仍然相互关联，逻辑视图里的类要实现用例视图里的用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例，不能各画各的。</a:t>
              </a:r>
            </a:p>
          </p:txBody>
        </p:sp>
      </p:grpSp>
      <p:grpSp>
        <p:nvGrpSpPr>
          <p:cNvPr id="67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5" name="TextBox 65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375252" cy="3351847"/>
            <a:chOff x="667512" y="1835468"/>
            <a:chExt cx="437525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第二部分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245973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架构与过程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36534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7—8 题：4+1 视图与 RUP 的过程特征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82251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4+1 视图各关注什么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27895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RUP 的 4 个阶段与里程碑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6003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9 个工作流的分工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229133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UML 要求的三条过程特征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191429" cy="909257"/>
            <a:chOff x="520446" y="342900"/>
            <a:chExt cx="519142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183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325" y="407194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架构与过程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19142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4+1 视图：五个切面看同一个系统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269058" cy="308039"/>
            <a:chOff x="525399" y="1550194"/>
            <a:chExt cx="7269058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269058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视图是架构的"切片"，每个切片回答一类问题，用例视图把其余四个串起来。</a:t>
              </a:r>
            </a:p>
          </p:txBody>
        </p:sp>
      </p:grpSp>
      <p:grpSp>
        <p:nvGrpSpPr>
          <p:cNvPr id="28" name="c1-graph-1"/>
          <p:cNvGrpSpPr/>
          <p:nvPr/>
        </p:nvGrpSpPr>
        <p:grpSpPr>
          <a:xfrm>
            <a:off x="1057275" y="2746058"/>
            <a:ext cx="4723277" cy="3570636"/>
            <a:chOff x="1057275" y="2746058"/>
            <a:chExt cx="4723277" cy="3570636"/>
          </a:xfrm>
        </p:grpSpPr>
        <p:sp>
          <p:nvSpPr>
            <p:cNvPr id="9" name="Freeform 9"/>
            <p:cNvSpPr/>
            <p:nvPr/>
          </p:nvSpPr>
          <p:spPr>
            <a:xfrm>
              <a:off x="2200275" y="3357562"/>
              <a:ext cx="804862" cy="628650"/>
            </a:xfrm>
            <a:custGeom>
              <a:avLst/>
              <a:gdLst/>
              <a:ahLst/>
              <a:cxnLst/>
              <a:rect l="l" t="t" r="r" b="b"/>
              <a:pathLst>
                <a:path w="804862" h="628650">
                  <a:moveTo>
                    <a:pt x="804862" y="628650"/>
                  </a:moveTo>
                  <a:lnTo>
                    <a:pt x="0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2125028" y="3298508"/>
              <a:ext cx="103823" cy="96202"/>
            </a:xfrm>
            <a:custGeom>
              <a:avLst/>
              <a:gdLst/>
              <a:ahLst/>
              <a:cxnLst/>
              <a:rect l="l" t="t" r="r" b="b"/>
              <a:pathLst>
                <a:path w="103823" h="96202">
                  <a:moveTo>
                    <a:pt x="0" y="0"/>
                  </a:moveTo>
                  <a:lnTo>
                    <a:pt x="103823" y="20955"/>
                  </a:lnTo>
                  <a:lnTo>
                    <a:pt x="45720" y="9620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688080" y="3357562"/>
              <a:ext cx="805815" cy="628650"/>
            </a:xfrm>
            <a:custGeom>
              <a:avLst/>
              <a:gdLst/>
              <a:ahLst/>
              <a:cxnLst/>
              <a:rect l="l" t="t" r="r" b="b"/>
              <a:pathLst>
                <a:path w="805815" h="628650">
                  <a:moveTo>
                    <a:pt x="0" y="628650"/>
                  </a:moveTo>
                  <a:lnTo>
                    <a:pt x="805815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2" name="Freeform 12"/>
            <p:cNvSpPr/>
            <p:nvPr/>
          </p:nvSpPr>
          <p:spPr>
            <a:xfrm>
              <a:off x="4464368" y="3298508"/>
              <a:ext cx="103823" cy="96202"/>
            </a:xfrm>
            <a:custGeom>
              <a:avLst/>
              <a:gdLst/>
              <a:ahLst/>
              <a:cxnLst/>
              <a:rect l="l" t="t" r="r" b="b"/>
              <a:pathLst>
                <a:path w="103823" h="96202">
                  <a:moveTo>
                    <a:pt x="103823" y="0"/>
                  </a:moveTo>
                  <a:lnTo>
                    <a:pt x="58103" y="96202"/>
                  </a:lnTo>
                  <a:lnTo>
                    <a:pt x="0" y="20955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2174558" y="4519612"/>
              <a:ext cx="853440" cy="714375"/>
            </a:xfrm>
            <a:custGeom>
              <a:avLst/>
              <a:gdLst/>
              <a:ahLst/>
              <a:cxnLst/>
              <a:rect l="l" t="t" r="r" b="b"/>
              <a:pathLst>
                <a:path w="853440" h="714375">
                  <a:moveTo>
                    <a:pt x="853440" y="0"/>
                  </a:moveTo>
                  <a:lnTo>
                    <a:pt x="0" y="7143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4" name="Freeform 14"/>
            <p:cNvSpPr/>
            <p:nvPr/>
          </p:nvSpPr>
          <p:spPr>
            <a:xfrm>
              <a:off x="2101215" y="5197792"/>
              <a:ext cx="103823" cy="97155"/>
            </a:xfrm>
            <a:custGeom>
              <a:avLst/>
              <a:gdLst/>
              <a:ahLst/>
              <a:cxnLst/>
              <a:rect l="l" t="t" r="r" b="b"/>
              <a:pathLst>
                <a:path w="103823" h="97155">
                  <a:moveTo>
                    <a:pt x="0" y="97155"/>
                  </a:moveTo>
                  <a:lnTo>
                    <a:pt x="42862" y="0"/>
                  </a:lnTo>
                  <a:lnTo>
                    <a:pt x="103823" y="73342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665220" y="4519612"/>
              <a:ext cx="853440" cy="714375"/>
            </a:xfrm>
            <a:custGeom>
              <a:avLst/>
              <a:gdLst/>
              <a:ahLst/>
              <a:cxnLst/>
              <a:rect l="l" t="t" r="r" b="b"/>
              <a:pathLst>
                <a:path w="853440" h="714375">
                  <a:moveTo>
                    <a:pt x="0" y="0"/>
                  </a:moveTo>
                  <a:lnTo>
                    <a:pt x="853440" y="714375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16" name="Freeform 16"/>
            <p:cNvSpPr/>
            <p:nvPr/>
          </p:nvSpPr>
          <p:spPr>
            <a:xfrm>
              <a:off x="4488180" y="5197792"/>
              <a:ext cx="103823" cy="97155"/>
            </a:xfrm>
            <a:custGeom>
              <a:avLst/>
              <a:gdLst/>
              <a:ahLst/>
              <a:cxnLst/>
              <a:rect l="l" t="t" r="r" b="b"/>
              <a:pathLst>
                <a:path w="103823" h="97155">
                  <a:moveTo>
                    <a:pt x="103823" y="97155"/>
                  </a:moveTo>
                  <a:lnTo>
                    <a:pt x="0" y="73342"/>
                  </a:lnTo>
                  <a:lnTo>
                    <a:pt x="61912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057275" y="2746058"/>
              <a:ext cx="1428750" cy="552450"/>
            </a:xfrm>
            <a:prstGeom prst="roundRect">
              <a:avLst>
                <a:gd name="adj" fmla="val 17241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4160520" y="2746058"/>
              <a:ext cx="1524000" cy="552450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2632710" y="3986212"/>
              <a:ext cx="1428750" cy="533400"/>
            </a:xfrm>
            <a:prstGeom prst="roundRect">
              <a:avLst>
                <a:gd name="adj" fmla="val 17857"/>
              </a:avLst>
            </a:prstGeom>
            <a:solidFill>
              <a:srgbClr val="334E68"/>
            </a:solidFill>
            <a:ln w="17145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1057275" y="5294948"/>
              <a:ext cx="1428750" cy="552450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4160520" y="5294948"/>
              <a:ext cx="1524000" cy="552450"/>
            </a:xfrm>
            <a:prstGeom prst="roundRect">
              <a:avLst>
                <a:gd name="adj" fmla="val 17241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1210560" y="2956560"/>
              <a:ext cx="112218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逻辑视图 Logical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064488" y="2956560"/>
              <a:ext cx="17160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实现视图 Implementation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04625" y="4187190"/>
              <a:ext cx="128492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用例视图 Use-Case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173155" y="5506402"/>
              <a:ext cx="119699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进程视图 Process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205365" y="5506402"/>
              <a:ext cx="14343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部署视图 Deployment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682494" y="6126004"/>
              <a:ext cx="13291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用例驱动其余四个视图</a:t>
              </a:r>
            </a:p>
          </p:txBody>
        </p:sp>
      </p:grpSp>
      <p:grpSp>
        <p:nvGrpSpPr>
          <p:cNvPr id="43" name="c2-kv-1"/>
          <p:cNvGrpSpPr/>
          <p:nvPr/>
        </p:nvGrpSpPr>
        <p:grpSpPr>
          <a:xfrm>
            <a:off x="6456998" y="1992630"/>
            <a:ext cx="5201602" cy="2617470"/>
            <a:chOff x="6456998" y="1992630"/>
            <a:chExt cx="5201602" cy="2617470"/>
          </a:xfrm>
        </p:grpSpPr>
        <p:sp>
          <p:nvSpPr>
            <p:cNvPr id="29" name="TextBox 29"/>
            <p:cNvSpPr txBox="1"/>
            <p:nvPr/>
          </p:nvSpPr>
          <p:spPr>
            <a:xfrm>
              <a:off x="6456998" y="1992630"/>
              <a:ext cx="149004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Use-Case View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222933" y="1992630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系统对外的行为，驱动其他四个视图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464618" y="231267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56998" y="2432685"/>
              <a:ext cx="12576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Logical View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222933" y="2432685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类、接口、协作和它们之间的关系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464618" y="275272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456998" y="2872740"/>
              <a:ext cx="1485424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Implementation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View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22933" y="2872740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源文件、构件、子系统的组织，供构建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使用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347472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56998" y="3594735"/>
              <a:ext cx="136475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Process View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22933" y="3594735"/>
              <a:ext cx="32461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进程与线程、并发与同步，关注性能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64618" y="391477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456998" y="4034790"/>
              <a:ext cx="1105376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Deployment</a:t>
              </a:r>
              <a:br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View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22933" y="4034790"/>
              <a:ext cx="284226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节点与网络拓扑，关注物理分布</a:t>
              </a:r>
            </a:p>
          </p:txBody>
        </p:sp>
      </p:grpSp>
      <p:grpSp>
        <p:nvGrpSpPr>
          <p:cNvPr id="49" name="c2-callout-2"/>
          <p:cNvGrpSpPr/>
          <p:nvPr/>
        </p:nvGrpSpPr>
        <p:grpSpPr>
          <a:xfrm>
            <a:off x="6464618" y="4741545"/>
            <a:ext cx="5193982" cy="782955"/>
            <a:chOff x="6464618" y="4741545"/>
            <a:chExt cx="5193982" cy="782955"/>
          </a:xfrm>
        </p:grpSpPr>
        <p:sp>
          <p:nvSpPr>
            <p:cNvPr id="44" name="Rectangle 44"/>
            <p:cNvSpPr/>
            <p:nvPr/>
          </p:nvSpPr>
          <p:spPr>
            <a:xfrm>
              <a:off x="6464618" y="474154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6669405" y="5033012"/>
              <a:ext cx="200023" cy="200023"/>
              <a:chOff x="6669405" y="5033012"/>
              <a:chExt cx="200023" cy="200023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6669405" y="50330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6802755" y="50996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6971348" y="4890135"/>
              <a:ext cx="35585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问"结构"找 Logical，问"打包和构建"找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Implementation，问"并发"找 Process。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754636" cy="909257"/>
            <a:chOff x="520446" y="342900"/>
            <a:chExt cx="475463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183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325" y="407194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架构与过程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75463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Q7 关注结构问题的是逻辑视图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9400139" cy="308039"/>
            <a:chOff x="525399" y="1550194"/>
            <a:chExt cx="9400139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9400139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8 页　Views are "slices" of architecture. Which view focuses on structural issues?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67865"/>
            <a:ext cx="4869180" cy="2390775"/>
            <a:chOff x="533400" y="1967865"/>
            <a:chExt cx="4869180" cy="239077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4869180" cy="2390775"/>
            </a:xfrm>
            <a:prstGeom prst="roundRect">
              <a:avLst>
                <a:gd name="adj" fmla="val 557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101215"/>
              <a:ext cx="47625" cy="212407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81050" y="217741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71258" y="221313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73430" y="2554605"/>
              <a:ext cx="429468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Which view focuses on structural issues?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73430" y="2908935"/>
              <a:ext cx="115181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Use case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73430" y="3244215"/>
              <a:ext cx="109037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Process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73430" y="3579495"/>
              <a:ext cx="179546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Implementation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73430" y="3914775"/>
              <a:ext cx="98798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Logical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549140"/>
            <a:ext cx="4869180" cy="1760220"/>
            <a:chOff x="533400" y="4549140"/>
            <a:chExt cx="4869180" cy="1760220"/>
          </a:xfrm>
        </p:grpSpPr>
        <p:sp>
          <p:nvSpPr>
            <p:cNvPr id="19" name="Rectangle 19"/>
            <p:cNvSpPr/>
            <p:nvPr/>
          </p:nvSpPr>
          <p:spPr>
            <a:xfrm>
              <a:off x="533400" y="4549140"/>
              <a:ext cx="4869180" cy="1760220"/>
            </a:xfrm>
            <a:prstGeom prst="roundRect">
              <a:avLst>
                <a:gd name="adj" fmla="val 649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329238"/>
              <a:ext cx="200026" cy="200026"/>
              <a:chOff x="738188" y="5329238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32923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540702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130" y="5186362"/>
              <a:ext cx="39300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正确答案：D。逻辑视图描述系统的设计结构，</a:t>
              </a:r>
              <a:br/>
              <a:r>
                <a:rPr lang="zh-CN" sz="15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即类、接口和它们之间的关系。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707380" y="1967865"/>
            <a:ext cx="5951220" cy="2244090"/>
            <a:chOff x="5707380" y="1967865"/>
            <a:chExt cx="5951220" cy="2244090"/>
          </a:xfrm>
        </p:grpSpPr>
        <p:sp>
          <p:nvSpPr>
            <p:cNvPr id="25" name="Rectangle 25"/>
            <p:cNvSpPr/>
            <p:nvPr/>
          </p:nvSpPr>
          <p:spPr>
            <a:xfrm>
              <a:off x="5707380" y="1967865"/>
              <a:ext cx="5951220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885777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00152" y="210264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615477" y="2102644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该视图真正关注什么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815203" y="255127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29578" y="255127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243953" y="2551271"/>
              <a:ext cx="347645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系统对外的功能行为，回答“系统为谁做什么”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707380" y="286035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707380" y="2865120"/>
              <a:ext cx="595122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15203" y="3000851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29578" y="3000851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243953" y="3000851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进程与线程的划分、并发与同步、性能与吞吐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707380" y="330898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815203" y="3449479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29578" y="3449479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243953" y="3449479"/>
              <a:ext cx="345922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源代码文件和构件怎么组织、怎么构建和打包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07380" y="375761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707380" y="3762375"/>
              <a:ext cx="5951220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15203" y="3898106"/>
              <a:ext cx="11809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29578" y="3898106"/>
              <a:ext cx="1852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43953" y="3898106"/>
              <a:ext cx="36315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类、接口、协作和关系，也就是系统的设计结构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707380" y="1967865"/>
              <a:ext cx="5951220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16992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131368" y="196786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2-card-2"/>
          <p:cNvGrpSpPr/>
          <p:nvPr/>
        </p:nvGrpSpPr>
        <p:grpSpPr>
          <a:xfrm>
            <a:off x="5707380" y="4402455"/>
            <a:ext cx="5951220" cy="1906905"/>
            <a:chOff x="5707380" y="4402455"/>
            <a:chExt cx="5951220" cy="1906905"/>
          </a:xfrm>
        </p:grpSpPr>
        <p:sp>
          <p:nvSpPr>
            <p:cNvPr id="50" name="Rectangle 50"/>
            <p:cNvSpPr/>
            <p:nvPr/>
          </p:nvSpPr>
          <p:spPr>
            <a:xfrm>
              <a:off x="5707380" y="4402455"/>
              <a:ext cx="5951220" cy="1906905"/>
            </a:xfrm>
            <a:prstGeom prst="roundRect">
              <a:avLst>
                <a:gd name="adj" fmla="val 699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716905" y="4535805"/>
              <a:ext cx="47625" cy="164020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955030" y="461200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45238" y="464772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易混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56058" y="4647248"/>
              <a:ext cx="36944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Implementation 也有“结构”，怎么排除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947410" y="5008245"/>
              <a:ext cx="5158740" cy="11506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实现视图的结构指的是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代码工件的组织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（文件、构件、子系统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目录），面向配置管理员；逻辑视图的结构指的是</a:t>
              </a:r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设计元素的</a:t>
              </a:r>
              <a:br/>
              <a:r>
                <a:rPr lang="zh-CN" sz="150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组织</a:t>
              </a: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（类与关系），面向设计人员。题干问的是系统本身的结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构，选 Logical。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947619" cy="909257"/>
            <a:chOff x="520446" y="342900"/>
            <a:chExt cx="694761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183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325" y="407194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架构与过程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94761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RUP 的四个阶段，每个阶段以一个里程碑收尾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106529" cy="278702"/>
            <a:chOff x="526161" y="1547336"/>
            <a:chExt cx="7106529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10652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阶段是时间上的划分，回答"现在做到哪一步了"；每个阶段内部还可以有多次迭代。</a:t>
              </a:r>
            </a:p>
          </p:txBody>
        </p:sp>
      </p:grpSp>
      <p:grpSp>
        <p:nvGrpSpPr>
          <p:cNvPr id="39" name="c1-flow-1"/>
          <p:cNvGrpSpPr/>
          <p:nvPr/>
        </p:nvGrpSpPr>
        <p:grpSpPr>
          <a:xfrm>
            <a:off x="722948" y="1977390"/>
            <a:ext cx="5031105" cy="2528888"/>
            <a:chOff x="722948" y="1977390"/>
            <a:chExt cx="5031105" cy="2528888"/>
          </a:xfrm>
        </p:grpSpPr>
        <p:sp>
          <p:nvSpPr>
            <p:cNvPr id="9" name="Freeform 9"/>
            <p:cNvSpPr/>
            <p:nvPr/>
          </p:nvSpPr>
          <p:spPr>
            <a:xfrm>
              <a:off x="3048952" y="2266950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0" y="0"/>
                  </a:moveTo>
                  <a:lnTo>
                    <a:pt x="2743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10" name="Freeform 10"/>
            <p:cNvSpPr/>
            <p:nvPr/>
          </p:nvSpPr>
          <p:spPr>
            <a:xfrm>
              <a:off x="3323272" y="221456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3048952" y="2916555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0" y="0"/>
                  </a:moveTo>
                  <a:lnTo>
                    <a:pt x="2743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12" name="Freeform 12"/>
            <p:cNvSpPr/>
            <p:nvPr/>
          </p:nvSpPr>
          <p:spPr>
            <a:xfrm>
              <a:off x="3323272" y="286416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3" name="Freeform 13"/>
            <p:cNvSpPr/>
            <p:nvPr/>
          </p:nvSpPr>
          <p:spPr>
            <a:xfrm>
              <a:off x="3048952" y="3567112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0" y="0"/>
                  </a:moveTo>
                  <a:lnTo>
                    <a:pt x="2743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14" name="Freeform 14"/>
            <p:cNvSpPr/>
            <p:nvPr/>
          </p:nvSpPr>
          <p:spPr>
            <a:xfrm>
              <a:off x="3323272" y="351472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5" name="Freeform 15"/>
            <p:cNvSpPr/>
            <p:nvPr/>
          </p:nvSpPr>
          <p:spPr>
            <a:xfrm>
              <a:off x="3048952" y="4216718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0" y="0"/>
                  </a:moveTo>
                  <a:lnTo>
                    <a:pt x="2743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  <a:custDash>
                <a:ds d="375000" sp="250000"/>
              </a:custDash>
            </a:ln>
          </p:spPr>
        </p:sp>
        <p:sp>
          <p:nvSpPr>
            <p:cNvPr id="16" name="Freeform 16"/>
            <p:cNvSpPr/>
            <p:nvPr/>
          </p:nvSpPr>
          <p:spPr>
            <a:xfrm>
              <a:off x="3323272" y="4164330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7" name="Freeform 17"/>
            <p:cNvSpPr/>
            <p:nvPr/>
          </p:nvSpPr>
          <p:spPr>
            <a:xfrm>
              <a:off x="1885950" y="2523172"/>
              <a:ext cx="9525" cy="32385"/>
            </a:xfrm>
            <a:custGeom>
              <a:avLst/>
              <a:gdLst/>
              <a:ahLst/>
              <a:cxnLst/>
              <a:rect l="l" t="t" r="r" b="b"/>
              <a:pathLst>
                <a:path w="9525" h="32385">
                  <a:moveTo>
                    <a:pt x="0" y="3238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18" name="Freeform 18"/>
            <p:cNvSpPr/>
            <p:nvPr/>
          </p:nvSpPr>
          <p:spPr>
            <a:xfrm>
              <a:off x="1833562" y="2523172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19" name="Freeform 19"/>
            <p:cNvSpPr/>
            <p:nvPr/>
          </p:nvSpPr>
          <p:spPr>
            <a:xfrm>
              <a:off x="1885950" y="3172778"/>
              <a:ext cx="9525" cy="32385"/>
            </a:xfrm>
            <a:custGeom>
              <a:avLst/>
              <a:gdLst/>
              <a:ahLst/>
              <a:cxnLst/>
              <a:rect l="l" t="t" r="r" b="b"/>
              <a:pathLst>
                <a:path w="9525" h="32385">
                  <a:moveTo>
                    <a:pt x="0" y="3238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0" name="Freeform 20"/>
            <p:cNvSpPr/>
            <p:nvPr/>
          </p:nvSpPr>
          <p:spPr>
            <a:xfrm>
              <a:off x="1833562" y="317277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1" name="Freeform 21"/>
            <p:cNvSpPr/>
            <p:nvPr/>
          </p:nvSpPr>
          <p:spPr>
            <a:xfrm>
              <a:off x="1885950" y="3823335"/>
              <a:ext cx="9525" cy="32385"/>
            </a:xfrm>
            <a:custGeom>
              <a:avLst/>
              <a:gdLst/>
              <a:ahLst/>
              <a:cxnLst/>
              <a:rect l="l" t="t" r="r" b="b"/>
              <a:pathLst>
                <a:path w="9525" h="32385">
                  <a:moveTo>
                    <a:pt x="0" y="32385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2" name="Freeform 22"/>
            <p:cNvSpPr/>
            <p:nvPr/>
          </p:nvSpPr>
          <p:spPr>
            <a:xfrm>
              <a:off x="1833562" y="382333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722948" y="1977390"/>
              <a:ext cx="2326005" cy="578168"/>
            </a:xfrm>
            <a:prstGeom prst="roundRect">
              <a:avLst>
                <a:gd name="adj" fmla="val 4991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3428048" y="1977390"/>
              <a:ext cx="2326005" cy="578168"/>
            </a:xfrm>
            <a:prstGeom prst="roundRect">
              <a:avLst>
                <a:gd name="adj" fmla="val 1318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722948" y="2627948"/>
              <a:ext cx="2326005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3428048" y="2627948"/>
              <a:ext cx="2326005" cy="578168"/>
            </a:xfrm>
            <a:prstGeom prst="roundRect">
              <a:avLst>
                <a:gd name="adj" fmla="val 1318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22948" y="3277552"/>
              <a:ext cx="2326005" cy="578168"/>
            </a:xfrm>
            <a:prstGeom prst="roundRect">
              <a:avLst>
                <a:gd name="adj" fmla="val 16474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3428048" y="3277552"/>
              <a:ext cx="2326005" cy="578168"/>
            </a:xfrm>
            <a:prstGeom prst="roundRect">
              <a:avLst>
                <a:gd name="adj" fmla="val 1318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29" name="Rectangle 29"/>
            <p:cNvSpPr/>
            <p:nvPr/>
          </p:nvSpPr>
          <p:spPr>
            <a:xfrm>
              <a:off x="722948" y="3928110"/>
              <a:ext cx="2326005" cy="578168"/>
            </a:xfrm>
            <a:prstGeom prst="roundRect">
              <a:avLst>
                <a:gd name="adj" fmla="val 49918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3428048" y="3928110"/>
              <a:ext cx="2326005" cy="578168"/>
            </a:xfrm>
            <a:prstGeom prst="roundRect">
              <a:avLst>
                <a:gd name="adj" fmla="val 13180"/>
              </a:avLst>
            </a:prstGeom>
            <a:solidFill>
              <a:srgbClr val="FEF3C7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1547927" y="2091214"/>
              <a:ext cx="676046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初始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Inception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158615" y="2091214"/>
              <a:ext cx="86487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LCO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生命周期目标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485519" y="2741771"/>
              <a:ext cx="800862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细化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Elaboration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158615" y="2741771"/>
              <a:ext cx="86487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LCA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生命周期构架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428623" y="3391376"/>
              <a:ext cx="914654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</a:t>
              </a:r>
              <a:br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Construction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158615" y="3391376"/>
              <a:ext cx="86487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IOC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初始运行能力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506855" y="4041934"/>
              <a:ext cx="7581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交付</a:t>
              </a:r>
              <a:br/>
              <a:r>
                <a:rPr lang="en-US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Transition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300855" y="4041934"/>
              <a:ext cx="580390" cy="4124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15"/>
                </a:lnSpc>
              </a:pPr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产品发布</a:t>
              </a:r>
            </a:p>
          </p:txBody>
        </p:sp>
      </p:grpSp>
      <p:grpSp>
        <p:nvGrpSpPr>
          <p:cNvPr id="64" name="c2-table-1"/>
          <p:cNvGrpSpPr/>
          <p:nvPr/>
        </p:nvGrpSpPr>
        <p:grpSpPr>
          <a:xfrm>
            <a:off x="6248400" y="1941195"/>
            <a:ext cx="5410200" cy="2828925"/>
            <a:chOff x="6248400" y="1941195"/>
            <a:chExt cx="5410200" cy="2828925"/>
          </a:xfrm>
        </p:grpSpPr>
        <p:sp>
          <p:nvSpPr>
            <p:cNvPr id="40" name="Rectangle 40"/>
            <p:cNvSpPr/>
            <p:nvPr/>
          </p:nvSpPr>
          <p:spPr>
            <a:xfrm>
              <a:off x="6248400" y="1941195"/>
              <a:ext cx="5410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720561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阶段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456689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主要任务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0534091" y="2065496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结束标志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348412" y="2471261"/>
              <a:ext cx="676046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Inception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04760" y="2471261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确定项目范围与业务案例，识别关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键风险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123170" y="2471261"/>
              <a:ext cx="1291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干系人对范围和成本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达成一致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248400" y="294798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248400" y="2952750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348412" y="3077051"/>
              <a:ext cx="840334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细化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Elaboration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04760" y="3077051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建立可执行的构架基线，覆盖大部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分用例与高风险点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123170" y="3177064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构架稳定，计划可信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6248400" y="355377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348412" y="3682841"/>
              <a:ext cx="959815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构造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Construction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04760" y="3682841"/>
              <a:ext cx="21450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把剩余构件实现出来并测试，形成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可用版本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0123170" y="3682841"/>
              <a:ext cx="136271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Beta 版本可交给用户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试用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6248400" y="4159568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7" name="Rectangle 57"/>
            <p:cNvSpPr/>
            <p:nvPr/>
          </p:nvSpPr>
          <p:spPr>
            <a:xfrm>
              <a:off x="6248400" y="4164330"/>
              <a:ext cx="5410200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6348412" y="4288631"/>
              <a:ext cx="7581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交付</a:t>
              </a:r>
              <a:br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Transition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604760" y="4388644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部署、培训、用户验收、缺陷修复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0123170" y="4288631"/>
              <a:ext cx="129159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用户接受产品，项目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收尾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6248400" y="1941195"/>
              <a:ext cx="5410200" cy="28289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2" name="Rectangle 62"/>
            <p:cNvSpPr/>
            <p:nvPr/>
          </p:nvSpPr>
          <p:spPr>
            <a:xfrm>
              <a:off x="7499985" y="1941195"/>
              <a:ext cx="9525" cy="2828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10018395" y="1941195"/>
              <a:ext cx="9525" cy="28289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71" name="c2-callout-2"/>
          <p:cNvGrpSpPr/>
          <p:nvPr/>
        </p:nvGrpSpPr>
        <p:grpSpPr>
          <a:xfrm>
            <a:off x="6248400" y="4945380"/>
            <a:ext cx="5410200" cy="729615"/>
            <a:chOff x="6248400" y="4945380"/>
            <a:chExt cx="5410200" cy="729615"/>
          </a:xfrm>
        </p:grpSpPr>
        <p:sp>
          <p:nvSpPr>
            <p:cNvPr id="65" name="Rectangle 65"/>
            <p:cNvSpPr/>
            <p:nvPr/>
          </p:nvSpPr>
          <p:spPr>
            <a:xfrm>
              <a:off x="6248400" y="4945380"/>
              <a:ext cx="5410200" cy="729615"/>
            </a:xfrm>
            <a:prstGeom prst="roundRect">
              <a:avLst>
                <a:gd name="adj" fmla="val 15666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69" name="Group 69"/>
            <p:cNvGrpSpPr/>
            <p:nvPr/>
          </p:nvGrpSpPr>
          <p:grpSpPr>
            <a:xfrm>
              <a:off x="6453188" y="5210175"/>
              <a:ext cx="200026" cy="200025"/>
              <a:chOff x="6453188" y="5210175"/>
              <a:chExt cx="200026" cy="200025"/>
            </a:xfrm>
          </p:grpSpPr>
          <p:sp>
            <p:nvSpPr>
              <p:cNvPr id="66" name="Freeform 66"/>
              <p:cNvSpPr/>
              <p:nvPr/>
            </p:nvSpPr>
            <p:spPr>
              <a:xfrm>
                <a:off x="6453188" y="521017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7" name="Freeform 67"/>
              <p:cNvSpPr/>
              <p:nvPr/>
            </p:nvSpPr>
            <p:spPr>
              <a:xfrm>
                <a:off x="6492926" y="525462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68" name="Freeform 68"/>
              <p:cNvSpPr/>
              <p:nvPr/>
            </p:nvSpPr>
            <p:spPr>
              <a:xfrm>
                <a:off x="6527642" y="536575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70" name="TextBox 70"/>
            <p:cNvSpPr txBox="1"/>
            <p:nvPr/>
          </p:nvSpPr>
          <p:spPr>
            <a:xfrm>
              <a:off x="6755892" y="5092065"/>
              <a:ext cx="451427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风险在细化阶段之前就要压下去，这是 RUP 与瀑布模型最大</a:t>
              </a:r>
              <a:br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的差别。</a:t>
              </a:r>
            </a:p>
          </p:txBody>
        </p:sp>
      </p:grpSp>
      <p:grpSp>
        <p:nvGrpSpPr>
          <p:cNvPr id="77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2" name="Rectangle 72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5" name="Group 75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4" name="Freeform 74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6" name="TextBox 76"/>
            <p:cNvSpPr txBox="1"/>
            <p:nvPr/>
          </p:nvSpPr>
          <p:spPr>
            <a:xfrm>
              <a:off x="1040892" y="6023610"/>
              <a:ext cx="65494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四个里程碑按顺序记：LCO 定范围 → LCA 定构架 → IOC 出 Beta → PR 正式发布。</a:t>
              </a:r>
            </a:p>
          </p:txBody>
        </p:sp>
      </p:grpSp>
      <p:grpSp>
        <p:nvGrpSpPr>
          <p:cNvPr id="80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8" name="TextBox 78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6261057" cy="909257"/>
            <a:chOff x="520446" y="342900"/>
            <a:chExt cx="626105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183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325" y="407194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架构与过程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626105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RUP 的九个工作流，六个核心加三个支持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92" name="c1-table-1"/>
          <p:cNvGrpSpPr/>
          <p:nvPr/>
        </p:nvGrpSpPr>
        <p:grpSpPr>
          <a:xfrm>
            <a:off x="533400" y="1524000"/>
            <a:ext cx="11125200" cy="4057650"/>
            <a:chOff x="533400" y="1524000"/>
            <a:chExt cx="11125200" cy="4057650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1112520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525486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工作流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863046" y="1648301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做什么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60829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初始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72081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细化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83333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构造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945851" y="1648301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交付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3412" y="2054066"/>
              <a:ext cx="20255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业务建模 Business Modeling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081338" y="205406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描述业务流程与业务实体，明确系统在业务中的位置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218045" y="1939290"/>
              <a:ext cx="1093470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683678" y="205406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796198" y="205406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08718" y="205406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021238" y="205406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233076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233553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33412" y="2459831"/>
              <a:ext cx="14025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需求 Requirements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081338" y="245983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捕获用例与非功能需求，划定系统边界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218045" y="2345055"/>
              <a:ext cx="1093470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683678" y="245983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796198" y="245983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8718" y="245983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1021238" y="245983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273653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2865596"/>
              <a:ext cx="2105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分析与设计 Analysis &amp; Design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3081338" y="286559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把用例转成设计模型与构架描述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683678" y="28655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330565" y="2750820"/>
              <a:ext cx="1093470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796198" y="28655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908718" y="28655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1021238" y="286559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33400" y="314229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33400" y="314706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33412" y="3271361"/>
              <a:ext cx="15289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 Implementation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3081338" y="3271361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编码、单元测试、把构件集成进子系统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683678" y="32713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796198" y="32713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9443085" y="3156585"/>
              <a:ext cx="1093470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9908718" y="32713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1021238" y="32713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33400" y="354806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33412" y="3677126"/>
              <a:ext cx="7143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 Test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3081338" y="3677126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验证构件集成与需求实现，报告缺陷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83678" y="36771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796198" y="36771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443085" y="3562350"/>
              <a:ext cx="1093470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9908718" y="36771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021238" y="36771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33400" y="395382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33400" y="395859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33412" y="4082891"/>
              <a:ext cx="12284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部署 Deployment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3081338" y="4082891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打包、安装、培训、移交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683678" y="40828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796198" y="40828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908718" y="40828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10555605" y="3968115"/>
              <a:ext cx="1093470" cy="386715"/>
            </a:xfrm>
            <a:prstGeom prst="rect">
              <a:avLst/>
            </a:prstGeom>
            <a:solidFill>
              <a:srgbClr val="FDEEE7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11021238" y="40828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533400" y="435959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633412" y="4488656"/>
              <a:ext cx="1334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配置与变更管理 CM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3081338" y="4488656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管理版本、基线和变更请求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683678" y="44886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796198" y="44886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9908718" y="44886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021238" y="44886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71" name="Rectangle 71"/>
            <p:cNvSpPr/>
            <p:nvPr/>
          </p:nvSpPr>
          <p:spPr>
            <a:xfrm>
              <a:off x="533400" y="4765358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72" name="Rectangle 72"/>
            <p:cNvSpPr/>
            <p:nvPr/>
          </p:nvSpPr>
          <p:spPr>
            <a:xfrm>
              <a:off x="533400" y="4770120"/>
              <a:ext cx="1112520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633412" y="4894421"/>
              <a:ext cx="22241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项目管理 Project Management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3081338" y="4894421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制订迭代计划、跟踪风险与进度</a:t>
              </a:r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7683678" y="48944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8796198" y="48944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77" name="TextBox 77"/>
            <p:cNvSpPr txBox="1"/>
            <p:nvPr/>
          </p:nvSpPr>
          <p:spPr>
            <a:xfrm>
              <a:off x="9908718" y="48944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11021238" y="489442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79" name="Rectangle 79"/>
            <p:cNvSpPr/>
            <p:nvPr/>
          </p:nvSpPr>
          <p:spPr>
            <a:xfrm>
              <a:off x="533400" y="5171122"/>
              <a:ext cx="11125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0" name="TextBox 80"/>
            <p:cNvSpPr txBox="1"/>
            <p:nvPr/>
          </p:nvSpPr>
          <p:spPr>
            <a:xfrm>
              <a:off x="633412" y="5300186"/>
              <a:ext cx="13154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环境 Environment</a:t>
              </a:r>
            </a:p>
          </p:txBody>
        </p:sp>
        <p:sp>
          <p:nvSpPr>
            <p:cNvPr id="81" name="TextBox 81"/>
            <p:cNvSpPr txBox="1"/>
            <p:nvPr/>
          </p:nvSpPr>
          <p:spPr>
            <a:xfrm>
              <a:off x="3081338" y="530018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提供过程、工具和开发环境支持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7683678" y="53001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强</a:t>
              </a:r>
            </a:p>
          </p:txBody>
        </p:sp>
        <p:sp>
          <p:nvSpPr>
            <p:cNvPr id="83" name="TextBox 83"/>
            <p:cNvSpPr txBox="1"/>
            <p:nvPr/>
          </p:nvSpPr>
          <p:spPr>
            <a:xfrm>
              <a:off x="8796198" y="53001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中</a:t>
              </a:r>
            </a:p>
          </p:txBody>
        </p:sp>
        <p:sp>
          <p:nvSpPr>
            <p:cNvPr id="84" name="TextBox 84"/>
            <p:cNvSpPr txBox="1"/>
            <p:nvPr/>
          </p:nvSpPr>
          <p:spPr>
            <a:xfrm>
              <a:off x="9908718" y="53001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85" name="TextBox 85"/>
            <p:cNvSpPr txBox="1"/>
            <p:nvPr/>
          </p:nvSpPr>
          <p:spPr>
            <a:xfrm>
              <a:off x="11021238" y="53001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弱</a:t>
              </a:r>
            </a:p>
          </p:txBody>
        </p:sp>
        <p:sp>
          <p:nvSpPr>
            <p:cNvPr id="86" name="Rectangle 86"/>
            <p:cNvSpPr/>
            <p:nvPr/>
          </p:nvSpPr>
          <p:spPr>
            <a:xfrm>
              <a:off x="533400" y="1524000"/>
              <a:ext cx="11125200" cy="40576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87" name="Rectangle 87"/>
            <p:cNvSpPr/>
            <p:nvPr/>
          </p:nvSpPr>
          <p:spPr>
            <a:xfrm>
              <a:off x="2976562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8" name="Rectangle 88"/>
            <p:cNvSpPr/>
            <p:nvPr/>
          </p:nvSpPr>
          <p:spPr>
            <a:xfrm>
              <a:off x="7203758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89" name="Rectangle 89"/>
            <p:cNvSpPr/>
            <p:nvPr/>
          </p:nvSpPr>
          <p:spPr>
            <a:xfrm>
              <a:off x="8316278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0" name="Rectangle 90"/>
            <p:cNvSpPr/>
            <p:nvPr/>
          </p:nvSpPr>
          <p:spPr>
            <a:xfrm>
              <a:off x="9428798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91" name="Rectangle 91"/>
            <p:cNvSpPr/>
            <p:nvPr/>
          </p:nvSpPr>
          <p:spPr>
            <a:xfrm>
              <a:off x="10541318" y="1524000"/>
              <a:ext cx="9525" cy="40576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9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93" name="Rectangle 9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4F6FB"/>
            </a:solidFill>
            <a:ln>
              <a:noFill/>
            </a:ln>
          </p:spPr>
        </p:sp>
        <p:grpSp>
          <p:nvGrpSpPr>
            <p:cNvPr id="97" name="Group 97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94" name="Freeform 94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5" name="Freeform 95"/>
              <p:cNvSpPr/>
              <p:nvPr/>
            </p:nvSpPr>
            <p:spPr>
              <a:xfrm>
                <a:off x="838200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  <p:sp>
            <p:nvSpPr>
              <p:cNvPr id="96" name="Freeform 96"/>
              <p:cNvSpPr/>
              <p:nvPr/>
            </p:nvSpPr>
            <p:spPr>
              <a:xfrm>
                <a:off x="827088" y="6117908"/>
                <a:ext cx="222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44450">
                    <a:moveTo>
                      <a:pt x="0" y="0"/>
                    </a:moveTo>
                    <a:lnTo>
                      <a:pt x="11113" y="0"/>
                    </a:lnTo>
                    <a:lnTo>
                      <a:pt x="11113" y="44450"/>
                    </a:lnTo>
                    <a:lnTo>
                      <a:pt x="22225" y="44450"/>
                    </a:lnTo>
                  </a:path>
                </a:pathLst>
              </a:custGeom>
              <a:noFill/>
              <a:ln w="22225">
                <a:solidFill>
                  <a:srgbClr val="1F2937"/>
                </a:solidFill>
              </a:ln>
            </p:spPr>
          </p:sp>
        </p:grpSp>
        <p:sp>
          <p:nvSpPr>
            <p:cNvPr id="98" name="TextBox 98"/>
            <p:cNvSpPr txBox="1"/>
            <p:nvPr/>
          </p:nvSpPr>
          <p:spPr>
            <a:xfrm>
              <a:off x="1040892" y="6023610"/>
              <a:ext cx="85553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工作流按内容划分，同一个工作流跨越所有阶段，只是投入力度不同；后三个是支持工作流，贯穿全过程。</a:t>
              </a:r>
            </a:p>
          </p:txBody>
        </p:sp>
      </p:grpSp>
      <p:grpSp>
        <p:nvGrpSpPr>
          <p:cNvPr id="10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00" name="TextBox 100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101" name="TextBox 10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735076" cy="909257"/>
            <a:chOff x="520446" y="342900"/>
            <a:chExt cx="4735076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183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325" y="407194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架构与过程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735076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UML 配套的过程有三条特征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399" y="1550194"/>
            <a:ext cx="7856190" cy="308039"/>
            <a:chOff x="525399" y="1550194"/>
            <a:chExt cx="7856190" cy="308039"/>
          </a:xfrm>
        </p:grpSpPr>
        <p:sp>
          <p:nvSpPr>
            <p:cNvPr id="7" name="TextBox 7"/>
            <p:cNvSpPr txBox="1"/>
            <p:nvPr/>
          </p:nvSpPr>
          <p:spPr>
            <a:xfrm>
              <a:off x="525399" y="1550194"/>
              <a:ext cx="7856190" cy="30803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UML 只是表示法，它不规定过程；但要把 UML 用起来，过程必须具备这三条特征。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67865"/>
            <a:ext cx="5410200" cy="2558415"/>
            <a:chOff x="533400" y="1967865"/>
            <a:chExt cx="5410200" cy="2558415"/>
          </a:xfrm>
        </p:grpSpPr>
        <p:sp>
          <p:nvSpPr>
            <p:cNvPr id="9" name="Rectangle 9"/>
            <p:cNvSpPr/>
            <p:nvPr/>
          </p:nvSpPr>
          <p:spPr>
            <a:xfrm>
              <a:off x="533400" y="1967865"/>
              <a:ext cx="5410200" cy="2558415"/>
            </a:xfrm>
            <a:prstGeom prst="roundRect">
              <a:avLst>
                <a:gd name="adj" fmla="val 5212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742950" y="2177415"/>
              <a:ext cx="778192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825259" y="221313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三条特征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48665" y="261747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2554605"/>
              <a:ext cx="43491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用例驱动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（Use-case driven）：用例既是需求的载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体，也是设计、实现和测试的依据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48665" y="323850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3175635"/>
              <a:ext cx="44919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以构架为中心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（Architecture-centric）：先建立并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稳定构架，再往上堆功能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48665" y="3859530"/>
              <a:ext cx="64770" cy="6477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3796665"/>
              <a:ext cx="44824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迭代且增量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（Iterative and incremental）：把项目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切成若干次迭代，每次产出可执行版本</a:t>
              </a:r>
            </a:p>
          </p:txBody>
        </p:sp>
      </p:grpSp>
      <p:grpSp>
        <p:nvGrpSpPr>
          <p:cNvPr id="25" name="c1-callout-2"/>
          <p:cNvGrpSpPr/>
          <p:nvPr/>
        </p:nvGrpSpPr>
        <p:grpSpPr>
          <a:xfrm>
            <a:off x="533400" y="4716780"/>
            <a:ext cx="5410200" cy="782955"/>
            <a:chOff x="533400" y="4716780"/>
            <a:chExt cx="5410200" cy="782955"/>
          </a:xfrm>
        </p:grpSpPr>
        <p:sp>
          <p:nvSpPr>
            <p:cNvPr id="19" name="Rectangle 19"/>
            <p:cNvSpPr/>
            <p:nvPr/>
          </p:nvSpPr>
          <p:spPr>
            <a:xfrm>
              <a:off x="533400" y="4716780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23" name="Group 23"/>
            <p:cNvGrpSpPr/>
            <p:nvPr/>
          </p:nvGrpSpPr>
          <p:grpSpPr>
            <a:xfrm>
              <a:off x="738188" y="5008245"/>
              <a:ext cx="200026" cy="200025"/>
              <a:chOff x="738188" y="5008245"/>
              <a:chExt cx="200026" cy="20002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00824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777926" y="505269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12642" y="516382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24" name="TextBox 24"/>
            <p:cNvSpPr txBox="1"/>
            <p:nvPr/>
          </p:nvSpPr>
          <p:spPr>
            <a:xfrm>
              <a:off x="1040130" y="4865370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三条特征互相支撑：用例排出优先级，构架决定每次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迭代能装下什么，迭代把风险提前暴露。</a:t>
              </a:r>
            </a:p>
          </p:txBody>
        </p:sp>
      </p:grpSp>
      <p:grpSp>
        <p:nvGrpSpPr>
          <p:cNvPr id="50" name="c2-flow-1"/>
          <p:cNvGrpSpPr/>
          <p:nvPr/>
        </p:nvGrpSpPr>
        <p:grpSpPr>
          <a:xfrm>
            <a:off x="6228398" y="2319338"/>
            <a:ext cx="5240655" cy="1867852"/>
            <a:chOff x="6228398" y="2319338"/>
            <a:chExt cx="5240655" cy="1867852"/>
          </a:xfrm>
        </p:grpSpPr>
        <p:sp>
          <p:nvSpPr>
            <p:cNvPr id="26" name="Freeform 26"/>
            <p:cNvSpPr/>
            <p:nvPr/>
          </p:nvSpPr>
          <p:spPr>
            <a:xfrm>
              <a:off x="8763952" y="2634615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0" y="0"/>
                  </a:moveTo>
                  <a:lnTo>
                    <a:pt x="27432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9038272" y="2582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28" name="Freeform 28"/>
            <p:cNvSpPr/>
            <p:nvPr/>
          </p:nvSpPr>
          <p:spPr>
            <a:xfrm>
              <a:off x="10306050" y="2853690"/>
              <a:ext cx="9525" cy="790575"/>
            </a:xfrm>
            <a:custGeom>
              <a:avLst/>
              <a:gdLst/>
              <a:ahLst/>
              <a:cxnLst/>
              <a:rect l="l" t="t" r="r" b="b"/>
              <a:pathLst>
                <a:path w="9525" h="790575">
                  <a:moveTo>
                    <a:pt x="0" y="0"/>
                  </a:moveTo>
                  <a:lnTo>
                    <a:pt x="0" y="790575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29" name="Freeform 29"/>
            <p:cNvSpPr/>
            <p:nvPr/>
          </p:nvSpPr>
          <p:spPr>
            <a:xfrm>
              <a:off x="10253662" y="3644265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52388" y="104775"/>
                  </a:moveTo>
                  <a:lnTo>
                    <a:pt x="0" y="0"/>
                  </a:lnTo>
                  <a:lnTo>
                    <a:pt x="104775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0" name="Freeform 30"/>
            <p:cNvSpPr/>
            <p:nvPr/>
          </p:nvSpPr>
          <p:spPr>
            <a:xfrm>
              <a:off x="8868728" y="3968115"/>
              <a:ext cx="274320" cy="9525"/>
            </a:xfrm>
            <a:custGeom>
              <a:avLst/>
              <a:gdLst/>
              <a:ahLst/>
              <a:cxnLst/>
              <a:rect l="l" t="t" r="r" b="b"/>
              <a:pathLst>
                <a:path w="274320" h="9525">
                  <a:moveTo>
                    <a:pt x="274320" y="0"/>
                  </a:move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1" name="Freeform 31"/>
            <p:cNvSpPr/>
            <p:nvPr/>
          </p:nvSpPr>
          <p:spPr>
            <a:xfrm>
              <a:off x="8763952" y="39157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0" y="52388"/>
                  </a:moveTo>
                  <a:lnTo>
                    <a:pt x="104775" y="0"/>
                  </a:lnTo>
                  <a:lnTo>
                    <a:pt x="104775" y="104775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2" name="Freeform 32"/>
            <p:cNvSpPr/>
            <p:nvPr/>
          </p:nvSpPr>
          <p:spPr>
            <a:xfrm>
              <a:off x="6228398" y="2634615"/>
              <a:ext cx="209550" cy="1333500"/>
            </a:xfrm>
            <a:custGeom>
              <a:avLst/>
              <a:gdLst/>
              <a:ahLst/>
              <a:cxnLst/>
              <a:rect l="l" t="t" r="r" b="b"/>
              <a:pathLst>
                <a:path w="209550" h="1333500">
                  <a:moveTo>
                    <a:pt x="209550" y="1333500"/>
                  </a:moveTo>
                  <a:lnTo>
                    <a:pt x="0" y="1333500"/>
                  </a:lnTo>
                  <a:lnTo>
                    <a:pt x="0" y="0"/>
                  </a:lnTo>
                  <a:lnTo>
                    <a:pt x="104775" y="0"/>
                  </a:lnTo>
                </a:path>
              </a:pathLst>
            </a:custGeom>
            <a:noFill/>
            <a:ln w="15240">
              <a:solidFill>
                <a:srgbClr val="5B6475"/>
              </a:solidFill>
            </a:ln>
          </p:spPr>
        </p:sp>
        <p:sp>
          <p:nvSpPr>
            <p:cNvPr id="33" name="Freeform 33"/>
            <p:cNvSpPr/>
            <p:nvPr/>
          </p:nvSpPr>
          <p:spPr>
            <a:xfrm>
              <a:off x="6333172" y="2582228"/>
              <a:ext cx="104775" cy="104775"/>
            </a:xfrm>
            <a:custGeom>
              <a:avLst/>
              <a:gdLst/>
              <a:ahLst/>
              <a:cxnLst/>
              <a:rect l="l" t="t" r="r" b="b"/>
              <a:pathLst>
                <a:path w="104775" h="104775">
                  <a:moveTo>
                    <a:pt x="104775" y="52388"/>
                  </a:moveTo>
                  <a:lnTo>
                    <a:pt x="0" y="104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6475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437948" y="2319338"/>
              <a:ext cx="2326005" cy="629602"/>
            </a:xfrm>
            <a:prstGeom prst="roundRect">
              <a:avLst>
                <a:gd name="adj" fmla="val 15129"/>
              </a:avLst>
            </a:prstGeom>
            <a:solidFill>
              <a:srgbClr val="E7EDF3"/>
            </a:solidFill>
            <a:ln w="19050">
              <a:solidFill>
                <a:srgbClr val="334E68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9143048" y="2415540"/>
              <a:ext cx="232600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9143048" y="3749040"/>
              <a:ext cx="232600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6437948" y="3749040"/>
              <a:ext cx="2326005" cy="43815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257161" y="2436019"/>
              <a:ext cx="687578" cy="46844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725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</a:t>
              </a:r>
              <a:br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Use Case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868789" y="254555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设计与构架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127259" y="38790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422159" y="387905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测试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772525" y="241839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806815" y="244506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驱动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10334625" y="320897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357866" y="323564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指导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8772525" y="3751898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806815" y="3778568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交付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56972" y="3208972"/>
              <a:ext cx="361950" cy="193358"/>
            </a:xfrm>
            <a:prstGeom prst="roundRect">
              <a:avLst>
                <a:gd name="adj" fmla="val 1970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280214" y="3235643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验证</a:t>
              </a:r>
            </a:p>
          </p:txBody>
        </p:sp>
      </p:grpSp>
      <p:grpSp>
        <p:nvGrpSpPr>
          <p:cNvPr id="52" name="c2-text-2"/>
          <p:cNvGrpSpPr/>
          <p:nvPr/>
        </p:nvGrpSpPr>
        <p:grpSpPr>
          <a:xfrm>
            <a:off x="6241923" y="4845844"/>
            <a:ext cx="5052314" cy="500824"/>
            <a:chOff x="6241923" y="4845844"/>
            <a:chExt cx="5052314" cy="500824"/>
          </a:xfrm>
        </p:grpSpPr>
        <p:sp>
          <p:nvSpPr>
            <p:cNvPr id="51" name="TextBox 51"/>
            <p:cNvSpPr txBox="1"/>
            <p:nvPr/>
          </p:nvSpPr>
          <p:spPr>
            <a:xfrm>
              <a:off x="6241923" y="4845844"/>
              <a:ext cx="5052314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一次迭代走完这一圈，产出一个可运行的版本；下一次迭代挑选新的用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例再走一圈。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309200" cy="909257"/>
            <a:chOff x="520446" y="342900"/>
            <a:chExt cx="4309200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71831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17325" y="407194"/>
              <a:ext cx="1550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架构与过程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309200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Q8 Resilient 不是过程特征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8311241" cy="293370"/>
            <a:chOff x="525780" y="1548765"/>
            <a:chExt cx="8311241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8311241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9 页　Which process characteristic is not essential to working with the UML?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54530"/>
            <a:ext cx="4869180" cy="2546032"/>
            <a:chOff x="533400" y="1954530"/>
            <a:chExt cx="4869180" cy="254603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869180" cy="2546032"/>
            </a:xfrm>
            <a:prstGeom prst="roundRect">
              <a:avLst>
                <a:gd name="adj" fmla="val 523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227933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554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68096" y="2531269"/>
              <a:ext cx="3318758" cy="5234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28"/>
                </a:lnSpc>
              </a:pPr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Which process characteristic is not</a:t>
              </a:r>
              <a:br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essential?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3114199"/>
              <a:ext cx="267453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Iterative and incremental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8096" y="3434239"/>
              <a:ext cx="177773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Use-case driven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8096" y="3754279"/>
              <a:ext cx="1097095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Resilient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8096" y="4074319"/>
              <a:ext cx="230216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Architecture-centric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686300"/>
            <a:ext cx="4869180" cy="1596390"/>
            <a:chOff x="533400" y="4686300"/>
            <a:chExt cx="4869180" cy="1596390"/>
          </a:xfrm>
        </p:grpSpPr>
        <p:sp>
          <p:nvSpPr>
            <p:cNvPr id="19" name="Rectangle 19"/>
            <p:cNvSpPr/>
            <p:nvPr/>
          </p:nvSpPr>
          <p:spPr>
            <a:xfrm>
              <a:off x="533400" y="4686300"/>
              <a:ext cx="4869180" cy="1596390"/>
            </a:xfrm>
            <a:prstGeom prst="roundRect">
              <a:avLst>
                <a:gd name="adj" fmla="val 7160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384483"/>
              <a:ext cx="200026" cy="200026"/>
              <a:chOff x="738188" y="5384483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38448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546227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511" y="5253514"/>
              <a:ext cx="3999992" cy="5415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70"/>
                </a:lnSpc>
              </a:pPr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正确答案：C。这是一道反向题，问的是"哪个不是</a:t>
              </a:r>
              <a:br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"。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707380" y="1954530"/>
            <a:ext cx="5951220" cy="2577465"/>
            <a:chOff x="5707380" y="1954530"/>
            <a:chExt cx="5951220" cy="2577465"/>
          </a:xfrm>
        </p:grpSpPr>
        <p:sp>
          <p:nvSpPr>
            <p:cNvPr id="25" name="Rectangle 25"/>
            <p:cNvSpPr/>
            <p:nvPr/>
          </p:nvSpPr>
          <p:spPr>
            <a:xfrm>
              <a:off x="5707380" y="1954530"/>
              <a:ext cx="5951220" cy="64389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896928" y="21926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69964" y="2085975"/>
              <a:ext cx="7741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680"/>
                </a:lnSpc>
              </a:pPr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是不是过程</a:t>
              </a:r>
              <a:br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特征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407842" y="219265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812726" y="272891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27102" y="2728912"/>
              <a:ext cx="3837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✓ 是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97712" y="2728912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迭代且增量，每次迭代产出可执行版本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707380" y="302323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707380" y="3027998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812726" y="315944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527102" y="3159442"/>
              <a:ext cx="3837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✓ 是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597712" y="3159442"/>
              <a:ext cx="227380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用例驱动，用例贯穿需求到测试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707380" y="345376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812726" y="369665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527102" y="3696652"/>
              <a:ext cx="54528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✗ 不是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597712" y="3589972"/>
              <a:ext cx="370027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resilient（有韧性）形容的是构架或系统的质量属性，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不是过程的特征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707380" y="409670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707380" y="4101465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812726" y="423291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27102" y="4232910"/>
              <a:ext cx="383743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✓ 是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597712" y="4232910"/>
              <a:ext cx="259689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以构架为中心，先稳定构架再扩功能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707380" y="1954530"/>
              <a:ext cx="5951220" cy="257746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16992" y="1954530"/>
              <a:ext cx="9525" cy="25774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487602" y="1954530"/>
              <a:ext cx="9525" cy="257746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56" name="c2-card-2"/>
          <p:cNvGrpSpPr/>
          <p:nvPr/>
        </p:nvGrpSpPr>
        <p:grpSpPr>
          <a:xfrm>
            <a:off x="5707380" y="4717732"/>
            <a:ext cx="5951220" cy="1564958"/>
            <a:chOff x="5707380" y="4717732"/>
            <a:chExt cx="5951220" cy="1564958"/>
          </a:xfrm>
        </p:grpSpPr>
        <p:sp>
          <p:nvSpPr>
            <p:cNvPr id="50" name="Rectangle 50"/>
            <p:cNvSpPr/>
            <p:nvPr/>
          </p:nvSpPr>
          <p:spPr>
            <a:xfrm>
              <a:off x="5707380" y="4717732"/>
              <a:ext cx="5951220" cy="1564958"/>
            </a:xfrm>
            <a:prstGeom prst="roundRect">
              <a:avLst>
                <a:gd name="adj" fmla="val 852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716905" y="4851082"/>
              <a:ext cx="47625" cy="12982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949315" y="4921568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6039523" y="495728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6550724" y="4961096"/>
              <a:ext cx="136168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反向题先圈 not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5942076" y="5312569"/>
              <a:ext cx="4883658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原题四个选项里有三个都是正确的过程特征，只要漏看题干的</a:t>
              </a:r>
              <a:br/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not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，就会在三个正确项里乱选。做题时先把 not、least、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except 圈出来。</a:t>
              </a:r>
            </a:p>
          </p:txBody>
        </p:sp>
      </p:grpSp>
      <p:grpSp>
        <p:nvGrpSpPr>
          <p:cNvPr id="5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7" name="TextBox 57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</p:grpSp>
      <p:grpSp>
        <p:nvGrpSpPr>
          <p:cNvPr id="20" name="section-title"/>
          <p:cNvGrpSpPr/>
          <p:nvPr/>
        </p:nvGrpSpPr>
        <p:grpSpPr>
          <a:xfrm>
            <a:off x="667512" y="1835468"/>
            <a:ext cx="5313197" cy="3706177"/>
            <a:chOff x="667512" y="1835468"/>
            <a:chExt cx="5313197" cy="370617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第三部分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197510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对象与类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53032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9—13 题：状态、可见行为、封装、模块化、类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对象的三个要素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266052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operation 与 method 的区别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4287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封装即信息隐藏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2268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模块化的目的</a:t>
              </a:r>
            </a:p>
          </p:txBody>
        </p:sp>
        <p:sp>
          <p:nvSpPr>
            <p:cNvPr id="18" name="Ellipse 18"/>
            <p:cNvSpPr/>
            <p:nvPr/>
          </p:nvSpPr>
          <p:spPr>
            <a:xfrm>
              <a:off x="723900" y="530542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906780" y="5248275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类是对象的抽象定义</a:t>
              </a:r>
            </a:p>
          </p:txBody>
        </p:sp>
      </p:grpSp>
      <p:grpSp>
        <p:nvGrpSpPr>
          <p:cNvPr id="2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21" name="TextBox 21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对象与类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对象由状态、行为和标识三样东西确定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5" name="c1-kv-1"/>
          <p:cNvGrpSpPr/>
          <p:nvPr/>
        </p:nvGrpSpPr>
        <p:grpSpPr>
          <a:xfrm>
            <a:off x="525780" y="1548765"/>
            <a:ext cx="5019675" cy="1455420"/>
            <a:chOff x="525780" y="1548765"/>
            <a:chExt cx="5019675" cy="145542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107310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状态 State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2097405" y="1548765"/>
              <a:ext cx="32537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全部属性的取值，加上与其他对象的链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533400" y="215074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25780" y="2270760"/>
              <a:ext cx="136929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行为 Behavior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097405" y="2270760"/>
              <a:ext cx="304419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能响应哪些消息，对外表现为操作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" y="2590800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5780" y="2710815"/>
              <a:ext cx="131591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标识 Identity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097405" y="2710815"/>
              <a:ext cx="344805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每个对象独一无二，属性相同也是两个</a:t>
              </a:r>
            </a:p>
          </p:txBody>
        </p:sp>
      </p:grpSp>
      <p:grpSp>
        <p:nvGrpSpPr>
          <p:cNvPr id="24" name="c1-card-2"/>
          <p:cNvGrpSpPr/>
          <p:nvPr/>
        </p:nvGrpSpPr>
        <p:grpSpPr>
          <a:xfrm>
            <a:off x="533400" y="3135630"/>
            <a:ext cx="4977765" cy="2577465"/>
            <a:chOff x="533400" y="3135630"/>
            <a:chExt cx="4977765" cy="2577465"/>
          </a:xfrm>
        </p:grpSpPr>
        <p:sp>
          <p:nvSpPr>
            <p:cNvPr id="16" name="Rectangle 16"/>
            <p:cNvSpPr/>
            <p:nvPr/>
          </p:nvSpPr>
          <p:spPr>
            <a:xfrm>
              <a:off x="533400" y="3135630"/>
              <a:ext cx="4977765" cy="2577465"/>
            </a:xfrm>
            <a:prstGeom prst="roundRect">
              <a:avLst>
                <a:gd name="adj" fmla="val 517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542925" y="3268980"/>
              <a:ext cx="47625" cy="231076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81050" y="334518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71258" y="338089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382078" y="3380422"/>
              <a:ext cx="2543575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教师对象 Professor Clark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73430" y="3741420"/>
              <a:ext cx="425386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属性：name ＝ Clark，status ＝ tenured（在职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终身教职）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73430" y="4362450"/>
              <a:ext cx="3089148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链接：teaches → 课程对象 CS101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73430" y="4697730"/>
              <a:ext cx="4234815" cy="8648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当 status 改为 retired，或者与 CS101 的链接被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撤销，这个对象的状态就变了；但它仍然是同一个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对象。</a:t>
              </a:r>
            </a:p>
          </p:txBody>
        </p:sp>
      </p:grpSp>
      <p:grpSp>
        <p:nvGrpSpPr>
          <p:cNvPr id="40" name="c2-graph-1"/>
          <p:cNvGrpSpPr/>
          <p:nvPr/>
        </p:nvGrpSpPr>
        <p:grpSpPr>
          <a:xfrm>
            <a:off x="6546532" y="2000250"/>
            <a:ext cx="4683443" cy="1495425"/>
            <a:chOff x="6546532" y="2000250"/>
            <a:chExt cx="4683443" cy="1495425"/>
          </a:xfrm>
        </p:grpSpPr>
        <p:sp>
          <p:nvSpPr>
            <p:cNvPr id="25" name="Freeform 25"/>
            <p:cNvSpPr/>
            <p:nvPr/>
          </p:nvSpPr>
          <p:spPr>
            <a:xfrm>
              <a:off x="8356282" y="2238375"/>
              <a:ext cx="1159193" cy="9525"/>
            </a:xfrm>
            <a:custGeom>
              <a:avLst/>
              <a:gdLst/>
              <a:ahLst/>
              <a:cxnLst/>
              <a:rect l="l" t="t" r="r" b="b"/>
              <a:pathLst>
                <a:path w="1159193" h="9525">
                  <a:moveTo>
                    <a:pt x="0" y="0"/>
                  </a:moveTo>
                  <a:lnTo>
                    <a:pt x="115919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6" name="Freeform 26"/>
            <p:cNvSpPr/>
            <p:nvPr/>
          </p:nvSpPr>
          <p:spPr>
            <a:xfrm>
              <a:off x="8356282" y="3286125"/>
              <a:ext cx="1063943" cy="9525"/>
            </a:xfrm>
            <a:custGeom>
              <a:avLst/>
              <a:gdLst/>
              <a:ahLst/>
              <a:cxnLst/>
              <a:rect l="l" t="t" r="r" b="b"/>
              <a:pathLst>
                <a:path w="1063943" h="9525">
                  <a:moveTo>
                    <a:pt x="0" y="0"/>
                  </a:moveTo>
                  <a:lnTo>
                    <a:pt x="1063943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</a:ln>
          </p:spPr>
        </p:sp>
        <p:sp>
          <p:nvSpPr>
            <p:cNvPr id="27" name="Freeform 27"/>
            <p:cNvSpPr/>
            <p:nvPr/>
          </p:nvSpPr>
          <p:spPr>
            <a:xfrm>
              <a:off x="9420225" y="32385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952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28" name="Rectangle 28"/>
            <p:cNvSpPr/>
            <p:nvPr/>
          </p:nvSpPr>
          <p:spPr>
            <a:xfrm>
              <a:off x="6546532" y="2000250"/>
              <a:ext cx="1809750" cy="476250"/>
            </a:xfrm>
            <a:prstGeom prst="roundRect">
              <a:avLst>
                <a:gd name="adj" fmla="val 20000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29" name="Rectangle 29"/>
            <p:cNvSpPr/>
            <p:nvPr/>
          </p:nvSpPr>
          <p:spPr>
            <a:xfrm>
              <a:off x="9515475" y="2000250"/>
              <a:ext cx="1714500" cy="476250"/>
            </a:xfrm>
            <a:prstGeom prst="roundRect">
              <a:avLst>
                <a:gd name="adj" fmla="val 20000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6546532" y="3076575"/>
              <a:ext cx="1809750" cy="41910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9515475" y="3076575"/>
              <a:ext cx="1714500" cy="419100"/>
            </a:xfrm>
            <a:prstGeom prst="roundRect">
              <a:avLst>
                <a:gd name="adj" fmla="val 22727"/>
              </a:avLst>
            </a:prstGeom>
            <a:solidFill>
              <a:srgbClr val="FDECEA"/>
            </a:solidFill>
            <a:ln w="17145">
              <a:solidFill>
                <a:srgbClr val="B42318"/>
              </a:solidFill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802713" y="2172652"/>
              <a:ext cx="12973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Clark : Professor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821743" y="2172652"/>
              <a:ext cx="110196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CS101 : Course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800276" y="3220402"/>
              <a:ext cx="130226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status ＝ tenured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9740146" y="3220402"/>
              <a:ext cx="126515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status ＝ retired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697278" y="2160270"/>
              <a:ext cx="47720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8719095" y="2189321"/>
              <a:ext cx="43452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teaches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689658" y="3208020"/>
              <a:ext cx="492442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8710816" y="323707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状态改变</a:t>
              </a:r>
            </a:p>
          </p:txBody>
        </p:sp>
      </p:grpSp>
      <p:grpSp>
        <p:nvGrpSpPr>
          <p:cNvPr id="46" name="c2-callout-2"/>
          <p:cNvGrpSpPr/>
          <p:nvPr/>
        </p:nvGrpSpPr>
        <p:grpSpPr>
          <a:xfrm>
            <a:off x="5815965" y="4095750"/>
            <a:ext cx="5842635" cy="1617345"/>
            <a:chOff x="5815965" y="4095750"/>
            <a:chExt cx="5842635" cy="1617345"/>
          </a:xfrm>
        </p:grpSpPr>
        <p:sp>
          <p:nvSpPr>
            <p:cNvPr id="41" name="Rectangle 41"/>
            <p:cNvSpPr/>
            <p:nvPr/>
          </p:nvSpPr>
          <p:spPr>
            <a:xfrm>
              <a:off x="5815965" y="4095750"/>
              <a:ext cx="5842635" cy="1617345"/>
            </a:xfrm>
            <a:prstGeom prst="roundRect">
              <a:avLst>
                <a:gd name="adj" fmla="val 7067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6020753" y="4804412"/>
              <a:ext cx="200023" cy="200023"/>
              <a:chOff x="6020753" y="4804412"/>
              <a:chExt cx="200023" cy="200023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6020753" y="480441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154103" y="487108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45" name="TextBox 45"/>
            <p:cNvSpPr txBox="1"/>
            <p:nvPr/>
          </p:nvSpPr>
          <p:spPr>
            <a:xfrm>
              <a:off x="6322695" y="4661535"/>
              <a:ext cx="4844415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状态由属性值和链接共同决定，只盯着某一个叫 state 的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属性是不够的。</a:t>
              </a:r>
            </a:p>
          </p:txBody>
        </p:sp>
      </p:grpSp>
      <p:grpSp>
        <p:nvGrpSpPr>
          <p:cNvPr id="4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47" name="TextBox 47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784479" cy="909257"/>
            <a:chOff x="520446" y="342900"/>
            <a:chExt cx="578447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对象与类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78447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Q9 对象的状态由属性和关系共同定义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4254722" cy="293370"/>
            <a:chOff x="525780" y="1548765"/>
            <a:chExt cx="4254722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25472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10 页　The state of an object . . . 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54530"/>
            <a:ext cx="4869180" cy="2796540"/>
            <a:chOff x="533400" y="1954530"/>
            <a:chExt cx="4869180" cy="2796540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869180" cy="2796540"/>
            </a:xfrm>
            <a:prstGeom prst="roundRect">
              <a:avLst>
                <a:gd name="adj" fmla="val 4768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252984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75335" y="2158365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5543" y="219408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76744" y="2197894"/>
              <a:ext cx="28837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state of an object . . . 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8096" y="2550319"/>
              <a:ext cx="4036060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Is defined by a "state" attribute or set of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attributes.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8096" y="3141821"/>
              <a:ext cx="366982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Does not normally change over time.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8096" y="3461861"/>
              <a:ext cx="3783584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Is defined by an object's attributes and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relationships.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8096" y="4053364"/>
              <a:ext cx="4027043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Is the only condition in which an object may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exist.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935855"/>
            <a:ext cx="4869180" cy="518160"/>
            <a:chOff x="533400" y="4935855"/>
            <a:chExt cx="4869180" cy="518160"/>
          </a:xfrm>
        </p:grpSpPr>
        <p:sp>
          <p:nvSpPr>
            <p:cNvPr id="19" name="Rectangle 19"/>
            <p:cNvSpPr/>
            <p:nvPr/>
          </p:nvSpPr>
          <p:spPr>
            <a:xfrm>
              <a:off x="533400" y="4935855"/>
              <a:ext cx="4869180" cy="518160"/>
            </a:xfrm>
            <a:prstGeom prst="roundRect">
              <a:avLst>
                <a:gd name="adj" fmla="val 2205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5095875"/>
              <a:ext cx="200026" cy="200026"/>
              <a:chOff x="738188" y="5095875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509587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517366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511" y="5096351"/>
              <a:ext cx="12725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正确答案：C。</a:t>
              </a:r>
            </a:p>
          </p:txBody>
        </p:sp>
      </p:grpSp>
      <p:grpSp>
        <p:nvGrpSpPr>
          <p:cNvPr id="30" name="c1-kv-3"/>
          <p:cNvGrpSpPr/>
          <p:nvPr/>
        </p:nvGrpSpPr>
        <p:grpSpPr>
          <a:xfrm>
            <a:off x="526161" y="5664041"/>
            <a:ext cx="4876419" cy="699707"/>
            <a:chOff x="526161" y="5664041"/>
            <a:chExt cx="4876419" cy="699707"/>
          </a:xfrm>
        </p:grpSpPr>
        <p:sp>
          <p:nvSpPr>
            <p:cNvPr id="25" name="TextBox 25"/>
            <p:cNvSpPr txBox="1"/>
            <p:nvPr/>
          </p:nvSpPr>
          <p:spPr>
            <a:xfrm>
              <a:off x="526161" y="5664041"/>
              <a:ext cx="58795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属性值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37691" y="5664041"/>
              <a:ext cx="307910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name ＝ Clark，status ＝ retired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5969318"/>
              <a:ext cx="486918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6161" y="6085046"/>
              <a:ext cx="39679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链接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37691" y="6085046"/>
              <a:ext cx="3043889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teaches → CS101，撤掉它状态也变</a:t>
              </a:r>
            </a:p>
          </p:txBody>
        </p:sp>
      </p:grpSp>
      <p:grpSp>
        <p:nvGrpSpPr>
          <p:cNvPr id="55" name="c2-table-1"/>
          <p:cNvGrpSpPr/>
          <p:nvPr/>
        </p:nvGrpSpPr>
        <p:grpSpPr>
          <a:xfrm>
            <a:off x="5707380" y="1954530"/>
            <a:ext cx="5951220" cy="2150745"/>
            <a:chOff x="5707380" y="1954530"/>
            <a:chExt cx="5951220" cy="2150745"/>
          </a:xfrm>
        </p:grpSpPr>
        <p:sp>
          <p:nvSpPr>
            <p:cNvPr id="31" name="Rectangle 31"/>
            <p:cNvSpPr/>
            <p:nvPr/>
          </p:nvSpPr>
          <p:spPr>
            <a:xfrm>
              <a:off x="5707380" y="1954530"/>
              <a:ext cx="5951220" cy="43053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896928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611302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29725" y="2085975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5812726" y="251555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27102" y="251555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7241476" y="2515552"/>
              <a:ext cx="26534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把状态窄化成某个名叫 state 的属性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707380" y="280987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9" name="Rectangle 39"/>
            <p:cNvSpPr/>
            <p:nvPr/>
          </p:nvSpPr>
          <p:spPr>
            <a:xfrm>
              <a:off x="5707380" y="2814638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812726" y="294608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527102" y="294608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241476" y="2946082"/>
              <a:ext cx="372770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状态随时间变化才是常态，状态图画的就是这种变化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5707380" y="3240405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5812726" y="337661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527102" y="337661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241476" y="3376612"/>
              <a:ext cx="27584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属性的当前取值加上与其他对象的链接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707380" y="366998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5707380" y="3674745"/>
              <a:ext cx="5951220" cy="43053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5812726" y="380619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27102" y="380619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241476" y="3806190"/>
              <a:ext cx="340461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一个对象一生可以经历许多状态，不是只有一种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707380" y="1954530"/>
              <a:ext cx="5951220" cy="215074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6416992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7131368" y="1954530"/>
              <a:ext cx="9525" cy="215074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1" name="c2-card-2"/>
          <p:cNvGrpSpPr/>
          <p:nvPr/>
        </p:nvGrpSpPr>
        <p:grpSpPr>
          <a:xfrm>
            <a:off x="5707380" y="4291012"/>
            <a:ext cx="5951220" cy="2017395"/>
            <a:chOff x="5707380" y="4291012"/>
            <a:chExt cx="5951220" cy="2017395"/>
          </a:xfrm>
        </p:grpSpPr>
        <p:sp>
          <p:nvSpPr>
            <p:cNvPr id="56" name="Rectangle 56"/>
            <p:cNvSpPr/>
            <p:nvPr/>
          </p:nvSpPr>
          <p:spPr>
            <a:xfrm>
              <a:off x="5707380" y="4291012"/>
              <a:ext cx="5951220" cy="2017395"/>
            </a:xfrm>
            <a:prstGeom prst="roundRect">
              <a:avLst>
                <a:gd name="adj" fmla="val 6610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5716905" y="4424362"/>
              <a:ext cx="47625" cy="1750695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5949315" y="4494848"/>
              <a:ext cx="636270" cy="257175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6035573" y="453056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精确化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5942076" y="4867751"/>
              <a:ext cx="4718647" cy="82162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严格说，对象之间连的是 </a:t>
              </a:r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link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（关系的实例），类之间才叫</a:t>
              </a:r>
              <a:br/>
              <a:r>
                <a:rPr lang="en-US" sz="14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relationship</a:t>
              </a: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。原课件备注用的正是 links，选项 C 的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relationships 属于口语化写法。</a:t>
              </a:r>
            </a:p>
          </p:txBody>
        </p:sp>
      </p:grpSp>
      <p:grpSp>
        <p:nvGrpSpPr>
          <p:cNvPr id="64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2" name="TextBox 62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934259" cy="909257"/>
            <a:chOff x="520446" y="342900"/>
            <a:chExt cx="39342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对象与类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9342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Q10 可见行为由操作建模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6540107" cy="278702"/>
            <a:chOff x="526161" y="1547336"/>
            <a:chExt cx="6540107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6540107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11 页　The visible behavior of an object is modeled by its . . . 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41195"/>
            <a:ext cx="4760595" cy="2179320"/>
            <a:chOff x="533400" y="1941195"/>
            <a:chExt cx="4760595" cy="217932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760595" cy="2179320"/>
            </a:xfrm>
            <a:prstGeom prst="roundRect">
              <a:avLst>
                <a:gd name="adj" fmla="val 611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9126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57047" y="2490788"/>
              <a:ext cx="40758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The visible behavior is modeled by its . . . 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810827"/>
              <a:ext cx="123470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Attributes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112770"/>
              <a:ext cx="165109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Responsibilities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415665"/>
              <a:ext cx="127142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Operations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717608"/>
              <a:ext cx="101819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Methods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296728"/>
            <a:ext cx="4760595" cy="488632"/>
            <a:chOff x="533400" y="4296728"/>
            <a:chExt cx="4760595" cy="488632"/>
          </a:xfrm>
        </p:grpSpPr>
        <p:sp>
          <p:nvSpPr>
            <p:cNvPr id="19" name="Rectangle 19"/>
            <p:cNvSpPr/>
            <p:nvPr/>
          </p:nvSpPr>
          <p:spPr>
            <a:xfrm>
              <a:off x="533400" y="4296728"/>
              <a:ext cx="4760595" cy="488632"/>
            </a:xfrm>
            <a:prstGeom prst="roundRect">
              <a:avLst>
                <a:gd name="adj" fmla="val 2339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440555"/>
              <a:ext cx="200026" cy="200026"/>
              <a:chOff x="738188" y="4440555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44055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51834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4446270"/>
              <a:ext cx="1209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正确答案：C。</a:t>
              </a:r>
            </a:p>
          </p:txBody>
        </p:sp>
      </p:grpSp>
      <p:grpSp>
        <p:nvGrpSpPr>
          <p:cNvPr id="32" name="c1-card-3"/>
          <p:cNvGrpSpPr/>
          <p:nvPr/>
        </p:nvGrpSpPr>
        <p:grpSpPr>
          <a:xfrm>
            <a:off x="533400" y="4960620"/>
            <a:ext cx="4760595" cy="1272540"/>
            <a:chOff x="533400" y="4960620"/>
            <a:chExt cx="4760595" cy="1272540"/>
          </a:xfrm>
        </p:grpSpPr>
        <p:sp>
          <p:nvSpPr>
            <p:cNvPr id="25" name="Rectangle 25"/>
            <p:cNvSpPr/>
            <p:nvPr/>
          </p:nvSpPr>
          <p:spPr>
            <a:xfrm>
              <a:off x="533400" y="4960620"/>
              <a:ext cx="4760595" cy="1272540"/>
            </a:xfrm>
            <a:prstGeom prst="roundRect">
              <a:avLst>
                <a:gd name="adj" fmla="val 10479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5093970"/>
              <a:ext cx="47625" cy="1005840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3905" y="5153025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55345" y="5187315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1347597" y="5192078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同一个服务的两面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7047" y="5526405"/>
              <a:ext cx="44382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类图操作格里的 </a:t>
              </a:r>
              <a:r>
                <a:rPr lang="en-US" sz="1350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+ teach(c : Course)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 xml:space="preserve"> 是 operation。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7047" y="5829300"/>
              <a:ext cx="43390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真正执行排课的那段代码是 method，藏在封装后面。</a:t>
              </a:r>
            </a:p>
          </p:txBody>
        </p:sp>
      </p:grpSp>
      <p:grpSp>
        <p:nvGrpSpPr>
          <p:cNvPr id="59" name="c2-table-1"/>
          <p:cNvGrpSpPr/>
          <p:nvPr/>
        </p:nvGrpSpPr>
        <p:grpSpPr>
          <a:xfrm>
            <a:off x="5598795" y="1941195"/>
            <a:ext cx="6059805" cy="2428875"/>
            <a:chOff x="5598795" y="1941195"/>
            <a:chExt cx="6059805" cy="2428875"/>
          </a:xfrm>
        </p:grpSpPr>
        <p:sp>
          <p:nvSpPr>
            <p:cNvPr id="33" name="Rectangle 33"/>
            <p:cNvSpPr/>
            <p:nvPr/>
          </p:nvSpPr>
          <p:spPr>
            <a:xfrm>
              <a:off x="5598795" y="1941195"/>
              <a:ext cx="6059805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09857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术语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156791" y="2065496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是什么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380599" y="2065496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对外可见吗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5698808" y="2471261"/>
              <a:ext cx="760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Attribute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010400" y="2471261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描述对象的结构特征，存的是数据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967912" y="2471261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通常封装起来，不可见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5598795" y="274796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5598795" y="2752725"/>
              <a:ext cx="6059805" cy="6057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698808" y="2977039"/>
              <a:ext cx="1076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Responsibility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10400" y="2877026"/>
              <a:ext cx="25717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对类职责的非形式化描述，写在类图的注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释区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967912" y="2877026"/>
              <a:ext cx="143383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是说明，不是可调用的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元素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598795" y="335375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608320" y="3368040"/>
              <a:ext cx="1291590" cy="58674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698808" y="3582829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Operation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10400" y="3482816"/>
              <a:ext cx="257175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75"/>
                </a:lnSpc>
              </a:pPr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对象提供的服务的声明，含名字、参数和</a:t>
              </a:r>
              <a:br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返回值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967912" y="3582829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可见，构成接口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598795" y="3959542"/>
              <a:ext cx="605980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1" name="Rectangle 51"/>
            <p:cNvSpPr/>
            <p:nvPr/>
          </p:nvSpPr>
          <p:spPr>
            <a:xfrm>
              <a:off x="5598795" y="3964305"/>
              <a:ext cx="605980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5608320" y="3973830"/>
              <a:ext cx="1291590" cy="386715"/>
            </a:xfrm>
            <a:prstGeom prst="rect">
              <a:avLst/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5698808" y="4088606"/>
              <a:ext cx="570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Method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010400" y="4088606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操作的具体实现体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9967912" y="4088606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藏在封装后面，不可见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5598795" y="1941195"/>
              <a:ext cx="6059805" cy="242887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6905625" y="1941195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8" name="Rectangle 58"/>
            <p:cNvSpPr/>
            <p:nvPr/>
          </p:nvSpPr>
          <p:spPr>
            <a:xfrm>
              <a:off x="9863138" y="1941195"/>
              <a:ext cx="9525" cy="242887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c2-callout-2"/>
          <p:cNvGrpSpPr/>
          <p:nvPr/>
        </p:nvGrpSpPr>
        <p:grpSpPr>
          <a:xfrm>
            <a:off x="5598795" y="4545330"/>
            <a:ext cx="6059805" cy="1686878"/>
            <a:chOff x="5598795" y="4545330"/>
            <a:chExt cx="6059805" cy="1686878"/>
          </a:xfrm>
        </p:grpSpPr>
        <p:sp>
          <p:nvSpPr>
            <p:cNvPr id="60" name="Rectangle 60"/>
            <p:cNvSpPr/>
            <p:nvPr/>
          </p:nvSpPr>
          <p:spPr>
            <a:xfrm>
              <a:off x="5598795" y="4545330"/>
              <a:ext cx="6059805" cy="1686878"/>
            </a:xfrm>
            <a:prstGeom prst="roundRect">
              <a:avLst>
                <a:gd name="adj" fmla="val 6776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64" name="Group 64"/>
            <p:cNvGrpSpPr/>
            <p:nvPr/>
          </p:nvGrpSpPr>
          <p:grpSpPr>
            <a:xfrm>
              <a:off x="5791524" y="5285541"/>
              <a:ext cx="224134" cy="192560"/>
              <a:chOff x="5791524" y="5285541"/>
              <a:chExt cx="224134" cy="19256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903595" y="5355908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5791524" y="5285541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63" name="Freeform 63"/>
              <p:cNvSpPr/>
              <p:nvPr/>
            </p:nvSpPr>
            <p:spPr>
              <a:xfrm>
                <a:off x="5903595" y="5433696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65" name="TextBox 65"/>
            <p:cNvSpPr txBox="1"/>
            <p:nvPr/>
          </p:nvSpPr>
          <p:spPr>
            <a:xfrm>
              <a:off x="6106287" y="5170170"/>
              <a:ext cx="5131498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operation 是“声明什么服务”，method 是“这项服务怎么做”。D 项</a:t>
              </a:r>
              <a:br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就是拿实现冒充接口。</a:t>
              </a:r>
            </a:p>
          </p:txBody>
        </p:sp>
      </p:grpSp>
      <p:grpSp>
        <p:nvGrpSpPr>
          <p:cNvPr id="69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7" name="TextBox 67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590978" cy="909257"/>
            <a:chOff x="520446" y="342900"/>
            <a:chExt cx="3590978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对象与类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590978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Q11 封装就是信息隐藏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3065763" cy="264033"/>
            <a:chOff x="526542" y="1545907"/>
            <a:chExt cx="3065763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30657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12 页　Encapsulation . . . 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28812"/>
            <a:ext cx="5626418" cy="2103120"/>
            <a:chOff x="533400" y="1928812"/>
            <a:chExt cx="5626418" cy="2103120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5626418" cy="2103120"/>
            </a:xfrm>
            <a:prstGeom prst="roundRect">
              <a:avLst>
                <a:gd name="adj" fmla="val 634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836420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8190" y="211550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0862" y="214836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23784" y="2150745"/>
              <a:ext cx="193984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Encapsulation . . . 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1332" y="2476500"/>
              <a:ext cx="4531424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Allows direct manipulation of things that have been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encapsulated.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1332" y="3033712"/>
              <a:ext cx="41153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Is often referred to as information hiding.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1332" y="3333750"/>
              <a:ext cx="399715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Causes costly and extensive maintenance.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1332" y="3633788"/>
              <a:ext cx="53053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Causes changes to affect clients during implementation.</a:t>
              </a:r>
            </a:p>
          </p:txBody>
        </p:sp>
      </p:grpSp>
      <p:grpSp>
        <p:nvGrpSpPr>
          <p:cNvPr id="26" name="c1-card-2"/>
          <p:cNvGrpSpPr/>
          <p:nvPr/>
        </p:nvGrpSpPr>
        <p:grpSpPr>
          <a:xfrm>
            <a:off x="533400" y="4201478"/>
            <a:ext cx="5626418" cy="1418272"/>
            <a:chOff x="533400" y="4201478"/>
            <a:chExt cx="5626418" cy="1418272"/>
          </a:xfrm>
        </p:grpSpPr>
        <p:sp>
          <p:nvSpPr>
            <p:cNvPr id="19" name="Rectangle 19"/>
            <p:cNvSpPr/>
            <p:nvPr/>
          </p:nvSpPr>
          <p:spPr>
            <a:xfrm>
              <a:off x="533400" y="4201478"/>
              <a:ext cx="5626418" cy="1418272"/>
            </a:xfrm>
            <a:prstGeom prst="roundRect">
              <a:avLst>
                <a:gd name="adj" fmla="val 9402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0090" y="4388168"/>
              <a:ext cx="707708" cy="23812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04659" y="4421029"/>
              <a:ext cx="53761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带来什么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728662" y="4789170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884682" y="4732972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客户只依赖</a:t>
              </a:r>
              <a:r>
                <a:rPr lang="zh-CN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接口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，实现换了也不用改客户代码</a:t>
              </a:r>
            </a:p>
          </p:txBody>
        </p:sp>
        <p:sp>
          <p:nvSpPr>
            <p:cNvPr id="24" name="Ellipse 24"/>
            <p:cNvSpPr/>
            <p:nvPr/>
          </p:nvSpPr>
          <p:spPr>
            <a:xfrm>
              <a:off x="728662" y="508920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884682" y="503301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改动被局部化在类内部，维护代价下降</a:t>
              </a:r>
            </a:p>
          </p:txBody>
        </p:sp>
      </p:grpSp>
      <p:grpSp>
        <p:nvGrpSpPr>
          <p:cNvPr id="29" name="c2-image-1"/>
          <p:cNvGrpSpPr/>
          <p:nvPr/>
        </p:nvGrpSpPr>
        <p:grpSpPr>
          <a:xfrm>
            <a:off x="6464618" y="1928812"/>
            <a:ext cx="5193982" cy="1539907"/>
            <a:chOff x="6464618" y="1928812"/>
            <a:chExt cx="5193982" cy="1539907"/>
          </a:xfrm>
        </p:grpSpPr>
        <p:pic>
          <p:nvPicPr>
            <p:cNvPr id="27" name="Image 27"/>
            <p:cNvPicPr>
              <a:picLocks noChangeAspect="1"/>
            </p:cNvPicPr>
            <p:nvPr/>
          </p:nvPicPr>
          <p:blipFill>
            <a:blip r:embed="rId2"/>
            <a:srcRect l="0" t="33862" r="0" b="33862"/>
            <a:stretch>
              <a:fillRect/>
            </a:stretch>
          </p:blipFill>
          <p:spPr>
            <a:xfrm>
              <a:off x="6464618" y="1928812"/>
              <a:ext cx="5193982" cy="1257300"/>
            </a:xfrm>
            <a:prstGeom prst="roundRect">
              <a:avLst>
                <a:gd name="adj" fmla="val 10606"/>
              </a:avLst>
            </a:prstGeom>
          </p:spPr>
        </p:pic>
        <p:sp>
          <p:nvSpPr>
            <p:cNvPr id="28" name="TextBox 28"/>
            <p:cNvSpPr txBox="1"/>
            <p:nvPr/>
          </p:nvSpPr>
          <p:spPr>
            <a:xfrm>
              <a:off x="7539965" y="3278029"/>
              <a:ext cx="30442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顾客只按按钮取饮料，内部的弹簧和管路对他不可见</a:t>
              </a:r>
            </a:p>
          </p:txBody>
        </p:sp>
      </p:grpSp>
      <p:grpSp>
        <p:nvGrpSpPr>
          <p:cNvPr id="54" name="c2-table-2"/>
          <p:cNvGrpSpPr/>
          <p:nvPr/>
        </p:nvGrpSpPr>
        <p:grpSpPr>
          <a:xfrm>
            <a:off x="6464618" y="3619500"/>
            <a:ext cx="5193982" cy="2000250"/>
            <a:chOff x="6464618" y="3619500"/>
            <a:chExt cx="5193982" cy="2000250"/>
          </a:xfrm>
        </p:grpSpPr>
        <p:sp>
          <p:nvSpPr>
            <p:cNvPr id="30" name="Rectangle 30"/>
            <p:cNvSpPr/>
            <p:nvPr/>
          </p:nvSpPr>
          <p:spPr>
            <a:xfrm>
              <a:off x="6464618" y="3619500"/>
              <a:ext cx="5193982" cy="40005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619596" y="37409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243483" y="37409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9528531" y="3740944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561772" y="414099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185660" y="41409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808595" y="4140994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说反了，封装禁止外部直接操作内部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464618" y="44148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64618" y="44196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61772" y="45410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185660" y="45410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808595" y="4541044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封装又称信息隐藏，只暴露接口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464618" y="48148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61772" y="494109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185660" y="494109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808595" y="494109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封装把改动限制在类内，维护成本下降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6464618" y="521493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6464618" y="5219700"/>
              <a:ext cx="5193982" cy="40005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6561772" y="5341144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185660" y="5341144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808595" y="5341144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封装的作用正是让实现改动不波及客户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3619500"/>
              <a:ext cx="5193982" cy="2000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2" name="Rectangle 52"/>
            <p:cNvSpPr/>
            <p:nvPr/>
          </p:nvSpPr>
          <p:spPr>
            <a:xfrm>
              <a:off x="7083742" y="36195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3" name="Rectangle 53"/>
            <p:cNvSpPr/>
            <p:nvPr/>
          </p:nvSpPr>
          <p:spPr>
            <a:xfrm>
              <a:off x="7706678" y="3619500"/>
              <a:ext cx="9525" cy="2000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takeaway"/>
          <p:cNvGrpSpPr/>
          <p:nvPr/>
        </p:nvGrpSpPr>
        <p:grpSpPr>
          <a:xfrm>
            <a:off x="533400" y="5881688"/>
            <a:ext cx="11125200" cy="481012"/>
            <a:chOff x="533400" y="5881688"/>
            <a:chExt cx="11125200" cy="481012"/>
          </a:xfrm>
        </p:grpSpPr>
        <p:sp>
          <p:nvSpPr>
            <p:cNvPr id="55" name="Rectangle 55"/>
            <p:cNvSpPr/>
            <p:nvPr/>
          </p:nvSpPr>
          <p:spPr>
            <a:xfrm>
              <a:off x="533400" y="5881688"/>
              <a:ext cx="11125200" cy="481012"/>
            </a:xfrm>
            <a:prstGeom prst="roundRect">
              <a:avLst>
                <a:gd name="adj" fmla="val 2376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58" name="Group 58"/>
            <p:cNvGrpSpPr/>
            <p:nvPr/>
          </p:nvGrpSpPr>
          <p:grpSpPr>
            <a:xfrm>
              <a:off x="738188" y="6022658"/>
              <a:ext cx="200026" cy="200026"/>
              <a:chOff x="738188" y="6022658"/>
              <a:chExt cx="200026" cy="200026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38188" y="602265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804863" y="610044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1040892" y="6028373"/>
              <a:ext cx="43863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正确答案：B。C、D 两项都把封装的好处说成了坏处。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93945" cy="909257"/>
            <a:chOff x="520446" y="342900"/>
            <a:chExt cx="59939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对象与类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939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Q12 模块化把复杂系统拆成可管理的块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103410" cy="278702"/>
            <a:chOff x="526161" y="1547336"/>
            <a:chExt cx="710341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10341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13 页　What happens when you incorporate modularity into your plan?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41195"/>
            <a:ext cx="4977765" cy="2391728"/>
            <a:chOff x="533400" y="1941195"/>
            <a:chExt cx="4977765" cy="239172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977765" cy="2391728"/>
            </a:xfrm>
            <a:prstGeom prst="roundRect">
              <a:avLst>
                <a:gd name="adj" fmla="val 5575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212502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28921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What happens with modularity?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4077081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It reduces something complex into manageable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pieces.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3068002"/>
              <a:ext cx="397016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It builds modules that talk to each other.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369945"/>
              <a:ext cx="40430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Creates systems too large to understand.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672840"/>
              <a:ext cx="4094226" cy="52120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Parts of your system cannot be independently</a:t>
              </a:r>
              <a:br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developed.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508182"/>
            <a:ext cx="4977765" cy="877252"/>
            <a:chOff x="533400" y="4508182"/>
            <a:chExt cx="4977765" cy="877252"/>
          </a:xfrm>
        </p:grpSpPr>
        <p:sp>
          <p:nvSpPr>
            <p:cNvPr id="19" name="Rectangle 19"/>
            <p:cNvSpPr/>
            <p:nvPr/>
          </p:nvSpPr>
          <p:spPr>
            <a:xfrm>
              <a:off x="533400" y="4508182"/>
              <a:ext cx="4977765" cy="877252"/>
            </a:xfrm>
            <a:prstGeom prst="roundRect">
              <a:avLst>
                <a:gd name="adj" fmla="val 13029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847273"/>
              <a:ext cx="200026" cy="200026"/>
              <a:chOff x="738188" y="4847273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84727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92506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4852987"/>
              <a:ext cx="1209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正确答案：A。</a:t>
              </a:r>
            </a:p>
          </p:txBody>
        </p:sp>
      </p:grpSp>
      <p:grpSp>
        <p:nvGrpSpPr>
          <p:cNvPr id="49" name="c2-table-1"/>
          <p:cNvGrpSpPr/>
          <p:nvPr/>
        </p:nvGrpSpPr>
        <p:grpSpPr>
          <a:xfrm>
            <a:off x="5815965" y="1941195"/>
            <a:ext cx="5842635" cy="2028825"/>
            <a:chOff x="5815965" y="1941195"/>
            <a:chExt cx="5842635" cy="2028825"/>
          </a:xfrm>
        </p:grpSpPr>
        <p:sp>
          <p:nvSpPr>
            <p:cNvPr id="25" name="Rectangle 25"/>
            <p:cNvSpPr/>
            <p:nvPr/>
          </p:nvSpPr>
          <p:spPr>
            <a:xfrm>
              <a:off x="5815965" y="1941195"/>
              <a:ext cx="5842635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00999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71103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28183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915978" y="247126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17017" y="24712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318058" y="247126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分解成规模可控、可分别开发的部件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5815965" y="274796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3" name="Rectangle 33"/>
            <p:cNvSpPr/>
            <p:nvPr/>
          </p:nvSpPr>
          <p:spPr>
            <a:xfrm>
              <a:off x="5815965" y="2752725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5915978" y="287702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17017" y="28770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318058" y="2877026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模块之间要交互，但模块化追求的是</a:t>
              </a:r>
              <a:r>
                <a:rPr lang="zh-CN" sz="112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少交互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5815965" y="3153728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15978" y="328279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17017" y="32827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18058" y="3282791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结论说反了，模块化正是为了让系统可理解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35594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15965" y="3564255"/>
              <a:ext cx="5842635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15978" y="368855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617017" y="3688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318058" y="368855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能独立开发是模块化的好处，不是障碍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815965" y="1941195"/>
              <a:ext cx="5842635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6512242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7213282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6" name="c2-compare-2"/>
          <p:cNvGrpSpPr/>
          <p:nvPr/>
        </p:nvGrpSpPr>
        <p:grpSpPr>
          <a:xfrm>
            <a:off x="5815965" y="4145280"/>
            <a:ext cx="5842635" cy="1240155"/>
            <a:chOff x="5815965" y="4145280"/>
            <a:chExt cx="5842635" cy="1240155"/>
          </a:xfrm>
        </p:grpSpPr>
        <p:sp>
          <p:nvSpPr>
            <p:cNvPr id="50" name="Rectangle 50"/>
            <p:cNvSpPr/>
            <p:nvPr/>
          </p:nvSpPr>
          <p:spPr>
            <a:xfrm>
              <a:off x="5815965" y="4145280"/>
              <a:ext cx="2749868" cy="1240155"/>
            </a:xfrm>
            <a:prstGeom prst="roundRect">
              <a:avLst>
                <a:gd name="adj" fmla="val 107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5825490" y="4278630"/>
              <a:ext cx="47625" cy="973455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039612" y="436054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做得好的模块</a:t>
              </a:r>
            </a:p>
          </p:txBody>
        </p:sp>
        <p:sp>
          <p:nvSpPr>
            <p:cNvPr id="53" name="Ellipse 53"/>
            <p:cNvSpPr/>
            <p:nvPr/>
          </p:nvSpPr>
          <p:spPr>
            <a:xfrm>
              <a:off x="6055042" y="47358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6211062" y="4679632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一个模块只管一件事</a:t>
              </a:r>
            </a:p>
          </p:txBody>
        </p:sp>
        <p:sp>
          <p:nvSpPr>
            <p:cNvPr id="55" name="Ellipse 55"/>
            <p:cNvSpPr/>
            <p:nvPr/>
          </p:nvSpPr>
          <p:spPr>
            <a:xfrm>
              <a:off x="6055042" y="503872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211062" y="498252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接口窄，暴露的操作少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908732" y="4145280"/>
              <a:ext cx="2749868" cy="1240155"/>
            </a:xfrm>
            <a:prstGeom prst="roundRect">
              <a:avLst>
                <a:gd name="adj" fmla="val 1075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8918258" y="4278630"/>
              <a:ext cx="47625" cy="973455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132380" y="436054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做得差的模块</a:t>
              </a:r>
            </a:p>
          </p:txBody>
        </p:sp>
        <p:sp>
          <p:nvSpPr>
            <p:cNvPr id="60" name="Ellipse 60"/>
            <p:cNvSpPr/>
            <p:nvPr/>
          </p:nvSpPr>
          <p:spPr>
            <a:xfrm>
              <a:off x="9147810" y="4735830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9303830" y="4679632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职责混杂，改一处牵动多处</a:t>
              </a:r>
            </a:p>
          </p:txBody>
        </p:sp>
        <p:sp>
          <p:nvSpPr>
            <p:cNvPr id="62" name="Ellipse 62"/>
            <p:cNvSpPr/>
            <p:nvPr/>
          </p:nvSpPr>
          <p:spPr>
            <a:xfrm>
              <a:off x="9147810" y="5038725"/>
              <a:ext cx="59055" cy="5905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9303830" y="4982528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内部数据到处被读写</a:t>
              </a:r>
            </a:p>
          </p:txBody>
        </p:sp>
        <p:sp>
          <p:nvSpPr>
            <p:cNvPr id="64" name="Ellipse 64"/>
            <p:cNvSpPr/>
            <p:nvPr/>
          </p:nvSpPr>
          <p:spPr>
            <a:xfrm>
              <a:off x="8575358" y="4603432"/>
              <a:ext cx="323850" cy="323850"/>
            </a:xfrm>
            <a:prstGeom prst="ellipse">
              <a:avLst/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645698" y="4699635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VS</a:t>
              </a:r>
            </a:p>
          </p:txBody>
        </p:sp>
      </p:grpSp>
      <p:grpSp>
        <p:nvGrpSpPr>
          <p:cNvPr id="72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67" name="Rectangle 67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0" name="Group 70"/>
            <p:cNvGrpSpPr/>
            <p:nvPr/>
          </p:nvGrpSpPr>
          <p:grpSpPr>
            <a:xfrm>
              <a:off x="738188" y="6017897"/>
              <a:ext cx="200023" cy="200023"/>
              <a:chOff x="738188" y="6017897"/>
              <a:chExt cx="200023" cy="200023"/>
            </a:xfrm>
          </p:grpSpPr>
          <p:sp>
            <p:nvSpPr>
              <p:cNvPr id="68" name="Freeform 68"/>
              <p:cNvSpPr/>
              <p:nvPr/>
            </p:nvSpPr>
            <p:spPr>
              <a:xfrm>
                <a:off x="738188" y="6017897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9" name="Freeform 69"/>
              <p:cNvSpPr/>
              <p:nvPr/>
            </p:nvSpPr>
            <p:spPr>
              <a:xfrm>
                <a:off x="871538" y="608457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1" name="TextBox 71"/>
            <p:cNvSpPr txBox="1"/>
            <p:nvPr/>
          </p:nvSpPr>
          <p:spPr>
            <a:xfrm>
              <a:off x="1040892" y="602361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模块化的衡量尺子是高内聚、低耦合，不是模块数量多。</a:t>
              </a:r>
            </a:p>
          </p:txBody>
        </p:sp>
      </p:grpSp>
      <p:grpSp>
        <p:nvGrpSpPr>
          <p:cNvPr id="7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3" name="TextBox 73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861685" cy="909257"/>
            <a:chOff x="520446" y="342900"/>
            <a:chExt cx="586168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对象与类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86168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类是对象的抽象定义，对象是类的实例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3" name="c1-card-1"/>
          <p:cNvGrpSpPr/>
          <p:nvPr/>
        </p:nvGrpSpPr>
        <p:grpSpPr>
          <a:xfrm>
            <a:off x="533400" y="1524000"/>
            <a:ext cx="5193982" cy="1335405"/>
            <a:chOff x="533400" y="1524000"/>
            <a:chExt cx="5193982" cy="1335405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193982" cy="1335405"/>
            </a:xfrm>
            <a:prstGeom prst="roundRect">
              <a:avLst>
                <a:gd name="adj" fmla="val 9986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8" name="Rectangle 8"/>
            <p:cNvSpPr/>
            <p:nvPr/>
          </p:nvSpPr>
          <p:spPr>
            <a:xfrm>
              <a:off x="542925" y="1657350"/>
              <a:ext cx="47625" cy="1068705"/>
            </a:xfrm>
            <a:prstGeom prst="roundRect">
              <a:avLst>
                <a:gd name="adj" fmla="val 5000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781050" y="1733550"/>
              <a:ext cx="494348" cy="257175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871258" y="176926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定义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382078" y="1768792"/>
              <a:ext cx="1157097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类（Class）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73430" y="2129790"/>
              <a:ext cx="4396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类是对一组具有相同属性、操作、关系和语义的对象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的描述，它定义了每个实例的结构和行为。</a:t>
              </a:r>
            </a:p>
          </p:txBody>
        </p:sp>
      </p:grpSp>
      <p:grpSp>
        <p:nvGrpSpPr>
          <p:cNvPr id="38" name="c1-table-2"/>
          <p:cNvGrpSpPr/>
          <p:nvPr/>
        </p:nvGrpSpPr>
        <p:grpSpPr>
          <a:xfrm>
            <a:off x="533400" y="3049905"/>
            <a:ext cx="5193982" cy="2244091"/>
            <a:chOff x="533400" y="3049905"/>
            <a:chExt cx="5193982" cy="2244091"/>
          </a:xfrm>
        </p:grpSpPr>
        <p:sp>
          <p:nvSpPr>
            <p:cNvPr id="14" name="Rectangle 14"/>
            <p:cNvSpPr/>
            <p:nvPr/>
          </p:nvSpPr>
          <p:spPr>
            <a:xfrm>
              <a:off x="533400" y="3049905"/>
              <a:ext cx="5193982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25690" y="3185636"/>
              <a:ext cx="5298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比较项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619188" y="3185636"/>
              <a:ext cx="69760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 Class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304298" y="3185636"/>
              <a:ext cx="10059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对象 Object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1223" y="3634264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2155698" y="36342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抽象定义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994976" y="3634264"/>
              <a:ext cx="70220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具体实例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533400" y="394239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533400" y="3947160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41223" y="4082891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有没有取值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155698" y="40828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只声明属性名与类型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994976" y="4082891"/>
              <a:ext cx="156377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每个属性有当前取值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533400" y="439197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41223" y="453151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数量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2155698" y="4531519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994976" y="4531519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可以有任意多个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533400" y="4840605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1" name="Rectangle 31"/>
            <p:cNvSpPr/>
            <p:nvPr/>
          </p:nvSpPr>
          <p:spPr>
            <a:xfrm>
              <a:off x="533400" y="4845368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1223" y="498014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运行期是否存在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155698" y="4980146"/>
              <a:ext cx="8745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编译期概念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994976" y="4980146"/>
              <a:ext cx="121914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运行期占据内存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3049905"/>
              <a:ext cx="5193982" cy="224409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2043112" y="304990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3882390" y="3049905"/>
              <a:ext cx="9525" cy="224409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5" name="c1-callout-3"/>
          <p:cNvGrpSpPr/>
          <p:nvPr/>
        </p:nvGrpSpPr>
        <p:grpSpPr>
          <a:xfrm>
            <a:off x="533400" y="5484495"/>
            <a:ext cx="5193982" cy="782955"/>
            <a:chOff x="533400" y="5484495"/>
            <a:chExt cx="5193982" cy="782955"/>
          </a:xfrm>
        </p:grpSpPr>
        <p:sp>
          <p:nvSpPr>
            <p:cNvPr id="39" name="Rectangle 39"/>
            <p:cNvSpPr/>
            <p:nvPr/>
          </p:nvSpPr>
          <p:spPr>
            <a:xfrm>
              <a:off x="533400" y="5484495"/>
              <a:ext cx="5193982" cy="782955"/>
            </a:xfrm>
            <a:prstGeom prst="roundRect">
              <a:avLst>
                <a:gd name="adj" fmla="val 14599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3" name="Group 43"/>
            <p:cNvGrpSpPr/>
            <p:nvPr/>
          </p:nvGrpSpPr>
          <p:grpSpPr>
            <a:xfrm>
              <a:off x="726129" y="5772268"/>
              <a:ext cx="224134" cy="192560"/>
              <a:chOff x="726129" y="5772268"/>
              <a:chExt cx="224134" cy="19256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838200" y="5842635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726129" y="5772268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838200" y="592042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4" name="TextBox 44"/>
            <p:cNvSpPr txBox="1"/>
            <p:nvPr/>
          </p:nvSpPr>
          <p:spPr>
            <a:xfrm>
              <a:off x="1040130" y="5633085"/>
              <a:ext cx="4206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类与对象的关系是单向的。对象是类的实例；反过</a:t>
              </a:r>
              <a:br/>
              <a:r>
                <a:rPr lang="zh-CN" sz="15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来说“类是对象的实例”就错了。</a:t>
              </a:r>
            </a:p>
          </p:txBody>
        </p:sp>
      </p:grpSp>
      <p:grpSp>
        <p:nvGrpSpPr>
          <p:cNvPr id="53" name="c2-uml-1"/>
          <p:cNvGrpSpPr/>
          <p:nvPr/>
        </p:nvGrpSpPr>
        <p:grpSpPr>
          <a:xfrm>
            <a:off x="8232458" y="1961198"/>
            <a:ext cx="1225868" cy="1029652"/>
            <a:chOff x="8232458" y="1961198"/>
            <a:chExt cx="1225868" cy="1029652"/>
          </a:xfrm>
        </p:grpSpPr>
        <p:sp>
          <p:nvSpPr>
            <p:cNvPr id="46" name="Rectangle 46"/>
            <p:cNvSpPr/>
            <p:nvPr/>
          </p:nvSpPr>
          <p:spPr>
            <a:xfrm>
              <a:off x="8232458" y="1961198"/>
              <a:ext cx="1225868" cy="1029652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47" name="Rectangle 47"/>
            <p:cNvSpPr/>
            <p:nvPr/>
          </p:nvSpPr>
          <p:spPr>
            <a:xfrm>
              <a:off x="8239125" y="1968818"/>
              <a:ext cx="1211580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8232458" y="2227898"/>
              <a:ext cx="122586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9" name="Rectangle 49"/>
            <p:cNvSpPr/>
            <p:nvPr/>
          </p:nvSpPr>
          <p:spPr>
            <a:xfrm>
              <a:off x="8232458" y="2702242"/>
              <a:ext cx="1225868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444911" y="2025491"/>
              <a:ext cx="8000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Professor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03324" y="2300288"/>
              <a:ext cx="1084136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name: String</a:t>
              </a:r>
            </a:p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- status: String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8303324" y="2774632"/>
              <a:ext cx="67501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teach()</a:t>
              </a:r>
            </a:p>
          </p:txBody>
        </p:sp>
      </p:grpSp>
      <p:grpSp>
        <p:nvGrpSpPr>
          <p:cNvPr id="61" name="c2-cells-2"/>
          <p:cNvGrpSpPr/>
          <p:nvPr/>
        </p:nvGrpSpPr>
        <p:grpSpPr>
          <a:xfrm>
            <a:off x="6025706" y="3619500"/>
            <a:ext cx="4179379" cy="419100"/>
            <a:chOff x="6025706" y="3619500"/>
            <a:chExt cx="4179379" cy="419100"/>
          </a:xfrm>
        </p:grpSpPr>
        <p:sp>
          <p:nvSpPr>
            <p:cNvPr id="54" name="TextBox 54"/>
            <p:cNvSpPr txBox="1"/>
            <p:nvPr/>
          </p:nvSpPr>
          <p:spPr>
            <a:xfrm>
              <a:off x="6025706" y="3749516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实例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6490335" y="3619500"/>
              <a:ext cx="12382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6504037" y="3768566"/>
              <a:ext cx="121084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Clark : Professor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7728585" y="3619500"/>
              <a:ext cx="12382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7762641" y="3772852"/>
              <a:ext cx="11701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Meyer : Professor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8966835" y="3619500"/>
              <a:ext cx="1238250" cy="419100"/>
            </a:xfrm>
            <a:prstGeom prst="rect">
              <a:avLst/>
            </a:prstGeom>
            <a:solidFill>
              <a:srgbClr val="FFFFFF"/>
            </a:solidFill>
            <a:ln w="15240">
              <a:solidFill>
                <a:srgbClr val="334E68"/>
              </a:solidFill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9013715" y="3772852"/>
              <a:ext cx="11444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Zhang : Professor</a:t>
              </a:r>
            </a:p>
          </p:txBody>
        </p:sp>
      </p:grpSp>
      <p:grpSp>
        <p:nvGrpSpPr>
          <p:cNvPr id="63" name="c2-text-3"/>
          <p:cNvGrpSpPr/>
          <p:nvPr/>
        </p:nvGrpSpPr>
        <p:grpSpPr>
          <a:xfrm>
            <a:off x="6025706" y="4250531"/>
            <a:ext cx="5304282" cy="500824"/>
            <a:chOff x="6025706" y="4250531"/>
            <a:chExt cx="5304282" cy="500824"/>
          </a:xfrm>
        </p:grpSpPr>
        <p:sp>
          <p:nvSpPr>
            <p:cNvPr id="62" name="TextBox 62"/>
            <p:cNvSpPr txBox="1"/>
            <p:nvPr/>
          </p:nvSpPr>
          <p:spPr>
            <a:xfrm>
              <a:off x="6025706" y="4250531"/>
              <a:ext cx="5304282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 Professor 类描述了上面三个对象，它们共享结构与行为，各自持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有不同的属性取值和链接。</a:t>
              </a:r>
            </a:p>
          </p:txBody>
        </p:sp>
      </p:grpSp>
      <p:grpSp>
        <p:nvGrpSpPr>
          <p:cNvPr id="69" name="c2-callout-4"/>
          <p:cNvGrpSpPr/>
          <p:nvPr/>
        </p:nvGrpSpPr>
        <p:grpSpPr>
          <a:xfrm>
            <a:off x="6032182" y="4891088"/>
            <a:ext cx="5626418" cy="1376362"/>
            <a:chOff x="6032182" y="4891088"/>
            <a:chExt cx="5626418" cy="1376362"/>
          </a:xfrm>
        </p:grpSpPr>
        <p:sp>
          <p:nvSpPr>
            <p:cNvPr id="64" name="Rectangle 64"/>
            <p:cNvSpPr/>
            <p:nvPr/>
          </p:nvSpPr>
          <p:spPr>
            <a:xfrm>
              <a:off x="6032182" y="4891088"/>
              <a:ext cx="5626418" cy="1376362"/>
            </a:xfrm>
            <a:prstGeom prst="roundRect">
              <a:avLst>
                <a:gd name="adj" fmla="val 8304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7" name="Group 67"/>
            <p:cNvGrpSpPr/>
            <p:nvPr/>
          </p:nvGrpSpPr>
          <p:grpSpPr>
            <a:xfrm>
              <a:off x="6236970" y="5478782"/>
              <a:ext cx="200023" cy="200023"/>
              <a:chOff x="6236970" y="5478782"/>
              <a:chExt cx="200023" cy="200023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6236970" y="547878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6" name="Freeform 66"/>
              <p:cNvSpPr/>
              <p:nvPr/>
            </p:nvSpPr>
            <p:spPr>
              <a:xfrm>
                <a:off x="6370320" y="554545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8" name="TextBox 68"/>
            <p:cNvSpPr txBox="1"/>
            <p:nvPr/>
          </p:nvSpPr>
          <p:spPr>
            <a:xfrm>
              <a:off x="6538912" y="5335905"/>
              <a:ext cx="45872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类图上画的是类，对象图上画的才是对象。先有类，后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有实例。</a:t>
              </a:r>
            </a:p>
          </p:txBody>
        </p:sp>
      </p:grpSp>
      <p:grpSp>
        <p:nvGrpSpPr>
          <p:cNvPr id="7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70" name="TextBox 70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26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934259" cy="909257"/>
            <a:chOff x="520446" y="342900"/>
            <a:chExt cx="3934259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576388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21275" y="407194"/>
              <a:ext cx="13996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对象与类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934259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Q13 类是对象的抽象定义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2597758" cy="278702"/>
            <a:chOff x="526161" y="1547336"/>
            <a:chExt cx="2597758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2597758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14 页　A class . . . 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41195"/>
            <a:ext cx="4869180" cy="1877378"/>
            <a:chOff x="533400" y="1941195"/>
            <a:chExt cx="4869180" cy="1877378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4869180" cy="1877378"/>
            </a:xfrm>
            <a:prstGeom prst="roundRect">
              <a:avLst>
                <a:gd name="adj" fmla="val 710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74545"/>
              <a:ext cx="47625" cy="161067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3905" y="213360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55345" y="216789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47597" y="2173605"/>
              <a:ext cx="13139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class . . . 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57047" y="2507932"/>
              <a:ext cx="31704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Is an encapsulation of an object.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57047" y="2810827"/>
              <a:ext cx="37612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Represents the hierarchy of an object.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57047" y="3112770"/>
              <a:ext cx="27166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Is an instance of an object.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57047" y="3415665"/>
              <a:ext cx="367916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Is an abstract definition of an object.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993832"/>
            <a:ext cx="4869180" cy="488632"/>
            <a:chOff x="533400" y="3993832"/>
            <a:chExt cx="4869180" cy="488632"/>
          </a:xfrm>
        </p:grpSpPr>
        <p:sp>
          <p:nvSpPr>
            <p:cNvPr id="19" name="Rectangle 19"/>
            <p:cNvSpPr/>
            <p:nvPr/>
          </p:nvSpPr>
          <p:spPr>
            <a:xfrm>
              <a:off x="533400" y="3993832"/>
              <a:ext cx="4869180" cy="488632"/>
            </a:xfrm>
            <a:prstGeom prst="roundRect">
              <a:avLst>
                <a:gd name="adj" fmla="val 2339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138613"/>
              <a:ext cx="200026" cy="200026"/>
              <a:chOff x="738188" y="4138613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138613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216400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892" y="4144327"/>
              <a:ext cx="120975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正确答案：D。</a:t>
              </a:r>
            </a:p>
          </p:txBody>
        </p:sp>
      </p:grpSp>
      <p:grpSp>
        <p:nvGrpSpPr>
          <p:cNvPr id="38" name="c1-card-3"/>
          <p:cNvGrpSpPr/>
          <p:nvPr/>
        </p:nvGrpSpPr>
        <p:grpSpPr>
          <a:xfrm>
            <a:off x="533400" y="4657725"/>
            <a:ext cx="4869180" cy="1557338"/>
            <a:chOff x="533400" y="4657725"/>
            <a:chExt cx="4869180" cy="1557338"/>
          </a:xfrm>
        </p:grpSpPr>
        <p:sp>
          <p:nvSpPr>
            <p:cNvPr id="25" name="Rectangle 25"/>
            <p:cNvSpPr/>
            <p:nvPr/>
          </p:nvSpPr>
          <p:spPr>
            <a:xfrm>
              <a:off x="533400" y="4657725"/>
              <a:ext cx="4869180" cy="1557338"/>
            </a:xfrm>
            <a:prstGeom prst="roundRect">
              <a:avLst>
                <a:gd name="adj" fmla="val 856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26" name="Rectangle 26"/>
            <p:cNvSpPr/>
            <p:nvPr/>
          </p:nvSpPr>
          <p:spPr>
            <a:xfrm>
              <a:off x="542925" y="4791075"/>
              <a:ext cx="47625" cy="1290638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27" name="Rectangle 27"/>
            <p:cNvSpPr/>
            <p:nvPr/>
          </p:nvSpPr>
          <p:spPr>
            <a:xfrm>
              <a:off x="763905" y="4850130"/>
              <a:ext cx="7429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847344" y="488442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顺手判断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763905" y="5194935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19583" y="5233321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4702" y="5206365"/>
              <a:ext cx="260946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Professor 是类还是对象？　类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763905" y="5496878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19583" y="5535263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1044702" y="5509260"/>
              <a:ext cx="23457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Clark 是类还是对象？　对象</a:t>
              </a:r>
            </a:p>
          </p:txBody>
        </p:sp>
        <p:sp>
          <p:nvSpPr>
            <p:cNvPr id="35" name="Ellipse 35"/>
            <p:cNvSpPr/>
            <p:nvPr/>
          </p:nvSpPr>
          <p:spPr>
            <a:xfrm>
              <a:off x="763905" y="5799772"/>
              <a:ext cx="192405" cy="192405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19583" y="5838158"/>
              <a:ext cx="81049" cy="1790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44702" y="5812155"/>
              <a:ext cx="408791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Professor 是 Clark 的实例吗？　不能，方向反了</a:t>
              </a:r>
            </a:p>
          </p:txBody>
        </p:sp>
      </p:grpSp>
      <p:grpSp>
        <p:nvGrpSpPr>
          <p:cNvPr id="63" name="c2-table-1"/>
          <p:cNvGrpSpPr/>
          <p:nvPr/>
        </p:nvGrpSpPr>
        <p:grpSpPr>
          <a:xfrm>
            <a:off x="5707380" y="1941195"/>
            <a:ext cx="5951220" cy="2028825"/>
            <a:chOff x="5707380" y="1941195"/>
            <a:chExt cx="5951220" cy="2028825"/>
          </a:xfrm>
        </p:grpSpPr>
        <p:sp>
          <p:nvSpPr>
            <p:cNvPr id="39" name="Rectangle 39"/>
            <p:cNvSpPr/>
            <p:nvPr/>
          </p:nvSpPr>
          <p:spPr>
            <a:xfrm>
              <a:off x="5707380" y="1941195"/>
              <a:ext cx="5951220" cy="40576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5908078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622453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9240876" y="2065496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5807392" y="247126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21767" y="247126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236142" y="2471261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封装是对象内部实现的隐藏机制，不是类与对象之间的关系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5707380" y="274796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7" name="Rectangle 47"/>
            <p:cNvSpPr/>
            <p:nvPr/>
          </p:nvSpPr>
          <p:spPr>
            <a:xfrm>
              <a:off x="5707380" y="2752725"/>
              <a:ext cx="595122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807392" y="287702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21767" y="287702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236142" y="2877026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层次由泛化、聚合这些关系表达，单个类本身不代表层次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5707380" y="3153728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5807392" y="328279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6521767" y="328279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236142" y="3282791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实例关系反了。对象是类的实例，类不是对象的实例</a:t>
              </a:r>
            </a:p>
          </p:txBody>
        </p:sp>
        <p:sp>
          <p:nvSpPr>
            <p:cNvPr id="55" name="Rectangle 55"/>
            <p:cNvSpPr/>
            <p:nvPr/>
          </p:nvSpPr>
          <p:spPr>
            <a:xfrm>
              <a:off x="5707380" y="3559492"/>
              <a:ext cx="595122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5707380" y="3564255"/>
              <a:ext cx="5951220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5807392" y="368855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521767" y="368855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7236142" y="3688556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类给出对象的抽象定义，规定每个实例的结构和行为</a:t>
              </a:r>
            </a:p>
          </p:txBody>
        </p:sp>
        <p:sp>
          <p:nvSpPr>
            <p:cNvPr id="60" name="Rectangle 60"/>
            <p:cNvSpPr/>
            <p:nvPr/>
          </p:nvSpPr>
          <p:spPr>
            <a:xfrm>
              <a:off x="5707380" y="1941195"/>
              <a:ext cx="5951220" cy="202882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61" name="Rectangle 61"/>
            <p:cNvSpPr/>
            <p:nvPr/>
          </p:nvSpPr>
          <p:spPr>
            <a:xfrm>
              <a:off x="6416992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62" name="Rectangle 62"/>
            <p:cNvSpPr/>
            <p:nvPr/>
          </p:nvSpPr>
          <p:spPr>
            <a:xfrm>
              <a:off x="7131368" y="1941195"/>
              <a:ext cx="9525" cy="20288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8" name="c2-card-2"/>
          <p:cNvGrpSpPr/>
          <p:nvPr/>
        </p:nvGrpSpPr>
        <p:grpSpPr>
          <a:xfrm>
            <a:off x="5707380" y="4145280"/>
            <a:ext cx="5951220" cy="2069782"/>
            <a:chOff x="5707380" y="4145280"/>
            <a:chExt cx="5951220" cy="2069782"/>
          </a:xfrm>
        </p:grpSpPr>
        <p:sp>
          <p:nvSpPr>
            <p:cNvPr id="64" name="Rectangle 64"/>
            <p:cNvSpPr/>
            <p:nvPr/>
          </p:nvSpPr>
          <p:spPr>
            <a:xfrm>
              <a:off x="5707380" y="4145280"/>
              <a:ext cx="5951220" cy="2069782"/>
            </a:xfrm>
            <a:prstGeom prst="roundRect">
              <a:avLst>
                <a:gd name="adj" fmla="val 6443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65" name="Rectangle 65"/>
            <p:cNvSpPr/>
            <p:nvPr/>
          </p:nvSpPr>
          <p:spPr>
            <a:xfrm>
              <a:off x="5899785" y="4337685"/>
              <a:ext cx="87630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66" name="TextBox 66"/>
            <p:cNvSpPr txBox="1"/>
            <p:nvPr/>
          </p:nvSpPr>
          <p:spPr>
            <a:xfrm>
              <a:off x="5979224" y="4371975"/>
              <a:ext cx="71742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原课件备注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5892927" y="4694872"/>
              <a:ext cx="5335095" cy="77838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025"/>
                </a:lnSpc>
              </a:pPr>
              <a:r>
                <a:rPr lang="en-US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A class is a description of a set of objects that share the same</a:t>
              </a:r>
              <a:br/>
              <a:r>
                <a:rPr lang="en-US" sz="135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attributes, operations, relationships and semantics</a:t>
              </a: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。类不是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对象。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disc"/>
          <p:cNvSpPr/>
          <p:nvPr/>
        </p:nvSpPr>
        <p:spPr>
          <a:xfrm>
            <a:off x="7715250" y="571500"/>
            <a:ext cx="5715000" cy="5715000"/>
          </a:xfrm>
          <a:prstGeom prst="ellipse">
            <a:avLst/>
          </a:prstGeom>
          <a:solidFill>
            <a:srgbClr val="334E68"/>
          </a:solidFill>
          <a:ln>
            <a:noFill/>
          </a:ln>
        </p:spPr>
      </p:sp>
      <p:sp>
        <p:nvSpPr>
          <p:cNvPr id="3" name="section-ring"/>
          <p:cNvSpPr/>
          <p:nvPr/>
        </p:nvSpPr>
        <p:spPr>
          <a:xfrm>
            <a:off x="7334250" y="190500"/>
            <a:ext cx="6477000" cy="6477000"/>
          </a:xfrm>
          <a:prstGeom prst="ellipse">
            <a:avLst/>
          </a:prstGeom>
          <a:noFill/>
          <a:ln w="133350">
            <a:solidFill>
              <a:srgbClr val="E7EDF3"/>
            </a:solidFill>
          </a:ln>
        </p:spPr>
      </p:sp>
      <p:grpSp>
        <p:nvGrpSpPr>
          <p:cNvPr id="5" name="section-num"/>
          <p:cNvGrpSpPr/>
          <p:nvPr/>
        </p:nvGrpSpPr>
        <p:grpSpPr>
          <a:xfrm>
            <a:off x="8954033" y="2705100"/>
            <a:ext cx="1903933" cy="2305050"/>
            <a:chOff x="8954033" y="2705100"/>
            <a:chExt cx="1903933" cy="2305050"/>
          </a:xfrm>
        </p:grpSpPr>
        <p:sp>
          <p:nvSpPr>
            <p:cNvPr id="4" name="TextBox 4"/>
            <p:cNvSpPr txBox="1"/>
            <p:nvPr/>
          </p:nvSpPr>
          <p:spPr>
            <a:xfrm>
              <a:off x="8954033" y="2705100"/>
              <a:ext cx="1903933" cy="23050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</p:grpSp>
      <p:grpSp>
        <p:nvGrpSpPr>
          <p:cNvPr id="18" name="section-title"/>
          <p:cNvGrpSpPr/>
          <p:nvPr/>
        </p:nvGrpSpPr>
        <p:grpSpPr>
          <a:xfrm>
            <a:off x="667512" y="1835468"/>
            <a:ext cx="4580192" cy="3351847"/>
            <a:chOff x="667512" y="1835468"/>
            <a:chExt cx="4580192" cy="3351847"/>
          </a:xfrm>
        </p:grpSpPr>
        <p:sp>
          <p:nvSpPr>
            <p:cNvPr id="6" name="TextBox 6"/>
            <p:cNvSpPr txBox="1"/>
            <p:nvPr/>
          </p:nvSpPr>
          <p:spPr>
            <a:xfrm>
              <a:off x="678942" y="1835468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第四部分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667512" y="2240280"/>
              <a:ext cx="3913632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6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继承、多态与组织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85800" y="3041332"/>
              <a:ext cx="762000" cy="47625"/>
            </a:xfrm>
            <a:prstGeom prst="roundRect">
              <a:avLst>
                <a:gd name="adj" fmla="val 50000"/>
              </a:avLst>
            </a:prstGeom>
            <a:solidFill>
              <a:srgbClr val="F26B3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677418" y="3377565"/>
              <a:ext cx="457028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14—16 题：多态、泛化关系与 package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723900" y="388810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906780" y="3830955"/>
              <a:ext cx="22364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多态是一个接口多种实现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723900" y="424243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906780" y="4185285"/>
              <a:ext cx="165087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泛化读作"是一种"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" y="459676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906780" y="4539615"/>
              <a:ext cx="185280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聚合读作"是一部分"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723900" y="4951095"/>
              <a:ext cx="76200" cy="7620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906780" y="4893945"/>
              <a:ext cx="166097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package 负责分组</a:t>
              </a:r>
            </a:p>
          </p:txBody>
        </p:sp>
      </p:grpSp>
      <p:grpSp>
        <p:nvGrpSpPr>
          <p:cNvPr id="2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19" name="TextBox 19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28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488561" cy="909257"/>
            <a:chOff x="520446" y="342900"/>
            <a:chExt cx="4488561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继承、多态与组织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488561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泛化提供层次，多态利用层次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29" name="c1-uml-1"/>
          <p:cNvGrpSpPr/>
          <p:nvPr/>
        </p:nvGrpSpPr>
        <p:grpSpPr>
          <a:xfrm>
            <a:off x="1314450" y="2147888"/>
            <a:ext cx="3848100" cy="2929890"/>
            <a:chOff x="1314450" y="2147888"/>
            <a:chExt cx="3848100" cy="2929890"/>
          </a:xfrm>
        </p:grpSpPr>
        <p:sp>
          <p:nvSpPr>
            <p:cNvPr id="7" name="Freeform 7"/>
            <p:cNvSpPr/>
            <p:nvPr/>
          </p:nvSpPr>
          <p:spPr>
            <a:xfrm>
              <a:off x="1885950" y="3114675"/>
              <a:ext cx="1352550" cy="1122045"/>
            </a:xfrm>
            <a:custGeom>
              <a:avLst/>
              <a:gdLst/>
              <a:ahLst/>
              <a:cxnLst/>
              <a:rect l="l" t="t" r="r" b="b"/>
              <a:pathLst>
                <a:path w="1352550" h="1122045">
                  <a:moveTo>
                    <a:pt x="0" y="1122045"/>
                  </a:moveTo>
                  <a:lnTo>
                    <a:pt x="0" y="498158"/>
                  </a:lnTo>
                  <a:lnTo>
                    <a:pt x="1352550" y="498158"/>
                  </a:lnTo>
                  <a:lnTo>
                    <a:pt x="135255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8" name="Freeform 8"/>
            <p:cNvSpPr/>
            <p:nvPr/>
          </p:nvSpPr>
          <p:spPr>
            <a:xfrm>
              <a:off x="3165158" y="298894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9" name="Freeform 9"/>
            <p:cNvSpPr/>
            <p:nvPr/>
          </p:nvSpPr>
          <p:spPr>
            <a:xfrm>
              <a:off x="3238500" y="3114675"/>
              <a:ext cx="1352550" cy="1122045"/>
            </a:xfrm>
            <a:custGeom>
              <a:avLst/>
              <a:gdLst/>
              <a:ahLst/>
              <a:cxnLst/>
              <a:rect l="l" t="t" r="r" b="b"/>
              <a:pathLst>
                <a:path w="1352550" h="1122045">
                  <a:moveTo>
                    <a:pt x="1352550" y="1122045"/>
                  </a:moveTo>
                  <a:lnTo>
                    <a:pt x="1352550" y="498158"/>
                  </a:lnTo>
                  <a:lnTo>
                    <a:pt x="0" y="498158"/>
                  </a:lnTo>
                  <a:lnTo>
                    <a:pt x="0" y="0"/>
                  </a:lnTo>
                </a:path>
              </a:pathLst>
            </a:custGeom>
            <a:noFill/>
            <a:ln w="15240">
              <a:solidFill>
                <a:srgbClr val="1F2937"/>
              </a:solidFill>
            </a:ln>
          </p:spPr>
        </p:sp>
        <p:sp>
          <p:nvSpPr>
            <p:cNvPr id="10" name="Freeform 10"/>
            <p:cNvSpPr/>
            <p:nvPr/>
          </p:nvSpPr>
          <p:spPr>
            <a:xfrm>
              <a:off x="3165158" y="2988945"/>
              <a:ext cx="146685" cy="125730"/>
            </a:xfrm>
            <a:custGeom>
              <a:avLst/>
              <a:gdLst/>
              <a:ahLst/>
              <a:cxnLst/>
              <a:rect l="l" t="t" r="r" b="b"/>
              <a:pathLst>
                <a:path w="146685" h="125730">
                  <a:moveTo>
                    <a:pt x="73342" y="0"/>
                  </a:moveTo>
                  <a:lnTo>
                    <a:pt x="146685" y="125730"/>
                  </a:lnTo>
                  <a:lnTo>
                    <a:pt x="0" y="125730"/>
                  </a:lnTo>
                  <a:close/>
                </a:path>
              </a:pathLst>
            </a:custGeom>
            <a:solidFill>
              <a:srgbClr val="FFFFFF"/>
            </a:solidFill>
            <a:ln w="15240">
              <a:solidFill>
                <a:srgbClr val="1F2937"/>
              </a:solidFill>
            </a:ln>
          </p:spPr>
        </p:sp>
        <p:sp>
          <p:nvSpPr>
            <p:cNvPr id="11" name="Rectangle 11"/>
            <p:cNvSpPr/>
            <p:nvPr/>
          </p:nvSpPr>
          <p:spPr>
            <a:xfrm>
              <a:off x="2667000" y="2147888"/>
              <a:ext cx="1143000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2" name="Rectangle 12"/>
            <p:cNvSpPr/>
            <p:nvPr/>
          </p:nvSpPr>
          <p:spPr>
            <a:xfrm>
              <a:off x="2674620" y="2155508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2667000" y="241458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667000" y="2509838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1314450" y="4236720"/>
              <a:ext cx="1143000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1322070" y="4243388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1314450" y="4503420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314450" y="4598670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4019550" y="4236720"/>
              <a:ext cx="1143000" cy="841058"/>
            </a:xfrm>
            <a:prstGeom prst="rect">
              <a:avLst/>
            </a:prstGeom>
            <a:solidFill>
              <a:srgbClr val="FFFFFF"/>
            </a:solidFill>
            <a:ln w="14288">
              <a:solidFill>
                <a:srgbClr val="334E68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027170" y="4243388"/>
              <a:ext cx="1128712" cy="264795"/>
            </a:xfrm>
            <a:prstGeom prst="rect">
              <a:avLst/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4019550" y="4503420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4019550" y="4598670"/>
              <a:ext cx="1143000" cy="952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012640" y="2212181"/>
              <a:ext cx="4517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i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Shape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737866" y="2582228"/>
              <a:ext cx="590740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area()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656506" y="4301014"/>
              <a:ext cx="4588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Circle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385316" y="4671060"/>
              <a:ext cx="590740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area()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4210959" y="4301014"/>
              <a:ext cx="7601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120" b="1" dirty="0">
                  <a:solidFill>
                    <a:srgbClr val="243B53"/>
                  </a:solidFill>
                  <a:latin typeface="+mn-lt"/>
                  <a:ea typeface="+mn-ea"/>
                  <a:cs typeface="+mn-cs"/>
                </a:rPr>
                <a:t>Rectangle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4090416" y="4671060"/>
              <a:ext cx="590740" cy="3949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draw()</a:t>
              </a:r>
              <a:br/>
              <a:r>
                <a:rPr lang="en-US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+ area()</a:t>
              </a:r>
            </a:p>
          </p:txBody>
        </p:sp>
      </p:grpSp>
      <p:grpSp>
        <p:nvGrpSpPr>
          <p:cNvPr id="31" name="c1-text-2"/>
          <p:cNvGrpSpPr/>
          <p:nvPr/>
        </p:nvGrpSpPr>
        <p:grpSpPr>
          <a:xfrm>
            <a:off x="526923" y="5912644"/>
            <a:ext cx="5076698" cy="500824"/>
            <a:chOff x="526923" y="5912644"/>
            <a:chExt cx="5076698" cy="500824"/>
          </a:xfrm>
        </p:grpSpPr>
        <p:sp>
          <p:nvSpPr>
            <p:cNvPr id="30" name="TextBox 30"/>
            <p:cNvSpPr txBox="1"/>
            <p:nvPr/>
          </p:nvSpPr>
          <p:spPr>
            <a:xfrm>
              <a:off x="526923" y="5912644"/>
              <a:ext cx="5076698" cy="50082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80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客户代码只认识 Shape 与它的 draw()；运行时到底画圆还是画矩形，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由实际对象决定。</a:t>
              </a:r>
            </a:p>
          </p:txBody>
        </p:sp>
      </p:grpSp>
      <p:grpSp>
        <p:nvGrpSpPr>
          <p:cNvPr id="40" name="c2-kv-1"/>
          <p:cNvGrpSpPr/>
          <p:nvPr/>
        </p:nvGrpSpPr>
        <p:grpSpPr>
          <a:xfrm>
            <a:off x="6240780" y="1548765"/>
            <a:ext cx="5417820" cy="2019300"/>
            <a:chOff x="6240780" y="1548765"/>
            <a:chExt cx="5417820" cy="2019300"/>
          </a:xfrm>
        </p:grpSpPr>
        <p:sp>
          <p:nvSpPr>
            <p:cNvPr id="32" name="TextBox 32"/>
            <p:cNvSpPr txBox="1"/>
            <p:nvPr/>
          </p:nvSpPr>
          <p:spPr>
            <a:xfrm>
              <a:off x="6240780" y="1548765"/>
              <a:ext cx="149478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Generalization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36230" y="1548765"/>
              <a:ext cx="346329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类之间的“是一种”关系，子类继承父类的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属性、操作和关系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48400" y="2150745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240780" y="2270760"/>
              <a:ext cx="119804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Inheritance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7936230" y="2270760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由泛化关系带来的复用机制，子类可以增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加或重定义特征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48400" y="2872740"/>
              <a:ext cx="5410200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240780" y="2992755"/>
              <a:ext cx="139991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Polymorphism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936230" y="2992755"/>
              <a:ext cx="3444240" cy="57531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2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同一个接口对应多种实现，具体执行哪一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个到运行时才确定</a:t>
              </a:r>
            </a:p>
          </p:txBody>
        </p:sp>
      </p:grpSp>
      <p:grpSp>
        <p:nvGrpSpPr>
          <p:cNvPr id="45" name="c2-card-2"/>
          <p:cNvGrpSpPr/>
          <p:nvPr/>
        </p:nvGrpSpPr>
        <p:grpSpPr>
          <a:xfrm>
            <a:off x="6248400" y="3699510"/>
            <a:ext cx="5410200" cy="1316355"/>
            <a:chOff x="6248400" y="3699510"/>
            <a:chExt cx="5410200" cy="1316355"/>
          </a:xfrm>
        </p:grpSpPr>
        <p:sp>
          <p:nvSpPr>
            <p:cNvPr id="41" name="Rectangle 41"/>
            <p:cNvSpPr/>
            <p:nvPr/>
          </p:nvSpPr>
          <p:spPr>
            <a:xfrm>
              <a:off x="6248400" y="3699510"/>
              <a:ext cx="5410200" cy="1316355"/>
            </a:xfrm>
            <a:prstGeom prst="roundRect">
              <a:avLst>
                <a:gd name="adj" fmla="val 1013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6457950" y="3909060"/>
              <a:ext cx="921068" cy="257175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6535356" y="3944779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三者的关系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50330" y="4286250"/>
              <a:ext cx="47777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泛化画出层次，继承沿着层次复用，多态在调用时沿着层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次找到正确的实现。</a:t>
              </a:r>
              <a:r>
                <a:rPr lang="zh-CN" sz="1500" b="1" dirty="0">
                  <a:solidFill>
                    <a:srgbClr val="FFD58A"/>
                  </a:solidFill>
                  <a:latin typeface="+mn-lt"/>
                  <a:ea typeface="+mn-ea"/>
                  <a:cs typeface="+mn-cs"/>
                </a:rPr>
                <a:t>它们是三件事，不能互相替代</a:t>
              </a: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。</a:t>
              </a:r>
            </a:p>
          </p:txBody>
        </p:sp>
      </p:grpSp>
      <p:grpSp>
        <p:nvGrpSpPr>
          <p:cNvPr id="52" name="c2-callout-3"/>
          <p:cNvGrpSpPr/>
          <p:nvPr/>
        </p:nvGrpSpPr>
        <p:grpSpPr>
          <a:xfrm>
            <a:off x="6248400" y="5206365"/>
            <a:ext cx="5410200" cy="782955"/>
            <a:chOff x="6248400" y="5206365"/>
            <a:chExt cx="5410200" cy="782955"/>
          </a:xfrm>
        </p:grpSpPr>
        <p:sp>
          <p:nvSpPr>
            <p:cNvPr id="46" name="Rectangle 46"/>
            <p:cNvSpPr/>
            <p:nvPr/>
          </p:nvSpPr>
          <p:spPr>
            <a:xfrm>
              <a:off x="6248400" y="5206365"/>
              <a:ext cx="5410200" cy="782955"/>
            </a:xfrm>
            <a:prstGeom prst="roundRect">
              <a:avLst>
                <a:gd name="adj" fmla="val 14599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6453188" y="5497830"/>
              <a:ext cx="200026" cy="200025"/>
              <a:chOff x="6453188" y="5497830"/>
              <a:chExt cx="200026" cy="200025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6453188" y="5497830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6492926" y="5542280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6527642" y="5653406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6755130" y="5354955"/>
              <a:ext cx="4396740" cy="56959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加一个新子类，只要它实现了同一个接口，客户代码</a:t>
              </a:r>
              <a:br/>
              <a:r>
                <a:rPr lang="zh-CN" sz="150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一行都不用改。</a:t>
              </a:r>
            </a:p>
          </p:txBody>
        </p:sp>
      </p:grpSp>
      <p:grpSp>
        <p:nvGrpSpPr>
          <p:cNvPr id="5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3" name="TextBox 53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29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5993945" cy="909257"/>
            <a:chOff x="520446" y="342900"/>
            <a:chExt cx="5993945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继承、多态与组织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5993945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Q14 多态是一个接口后面藏着多种实现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5780" y="1548765"/>
            <a:ext cx="4767453" cy="293370"/>
            <a:chOff x="525780" y="1548765"/>
            <a:chExt cx="4767453" cy="293370"/>
          </a:xfrm>
        </p:grpSpPr>
        <p:sp>
          <p:nvSpPr>
            <p:cNvPr id="7" name="TextBox 7"/>
            <p:cNvSpPr txBox="1"/>
            <p:nvPr/>
          </p:nvSpPr>
          <p:spPr>
            <a:xfrm>
              <a:off x="525780" y="1548765"/>
              <a:ext cx="4767453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15 页　Polymorphism can be described as?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54530"/>
            <a:ext cx="4977765" cy="2222182"/>
            <a:chOff x="533400" y="1954530"/>
            <a:chExt cx="4977765" cy="2222182"/>
          </a:xfrm>
        </p:grpSpPr>
        <p:sp>
          <p:nvSpPr>
            <p:cNvPr id="9" name="Rectangle 9"/>
            <p:cNvSpPr/>
            <p:nvPr/>
          </p:nvSpPr>
          <p:spPr>
            <a:xfrm>
              <a:off x="533400" y="1954530"/>
              <a:ext cx="4977765" cy="2222182"/>
            </a:xfrm>
            <a:prstGeom prst="roundRect">
              <a:avLst>
                <a:gd name="adj" fmla="val 6001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87880"/>
              <a:ext cx="47625" cy="195548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69620" y="2152650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61060" y="218694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52931" y="2187416"/>
              <a:ext cx="339336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Polymorphism can be described as?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381" y="2531269"/>
              <a:ext cx="4243451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Hiding many different implementations behind</a:t>
              </a:r>
              <a:br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one interface.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381" y="3120866"/>
              <a:ext cx="1355576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Inheritance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62381" y="3438049"/>
              <a:ext cx="2091311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Information placing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62381" y="3756184"/>
              <a:ext cx="1622714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Generalization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4356735"/>
            <a:ext cx="4977765" cy="503872"/>
            <a:chOff x="533400" y="4356735"/>
            <a:chExt cx="4977765" cy="503872"/>
          </a:xfrm>
        </p:grpSpPr>
        <p:sp>
          <p:nvSpPr>
            <p:cNvPr id="19" name="Rectangle 19"/>
            <p:cNvSpPr/>
            <p:nvPr/>
          </p:nvSpPr>
          <p:spPr>
            <a:xfrm>
              <a:off x="533400" y="4356735"/>
              <a:ext cx="4977765" cy="503872"/>
            </a:xfrm>
            <a:prstGeom prst="roundRect">
              <a:avLst>
                <a:gd name="adj" fmla="val 22684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4509135"/>
              <a:ext cx="200026" cy="200026"/>
              <a:chOff x="738188" y="4509135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450913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58692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0511" y="4509611"/>
              <a:ext cx="127253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正确答案：A。</a:t>
              </a:r>
            </a:p>
          </p:txBody>
        </p:sp>
      </p:grpSp>
      <p:grpSp>
        <p:nvGrpSpPr>
          <p:cNvPr id="28" name="c1-code-3"/>
          <p:cNvGrpSpPr/>
          <p:nvPr/>
        </p:nvGrpSpPr>
        <p:grpSpPr>
          <a:xfrm>
            <a:off x="533400" y="5040630"/>
            <a:ext cx="4977765" cy="1261110"/>
            <a:chOff x="533400" y="5040630"/>
            <a:chExt cx="4977765" cy="1261110"/>
          </a:xfrm>
        </p:grpSpPr>
        <p:sp>
          <p:nvSpPr>
            <p:cNvPr id="25" name="Rectangle 25"/>
            <p:cNvSpPr/>
            <p:nvPr/>
          </p:nvSpPr>
          <p:spPr>
            <a:xfrm>
              <a:off x="533400" y="5040630"/>
              <a:ext cx="4977765" cy="1261110"/>
            </a:xfrm>
            <a:prstGeom prst="roundRect">
              <a:avLst>
                <a:gd name="adj" fmla="val 7553"/>
              </a:avLst>
            </a:prstGeom>
            <a:solidFill>
              <a:srgbClr val="F6F8FA"/>
            </a:solidFill>
            <a:ln w="11430">
              <a:solidFill>
                <a:srgbClr val="D9DFEA"/>
              </a:solidFill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61797" y="5192554"/>
              <a:ext cx="11972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多态在代码里的样子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1416" y="5454015"/>
              <a:ext cx="2957703" cy="77400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92"/>
                </a:lnSpc>
              </a:pP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Shape s = </a:t>
              </a:r>
              <a:r>
                <a:rPr lang="en-US" sz="105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Circle();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s.draw();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调到 Circle.draw()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 = </a:t>
              </a:r>
              <a:r>
                <a:rPr lang="en-US" sz="1050" b="1" dirty="0">
                  <a:solidFill>
                    <a:srgbClr val="334E68"/>
                  </a:solidFill>
                  <a:latin typeface="Consolas"/>
                  <a:ea typeface="Consolas"/>
                  <a:cs typeface="Consolas"/>
                </a:rPr>
                <a:t>new</a:t>
              </a:r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 Rectangle();</a:t>
              </a:r>
              <a:br/>
              <a:r>
                <a:rPr lang="en-US" sz="1050" dirty="0">
                  <a:solidFill>
                    <a:srgbClr val="1F2937"/>
                  </a:solidFill>
                  <a:latin typeface="Consolas"/>
                  <a:ea typeface="Consolas"/>
                  <a:cs typeface="Consolas"/>
                </a:rPr>
                <a:t xml:space="preserve">s.draw();          </a:t>
              </a:r>
              <a:r>
                <a:rPr lang="zh-CN" sz="1050" dirty="0">
                  <a:solidFill>
                    <a:srgbClr val="0F7A68"/>
                  </a:solidFill>
                  <a:latin typeface="Consolas"/>
                  <a:ea typeface="Microsoft YaHei"/>
                  <a:cs typeface="Consolas"/>
                </a:rPr>
                <a:t>// 同一行代码，换了实现</a:t>
              </a:r>
            </a:p>
          </p:txBody>
        </p:sp>
      </p:grpSp>
      <p:grpSp>
        <p:nvGrpSpPr>
          <p:cNvPr id="53" name="c2-table-1"/>
          <p:cNvGrpSpPr/>
          <p:nvPr/>
        </p:nvGrpSpPr>
        <p:grpSpPr>
          <a:xfrm>
            <a:off x="5815965" y="1954530"/>
            <a:ext cx="5842635" cy="2762250"/>
            <a:chOff x="5815965" y="1954530"/>
            <a:chExt cx="5842635" cy="2762250"/>
          </a:xfrm>
        </p:grpSpPr>
        <p:sp>
          <p:nvSpPr>
            <p:cNvPr id="29" name="Rectangle 29"/>
            <p:cNvSpPr/>
            <p:nvPr/>
          </p:nvSpPr>
          <p:spPr>
            <a:xfrm>
              <a:off x="5815965" y="1954530"/>
              <a:ext cx="5842635" cy="424815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5998845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699885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270682" y="2083118"/>
              <a:ext cx="33528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5918454" y="250698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619494" y="250698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320534" y="2506980"/>
              <a:ext cx="405079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一个接口对应多种实现，调用点不需要知道具体是哪一种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5815965" y="2798445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5815965" y="2803208"/>
              <a:ext cx="584263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5918454" y="3038475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619494" y="3038475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320534" y="2931795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继承是实现多态的手段之一，本身指的是子类复用父类的特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征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3436620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5918454" y="3676650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619494" y="3676650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320534" y="3569970"/>
              <a:ext cx="395173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information placing 不是术语，它是 information hiding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的干扰项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5815965" y="407384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6" name="Rectangle 46"/>
            <p:cNvSpPr/>
            <p:nvPr/>
          </p:nvSpPr>
          <p:spPr>
            <a:xfrm>
              <a:off x="5815965" y="4078605"/>
              <a:ext cx="5842635" cy="63817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5918454" y="4313872"/>
              <a:ext cx="110764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0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619494" y="4313872"/>
              <a:ext cx="17373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320534" y="4207192"/>
              <a:ext cx="3974592" cy="44805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80"/>
                </a:lnSpc>
              </a:pPr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泛化是类之间的关系，它建立层次，多态是在这个层次上的</a:t>
              </a:r>
              <a:br/>
              <a:r>
                <a:rPr lang="zh-CN" sz="12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调用行为</a:t>
              </a:r>
            </a:p>
          </p:txBody>
        </p:sp>
        <p:sp>
          <p:nvSpPr>
            <p:cNvPr id="50" name="Rectangle 50"/>
            <p:cNvSpPr/>
            <p:nvPr/>
          </p:nvSpPr>
          <p:spPr>
            <a:xfrm>
              <a:off x="5815965" y="1954530"/>
              <a:ext cx="5842635" cy="27622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1" name="Rectangle 51"/>
            <p:cNvSpPr/>
            <p:nvPr/>
          </p:nvSpPr>
          <p:spPr>
            <a:xfrm>
              <a:off x="6512242" y="195453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Rectangle 52"/>
            <p:cNvSpPr/>
            <p:nvPr/>
          </p:nvSpPr>
          <p:spPr>
            <a:xfrm>
              <a:off x="7213282" y="1954530"/>
              <a:ext cx="9525" cy="27622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0" name="c2-card-2"/>
          <p:cNvGrpSpPr/>
          <p:nvPr/>
        </p:nvGrpSpPr>
        <p:grpSpPr>
          <a:xfrm>
            <a:off x="5815965" y="4896802"/>
            <a:ext cx="5842635" cy="1404938"/>
            <a:chOff x="5815965" y="4896802"/>
            <a:chExt cx="5842635" cy="1404938"/>
          </a:xfrm>
        </p:grpSpPr>
        <p:sp>
          <p:nvSpPr>
            <p:cNvPr id="54" name="Rectangle 54"/>
            <p:cNvSpPr/>
            <p:nvPr/>
          </p:nvSpPr>
          <p:spPr>
            <a:xfrm>
              <a:off x="5815965" y="4896802"/>
              <a:ext cx="5842635" cy="1404938"/>
            </a:xfrm>
            <a:prstGeom prst="roundRect">
              <a:avLst>
                <a:gd name="adj" fmla="val 9492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5825490" y="5030152"/>
              <a:ext cx="47625" cy="1138238"/>
            </a:xfrm>
            <a:prstGeom prst="roundRect">
              <a:avLst>
                <a:gd name="adj" fmla="val 50000"/>
              </a:avLst>
            </a:prstGeom>
            <a:solidFill>
              <a:srgbClr val="5B6475"/>
            </a:solidFill>
            <a:ln>
              <a:noFill/>
            </a:ln>
          </p:spPr>
        </p:sp>
        <p:sp>
          <p:nvSpPr>
            <p:cNvPr id="56" name="Rectangle 56"/>
            <p:cNvSpPr/>
            <p:nvPr/>
          </p:nvSpPr>
          <p:spPr>
            <a:xfrm>
              <a:off x="6052185" y="5094922"/>
              <a:ext cx="476250" cy="247650"/>
            </a:xfrm>
            <a:prstGeom prst="roundRect">
              <a:avLst>
                <a:gd name="adj" fmla="val 5000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57" name="TextBox 57"/>
            <p:cNvSpPr txBox="1"/>
            <p:nvPr/>
          </p:nvSpPr>
          <p:spPr>
            <a:xfrm>
              <a:off x="6143625" y="512921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辨析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6635496" y="5130641"/>
              <a:ext cx="1840673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B、D 为什么不算答案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6044946" y="5473541"/>
              <a:ext cx="5082032" cy="5501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38"/>
                </a:lnSpc>
              </a:pPr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继承和泛化都是多态的前提条件。题干问 polymorphism 本身怎</a:t>
              </a:r>
              <a:br/>
              <a:r>
                <a:rPr lang="zh-CN" sz="14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么描述，答案要落在"一个接口、多种实现"上。</a:t>
              </a:r>
            </a:p>
          </p:txBody>
        </p:sp>
      </p:grpSp>
      <p:grpSp>
        <p:nvGrpSpPr>
          <p:cNvPr id="6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1" name="TextBox 61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30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3644187" cy="909257"/>
            <a:chOff x="520446" y="342900"/>
            <a:chExt cx="364418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继承、多态与组织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364418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Q15 泛化读作“是一种”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542" y="1545907"/>
            <a:ext cx="6525770" cy="264033"/>
            <a:chOff x="526542" y="1545907"/>
            <a:chExt cx="6525770" cy="264033"/>
          </a:xfrm>
        </p:grpSpPr>
        <p:sp>
          <p:nvSpPr>
            <p:cNvPr id="7" name="TextBox 7"/>
            <p:cNvSpPr txBox="1"/>
            <p:nvPr/>
          </p:nvSpPr>
          <p:spPr>
            <a:xfrm>
              <a:off x="526542" y="1545907"/>
              <a:ext cx="65257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16 页　What phrase best represents a generalization relationship?</a:t>
              </a:r>
            </a:p>
          </p:txBody>
        </p:sp>
      </p:grpSp>
      <p:grpSp>
        <p:nvGrpSpPr>
          <p:cNvPr id="18" name="c1-card-1"/>
          <p:cNvGrpSpPr/>
          <p:nvPr/>
        </p:nvGrpSpPr>
        <p:grpSpPr>
          <a:xfrm>
            <a:off x="533400" y="1928812"/>
            <a:ext cx="4977765" cy="1772602"/>
            <a:chOff x="533400" y="1928812"/>
            <a:chExt cx="4977765" cy="1772602"/>
          </a:xfrm>
        </p:grpSpPr>
        <p:sp>
          <p:nvSpPr>
            <p:cNvPr id="9" name="Rectangle 9"/>
            <p:cNvSpPr/>
            <p:nvPr/>
          </p:nvSpPr>
          <p:spPr>
            <a:xfrm>
              <a:off x="533400" y="1928812"/>
              <a:ext cx="4977765" cy="1772602"/>
            </a:xfrm>
            <a:prstGeom prst="roundRect">
              <a:avLst>
                <a:gd name="adj" fmla="val 7523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10" name="Rectangle 10"/>
            <p:cNvSpPr/>
            <p:nvPr/>
          </p:nvSpPr>
          <p:spPr>
            <a:xfrm>
              <a:off x="542925" y="2062162"/>
              <a:ext cx="47625" cy="1505902"/>
            </a:xfrm>
            <a:prstGeom prst="roundRect">
              <a:avLst>
                <a:gd name="adj" fmla="val 50000"/>
              </a:avLst>
            </a:prstGeom>
            <a:solidFill>
              <a:srgbClr val="14A38B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752475" y="2109788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845147" y="2142649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原题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18450" y="2149316"/>
              <a:ext cx="40174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What phrase best represents generalization?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45998" y="2465546"/>
              <a:ext cx="142449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A. "Is a part of"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45998" y="2751296"/>
              <a:ext cx="138092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B. "Is a kind of"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45998" y="3036094"/>
              <a:ext cx="162073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C. "Is a replica of"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45998" y="3320891"/>
              <a:ext cx="209372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D. "Is an inheritance of"</a:t>
              </a:r>
            </a:p>
          </p:txBody>
        </p:sp>
      </p:grpSp>
      <p:grpSp>
        <p:nvGrpSpPr>
          <p:cNvPr id="24" name="c1-callout-2"/>
          <p:cNvGrpSpPr/>
          <p:nvPr/>
        </p:nvGrpSpPr>
        <p:grpSpPr>
          <a:xfrm>
            <a:off x="533400" y="3866198"/>
            <a:ext cx="4977765" cy="467678"/>
            <a:chOff x="533400" y="3866198"/>
            <a:chExt cx="4977765" cy="467678"/>
          </a:xfrm>
        </p:grpSpPr>
        <p:sp>
          <p:nvSpPr>
            <p:cNvPr id="19" name="Rectangle 19"/>
            <p:cNvSpPr/>
            <p:nvPr/>
          </p:nvSpPr>
          <p:spPr>
            <a:xfrm>
              <a:off x="533400" y="3866198"/>
              <a:ext cx="4977765" cy="467678"/>
            </a:xfrm>
            <a:prstGeom prst="roundRect">
              <a:avLst>
                <a:gd name="adj" fmla="val 24440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738188" y="3999548"/>
              <a:ext cx="200026" cy="200026"/>
              <a:chOff x="738188" y="3999548"/>
              <a:chExt cx="200026" cy="200026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738188" y="3999548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04863" y="4077335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23" name="TextBox 23"/>
            <p:cNvSpPr txBox="1"/>
            <p:nvPr/>
          </p:nvSpPr>
          <p:spPr>
            <a:xfrm>
              <a:off x="1041273" y="4010501"/>
              <a:ext cx="288734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正确答案：B。研究生“是一种”学生。</a:t>
              </a:r>
            </a:p>
          </p:txBody>
        </p:sp>
      </p:grpSp>
      <p:grpSp>
        <p:nvGrpSpPr>
          <p:cNvPr id="30" name="c1-kv-3"/>
          <p:cNvGrpSpPr/>
          <p:nvPr/>
        </p:nvGrpSpPr>
        <p:grpSpPr>
          <a:xfrm>
            <a:off x="526923" y="4519136"/>
            <a:ext cx="4984242" cy="863727"/>
            <a:chOff x="526923" y="4519136"/>
            <a:chExt cx="4984242" cy="863727"/>
          </a:xfrm>
        </p:grpSpPr>
        <p:sp>
          <p:nvSpPr>
            <p:cNvPr id="25" name="TextBox 25"/>
            <p:cNvSpPr txBox="1"/>
            <p:nvPr/>
          </p:nvSpPr>
          <p:spPr>
            <a:xfrm>
              <a:off x="526923" y="4519136"/>
              <a:ext cx="909066" cy="48939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90"/>
                </a:lnSpc>
              </a:pPr>
              <a:r>
                <a:rPr lang="en-US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Graduate →</a:t>
              </a:r>
              <a:br/>
              <a:r>
                <a:rPr lang="en-US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Student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219516" y="4519136"/>
              <a:ext cx="208071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研究生是一种学生，用泛化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533400" y="5031105"/>
              <a:ext cx="497776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526923" y="5133499"/>
              <a:ext cx="1022147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Wheel → Car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2219516" y="5133499"/>
              <a:ext cx="225303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车轮是汽车的一部分，用聚合</a:t>
              </a:r>
            </a:p>
          </p:txBody>
        </p:sp>
      </p:grpSp>
      <p:grpSp>
        <p:nvGrpSpPr>
          <p:cNvPr id="56" name="c2-table-1"/>
          <p:cNvGrpSpPr/>
          <p:nvPr/>
        </p:nvGrpSpPr>
        <p:grpSpPr>
          <a:xfrm>
            <a:off x="5815965" y="1928812"/>
            <a:ext cx="5842635" cy="1712595"/>
            <a:chOff x="5815965" y="1928812"/>
            <a:chExt cx="5842635" cy="1712595"/>
          </a:xfrm>
        </p:grpSpPr>
        <p:sp>
          <p:nvSpPr>
            <p:cNvPr id="31" name="Rectangle 31"/>
            <p:cNvSpPr/>
            <p:nvPr/>
          </p:nvSpPr>
          <p:spPr>
            <a:xfrm>
              <a:off x="5815965" y="1928812"/>
              <a:ext cx="5842635" cy="38100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478905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口诀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17752" y="204597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对应关系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72599" y="2045970"/>
              <a:ext cx="6305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UML 记号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781348" y="2045970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例子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5910644" y="2426970"/>
              <a:ext cx="127328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是一种 is a kind of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444740" y="2319338"/>
              <a:ext cx="1523048" cy="361950"/>
            </a:xfrm>
            <a:prstGeom prst="rect">
              <a:avLst/>
            </a:prstGeom>
            <a:solidFill>
              <a:srgbClr val="E3F5F1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529894" y="2426970"/>
              <a:ext cx="132230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 Generalization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071991" y="242697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空心三角箭头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10293096" y="2426970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圆形是一种图形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5815965" y="268700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2" name="Rectangle 42"/>
            <p:cNvSpPr/>
            <p:nvPr/>
          </p:nvSpPr>
          <p:spPr>
            <a:xfrm>
              <a:off x="5815965" y="2691765"/>
              <a:ext cx="5842635" cy="567690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5910644" y="2808923"/>
              <a:ext cx="1174147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是一部分 is a part</a:t>
              </a:r>
              <a:br/>
              <a:r>
                <a:rPr lang="en-US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of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529894" y="2902268"/>
              <a:ext cx="7386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聚合 / 组合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071991" y="2902268"/>
              <a:ext cx="10213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空心 / 实心菱形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10293096" y="2808923"/>
              <a:ext cx="1077468" cy="39204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车轮是汽车的一部</a:t>
              </a:r>
              <a:br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分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5815965" y="3254692"/>
              <a:ext cx="5842635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5910644" y="3376612"/>
              <a:ext cx="8502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有一个 has a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529894" y="3376612"/>
              <a:ext cx="11245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关联 Association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071991" y="3376612"/>
              <a:ext cx="2933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实线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0293096" y="3376612"/>
              <a:ext cx="100012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教师带一门课程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5815965" y="1928812"/>
              <a:ext cx="5842635" cy="1712595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3" name="Rectangle 53"/>
            <p:cNvSpPr/>
            <p:nvPr/>
          </p:nvSpPr>
          <p:spPr>
            <a:xfrm>
              <a:off x="7430452" y="1928812"/>
              <a:ext cx="9525" cy="1712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4" name="Rectangle 54"/>
            <p:cNvSpPr/>
            <p:nvPr/>
          </p:nvSpPr>
          <p:spPr>
            <a:xfrm>
              <a:off x="8972550" y="1928812"/>
              <a:ext cx="9525" cy="1712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5" name="Rectangle 55"/>
            <p:cNvSpPr/>
            <p:nvPr/>
          </p:nvSpPr>
          <p:spPr>
            <a:xfrm>
              <a:off x="10193655" y="1928812"/>
              <a:ext cx="9525" cy="171259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ard-2"/>
          <p:cNvGrpSpPr/>
          <p:nvPr/>
        </p:nvGrpSpPr>
        <p:grpSpPr>
          <a:xfrm>
            <a:off x="5815965" y="3805238"/>
            <a:ext cx="5842635" cy="1526858"/>
            <a:chOff x="5815965" y="3805238"/>
            <a:chExt cx="5842635" cy="1526858"/>
          </a:xfrm>
        </p:grpSpPr>
        <p:sp>
          <p:nvSpPr>
            <p:cNvPr id="57" name="Rectangle 57"/>
            <p:cNvSpPr/>
            <p:nvPr/>
          </p:nvSpPr>
          <p:spPr>
            <a:xfrm>
              <a:off x="5815965" y="3805238"/>
              <a:ext cx="5842635" cy="1526858"/>
            </a:xfrm>
            <a:prstGeom prst="roundRect">
              <a:avLst>
                <a:gd name="adj" fmla="val 8734"/>
              </a:avLst>
            </a:prstGeom>
            <a:solidFill>
              <a:srgbClr val="FFFFFF"/>
            </a:solidFill>
            <a:ln w="14288">
              <a:solidFill>
                <a:srgbClr val="D9DFEA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5825490" y="3938588"/>
              <a:ext cx="47625" cy="1260158"/>
            </a:xfrm>
            <a:prstGeom prst="roundRect">
              <a:avLst>
                <a:gd name="adj" fmla="val 50000"/>
              </a:avLst>
            </a:prstGeom>
            <a:solidFill>
              <a:srgbClr val="B42318"/>
            </a:solidFill>
            <a:ln>
              <a:noFill/>
            </a:ln>
          </p:spPr>
        </p:sp>
        <p:sp>
          <p:nvSpPr>
            <p:cNvPr id="59" name="Rectangle 59"/>
            <p:cNvSpPr/>
            <p:nvPr/>
          </p:nvSpPr>
          <p:spPr>
            <a:xfrm>
              <a:off x="6035040" y="3986212"/>
              <a:ext cx="458152" cy="238125"/>
            </a:xfrm>
            <a:prstGeom prst="roundRect">
              <a:avLst>
                <a:gd name="adj" fmla="val 50000"/>
              </a:avLst>
            </a:prstGeom>
            <a:solidFill>
              <a:srgbClr val="FDECEA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6126759" y="4019074"/>
              <a:ext cx="27376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易错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6028563" y="4326731"/>
              <a:ext cx="5157978" cy="4922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12"/>
                </a:lnSpc>
              </a:pPr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 说的是聚合，C 的 replica（复制品）在 UML 里没有对应关系，D 把关</a:t>
              </a:r>
              <a:br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系名与机制名搞混：继承是泛化带来的效果，不是关系的读法。</a:t>
              </a:r>
            </a:p>
          </p:txBody>
        </p:sp>
      </p:grpSp>
      <p:grpSp>
        <p:nvGrpSpPr>
          <p:cNvPr id="68" name="takeaway"/>
          <p:cNvGrpSpPr/>
          <p:nvPr/>
        </p:nvGrpSpPr>
        <p:grpSpPr>
          <a:xfrm>
            <a:off x="533400" y="5895022"/>
            <a:ext cx="11125200" cy="467678"/>
            <a:chOff x="533400" y="5895022"/>
            <a:chExt cx="11125200" cy="467678"/>
          </a:xfrm>
        </p:grpSpPr>
        <p:sp>
          <p:nvSpPr>
            <p:cNvPr id="63" name="Rectangle 63"/>
            <p:cNvSpPr/>
            <p:nvPr/>
          </p:nvSpPr>
          <p:spPr>
            <a:xfrm>
              <a:off x="533400" y="5895022"/>
              <a:ext cx="11125200" cy="467678"/>
            </a:xfrm>
            <a:prstGeom prst="roundRect">
              <a:avLst>
                <a:gd name="adj" fmla="val 24440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6" name="Group 66"/>
            <p:cNvGrpSpPr/>
            <p:nvPr/>
          </p:nvGrpSpPr>
          <p:grpSpPr>
            <a:xfrm>
              <a:off x="738188" y="6028375"/>
              <a:ext cx="200023" cy="200023"/>
              <a:chOff x="738188" y="6028375"/>
              <a:chExt cx="200023" cy="200023"/>
            </a:xfrm>
          </p:grpSpPr>
          <p:sp>
            <p:nvSpPr>
              <p:cNvPr id="64" name="Freeform 64"/>
              <p:cNvSpPr/>
              <p:nvPr/>
            </p:nvSpPr>
            <p:spPr>
              <a:xfrm>
                <a:off x="738188" y="6028375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65" name="Freeform 65"/>
              <p:cNvSpPr/>
              <p:nvPr/>
            </p:nvSpPr>
            <p:spPr>
              <a:xfrm>
                <a:off x="871538" y="609504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7" name="TextBox 67"/>
            <p:cNvSpPr txBox="1"/>
            <p:nvPr/>
          </p:nvSpPr>
          <p:spPr>
            <a:xfrm>
              <a:off x="1041273" y="6039326"/>
              <a:ext cx="762970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判断用泛化还是聚合，就把两个类代进“A 是一种 B”和“A 是 B 的一部分”念一遍，哪句通顺用哪个。</a:t>
              </a:r>
            </a:p>
          </p:txBody>
        </p:sp>
      </p:grpSp>
      <p:grpSp>
        <p:nvGrpSpPr>
          <p:cNvPr id="71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9" name="TextBox 69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31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4508397" cy="909257"/>
            <a:chOff x="520446" y="342900"/>
            <a:chExt cx="4508397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214503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04524" y="407194"/>
              <a:ext cx="2002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继承、多态与组织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4508397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Q16 用 package 把元素分组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8" name="lead"/>
          <p:cNvGrpSpPr/>
          <p:nvPr/>
        </p:nvGrpSpPr>
        <p:grpSpPr>
          <a:xfrm>
            <a:off x="526161" y="1547336"/>
            <a:ext cx="7906290" cy="278702"/>
            <a:chOff x="526161" y="1547336"/>
            <a:chExt cx="7906290" cy="278702"/>
          </a:xfrm>
        </p:grpSpPr>
        <p:sp>
          <p:nvSpPr>
            <p:cNvPr id="7" name="TextBox 7"/>
            <p:cNvSpPr txBox="1"/>
            <p:nvPr/>
          </p:nvSpPr>
          <p:spPr>
            <a:xfrm>
              <a:off x="526161" y="1547336"/>
              <a:ext cx="7906290" cy="27870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42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原题第 17 页　Which of the following would you use to organize elements into groups?</a:t>
              </a:r>
            </a:p>
          </p:txBody>
        </p:sp>
      </p:grpSp>
      <p:grpSp>
        <p:nvGrpSpPr>
          <p:cNvPr id="39" name="c1-table-1"/>
          <p:cNvGrpSpPr/>
          <p:nvPr/>
        </p:nvGrpSpPr>
        <p:grpSpPr>
          <a:xfrm>
            <a:off x="533400" y="1941195"/>
            <a:ext cx="5193982" cy="2228850"/>
            <a:chOff x="533400" y="1941195"/>
            <a:chExt cx="5193982" cy="2228850"/>
          </a:xfrm>
        </p:grpSpPr>
        <p:sp>
          <p:nvSpPr>
            <p:cNvPr id="9" name="Rectangle 9"/>
            <p:cNvSpPr/>
            <p:nvPr/>
          </p:nvSpPr>
          <p:spPr>
            <a:xfrm>
              <a:off x="533400" y="1941195"/>
              <a:ext cx="5193982" cy="605790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16598" y="2065496"/>
              <a:ext cx="1536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选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项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71346" y="2165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86355" y="2065496"/>
              <a:ext cx="153670" cy="42005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>
                <a:lnSpc>
                  <a:spcPts val="1575"/>
                </a:lnSpc>
              </a:pPr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判</a:t>
              </a:r>
              <a:br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断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8813" y="2165509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理由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33412" y="267128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A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52525" y="2671286"/>
              <a:ext cx="5966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Package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2503170" y="267128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✓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022282" y="2671286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通用分组机制，类、用例、构件都能装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533400" y="294798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533400" y="295275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633412" y="307705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B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52525" y="3077051"/>
              <a:ext cx="392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Class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2503170" y="307705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022282" y="3077051"/>
              <a:ext cx="242382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类描述一组对象，装的是属性和操作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33400" y="335375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3412" y="3482816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152525" y="3482816"/>
              <a:ext cx="101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Encapsulation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2503170" y="3482816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022282" y="3482816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封装隐藏实现细节，与分组无关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533400" y="375951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0" name="Rectangle 30"/>
            <p:cNvSpPr/>
            <p:nvPr/>
          </p:nvSpPr>
          <p:spPr>
            <a:xfrm>
              <a:off x="533400" y="3764280"/>
              <a:ext cx="5193982" cy="405765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633412" y="3888581"/>
              <a:ext cx="103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D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152525" y="3888581"/>
              <a:ext cx="1063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Generalization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2503170" y="3888581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✗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3022282" y="3888581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泛化表达层次关系，不是容器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533400" y="1941195"/>
              <a:ext cx="5193982" cy="2228850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1047750" y="1941195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2398395" y="1941195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2917508" y="1941195"/>
              <a:ext cx="9525" cy="2228850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47" name="c1-card-2"/>
          <p:cNvGrpSpPr/>
          <p:nvPr/>
        </p:nvGrpSpPr>
        <p:grpSpPr>
          <a:xfrm>
            <a:off x="533400" y="4345305"/>
            <a:ext cx="5193982" cy="1254442"/>
            <a:chOff x="533400" y="4345305"/>
            <a:chExt cx="5193982" cy="1254442"/>
          </a:xfrm>
        </p:grpSpPr>
        <p:sp>
          <p:nvSpPr>
            <p:cNvPr id="40" name="Rectangle 40"/>
            <p:cNvSpPr/>
            <p:nvPr/>
          </p:nvSpPr>
          <p:spPr>
            <a:xfrm>
              <a:off x="533400" y="4345305"/>
              <a:ext cx="5193982" cy="1254442"/>
            </a:xfrm>
            <a:prstGeom prst="roundRect">
              <a:avLst>
                <a:gd name="adj" fmla="val 10630"/>
              </a:avLst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725805" y="4537710"/>
              <a:ext cx="1009650" cy="247650"/>
            </a:xfrm>
            <a:prstGeom prst="roundRect">
              <a:avLst>
                <a:gd name="adj" fmla="val 50000"/>
              </a:avLst>
            </a:prstGeom>
            <a:solidFill>
              <a:srgbClr val="243B53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01243" y="457200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包用来做什么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734378" y="4951095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90397" y="4894898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按层分组：界面层、业务层、数据层各一包</a:t>
              </a:r>
            </a:p>
          </p:txBody>
        </p:sp>
        <p:sp>
          <p:nvSpPr>
            <p:cNvPr id="45" name="Ellipse 45"/>
            <p:cNvSpPr/>
            <p:nvPr/>
          </p:nvSpPr>
          <p:spPr>
            <a:xfrm>
              <a:off x="734378" y="5253038"/>
              <a:ext cx="59055" cy="5905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890397" y="519684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控制可见性，包内元素可以不对外暴露</a:t>
              </a:r>
            </a:p>
          </p:txBody>
        </p:sp>
      </p:grpSp>
      <p:grpSp>
        <p:nvGrpSpPr>
          <p:cNvPr id="68" name="c2-graph-1"/>
          <p:cNvGrpSpPr/>
          <p:nvPr/>
        </p:nvGrpSpPr>
        <p:grpSpPr>
          <a:xfrm>
            <a:off x="6757988" y="2158365"/>
            <a:ext cx="4113848" cy="1993583"/>
            <a:chOff x="6757988" y="2158365"/>
            <a:chExt cx="4113848" cy="1993583"/>
          </a:xfrm>
        </p:grpSpPr>
        <p:sp>
          <p:nvSpPr>
            <p:cNvPr id="48" name="Freeform 48"/>
            <p:cNvSpPr/>
            <p:nvPr/>
          </p:nvSpPr>
          <p:spPr>
            <a:xfrm>
              <a:off x="7495222" y="2591752"/>
              <a:ext cx="9525" cy="294322"/>
            </a:xfrm>
            <a:custGeom>
              <a:avLst/>
              <a:gdLst/>
              <a:ahLst/>
              <a:cxnLst/>
              <a:rect l="l" t="t" r="r" b="b"/>
              <a:pathLst>
                <a:path w="9525" h="294322">
                  <a:moveTo>
                    <a:pt x="0" y="0"/>
                  </a:moveTo>
                  <a:lnTo>
                    <a:pt x="0" y="294322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49" name="Freeform 49"/>
            <p:cNvSpPr/>
            <p:nvPr/>
          </p:nvSpPr>
          <p:spPr>
            <a:xfrm>
              <a:off x="7447598" y="28860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0" name="Freeform 50"/>
            <p:cNvSpPr/>
            <p:nvPr/>
          </p:nvSpPr>
          <p:spPr>
            <a:xfrm>
              <a:off x="7495222" y="3414712"/>
              <a:ext cx="9525" cy="208597"/>
            </a:xfrm>
            <a:custGeom>
              <a:avLst/>
              <a:gdLst/>
              <a:ahLst/>
              <a:cxnLst/>
              <a:rect l="l" t="t" r="r" b="b"/>
              <a:pathLst>
                <a:path w="9525" h="208597">
                  <a:moveTo>
                    <a:pt x="0" y="0"/>
                  </a:moveTo>
                  <a:lnTo>
                    <a:pt x="0" y="208597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51" name="Freeform 51"/>
            <p:cNvSpPr/>
            <p:nvPr/>
          </p:nvSpPr>
          <p:spPr>
            <a:xfrm>
              <a:off x="7447598" y="362331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47625" y="95250"/>
                  </a:moveTo>
                  <a:lnTo>
                    <a:pt x="0" y="0"/>
                  </a:lnTo>
                  <a:lnTo>
                    <a:pt x="95250" y="0"/>
                  </a:lnTo>
                  <a:close/>
                </a:path>
              </a:pathLst>
            </a:custGeom>
            <a:solidFill>
              <a:srgbClr val="1F2937"/>
            </a:solidFill>
            <a:ln>
              <a:noFill/>
            </a:ln>
          </p:spPr>
        </p:sp>
        <p:sp>
          <p:nvSpPr>
            <p:cNvPr id="52" name="Freeform 52"/>
            <p:cNvSpPr/>
            <p:nvPr/>
          </p:nvSpPr>
          <p:spPr>
            <a:xfrm>
              <a:off x="8231505" y="3025140"/>
              <a:ext cx="1513522" cy="116205"/>
            </a:xfrm>
            <a:custGeom>
              <a:avLst/>
              <a:gdLst/>
              <a:ahLst/>
              <a:cxnLst/>
              <a:rect l="l" t="t" r="r" b="b"/>
              <a:pathLst>
                <a:path w="1513522" h="116205">
                  <a:moveTo>
                    <a:pt x="0" y="116205"/>
                  </a:moveTo>
                  <a:lnTo>
                    <a:pt x="1513522" y="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53" name="Freeform 53"/>
            <p:cNvSpPr/>
            <p:nvPr/>
          </p:nvSpPr>
          <p:spPr>
            <a:xfrm>
              <a:off x="8231505" y="3300412"/>
              <a:ext cx="1513522" cy="209550"/>
            </a:xfrm>
            <a:custGeom>
              <a:avLst/>
              <a:gdLst/>
              <a:ahLst/>
              <a:cxnLst/>
              <a:rect l="l" t="t" r="r" b="b"/>
              <a:pathLst>
                <a:path w="1513522" h="209550">
                  <a:moveTo>
                    <a:pt x="0" y="0"/>
                  </a:moveTo>
                  <a:lnTo>
                    <a:pt x="1513522" y="209550"/>
                  </a:lnTo>
                </a:path>
              </a:pathLst>
            </a:custGeom>
            <a:noFill/>
            <a:ln w="17145">
              <a:solidFill>
                <a:srgbClr val="1F2937"/>
              </a:solidFill>
              <a:custDash>
                <a:ds d="333333" sp="222222"/>
              </a:custDash>
            </a:ln>
          </p:spPr>
        </p:sp>
        <p:sp>
          <p:nvSpPr>
            <p:cNvPr id="54" name="Rectangle 54"/>
            <p:cNvSpPr/>
            <p:nvPr/>
          </p:nvSpPr>
          <p:spPr>
            <a:xfrm>
              <a:off x="6757988" y="2158365"/>
              <a:ext cx="1473518" cy="433388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6757988" y="2981325"/>
              <a:ext cx="1473518" cy="433388"/>
            </a:xfrm>
            <a:prstGeom prst="roundRect">
              <a:avLst>
                <a:gd name="adj" fmla="val 21978"/>
              </a:avLst>
            </a:prstGeom>
            <a:solidFill>
              <a:srgbClr val="FDEEE7"/>
            </a:solidFill>
            <a:ln w="17145">
              <a:solidFill>
                <a:srgbClr val="F26B3A"/>
              </a:solidFill>
            </a:ln>
          </p:spPr>
        </p:sp>
        <p:sp>
          <p:nvSpPr>
            <p:cNvPr id="56" name="Rectangle 56"/>
            <p:cNvSpPr/>
            <p:nvPr/>
          </p:nvSpPr>
          <p:spPr>
            <a:xfrm>
              <a:off x="6757988" y="3718560"/>
              <a:ext cx="1473518" cy="433388"/>
            </a:xfrm>
            <a:prstGeom prst="roundRect">
              <a:avLst>
                <a:gd name="adj" fmla="val 21978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7" name="Rectangle 57"/>
            <p:cNvSpPr/>
            <p:nvPr/>
          </p:nvSpPr>
          <p:spPr>
            <a:xfrm>
              <a:off x="9745028" y="2807970"/>
              <a:ext cx="1126808" cy="346710"/>
            </a:xfrm>
            <a:prstGeom prst="roundRect">
              <a:avLst>
                <a:gd name="adj" fmla="val 2747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8" name="Rectangle 58"/>
            <p:cNvSpPr/>
            <p:nvPr/>
          </p:nvSpPr>
          <p:spPr>
            <a:xfrm>
              <a:off x="9745028" y="3414712"/>
              <a:ext cx="1126808" cy="346710"/>
            </a:xfrm>
            <a:prstGeom prst="roundRect">
              <a:avLst>
                <a:gd name="adj" fmla="val 27473"/>
              </a:avLst>
            </a:prstGeom>
            <a:solidFill>
              <a:srgbClr val="FFFFFF"/>
            </a:solidFill>
            <a:ln w="17145">
              <a:solidFill>
                <a:srgbClr val="334E68"/>
              </a:solidFill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7208218" y="2314099"/>
              <a:ext cx="57400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界面层 UI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6981981" y="3138011"/>
              <a:ext cx="102648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业务层 Business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7116773" y="3874294"/>
              <a:ext cx="75689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数据层 Data</a:t>
              </a:r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10072281" y="2920841"/>
              <a:ext cx="471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Course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9957999" y="3527584"/>
              <a:ext cx="69991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Professor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7352348" y="2707958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380072" y="2737009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7352348" y="3488055"/>
              <a:ext cx="284798" cy="146685"/>
            </a:xfrm>
            <a:prstGeom prst="roundRect">
              <a:avLst>
                <a:gd name="adj" fmla="val 25974"/>
              </a:avLst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67" name="TextBox 67"/>
            <p:cNvSpPr txBox="1"/>
            <p:nvPr/>
          </p:nvSpPr>
          <p:spPr>
            <a:xfrm>
              <a:off x="7380072" y="3517106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依赖</a:t>
              </a:r>
            </a:p>
          </p:txBody>
        </p:sp>
      </p:grpSp>
      <p:grpSp>
        <p:nvGrpSpPr>
          <p:cNvPr id="74" name="c2-callout-2"/>
          <p:cNvGrpSpPr/>
          <p:nvPr/>
        </p:nvGrpSpPr>
        <p:grpSpPr>
          <a:xfrm>
            <a:off x="6032182" y="4283392"/>
            <a:ext cx="5626418" cy="1316355"/>
            <a:chOff x="6032182" y="4283392"/>
            <a:chExt cx="5626418" cy="1316355"/>
          </a:xfrm>
        </p:grpSpPr>
        <p:sp>
          <p:nvSpPr>
            <p:cNvPr id="69" name="Rectangle 69"/>
            <p:cNvSpPr/>
            <p:nvPr/>
          </p:nvSpPr>
          <p:spPr>
            <a:xfrm>
              <a:off x="6032182" y="4283392"/>
              <a:ext cx="5626418" cy="1316355"/>
            </a:xfrm>
            <a:prstGeom prst="roundRect">
              <a:avLst>
                <a:gd name="adj" fmla="val 8683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72" name="Group 72"/>
            <p:cNvGrpSpPr/>
            <p:nvPr/>
          </p:nvGrpSpPr>
          <p:grpSpPr>
            <a:xfrm>
              <a:off x="6236970" y="4841560"/>
              <a:ext cx="200023" cy="200023"/>
              <a:chOff x="6236970" y="4841560"/>
              <a:chExt cx="200023" cy="200023"/>
            </a:xfrm>
          </p:grpSpPr>
          <p:sp>
            <p:nvSpPr>
              <p:cNvPr id="70" name="Freeform 70"/>
              <p:cNvSpPr/>
              <p:nvPr/>
            </p:nvSpPr>
            <p:spPr>
              <a:xfrm>
                <a:off x="6236970" y="4841560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71" name="Freeform 71"/>
              <p:cNvSpPr/>
              <p:nvPr/>
            </p:nvSpPr>
            <p:spPr>
              <a:xfrm>
                <a:off x="6370320" y="4908233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73" name="TextBox 73"/>
            <p:cNvSpPr txBox="1"/>
            <p:nvPr/>
          </p:nvSpPr>
          <p:spPr>
            <a:xfrm>
              <a:off x="6539674" y="4723448"/>
              <a:ext cx="4642866" cy="51263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958"/>
                </a:lnSpc>
              </a:pPr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包之间的依赖要尽量单向。上层依赖下层，下层不要反过来依</a:t>
              </a:r>
              <a:br/>
              <a:r>
                <a:rPr lang="zh-CN" sz="135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赖上层。</a:t>
              </a:r>
            </a:p>
          </p:txBody>
        </p:sp>
      </p:grpSp>
      <p:grpSp>
        <p:nvGrpSpPr>
          <p:cNvPr id="80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75" name="Rectangle 75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E3F5F1"/>
            </a:solidFill>
            <a:ln>
              <a:noFill/>
            </a:ln>
          </p:spPr>
        </p:sp>
        <p:grpSp>
          <p:nvGrpSpPr>
            <p:cNvPr id="78" name="Group 78"/>
            <p:cNvGrpSpPr/>
            <p:nvPr/>
          </p:nvGrpSpPr>
          <p:grpSpPr>
            <a:xfrm>
              <a:off x="738188" y="6017895"/>
              <a:ext cx="200026" cy="200026"/>
              <a:chOff x="738188" y="6017895"/>
              <a:chExt cx="200026" cy="200026"/>
            </a:xfrm>
          </p:grpSpPr>
          <p:sp>
            <p:nvSpPr>
              <p:cNvPr id="76" name="Freeform 76"/>
              <p:cNvSpPr/>
              <p:nvPr/>
            </p:nvSpPr>
            <p:spPr>
              <a:xfrm>
                <a:off x="738188" y="6017895"/>
                <a:ext cx="200026" cy="200026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200026">
                    <a:moveTo>
                      <a:pt x="0" y="100013"/>
                    </a:moveTo>
                    <a:cubicBezTo>
                      <a:pt x="0" y="155248"/>
                      <a:pt x="44777" y="200026"/>
                      <a:pt x="100013" y="200026"/>
                    </a:cubicBezTo>
                    <a:cubicBezTo>
                      <a:pt x="155248" y="200026"/>
                      <a:pt x="200026" y="155248"/>
                      <a:pt x="200026" y="100013"/>
                    </a:cubicBezTo>
                    <a:cubicBezTo>
                      <a:pt x="200026" y="44777"/>
                      <a:pt x="155248" y="0"/>
                      <a:pt x="100013" y="0"/>
                    </a:cubicBezTo>
                    <a:cubicBezTo>
                      <a:pt x="44777" y="0"/>
                      <a:pt x="0" y="44777"/>
                      <a:pt x="0" y="100013"/>
                    </a:cubicBez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  <p:sp>
            <p:nvSpPr>
              <p:cNvPr id="77" name="Freeform 77"/>
              <p:cNvSpPr/>
              <p:nvPr/>
            </p:nvSpPr>
            <p:spPr>
              <a:xfrm>
                <a:off x="804863" y="6095683"/>
                <a:ext cx="6667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66675" h="44450">
                    <a:moveTo>
                      <a:pt x="0" y="22225"/>
                    </a:moveTo>
                    <a:lnTo>
                      <a:pt x="22225" y="44450"/>
                    </a:lnTo>
                    <a:lnTo>
                      <a:pt x="66675" y="0"/>
                    </a:lnTo>
                  </a:path>
                </a:pathLst>
              </a:custGeom>
              <a:noFill/>
              <a:ln w="22225">
                <a:solidFill>
                  <a:srgbClr val="0F7A68"/>
                </a:solidFill>
              </a:ln>
            </p:spPr>
          </p:sp>
        </p:grpSp>
        <p:sp>
          <p:nvSpPr>
            <p:cNvPr id="79" name="TextBox 79"/>
            <p:cNvSpPr txBox="1"/>
            <p:nvPr/>
          </p:nvSpPr>
          <p:spPr>
            <a:xfrm>
              <a:off x="1040892" y="6023610"/>
              <a:ext cx="60202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正确答案：A。包（Package）是 UML 里唯一用来把模型元素分组的机制。</a:t>
              </a:r>
            </a:p>
          </p:txBody>
        </p:sp>
      </p:grpSp>
      <p:grpSp>
        <p:nvGrpSpPr>
          <p:cNvPr id="83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81" name="TextBox 81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32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915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0127" y="407194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自测题（一）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建模的四个目的是什么？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42572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visualize、specify、construct、document。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2658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operation 与 method 差在哪？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前者是对外声明的服务，后者是实现体。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87027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与 UML 配套的过程有哪三条特征？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用例驱动、以构架为中心、迭代且增量。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对象的状态由什么决定？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全部属性的取值，加上与其他对象的链接。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566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4+1 视图里关注结构的是哪个？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24058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逻辑视图 Logical View。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泛化和聚合怎么区分？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38665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念“是一种”用泛化，念“是一部分”用聚合。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EE7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38188" y="6017895"/>
              <a:ext cx="200026" cy="200025"/>
              <a:chOff x="738188" y="6017895"/>
              <a:chExt cx="200026" cy="20002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738188" y="6017895"/>
                <a:ext cx="200026" cy="100013"/>
              </a:xfrm>
              <a:custGeom>
                <a:avLst/>
                <a:gdLst/>
                <a:ahLst/>
                <a:cxnLst/>
                <a:rect l="l" t="t" r="r" b="b"/>
                <a:pathLst>
                  <a:path w="200026" h="100013">
                    <a:moveTo>
                      <a:pt x="0" y="100013"/>
                    </a:moveTo>
                    <a:lnTo>
                      <a:pt x="11113" y="100013"/>
                    </a:lnTo>
                    <a:moveTo>
                      <a:pt x="100013" y="0"/>
                    </a:moveTo>
                    <a:lnTo>
                      <a:pt x="100013" y="11113"/>
                    </a:lnTo>
                    <a:moveTo>
                      <a:pt x="188913" y="100013"/>
                    </a:moveTo>
                    <a:lnTo>
                      <a:pt x="200026" y="100013"/>
                    </a:lnTo>
                    <a:moveTo>
                      <a:pt x="28893" y="28893"/>
                    </a:moveTo>
                    <a:lnTo>
                      <a:pt x="36671" y="36671"/>
                    </a:lnTo>
                    <a:moveTo>
                      <a:pt x="171133" y="28893"/>
                    </a:moveTo>
                    <a:lnTo>
                      <a:pt x="163354" y="36671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77926" y="6062345"/>
                <a:ext cx="120548" cy="155575"/>
              </a:xfrm>
              <a:custGeom>
                <a:avLst/>
                <a:gdLst/>
                <a:ahLst/>
                <a:cxnLst/>
                <a:rect l="l" t="t" r="r" b="b"/>
                <a:pathLst>
                  <a:path w="120548" h="155575">
                    <a:moveTo>
                      <a:pt x="26937" y="100013"/>
                    </a:moveTo>
                    <a:cubicBezTo>
                      <a:pt x="7804" y="85663"/>
                      <a:pt x="0" y="60681"/>
                      <a:pt x="7563" y="37992"/>
                    </a:cubicBezTo>
                    <a:cubicBezTo>
                      <a:pt x="15126" y="15304"/>
                      <a:pt x="36358" y="0"/>
                      <a:pt x="60274" y="0"/>
                    </a:cubicBezTo>
                    <a:cubicBezTo>
                      <a:pt x="84190" y="0"/>
                      <a:pt x="105423" y="15304"/>
                      <a:pt x="112986" y="37992"/>
                    </a:cubicBezTo>
                    <a:cubicBezTo>
                      <a:pt x="120548" y="60681"/>
                      <a:pt x="112745" y="85663"/>
                      <a:pt x="93612" y="100013"/>
                    </a:cubicBezTo>
                    <a:cubicBezTo>
                      <a:pt x="84812" y="108723"/>
                      <a:pt x="80686" y="121103"/>
                      <a:pt x="82499" y="133350"/>
                    </a:cubicBezTo>
                    <a:cubicBezTo>
                      <a:pt x="82499" y="145625"/>
                      <a:pt x="72549" y="155575"/>
                      <a:pt x="60274" y="155575"/>
                    </a:cubicBezTo>
                    <a:cubicBezTo>
                      <a:pt x="48000" y="155575"/>
                      <a:pt x="38049" y="145625"/>
                      <a:pt x="38049" y="133350"/>
                    </a:cubicBezTo>
                    <a:cubicBezTo>
                      <a:pt x="39862" y="121103"/>
                      <a:pt x="35736" y="108723"/>
                      <a:pt x="26937" y="100013"/>
                    </a:cubicBez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12642" y="6173471"/>
                <a:ext cx="51118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51118" h="9525">
                    <a:moveTo>
                      <a:pt x="0" y="0"/>
                    </a:moveTo>
                    <a:lnTo>
                      <a:pt x="51118" y="0"/>
                    </a:lnTo>
                  </a:path>
                </a:pathLst>
              </a:custGeom>
              <a:noFill/>
              <a:ln w="22225">
                <a:solidFill>
                  <a:srgbClr val="C2410C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606555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C2410C"/>
                  </a:solidFill>
                  <a:latin typeface="+mn-lt"/>
                  <a:ea typeface="+mn-ea"/>
                  <a:cs typeface="+mn-cs"/>
                </a:rPr>
                <a:t>先盖住答案自己答一遍再对照；第 3 题和第 6 题是原题里最容易错的两处。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33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2085594" cy="909257"/>
            <a:chOff x="520446" y="342900"/>
            <a:chExt cx="2085594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1291590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30127" y="407194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 · 自测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2085594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自测题（二）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12" name="c1-card-1"/>
          <p:cNvGrpSpPr/>
          <p:nvPr/>
        </p:nvGrpSpPr>
        <p:grpSpPr>
          <a:xfrm>
            <a:off x="533400" y="1524000"/>
            <a:ext cx="5410200" cy="1254442"/>
            <a:chOff x="533400" y="1524000"/>
            <a:chExt cx="5410200" cy="1254442"/>
          </a:xfrm>
        </p:grpSpPr>
        <p:sp>
          <p:nvSpPr>
            <p:cNvPr id="7" name="Rectangle 7"/>
            <p:cNvSpPr/>
            <p:nvPr/>
          </p:nvSpPr>
          <p:spPr>
            <a:xfrm>
              <a:off x="533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25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814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18947" y="2072640"/>
              <a:ext cx="313294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RUP 的四个阶段和对应里程碑是什么？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18947" y="2375535"/>
              <a:ext cx="41710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初始→LCO，细化→LCA，构造→IOC，交付→PR。</a:t>
              </a:r>
            </a:p>
          </p:txBody>
        </p:sp>
      </p:grpSp>
      <p:grpSp>
        <p:nvGrpSpPr>
          <p:cNvPr id="18" name="c1-card-2"/>
          <p:cNvGrpSpPr/>
          <p:nvPr/>
        </p:nvGrpSpPr>
        <p:grpSpPr>
          <a:xfrm>
            <a:off x="533400" y="2953702"/>
            <a:ext cx="5410200" cy="1254442"/>
            <a:chOff x="533400" y="2953702"/>
            <a:chExt cx="5410200" cy="1254442"/>
          </a:xfrm>
        </p:grpSpPr>
        <p:sp>
          <p:nvSpPr>
            <p:cNvPr id="13" name="Rectangle 13"/>
            <p:cNvSpPr/>
            <p:nvPr/>
          </p:nvSpPr>
          <p:spPr>
            <a:xfrm>
              <a:off x="533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725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14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8947" y="3503295"/>
              <a:ext cx="38583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为什么“模型必须同时是结构的和行为的”不对？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18947" y="3805238"/>
              <a:ext cx="492061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一个模型可以只描述结构或只描述行为，按问题选视图。</a:t>
              </a:r>
            </a:p>
          </p:txBody>
        </p:sp>
      </p:grpSp>
      <p:grpSp>
        <p:nvGrpSpPr>
          <p:cNvPr id="24" name="c1-card-3"/>
          <p:cNvGrpSpPr/>
          <p:nvPr/>
        </p:nvGrpSpPr>
        <p:grpSpPr>
          <a:xfrm>
            <a:off x="533400" y="4383405"/>
            <a:ext cx="5410200" cy="1254442"/>
            <a:chOff x="533400" y="4383405"/>
            <a:chExt cx="5410200" cy="1254442"/>
          </a:xfrm>
        </p:grpSpPr>
        <p:sp>
          <p:nvSpPr>
            <p:cNvPr id="19" name="Rectangle 19"/>
            <p:cNvSpPr/>
            <p:nvPr/>
          </p:nvSpPr>
          <p:spPr>
            <a:xfrm>
              <a:off x="533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725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814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18947" y="493299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一个项目要不要建模，看哪两个量？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18947" y="523494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系统的复杂度，以及返工的代价。</a:t>
              </a:r>
            </a:p>
          </p:txBody>
        </p:sp>
      </p:grpSp>
      <p:grpSp>
        <p:nvGrpSpPr>
          <p:cNvPr id="30" name="c2-card-1"/>
          <p:cNvGrpSpPr/>
          <p:nvPr/>
        </p:nvGrpSpPr>
        <p:grpSpPr>
          <a:xfrm>
            <a:off x="6248400" y="1524000"/>
            <a:ext cx="5410200" cy="1254442"/>
            <a:chOff x="6248400" y="1524000"/>
            <a:chExt cx="5410200" cy="1254442"/>
          </a:xfrm>
        </p:grpSpPr>
        <p:sp>
          <p:nvSpPr>
            <p:cNvPr id="25" name="Rectangle 25"/>
            <p:cNvSpPr/>
            <p:nvPr/>
          </p:nvSpPr>
          <p:spPr>
            <a:xfrm>
              <a:off x="6248400" y="1524000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6440805" y="1716405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529753" y="1750695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Q2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33947" y="207264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九个工作流里哪三个是支持工作流？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33947" y="237553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配置与变更管理、项目管理、环境。</a:t>
              </a:r>
            </a:p>
          </p:txBody>
        </p:sp>
      </p:grpSp>
      <p:grpSp>
        <p:nvGrpSpPr>
          <p:cNvPr id="36" name="c2-card-2"/>
          <p:cNvGrpSpPr/>
          <p:nvPr/>
        </p:nvGrpSpPr>
        <p:grpSpPr>
          <a:xfrm>
            <a:off x="6248400" y="2953702"/>
            <a:ext cx="5410200" cy="1254442"/>
            <a:chOff x="6248400" y="2953702"/>
            <a:chExt cx="5410200" cy="1254442"/>
          </a:xfrm>
        </p:grpSpPr>
        <p:sp>
          <p:nvSpPr>
            <p:cNvPr id="31" name="Rectangle 31"/>
            <p:cNvSpPr/>
            <p:nvPr/>
          </p:nvSpPr>
          <p:spPr>
            <a:xfrm>
              <a:off x="6248400" y="2953702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6440805" y="3146108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529753" y="3180398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Q4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433947" y="350329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封装带来的两个直接好处是什么？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33947" y="3805238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实现改动不影响客户；改动局部化，维护代价下降。</a:t>
              </a:r>
            </a:p>
          </p:txBody>
        </p:sp>
      </p:grpSp>
      <p:grpSp>
        <p:nvGrpSpPr>
          <p:cNvPr id="42" name="c2-card-3"/>
          <p:cNvGrpSpPr/>
          <p:nvPr/>
        </p:nvGrpSpPr>
        <p:grpSpPr>
          <a:xfrm>
            <a:off x="6248400" y="4383405"/>
            <a:ext cx="5410200" cy="1254442"/>
            <a:chOff x="6248400" y="4383405"/>
            <a:chExt cx="5410200" cy="1254442"/>
          </a:xfrm>
        </p:grpSpPr>
        <p:sp>
          <p:nvSpPr>
            <p:cNvPr id="37" name="Rectangle 37"/>
            <p:cNvSpPr/>
            <p:nvPr/>
          </p:nvSpPr>
          <p:spPr>
            <a:xfrm>
              <a:off x="6248400" y="4383405"/>
              <a:ext cx="5410200" cy="1254442"/>
            </a:xfrm>
            <a:prstGeom prst="roundRect">
              <a:avLst>
                <a:gd name="adj" fmla="val 10630"/>
              </a:avLst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38" name="Rectangle 38"/>
            <p:cNvSpPr/>
            <p:nvPr/>
          </p:nvSpPr>
          <p:spPr>
            <a:xfrm>
              <a:off x="6440805" y="4575810"/>
              <a:ext cx="391478" cy="24765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529753" y="4610100"/>
              <a:ext cx="2145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Q6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33947" y="4932998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第四条建模原则的完整表述是什么？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33947" y="523494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0F7A68"/>
                  </a:solidFill>
                  <a:latin typeface="+mn-lt"/>
                  <a:ea typeface="+mn-ea"/>
                  <a:cs typeface="+mn-cs"/>
                </a:rPr>
                <a:t>答：</a:t>
              </a:r>
              <a:r>
                <a:rPr lang="zh-CN" sz="135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用一组几乎独立的模型逼近系统，它们仍相互关联。</a:t>
              </a:r>
            </a:p>
          </p:txBody>
        </p:sp>
      </p:grpSp>
      <p:grpSp>
        <p:nvGrpSpPr>
          <p:cNvPr id="49" name="takeaway"/>
          <p:cNvGrpSpPr/>
          <p:nvPr/>
        </p:nvGrpSpPr>
        <p:grpSpPr>
          <a:xfrm>
            <a:off x="533400" y="5874068"/>
            <a:ext cx="11125200" cy="488632"/>
            <a:chOff x="533400" y="5874068"/>
            <a:chExt cx="11125200" cy="488632"/>
          </a:xfrm>
        </p:grpSpPr>
        <p:sp>
          <p:nvSpPr>
            <p:cNvPr id="43" name="Rectangle 43"/>
            <p:cNvSpPr/>
            <p:nvPr/>
          </p:nvSpPr>
          <p:spPr>
            <a:xfrm>
              <a:off x="533400" y="5874068"/>
              <a:ext cx="11125200" cy="488632"/>
            </a:xfrm>
            <a:prstGeom prst="roundRect">
              <a:avLst>
                <a:gd name="adj" fmla="val 23392"/>
              </a:avLst>
            </a:prstGeom>
            <a:solidFill>
              <a:srgbClr val="FDECE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726129" y="6014203"/>
              <a:ext cx="224134" cy="192560"/>
              <a:chOff x="726129" y="6014203"/>
              <a:chExt cx="224134" cy="192560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838200" y="6084570"/>
                <a:ext cx="9525" cy="444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44450">
                    <a:moveTo>
                      <a:pt x="0" y="0"/>
                    </a:moveTo>
                    <a:lnTo>
                      <a:pt x="0" y="4445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726129" y="6014203"/>
                <a:ext cx="224134" cy="192560"/>
              </a:xfrm>
              <a:custGeom>
                <a:avLst/>
                <a:gdLst/>
                <a:ahLst/>
                <a:cxnLst/>
                <a:rect l="l" t="t" r="r" b="b"/>
                <a:pathLst>
                  <a:path w="224134" h="192560">
                    <a:moveTo>
                      <a:pt x="93880" y="10259"/>
                    </a:moveTo>
                    <a:lnTo>
                      <a:pt x="3802" y="160656"/>
                    </a:lnTo>
                    <a:cubicBezTo>
                      <a:pt x="23" y="167200"/>
                      <a:pt x="0" y="175257"/>
                      <a:pt x="3741" y="181823"/>
                    </a:cubicBezTo>
                    <a:cubicBezTo>
                      <a:pt x="7482" y="188388"/>
                      <a:pt x="14426" y="192476"/>
                      <a:pt x="21982" y="192560"/>
                    </a:cubicBezTo>
                    <a:lnTo>
                      <a:pt x="202160" y="192560"/>
                    </a:lnTo>
                    <a:cubicBezTo>
                      <a:pt x="209713" y="192473"/>
                      <a:pt x="216653" y="188387"/>
                      <a:pt x="220393" y="181826"/>
                    </a:cubicBezTo>
                    <a:cubicBezTo>
                      <a:pt x="224134" y="175264"/>
                      <a:pt x="224114" y="167211"/>
                      <a:pt x="220341" y="160667"/>
                    </a:cubicBezTo>
                    <a:lnTo>
                      <a:pt x="130262" y="10248"/>
                    </a:lnTo>
                    <a:cubicBezTo>
                      <a:pt x="126408" y="3886"/>
                      <a:pt x="119510" y="0"/>
                      <a:pt x="112071" y="0"/>
                    </a:cubicBezTo>
                    <a:cubicBezTo>
                      <a:pt x="104633" y="0"/>
                      <a:pt x="97734" y="3886"/>
                      <a:pt x="93880" y="10248"/>
                    </a:cubicBez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  <p:sp>
            <p:nvSpPr>
              <p:cNvPr id="46" name="Freeform 46"/>
              <p:cNvSpPr/>
              <p:nvPr/>
            </p:nvSpPr>
            <p:spPr>
              <a:xfrm>
                <a:off x="838200" y="6162358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B42318"/>
                </a:solidFill>
              </a:ln>
            </p:spPr>
          </p:sp>
        </p:grpSp>
        <p:sp>
          <p:nvSpPr>
            <p:cNvPr id="48" name="TextBox 48"/>
            <p:cNvSpPr txBox="1"/>
            <p:nvPr/>
          </p:nvSpPr>
          <p:spPr>
            <a:xfrm>
              <a:off x="1040892" y="6023610"/>
              <a:ext cx="50023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B42318"/>
                  </a:solidFill>
                  <a:latin typeface="+mn-lt"/>
                  <a:ea typeface="+mn-ea"/>
                  <a:cs typeface="+mn-cs"/>
                </a:rPr>
                <a:t>反向题（not、least、except）先把否定词圈出来再看选项。</a:t>
              </a:r>
            </a:p>
          </p:txBody>
        </p:sp>
      </p:grpSp>
      <p:grpSp>
        <p:nvGrpSpPr>
          <p:cNvPr id="52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50" name="TextBox 50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34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header"/>
          <p:cNvGrpSpPr/>
          <p:nvPr/>
        </p:nvGrpSpPr>
        <p:grpSpPr>
          <a:xfrm>
            <a:off x="520446" y="342900"/>
            <a:ext cx="1399032" cy="909257"/>
            <a:chOff x="520446" y="342900"/>
            <a:chExt cx="1399032" cy="909257"/>
          </a:xfrm>
        </p:grpSpPr>
        <p:sp>
          <p:nvSpPr>
            <p:cNvPr id="2" name="Rectangle 2"/>
            <p:cNvSpPr/>
            <p:nvPr/>
          </p:nvSpPr>
          <p:spPr>
            <a:xfrm>
              <a:off x="533400" y="342900"/>
              <a:ext cx="835342" cy="266700"/>
            </a:xfrm>
            <a:prstGeom prst="roundRect">
              <a:avLst>
                <a:gd name="adj" fmla="val 50000"/>
              </a:avLst>
            </a:prstGeom>
            <a:solidFill>
              <a:srgbClr val="E7EDF3"/>
            </a:solidFill>
            <a:ln>
              <a:noFill/>
            </a:ln>
          </p:spPr>
        </p:sp>
        <p:sp>
          <p:nvSpPr>
            <p:cNvPr id="3" name="TextBox 3"/>
            <p:cNvSpPr txBox="1"/>
            <p:nvPr/>
          </p:nvSpPr>
          <p:spPr>
            <a:xfrm>
              <a:off x="644284" y="407194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334E68"/>
                  </a:solidFill>
                  <a:latin typeface="+mn-lt"/>
                  <a:ea typeface="+mn-ea"/>
                  <a:cs typeface="+mn-cs"/>
                </a:rPr>
                <a:t>建模测验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20446" y="753428"/>
              <a:ext cx="1399032" cy="49872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55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本讲小结</a:t>
              </a:r>
            </a:p>
          </p:txBody>
        </p:sp>
        <p:sp>
          <p:nvSpPr>
            <p:cNvPr id="5" name="Rectangle 5"/>
            <p:cNvSpPr/>
            <p:nvPr/>
          </p:nvSpPr>
          <p:spPr>
            <a:xfrm>
              <a:off x="533400" y="1181100"/>
              <a:ext cx="609600" cy="381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rgbClr val="334E68"/>
                </a:gs>
                <a:gs pos="100000">
                  <a:srgbClr val="F26B3A"/>
                </a:gs>
              </a:gsLst>
              <a:lin ang="0" scaled="1"/>
            </a:gradFill>
            <a:ln>
              <a:noFill/>
            </a:ln>
          </p:spPr>
        </p:sp>
      </p:grpSp>
      <p:grpSp>
        <p:nvGrpSpPr>
          <p:cNvPr id="34" name="c1-bullets-1"/>
          <p:cNvGrpSpPr/>
          <p:nvPr/>
        </p:nvGrpSpPr>
        <p:grpSpPr>
          <a:xfrm>
            <a:off x="533400" y="1535430"/>
            <a:ext cx="5269230" cy="4208145"/>
            <a:chOff x="533400" y="1535430"/>
            <a:chExt cx="5269230" cy="4208145"/>
          </a:xfrm>
        </p:grpSpPr>
        <p:sp>
          <p:nvSpPr>
            <p:cNvPr id="7" name="Ellipse 7"/>
            <p:cNvSpPr/>
            <p:nvPr/>
          </p:nvSpPr>
          <p:spPr>
            <a:xfrm>
              <a:off x="533400" y="153543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595249" y="157772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4390" y="154876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对象技术是一组构造软件的原则：抽象、封装、模块化、层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次</a:t>
              </a:r>
            </a:p>
          </p:txBody>
        </p:sp>
        <p:sp>
          <p:nvSpPr>
            <p:cNvPr id="10" name="Ellipse 10"/>
            <p:cNvSpPr/>
            <p:nvPr/>
          </p:nvSpPr>
          <p:spPr>
            <a:xfrm>
              <a:off x="533400" y="216598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5249" y="220827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834390" y="2179320"/>
              <a:ext cx="441579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模型是现实的简化；建模为了 visualize、specify、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construct、document</a:t>
              </a:r>
            </a:p>
          </p:txBody>
        </p:sp>
        <p:sp>
          <p:nvSpPr>
            <p:cNvPr id="13" name="Ellipse 13"/>
            <p:cNvSpPr/>
            <p:nvPr/>
          </p:nvSpPr>
          <p:spPr>
            <a:xfrm>
              <a:off x="533400" y="279654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5249" y="283883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4390" y="2809875"/>
              <a:ext cx="4968240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建模四原则：选什么模型、精度可调、连着现实、用一组模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型</a:t>
              </a:r>
            </a:p>
          </p:txBody>
        </p:sp>
        <p:sp>
          <p:nvSpPr>
            <p:cNvPr id="16" name="Ellipse 16"/>
            <p:cNvSpPr/>
            <p:nvPr/>
          </p:nvSpPr>
          <p:spPr>
            <a:xfrm>
              <a:off x="533400" y="342709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95249" y="346938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4390" y="3440430"/>
              <a:ext cx="4958715" cy="5791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250"/>
                </a:lnSpc>
              </a:pPr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4+1 视图：用例驱动，逻辑看结构，实现看代码组织，进程</a:t>
              </a:r>
              <a:br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看并发，部署看拓扑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533400" y="405765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595249" y="409994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34390" y="4070985"/>
              <a:ext cx="3894392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RUP 有 4 个阶段、4 个里程碑和 9 个工作流</a:t>
              </a:r>
            </a:p>
          </p:txBody>
        </p:sp>
        <p:sp>
          <p:nvSpPr>
            <p:cNvPr id="22" name="Ellipse 22"/>
            <p:cNvSpPr/>
            <p:nvPr/>
          </p:nvSpPr>
          <p:spPr>
            <a:xfrm>
              <a:off x="533400" y="440245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95249" y="444474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4390" y="4415790"/>
              <a:ext cx="445770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过程特征：用例驱动、以构架为中心、迭代且增量</a:t>
              </a:r>
            </a:p>
          </p:txBody>
        </p:sp>
        <p:sp>
          <p:nvSpPr>
            <p:cNvPr id="25" name="Ellipse 25"/>
            <p:cNvSpPr/>
            <p:nvPr/>
          </p:nvSpPr>
          <p:spPr>
            <a:xfrm>
              <a:off x="533400" y="474726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595249" y="478955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4390" y="4760595"/>
              <a:ext cx="4619244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 ＝ 状态 ＋ 行为 ＋ 标识；类是对象的抽象定义</a:t>
              </a:r>
            </a:p>
          </p:txBody>
        </p:sp>
        <p:sp>
          <p:nvSpPr>
            <p:cNvPr id="28" name="Ellipse 28"/>
            <p:cNvSpPr/>
            <p:nvPr/>
          </p:nvSpPr>
          <p:spPr>
            <a:xfrm>
              <a:off x="533400" y="5092065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95249" y="5134356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4390" y="5105400"/>
              <a:ext cx="405384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封装是信息隐藏，模块化追求高内聚、低耦合</a:t>
              </a:r>
            </a:p>
          </p:txBody>
        </p:sp>
        <p:sp>
          <p:nvSpPr>
            <p:cNvPr id="31" name="Ellipse 31"/>
            <p:cNvSpPr/>
            <p:nvPr/>
          </p:nvSpPr>
          <p:spPr>
            <a:xfrm>
              <a:off x="533400" y="5436870"/>
              <a:ext cx="213360" cy="213360"/>
            </a:xfrm>
            <a:prstGeom prst="ellipse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595249" y="5479161"/>
              <a:ext cx="89661" cy="19949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9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34390" y="5450205"/>
              <a:ext cx="468992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多态是一个接口多种实现，package 负责把元素分组</a:t>
              </a:r>
            </a:p>
          </p:txBody>
        </p:sp>
      </p:grpSp>
      <p:grpSp>
        <p:nvGrpSpPr>
          <p:cNvPr id="56" name="c2-table-1"/>
          <p:cNvGrpSpPr/>
          <p:nvPr/>
        </p:nvGrpSpPr>
        <p:grpSpPr>
          <a:xfrm>
            <a:off x="6464618" y="1524000"/>
            <a:ext cx="5193982" cy="2919412"/>
            <a:chOff x="6464618" y="1524000"/>
            <a:chExt cx="5193982" cy="2919412"/>
          </a:xfrm>
        </p:grpSpPr>
        <p:sp>
          <p:nvSpPr>
            <p:cNvPr id="35" name="Rectangle 35"/>
            <p:cNvSpPr/>
            <p:nvPr/>
          </p:nvSpPr>
          <p:spPr>
            <a:xfrm>
              <a:off x="6464618" y="1524000"/>
              <a:ext cx="5193982" cy="448628"/>
            </a:xfrm>
            <a:prstGeom prst="rect">
              <a:avLst/>
            </a:prstGeom>
            <a:solidFill>
              <a:srgbClr val="334E68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7302322" y="1659731"/>
              <a:ext cx="1046836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容易混的一对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10244417" y="1659731"/>
              <a:ext cx="35758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28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区别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72441" y="2108359"/>
              <a:ext cx="1704643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operation / method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294686" y="2108359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声明的服务 / 实现的代码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464618" y="241649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1" name="Rectangle 41"/>
            <p:cNvSpPr/>
            <p:nvPr/>
          </p:nvSpPr>
          <p:spPr>
            <a:xfrm>
              <a:off x="6464618" y="2421255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6572441" y="2556986"/>
              <a:ext cx="1587039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link / relationship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294686" y="2556986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对象之间 / 类之间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6464618" y="2866072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6572441" y="3005614"/>
              <a:ext cx="252787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generalization / aggregation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294686" y="3005614"/>
              <a:ext cx="141731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是一种 / 是一部分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6464618" y="3314700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48" name="Rectangle 48"/>
            <p:cNvSpPr/>
            <p:nvPr/>
          </p:nvSpPr>
          <p:spPr>
            <a:xfrm>
              <a:off x="6464618" y="3319462"/>
              <a:ext cx="5193982" cy="448628"/>
            </a:xfrm>
            <a:prstGeom prst="rect">
              <a:avLst/>
            </a:prstGeom>
            <a:solidFill>
              <a:srgbClr val="F4F6F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6572441" y="3454241"/>
              <a:ext cx="240122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inheritance / polymorphism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9294686" y="3454241"/>
              <a:ext cx="227887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沿层次复用 / 按实际类型分派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6464618" y="3763328"/>
              <a:ext cx="5193982" cy="9525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6572441" y="3903821"/>
              <a:ext cx="1992935" cy="4760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785"/>
                </a:lnSpc>
              </a:pPr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logical / implementation</a:t>
              </a:r>
              <a:br/>
              <a:r>
                <a:rPr lang="en-US" sz="1280" b="1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view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294686" y="4017169"/>
              <a:ext cx="1934251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dirty="0">
                  <a:solidFill>
                    <a:srgbClr val="1F2937"/>
                  </a:solidFill>
                  <a:latin typeface="+mn-lt"/>
                  <a:ea typeface="+mn-ea"/>
                  <a:cs typeface="+mn-cs"/>
                </a:rPr>
                <a:t>设计结构 / 代码工件组织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6464618" y="1524000"/>
              <a:ext cx="5193982" cy="2919412"/>
            </a:xfrm>
            <a:prstGeom prst="rect">
              <a:avLst/>
            </a:prstGeom>
            <a:noFill/>
            <a:ln w="14288">
              <a:solidFill>
                <a:srgbClr val="D9DFEA"/>
              </a:solidFill>
            </a:ln>
          </p:spPr>
        </p:sp>
        <p:sp>
          <p:nvSpPr>
            <p:cNvPr id="55" name="Rectangle 55"/>
            <p:cNvSpPr/>
            <p:nvPr/>
          </p:nvSpPr>
          <p:spPr>
            <a:xfrm>
              <a:off x="9182100" y="1524000"/>
              <a:ext cx="9525" cy="2919412"/>
            </a:xfrm>
            <a:prstGeom prst="rect">
              <a:avLst/>
            </a:prstGeom>
            <a:solidFill>
              <a:srgbClr val="D9DFEA"/>
            </a:solidFill>
            <a:ln>
              <a:noFill/>
            </a:ln>
          </p:spPr>
        </p:sp>
      </p:grpSp>
      <p:grpSp>
        <p:nvGrpSpPr>
          <p:cNvPr id="62" name="c2-callout-2"/>
          <p:cNvGrpSpPr/>
          <p:nvPr/>
        </p:nvGrpSpPr>
        <p:grpSpPr>
          <a:xfrm>
            <a:off x="6464618" y="4633912"/>
            <a:ext cx="5193982" cy="1059180"/>
            <a:chOff x="6464618" y="4633912"/>
            <a:chExt cx="5193982" cy="1059180"/>
          </a:xfrm>
        </p:grpSpPr>
        <p:sp>
          <p:nvSpPr>
            <p:cNvPr id="57" name="Rectangle 57"/>
            <p:cNvSpPr/>
            <p:nvPr/>
          </p:nvSpPr>
          <p:spPr>
            <a:xfrm>
              <a:off x="6464618" y="4633912"/>
              <a:ext cx="5193982" cy="1059180"/>
            </a:xfrm>
            <a:prstGeom prst="roundRect">
              <a:avLst>
                <a:gd name="adj" fmla="val 10791"/>
              </a:avLst>
            </a:prstGeom>
            <a:solidFill>
              <a:srgbClr val="334E68"/>
            </a:solidFill>
            <a:ln>
              <a:noFill/>
            </a:ln>
          </p:spPr>
        </p:sp>
        <p:grpSp>
          <p:nvGrpSpPr>
            <p:cNvPr id="60" name="Group 60"/>
            <p:cNvGrpSpPr/>
            <p:nvPr/>
          </p:nvGrpSpPr>
          <p:grpSpPr>
            <a:xfrm>
              <a:off x="6669405" y="5063492"/>
              <a:ext cx="200023" cy="200023"/>
              <a:chOff x="6669405" y="5063492"/>
              <a:chExt cx="200023" cy="200023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6669405" y="5063492"/>
                <a:ext cx="200023" cy="200023"/>
              </a:xfrm>
              <a:custGeom>
                <a:avLst/>
                <a:gdLst/>
                <a:ahLst/>
                <a:cxnLst/>
                <a:rect l="l" t="t" r="r" b="b"/>
                <a:pathLst>
                  <a:path w="200023" h="200023">
                    <a:moveTo>
                      <a:pt x="150630" y="9366"/>
                    </a:moveTo>
                    <a:lnTo>
                      <a:pt x="190658" y="49393"/>
                    </a:lnTo>
                    <a:cubicBezTo>
                      <a:pt x="196654" y="55389"/>
                      <a:pt x="200023" y="63522"/>
                      <a:pt x="200023" y="72002"/>
                    </a:cubicBezTo>
                    <a:cubicBezTo>
                      <a:pt x="200023" y="80482"/>
                      <a:pt x="196654" y="88614"/>
                      <a:pt x="190658" y="94610"/>
                    </a:cubicBezTo>
                    <a:lnTo>
                      <a:pt x="161287" y="123980"/>
                    </a:lnTo>
                    <a:cubicBezTo>
                      <a:pt x="155291" y="129977"/>
                      <a:pt x="147159" y="133346"/>
                      <a:pt x="138679" y="133346"/>
                    </a:cubicBezTo>
                    <a:cubicBezTo>
                      <a:pt x="130199" y="133346"/>
                      <a:pt x="122066" y="129977"/>
                      <a:pt x="116070" y="123980"/>
                    </a:cubicBezTo>
                    <a:lnTo>
                      <a:pt x="112726" y="120636"/>
                    </a:lnTo>
                    <a:lnTo>
                      <a:pt x="39850" y="193511"/>
                    </a:lnTo>
                    <a:cubicBezTo>
                      <a:pt x="36157" y="197203"/>
                      <a:pt x="31283" y="199477"/>
                      <a:pt x="26081" y="199935"/>
                    </a:cubicBezTo>
                    <a:lnTo>
                      <a:pt x="24136" y="200023"/>
                    </a:lnTo>
                    <a:lnTo>
                      <a:pt x="11113" y="200023"/>
                    </a:lnTo>
                    <a:cubicBezTo>
                      <a:pt x="5479" y="200023"/>
                      <a:pt x="737" y="195806"/>
                      <a:pt x="78" y="190211"/>
                    </a:cubicBezTo>
                    <a:lnTo>
                      <a:pt x="0" y="188911"/>
                    </a:lnTo>
                    <a:lnTo>
                      <a:pt x="0" y="175887"/>
                    </a:lnTo>
                    <a:cubicBezTo>
                      <a:pt x="1" y="170669"/>
                      <a:pt x="1838" y="165618"/>
                      <a:pt x="5190" y="161619"/>
                    </a:cubicBezTo>
                    <a:lnTo>
                      <a:pt x="6512" y="160174"/>
                    </a:lnTo>
                    <a:lnTo>
                      <a:pt x="11113" y="155573"/>
                    </a:lnTo>
                    <a:lnTo>
                      <a:pt x="33338" y="155573"/>
                    </a:lnTo>
                    <a:lnTo>
                      <a:pt x="33338" y="133348"/>
                    </a:lnTo>
                    <a:lnTo>
                      <a:pt x="55563" y="133348"/>
                    </a:lnTo>
                    <a:lnTo>
                      <a:pt x="55563" y="111123"/>
                    </a:lnTo>
                    <a:lnTo>
                      <a:pt x="79388" y="87298"/>
                    </a:lnTo>
                    <a:lnTo>
                      <a:pt x="76043" y="83953"/>
                    </a:lnTo>
                    <a:cubicBezTo>
                      <a:pt x="70046" y="77957"/>
                      <a:pt x="66677" y="69825"/>
                      <a:pt x="66677" y="61345"/>
                    </a:cubicBezTo>
                    <a:cubicBezTo>
                      <a:pt x="66677" y="52865"/>
                      <a:pt x="70046" y="44732"/>
                      <a:pt x="76043" y="38736"/>
                    </a:cubicBezTo>
                    <a:lnTo>
                      <a:pt x="105413" y="9366"/>
                    </a:lnTo>
                    <a:cubicBezTo>
                      <a:pt x="111409" y="3369"/>
                      <a:pt x="119542" y="0"/>
                      <a:pt x="128022" y="0"/>
                    </a:cubicBezTo>
                    <a:cubicBezTo>
                      <a:pt x="136502" y="0"/>
                      <a:pt x="144635" y="3369"/>
                      <a:pt x="150630" y="9366"/>
                    </a:cubicBez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6802755" y="513016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11" y="0"/>
                    </a:lnTo>
                  </a:path>
                </a:pathLst>
              </a:custGeom>
              <a:noFill/>
              <a:ln w="22225">
                <a:solidFill>
                  <a:srgbClr val="FFFFFF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6971348" y="4782502"/>
              <a:ext cx="422529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2175"/>
                </a:lnSpc>
              </a:pPr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原课件共 16 道题，错得最多的是 Q8 反向题、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Q10 operation 与 method、Q13 类与对象的实例</a:t>
              </a:r>
              <a:br/>
              <a:r>
                <a:rPr lang="zh-CN" sz="1500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方向。</a:t>
              </a:r>
            </a:p>
          </p:txBody>
        </p:sp>
      </p:grpSp>
      <p:grpSp>
        <p:nvGrpSpPr>
          <p:cNvPr id="65" name="footer"/>
          <p:cNvGrpSpPr/>
          <p:nvPr/>
        </p:nvGrpSpPr>
        <p:grpSpPr>
          <a:xfrm>
            <a:off x="528447" y="6581299"/>
            <a:ext cx="11135106" cy="190690"/>
            <a:chOff x="528447" y="6581299"/>
            <a:chExt cx="11135106" cy="190690"/>
          </a:xfrm>
        </p:grpSpPr>
        <p:sp>
          <p:nvSpPr>
            <p:cNvPr id="63" name="TextBox 63"/>
            <p:cNvSpPr txBox="1"/>
            <p:nvPr/>
          </p:nvSpPr>
          <p:spPr>
            <a:xfrm>
              <a:off x="528447" y="6581299"/>
              <a:ext cx="256880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软件工程 · DEV275 可视化建模与 RUP 测验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508527" y="6581299"/>
              <a:ext cx="1550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zh-CN" sz="980" dirty="0">
                  <a:solidFill>
                    <a:srgbClr val="5B6475"/>
                  </a:solidFill>
                  <a:latin typeface="+mn-lt"/>
                  <a:ea typeface="+mn-ea"/>
                  <a:cs typeface="+mn-cs"/>
                </a:rPr>
                <a:t>35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se_rup_quiz">
  <a:themeElements>
    <a:clrScheme name="se_rup_quiz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_rup_quiz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e_rup_quiz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35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2026-09-19T04:31:08Z</dcterms:created>
  <dcterms:modified xsi:type="dcterms:W3CDTF">2026-09-19T04:31:08Z</dcterms:modified>
  <cp:category/>
  <cp:contentStatus/>
</cp:coreProperties>
</file>