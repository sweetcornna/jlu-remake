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rup_quiz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rup_quiz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cdbe7b92b8161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db99751e0cb1303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cdc332f63ecf02d.png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972708" cy="3437763"/>
            <a:chOff x="666750" y="1619250"/>
            <a:chExt cx="597270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456498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0071" y="1718310"/>
              <a:ext cx="2288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DEV275 Module 3a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9727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可视化建模与 RUP 测验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953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道原题逐题精讲，配 UML 与 RUP 概念梳理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面向对象四条原则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建模的目的与原则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7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4+1 视图与 RUP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类、封装、多态、包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734954" cy="205359"/>
            <a:chOff x="680466" y="6192202"/>
            <a:chExt cx="47349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734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 IBM Rational DEV275 Module 3a 测验课件整理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建模基础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对象技术是什么、模型的定义、建模的四个目的与四条原则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架构与过程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0376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4+1 视图各看什么，RUP 的 4 个阶段、9 个工作流与 3 条过程特征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对象与类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对象的状态与可见行为，封装、模块化、类与对象的关系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继承、多态与组织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192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多态、泛化的判断口诀、用 package 分组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改写题、易混术语对照表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086225"/>
            <a:chOff x="7114222" y="1524000"/>
            <a:chExt cx="4544378" cy="408622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086225"/>
            </a:xfrm>
            <a:prstGeom prst="roundRect">
              <a:avLst>
                <a:gd name="adj" fmla="val 3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81952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72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abstraction、encapsulation、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modularity、hierarchy 四条原则各解决什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么问题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30803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01752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说出建模的四个目的和四条建模原则，并判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断一个项目值不值得建模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7014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63855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RUP 的 4 个阶段、4 个里程碑和 9 个工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作流，说出 4+1 视图各关注什么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3224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4259580"/>
              <a:ext cx="3510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attribute / operation / method /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responsibility 与 link / relationship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880610"/>
              <a:ext cx="3549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判断两个类之间该用 generalization 还是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aggregation，说出 package 的用途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746784" cy="3351847"/>
            <a:chOff x="667512" y="1835468"/>
            <a:chExt cx="47467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建模基础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368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1—6 题：对象技术是什么，模型有什么用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面向对象的四条基本原则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模型的定义与建模的四个目的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四条建模原则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什么样的项目值得建模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面向对象技术站在四条原则上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46670" cy="264033"/>
            <a:chOff x="526542" y="1545907"/>
            <a:chExt cx="76466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后面十几道题问的抽象、封装、模块化、继承，都是这四条原则的具体表现，先把它们排清楚。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4977765" cy="1670685"/>
            <a:chOff x="533400" y="1928812"/>
            <a:chExt cx="4977765" cy="167068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795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对象技术（Object Technology）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一组指导软件构造的原则，以及在这些原则上建立起来的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语言、数据库和工具。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3030379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它不是某一种语言，也不是某一个人的发明；C++、Java、UML 都只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是这套原则的载体。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542" y="3791902"/>
            <a:ext cx="4984623" cy="1949006"/>
            <a:chOff x="526542" y="3791902"/>
            <a:chExt cx="4984623" cy="1949006"/>
          </a:xfrm>
        </p:grpSpPr>
        <p:sp>
          <p:nvSpPr>
            <p:cNvPr id="17" name="TextBox 17"/>
            <p:cNvSpPr txBox="1"/>
            <p:nvPr/>
          </p:nvSpPr>
          <p:spPr>
            <a:xfrm>
              <a:off x="526542" y="3791902"/>
              <a:ext cx="1126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Abstraction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21014" y="3791902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只保留对当前目的重要的特征，忽略其余细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3319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437698"/>
              <a:ext cx="1288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Encapsulation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1014" y="4437698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把实现藏在接口后面，外部只能通过接口访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97776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5084445"/>
              <a:ext cx="1011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Modularity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21014" y="508444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把复杂系统分解成高内聚、低耦合的部件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3701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542" y="5476875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Hierarchy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21014" y="547687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按抽象层次排序，典型形式是泛化与聚合</a:t>
              </a:r>
            </a:p>
          </p:txBody>
        </p:sp>
      </p:grpSp>
      <p:grpSp>
        <p:nvGrpSpPr>
          <p:cNvPr id="67" name="c2-tree-1"/>
          <p:cNvGrpSpPr/>
          <p:nvPr/>
        </p:nvGrpSpPr>
        <p:grpSpPr>
          <a:xfrm>
            <a:off x="5815965" y="1941195"/>
            <a:ext cx="5842635" cy="2741295"/>
            <a:chOff x="5815965" y="1941195"/>
            <a:chExt cx="5842635" cy="2741295"/>
          </a:xfrm>
        </p:grpSpPr>
        <p:sp>
          <p:nvSpPr>
            <p:cNvPr id="29" name="Freeform 29"/>
            <p:cNvSpPr/>
            <p:nvPr/>
          </p:nvSpPr>
          <p:spPr>
            <a:xfrm>
              <a:off x="9786938" y="2101215"/>
              <a:ext cx="419100" cy="173355"/>
            </a:xfrm>
            <a:custGeom>
              <a:avLst/>
              <a:gdLst/>
              <a:ahLst/>
              <a:cxnLst/>
              <a:rect l="l" t="t" r="r" b="b"/>
              <a:pathLst>
                <a:path w="419100" h="173355">
                  <a:moveTo>
                    <a:pt x="0" y="173355"/>
                  </a:moveTo>
                  <a:lnTo>
                    <a:pt x="209550" y="1733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786938" y="2274570"/>
              <a:ext cx="419100" cy="172402"/>
            </a:xfrm>
            <a:custGeom>
              <a:avLst/>
              <a:gdLst/>
              <a:ahLst/>
              <a:cxnLst/>
              <a:rect l="l" t="t" r="r" b="b"/>
              <a:pathLst>
                <a:path w="419100" h="172402">
                  <a:moveTo>
                    <a:pt x="0" y="0"/>
                  </a:moveTo>
                  <a:lnTo>
                    <a:pt x="209550" y="0"/>
                  </a:lnTo>
                  <a:lnTo>
                    <a:pt x="209550" y="172402"/>
                  </a:lnTo>
                  <a:lnTo>
                    <a:pt x="419100" y="1724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786938" y="2792730"/>
              <a:ext cx="419100" cy="173355"/>
            </a:xfrm>
            <a:custGeom>
              <a:avLst/>
              <a:gdLst/>
              <a:ahLst/>
              <a:cxnLst/>
              <a:rect l="l" t="t" r="r" b="b"/>
              <a:pathLst>
                <a:path w="419100" h="173355">
                  <a:moveTo>
                    <a:pt x="0" y="173355"/>
                  </a:moveTo>
                  <a:lnTo>
                    <a:pt x="209550" y="1733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786938" y="2966085"/>
              <a:ext cx="419100" cy="172403"/>
            </a:xfrm>
            <a:custGeom>
              <a:avLst/>
              <a:gdLst/>
              <a:ahLst/>
              <a:cxnLst/>
              <a:rect l="l" t="t" r="r" b="b"/>
              <a:pathLst>
                <a:path w="419100" h="172403">
                  <a:moveTo>
                    <a:pt x="0" y="0"/>
                  </a:moveTo>
                  <a:lnTo>
                    <a:pt x="209550" y="0"/>
                  </a:lnTo>
                  <a:lnTo>
                    <a:pt x="209550" y="172403"/>
                  </a:lnTo>
                  <a:lnTo>
                    <a:pt x="419100" y="17240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786938" y="3484245"/>
              <a:ext cx="419100" cy="173355"/>
            </a:xfrm>
            <a:custGeom>
              <a:avLst/>
              <a:gdLst/>
              <a:ahLst/>
              <a:cxnLst/>
              <a:rect l="l" t="t" r="r" b="b"/>
              <a:pathLst>
                <a:path w="419100" h="173355">
                  <a:moveTo>
                    <a:pt x="0" y="173355"/>
                  </a:moveTo>
                  <a:lnTo>
                    <a:pt x="209550" y="1733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786938" y="3657600"/>
              <a:ext cx="419100" cy="172403"/>
            </a:xfrm>
            <a:custGeom>
              <a:avLst/>
              <a:gdLst/>
              <a:ahLst/>
              <a:cxnLst/>
              <a:rect l="l" t="t" r="r" b="b"/>
              <a:pathLst>
                <a:path w="419100" h="172403">
                  <a:moveTo>
                    <a:pt x="0" y="0"/>
                  </a:moveTo>
                  <a:lnTo>
                    <a:pt x="209550" y="0"/>
                  </a:lnTo>
                  <a:lnTo>
                    <a:pt x="209550" y="172403"/>
                  </a:lnTo>
                  <a:lnTo>
                    <a:pt x="419100" y="17240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786938" y="4175760"/>
              <a:ext cx="419100" cy="173355"/>
            </a:xfrm>
            <a:custGeom>
              <a:avLst/>
              <a:gdLst/>
              <a:ahLst/>
              <a:cxnLst/>
              <a:rect l="l" t="t" r="r" b="b"/>
              <a:pathLst>
                <a:path w="419100" h="173355">
                  <a:moveTo>
                    <a:pt x="0" y="173355"/>
                  </a:moveTo>
                  <a:lnTo>
                    <a:pt x="209550" y="1733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786938" y="4349115"/>
              <a:ext cx="419100" cy="172402"/>
            </a:xfrm>
            <a:custGeom>
              <a:avLst/>
              <a:gdLst/>
              <a:ahLst/>
              <a:cxnLst/>
              <a:rect l="l" t="t" r="r" b="b"/>
              <a:pathLst>
                <a:path w="419100" h="172402">
                  <a:moveTo>
                    <a:pt x="0" y="0"/>
                  </a:moveTo>
                  <a:lnTo>
                    <a:pt x="209550" y="0"/>
                  </a:lnTo>
                  <a:lnTo>
                    <a:pt x="209550" y="172402"/>
                  </a:lnTo>
                  <a:lnTo>
                    <a:pt x="419100" y="1724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268528" y="2274570"/>
              <a:ext cx="419100" cy="1037272"/>
            </a:xfrm>
            <a:custGeom>
              <a:avLst/>
              <a:gdLst/>
              <a:ahLst/>
              <a:cxnLst/>
              <a:rect l="l" t="t" r="r" b="b"/>
              <a:pathLst>
                <a:path w="419100" h="1037272">
                  <a:moveTo>
                    <a:pt x="0" y="1037272"/>
                  </a:moveTo>
                  <a:lnTo>
                    <a:pt x="209550" y="103727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268528" y="2966085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345758"/>
                  </a:moveTo>
                  <a:lnTo>
                    <a:pt x="209550" y="3457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268528" y="3311842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0"/>
                  </a:moveTo>
                  <a:lnTo>
                    <a:pt x="209550" y="0"/>
                  </a:lnTo>
                  <a:lnTo>
                    <a:pt x="209550" y="345758"/>
                  </a:lnTo>
                  <a:lnTo>
                    <a:pt x="419100" y="34575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268528" y="3311842"/>
              <a:ext cx="419100" cy="1037273"/>
            </a:xfrm>
            <a:custGeom>
              <a:avLst/>
              <a:gdLst/>
              <a:ahLst/>
              <a:cxnLst/>
              <a:rect l="l" t="t" r="r" b="b"/>
              <a:pathLst>
                <a:path w="419100" h="1037273">
                  <a:moveTo>
                    <a:pt x="0" y="0"/>
                  </a:moveTo>
                  <a:lnTo>
                    <a:pt x="209550" y="0"/>
                  </a:lnTo>
                  <a:lnTo>
                    <a:pt x="209550" y="1037273"/>
                  </a:lnTo>
                  <a:lnTo>
                    <a:pt x="419100" y="103727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206038" y="1941195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206038" y="2286952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87628" y="2033588"/>
              <a:ext cx="2099310" cy="481965"/>
            </a:xfrm>
            <a:prstGeom prst="roundRect">
              <a:avLst>
                <a:gd name="adj" fmla="val 1976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206038" y="2632710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06038" y="2978468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87628" y="2725102"/>
              <a:ext cx="2099310" cy="481965"/>
            </a:xfrm>
            <a:prstGeom prst="roundRect">
              <a:avLst>
                <a:gd name="adj" fmla="val 1976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206038" y="3324225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06038" y="3669982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87628" y="3416618"/>
              <a:ext cx="2099310" cy="481965"/>
            </a:xfrm>
            <a:prstGeom prst="roundRect">
              <a:avLst>
                <a:gd name="adj" fmla="val 1976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06038" y="4015740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206038" y="4361498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87628" y="4108132"/>
              <a:ext cx="2099310" cy="481965"/>
            </a:xfrm>
            <a:prstGeom prst="roundRect">
              <a:avLst>
                <a:gd name="adj" fmla="val 1976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3150870"/>
              <a:ext cx="1452562" cy="320992"/>
            </a:xfrm>
            <a:prstGeom prst="roundRect">
              <a:avLst>
                <a:gd name="adj" fmla="val 2967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296334" y="20331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类、接口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96334" y="23788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77924" y="2125504"/>
              <a:ext cx="767867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抽象</a:t>
              </a:r>
              <a:br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Abstraction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96334" y="272462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信息隐藏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96334" y="307038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可见性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77924" y="2817019"/>
              <a:ext cx="878948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封装</a:t>
              </a:r>
              <a:br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Encapsulation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96334" y="341614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96334" y="3761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77924" y="3508534"/>
              <a:ext cx="689458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模块化</a:t>
              </a:r>
              <a:br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Modularity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96334" y="41076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96334" y="44534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77924" y="4200049"/>
              <a:ext cx="62411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层次</a:t>
              </a:r>
              <a:br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Hierarchy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906262" y="32437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面向对象</a:t>
              </a:r>
            </a:p>
          </p:txBody>
        </p:sp>
      </p:grpSp>
      <p:grpSp>
        <p:nvGrpSpPr>
          <p:cNvPr id="84" name="c2-table-2"/>
          <p:cNvGrpSpPr/>
          <p:nvPr/>
        </p:nvGrpSpPr>
        <p:grpSpPr>
          <a:xfrm>
            <a:off x="5815965" y="4864418"/>
            <a:ext cx="5842635" cy="800100"/>
            <a:chOff x="5815965" y="4864418"/>
            <a:chExt cx="5842635" cy="800100"/>
          </a:xfrm>
        </p:grpSpPr>
        <p:sp>
          <p:nvSpPr>
            <p:cNvPr id="68" name="Rectangle 68"/>
            <p:cNvSpPr/>
            <p:nvPr/>
          </p:nvSpPr>
          <p:spPr>
            <a:xfrm>
              <a:off x="5815965" y="4864418"/>
              <a:ext cx="584263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26201" y="49858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07288" y="49858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34108" y="49858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封装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86493" y="49858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模块化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888701" y="49858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913120" y="53859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对应原题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10702" y="5385911"/>
              <a:ext cx="306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22455" y="5385911"/>
              <a:ext cx="736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Q10, Q11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50227" y="5385911"/>
              <a:ext cx="736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Q12, Q16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677047" y="5385911"/>
              <a:ext cx="736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Q14, Q15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815965" y="4864418"/>
              <a:ext cx="5842635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745605" y="48644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972425" y="48644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200198" y="48644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427018" y="48644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5" name="Rectangle 8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0892" y="6028373"/>
              <a:ext cx="8064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判断一道题该往哪条原则上靠：问“藏起来”的是封装，问“分块”的是模块化，问“是一种”的是层次。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27760" cy="909257"/>
            <a:chOff x="520446" y="342900"/>
            <a:chExt cx="61277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277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 对象技术是一组指导软件构造的原则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3750131" cy="278702"/>
            <a:chOff x="526161" y="1547336"/>
            <a:chExt cx="375013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7501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2 页　Object technology is . . . 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41195"/>
            <a:ext cx="4869180" cy="2391728"/>
            <a:chOff x="533400" y="1941195"/>
            <a:chExt cx="4869180" cy="239172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869180" cy="2391728"/>
            </a:xfrm>
            <a:prstGeom prst="roundRect">
              <a:avLst>
                <a:gd name="adj" fmla="val 55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21250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569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 technology is . . . 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32541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A set of principles guiding software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construction.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068002"/>
              <a:ext cx="400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A new theory striving to gain acceptance.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369945"/>
              <a:ext cx="3802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A dynamic new language by Grady Booch.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67284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Based on the principles of abstraction and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modularity.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508182"/>
            <a:ext cx="4869180" cy="1463992"/>
            <a:chOff x="533400" y="4508182"/>
            <a:chExt cx="4869180" cy="1463992"/>
          </a:xfrm>
        </p:grpSpPr>
        <p:sp>
          <p:nvSpPr>
            <p:cNvPr id="19" name="Rectangle 19"/>
            <p:cNvSpPr/>
            <p:nvPr/>
          </p:nvSpPr>
          <p:spPr>
            <a:xfrm>
              <a:off x="533400" y="4508182"/>
              <a:ext cx="4869180" cy="1463992"/>
            </a:xfrm>
            <a:prstGeom prst="roundRect">
              <a:avLst>
                <a:gd name="adj" fmla="val 780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140643"/>
              <a:ext cx="200026" cy="200026"/>
              <a:chOff x="738188" y="514064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1406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2184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021580"/>
              <a:ext cx="39227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正确答案：A。题干问“是什么”，只有 A 给出了完整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的定义。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707380" y="1941195"/>
            <a:ext cx="5951220" cy="2628900"/>
            <a:chOff x="5707380" y="1941195"/>
            <a:chExt cx="5951220" cy="2628900"/>
          </a:xfrm>
        </p:grpSpPr>
        <p:sp>
          <p:nvSpPr>
            <p:cNvPr id="25" name="Rectangle 25"/>
            <p:cNvSpPr/>
            <p:nvPr/>
          </p:nvSpPr>
          <p:spPr>
            <a:xfrm>
              <a:off x="5707380" y="1941195"/>
              <a:ext cx="595122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807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2245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4087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07392" y="24712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21767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6142" y="2471261"/>
              <a:ext cx="4263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对象技术 ＝ 一组构造软件的原则 ＋ 支持这些原则的语言与工具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07380" y="27479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07380" y="2752725"/>
              <a:ext cx="595122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07392" y="29770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21767" y="29770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6142" y="2877026"/>
              <a:ext cx="40510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面向对象从 1960 年代末的 Simula 算起已有几十年工程实践，不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是还在求认可的新理论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07380" y="33537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07392" y="358282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1767" y="358282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36142" y="3482816"/>
              <a:ext cx="40723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Grady Booch 是 UML 三位主要作者之一，他提出的是建模方法与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表示法，不是一门语言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39595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07380" y="3964305"/>
              <a:ext cx="595122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07392" y="418861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1767" y="41886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6142" y="4088606"/>
              <a:ext cx="41506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说法本身没错，但只列了两条原则，而且回答的是“基于什么”，不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是“是什么”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07380" y="1941195"/>
              <a:ext cx="5951220" cy="2628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16992" y="1941195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31368" y="1941195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5707380" y="4745355"/>
            <a:ext cx="5951220" cy="1226820"/>
            <a:chOff x="5707380" y="4745355"/>
            <a:chExt cx="5951220" cy="1226820"/>
          </a:xfrm>
        </p:grpSpPr>
        <p:sp>
          <p:nvSpPr>
            <p:cNvPr id="50" name="Rectangle 50"/>
            <p:cNvSpPr/>
            <p:nvPr/>
          </p:nvSpPr>
          <p:spPr>
            <a:xfrm>
              <a:off x="5707380" y="4745355"/>
              <a:ext cx="595122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16905" y="487870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37885" y="49377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29325" y="49720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辨析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21577" y="4977765"/>
              <a:ext cx="1336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D 是陷阱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31027" y="5312092"/>
              <a:ext cx="53200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漏掉了封装和层次两条原则，属于“半对”的选项。选择题里遇到一个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完整定义和一个片面描述，选完整的那个。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模型是现实的简化，建模是为了先想清楚再动手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866900"/>
            <a:chOff x="533400" y="1524000"/>
            <a:chExt cx="5193982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01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模型（Model）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模型是对现实的简化，它从某一个视角描述系统，略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去与该视角无关的细节。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建模的根本理由：我们没办法一次看懂整个复杂系统，只能一次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看懂它的一个侧面。</a:t>
              </a:r>
            </a:p>
          </p:txBody>
        </p:sp>
      </p:grpSp>
      <p:grpSp>
        <p:nvGrpSpPr>
          <p:cNvPr id="28" name="c1-bullets-2"/>
          <p:cNvGrpSpPr/>
          <p:nvPr/>
        </p:nvGrpSpPr>
        <p:grpSpPr>
          <a:xfrm>
            <a:off x="525780" y="3606165"/>
            <a:ext cx="3544634" cy="1682115"/>
            <a:chOff x="525780" y="3606165"/>
            <a:chExt cx="3544634" cy="1682115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36061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建模的四个目的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4716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9894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96049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可视化系统（visualize）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2919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4334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4305300"/>
              <a:ext cx="3165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规定系统的结构与行为（specify）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63677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46790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465010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给出构造系统的模板（construct）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98157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50238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4994910"/>
              <a:ext cx="2761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记录所做的决策（document）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032182" y="1524000"/>
            <a:ext cx="5626418" cy="2697480"/>
            <a:chOff x="6032182" y="1524000"/>
            <a:chExt cx="5626418" cy="2697480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077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0907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不建模的做法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387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建模之后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40006" y="22217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需求是否讲清楚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9718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口头约定，各人理解不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29966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用例图和用例描述写死边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32182" y="26479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40006" y="27836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结构是否合理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49718" y="27836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边写边改代码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29966" y="27836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类图先试几种划分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40006" y="32323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并发是否安全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49718" y="32323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上线后碰运气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29966" y="323230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进程视图上先查共享资源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35413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32182" y="354615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40006" y="3680936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决策为什么这么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49718" y="37942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只存在当事人脑子里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29966" y="379428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模型加说明留档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1524000"/>
              <a:ext cx="5626418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3713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1738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2"/>
          <p:cNvGrpSpPr/>
          <p:nvPr/>
        </p:nvGrpSpPr>
        <p:grpSpPr>
          <a:xfrm>
            <a:off x="6032182" y="4411980"/>
            <a:ext cx="5626418" cy="817245"/>
            <a:chOff x="6032182" y="4411980"/>
            <a:chExt cx="5626418" cy="817245"/>
          </a:xfrm>
        </p:grpSpPr>
        <p:sp>
          <p:nvSpPr>
            <p:cNvPr id="54" name="Rectangle 54"/>
            <p:cNvSpPr/>
            <p:nvPr/>
          </p:nvSpPr>
          <p:spPr>
            <a:xfrm>
              <a:off x="6032182" y="4411980"/>
              <a:ext cx="5626418" cy="817245"/>
            </a:xfrm>
            <a:prstGeom prst="roundRect">
              <a:avLst>
                <a:gd name="adj" fmla="val 139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236970" y="4720590"/>
              <a:ext cx="200026" cy="200025"/>
              <a:chOff x="6236970" y="472059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236970" y="47205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276709" y="47650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311424" y="48761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538912" y="457771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模型不必面面俱到。一个模型只解决一类问题，解决完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就换下一个模型。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991225"/>
              <a:ext cx="7759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记住四个动词 visualize、specify、construct、document，第 3、4 题都从这里出。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81512" cy="909257"/>
            <a:chOff x="520446" y="342900"/>
            <a:chExt cx="33815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3815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Q2 模型是现实的简化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531213" cy="278702"/>
            <a:chOff x="526161" y="1547336"/>
            <a:chExt cx="253121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531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3 页　A model . . . 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41195"/>
            <a:ext cx="4869180" cy="2134552"/>
            <a:chOff x="533400" y="1941195"/>
            <a:chExt cx="4869180" cy="213455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869180" cy="2134552"/>
            </a:xfrm>
            <a:prstGeom prst="roundRect">
              <a:avLst>
                <a:gd name="adj" fmla="val 62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8678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1352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model . . . 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33398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Is not necessary when team members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understand their job.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068002"/>
              <a:ext cx="3534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Has to be structural AND behavioral.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369945"/>
              <a:ext cx="2869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Is a simplification of reality.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672840"/>
              <a:ext cx="4087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Is an excuse for building an elaborate plan.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251008"/>
            <a:ext cx="4869180" cy="488632"/>
            <a:chOff x="533400" y="4251008"/>
            <a:chExt cx="4869180" cy="488632"/>
          </a:xfrm>
        </p:grpSpPr>
        <p:sp>
          <p:nvSpPr>
            <p:cNvPr id="19" name="Rectangle 19"/>
            <p:cNvSpPr/>
            <p:nvPr/>
          </p:nvSpPr>
          <p:spPr>
            <a:xfrm>
              <a:off x="533400" y="4251008"/>
              <a:ext cx="4869180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395788"/>
              <a:ext cx="200026" cy="200026"/>
              <a:chOff x="738188" y="439578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3957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44735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401502"/>
              <a:ext cx="120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正确答案：C。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707380" y="1941195"/>
            <a:ext cx="5951220" cy="2428875"/>
            <a:chOff x="5707380" y="1941195"/>
            <a:chExt cx="5951220" cy="2428875"/>
          </a:xfrm>
        </p:grpSpPr>
        <p:sp>
          <p:nvSpPr>
            <p:cNvPr id="25" name="Rectangle 25"/>
            <p:cNvSpPr/>
            <p:nvPr/>
          </p:nvSpPr>
          <p:spPr>
            <a:xfrm>
              <a:off x="5707380" y="1941195"/>
              <a:ext cx="595122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807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2245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4087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07392" y="257127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21767" y="25712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6142" y="2471261"/>
              <a:ext cx="4136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人人都懂自己的活，不等于人人对系统边界和接口的理解一致；模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型正是用来对齐理解的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07380" y="29479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07380" y="2952750"/>
              <a:ext cx="595122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07392" y="31770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21767" y="317706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6142" y="3077051"/>
              <a:ext cx="4136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一个模型可以只描述结构（类图）或只描述行为（状态图），并不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要求两者都有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07380" y="355377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07392" y="36828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1767" y="36828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36142" y="368284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模型按某个视角简化现实，保留关心的部分，略去其余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39595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07380" y="3964305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07392" y="40886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1767" y="40886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6142" y="408860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模型是解决问题的工具，把它当成写大计划的借口是对建模的误用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07380" y="1941195"/>
              <a:ext cx="5951220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16992" y="1941195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31368" y="1941195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5707380" y="4545330"/>
            <a:ext cx="5951220" cy="1473518"/>
            <a:chOff x="5707380" y="4545330"/>
            <a:chExt cx="5951220" cy="1473518"/>
          </a:xfrm>
        </p:grpSpPr>
        <p:sp>
          <p:nvSpPr>
            <p:cNvPr id="50" name="Rectangle 50"/>
            <p:cNvSpPr/>
            <p:nvPr/>
          </p:nvSpPr>
          <p:spPr>
            <a:xfrm>
              <a:off x="5707380" y="4545330"/>
              <a:ext cx="5951220" cy="1473518"/>
            </a:xfrm>
            <a:prstGeom prst="roundRect">
              <a:avLst>
                <a:gd name="adj" fmla="val 905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99785" y="47377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91225" y="47720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92927" y="5094923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简化是模型的本质。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模型比现实少的那部分，正是你这一次不打算关心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的部分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94070" y="5650706"/>
              <a:ext cx="500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地铁线路图不画真实距离和街道，照样能指路，因为它只回答“怎么换乘”。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68074" cy="909257"/>
            <a:chOff x="520446" y="342900"/>
            <a:chExt cx="40680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680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Q3 建模的四个理由都成立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3119209" cy="308039"/>
            <a:chOff x="525399" y="1550194"/>
            <a:chExt cx="311920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31192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4 页　Why do we model?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67865"/>
            <a:ext cx="4869180" cy="2341245"/>
            <a:chOff x="533400" y="1967865"/>
            <a:chExt cx="4869180" cy="23412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869180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804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Why do we model?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3058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Helps to visualize a system.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2908935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Gives us a template for constructing a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529965"/>
              <a:ext cx="2816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Documents our decisions.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865245"/>
              <a:ext cx="19490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All of the above.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499610"/>
            <a:ext cx="4869180" cy="1691640"/>
            <a:chOff x="533400" y="4499610"/>
            <a:chExt cx="4869180" cy="1691640"/>
          </a:xfrm>
        </p:grpSpPr>
        <p:sp>
          <p:nvSpPr>
            <p:cNvPr id="19" name="Rectangle 19"/>
            <p:cNvSpPr/>
            <p:nvPr/>
          </p:nvSpPr>
          <p:spPr>
            <a:xfrm>
              <a:off x="533400" y="4499610"/>
              <a:ext cx="4869180" cy="1691640"/>
            </a:xfrm>
            <a:prstGeom prst="roundRect">
              <a:avLst>
                <a:gd name="adj" fmla="val 675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245418"/>
              <a:ext cx="200026" cy="200026"/>
              <a:chOff x="738188" y="524541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2454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3232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102542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正确答案：D。A、B、C 分别对应 visualize、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construct、document。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707380" y="1967865"/>
            <a:ext cx="5951220" cy="2697480"/>
            <a:chOff x="5707380" y="1967865"/>
            <a:chExt cx="5951220" cy="2697480"/>
          </a:xfrm>
        </p:grpSpPr>
        <p:sp>
          <p:nvSpPr>
            <p:cNvPr id="25" name="Rectangle 25"/>
            <p:cNvSpPr/>
            <p:nvPr/>
          </p:nvSpPr>
          <p:spPr>
            <a:xfrm>
              <a:off x="5707380" y="1967865"/>
              <a:ext cx="595122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9056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47640" y="2102644"/>
              <a:ext cx="13428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 UML 产物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95459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解决的问题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6905" y="2426018"/>
              <a:ext cx="11049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15203" y="2551271"/>
              <a:ext cx="7776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Visualize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39153" y="255127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用例图、类图、序列图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14663" y="255127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把看不见的结构和交互画出来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07380" y="28603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07380" y="2865120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15203" y="3114199"/>
              <a:ext cx="669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Specify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39153" y="300085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用例描述、接口与操作签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14663" y="3114199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把"做到什么程度"写精确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07380" y="35356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16905" y="3549968"/>
              <a:ext cx="11049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15203" y="3676174"/>
              <a:ext cx="914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Construct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39153" y="367617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类图到代码的正向工程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14663" y="36761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让实现有模板可依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39843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07380" y="3989070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6905" y="3998595"/>
              <a:ext cx="1104900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15203" y="4238149"/>
              <a:ext cx="851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Document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39153" y="423814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构架文档、设计决策记录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14663" y="412480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让接手的人知道当初为什么这么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07380" y="1967865"/>
              <a:ext cx="595122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26568" y="196786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002078" y="196786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2"/>
          <p:cNvGrpSpPr/>
          <p:nvPr/>
        </p:nvGrpSpPr>
        <p:grpSpPr>
          <a:xfrm>
            <a:off x="5707380" y="4855845"/>
            <a:ext cx="5951220" cy="1335405"/>
            <a:chOff x="5707380" y="4855845"/>
            <a:chExt cx="5951220" cy="1335405"/>
          </a:xfrm>
        </p:grpSpPr>
        <p:sp>
          <p:nvSpPr>
            <p:cNvPr id="53" name="Rectangle 53"/>
            <p:cNvSpPr/>
            <p:nvPr/>
          </p:nvSpPr>
          <p:spPr>
            <a:xfrm>
              <a:off x="5707380" y="4855845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16905" y="498919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955030" y="50653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45238" y="51011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56058" y="510063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题目少问了一项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47410" y="5461635"/>
              <a:ext cx="5168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原题的三个选项覆盖了 visualize、construct、document，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漏掉了 specify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（规定结构与行为）。四个目的要一起背。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68074" cy="909257"/>
            <a:chOff x="520446" y="342900"/>
            <a:chExt cx="40680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680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Q4 最好的模型与现实相连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243470" cy="293370"/>
            <a:chOff x="525780" y="1548765"/>
            <a:chExt cx="52434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243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5 页　The best models are connected to . . . 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54530"/>
            <a:ext cx="4977765" cy="2222182"/>
            <a:chOff x="533400" y="1954530"/>
            <a:chExt cx="4977765" cy="22221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977765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931" y="2187416"/>
              <a:ext cx="39769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best models are connected to . . . 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19886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Java-script code.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2849404"/>
              <a:ext cx="10419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Reality.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381" y="3166586"/>
              <a:ext cx="7416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C++.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3484721"/>
              <a:ext cx="37384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Issues that tie it to an object-oriented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developer.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356735"/>
            <a:ext cx="4977765" cy="503872"/>
            <a:chOff x="533400" y="4356735"/>
            <a:chExt cx="4977765" cy="503872"/>
          </a:xfrm>
        </p:grpSpPr>
        <p:sp>
          <p:nvSpPr>
            <p:cNvPr id="19" name="Rectangle 19"/>
            <p:cNvSpPr/>
            <p:nvPr/>
          </p:nvSpPr>
          <p:spPr>
            <a:xfrm>
              <a:off x="533400" y="4356735"/>
              <a:ext cx="4977765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509135"/>
              <a:ext cx="200026" cy="200026"/>
              <a:chOff x="738188" y="4509135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5091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458692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4509611"/>
              <a:ext cx="12725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正确答案：B。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5040630"/>
            <a:ext cx="4977765" cy="1250632"/>
            <a:chOff x="533400" y="5040630"/>
            <a:chExt cx="4977765" cy="1250632"/>
          </a:xfrm>
        </p:grpSpPr>
        <p:sp>
          <p:nvSpPr>
            <p:cNvPr id="25" name="Rectangle 25"/>
            <p:cNvSpPr/>
            <p:nvPr/>
          </p:nvSpPr>
          <p:spPr>
            <a:xfrm>
              <a:off x="533400" y="5040630"/>
              <a:ext cx="497776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17398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9620" y="52387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1060" y="52730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381" y="5599271"/>
              <a:ext cx="40540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更正：原课件把选项 C 排版成 </a:t>
              </a:r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 ++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（中间多一个空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格），正确写法是 </a:t>
              </a:r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C++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815965" y="1954530"/>
            <a:ext cx="5842635" cy="2548890"/>
            <a:chOff x="5815965" y="1954530"/>
            <a:chExt cx="5842635" cy="2548890"/>
          </a:xfrm>
        </p:grpSpPr>
        <p:sp>
          <p:nvSpPr>
            <p:cNvPr id="31" name="Rectangle 31"/>
            <p:cNvSpPr/>
            <p:nvPr/>
          </p:nvSpPr>
          <p:spPr>
            <a:xfrm>
              <a:off x="5815965" y="1954530"/>
              <a:ext cx="584263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98845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9885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0682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18454" y="25069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9494" y="25069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20534" y="250698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绑死某一种脚本语言，换技术栈模型就作废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27984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15965" y="2803208"/>
              <a:ext cx="584263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18454" y="303847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19494" y="303847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0534" y="2931795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模型要如实反映问题域，与现实脱节的模型会把开发引向错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误方向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4366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18454" y="356997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9494" y="356997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20534" y="3569970"/>
              <a:ext cx="4195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A，实现语言属于实现视图的细节，不是模型好坏的标准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38604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15965" y="3865245"/>
              <a:ext cx="584263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18454" y="410051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19494" y="41005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20534" y="399383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模型是给所有干系人看的，只有开发人员看得懂的模型失去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了沟通价值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1954530"/>
              <a:ext cx="5842635" cy="2548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512242" y="195453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213282" y="195453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5815965" y="4683442"/>
            <a:ext cx="5842635" cy="1607820"/>
            <a:chOff x="5815965" y="4683442"/>
            <a:chExt cx="5842635" cy="1607820"/>
          </a:xfrm>
        </p:grpSpPr>
        <p:sp>
          <p:nvSpPr>
            <p:cNvPr id="56" name="Rectangle 56"/>
            <p:cNvSpPr/>
            <p:nvPr/>
          </p:nvSpPr>
          <p:spPr>
            <a:xfrm>
              <a:off x="5815965" y="4683442"/>
              <a:ext cx="5842635" cy="1607820"/>
            </a:xfrm>
            <a:prstGeom prst="roundRect">
              <a:avLst>
                <a:gd name="adj" fmla="val 829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14085" y="488156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89523" y="4915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建模原则之三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06846" y="5242084"/>
              <a:ext cx="41215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The best models are </a:t>
              </a:r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connected to reality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07989" y="5556885"/>
              <a:ext cx="52090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反例：分析模型里建了一个“数据管理器”类，问业务人员，业务里根本没有这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个东西，这就是和现实断开了。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54636" cy="909257"/>
            <a:chOff x="520446" y="342900"/>
            <a:chExt cx="47546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546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Q5 越简单的东西越不需要模型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925299" cy="264033"/>
            <a:chOff x="526542" y="1545907"/>
            <a:chExt cx="792529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925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6 页　Which project would be least likely to require a model?（原题四个选项是图片）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410200" cy="1845945"/>
            <a:chOff x="533400" y="1928812"/>
            <a:chExt cx="5410200" cy="184594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四张图片分别是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2463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多层立体高速公路互通枢纽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2776538"/>
              <a:ext cx="1191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一把扶手椅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3076575"/>
              <a:ext cx="1372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一列城际列车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3376612"/>
              <a:ext cx="2099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一张光盘与集成电路板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944302"/>
            <a:ext cx="5410200" cy="481012"/>
            <a:chOff x="533400" y="3944302"/>
            <a:chExt cx="5410200" cy="481012"/>
          </a:xfrm>
        </p:grpSpPr>
        <p:sp>
          <p:nvSpPr>
            <p:cNvPr id="19" name="Rectangle 19"/>
            <p:cNvSpPr/>
            <p:nvPr/>
          </p:nvSpPr>
          <p:spPr>
            <a:xfrm>
              <a:off x="533400" y="3944302"/>
              <a:ext cx="5410200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085273"/>
              <a:ext cx="200026" cy="200026"/>
              <a:chOff x="738188" y="408527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0852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41630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090988"/>
              <a:ext cx="4117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正确答案：B。扶手椅结构简单，做错了代价也小。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594860"/>
            <a:ext cx="5410200" cy="1043940"/>
            <a:chOff x="533400" y="4594860"/>
            <a:chExt cx="5410200" cy="1043940"/>
          </a:xfrm>
        </p:grpSpPr>
        <p:sp>
          <p:nvSpPr>
            <p:cNvPr id="25" name="Rectangle 25"/>
            <p:cNvSpPr/>
            <p:nvPr/>
          </p:nvSpPr>
          <p:spPr>
            <a:xfrm>
              <a:off x="533400" y="4594860"/>
              <a:ext cx="5410200" cy="1043940"/>
            </a:xfrm>
            <a:prstGeom prst="roundRect">
              <a:avLst>
                <a:gd name="adj" fmla="val 1277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0090" y="47815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4659" y="48144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232" y="512635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看两个量：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复杂度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返工代价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，都低才可以不建模。</a:t>
              </a:r>
            </a:p>
          </p:txBody>
        </p:sp>
      </p:grpSp>
      <p:grpSp>
        <p:nvGrpSpPr>
          <p:cNvPr id="32" name="c2-image-1"/>
          <p:cNvGrpSpPr/>
          <p:nvPr/>
        </p:nvGrpSpPr>
        <p:grpSpPr>
          <a:xfrm>
            <a:off x="6248400" y="1928812"/>
            <a:ext cx="5410200" cy="1959007"/>
            <a:chOff x="6248400" y="1928812"/>
            <a:chExt cx="5410200" cy="1959007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rcRect l="0" t="29342" r="0" b="29343"/>
            <a:stretch>
              <a:fillRect/>
            </a:stretch>
          </p:blipFill>
          <p:spPr>
            <a:xfrm>
              <a:off x="6248400" y="1928812"/>
              <a:ext cx="5410200" cy="1676400"/>
            </a:xfrm>
            <a:prstGeom prst="roundRect">
              <a:avLst>
                <a:gd name="adj" fmla="val 7954"/>
              </a:avLst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7167524" y="3697129"/>
              <a:ext cx="3571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左：一张草图就能做的扶手椅；右：必须先出图纸的立交枢纽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248400" y="4038600"/>
            <a:ext cx="5410200" cy="1600200"/>
            <a:chOff x="6248400" y="4038600"/>
            <a:chExt cx="5410200" cy="1600200"/>
          </a:xfrm>
        </p:grpSpPr>
        <p:sp>
          <p:nvSpPr>
            <p:cNvPr id="33" name="Rectangle 33"/>
            <p:cNvSpPr/>
            <p:nvPr/>
          </p:nvSpPr>
          <p:spPr>
            <a:xfrm>
              <a:off x="6248400" y="4038600"/>
              <a:ext cx="5410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32956" y="41600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81543" y="41600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44406" y="41600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返工代价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50144" y="41600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要不要模型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45555" y="45600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扶手椅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26692" y="45600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4458" y="45600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16515" y="4448175"/>
              <a:ext cx="143256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04145" y="45600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草图即可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48339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48387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5555" y="4960144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列车 / 光盘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26692" y="49601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94458" y="49601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04145" y="49601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52339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5555" y="5360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立交枢纽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26692" y="5360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94458" y="5360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极高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216515" y="5248275"/>
              <a:ext cx="143256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04145" y="5360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403860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724775" y="40386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892540" y="40386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02228" y="40386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0" name="Rectangle 6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8373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别把结论推成“小项目一律不建模”。人少但业务复杂的项目照样需要用例模型。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建模的四条原则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86769" cy="264033"/>
            <a:chOff x="526542" y="1545907"/>
            <a:chExt cx="738676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86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 Booch、Rumbaugh、Jacobson《UML 用户指南》，第 6 题四个选项就是它们的改写。</a:t>
              </a:r>
            </a:p>
          </p:txBody>
        </p:sp>
      </p:grpSp>
      <p:grpSp>
        <p:nvGrpSpPr>
          <p:cNvPr id="32" name="c1-steps-1"/>
          <p:cNvGrpSpPr/>
          <p:nvPr/>
        </p:nvGrpSpPr>
        <p:grpSpPr>
          <a:xfrm>
            <a:off x="533400" y="1928812"/>
            <a:ext cx="11125200" cy="1565910"/>
            <a:chOff x="533400" y="1928812"/>
            <a:chExt cx="11125200" cy="156591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2566988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66750" y="20621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883" y="2132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9892" y="24650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选什么模型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2752249"/>
              <a:ext cx="2145030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选择建什么模型，深刻影响你从哪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个角度攻克问题、解出什么样的方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3176588" y="262604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86138" y="1928812"/>
              <a:ext cx="2566988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519488" y="20621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09621" y="2132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12629" y="24650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精度可调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13772" y="2752249"/>
              <a:ext cx="21450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每个模型都可以在不同精度层次上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表达，按读者和阶段选择详略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029325" y="262604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8875" y="1928812"/>
              <a:ext cx="2566988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372225" y="20621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2358" y="2132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65367" y="24650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连着现实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66510" y="2752249"/>
              <a:ext cx="21450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最好的模型与现实相连，模型和真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实系统之间的偏差要能说清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882062" y="262604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091612" y="1928812"/>
              <a:ext cx="2566988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224962" y="20621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15096" y="2132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18104" y="24650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一组模型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19248" y="2752249"/>
              <a:ext cx="21450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单一模型不够用，用一组几乎独立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的模型去逼近一个非平凡系统</a:t>
              </a:r>
            </a:p>
          </p:txBody>
        </p:sp>
      </p:grpSp>
      <p:grpSp>
        <p:nvGrpSpPr>
          <p:cNvPr id="57" name="c1-table-2"/>
          <p:cNvGrpSpPr/>
          <p:nvPr/>
        </p:nvGrpSpPr>
        <p:grpSpPr>
          <a:xfrm>
            <a:off x="533400" y="3664268"/>
            <a:ext cx="11125200" cy="2000250"/>
            <a:chOff x="533400" y="3664268"/>
            <a:chExt cx="11125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533400" y="3664268"/>
              <a:ext cx="11125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38021" y="37857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51048" y="3785711"/>
              <a:ext cx="132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落到 UML 上的做法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56497" y="378571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违反了会怎样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0555" y="41857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选什么模型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53727" y="41857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先决定画用例图还是类图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67625" y="418576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用结构图去描述并发问题，越画越乱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4596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46436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555" y="45858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精度可调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53727" y="458581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分析类只写职责，设计类才写类型与可见性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67625" y="458581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早期陷入细节，需求一变全部推翻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8596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555" y="49858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连着现实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53727" y="498586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类名、用例名取自业务词汇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67625" y="498586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模型漂亮但没人认，评审通不过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2597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526446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555" y="53859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一组模型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153727" y="5385911"/>
              <a:ext cx="2763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4+1 视图分工，每个视图解决一类问题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67625" y="538591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一张大图包打天下，看不懂也改不动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664268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3051810" y="366426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565708" y="366426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8" name="Rectangle 5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8373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四条原则的关键词：选择、精度、现实、一组。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68074" cy="909257"/>
            <a:chOff x="520446" y="342900"/>
            <a:chExt cx="40680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建模基础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680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Q6 四条建模原则全部成立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342692" cy="293370"/>
            <a:chOff x="525780" y="1548765"/>
            <a:chExt cx="534269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342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7 页　Which principles of modeling are correct?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54530"/>
            <a:ext cx="5193982" cy="2765108"/>
            <a:chOff x="533400" y="1954530"/>
            <a:chExt cx="5193982" cy="276510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2765108"/>
            </a:xfrm>
            <a:prstGeom prst="roundRect">
              <a:avLst>
                <a:gd name="adj" fmla="val 4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4984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931" y="2187416"/>
              <a:ext cx="40755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Which principles of modeling are correct?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39008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The model you create, influences how the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problem is attacked.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3120866"/>
              <a:ext cx="44237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The best kinds of models are those that let you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choose your degree of detail.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381" y="3709511"/>
              <a:ext cx="4214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The best models are connected to reality.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4027646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Create models that are built and studied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separately.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899660"/>
            <a:ext cx="5193982" cy="503872"/>
            <a:chOff x="533400" y="4899660"/>
            <a:chExt cx="5193982" cy="503872"/>
          </a:xfrm>
        </p:grpSpPr>
        <p:sp>
          <p:nvSpPr>
            <p:cNvPr id="19" name="Rectangle 19"/>
            <p:cNvSpPr/>
            <p:nvPr/>
          </p:nvSpPr>
          <p:spPr>
            <a:xfrm>
              <a:off x="533400" y="4899660"/>
              <a:ext cx="5193982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052060"/>
              <a:ext cx="200026" cy="200026"/>
              <a:chOff x="738188" y="505206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0520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1298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5052536"/>
              <a:ext cx="2622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正确答案：A、B、C、D 全选。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583555"/>
            <a:ext cx="5193982" cy="756285"/>
            <a:chOff x="533400" y="5583555"/>
            <a:chExt cx="5193982" cy="756285"/>
          </a:xfrm>
        </p:grpSpPr>
        <p:sp>
          <p:nvSpPr>
            <p:cNvPr id="25" name="Rectangle 25"/>
            <p:cNvSpPr/>
            <p:nvPr/>
          </p:nvSpPr>
          <p:spPr>
            <a:xfrm>
              <a:off x="533400" y="558355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861685"/>
              <a:ext cx="200026" cy="200025"/>
              <a:chOff x="738188" y="5861685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8616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59061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60172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573071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四个选项刚好一一对应四条原则，能对上号就能确认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是全选题。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032182" y="1954530"/>
            <a:ext cx="5626418" cy="2122170"/>
            <a:chOff x="6032182" y="1954530"/>
            <a:chExt cx="5626418" cy="2122170"/>
          </a:xfrm>
        </p:grpSpPr>
        <p:sp>
          <p:nvSpPr>
            <p:cNvPr id="32" name="Rectangle 32"/>
            <p:cNvSpPr/>
            <p:nvPr/>
          </p:nvSpPr>
          <p:spPr>
            <a:xfrm>
              <a:off x="6032182" y="1954530"/>
              <a:ext cx="5626418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01728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05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91054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对应原则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34672" y="25069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09994" y="25069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85316" y="250698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选什么模型影响解题路径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7984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80320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34672" y="293179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09994" y="29317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85316" y="293179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模型可以在不同精度层次上表达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32232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4672" y="33566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09994" y="3356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85316" y="33566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最好的模型与现实相连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36471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32182" y="365188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34672" y="378047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09994" y="37804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85316" y="378047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用一组几乎独立的模型逼近系统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1954530"/>
              <a:ext cx="562641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02742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78065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032182" y="4256722"/>
            <a:ext cx="5626418" cy="2083118"/>
            <a:chOff x="6032182" y="4256722"/>
            <a:chExt cx="5626418" cy="2083118"/>
          </a:xfrm>
        </p:grpSpPr>
        <p:sp>
          <p:nvSpPr>
            <p:cNvPr id="57" name="Rectangle 57"/>
            <p:cNvSpPr/>
            <p:nvPr/>
          </p:nvSpPr>
          <p:spPr>
            <a:xfrm>
              <a:off x="6032182" y="4256722"/>
              <a:ext cx="5626418" cy="2083118"/>
            </a:xfrm>
            <a:prstGeom prst="roundRect">
              <a:avLst>
                <a:gd name="adj" fmla="val 6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41708" y="4390072"/>
              <a:ext cx="47625" cy="18164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68402" y="44548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59842" y="44891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1714" y="4490561"/>
              <a:ext cx="1596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选项 D 少说了半句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61164" y="4833461"/>
              <a:ext cx="492107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更正：完整表述是一组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nearly independent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的模型，可以分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别建立和研究，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but still interrelated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61164" y="542305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各视图仍然相互关联，逻辑视图里的类要实现用例视图里的用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例，不能各画各的。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75252" cy="3351847"/>
            <a:chOff x="667512" y="1835468"/>
            <a:chExt cx="437525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架构与过程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3653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7—8 题：4+1 视图与 RUP 的过程特征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4+1 视图各关注什么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78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RUP 的 4 个阶段与里程碑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个工作流的分工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91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要求的三条过程特征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91429" cy="909257"/>
            <a:chOff x="520446" y="342900"/>
            <a:chExt cx="51914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架构与过程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914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4+1 视图：五个切面看同一个系统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69058" cy="308039"/>
            <a:chOff x="525399" y="1550194"/>
            <a:chExt cx="726905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6905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视图是架构的"切片"，每个切片回答一类问题，用例视图把其余四个串起来。</a:t>
              </a:r>
            </a:p>
          </p:txBody>
        </p:sp>
      </p:grpSp>
      <p:grpSp>
        <p:nvGrpSpPr>
          <p:cNvPr id="33" name="c1-graph-1"/>
          <p:cNvGrpSpPr/>
          <p:nvPr/>
        </p:nvGrpSpPr>
        <p:grpSpPr>
          <a:xfrm>
            <a:off x="1057275" y="2746058"/>
            <a:ext cx="4627245" cy="3570636"/>
            <a:chOff x="1057275" y="2746058"/>
            <a:chExt cx="4627245" cy="3570636"/>
          </a:xfrm>
        </p:grpSpPr>
        <p:sp>
          <p:nvSpPr>
            <p:cNvPr id="9" name="Freeform 9"/>
            <p:cNvSpPr/>
            <p:nvPr/>
          </p:nvSpPr>
          <p:spPr>
            <a:xfrm>
              <a:off x="2200275" y="3357562"/>
              <a:ext cx="804862" cy="628650"/>
            </a:xfrm>
            <a:custGeom>
              <a:avLst/>
              <a:gdLst/>
              <a:ahLst/>
              <a:cxnLst/>
              <a:rect l="l" t="t" r="r" b="b"/>
              <a:pathLst>
                <a:path w="804862" h="628650">
                  <a:moveTo>
                    <a:pt x="804862" y="6286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25028" y="3298508"/>
              <a:ext cx="103823" cy="96202"/>
            </a:xfrm>
            <a:custGeom>
              <a:avLst/>
              <a:gdLst/>
              <a:ahLst/>
              <a:cxnLst/>
              <a:rect l="l" t="t" r="r" b="b"/>
              <a:pathLst>
                <a:path w="103823" h="96202">
                  <a:moveTo>
                    <a:pt x="0" y="0"/>
                  </a:moveTo>
                  <a:lnTo>
                    <a:pt x="103823" y="20955"/>
                  </a:lnTo>
                  <a:lnTo>
                    <a:pt x="45720" y="9620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688080" y="3357562"/>
              <a:ext cx="805815" cy="628650"/>
            </a:xfrm>
            <a:custGeom>
              <a:avLst/>
              <a:gdLst/>
              <a:ahLst/>
              <a:cxnLst/>
              <a:rect l="l" t="t" r="r" b="b"/>
              <a:pathLst>
                <a:path w="805815" h="628650">
                  <a:moveTo>
                    <a:pt x="0" y="628650"/>
                  </a:moveTo>
                  <a:lnTo>
                    <a:pt x="8058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64368" y="3298508"/>
              <a:ext cx="103823" cy="96202"/>
            </a:xfrm>
            <a:custGeom>
              <a:avLst/>
              <a:gdLst/>
              <a:ahLst/>
              <a:cxnLst/>
              <a:rect l="l" t="t" r="r" b="b"/>
              <a:pathLst>
                <a:path w="103823" h="96202">
                  <a:moveTo>
                    <a:pt x="103823" y="0"/>
                  </a:moveTo>
                  <a:lnTo>
                    <a:pt x="58103" y="96202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174558" y="4519612"/>
              <a:ext cx="853440" cy="714375"/>
            </a:xfrm>
            <a:custGeom>
              <a:avLst/>
              <a:gdLst/>
              <a:ahLst/>
              <a:cxnLst/>
              <a:rect l="l" t="t" r="r" b="b"/>
              <a:pathLst>
                <a:path w="853440" h="714375">
                  <a:moveTo>
                    <a:pt x="853440" y="0"/>
                  </a:moveTo>
                  <a:lnTo>
                    <a:pt x="0" y="714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01215" y="5197792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97155"/>
                  </a:moveTo>
                  <a:lnTo>
                    <a:pt x="42862" y="0"/>
                  </a:lnTo>
                  <a:lnTo>
                    <a:pt x="103823" y="7334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665220" y="4519612"/>
              <a:ext cx="853440" cy="714375"/>
            </a:xfrm>
            <a:custGeom>
              <a:avLst/>
              <a:gdLst/>
              <a:ahLst/>
              <a:cxnLst/>
              <a:rect l="l" t="t" r="r" b="b"/>
              <a:pathLst>
                <a:path w="853440" h="714375">
                  <a:moveTo>
                    <a:pt x="0" y="0"/>
                  </a:moveTo>
                  <a:lnTo>
                    <a:pt x="853440" y="714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488180" y="5197792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97155"/>
                  </a:moveTo>
                  <a:lnTo>
                    <a:pt x="0" y="73342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57275" y="2746058"/>
              <a:ext cx="1428750" cy="552450"/>
            </a:xfrm>
            <a:prstGeom prst="roundRect">
              <a:avLst>
                <a:gd name="adj" fmla="val 1724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60520" y="2746058"/>
              <a:ext cx="15240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32710" y="3986212"/>
              <a:ext cx="1428750" cy="533400"/>
            </a:xfrm>
            <a:prstGeom prst="roundRect">
              <a:avLst>
                <a:gd name="adj" fmla="val 178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57275" y="5294948"/>
              <a:ext cx="14287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60520" y="5294948"/>
              <a:ext cx="15240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83614" y="287369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逻辑视图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5705" y="3040380"/>
              <a:ext cx="511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Logical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4484" y="287369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实现视图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69543" y="3040380"/>
              <a:ext cx="1105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Implementation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59049" y="41043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用例视图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09950" y="4271010"/>
              <a:ext cx="674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Use-Case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83614" y="542258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进程视图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78300" y="5589270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4484" y="542258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部署视图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0456" y="5589270"/>
              <a:ext cx="824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Deployment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82494" y="612600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用例驱动其余四个视图</a:t>
              </a:r>
            </a:p>
          </p:txBody>
        </p:sp>
      </p:grpSp>
      <p:grpSp>
        <p:nvGrpSpPr>
          <p:cNvPr id="48" name="c2-kv-1"/>
          <p:cNvGrpSpPr/>
          <p:nvPr/>
        </p:nvGrpSpPr>
        <p:grpSpPr>
          <a:xfrm>
            <a:off x="6456998" y="1992630"/>
            <a:ext cx="5201602" cy="2617470"/>
            <a:chOff x="6456998" y="1992630"/>
            <a:chExt cx="5201602" cy="2617470"/>
          </a:xfrm>
        </p:grpSpPr>
        <p:sp>
          <p:nvSpPr>
            <p:cNvPr id="34" name="TextBox 34"/>
            <p:cNvSpPr txBox="1"/>
            <p:nvPr/>
          </p:nvSpPr>
          <p:spPr>
            <a:xfrm>
              <a:off x="6456998" y="1992630"/>
              <a:ext cx="1490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Use-Case View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22933" y="199263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系统对外的行为，驱动其他四个视图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3126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56998" y="2432685"/>
              <a:ext cx="1257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Logical View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2933" y="24326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类、接口、协作和它们之间的关系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7527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56998" y="2872740"/>
              <a:ext cx="148542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Implementation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View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2933" y="287274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源文件、构件、子系统的组织，供构建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4747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56998" y="3594735"/>
              <a:ext cx="13647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Process View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22933" y="359473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进程与线程、并发与同步，关注性能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9147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56998" y="4034790"/>
              <a:ext cx="110537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Deployment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View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22933" y="403479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节点与网络拓扑，关注物理分布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464618" y="4741545"/>
            <a:ext cx="5193982" cy="782955"/>
            <a:chOff x="6464618" y="4741545"/>
            <a:chExt cx="5193982" cy="782955"/>
          </a:xfrm>
        </p:grpSpPr>
        <p:sp>
          <p:nvSpPr>
            <p:cNvPr id="49" name="Rectangle 49"/>
            <p:cNvSpPr/>
            <p:nvPr/>
          </p:nvSpPr>
          <p:spPr>
            <a:xfrm>
              <a:off x="6464618" y="474154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5033012"/>
              <a:ext cx="200023" cy="200023"/>
              <a:chOff x="6669405" y="5033012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50330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802755" y="50996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1348" y="4890135"/>
              <a:ext cx="3558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问"结构"找 Logical，问"打包和构建"找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Implementation，问"并发"找 Process。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54636" cy="909257"/>
            <a:chOff x="520446" y="342900"/>
            <a:chExt cx="47546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架构与过程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546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Q7 关注结构问题的是逻辑视图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400139" cy="308039"/>
            <a:chOff x="525399" y="1550194"/>
            <a:chExt cx="940013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40013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8 页　Views are "slices" of architecture. Which view focuses on structural issues?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67865"/>
            <a:ext cx="4869180" cy="2390775"/>
            <a:chOff x="533400" y="1967865"/>
            <a:chExt cx="4869180" cy="239077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869180" cy="2390775"/>
            </a:xfrm>
            <a:prstGeom prst="roundRect">
              <a:avLst>
                <a:gd name="adj" fmla="val 5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1240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554605"/>
              <a:ext cx="42946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Which view focuses on structural issues?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908935"/>
              <a:ext cx="11518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Use case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244215"/>
              <a:ext cx="1090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Process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579495"/>
              <a:ext cx="1795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Implementation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14775"/>
              <a:ext cx="987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Logical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549140"/>
            <a:ext cx="4869180" cy="1760220"/>
            <a:chOff x="533400" y="4549140"/>
            <a:chExt cx="4869180" cy="1760220"/>
          </a:xfrm>
        </p:grpSpPr>
        <p:sp>
          <p:nvSpPr>
            <p:cNvPr id="19" name="Rectangle 19"/>
            <p:cNvSpPr/>
            <p:nvPr/>
          </p:nvSpPr>
          <p:spPr>
            <a:xfrm>
              <a:off x="533400" y="4549140"/>
              <a:ext cx="4869180" cy="1760220"/>
            </a:xfrm>
            <a:prstGeom prst="roundRect">
              <a:avLst>
                <a:gd name="adj" fmla="val 649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329238"/>
              <a:ext cx="200026" cy="200026"/>
              <a:chOff x="738188" y="532923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3292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407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186362"/>
              <a:ext cx="3930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正确答案：D。逻辑视图描述系统的设计结构，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即类、接口和它们之间的关系。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707380" y="1967865"/>
            <a:ext cx="5951220" cy="2244090"/>
            <a:chOff x="5707380" y="1967865"/>
            <a:chExt cx="5951220" cy="2244090"/>
          </a:xfrm>
        </p:grpSpPr>
        <p:sp>
          <p:nvSpPr>
            <p:cNvPr id="25" name="Rectangle 25"/>
            <p:cNvSpPr/>
            <p:nvPr/>
          </p:nvSpPr>
          <p:spPr>
            <a:xfrm>
              <a:off x="5707380" y="1967865"/>
              <a:ext cx="595122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8577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0015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15477" y="21026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该视图真正关注什么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15203" y="25512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29578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43953" y="2551271"/>
              <a:ext cx="347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系统对外的功能行为，回答“系统为谁做什么”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07380" y="28603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07380" y="2865120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15203" y="300085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29578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43953" y="300085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进程与线程的划分、并发与同步、性能与吞吐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07380" y="330898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15203" y="344947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9578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43953" y="344947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源代码文件和构件怎么组织、怎么构建和打包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37576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07380" y="376237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15203" y="38981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9578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43953" y="389810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类、接口、协作和关系，也就是系统的设计结构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07380" y="1967865"/>
              <a:ext cx="595122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1699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3136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5707380" y="4402455"/>
            <a:ext cx="5951220" cy="1906905"/>
            <a:chOff x="5707380" y="4402455"/>
            <a:chExt cx="5951220" cy="1906905"/>
          </a:xfrm>
        </p:grpSpPr>
        <p:sp>
          <p:nvSpPr>
            <p:cNvPr id="50" name="Rectangle 50"/>
            <p:cNvSpPr/>
            <p:nvPr/>
          </p:nvSpPr>
          <p:spPr>
            <a:xfrm>
              <a:off x="5707380" y="4402455"/>
              <a:ext cx="5951220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16905" y="4535805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55030" y="46120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45238" y="46477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易混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56058" y="4647248"/>
              <a:ext cx="3694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Implementation 也有“结构”，怎么排除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47410" y="5008245"/>
              <a:ext cx="5158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实现视图的结构指的是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代码工件的组织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（文件、构件、子系统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目录），面向配置管理员；逻辑视图的结构指的是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设计元素的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（类与关系），面向设计人员。题干问的是系统本身的结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构，选 Logical。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7619" cy="909257"/>
            <a:chOff x="520446" y="342900"/>
            <a:chExt cx="6947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架构与过程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7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RUP 的四个阶段，每个阶段以一个里程碑收尾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56159" cy="264033"/>
            <a:chOff x="526542" y="1545907"/>
            <a:chExt cx="67561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5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阶段是时间上的划分，回答"现在做到哪一步了"；每个阶段内部还可以有多次迭代。</a:t>
              </a:r>
            </a:p>
          </p:txBody>
        </p:sp>
      </p:grpSp>
      <p:grpSp>
        <p:nvGrpSpPr>
          <p:cNvPr id="39" name="c1-flow-1"/>
          <p:cNvGrpSpPr/>
          <p:nvPr/>
        </p:nvGrpSpPr>
        <p:grpSpPr>
          <a:xfrm>
            <a:off x="722948" y="1956435"/>
            <a:ext cx="5031105" cy="2372678"/>
            <a:chOff x="722948" y="1956435"/>
            <a:chExt cx="5031105" cy="2372678"/>
          </a:xfrm>
        </p:grpSpPr>
        <p:sp>
          <p:nvSpPr>
            <p:cNvPr id="9" name="Freeform 9"/>
            <p:cNvSpPr/>
            <p:nvPr/>
          </p:nvSpPr>
          <p:spPr>
            <a:xfrm>
              <a:off x="3048952" y="2232660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323272" y="21802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48952" y="2839402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323272" y="27870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48952" y="3447098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323272" y="33947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48952" y="4053840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323272" y="40014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85950" y="2458402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4953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33562" y="24584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885950" y="3066098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4953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833562" y="30660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885950" y="3672840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4953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833562" y="3672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2948" y="1956435"/>
              <a:ext cx="2326005" cy="55149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28048" y="1956435"/>
              <a:ext cx="2326005" cy="551498"/>
            </a:xfrm>
            <a:prstGeom prst="roundRect">
              <a:avLst>
                <a:gd name="adj" fmla="val 1381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2948" y="2563178"/>
              <a:ext cx="2326005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28048" y="2563178"/>
              <a:ext cx="2326005" cy="551498"/>
            </a:xfrm>
            <a:prstGeom prst="roundRect">
              <a:avLst>
                <a:gd name="adj" fmla="val 1381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2948" y="3170872"/>
              <a:ext cx="2326005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428048" y="3170872"/>
              <a:ext cx="2326005" cy="551498"/>
            </a:xfrm>
            <a:prstGeom prst="roundRect">
              <a:avLst>
                <a:gd name="adj" fmla="val 1381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2948" y="3777615"/>
              <a:ext cx="2326005" cy="55149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428048" y="3777615"/>
              <a:ext cx="2326005" cy="551498"/>
            </a:xfrm>
            <a:prstGeom prst="roundRect">
              <a:avLst>
                <a:gd name="adj" fmla="val 1381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9077" y="2068830"/>
              <a:ext cx="63374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</a:t>
              </a:r>
              <a:br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Inception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85666" y="2068830"/>
              <a:ext cx="8107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LCO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生命周期目标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10570" y="2676525"/>
              <a:ext cx="750761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细化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Elaboration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85666" y="2676525"/>
              <a:ext cx="8107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LCA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生命周期构架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57230" y="3283268"/>
              <a:ext cx="857441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Construction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85666" y="3283268"/>
              <a:ext cx="8107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IOC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初始运行能力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30572" y="3890962"/>
              <a:ext cx="71075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交付</a:t>
              </a:r>
              <a:br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Transition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19016" y="3890962"/>
              <a:ext cx="5440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产品发布</a:t>
              </a:r>
            </a:p>
          </p:txBody>
        </p:sp>
      </p:grpSp>
      <p:grpSp>
        <p:nvGrpSpPr>
          <p:cNvPr id="64" name="c1-table-2"/>
          <p:cNvGrpSpPr/>
          <p:nvPr/>
        </p:nvGrpSpPr>
        <p:grpSpPr>
          <a:xfrm>
            <a:off x="533400" y="4522470"/>
            <a:ext cx="5410200" cy="1143952"/>
            <a:chOff x="533400" y="4522470"/>
            <a:chExt cx="5410200" cy="1143952"/>
          </a:xfrm>
        </p:grpSpPr>
        <p:sp>
          <p:nvSpPr>
            <p:cNvPr id="40" name="Rectangle 40"/>
            <p:cNvSpPr/>
            <p:nvPr/>
          </p:nvSpPr>
          <p:spPr>
            <a:xfrm>
              <a:off x="533400" y="4522470"/>
              <a:ext cx="5410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4969" y="46396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典型分布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99322" y="46396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27070" y="46396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细化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54818" y="46396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82565" y="46396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078" y="5020628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/ 资源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36769" y="50206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 / 5%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25645" y="5020628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30% / 20%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897630" y="4912995"/>
              <a:ext cx="100869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53392" y="5020628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 / 65%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81140" y="5020628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 / 10%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2806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528542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078" y="540258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迭代次数示例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301802" y="54025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29549" y="54025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57297" y="54025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85044" y="54025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522470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826895" y="452247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854642" y="452247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883342" y="452247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911090" y="452247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c2-table-1"/>
          <p:cNvGrpSpPr/>
          <p:nvPr/>
        </p:nvGrpSpPr>
        <p:grpSpPr>
          <a:xfrm>
            <a:off x="6248400" y="1928812"/>
            <a:ext cx="5410200" cy="2653665"/>
            <a:chOff x="6248400" y="1928812"/>
            <a:chExt cx="5410200" cy="2653665"/>
          </a:xfrm>
        </p:grpSpPr>
        <p:sp>
          <p:nvSpPr>
            <p:cNvPr id="65" name="Rectangle 65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8559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4734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主要任务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6855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结束标志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43079" y="2426970"/>
              <a:ext cx="63374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Inception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10844" y="2426970"/>
              <a:ext cx="22776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确定项目范围与业务案例，识别关键风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险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50221" y="2426970"/>
              <a:ext cx="13441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干系人对范围和成本达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成一致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2873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48400" y="287845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43079" y="2995612"/>
              <a:ext cx="787765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细化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Elaboration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10844" y="2995612"/>
              <a:ext cx="22776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建立可执行的构架基线，覆盖大部分用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例与高风险点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50221" y="308895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构架稳定，计划可信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3441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3079" y="3563302"/>
              <a:ext cx="899779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Construction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10844" y="3563302"/>
              <a:ext cx="22776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把剩余构件实现出来并测试，形成可用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150221" y="3563302"/>
              <a:ext cx="127749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Beta 版本可交给用户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试用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4009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48400" y="401383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43079" y="4131945"/>
              <a:ext cx="7107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交付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Transition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10844" y="422529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部署、培训、用户验收、缺陷修复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150221" y="4131945"/>
              <a:ext cx="13441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用户接受产品，项目收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1928812"/>
              <a:ext cx="5410200" cy="2653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411402" y="1928812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0050780" y="1928812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c2-callout-2"/>
          <p:cNvGrpSpPr/>
          <p:nvPr/>
        </p:nvGrpSpPr>
        <p:grpSpPr>
          <a:xfrm>
            <a:off x="6248400" y="4747260"/>
            <a:ext cx="5410200" cy="919162"/>
            <a:chOff x="6248400" y="4747260"/>
            <a:chExt cx="5410200" cy="919162"/>
          </a:xfrm>
        </p:grpSpPr>
        <p:sp>
          <p:nvSpPr>
            <p:cNvPr id="90" name="Rectangle 90"/>
            <p:cNvSpPr/>
            <p:nvPr/>
          </p:nvSpPr>
          <p:spPr>
            <a:xfrm>
              <a:off x="6248400" y="4747260"/>
              <a:ext cx="5410200" cy="919162"/>
            </a:xfrm>
            <a:prstGeom prst="roundRect">
              <a:avLst>
                <a:gd name="adj" fmla="val 124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6453188" y="5106353"/>
              <a:ext cx="200026" cy="200025"/>
              <a:chOff x="6453188" y="5106353"/>
              <a:chExt cx="200026" cy="200025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6453188" y="51063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6492926" y="51508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6527642" y="52619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6756273" y="5000149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风险在细化阶段之前就要压下去，这是 RUP 与瀑布模型最大的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差别。</a:t>
              </a:r>
            </a:p>
          </p:txBody>
        </p:sp>
      </p:grpSp>
      <p:grpSp>
        <p:nvGrpSpPr>
          <p:cNvPr id="10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7" name="Rectangle 9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1041273" y="6039326"/>
              <a:ext cx="62098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四个里程碑按顺序记：LCO 定范围 → LCA 定构架 → IOC 出 Beta → PR 正式发布。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1057" cy="909257"/>
            <a:chOff x="520446" y="342900"/>
            <a:chExt cx="626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架构与过程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RUP 的九个工作流，六个核心加三个支持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2" name="c1-table-1"/>
          <p:cNvGrpSpPr/>
          <p:nvPr/>
        </p:nvGrpSpPr>
        <p:grpSpPr>
          <a:xfrm>
            <a:off x="533400" y="1524000"/>
            <a:ext cx="11125200" cy="4057650"/>
            <a:chOff x="533400" y="1524000"/>
            <a:chExt cx="11125200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2548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6304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0829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08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细化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333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4585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054066"/>
              <a:ext cx="2025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业务建模 Business Modeling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1338" y="205406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描述业务流程与业务实体，明确系统在业务中的位置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218045" y="1939290"/>
              <a:ext cx="109347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83678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96198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08718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21238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459831"/>
              <a:ext cx="1402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 Requirements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1338" y="245983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捕获用例与非功能需求，划定系统边界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18045" y="2345055"/>
              <a:ext cx="109347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83678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96198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08718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21238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2865596"/>
              <a:ext cx="2105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分析与设计 Analysis &amp; Design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1338" y="286559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把用例转成设计模型与构架描述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3678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330565" y="2750820"/>
              <a:ext cx="109347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96198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08718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21238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3271361"/>
              <a:ext cx="1528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Implementation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81338" y="327136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编码、单元测试、把构件集成进子系统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83678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96198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443085" y="3156585"/>
              <a:ext cx="109347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08718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21238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3677126"/>
              <a:ext cx="714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 Test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81338" y="367712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验证构件集成与需求实现，报告缺陷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83678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96198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443085" y="3562350"/>
              <a:ext cx="109347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908718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21238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3412" y="4082891"/>
              <a:ext cx="1228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部署 Deployment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81338" y="408289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打包、安装、培训、移交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83678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96198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08718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555605" y="3968115"/>
              <a:ext cx="109347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021238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3412" y="4488656"/>
              <a:ext cx="1334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配置与变更管理 CM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081338" y="44886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管理版本、基线和变更请求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83678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96198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08718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021238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4765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3400" y="477012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3412" y="4894421"/>
              <a:ext cx="2224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项目管理 Project Management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081338" y="489442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制订迭代计划、跟踪风险与进度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83678" y="48944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96198" y="48944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908718" y="48944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21238" y="48944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51711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3412" y="5300186"/>
              <a:ext cx="1315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 Environment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081338" y="530018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提供过程、工具和开发环境支持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683678" y="53001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796198" y="53001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908718" y="53001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21238" y="53001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33400" y="1524000"/>
              <a:ext cx="11125200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2976562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7203758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316278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428798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541318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3" name="Rectangle 9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0892" y="6023610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工作流按内容划分，同一个工作流跨越所有阶段，只是投入力度不同；后三个是支持工作流，贯穿全过程。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35076" cy="909257"/>
            <a:chOff x="520446" y="342900"/>
            <a:chExt cx="47350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架构与过程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350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UML 配套的过程有三条特征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56190" cy="308039"/>
            <a:chOff x="525399" y="1550194"/>
            <a:chExt cx="78561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561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UML 只是表示法，它不规定过程；但要把 UML 用起来，过程必须具备这三条特征。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67865"/>
            <a:ext cx="5410200" cy="2558415"/>
            <a:chOff x="533400" y="1967865"/>
            <a:chExt cx="5410200" cy="255841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52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三条特征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8665" y="26174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554605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用例驱动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（Use-case driven）：用例既是需求的载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体，也是设计、实现和测试的依据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8665" y="323850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3175635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以构架为中心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（Architecture-centric）：先建立并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稳定构架，再往上堆功能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8665" y="385953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3796665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迭代且增量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（Iterative and incremental）：把项目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切成若干次迭代，每次产出可执行版本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716780"/>
            <a:ext cx="5410200" cy="782955"/>
            <a:chOff x="533400" y="4716780"/>
            <a:chExt cx="5410200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471678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008245"/>
              <a:ext cx="200026" cy="200025"/>
              <a:chOff x="738188" y="5008245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0082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0526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1638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86537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三条特征互相支撑：用例排出优先级，构架决定每次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迭代能装下什么，迭代把风险提前暴露。</a:t>
              </a:r>
            </a:p>
          </p:txBody>
        </p:sp>
      </p:grpSp>
      <p:grpSp>
        <p:nvGrpSpPr>
          <p:cNvPr id="50" name="c2-flow-1"/>
          <p:cNvGrpSpPr/>
          <p:nvPr/>
        </p:nvGrpSpPr>
        <p:grpSpPr>
          <a:xfrm>
            <a:off x="6228398" y="2319338"/>
            <a:ext cx="5240655" cy="1867852"/>
            <a:chOff x="6228398" y="2319338"/>
            <a:chExt cx="5240655" cy="1867852"/>
          </a:xfrm>
        </p:grpSpPr>
        <p:sp>
          <p:nvSpPr>
            <p:cNvPr id="26" name="Freeform 26"/>
            <p:cNvSpPr/>
            <p:nvPr/>
          </p:nvSpPr>
          <p:spPr>
            <a:xfrm>
              <a:off x="8763952" y="263461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038272" y="25822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306050" y="2853690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253662" y="36442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868728" y="396811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763952" y="39157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228398" y="2634615"/>
              <a:ext cx="209550" cy="1333500"/>
            </a:xfrm>
            <a:custGeom>
              <a:avLst/>
              <a:gdLst/>
              <a:ahLst/>
              <a:cxnLst/>
              <a:rect l="l" t="t" r="r" b="b"/>
              <a:pathLst>
                <a:path w="209550" h="1333500">
                  <a:moveTo>
                    <a:pt x="209550" y="1333500"/>
                  </a:moveTo>
                  <a:lnTo>
                    <a:pt x="0" y="1333500"/>
                  </a:lnTo>
                  <a:lnTo>
                    <a:pt x="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333172" y="25822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37948" y="2319338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43048" y="2415540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43048" y="3749040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37948" y="3749040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57161" y="2436019"/>
              <a:ext cx="6875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68789" y="25455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设计与构架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27259" y="38790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22159" y="38790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72525" y="24183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06815" y="24450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驱动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334625" y="320897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57866" y="32356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指导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772525" y="37518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06815" y="37785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56972" y="320897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80214" y="32356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</p:grpSp>
      <p:grpSp>
        <p:nvGrpSpPr>
          <p:cNvPr id="52" name="c2-text-2"/>
          <p:cNvGrpSpPr/>
          <p:nvPr/>
        </p:nvGrpSpPr>
        <p:grpSpPr>
          <a:xfrm>
            <a:off x="6241923" y="4845844"/>
            <a:ext cx="5052314" cy="500824"/>
            <a:chOff x="6241923" y="4845844"/>
            <a:chExt cx="5052314" cy="500824"/>
          </a:xfrm>
        </p:grpSpPr>
        <p:sp>
          <p:nvSpPr>
            <p:cNvPr id="51" name="TextBox 51"/>
            <p:cNvSpPr txBox="1"/>
            <p:nvPr/>
          </p:nvSpPr>
          <p:spPr>
            <a:xfrm>
              <a:off x="6241923" y="4845844"/>
              <a:ext cx="50523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一次迭代走完这一圈，产出一个可运行的版本；下一次迭代挑选新的用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例再走一圈。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09200" cy="909257"/>
            <a:chOff x="520446" y="342900"/>
            <a:chExt cx="43092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架构与过程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092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Q8 Resilient 不是过程特征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311241" cy="293370"/>
            <a:chOff x="525780" y="1548765"/>
            <a:chExt cx="831124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311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9 页　Which process characteristic is not essential to working with the UML?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54530"/>
            <a:ext cx="4869180" cy="2546032"/>
            <a:chOff x="533400" y="1954530"/>
            <a:chExt cx="4869180" cy="254603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869180" cy="2546032"/>
            </a:xfrm>
            <a:prstGeom prst="roundRect">
              <a:avLst>
                <a:gd name="adj" fmla="val 52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279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531269"/>
              <a:ext cx="3318758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Which process characteristic is not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essential?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3114199"/>
              <a:ext cx="26745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Iterative and incremental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3434239"/>
              <a:ext cx="17777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Use-case driven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096" y="3754279"/>
              <a:ext cx="10970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Resilient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4074319"/>
              <a:ext cx="23021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Architecture-centric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686300"/>
            <a:ext cx="4869180" cy="1596390"/>
            <a:chOff x="533400" y="4686300"/>
            <a:chExt cx="4869180" cy="1596390"/>
          </a:xfrm>
        </p:grpSpPr>
        <p:sp>
          <p:nvSpPr>
            <p:cNvPr id="19" name="Rectangle 19"/>
            <p:cNvSpPr/>
            <p:nvPr/>
          </p:nvSpPr>
          <p:spPr>
            <a:xfrm>
              <a:off x="533400" y="4686300"/>
              <a:ext cx="4869180" cy="1596390"/>
            </a:xfrm>
            <a:prstGeom prst="roundRect">
              <a:avLst>
                <a:gd name="adj" fmla="val 71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384483"/>
              <a:ext cx="200026" cy="200026"/>
              <a:chOff x="738188" y="538448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3844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4622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5253514"/>
              <a:ext cx="39999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正确答案：C。这是一道反向题，问的是"哪个不是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"。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707380" y="1954530"/>
            <a:ext cx="5951220" cy="2577465"/>
            <a:chOff x="5707380" y="1954530"/>
            <a:chExt cx="5951220" cy="2577465"/>
          </a:xfrm>
        </p:grpSpPr>
        <p:sp>
          <p:nvSpPr>
            <p:cNvPr id="25" name="Rectangle 25"/>
            <p:cNvSpPr/>
            <p:nvPr/>
          </p:nvSpPr>
          <p:spPr>
            <a:xfrm>
              <a:off x="5707380" y="1954530"/>
              <a:ext cx="5951220" cy="64389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96928" y="21926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9964" y="2085975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是不是过程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7842" y="21926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12726" y="272891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27102" y="2728912"/>
              <a:ext cx="383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97712" y="272891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迭代且增量，每次迭代产出可执行版本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07380" y="302323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07380" y="302799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12726" y="315944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27102" y="3159442"/>
              <a:ext cx="383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97712" y="315944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用例驱动，用例贯穿需求到测试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07380" y="345376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12726" y="369665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7102" y="36966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97712" y="3589972"/>
              <a:ext cx="37002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resilient（有韧性）形容的是构架或系统的质量属性，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不是过程的特征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40967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07380" y="410146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12726" y="42329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7102" y="4232910"/>
              <a:ext cx="383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97712" y="42329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以构架为中心，先稳定构架再扩功能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07380" y="1954530"/>
              <a:ext cx="5951220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16992" y="195453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87602" y="195453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5707380" y="4717732"/>
            <a:ext cx="5951220" cy="1564958"/>
            <a:chOff x="5707380" y="4717732"/>
            <a:chExt cx="5951220" cy="1564958"/>
          </a:xfrm>
        </p:grpSpPr>
        <p:sp>
          <p:nvSpPr>
            <p:cNvPr id="50" name="Rectangle 50"/>
            <p:cNvSpPr/>
            <p:nvPr/>
          </p:nvSpPr>
          <p:spPr>
            <a:xfrm>
              <a:off x="5707380" y="4717732"/>
              <a:ext cx="595122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16905" y="485108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49315" y="49215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39523" y="49572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50724" y="4961096"/>
              <a:ext cx="13616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反向题先圈 not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42076" y="531256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原题四个选项里有三个都是正确的过程特征，只要漏看题干的</a:t>
              </a:r>
              <a:br/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not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，就会在三个正确项里乱选。做题时先把 not、least、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 圈出来。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313197" cy="3706177"/>
            <a:chOff x="667512" y="1835468"/>
            <a:chExt cx="5313197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对象与类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032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9—13 题：状态、可见行为、封装、模块化、类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对象的三个要素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 与 method 的区别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封装即信息隐藏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模块化的目的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类是对象的抽象定义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对象与类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对象由状态、行为和标识三样东西确定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4985385" cy="1737360"/>
            <a:chOff x="525780" y="1548765"/>
            <a:chExt cx="4985385" cy="173736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状态 State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97405" y="154876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全部属性的取值，加上与其他对象的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1369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行为 Behavior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7405" y="22707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能响应哪些消息，对外表现为操作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1315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标识 Identity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7405" y="271081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每个对象独一无二，属性相同也是两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417570"/>
            <a:ext cx="4977765" cy="2577465"/>
            <a:chOff x="533400" y="3417570"/>
            <a:chExt cx="4977765" cy="2577465"/>
          </a:xfrm>
        </p:grpSpPr>
        <p:sp>
          <p:nvSpPr>
            <p:cNvPr id="16" name="Rectangle 16"/>
            <p:cNvSpPr/>
            <p:nvPr/>
          </p:nvSpPr>
          <p:spPr>
            <a:xfrm>
              <a:off x="533400" y="3417570"/>
              <a:ext cx="4977765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55092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6271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36628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2078" y="3662362"/>
              <a:ext cx="2543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教师对象 Professor Clark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023360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属性：name ＝ Clark，status ＝ tenured（在职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终身教职）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644390"/>
              <a:ext cx="3089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链接：teaches → 课程对象 CS101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979670"/>
              <a:ext cx="4234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status 改为 retired，或者与 CS101 的链接被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撤销，这个对象的状态就变了；但它仍然是同一个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对象。</a:t>
              </a:r>
            </a:p>
          </p:txBody>
        </p:sp>
      </p:grpSp>
      <p:grpSp>
        <p:nvGrpSpPr>
          <p:cNvPr id="40" name="c2-graph-1"/>
          <p:cNvGrpSpPr/>
          <p:nvPr/>
        </p:nvGrpSpPr>
        <p:grpSpPr>
          <a:xfrm>
            <a:off x="6546532" y="2000250"/>
            <a:ext cx="4683443" cy="1495425"/>
            <a:chOff x="6546532" y="2000250"/>
            <a:chExt cx="4683443" cy="1495425"/>
          </a:xfrm>
        </p:grpSpPr>
        <p:sp>
          <p:nvSpPr>
            <p:cNvPr id="25" name="Freeform 25"/>
            <p:cNvSpPr/>
            <p:nvPr/>
          </p:nvSpPr>
          <p:spPr>
            <a:xfrm>
              <a:off x="8356282" y="2238375"/>
              <a:ext cx="1159193" cy="9525"/>
            </a:xfrm>
            <a:custGeom>
              <a:avLst/>
              <a:gdLst/>
              <a:ahLst/>
              <a:cxnLst/>
              <a:rect l="l" t="t" r="r" b="b"/>
              <a:pathLst>
                <a:path w="1159193" h="9525">
                  <a:moveTo>
                    <a:pt x="0" y="0"/>
                  </a:moveTo>
                  <a:lnTo>
                    <a:pt x="115919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356282" y="3286125"/>
              <a:ext cx="1063943" cy="9525"/>
            </a:xfrm>
            <a:custGeom>
              <a:avLst/>
              <a:gdLst/>
              <a:ahLst/>
              <a:cxnLst/>
              <a:rect l="l" t="t" r="r" b="b"/>
              <a:pathLst>
                <a:path w="1063943" h="9525">
                  <a:moveTo>
                    <a:pt x="0" y="0"/>
                  </a:moveTo>
                  <a:lnTo>
                    <a:pt x="10639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420225" y="3238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546532" y="2000250"/>
              <a:ext cx="1809750" cy="47625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515475" y="2000250"/>
              <a:ext cx="171450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546532" y="3076575"/>
              <a:ext cx="18097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515475" y="3076575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2713" y="2172652"/>
              <a:ext cx="1297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Clark : Professor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21743" y="2172652"/>
              <a:ext cx="11019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CS101 : Course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0276" y="3220402"/>
              <a:ext cx="1302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status ＝ tenured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0146" y="3220402"/>
              <a:ext cx="12651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status ＝ retired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697278" y="2160270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19095" y="2189321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teaches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689658" y="320802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10816" y="323707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状态改变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5815965" y="4095750"/>
            <a:ext cx="5842635" cy="1899285"/>
            <a:chOff x="5815965" y="4095750"/>
            <a:chExt cx="5842635" cy="1899285"/>
          </a:xfrm>
        </p:grpSpPr>
        <p:sp>
          <p:nvSpPr>
            <p:cNvPr id="41" name="Rectangle 41"/>
            <p:cNvSpPr/>
            <p:nvPr/>
          </p:nvSpPr>
          <p:spPr>
            <a:xfrm>
              <a:off x="5815965" y="4095750"/>
              <a:ext cx="5842635" cy="1899285"/>
            </a:xfrm>
            <a:prstGeom prst="roundRect">
              <a:avLst>
                <a:gd name="adj" fmla="val 6018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020753" y="4945382"/>
              <a:ext cx="200023" cy="200023"/>
              <a:chOff x="6020753" y="4945382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020753" y="49453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154103" y="50120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322695" y="4802505"/>
              <a:ext cx="4844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状态由属性值和链接共同决定，只盯着某一个叫 state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属性是不够的。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4479" cy="909257"/>
            <a:chOff x="520446" y="342900"/>
            <a:chExt cx="5784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对象与类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4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Q9 对象的状态由属性和关系共同定义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254722" cy="293370"/>
            <a:chOff x="525780" y="1548765"/>
            <a:chExt cx="425472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254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10 页　The state of an object . . . 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54530"/>
            <a:ext cx="4869180" cy="2796540"/>
            <a:chOff x="533400" y="1954530"/>
            <a:chExt cx="4869180" cy="279654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869180" cy="2796540"/>
            </a:xfrm>
            <a:prstGeom prst="roundRect">
              <a:avLst>
                <a:gd name="adj" fmla="val 47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529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28837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state of an object . . . 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0360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Is defined by a "state" attribute or set of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attributes.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3141821"/>
              <a:ext cx="3669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Does not normally change over time.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096" y="3461861"/>
              <a:ext cx="37835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Is defined by an object's attributes and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relationships.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4053364"/>
              <a:ext cx="40270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Is the only condition in which an object may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exist.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935855"/>
            <a:ext cx="4869180" cy="518160"/>
            <a:chOff x="533400" y="4935855"/>
            <a:chExt cx="4869180" cy="518160"/>
          </a:xfrm>
        </p:grpSpPr>
        <p:sp>
          <p:nvSpPr>
            <p:cNvPr id="19" name="Rectangle 19"/>
            <p:cNvSpPr/>
            <p:nvPr/>
          </p:nvSpPr>
          <p:spPr>
            <a:xfrm>
              <a:off x="533400" y="4935855"/>
              <a:ext cx="486918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095875"/>
              <a:ext cx="200026" cy="200026"/>
              <a:chOff x="738188" y="5095875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0958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1736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5096351"/>
              <a:ext cx="12725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正确答案：C。</a:t>
              </a:r>
            </a:p>
          </p:txBody>
        </p:sp>
      </p:grpSp>
      <p:grpSp>
        <p:nvGrpSpPr>
          <p:cNvPr id="30" name="c1-kv-3"/>
          <p:cNvGrpSpPr/>
          <p:nvPr/>
        </p:nvGrpSpPr>
        <p:grpSpPr>
          <a:xfrm>
            <a:off x="526161" y="5664041"/>
            <a:ext cx="4876419" cy="699707"/>
            <a:chOff x="526161" y="5664041"/>
            <a:chExt cx="4876419" cy="699707"/>
          </a:xfrm>
        </p:grpSpPr>
        <p:sp>
          <p:nvSpPr>
            <p:cNvPr id="25" name="TextBox 25"/>
            <p:cNvSpPr txBox="1"/>
            <p:nvPr/>
          </p:nvSpPr>
          <p:spPr>
            <a:xfrm>
              <a:off x="526161" y="566404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属性值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7691" y="5664041"/>
              <a:ext cx="30791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 ＝ Clark，status ＝ retired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96931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6161" y="60850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链接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37691" y="6085046"/>
              <a:ext cx="30438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teaches → CS101，撤掉它状态也变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707380" y="1954530"/>
            <a:ext cx="5951220" cy="2150745"/>
            <a:chOff x="5707380" y="1954530"/>
            <a:chExt cx="5951220" cy="2150745"/>
          </a:xfrm>
        </p:grpSpPr>
        <p:sp>
          <p:nvSpPr>
            <p:cNvPr id="31" name="Rectangle 31"/>
            <p:cNvSpPr/>
            <p:nvPr/>
          </p:nvSpPr>
          <p:spPr>
            <a:xfrm>
              <a:off x="5707380" y="1954530"/>
              <a:ext cx="595122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96928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130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2972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12726" y="251555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7102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41476" y="2515552"/>
              <a:ext cx="2653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把状态窄化成某个名叫 state 的属性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07380" y="28098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07380" y="281463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12726" y="294608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27102" y="29460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41476" y="294608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状态随时间变化才是常态，状态图画的就是这种变化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32404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12726" y="337661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27102" y="33766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1476" y="337661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属性的当前取值加上与其他对象的链接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36699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07380" y="367474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12726" y="38061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27102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41476" y="380619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一个对象一生可以经历许多状态，不是只有一种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707380" y="1954530"/>
              <a:ext cx="595122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1699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3136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5707380" y="4291012"/>
            <a:ext cx="5951220" cy="2017395"/>
            <a:chOff x="5707380" y="4291012"/>
            <a:chExt cx="5951220" cy="2017395"/>
          </a:xfrm>
        </p:grpSpPr>
        <p:sp>
          <p:nvSpPr>
            <p:cNvPr id="56" name="Rectangle 56"/>
            <p:cNvSpPr/>
            <p:nvPr/>
          </p:nvSpPr>
          <p:spPr>
            <a:xfrm>
              <a:off x="5707380" y="4291012"/>
              <a:ext cx="5951220" cy="2017395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16905" y="4424362"/>
              <a:ext cx="47625" cy="17506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949315" y="449484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35573" y="45305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942076" y="4867751"/>
              <a:ext cx="471864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严格说，对象之间连的是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link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（关系的实例），类之间才叫</a:t>
              </a:r>
              <a:br/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relationship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。原课件备注用的正是 links，选项 C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relationships 属于口语化写法。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934259" cy="909257"/>
            <a:chOff x="520446" y="342900"/>
            <a:chExt cx="39342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对象与类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342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Q10 可见行为由操作建模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40107" cy="278702"/>
            <a:chOff x="526161" y="1547336"/>
            <a:chExt cx="654010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401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11 页　The visible behavior of an object is modeled by its . . . 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41195"/>
            <a:ext cx="4760595" cy="2179320"/>
            <a:chOff x="533400" y="1941195"/>
            <a:chExt cx="4760595" cy="217932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760595" cy="2179320"/>
            </a:xfrm>
            <a:prstGeom prst="roundRect">
              <a:avLst>
                <a:gd name="adj" fmla="val 61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912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90788"/>
              <a:ext cx="4075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visible behavior is modeled by its . . . 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810827"/>
              <a:ext cx="1234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Attributes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112770"/>
              <a:ext cx="1651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Responsibilities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415665"/>
              <a:ext cx="1271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Operations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717608"/>
              <a:ext cx="10181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Methods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296728"/>
            <a:ext cx="4760595" cy="488632"/>
            <a:chOff x="533400" y="4296728"/>
            <a:chExt cx="4760595" cy="488632"/>
          </a:xfrm>
        </p:grpSpPr>
        <p:sp>
          <p:nvSpPr>
            <p:cNvPr id="19" name="Rectangle 19"/>
            <p:cNvSpPr/>
            <p:nvPr/>
          </p:nvSpPr>
          <p:spPr>
            <a:xfrm>
              <a:off x="533400" y="4296728"/>
              <a:ext cx="4760595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440555"/>
              <a:ext cx="200026" cy="200026"/>
              <a:chOff x="738188" y="4440555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4405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451834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446270"/>
              <a:ext cx="120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正确答案：C。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960620"/>
            <a:ext cx="4760595" cy="1272540"/>
            <a:chOff x="533400" y="4960620"/>
            <a:chExt cx="4760595" cy="1272540"/>
          </a:xfrm>
        </p:grpSpPr>
        <p:sp>
          <p:nvSpPr>
            <p:cNvPr id="25" name="Rectangle 25"/>
            <p:cNvSpPr/>
            <p:nvPr/>
          </p:nvSpPr>
          <p:spPr>
            <a:xfrm>
              <a:off x="533400" y="4960620"/>
              <a:ext cx="4760595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09397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51530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345" y="51873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47597" y="519207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同一个服务的两面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" y="5526405"/>
              <a:ext cx="4438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类图操作格里的 </a:t>
              </a:r>
              <a:r>
                <a:rPr lang="en-US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+ teach(c : Course)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operation。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5829300"/>
              <a:ext cx="4339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真正执行排课的那段代码是 method，藏在封装后面。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598795" y="1941195"/>
            <a:ext cx="6059805" cy="2428875"/>
            <a:chOff x="5598795" y="1941195"/>
            <a:chExt cx="6059805" cy="2428875"/>
          </a:xfrm>
        </p:grpSpPr>
        <p:sp>
          <p:nvSpPr>
            <p:cNvPr id="33" name="Rectangle 33"/>
            <p:cNvSpPr/>
            <p:nvPr/>
          </p:nvSpPr>
          <p:spPr>
            <a:xfrm>
              <a:off x="5598795" y="1941195"/>
              <a:ext cx="605980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7667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7263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是什么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2026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对外可见吗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98808" y="2471261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Attribute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67538" y="247126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描述对象的结构特征，存的是数据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50768" y="247126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通常封装起来，不可见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98795" y="2752725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8808" y="2977039"/>
              <a:ext cx="1076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Responsibility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67538" y="2877026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对类职责的非形式化描述，写在类图的注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50768" y="2877026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是说明，不是可调用的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33537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608320" y="3368040"/>
              <a:ext cx="1248728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8808" y="3582829"/>
              <a:ext cx="792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67538" y="3482816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对象提供的服务的声明，含名字、参数和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50768" y="358282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可见，构成接口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9595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396430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608320" y="3973830"/>
              <a:ext cx="124872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98808" y="4088606"/>
              <a:ext cx="57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67538" y="40886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操作的具体实现体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50768" y="40886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藏在封装后面，不可见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1941195"/>
              <a:ext cx="6059805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2762" y="1941195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845992" y="1941195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2"/>
          <p:cNvGrpSpPr/>
          <p:nvPr/>
        </p:nvGrpSpPr>
        <p:grpSpPr>
          <a:xfrm>
            <a:off x="5598795" y="4545330"/>
            <a:ext cx="6059805" cy="1686878"/>
            <a:chOff x="5598795" y="4545330"/>
            <a:chExt cx="6059805" cy="1686878"/>
          </a:xfrm>
        </p:grpSpPr>
        <p:sp>
          <p:nvSpPr>
            <p:cNvPr id="60" name="Rectangle 60"/>
            <p:cNvSpPr/>
            <p:nvPr/>
          </p:nvSpPr>
          <p:spPr>
            <a:xfrm>
              <a:off x="5598795" y="4545330"/>
              <a:ext cx="6059805" cy="1686878"/>
            </a:xfrm>
            <a:prstGeom prst="roundRect">
              <a:avLst>
                <a:gd name="adj" fmla="val 677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791524" y="5285541"/>
              <a:ext cx="224134" cy="192560"/>
              <a:chOff x="5791524" y="5285541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5903595" y="53559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791524" y="52855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903595" y="54336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106287" y="5170170"/>
              <a:ext cx="51314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operation 是“声明什么服务”，method 是“这项服务怎么做”。D 项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就是拿实现冒充接口。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90978" cy="909257"/>
            <a:chOff x="520446" y="342900"/>
            <a:chExt cx="35909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对象与类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909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Q11 封装就是信息隐藏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065763" cy="264033"/>
            <a:chOff x="526542" y="1545907"/>
            <a:chExt cx="30657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065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12 页　Encapsulation . . . 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626418" cy="2103120"/>
            <a:chOff x="533400" y="1928812"/>
            <a:chExt cx="5626418" cy="21031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1939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Encapsulation . . . 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Allows direct manipulation of things that have been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encapsulated.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3033712"/>
              <a:ext cx="4115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Is often referred to as information hiding.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3333750"/>
              <a:ext cx="39971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Causes costly and extensive maintenance.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3633788"/>
              <a:ext cx="5305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Causes changes to affect clients during implementation.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201478"/>
            <a:ext cx="5626418" cy="1418272"/>
            <a:chOff x="533400" y="4201478"/>
            <a:chExt cx="5626418" cy="1418272"/>
          </a:xfrm>
        </p:grpSpPr>
        <p:sp>
          <p:nvSpPr>
            <p:cNvPr id="19" name="Rectangle 19"/>
            <p:cNvSpPr/>
            <p:nvPr/>
          </p:nvSpPr>
          <p:spPr>
            <a:xfrm>
              <a:off x="533400" y="4201478"/>
              <a:ext cx="5626418" cy="1418272"/>
            </a:xfrm>
            <a:prstGeom prst="roundRect">
              <a:avLst>
                <a:gd name="adj" fmla="val 9402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38816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4659" y="442102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带来什么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28662" y="478917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4682" y="473297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客户只依赖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接口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，实现换了也不用改客户代码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28662" y="508920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4682" y="503301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改动被局部化在类内部，维护代价下降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464618" y="1928812"/>
            <a:ext cx="5193982" cy="1539907"/>
            <a:chOff x="6464618" y="1928812"/>
            <a:chExt cx="5193982" cy="1539907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0" t="33862" r="0" b="33862"/>
            <a:stretch>
              <a:fillRect/>
            </a:stretch>
          </p:blipFill>
          <p:spPr>
            <a:xfrm>
              <a:off x="6464618" y="1928812"/>
              <a:ext cx="5193982" cy="1257300"/>
            </a:xfrm>
            <a:prstGeom prst="roundRect">
              <a:avLst>
                <a:gd name="adj" fmla="val 10606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539965" y="327802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顾客只按按钮取饮料，内部的弹簧和管路对他不可见</a:t>
              </a:r>
            </a:p>
          </p:txBody>
        </p:sp>
      </p:grpSp>
      <p:grpSp>
        <p:nvGrpSpPr>
          <p:cNvPr id="54" name="c2-table-2"/>
          <p:cNvGrpSpPr/>
          <p:nvPr/>
        </p:nvGrpSpPr>
        <p:grpSpPr>
          <a:xfrm>
            <a:off x="6464618" y="3619500"/>
            <a:ext cx="5193982" cy="2000250"/>
            <a:chOff x="6464618" y="3619500"/>
            <a:chExt cx="5193982" cy="2000250"/>
          </a:xfrm>
        </p:grpSpPr>
        <p:sp>
          <p:nvSpPr>
            <p:cNvPr id="30" name="Rectangle 30"/>
            <p:cNvSpPr/>
            <p:nvPr/>
          </p:nvSpPr>
          <p:spPr>
            <a:xfrm>
              <a:off x="6464618" y="3619500"/>
              <a:ext cx="5193982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19596" y="37409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3483" y="37409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28531" y="37409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1772" y="41409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85660" y="41409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8595" y="414099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说反了，封装禁止外部直接操作内部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44148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44196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1772" y="45410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85660" y="45410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8595" y="454104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封装又称信息隐藏，只暴露接口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48148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1772" y="49410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85660" y="49410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8595" y="494109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封装把改动限制在类内，维护成本下降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52149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52197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1772" y="53411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85660" y="53411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8595" y="534114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封装的作用正是让实现改动不波及客户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619500"/>
              <a:ext cx="519398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083742" y="36195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706678" y="36195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5" name="Rectangle 5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04863" y="61004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43863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正确答案：B。C、D 两项都把封装的好处说成了坏处。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3945" cy="909257"/>
            <a:chOff x="520446" y="342900"/>
            <a:chExt cx="5993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对象与类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3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Q12 模块化把复杂系统拆成可管理的块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103410" cy="278702"/>
            <a:chOff x="526161" y="1547336"/>
            <a:chExt cx="710341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103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13 页　What happens when you incorporate modularity into your plan?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41195"/>
            <a:ext cx="4977765" cy="2391728"/>
            <a:chOff x="533400" y="1941195"/>
            <a:chExt cx="4977765" cy="239172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2391728"/>
            </a:xfrm>
            <a:prstGeom prst="roundRect">
              <a:avLst>
                <a:gd name="adj" fmla="val 55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21250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892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What happens with modularity?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It reduces something complex into manageable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pieces.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068002"/>
              <a:ext cx="3970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It builds modules that talk to each other.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369945"/>
              <a:ext cx="40430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Creates systems too large to understand.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672840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Parts of your system cannot be independently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developed.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508182"/>
            <a:ext cx="4977765" cy="1134428"/>
            <a:chOff x="533400" y="4508182"/>
            <a:chExt cx="4977765" cy="1134428"/>
          </a:xfrm>
        </p:grpSpPr>
        <p:sp>
          <p:nvSpPr>
            <p:cNvPr id="19" name="Rectangle 19"/>
            <p:cNvSpPr/>
            <p:nvPr/>
          </p:nvSpPr>
          <p:spPr>
            <a:xfrm>
              <a:off x="533400" y="4508182"/>
              <a:ext cx="4977765" cy="1134428"/>
            </a:xfrm>
            <a:prstGeom prst="roundRect">
              <a:avLst>
                <a:gd name="adj" fmla="val 1007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975860"/>
              <a:ext cx="200026" cy="200026"/>
              <a:chOff x="738188" y="497586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9758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0536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981575"/>
              <a:ext cx="120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正确答案：A。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815965" y="1941195"/>
            <a:ext cx="5842635" cy="2028825"/>
            <a:chOff x="5815965" y="1941195"/>
            <a:chExt cx="5842635" cy="2028825"/>
          </a:xfrm>
        </p:grpSpPr>
        <p:sp>
          <p:nvSpPr>
            <p:cNvPr id="25" name="Rectangle 25"/>
            <p:cNvSpPr/>
            <p:nvPr/>
          </p:nvSpPr>
          <p:spPr>
            <a:xfrm>
              <a:off x="5815965" y="1941195"/>
              <a:ext cx="584263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0999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1103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8183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15978" y="24712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7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18058" y="247126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分解成规模可控、可分别开发的部件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27479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15965" y="275272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15978" y="28770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7017" y="28770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18058" y="287702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模块之间要交互，但模块化追求的是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少交互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31537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5978" y="32827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7017" y="32827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8058" y="328279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结论说反了，模块化正是为了让系统可理解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3559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356425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5978" y="36885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17017" y="3688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8058" y="36885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能独立开发是模块化的好处，不是障碍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1941195"/>
              <a:ext cx="584263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51224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21328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ompare-2"/>
          <p:cNvGrpSpPr/>
          <p:nvPr/>
        </p:nvGrpSpPr>
        <p:grpSpPr>
          <a:xfrm>
            <a:off x="5815965" y="4145280"/>
            <a:ext cx="5842635" cy="1497330"/>
            <a:chOff x="5815965" y="4145280"/>
            <a:chExt cx="5842635" cy="1497330"/>
          </a:xfrm>
        </p:grpSpPr>
        <p:sp>
          <p:nvSpPr>
            <p:cNvPr id="50" name="Rectangle 50"/>
            <p:cNvSpPr/>
            <p:nvPr/>
          </p:nvSpPr>
          <p:spPr>
            <a:xfrm>
              <a:off x="5815965" y="4145280"/>
              <a:ext cx="2711768" cy="1497330"/>
            </a:xfrm>
            <a:prstGeom prst="roundRect">
              <a:avLst>
                <a:gd name="adj" fmla="val 89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25490" y="4278630"/>
              <a:ext cx="47625" cy="12306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39612" y="436054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做得好的模块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55042" y="47358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11062" y="467963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一个模块只管一件事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055042" y="50387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11062" y="498252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接口窄，暴露的操作少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946832" y="4145280"/>
              <a:ext cx="2711768" cy="1497330"/>
            </a:xfrm>
            <a:prstGeom prst="roundRect">
              <a:avLst>
                <a:gd name="adj" fmla="val 89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956358" y="4278630"/>
              <a:ext cx="47625" cy="12306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70480" y="436054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做得差的模块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185910" y="47358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341930" y="4679632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职责混杂，改一处牵动多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185910" y="529590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341930" y="523970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内部数据到处被读写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8575358" y="473202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651829" y="483346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7" name="Rectangle 6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模块化的衡量尺子是高内聚、低耦合，不是模块数量多。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对象与类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类是对象的抽象定义，对象是类的实例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335405"/>
            <a:chOff x="533400" y="1524000"/>
            <a:chExt cx="5193982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157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类（Class）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类是对一组具有相同属性、操作、关系和语义的对象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的描述，它定义了每个实例的结构和行为。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33400" y="3049905"/>
            <a:ext cx="5193982" cy="2244091"/>
            <a:chOff x="533400" y="3049905"/>
            <a:chExt cx="5193982" cy="2244091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5690" y="31856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19188" y="3185636"/>
              <a:ext cx="697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 Class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04298" y="3185636"/>
              <a:ext cx="10059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 Object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36342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55698" y="3634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抽象定义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94976" y="3634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具体实例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423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4716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0828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有没有取值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55698" y="40828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只声明属性名与类型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94976" y="40828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每个属性有当前取值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3919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5315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55698" y="45315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4976" y="453151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可以有任意多个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406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84536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98014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运行期是否存在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55698" y="49801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编译期概念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94976" y="498014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运行期占据内存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049905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043112" y="304990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882390" y="304990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3"/>
          <p:cNvGrpSpPr/>
          <p:nvPr/>
        </p:nvGrpSpPr>
        <p:grpSpPr>
          <a:xfrm>
            <a:off x="533400" y="5484495"/>
            <a:ext cx="5193982" cy="782955"/>
            <a:chOff x="533400" y="5484495"/>
            <a:chExt cx="5193982" cy="782955"/>
          </a:xfrm>
        </p:grpSpPr>
        <p:sp>
          <p:nvSpPr>
            <p:cNvPr id="39" name="Rectangle 39"/>
            <p:cNvSpPr/>
            <p:nvPr/>
          </p:nvSpPr>
          <p:spPr>
            <a:xfrm>
              <a:off x="533400" y="548449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5772268"/>
              <a:ext cx="224134" cy="192560"/>
              <a:chOff x="726129" y="5772268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58426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57722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9204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63308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类与对象的关系是单向的。对象是类的实例；反过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来说“类是对象的实例”就错了。</a:t>
              </a:r>
            </a:p>
          </p:txBody>
        </p:sp>
      </p:grpSp>
      <p:grpSp>
        <p:nvGrpSpPr>
          <p:cNvPr id="53" name="c2-uml-1"/>
          <p:cNvGrpSpPr/>
          <p:nvPr/>
        </p:nvGrpSpPr>
        <p:grpSpPr>
          <a:xfrm>
            <a:off x="8232458" y="1961198"/>
            <a:ext cx="1225868" cy="1029652"/>
            <a:chOff x="8232458" y="1961198"/>
            <a:chExt cx="1225868" cy="1029652"/>
          </a:xfrm>
        </p:grpSpPr>
        <p:sp>
          <p:nvSpPr>
            <p:cNvPr id="46" name="Rectangle 46"/>
            <p:cNvSpPr/>
            <p:nvPr/>
          </p:nvSpPr>
          <p:spPr>
            <a:xfrm>
              <a:off x="8232458" y="1961198"/>
              <a:ext cx="1225868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39125" y="1968818"/>
              <a:ext cx="1211580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232458" y="2227898"/>
              <a:ext cx="122586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232458" y="2702242"/>
              <a:ext cx="122586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44911" y="2025491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Professor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03324" y="2300288"/>
              <a:ext cx="108413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name: String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status: String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03324" y="2774632"/>
              <a:ext cx="675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teach()</a:t>
              </a:r>
            </a:p>
          </p:txBody>
        </p:sp>
      </p:grpSp>
      <p:grpSp>
        <p:nvGrpSpPr>
          <p:cNvPr id="61" name="c2-cells-2"/>
          <p:cNvGrpSpPr/>
          <p:nvPr/>
        </p:nvGrpSpPr>
        <p:grpSpPr>
          <a:xfrm>
            <a:off x="6025706" y="3619500"/>
            <a:ext cx="4179379" cy="419100"/>
            <a:chOff x="6025706" y="3619500"/>
            <a:chExt cx="4179379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6025706" y="3749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90335" y="3619500"/>
              <a:ext cx="1238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04037" y="3768566"/>
              <a:ext cx="1210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Clark : Professor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728585" y="3619500"/>
              <a:ext cx="1238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62641" y="3772852"/>
              <a:ext cx="1170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Meyer : Professor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6835" y="3619500"/>
              <a:ext cx="1238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013715" y="3772852"/>
              <a:ext cx="11444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Zhang : Professor</a:t>
              </a:r>
            </a:p>
          </p:txBody>
        </p:sp>
      </p:grpSp>
      <p:grpSp>
        <p:nvGrpSpPr>
          <p:cNvPr id="63" name="c2-text-3"/>
          <p:cNvGrpSpPr/>
          <p:nvPr/>
        </p:nvGrpSpPr>
        <p:grpSpPr>
          <a:xfrm>
            <a:off x="6025706" y="4250531"/>
            <a:ext cx="5304282" cy="500824"/>
            <a:chOff x="6025706" y="4250531"/>
            <a:chExt cx="5304282" cy="500824"/>
          </a:xfrm>
        </p:grpSpPr>
        <p:sp>
          <p:nvSpPr>
            <p:cNvPr id="62" name="TextBox 62"/>
            <p:cNvSpPr txBox="1"/>
            <p:nvPr/>
          </p:nvSpPr>
          <p:spPr>
            <a:xfrm>
              <a:off x="6025706" y="4250531"/>
              <a:ext cx="530428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Professor 类描述了上面三个对象，它们共享结构与行为，各自持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有不同的属性取值和链接。</a:t>
              </a:r>
            </a:p>
          </p:txBody>
        </p:sp>
      </p:grpSp>
      <p:grpSp>
        <p:nvGrpSpPr>
          <p:cNvPr id="69" name="c2-callout-4"/>
          <p:cNvGrpSpPr/>
          <p:nvPr/>
        </p:nvGrpSpPr>
        <p:grpSpPr>
          <a:xfrm>
            <a:off x="6032182" y="4891088"/>
            <a:ext cx="5626418" cy="1376362"/>
            <a:chOff x="6032182" y="4891088"/>
            <a:chExt cx="5626418" cy="1376362"/>
          </a:xfrm>
        </p:grpSpPr>
        <p:sp>
          <p:nvSpPr>
            <p:cNvPr id="64" name="Rectangle 64"/>
            <p:cNvSpPr/>
            <p:nvPr/>
          </p:nvSpPr>
          <p:spPr>
            <a:xfrm>
              <a:off x="6032182" y="4891088"/>
              <a:ext cx="5626418" cy="1376362"/>
            </a:xfrm>
            <a:prstGeom prst="roundRect">
              <a:avLst>
                <a:gd name="adj" fmla="val 830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236970" y="5478782"/>
              <a:ext cx="200023" cy="200023"/>
              <a:chOff x="6236970" y="5478782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236970" y="54787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370320" y="55454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538912" y="533590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类图上画的是类，对象图上画的才是对象。先有类，后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有实例。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934259" cy="909257"/>
            <a:chOff x="520446" y="342900"/>
            <a:chExt cx="39342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对象与类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342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Q13 类是对象的抽象定义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597758" cy="278702"/>
            <a:chOff x="526161" y="1547336"/>
            <a:chExt cx="259775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5977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14 页　A class . . . 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41195"/>
            <a:ext cx="4869180" cy="1877378"/>
            <a:chOff x="533400" y="1941195"/>
            <a:chExt cx="4869180" cy="187737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869180" cy="1877378"/>
            </a:xfrm>
            <a:prstGeom prst="roundRect">
              <a:avLst>
                <a:gd name="adj" fmla="val 71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6106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1313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class . . . 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3170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Is an encapsulation of an object.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2810827"/>
              <a:ext cx="3761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Represents the hierarchy of an object.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112770"/>
              <a:ext cx="27166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Is an instance of an object.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415665"/>
              <a:ext cx="3679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Is an abstract definition of an object.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993832"/>
            <a:ext cx="4869180" cy="488632"/>
            <a:chOff x="533400" y="3993832"/>
            <a:chExt cx="4869180" cy="488632"/>
          </a:xfrm>
        </p:grpSpPr>
        <p:sp>
          <p:nvSpPr>
            <p:cNvPr id="19" name="Rectangle 19"/>
            <p:cNvSpPr/>
            <p:nvPr/>
          </p:nvSpPr>
          <p:spPr>
            <a:xfrm>
              <a:off x="533400" y="3993832"/>
              <a:ext cx="4869180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138613"/>
              <a:ext cx="200026" cy="200026"/>
              <a:chOff x="738188" y="413861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1386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42164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144327"/>
              <a:ext cx="120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正确答案：D。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4657725"/>
            <a:ext cx="4869180" cy="1557338"/>
            <a:chOff x="533400" y="4657725"/>
            <a:chExt cx="4869180" cy="1557338"/>
          </a:xfrm>
        </p:grpSpPr>
        <p:sp>
          <p:nvSpPr>
            <p:cNvPr id="25" name="Rectangle 25"/>
            <p:cNvSpPr/>
            <p:nvPr/>
          </p:nvSpPr>
          <p:spPr>
            <a:xfrm>
              <a:off x="533400" y="4657725"/>
              <a:ext cx="486918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791075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85013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7344" y="48844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顺手判断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3905" y="519493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9583" y="52333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702" y="5206365"/>
              <a:ext cx="260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Professor 是类还是对象？　类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3905" y="549687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9583" y="55352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4702" y="5509260"/>
              <a:ext cx="2345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Clark 是类还是对象？　对象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3905" y="579977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9583" y="58381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4702" y="5812155"/>
              <a:ext cx="4087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Professor 是 Clark 的实例吗？　不能，方向反了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707380" y="1941195"/>
            <a:ext cx="5951220" cy="2028825"/>
            <a:chOff x="5707380" y="1941195"/>
            <a:chExt cx="5951220" cy="2028825"/>
          </a:xfrm>
        </p:grpSpPr>
        <p:sp>
          <p:nvSpPr>
            <p:cNvPr id="39" name="Rectangle 39"/>
            <p:cNvSpPr/>
            <p:nvPr/>
          </p:nvSpPr>
          <p:spPr>
            <a:xfrm>
              <a:off x="5707380" y="1941195"/>
              <a:ext cx="595122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807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2245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4087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07392" y="24712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1767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6142" y="2471261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封装是对象内部实现的隐藏机制，不是类与对象之间的关系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07380" y="27479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707380" y="2752725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7392" y="28770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21767" y="28770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36142" y="287702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层次由泛化、聚合这些关系表达，单个类本身不代表层次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07380" y="31537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07392" y="32827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21767" y="32827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36142" y="328279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实例关系反了。对象是类的实例，类不是对象的实例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07380" y="3559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07380" y="3564255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07392" y="36885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21767" y="3688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36142" y="368855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类给出对象的抽象定义，规定每个实例的结构和行为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07380" y="1941195"/>
              <a:ext cx="595122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1699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31368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5707380" y="4145280"/>
            <a:ext cx="5951220" cy="2069782"/>
            <a:chOff x="5707380" y="4145280"/>
            <a:chExt cx="5951220" cy="2069782"/>
          </a:xfrm>
        </p:grpSpPr>
        <p:sp>
          <p:nvSpPr>
            <p:cNvPr id="64" name="Rectangle 64"/>
            <p:cNvSpPr/>
            <p:nvPr/>
          </p:nvSpPr>
          <p:spPr>
            <a:xfrm>
              <a:off x="5707380" y="4145280"/>
              <a:ext cx="5951220" cy="2069782"/>
            </a:xfrm>
            <a:prstGeom prst="roundRect">
              <a:avLst>
                <a:gd name="adj" fmla="val 644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99785" y="433768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79224" y="43719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原课件备注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892927" y="4694872"/>
              <a:ext cx="5335095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class is a description of a set of objects that share the same</a:t>
              </a:r>
              <a:br/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attributes, operations, relationships and semantics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。类不是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580192" cy="3351847"/>
            <a:chOff x="667512" y="1835468"/>
            <a:chExt cx="45801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继承、多态与组织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5702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14—16 题：多态、泛化关系与 package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多态是一个接口多种实现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泛化读作"是一种"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52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聚合读作"是一部分"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 负责分组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继承、多态与组织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泛化提供层次，多态利用层次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uml-1"/>
          <p:cNvGrpSpPr/>
          <p:nvPr/>
        </p:nvGrpSpPr>
        <p:grpSpPr>
          <a:xfrm>
            <a:off x="1314450" y="2147888"/>
            <a:ext cx="3848100" cy="2929890"/>
            <a:chOff x="1314450" y="2147888"/>
            <a:chExt cx="3848100" cy="2929890"/>
          </a:xfrm>
        </p:grpSpPr>
        <p:sp>
          <p:nvSpPr>
            <p:cNvPr id="7" name="Freeform 7"/>
            <p:cNvSpPr/>
            <p:nvPr/>
          </p:nvSpPr>
          <p:spPr>
            <a:xfrm>
              <a:off x="1885950" y="3114675"/>
              <a:ext cx="1257300" cy="1122045"/>
            </a:xfrm>
            <a:custGeom>
              <a:avLst/>
              <a:gdLst/>
              <a:ahLst/>
              <a:cxnLst/>
              <a:rect l="l" t="t" r="r" b="b"/>
              <a:pathLst>
                <a:path w="1257300" h="1122045">
                  <a:moveTo>
                    <a:pt x="0" y="1122045"/>
                  </a:moveTo>
                  <a:lnTo>
                    <a:pt x="0" y="498158"/>
                  </a:lnTo>
                  <a:lnTo>
                    <a:pt x="1257300" y="498158"/>
                  </a:lnTo>
                  <a:lnTo>
                    <a:pt x="1257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69908" y="29889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33750" y="3114675"/>
              <a:ext cx="1257300" cy="1122045"/>
            </a:xfrm>
            <a:custGeom>
              <a:avLst/>
              <a:gdLst/>
              <a:ahLst/>
              <a:cxnLst/>
              <a:rect l="l" t="t" r="r" b="b"/>
              <a:pathLst>
                <a:path w="1257300" h="1122045">
                  <a:moveTo>
                    <a:pt x="1257300" y="1122045"/>
                  </a:moveTo>
                  <a:lnTo>
                    <a:pt x="1257300" y="498158"/>
                  </a:lnTo>
                  <a:lnTo>
                    <a:pt x="0" y="49815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60408" y="29889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667000" y="2147888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674620" y="2155508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7000" y="241458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667000" y="250983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314450" y="4236720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22070" y="4243388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450342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14450" y="459867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19550" y="4236720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27170" y="4243388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19550" y="450342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19550" y="459867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12640" y="221218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37866" y="2582228"/>
              <a:ext cx="590740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area()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6506" y="4301014"/>
              <a:ext cx="458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Circle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5316" y="4671060"/>
              <a:ext cx="590740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area()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0959" y="4301014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Rectangle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90416" y="4671060"/>
              <a:ext cx="590740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area()</a:t>
              </a:r>
            </a:p>
          </p:txBody>
        </p:sp>
      </p:grpSp>
      <p:grpSp>
        <p:nvGrpSpPr>
          <p:cNvPr id="31" name="c1-text-2"/>
          <p:cNvGrpSpPr/>
          <p:nvPr/>
        </p:nvGrpSpPr>
        <p:grpSpPr>
          <a:xfrm>
            <a:off x="526923" y="5912644"/>
            <a:ext cx="5076698" cy="500824"/>
            <a:chOff x="526923" y="5912644"/>
            <a:chExt cx="5076698" cy="500824"/>
          </a:xfrm>
        </p:grpSpPr>
        <p:sp>
          <p:nvSpPr>
            <p:cNvPr id="30" name="TextBox 30"/>
            <p:cNvSpPr txBox="1"/>
            <p:nvPr/>
          </p:nvSpPr>
          <p:spPr>
            <a:xfrm>
              <a:off x="526923" y="5912644"/>
              <a:ext cx="507669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客户代码只认识 Shape 与它的 draw()；运行时到底画圆还是画矩形，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由实际对象决定。</a:t>
              </a:r>
            </a:p>
          </p:txBody>
        </p:sp>
      </p:grpSp>
      <p:grpSp>
        <p:nvGrpSpPr>
          <p:cNvPr id="40" name="c2-kv-1"/>
          <p:cNvGrpSpPr/>
          <p:nvPr/>
        </p:nvGrpSpPr>
        <p:grpSpPr>
          <a:xfrm>
            <a:off x="6240780" y="1548765"/>
            <a:ext cx="5417820" cy="2019300"/>
            <a:chOff x="6240780" y="1548765"/>
            <a:chExt cx="5417820" cy="2019300"/>
          </a:xfrm>
        </p:grpSpPr>
        <p:sp>
          <p:nvSpPr>
            <p:cNvPr id="32" name="TextBox 32"/>
            <p:cNvSpPr txBox="1"/>
            <p:nvPr/>
          </p:nvSpPr>
          <p:spPr>
            <a:xfrm>
              <a:off x="6240780" y="1548765"/>
              <a:ext cx="1494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Generalization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36230" y="1548765"/>
              <a:ext cx="34632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类之间的“是一种”关系，子类继承父类的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属性、操作和关系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1507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40780" y="2270760"/>
              <a:ext cx="1198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Inheritance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36230" y="2270760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由泛化关系带来的复用机制，子类可以增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加或重定义特征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8727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40780" y="2992755"/>
              <a:ext cx="1399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Polymorphism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36230" y="299275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同一个接口对应多种实现，具体执行哪一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个到运行时才确定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3699510"/>
            <a:ext cx="5410200" cy="1316355"/>
            <a:chOff x="6248400" y="3699510"/>
            <a:chExt cx="5410200" cy="1316355"/>
          </a:xfrm>
        </p:grpSpPr>
        <p:sp>
          <p:nvSpPr>
            <p:cNvPr id="41" name="Rectangle 41"/>
            <p:cNvSpPr/>
            <p:nvPr/>
          </p:nvSpPr>
          <p:spPr>
            <a:xfrm>
              <a:off x="6248400" y="369951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57950" y="390906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5356" y="39447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三者的关系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0330" y="428625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泛化画出层次，继承沿着层次复用，多态在调用时沿着层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次找到正确的实现。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它们是三件事，不能互相替代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248400" y="5206365"/>
            <a:ext cx="5410200" cy="782955"/>
            <a:chOff x="6248400" y="5206365"/>
            <a:chExt cx="5410200" cy="782955"/>
          </a:xfrm>
        </p:grpSpPr>
        <p:sp>
          <p:nvSpPr>
            <p:cNvPr id="46" name="Rectangle 46"/>
            <p:cNvSpPr/>
            <p:nvPr/>
          </p:nvSpPr>
          <p:spPr>
            <a:xfrm>
              <a:off x="6248400" y="52063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5497830"/>
              <a:ext cx="200026" cy="200025"/>
              <a:chOff x="6453188" y="5497830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54978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92926" y="55422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27642" y="56534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130" y="535495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加一个新子类，只要它实现了同一个接口，客户代码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一行都不用改。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3945" cy="909257"/>
            <a:chOff x="520446" y="342900"/>
            <a:chExt cx="5993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继承、多态与组织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3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Q14 多态是一个接口后面藏着多种实现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767453" cy="293370"/>
            <a:chOff x="525780" y="1548765"/>
            <a:chExt cx="476745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767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15 页　Polymorphism can be described as?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54530"/>
            <a:ext cx="4977765" cy="2222182"/>
            <a:chOff x="533400" y="1954530"/>
            <a:chExt cx="4977765" cy="22221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977765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931" y="2187416"/>
              <a:ext cx="33933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Polymorphism can be described as?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42434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Hiding many different implementations behind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one interface.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3120866"/>
              <a:ext cx="13555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Inheritance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381" y="3438049"/>
              <a:ext cx="20913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Information placing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3756184"/>
              <a:ext cx="16227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Generalization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356735"/>
            <a:ext cx="4977765" cy="503872"/>
            <a:chOff x="533400" y="4356735"/>
            <a:chExt cx="4977765" cy="503872"/>
          </a:xfrm>
        </p:grpSpPr>
        <p:sp>
          <p:nvSpPr>
            <p:cNvPr id="19" name="Rectangle 19"/>
            <p:cNvSpPr/>
            <p:nvPr/>
          </p:nvSpPr>
          <p:spPr>
            <a:xfrm>
              <a:off x="533400" y="4356735"/>
              <a:ext cx="4977765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509135"/>
              <a:ext cx="200026" cy="200026"/>
              <a:chOff x="738188" y="4509135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5091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458692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4509611"/>
              <a:ext cx="12725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正确答案：A。</a:t>
              </a:r>
            </a:p>
          </p:txBody>
        </p:sp>
      </p:grpSp>
      <p:grpSp>
        <p:nvGrpSpPr>
          <p:cNvPr id="28" name="c1-code-3"/>
          <p:cNvGrpSpPr/>
          <p:nvPr/>
        </p:nvGrpSpPr>
        <p:grpSpPr>
          <a:xfrm>
            <a:off x="533400" y="5040630"/>
            <a:ext cx="4977765" cy="1261110"/>
            <a:chOff x="533400" y="5040630"/>
            <a:chExt cx="4977765" cy="1261110"/>
          </a:xfrm>
        </p:grpSpPr>
        <p:sp>
          <p:nvSpPr>
            <p:cNvPr id="25" name="Rectangle 25"/>
            <p:cNvSpPr/>
            <p:nvPr/>
          </p:nvSpPr>
          <p:spPr>
            <a:xfrm>
              <a:off x="533400" y="5040630"/>
              <a:ext cx="4977765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797" y="519255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多态在代码里的样子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416" y="5454015"/>
              <a:ext cx="2957703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Shape s =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s.draw();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调到 Circle.draw()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 =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Rectangle();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s.draw();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同一行代码，换了实现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815965" y="1954530"/>
            <a:ext cx="5842635" cy="2762250"/>
            <a:chOff x="5815965" y="1954530"/>
            <a:chExt cx="5842635" cy="2762250"/>
          </a:xfrm>
        </p:grpSpPr>
        <p:sp>
          <p:nvSpPr>
            <p:cNvPr id="29" name="Rectangle 29"/>
            <p:cNvSpPr/>
            <p:nvPr/>
          </p:nvSpPr>
          <p:spPr>
            <a:xfrm>
              <a:off x="5815965" y="1954530"/>
              <a:ext cx="584263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98845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885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682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18454" y="25069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9494" y="25069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0534" y="250698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一个接口对应多种实现，调用点不需要知道具体是哪一种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27984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2803208"/>
              <a:ext cx="584263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8454" y="303847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9494" y="303847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0534" y="2931795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继承是实现多态的手段之一，本身指的是子类复用父类的特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34366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8454" y="367665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9494" y="36766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20534" y="3569970"/>
              <a:ext cx="39517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information placing 不是术语，它是 information hiding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的干扰项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40738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5965" y="4078605"/>
              <a:ext cx="584263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8454" y="431387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19494" y="43138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20534" y="420719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泛化是类之间的关系，它建立层次，多态是在这个层次上的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调用行为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1954530"/>
              <a:ext cx="5842635" cy="2762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512242" y="195453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13282" y="195453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5815965" y="4896802"/>
            <a:ext cx="5842635" cy="1404938"/>
            <a:chOff x="5815965" y="4896802"/>
            <a:chExt cx="5842635" cy="1404938"/>
          </a:xfrm>
        </p:grpSpPr>
        <p:sp>
          <p:nvSpPr>
            <p:cNvPr id="54" name="Rectangle 54"/>
            <p:cNvSpPr/>
            <p:nvPr/>
          </p:nvSpPr>
          <p:spPr>
            <a:xfrm>
              <a:off x="5815965" y="4896802"/>
              <a:ext cx="5842635" cy="1404938"/>
            </a:xfrm>
            <a:prstGeom prst="roundRect">
              <a:avLst>
                <a:gd name="adj" fmla="val 94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5490" y="5030152"/>
              <a:ext cx="47625" cy="11382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52185" y="50949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43625" y="51292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辨析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35496" y="5130641"/>
              <a:ext cx="18406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B、D 为什么不算答案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44946" y="5473541"/>
              <a:ext cx="50820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继承和泛化都是多态的前提条件。题干问 polymorphism 本身怎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么描述，答案要落在"一个接口、多种实现"上。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44187" cy="909257"/>
            <a:chOff x="520446" y="342900"/>
            <a:chExt cx="3644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继承、多态与组织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44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Q15 泛化读作“是一种”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25770" cy="264033"/>
            <a:chOff x="526542" y="1545907"/>
            <a:chExt cx="65257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25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16 页　What phrase best represents a generalization relationship?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4977765" cy="1772602"/>
            <a:chOff x="533400" y="1928812"/>
            <a:chExt cx="4977765" cy="177260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4017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What phrase best represents generalization?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14244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"Is a part of"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2751296"/>
              <a:ext cx="1380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"Is a kind of"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3036094"/>
              <a:ext cx="1620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"Is a replica of"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3320891"/>
              <a:ext cx="2093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"Is an inheritance of"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866198"/>
            <a:ext cx="4977765" cy="467678"/>
            <a:chOff x="533400" y="3866198"/>
            <a:chExt cx="4977765" cy="467678"/>
          </a:xfrm>
        </p:grpSpPr>
        <p:sp>
          <p:nvSpPr>
            <p:cNvPr id="19" name="Rectangle 19"/>
            <p:cNvSpPr/>
            <p:nvPr/>
          </p:nvSpPr>
          <p:spPr>
            <a:xfrm>
              <a:off x="533400" y="3866198"/>
              <a:ext cx="4977765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3999548"/>
              <a:ext cx="200026" cy="200026"/>
              <a:chOff x="738188" y="399954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39995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40773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1273" y="4010501"/>
              <a:ext cx="28873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正确答案：B。研究生“是一种”学生。</a:t>
              </a:r>
            </a:p>
          </p:txBody>
        </p:sp>
      </p:grpSp>
      <p:grpSp>
        <p:nvGrpSpPr>
          <p:cNvPr id="30" name="c1-kv-3"/>
          <p:cNvGrpSpPr/>
          <p:nvPr/>
        </p:nvGrpSpPr>
        <p:grpSpPr>
          <a:xfrm>
            <a:off x="526923" y="4519136"/>
            <a:ext cx="4984242" cy="863727"/>
            <a:chOff x="526923" y="4519136"/>
            <a:chExt cx="4984242" cy="863727"/>
          </a:xfrm>
        </p:grpSpPr>
        <p:sp>
          <p:nvSpPr>
            <p:cNvPr id="25" name="TextBox 25"/>
            <p:cNvSpPr txBox="1"/>
            <p:nvPr/>
          </p:nvSpPr>
          <p:spPr>
            <a:xfrm>
              <a:off x="526923" y="4519136"/>
              <a:ext cx="909066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Graduate →</a:t>
              </a:r>
              <a:br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19516" y="451913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研究生是一种学生，用泛化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0311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6923" y="5133499"/>
              <a:ext cx="10221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Wheel → Car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19516" y="513349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车轮是汽车的一部分，用聚合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815965" y="1928812"/>
            <a:ext cx="5842635" cy="1712595"/>
            <a:chOff x="5815965" y="1928812"/>
            <a:chExt cx="5842635" cy="1712595"/>
          </a:xfrm>
        </p:grpSpPr>
        <p:sp>
          <p:nvSpPr>
            <p:cNvPr id="31" name="Rectangle 31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7890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1775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对应关系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2599" y="2045970"/>
              <a:ext cx="630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UML 记号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8134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10644" y="2426970"/>
              <a:ext cx="1273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是一种 is a kind of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444740" y="2319338"/>
              <a:ext cx="152304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9894" y="2426970"/>
              <a:ext cx="1322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 Generalization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71991" y="2426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空心三角箭头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93096" y="2426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圆形是一种图形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2691765"/>
              <a:ext cx="584263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0644" y="2808923"/>
              <a:ext cx="1174147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是一部分 is a part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29894" y="2902268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 / 组合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71991" y="290226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 / 实心菱形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93096" y="2808923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车轮是汽车的一部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3254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10644" y="3376612"/>
              <a:ext cx="85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 has 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29894" y="3376612"/>
              <a:ext cx="1124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 Association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71991" y="33766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93096" y="337661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教师带一门课程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1928812"/>
              <a:ext cx="5842635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430452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972550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93655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5815965" y="3805238"/>
            <a:ext cx="5842635" cy="1526858"/>
            <a:chOff x="5815965" y="3805238"/>
            <a:chExt cx="5842635" cy="1526858"/>
          </a:xfrm>
        </p:grpSpPr>
        <p:sp>
          <p:nvSpPr>
            <p:cNvPr id="57" name="Rectangle 57"/>
            <p:cNvSpPr/>
            <p:nvPr/>
          </p:nvSpPr>
          <p:spPr>
            <a:xfrm>
              <a:off x="5815965" y="3805238"/>
              <a:ext cx="5842635" cy="1526858"/>
            </a:xfrm>
            <a:prstGeom prst="roundRect">
              <a:avLst>
                <a:gd name="adj" fmla="val 87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825490" y="3938588"/>
              <a:ext cx="47625" cy="12601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35040" y="39862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26759" y="40190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28563" y="4326731"/>
              <a:ext cx="5157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说的是聚合，C 的 replica（复制品）在 UML 里没有对应关系，D 把关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系名与机制名搞混：继承是泛化带来的效果，不是关系的读法。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7629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判断用泛化还是聚合，就把两个类代进“A 是一种 B”和“A 是 B 的一部分”念一遍，哪句通顺用哪个。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08397" cy="909257"/>
            <a:chOff x="520446" y="342900"/>
            <a:chExt cx="45083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继承、多态与组织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083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Q16 用 package 把元素分组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906290" cy="278702"/>
            <a:chOff x="526161" y="1547336"/>
            <a:chExt cx="790629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906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原题第 17 页　Which of the following would you use to organize elements into groups?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41195"/>
            <a:ext cx="5193982" cy="2228850"/>
            <a:chOff x="533400" y="1941195"/>
            <a:chExt cx="5193982" cy="222885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60579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6598" y="2065496"/>
              <a:ext cx="153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1346" y="2165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86355" y="2065496"/>
              <a:ext cx="153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68813" y="2165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67128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52525" y="2671286"/>
              <a:ext cx="596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03170" y="26712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22282" y="267128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通用分组机制，类、用例、构件都能装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9479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95275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07705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2525" y="3077051"/>
              <a:ext cx="392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03170" y="30770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22282" y="307705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类描述一组对象，装的是属性和操作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537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48281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2525" y="3482816"/>
              <a:ext cx="1018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Encapsulation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03170" y="34828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22282" y="348281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封装隐藏实现细节，与分组无关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595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76428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38885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2525" y="3888581"/>
              <a:ext cx="1063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Generalization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03170" y="38885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22282" y="38885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泛化表达层次关系，不是容器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41195"/>
              <a:ext cx="5193982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47750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398395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17508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rd-2"/>
          <p:cNvGrpSpPr/>
          <p:nvPr/>
        </p:nvGrpSpPr>
        <p:grpSpPr>
          <a:xfrm>
            <a:off x="533400" y="4345305"/>
            <a:ext cx="5193982" cy="1254442"/>
            <a:chOff x="533400" y="4345305"/>
            <a:chExt cx="5193982" cy="1254442"/>
          </a:xfrm>
        </p:grpSpPr>
        <p:sp>
          <p:nvSpPr>
            <p:cNvPr id="40" name="Rectangle 40"/>
            <p:cNvSpPr/>
            <p:nvPr/>
          </p:nvSpPr>
          <p:spPr>
            <a:xfrm>
              <a:off x="533400" y="4345305"/>
              <a:ext cx="5193982" cy="1254442"/>
            </a:xfrm>
            <a:prstGeom prst="roundRect">
              <a:avLst>
                <a:gd name="adj" fmla="val 106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25805" y="453771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1243" y="45720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包用来做什么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4378" y="495109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0397" y="489489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按层分组：界面层、业务层、数据层各一包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4378" y="52530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0397" y="51968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控制可见性，包内元素可以不对外暴露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6757988" y="2158365"/>
            <a:ext cx="4113848" cy="1993583"/>
            <a:chOff x="6757988" y="2158365"/>
            <a:chExt cx="4113848" cy="1993583"/>
          </a:xfrm>
        </p:grpSpPr>
        <p:sp>
          <p:nvSpPr>
            <p:cNvPr id="48" name="Freeform 48"/>
            <p:cNvSpPr/>
            <p:nvPr/>
          </p:nvSpPr>
          <p:spPr>
            <a:xfrm>
              <a:off x="7495222" y="2591752"/>
              <a:ext cx="9525" cy="294322"/>
            </a:xfrm>
            <a:custGeom>
              <a:avLst/>
              <a:gdLst/>
              <a:ahLst/>
              <a:cxnLst/>
              <a:rect l="l" t="t" r="r" b="b"/>
              <a:pathLst>
                <a:path w="9525" h="294322">
                  <a:moveTo>
                    <a:pt x="0" y="0"/>
                  </a:moveTo>
                  <a:lnTo>
                    <a:pt x="0" y="29432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9" name="Freeform 49"/>
            <p:cNvSpPr/>
            <p:nvPr/>
          </p:nvSpPr>
          <p:spPr>
            <a:xfrm>
              <a:off x="7447598" y="2886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495222" y="3414712"/>
              <a:ext cx="9525" cy="208597"/>
            </a:xfrm>
            <a:custGeom>
              <a:avLst/>
              <a:gdLst/>
              <a:ahLst/>
              <a:cxnLst/>
              <a:rect l="l" t="t" r="r" b="b"/>
              <a:pathLst>
                <a:path w="9525" h="208597">
                  <a:moveTo>
                    <a:pt x="0" y="0"/>
                  </a:moveTo>
                  <a:lnTo>
                    <a:pt x="0" y="208597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1" name="Freeform 51"/>
            <p:cNvSpPr/>
            <p:nvPr/>
          </p:nvSpPr>
          <p:spPr>
            <a:xfrm>
              <a:off x="7447598" y="36233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231505" y="3025140"/>
              <a:ext cx="1513522" cy="116205"/>
            </a:xfrm>
            <a:custGeom>
              <a:avLst/>
              <a:gdLst/>
              <a:ahLst/>
              <a:cxnLst/>
              <a:rect l="l" t="t" r="r" b="b"/>
              <a:pathLst>
                <a:path w="1513522" h="116205">
                  <a:moveTo>
                    <a:pt x="0" y="116205"/>
                  </a:moveTo>
                  <a:lnTo>
                    <a:pt x="15135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3" name="Freeform 53"/>
            <p:cNvSpPr/>
            <p:nvPr/>
          </p:nvSpPr>
          <p:spPr>
            <a:xfrm>
              <a:off x="8231505" y="3300412"/>
              <a:ext cx="1513522" cy="209550"/>
            </a:xfrm>
            <a:custGeom>
              <a:avLst/>
              <a:gdLst/>
              <a:ahLst/>
              <a:cxnLst/>
              <a:rect l="l" t="t" r="r" b="b"/>
              <a:pathLst>
                <a:path w="1513522" h="209550">
                  <a:moveTo>
                    <a:pt x="0" y="0"/>
                  </a:moveTo>
                  <a:lnTo>
                    <a:pt x="1513522" y="20955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57988" y="2158365"/>
              <a:ext cx="1473518" cy="433388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57988" y="2981325"/>
              <a:ext cx="1473518" cy="433388"/>
            </a:xfrm>
            <a:prstGeom prst="roundRect">
              <a:avLst>
                <a:gd name="adj" fmla="val 2197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57988" y="3718560"/>
              <a:ext cx="1473518" cy="433388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745028" y="2807970"/>
              <a:ext cx="112680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45028" y="3414712"/>
              <a:ext cx="112680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92378" y="22369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28064" y="2391251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UI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92378" y="305990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00798" y="3215164"/>
              <a:ext cx="588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Business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92378" y="379714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35737" y="395144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72281" y="2920841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57999" y="352758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Professor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352348" y="270795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380072" y="273700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352348" y="348805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380072" y="351710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6032182" y="4283392"/>
            <a:ext cx="5626418" cy="1316355"/>
            <a:chOff x="6032182" y="4283392"/>
            <a:chExt cx="5626418" cy="1316355"/>
          </a:xfrm>
        </p:grpSpPr>
        <p:sp>
          <p:nvSpPr>
            <p:cNvPr id="72" name="Rectangle 72"/>
            <p:cNvSpPr/>
            <p:nvPr/>
          </p:nvSpPr>
          <p:spPr>
            <a:xfrm>
              <a:off x="6032182" y="4283392"/>
              <a:ext cx="5626418" cy="1316355"/>
            </a:xfrm>
            <a:prstGeom prst="roundRect">
              <a:avLst>
                <a:gd name="adj" fmla="val 868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236970" y="4841560"/>
              <a:ext cx="200023" cy="200023"/>
              <a:chOff x="6236970" y="484156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236970" y="48415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370320" y="49082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539674" y="4723448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包之间的依赖要尽量单向。上层依赖下层，下层不要反过来依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赖上层。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8" name="Rectangle 7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04863" y="60956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892" y="6023610"/>
              <a:ext cx="6020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正确答案：A。包（Package）是 UML 里唯一用来把模型元素分组的机制。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建模的四个目的是什么？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42572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visualize、specify、construct、document。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658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 与 method 差在哪？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前者是对外声明的服务，后者是实现体。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8702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UML 配套的过程有哪三条特征？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用例驱动、以构架为中心、迭代且增量。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对象的状态由什么决定？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全部属性的取值，加上与其他对象的链接。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566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4+1 视图里关注结构的是哪个？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40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逻辑视图 Logical View。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泛化和聚合怎么区分？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念“是一种”用泛化，念“是一部分”用聚合。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6065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先盖住答案自己答一遍再对照；第 3 题和第 6 题是原题里最容易错的两处。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 ·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3132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RUP 的四个阶段和对应里程碑是什么？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4171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初始→LCO，细化→LCA，构造→IOC，交付→PR。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3858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为什么“模型必须同时是结构的和行为的”不对？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一个模型可以只描述结构或只描述行为，按问题选视图。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一个项目要不要建模，看哪两个量？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系统的复杂度，以及返工的代价。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九个工作流里哪三个是支持工作流？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配置与变更管理、项目管理、环境。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封装带来的两个直接好处是什么？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实现改动不影响客户；改动局部化，维护代价下降。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第四条建模原则的完整表述是什么？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用一组几乎独立的模型逼近系统，它们仍相互关联。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0023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反向题（not、least、except）先把否定词圈出来再看选项。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建模测验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bullets-1"/>
          <p:cNvGrpSpPr/>
          <p:nvPr/>
        </p:nvGrpSpPr>
        <p:grpSpPr>
          <a:xfrm>
            <a:off x="533400" y="1535430"/>
            <a:ext cx="5269230" cy="4208145"/>
            <a:chOff x="533400" y="1535430"/>
            <a:chExt cx="5269230" cy="420814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对象技术是一组构造软件的原则：抽象、封装、模块化、层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模型是现实的简化；建模为了 visualize、specify、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construct、document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建模四原则：选什么模型、精度可调、连着现实、用一组模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270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440430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4+1 视图：用例驱动，逻辑看结构，实现看代码组织，进程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看并发，部署看拓扑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5765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4099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4070985"/>
              <a:ext cx="3894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RUP 有 4 个阶段、4 个里程碑和 9 个工作流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40245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4444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441579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过程特征：用例驱动、以构架为中心、迭代且增量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74726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47895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4760595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＝ 状态 ＋ 行为 ＋ 标识；类是对象的抽象定义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50920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5249" y="51343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4390" y="51054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封装是信息隐藏，模块化追求高内聚、低耦合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33400" y="543687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5249" y="54791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4390" y="5450205"/>
              <a:ext cx="4689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多态是一个接口多种实现，package 负责把元素分组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464618" y="1524000"/>
            <a:ext cx="5193982" cy="2919412"/>
            <a:chOff x="6464618" y="1524000"/>
            <a:chExt cx="5193982" cy="2919412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02322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容易混的一对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44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72441" y="2108359"/>
              <a:ext cx="1704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 / method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94686" y="2108359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声明的服务 / 实现的代码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2441" y="2556986"/>
              <a:ext cx="15870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 / relationship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94686" y="2556986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 / 类之间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2441" y="3005614"/>
              <a:ext cx="2527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generalization / aggregation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94686" y="3005614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是一种 / 是一部分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2441" y="3454241"/>
              <a:ext cx="2401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inheritance / polymorphism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94686" y="3454241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沿层次复用 / 按实际类型分派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2441" y="3903821"/>
              <a:ext cx="199293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logical / implementation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view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94686" y="4017169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设计结构 / 代码工件组织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1524000"/>
              <a:ext cx="5193982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182100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2"/>
          <p:cNvGrpSpPr/>
          <p:nvPr/>
        </p:nvGrpSpPr>
        <p:grpSpPr>
          <a:xfrm>
            <a:off x="6464618" y="4633912"/>
            <a:ext cx="5193982" cy="1059180"/>
            <a:chOff x="6464618" y="4633912"/>
            <a:chExt cx="5193982" cy="1059180"/>
          </a:xfrm>
        </p:grpSpPr>
        <p:sp>
          <p:nvSpPr>
            <p:cNvPr id="57" name="Rectangle 57"/>
            <p:cNvSpPr/>
            <p:nvPr/>
          </p:nvSpPr>
          <p:spPr>
            <a:xfrm>
              <a:off x="6464618" y="4633912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69405" y="5063492"/>
              <a:ext cx="200023" cy="200023"/>
              <a:chOff x="6669405" y="5063492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69405" y="50634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802755" y="51301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971348" y="4782502"/>
              <a:ext cx="4225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原课件共 16 道题，错得最多的是 Q8 反向题、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Q10 operation 与 method、Q13 类与对象的实例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568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DEV275 可视化建模与 RUP 测验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rup_quiz">
  <a:themeElements>
    <a:clrScheme name="se_rup_quiz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rup_quiz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rup_quiz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2026-09-23T05:17:47Z</dcterms:created>
  <dcterms:modified xsi:type="dcterms:W3CDTF">2026-09-23T05:17:47Z</dcterms:modified>
  <cp:category/>
  <cp:contentStatus/>
</cp:coreProperties>
</file>